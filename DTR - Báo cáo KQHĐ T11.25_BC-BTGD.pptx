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2E7_DC5363BF.xml" ContentType="application/vnd.ms-powerpoint.comments+xml"/>
  <Override PartName="/ppt/notesSlides/notesSlide3.xml" ContentType="application/vnd.openxmlformats-officedocument.presentationml.notesSlide+xml"/>
  <Override PartName="/ppt/comments/modernComment_2E9_CAE801DE.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738" r:id="rId3"/>
    <p:sldId id="263" r:id="rId4"/>
    <p:sldId id="743" r:id="rId5"/>
    <p:sldId id="745" r:id="rId6"/>
    <p:sldId id="746" r:id="rId7"/>
    <p:sldId id="733" r:id="rId8"/>
    <p:sldId id="258" r:id="rId9"/>
    <p:sldId id="744" r:id="rId10"/>
    <p:sldId id="260" r:id="rId11"/>
    <p:sldId id="723" r:id="rId12"/>
    <p:sldId id="72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3E6062D-3084-998C-3F97-A170030192E5}" name="Phương, Phạm Ngọc Phương" initials="PP" userId="S::PhamNgocPhuongPhuong@duytanrecycling.com::55ff104c-68e1-43a2-947e-85ba4c78c96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407" autoAdjust="0"/>
    <p:restoredTop sz="83048" autoAdjust="0"/>
  </p:normalViewPr>
  <p:slideViewPr>
    <p:cSldViewPr snapToGrid="0">
      <p:cViewPr>
        <p:scale>
          <a:sx n="66" d="100"/>
          <a:sy n="66" d="100"/>
        </p:scale>
        <p:origin x="30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omments/modernComment_2E7_DC5363BF.xml><?xml version="1.0" encoding="utf-8"?>
<p188:cmLst xmlns:a="http://schemas.openxmlformats.org/drawingml/2006/main" xmlns:r="http://schemas.openxmlformats.org/officeDocument/2006/relationships" xmlns:p188="http://schemas.microsoft.com/office/powerpoint/2018/8/main">
  <p188:cm id="{B1CFCC0B-A6F4-4E43-9924-C62236DA6FDC}" authorId="{63E6062D-3084-998C-3F97-A170030192E5}" created="2025-12-17T14:03:42.703">
    <ac:txMkLst xmlns:ac="http://schemas.microsoft.com/office/drawing/2013/main/command">
      <pc:docMk xmlns:pc="http://schemas.microsoft.com/office/powerpoint/2013/main/command"/>
      <pc:sldMk xmlns:pc="http://schemas.microsoft.com/office/powerpoint/2013/main/command" cId="3696452543" sldId="743"/>
      <ac:graphicFrameMk id="2" creationId="{7E25EEB8-559D-DC42-D41E-FCFE205D398A}"/>
      <ac:tblMk/>
      <ac:tcMk rowId="4080618657" colId="3771291728"/>
      <ac:txMk cp="0" len="1">
        <ac:context len="2" hash="2917"/>
      </ac:txMk>
    </ac:txMkLst>
    <p188:pos x="8821194" y="3462406"/>
    <p188:txBody>
      <a:bodyPr/>
      <a:lstStyle/>
      <a:p>
        <a:r>
          <a:rPr lang="en-US"/>
          <a:t>1. Sản xuất trùng 9/10 KPI, 3/5 PI với công ty, có thể bỏ bớt gắn kết, giá thành, theo dõi bên ngoài thay vì đưa vào KPI.
Thêm OTIF là KPI chuyên môn của SX-Kho-XNK,
HSM và Tồn kho cũng được xem là KPI chuyên môn của SX-Kho,
=&gt; Đã điều chỉnh đủ theo nguyên tắc còn 5 KPI chuyên môn</a:t>
        </a:r>
      </a:p>
    </p188:txBody>
  </p188:cm>
  <p188:cm id="{FF34B218-09B0-42F5-BA02-4AFDFDB9F8D4}" authorId="{63E6062D-3084-998C-3F97-A170030192E5}" created="2025-12-17T14:38:17.307">
    <ac:txMkLst xmlns:ac="http://schemas.microsoft.com/office/drawing/2013/main/command">
      <pc:docMk xmlns:pc="http://schemas.microsoft.com/office/powerpoint/2013/main/command"/>
      <pc:sldMk xmlns:pc="http://schemas.microsoft.com/office/powerpoint/2013/main/command" cId="3696452543" sldId="743"/>
      <ac:graphicFrameMk id="2" creationId="{7E25EEB8-559D-DC42-D41E-FCFE205D398A}"/>
      <ac:tblMk/>
      <ac:tcMk rowId="4080618657" colId="4211330377"/>
      <ac:txMk cp="0" len="1">
        <ac:context len="2" hash="2917"/>
      </ac:txMk>
    </ac:txMkLst>
    <p188:pos x="9145867" y="3459503"/>
    <p188:txBody>
      <a:bodyPr/>
      <a:lstStyle/>
      <a:p>
        <a:r>
          <a:rPr lang="en-US"/>
          <a:t>2. Kỹ thuật trùng 8/10 KPI, 3/5 PI với công ty, có thể bỏ bớt Gắn kết, Giá thành theo dõi riêng bên ngoài thay vì đưa vào KPI.
=&gt; Đã điều chỉnh đủ theo nguyên tắc còn 5 KPI chuyên môn</a:t>
        </a:r>
      </a:p>
    </p188:txBody>
  </p188:cm>
  <p188:cm id="{8D0E0D27-E37B-47F7-9D4C-485E558EB559}" authorId="{63E6062D-3084-998C-3F97-A170030192E5}" created="2025-12-17T14:49:14.925">
    <ac:txMkLst xmlns:ac="http://schemas.microsoft.com/office/drawing/2013/main/command">
      <pc:docMk xmlns:pc="http://schemas.microsoft.com/office/powerpoint/2013/main/command"/>
      <pc:sldMk xmlns:pc="http://schemas.microsoft.com/office/powerpoint/2013/main/command" cId="3696452543" sldId="743"/>
      <ac:graphicFrameMk id="2" creationId="{7E25EEB8-559D-DC42-D41E-FCFE205D398A}"/>
      <ac:tblMk/>
      <ac:tcMk rowId="4080618657" colId="3255237653"/>
      <ac:txMk cp="0" len="1">
        <ac:context len="2" hash="2917"/>
      </ac:txMk>
    </ac:txMkLst>
    <p188:pos x="9450667" y="3459503"/>
    <p188:txBody>
      <a:bodyPr/>
      <a:lstStyle/>
      <a:p>
        <a:r>
          <a:rPr lang="en-US"/>
          <a:t>3. Chất lượng trùng 8/10 KPI, 2/5 PI với công ty, có thể bỏ bớt Gắn kết, Giá thành theo dõi riêng bên ngoài thay vì đưa vào KPI.
=&gt; Đã điều chỉnh đủ theo nguyên tắc còn 5 KPI chuyên môn</a:t>
        </a:r>
      </a:p>
    </p188:txBody>
  </p188:cm>
  <p188:cm id="{748AA8EF-D94C-4E88-8332-D1CD0FA92413}" authorId="{63E6062D-3084-998C-3F97-A170030192E5}" created="2025-12-17T14:50:03.695">
    <ac:txMkLst xmlns:ac="http://schemas.microsoft.com/office/drawing/2013/main/command">
      <pc:docMk xmlns:pc="http://schemas.microsoft.com/office/powerpoint/2013/main/command"/>
      <pc:sldMk xmlns:pc="http://schemas.microsoft.com/office/powerpoint/2013/main/command" cId="3696452543" sldId="743"/>
      <ac:graphicFrameMk id="2" creationId="{7E25EEB8-559D-DC42-D41E-FCFE205D398A}"/>
      <ac:tblMk/>
      <ac:tcMk rowId="128292285" colId="2080548077"/>
      <ac:txMk cp="0" len="1">
        <ac:context len="2" hash="2917"/>
      </ac:txMk>
    </ac:txMkLst>
    <p188:pos x="9765627" y="3154703"/>
    <p188:txBody>
      <a:bodyPr/>
      <a:lstStyle/>
      <a:p>
        <a:r>
          <a:rPr lang="en-US"/>
          <a:t>4. Cung ứng: Giá thành bên cung ứng tác động khá nhiều về cả giá mua, chất lượng, phó sản, hao hụt, hiệu suất máy,… nên được phân bổ chỉ tiêu phù hợp
CCU không phụ trách OTIF.</a:t>
        </a:r>
      </a:p>
    </p188:txBody>
  </p188:cm>
  <p188:cm id="{0A051E6B-15A5-4A82-A83A-597BAA3DAD17}" authorId="{63E6062D-3084-998C-3F97-A170030192E5}" created="2025-12-17T14:51:03.787">
    <ac:txMkLst xmlns:ac="http://schemas.microsoft.com/office/drawing/2013/main/command">
      <pc:docMk xmlns:pc="http://schemas.microsoft.com/office/powerpoint/2013/main/command"/>
      <pc:sldMk xmlns:pc="http://schemas.microsoft.com/office/powerpoint/2013/main/command" cId="3696452543" sldId="743"/>
      <ac:graphicFrameMk id="2" creationId="{7E25EEB8-559D-DC42-D41E-FCFE205D398A}"/>
      <ac:tblMk/>
      <ac:tcMk rowId="128292285" colId="2685472169"/>
      <ac:txMk cp="0" len="1">
        <ac:context len="2" hash="2917"/>
      </ac:txMk>
    </ac:txMkLst>
    <p188:pos x="10080587" y="3154703"/>
    <p188:txBody>
      <a:bodyPr/>
      <a:lstStyle/>
      <a:p>
        <a:r>
          <a:rPr lang="en-US"/>
          <a:t>5. Kinh doanh ko cần chịu KPI Giá thành, 
Gắn kết theo dõi riêng, bổ sung chịu Tồn kho</a:t>
        </a:r>
      </a:p>
    </p188:txBody>
  </p188:cm>
  <p188:cm id="{09BA6B5C-3B01-4FCB-9D7C-135E73CFDED6}" authorId="{63E6062D-3084-998C-3F97-A170030192E5}" created="2025-12-17T15:02:05.100">
    <ac:txMkLst xmlns:ac="http://schemas.microsoft.com/office/drawing/2013/main/command">
      <pc:docMk xmlns:pc="http://schemas.microsoft.com/office/powerpoint/2013/main/command"/>
      <pc:sldMk xmlns:pc="http://schemas.microsoft.com/office/powerpoint/2013/main/command" cId="3696452543" sldId="743"/>
      <ac:graphicFrameMk id="2" creationId="{7E25EEB8-559D-DC42-D41E-FCFE205D398A}"/>
      <ac:tblMk/>
      <ac:tcMk rowId="128292285" colId="1489426594"/>
      <ac:txMk cp="0" len="1">
        <ac:context len="2" hash="2917"/>
      </ac:txMk>
    </ac:txMkLst>
    <p188:txBody>
      <a:bodyPr/>
      <a:lstStyle/>
      <a:p>
        <a:r>
          <a:rPr lang="en-US"/>
          <a:t>6. Nhân sự: cần phân bổ KPI cross, chỉ phân bổ được giá thành, tuy nhiên KPI này đã cross 2 phòng ban khác.</a:t>
        </a:r>
      </a:p>
    </p188:txBody>
  </p188:cm>
  <p188:cm id="{D075E348-8C69-4FE8-A139-C3A684C10EAF}" authorId="{63E6062D-3084-998C-3F97-A170030192E5}" created="2025-12-17T15:06:21.659">
    <ac:txMkLst xmlns:ac="http://schemas.microsoft.com/office/drawing/2013/main/command">
      <pc:docMk xmlns:pc="http://schemas.microsoft.com/office/powerpoint/2013/main/command"/>
      <pc:sldMk xmlns:pc="http://schemas.microsoft.com/office/powerpoint/2013/main/command" cId="3696452543" sldId="743"/>
      <ac:graphicFrameMk id="2" creationId="{7E25EEB8-559D-DC42-D41E-FCFE205D398A}"/>
      <ac:tblMk/>
      <ac:tcMk rowId="4080618657" colId="2559156139"/>
      <ac:txMk cp="0" len="1">
        <ac:context len="2" hash="2917"/>
      </ac:txMk>
    </ac:txMkLst>
    <p188:pos x="10710507" y="3459503"/>
    <p188:txBody>
      <a:bodyPr/>
      <a:lstStyle/>
      <a:p>
        <a:r>
          <a:rPr lang="en-US"/>
          <a:t>7. Kế toán: chịu liên đới KPI gắn kết, do tỷ lệ nghỉ việc tương đối cao</a:t>
        </a:r>
      </a:p>
    </p188:txBody>
  </p188:cm>
  <p188:cm id="{B2C95BB2-5721-4142-B692-8EC39BEA451F}" authorId="{63E6062D-3084-998C-3F97-A170030192E5}" created="2025-12-17T15:10:30.358">
    <pc:sldMkLst xmlns:pc="http://schemas.microsoft.com/office/powerpoint/2013/main/command">
      <pc:docMk/>
      <pc:sldMk cId="3252151124" sldId="740"/>
    </pc:sldMkLst>
    <p188:txBody>
      <a:bodyPr/>
      <a:lstStyle/>
      <a:p>
        <a:r>
          <a:rPr lang="en-US"/>
          <a:t>8. Trạm: bổ sung Hiệu suất máy của trạm, KNKH: DTR gửi khiếu nại về trạm.
</a:t>
        </a:r>
      </a:p>
    </p188:txBody>
  </p188:cm>
  <p188:cm id="{DE275B37-3EED-43BD-8F52-7B4F30165FFD}" authorId="{63E6062D-3084-998C-3F97-A170030192E5}" created="2025-12-17T15:15:44.411">
    <ac:txMkLst xmlns:ac="http://schemas.microsoft.com/office/drawing/2013/main/command">
      <pc:docMk xmlns:pc="http://schemas.microsoft.com/office/powerpoint/2013/main/command"/>
      <pc:sldMk xmlns:pc="http://schemas.microsoft.com/office/powerpoint/2013/main/command" cId="3696452543" sldId="743"/>
      <ac:graphicFrameMk id="2" creationId="{7E25EEB8-559D-DC42-D41E-FCFE205D398A}"/>
      <ac:tblMk/>
      <ac:tcMk rowId="4080618657" colId="2513241033"/>
      <ac:txMk cp="0" len="1">
        <ac:context len="2" hash="2917"/>
      </ac:txMk>
    </ac:txMkLst>
    <p188:pos x="11655387" y="3459503"/>
    <p188:txBody>
      <a:bodyPr/>
      <a:lstStyle/>
      <a:p>
        <a:r>
          <a:rPr lang="en-US"/>
          <a:t>9. Chiến lược và R&amp;D chỉ có thể liên đới Giá thành (đã cross quá 2 phòng) và Gắn kết (số nhân sự ít ko tác động nhiều, ko thuộc phạm vi trọng yếu hoạt động của bộ phận 2026)</a:t>
        </a:r>
      </a:p>
    </p188:txBody>
  </p188:cm>
</p188:cmLst>
</file>

<file path=ppt/comments/modernComment_2E9_CAE801DE.xml><?xml version="1.0" encoding="utf-8"?>
<p188:cmLst xmlns:a="http://schemas.openxmlformats.org/drawingml/2006/main" xmlns:r="http://schemas.openxmlformats.org/officeDocument/2006/relationships" xmlns:p188="http://schemas.microsoft.com/office/powerpoint/2018/8/main">
  <p188:cm id="{2D4F67B8-BD00-41B6-8B99-F931E110E981}" authorId="{63E6062D-3084-998C-3F97-A170030192E5}" created="2025-12-17T14:03:42.703">
    <ac:txMkLst xmlns:ac="http://schemas.microsoft.com/office/drawing/2013/main/command">
      <pc:docMk xmlns:pc="http://schemas.microsoft.com/office/powerpoint/2013/main/command"/>
      <pc:sldMk xmlns:pc="http://schemas.microsoft.com/office/powerpoint/2013/main/command" cId="3404202462" sldId="745"/>
      <ac:graphicFrameMk id="2" creationId="{1B31AC5D-8032-83C0-7618-A91689E3CC2A}"/>
      <ac:tblMk/>
      <ac:tcMk rowId="4080618657" colId="3771291728"/>
      <ac:txMk cp="0" len="1">
        <ac:context len="2" hash="2917"/>
      </ac:txMk>
    </ac:txMkLst>
    <p188:pos x="8821194" y="3462406"/>
    <p188:txBody>
      <a:bodyPr/>
      <a:lstStyle/>
      <a:p>
        <a:r>
          <a:rPr lang="en-US"/>
          <a:t>1. Sản xuất trùng 9/10 KPI, 3/5 PI với công ty, có thể bỏ bớt gắn kết, giá thành, theo dõi bên ngoài thay vì đưa vào KPI.
Thêm OTIF là KPI chuyên môn của SX-Kho-XNK,
HSM và Tồn kho cũng được xem là KPI chuyên môn của SX-Kho,
=&gt; Đã điều chỉnh đủ theo nguyên tắc còn 5 KPI chuyên môn</a:t>
        </a:r>
      </a:p>
    </p188:txBody>
  </p188:cm>
  <p188:cm id="{BAD08D0D-1AB7-46D2-91FE-CD09E648141D}" authorId="{63E6062D-3084-998C-3F97-A170030192E5}" created="2025-12-17T14:38:17.307">
    <ac:txMkLst xmlns:ac="http://schemas.microsoft.com/office/drawing/2013/main/command">
      <pc:docMk xmlns:pc="http://schemas.microsoft.com/office/powerpoint/2013/main/command"/>
      <pc:sldMk xmlns:pc="http://schemas.microsoft.com/office/powerpoint/2013/main/command" cId="3404202462" sldId="745"/>
      <ac:graphicFrameMk id="2" creationId="{1B31AC5D-8032-83C0-7618-A91689E3CC2A}"/>
      <ac:tblMk/>
      <ac:tcMk rowId="4080618657" colId="4211330377"/>
      <ac:txMk cp="0" len="1">
        <ac:context len="2" hash="2917"/>
      </ac:txMk>
    </ac:txMkLst>
    <p188:pos x="9145867" y="3459503"/>
    <p188:txBody>
      <a:bodyPr/>
      <a:lstStyle/>
      <a:p>
        <a:r>
          <a:rPr lang="en-US"/>
          <a:t>2. Kỹ thuật trùng 8/10 KPI, 3/5 PI với công ty, có thể bỏ bớt Gắn kết, Giá thành theo dõi riêng bên ngoài thay vì đưa vào KPI.
=&gt; Đã điều chỉnh đủ theo nguyên tắc còn 5 KPI chuyên môn</a:t>
        </a:r>
      </a:p>
    </p188:txBody>
  </p188:cm>
  <p188:cm id="{B8F00E61-2B9A-45DA-86C6-521A5AF1652E}" authorId="{63E6062D-3084-998C-3F97-A170030192E5}" created="2025-12-17T14:49:14.925">
    <ac:txMkLst xmlns:ac="http://schemas.microsoft.com/office/drawing/2013/main/command">
      <pc:docMk xmlns:pc="http://schemas.microsoft.com/office/powerpoint/2013/main/command"/>
      <pc:sldMk xmlns:pc="http://schemas.microsoft.com/office/powerpoint/2013/main/command" cId="3404202462" sldId="745"/>
      <ac:graphicFrameMk id="2" creationId="{1B31AC5D-8032-83C0-7618-A91689E3CC2A}"/>
      <ac:tblMk/>
      <ac:tcMk rowId="4080618657" colId="3255237653"/>
      <ac:txMk cp="0" len="1">
        <ac:context len="2" hash="2917"/>
      </ac:txMk>
    </ac:txMkLst>
    <p188:pos x="9450667" y="3459503"/>
    <p188:txBody>
      <a:bodyPr/>
      <a:lstStyle/>
      <a:p>
        <a:r>
          <a:rPr lang="en-US"/>
          <a:t>3. Chất lượng trùng 8/10 KPI, 2/5 PI với công ty, có thể bỏ bớt Gắn kết, Giá thành theo dõi riêng bên ngoài thay vì đưa vào KPI.
=&gt; Đã điều chỉnh đủ theo nguyên tắc còn 5 KPI chuyên môn</a:t>
        </a:r>
      </a:p>
    </p188:txBody>
  </p188:cm>
  <p188:cm id="{CFDDAB65-3818-4241-ABAE-6D36C6BCE896}" authorId="{63E6062D-3084-998C-3F97-A170030192E5}" created="2025-12-17T14:50:03.695">
    <ac:txMkLst xmlns:ac="http://schemas.microsoft.com/office/drawing/2013/main/command">
      <pc:docMk xmlns:pc="http://schemas.microsoft.com/office/powerpoint/2013/main/command"/>
      <pc:sldMk xmlns:pc="http://schemas.microsoft.com/office/powerpoint/2013/main/command" cId="3404202462" sldId="745"/>
      <ac:graphicFrameMk id="2" creationId="{1B31AC5D-8032-83C0-7618-A91689E3CC2A}"/>
      <ac:tblMk/>
      <ac:tcMk rowId="128292285" colId="2080548077"/>
      <ac:txMk cp="0" len="1">
        <ac:context len="2" hash="2917"/>
      </ac:txMk>
    </ac:txMkLst>
    <p188:pos x="9765627" y="3154703"/>
    <p188:txBody>
      <a:bodyPr/>
      <a:lstStyle/>
      <a:p>
        <a:r>
          <a:rPr lang="en-US"/>
          <a:t>4. Cung ứng: Giá thành bên cung ứng tác động khá nhiều về cả giá mua, chất lượng, phó sản, hao hụt, hiệu suất máy,… nên được phân bổ chỉ tiêu phù hợp
CCU không phụ trách OTIF.</a:t>
        </a:r>
      </a:p>
    </p188:txBody>
  </p188:cm>
  <p188:cm id="{EAC81612-DD30-404D-9728-A284E513F690}" authorId="{63E6062D-3084-998C-3F97-A170030192E5}" created="2025-12-17T14:51:03.787">
    <ac:txMkLst xmlns:ac="http://schemas.microsoft.com/office/drawing/2013/main/command">
      <pc:docMk xmlns:pc="http://schemas.microsoft.com/office/powerpoint/2013/main/command"/>
      <pc:sldMk xmlns:pc="http://schemas.microsoft.com/office/powerpoint/2013/main/command" cId="3404202462" sldId="745"/>
      <ac:graphicFrameMk id="2" creationId="{1B31AC5D-8032-83C0-7618-A91689E3CC2A}"/>
      <ac:tblMk/>
      <ac:tcMk rowId="128292285" colId="2685472169"/>
      <ac:txMk cp="0" len="1">
        <ac:context len="2" hash="2917"/>
      </ac:txMk>
    </ac:txMkLst>
    <p188:pos x="10080587" y="3154703"/>
    <p188:txBody>
      <a:bodyPr/>
      <a:lstStyle/>
      <a:p>
        <a:r>
          <a:rPr lang="en-US"/>
          <a:t>5. Kinh doanh ko cần chịu KPI Giá thành, 
Gắn kết theo dõi riêng, bổ sung chịu Tồn kho</a:t>
        </a:r>
      </a:p>
    </p188:txBody>
  </p188:cm>
  <p188:cm id="{74DEF2BD-1DB8-4B13-B5D2-A6CEC97F40A9}" authorId="{63E6062D-3084-998C-3F97-A170030192E5}" created="2025-12-17T15:02:05.100">
    <ac:txMkLst xmlns:ac="http://schemas.microsoft.com/office/drawing/2013/main/command">
      <pc:docMk xmlns:pc="http://schemas.microsoft.com/office/powerpoint/2013/main/command"/>
      <pc:sldMk xmlns:pc="http://schemas.microsoft.com/office/powerpoint/2013/main/command" cId="3404202462" sldId="745"/>
      <ac:graphicFrameMk id="2" creationId="{1B31AC5D-8032-83C0-7618-A91689E3CC2A}"/>
      <ac:tblMk/>
      <ac:tcMk rowId="128292285" colId="1489426594"/>
      <ac:txMk cp="0" len="1">
        <ac:context len="2" hash="2917"/>
      </ac:txMk>
    </ac:txMkLst>
    <p188:txBody>
      <a:bodyPr/>
      <a:lstStyle/>
      <a:p>
        <a:r>
          <a:rPr lang="en-US"/>
          <a:t>6. Nhân sự: cần phân bổ KPI cross, chỉ phân bổ được giá thành, tuy nhiên KPI này đã cross 2 phòng ban khác.</a:t>
        </a:r>
      </a:p>
    </p188:txBody>
  </p188:cm>
  <p188:cm id="{5280CDD3-98B3-45A6-B68E-C32B4CB55C74}" authorId="{63E6062D-3084-998C-3F97-A170030192E5}" created="2025-12-17T15:06:21.659">
    <ac:txMkLst xmlns:ac="http://schemas.microsoft.com/office/drawing/2013/main/command">
      <pc:docMk xmlns:pc="http://schemas.microsoft.com/office/powerpoint/2013/main/command"/>
      <pc:sldMk xmlns:pc="http://schemas.microsoft.com/office/powerpoint/2013/main/command" cId="3404202462" sldId="745"/>
      <ac:graphicFrameMk id="2" creationId="{1B31AC5D-8032-83C0-7618-A91689E3CC2A}"/>
      <ac:tblMk/>
      <ac:tcMk rowId="4080618657" colId="2559156139"/>
      <ac:txMk cp="0" len="1">
        <ac:context len="2" hash="2917"/>
      </ac:txMk>
    </ac:txMkLst>
    <p188:pos x="10710507" y="3459503"/>
    <p188:txBody>
      <a:bodyPr/>
      <a:lstStyle/>
      <a:p>
        <a:r>
          <a:rPr lang="en-US"/>
          <a:t>7. Kế toán: chịu liên đới KPI gắn kết, do tỷ lệ nghỉ việc tương đối cao</a:t>
        </a:r>
      </a:p>
    </p188:txBody>
  </p188:cm>
  <p188:cm id="{C93B4A0A-B63E-4C0A-A5E4-ED6081D70ABF}" authorId="{63E6062D-3084-998C-3F97-A170030192E5}" created="2025-12-17T15:10:30.358">
    <pc:sldMkLst xmlns:pc="http://schemas.microsoft.com/office/powerpoint/2013/main/command">
      <pc:docMk/>
      <pc:sldMk cId="3252151124" sldId="740"/>
    </pc:sldMkLst>
    <p188:txBody>
      <a:bodyPr/>
      <a:lstStyle/>
      <a:p>
        <a:r>
          <a:rPr lang="en-US"/>
          <a:t>8. Trạm: bổ sung Hiệu suất máy của trạm, KNKH: DTR gửi khiếu nại về trạm.
</a:t>
        </a:r>
      </a:p>
    </p188:txBody>
  </p188:cm>
  <p188:cm id="{BCC59916-ACD9-49B5-80AB-2E7A02C0FFD9}" authorId="{63E6062D-3084-998C-3F97-A170030192E5}" created="2025-12-17T15:15:44.411">
    <ac:txMkLst xmlns:ac="http://schemas.microsoft.com/office/drawing/2013/main/command">
      <pc:docMk xmlns:pc="http://schemas.microsoft.com/office/powerpoint/2013/main/command"/>
      <pc:sldMk xmlns:pc="http://schemas.microsoft.com/office/powerpoint/2013/main/command" cId="3404202462" sldId="745"/>
      <ac:graphicFrameMk id="2" creationId="{1B31AC5D-8032-83C0-7618-A91689E3CC2A}"/>
      <ac:tblMk/>
      <ac:tcMk rowId="4080618657" colId="2513241033"/>
      <ac:txMk cp="0" len="1">
        <ac:context len="2" hash="2917"/>
      </ac:txMk>
    </ac:txMkLst>
    <p188:pos x="11655387" y="3459503"/>
    <p188:txBody>
      <a:bodyPr/>
      <a:lstStyle/>
      <a:p>
        <a:r>
          <a:rPr lang="en-US"/>
          <a:t>9. Chiến lược và R&amp;D chỉ có thể liên đới Giá thành (đã cross quá 2 phòng) và Gắn kết (số nhân sự ít ko tác động nhiều, ko thuộc phạm vi trọng yếu hoạt động của bộ phận 2026)</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107247-A9D6-480E-9090-149A209FA70D}" type="datetimeFigureOut">
              <a:rPr lang="en-US" smtClean="0"/>
              <a:t>12/23/2025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0FA7F0-16F1-451C-8D34-AEBF7EA6002F}" type="slidenum">
              <a:rPr lang="en-US" smtClean="0"/>
              <a:t>‹#›</a:t>
            </a:fld>
            <a:endParaRPr lang="en-US"/>
          </a:p>
        </p:txBody>
      </p:sp>
    </p:spTree>
    <p:extLst>
      <p:ext uri="{BB962C8B-B14F-4D97-AF65-F5344CB8AC3E}">
        <p14:creationId xmlns:p14="http://schemas.microsoft.com/office/powerpoint/2010/main" val="1408122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FC448-D766-7517-F4A7-6764A3B2C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508256-21C4-00F7-3F75-B4701F73D2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E14346-ED40-8A2B-57CC-0D42E8B4E650}"/>
              </a:ext>
            </a:extLst>
          </p:cNvPr>
          <p:cNvSpPr>
            <a:spLocks noGrp="1"/>
          </p:cNvSpPr>
          <p:nvPr>
            <p:ph type="body" idx="1"/>
          </p:nvPr>
        </p:nvSpPr>
        <p:spPr/>
        <p:txBody>
          <a:bodyPr/>
          <a:lstStyle/>
          <a:p>
            <a:r>
              <a:rPr lang="en-US" dirty="0"/>
              <a:t>- Phân rã KPI xuống phòng: 2 cách (1. Phòng/Ban ôm trọn 2. Chia nhỏ ra)</a:t>
            </a:r>
          </a:p>
          <a:p>
            <a:r>
              <a:rPr lang="en-US" dirty="0"/>
              <a:t>- Thạch chốt cho BGĐ, xong c Liên đưa vào KPI chuyên môn của GĐ Chức năng (13 KPI chia cho 10 BP)</a:t>
            </a:r>
          </a:p>
          <a:p>
            <a:r>
              <a:rPr lang="en-US" dirty="0"/>
              <a:t>- Quy tắc cross B GĐ Chức năng 10%: 1 KPI có ít nhất 1 GĐ Chức năng Cross và không Cross quá 2 phòng ban</a:t>
            </a:r>
          </a:p>
        </p:txBody>
      </p:sp>
      <p:sp>
        <p:nvSpPr>
          <p:cNvPr id="4" name="Slide Number Placeholder 3">
            <a:extLst>
              <a:ext uri="{FF2B5EF4-FFF2-40B4-BE49-F238E27FC236}">
                <a16:creationId xmlns:a16="http://schemas.microsoft.com/office/drawing/2014/main" id="{A28F12ED-067C-30FD-1F79-0EBC41E0C27B}"/>
              </a:ext>
            </a:extLst>
          </p:cNvPr>
          <p:cNvSpPr>
            <a:spLocks noGrp="1"/>
          </p:cNvSpPr>
          <p:nvPr>
            <p:ph type="sldNum" sz="quarter" idx="5"/>
          </p:nvPr>
        </p:nvSpPr>
        <p:spPr/>
        <p:txBody>
          <a:bodyPr/>
          <a:lstStyle/>
          <a:p>
            <a:fld id="{0B0FA7F0-16F1-451C-8D34-AEBF7EA6002F}" type="slidenum">
              <a:rPr lang="en-US" smtClean="0"/>
              <a:t>4</a:t>
            </a:fld>
            <a:endParaRPr lang="en-US"/>
          </a:p>
        </p:txBody>
      </p:sp>
    </p:spTree>
    <p:extLst>
      <p:ext uri="{BB962C8B-B14F-4D97-AF65-F5344CB8AC3E}">
        <p14:creationId xmlns:p14="http://schemas.microsoft.com/office/powerpoint/2010/main" val="1163572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F1CC5-D81F-062D-90B4-7AD5B52C6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57DBC-5BF1-54F8-CF79-141016DD8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0899E-4C7F-F87C-3E7D-E4EE5B22CF0C}"/>
              </a:ext>
            </a:extLst>
          </p:cNvPr>
          <p:cNvSpPr>
            <a:spLocks noGrp="1"/>
          </p:cNvSpPr>
          <p:nvPr>
            <p:ph type="body" idx="1"/>
          </p:nvPr>
        </p:nvSpPr>
        <p:spPr/>
        <p:txBody>
          <a:bodyPr/>
          <a:lstStyle/>
          <a:p>
            <a:pPr marL="171450" indent="-171450">
              <a:buFontTx/>
              <a:buChar char="-"/>
            </a:pPr>
            <a:r>
              <a:rPr lang="en-US"/>
              <a:t>Anh chị chọn lại KPI từ bảng đã phân sao cho phù hợp quy tắc: 20; 10; 50. Nếu chưa đủ thì anh/chị chọn thêm KPI chức năng.</a:t>
            </a:r>
          </a:p>
        </p:txBody>
      </p:sp>
      <p:sp>
        <p:nvSpPr>
          <p:cNvPr id="4" name="Slide Number Placeholder 3">
            <a:extLst>
              <a:ext uri="{FF2B5EF4-FFF2-40B4-BE49-F238E27FC236}">
                <a16:creationId xmlns:a16="http://schemas.microsoft.com/office/drawing/2014/main" id="{CDF73FB4-23E6-03F9-0966-768980364DC3}"/>
              </a:ext>
            </a:extLst>
          </p:cNvPr>
          <p:cNvSpPr>
            <a:spLocks noGrp="1"/>
          </p:cNvSpPr>
          <p:nvPr>
            <p:ph type="sldNum" sz="quarter" idx="5"/>
          </p:nvPr>
        </p:nvSpPr>
        <p:spPr/>
        <p:txBody>
          <a:bodyPr/>
          <a:lstStyle/>
          <a:p>
            <a:fld id="{0B0FA7F0-16F1-451C-8D34-AEBF7EA6002F}" type="slidenum">
              <a:rPr lang="en-US" smtClean="0"/>
              <a:t>5</a:t>
            </a:fld>
            <a:endParaRPr lang="en-US"/>
          </a:p>
        </p:txBody>
      </p:sp>
    </p:spTree>
    <p:extLst>
      <p:ext uri="{BB962C8B-B14F-4D97-AF65-F5344CB8AC3E}">
        <p14:creationId xmlns:p14="http://schemas.microsoft.com/office/powerpoint/2010/main" val="434458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CEE21-A553-63FA-433F-5D3A72016B2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573F06-BE86-F2DC-003C-66CA934D585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0898AF9-D916-380B-C8D4-052A11234C5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5213254-1753-4263-B2D9-9F9B8C47696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7AC00DF-2E78-E77B-8AC7-F4033C4AFBB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9CF15ACC-53CD-5DA0-7546-3DAC7ED6F43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7A267F2-7278-E0C7-817B-1726CB74841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7758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CC134-C2EC-52F6-ED39-795267981FB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4D1D48-33D4-C7E3-0816-A6C78C4D935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2882003-9798-9A34-856D-A1AD47699F8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6CC340E-9117-BFC0-7FB0-2F797CA5374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54B1496-253F-C910-E709-D929A306A2B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E481C4A5-9CD6-9B20-8F90-398170C7AF3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6821128-557B-446A-3021-259811F6362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27766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5764128aa_2_33:notes"/>
          <p:cNvSpPr>
            <a:spLocks noGrp="1" noRot="1" noChangeAspect="1"/>
          </p:cNvSpPr>
          <p:nvPr>
            <p:ph type="sldImg" idx="2"/>
          </p:nvPr>
        </p:nvSpPr>
        <p:spPr>
          <a:xfrm>
            <a:off x="365125" y="679450"/>
            <a:ext cx="6037263" cy="33972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5764128aa_2_33:notes"/>
          <p:cNvSpPr txBox="1">
            <a:spLocks noGrp="1"/>
          </p:cNvSpPr>
          <p:nvPr>
            <p:ph type="body" idx="1"/>
          </p:nvPr>
        </p:nvSpPr>
        <p:spPr>
          <a:xfrm>
            <a:off x="676791" y="4303483"/>
            <a:ext cx="5414327" cy="4076984"/>
          </a:xfrm>
          <a:prstGeom prst="rect">
            <a:avLst/>
          </a:prstGeom>
        </p:spPr>
        <p:txBody>
          <a:bodyPr spcFirstLastPara="1" wrap="square" lIns="90438" tIns="90438" rIns="90438" bIns="90438" anchor="t" anchorCtr="0">
            <a:noAutofit/>
          </a:bodyPr>
          <a:lstStyle/>
          <a:p>
            <a:pPr marL="0" indent="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085E8-431E-33A6-5B4E-C82FCC36856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95A356-56BE-3E46-1A09-40D9E21E391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A093D25-6D1F-BB7E-A1D9-EDCB90CA31C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E4FA842-CA94-4D7E-48A9-970D0A26400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74B48B8-1CF4-65C7-A848-DEB2D55436C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ED59BC26-BEE4-7719-876B-5ACC92D74C4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25C328B-0269-43F4-688E-00181D7FBE7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65370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A58AF-2B86-CF31-3290-51883AB517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435B4EE-FC6D-85B5-EFAF-947D787249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C2693B-7AF3-A91B-F72E-325874C9678A}"/>
              </a:ext>
            </a:extLst>
          </p:cNvPr>
          <p:cNvSpPr>
            <a:spLocks noGrp="1"/>
          </p:cNvSpPr>
          <p:nvPr>
            <p:ph type="dt" sz="half" idx="10"/>
          </p:nvPr>
        </p:nvSpPr>
        <p:spPr/>
        <p:txBody>
          <a:bodyPr/>
          <a:lstStyle/>
          <a:p>
            <a:fld id="{66616882-F59B-4ED6-B108-CD3AE33B5A40}" type="datetime1">
              <a:rPr lang="en-US" smtClean="0"/>
              <a:t>12/23/2025</a:t>
            </a:fld>
            <a:endParaRPr lang="en-US"/>
          </a:p>
        </p:txBody>
      </p:sp>
      <p:sp>
        <p:nvSpPr>
          <p:cNvPr id="5" name="Footer Placeholder 4">
            <a:extLst>
              <a:ext uri="{FF2B5EF4-FFF2-40B4-BE49-F238E27FC236}">
                <a16:creationId xmlns:a16="http://schemas.microsoft.com/office/drawing/2014/main" id="{A6D4A263-3539-499F-E3EC-0B2F3A26B7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86FA6-853E-EB72-563D-163F0D1D26E3}"/>
              </a:ext>
            </a:extLst>
          </p:cNvPr>
          <p:cNvSpPr>
            <a:spLocks noGrp="1"/>
          </p:cNvSpPr>
          <p:nvPr>
            <p:ph type="sldNum" sz="quarter" idx="12"/>
          </p:nvPr>
        </p:nvSpPr>
        <p:spPr/>
        <p:txBody>
          <a:bodyPr/>
          <a:lstStyle/>
          <a:p>
            <a:fld id="{06D5B5F9-488F-4DD3-845F-86795626F9DE}" type="slidenum">
              <a:rPr lang="en-US" smtClean="0"/>
              <a:t>‹#›</a:t>
            </a:fld>
            <a:endParaRPr lang="en-US"/>
          </a:p>
        </p:txBody>
      </p:sp>
    </p:spTree>
    <p:extLst>
      <p:ext uri="{BB962C8B-B14F-4D97-AF65-F5344CB8AC3E}">
        <p14:creationId xmlns:p14="http://schemas.microsoft.com/office/powerpoint/2010/main" val="2969729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82C9C-4A5F-3402-EE2B-DA9B04E586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9B5C41-7E13-331F-BD05-3118D216C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468B1-92A6-C9C9-57B2-7FFF470BDBBC}"/>
              </a:ext>
            </a:extLst>
          </p:cNvPr>
          <p:cNvSpPr>
            <a:spLocks noGrp="1"/>
          </p:cNvSpPr>
          <p:nvPr>
            <p:ph type="dt" sz="half" idx="10"/>
          </p:nvPr>
        </p:nvSpPr>
        <p:spPr/>
        <p:txBody>
          <a:bodyPr/>
          <a:lstStyle/>
          <a:p>
            <a:fld id="{6A8D8EAA-D899-48CB-B24C-BE5700D55C42}" type="datetime1">
              <a:rPr lang="en-US" smtClean="0"/>
              <a:t>12/23/2025</a:t>
            </a:fld>
            <a:endParaRPr lang="en-US"/>
          </a:p>
        </p:txBody>
      </p:sp>
      <p:sp>
        <p:nvSpPr>
          <p:cNvPr id="5" name="Footer Placeholder 4">
            <a:extLst>
              <a:ext uri="{FF2B5EF4-FFF2-40B4-BE49-F238E27FC236}">
                <a16:creationId xmlns:a16="http://schemas.microsoft.com/office/drawing/2014/main" id="{1751E888-BACC-3D64-2C67-B00AEA2E7E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62CABF-64D6-98C4-68CD-C3E8F9F33637}"/>
              </a:ext>
            </a:extLst>
          </p:cNvPr>
          <p:cNvSpPr>
            <a:spLocks noGrp="1"/>
          </p:cNvSpPr>
          <p:nvPr>
            <p:ph type="sldNum" sz="quarter" idx="12"/>
          </p:nvPr>
        </p:nvSpPr>
        <p:spPr/>
        <p:txBody>
          <a:bodyPr/>
          <a:lstStyle/>
          <a:p>
            <a:fld id="{06D5B5F9-488F-4DD3-845F-86795626F9DE}" type="slidenum">
              <a:rPr lang="en-US" smtClean="0"/>
              <a:t>‹#›</a:t>
            </a:fld>
            <a:endParaRPr lang="en-US"/>
          </a:p>
        </p:txBody>
      </p:sp>
    </p:spTree>
    <p:extLst>
      <p:ext uri="{BB962C8B-B14F-4D97-AF65-F5344CB8AC3E}">
        <p14:creationId xmlns:p14="http://schemas.microsoft.com/office/powerpoint/2010/main" val="2104721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B3F5D-6C9D-B382-8D8B-102D322802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C97C55-AED4-5B00-44EE-D7E734257F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2D6A5E-6242-E169-F603-B15DD9452132}"/>
              </a:ext>
            </a:extLst>
          </p:cNvPr>
          <p:cNvSpPr>
            <a:spLocks noGrp="1"/>
          </p:cNvSpPr>
          <p:nvPr>
            <p:ph type="dt" sz="half" idx="10"/>
          </p:nvPr>
        </p:nvSpPr>
        <p:spPr/>
        <p:txBody>
          <a:bodyPr/>
          <a:lstStyle/>
          <a:p>
            <a:fld id="{74E60960-EA01-4DDA-9AC9-41B6EEC0DAA4}" type="datetime1">
              <a:rPr lang="en-US" smtClean="0"/>
              <a:t>12/23/2025</a:t>
            </a:fld>
            <a:endParaRPr lang="en-US"/>
          </a:p>
        </p:txBody>
      </p:sp>
      <p:sp>
        <p:nvSpPr>
          <p:cNvPr id="5" name="Footer Placeholder 4">
            <a:extLst>
              <a:ext uri="{FF2B5EF4-FFF2-40B4-BE49-F238E27FC236}">
                <a16:creationId xmlns:a16="http://schemas.microsoft.com/office/drawing/2014/main" id="{CC2AD693-787A-0ED6-E35B-58C7F832D7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B67384-95DF-4B3D-CDFC-129180DADB3E}"/>
              </a:ext>
            </a:extLst>
          </p:cNvPr>
          <p:cNvSpPr>
            <a:spLocks noGrp="1"/>
          </p:cNvSpPr>
          <p:nvPr>
            <p:ph type="sldNum" sz="quarter" idx="12"/>
          </p:nvPr>
        </p:nvSpPr>
        <p:spPr/>
        <p:txBody>
          <a:bodyPr/>
          <a:lstStyle/>
          <a:p>
            <a:fld id="{06D5B5F9-488F-4DD3-845F-86795626F9DE}" type="slidenum">
              <a:rPr lang="en-US" smtClean="0"/>
              <a:t>‹#›</a:t>
            </a:fld>
            <a:endParaRPr lang="en-US"/>
          </a:p>
        </p:txBody>
      </p:sp>
    </p:spTree>
    <p:extLst>
      <p:ext uri="{BB962C8B-B14F-4D97-AF65-F5344CB8AC3E}">
        <p14:creationId xmlns:p14="http://schemas.microsoft.com/office/powerpoint/2010/main" val="1002340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10F2-CCEB-C78A-E5BB-28437BB331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0ABE39-B0F0-CBF1-9AF9-4C4C9B1DA1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B70BBD-9B3A-F1A8-4CC3-60E01E3671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28ED1A-1626-3F7D-A2D3-77C45D0526F5}"/>
              </a:ext>
            </a:extLst>
          </p:cNvPr>
          <p:cNvSpPr>
            <a:spLocks noGrp="1"/>
          </p:cNvSpPr>
          <p:nvPr>
            <p:ph type="dt" sz="half" idx="10"/>
          </p:nvPr>
        </p:nvSpPr>
        <p:spPr/>
        <p:txBody>
          <a:bodyPr/>
          <a:lstStyle/>
          <a:p>
            <a:fld id="{5E58D4E4-FEB4-41B1-9564-FB6476AE0ABA}" type="datetime1">
              <a:rPr lang="en-US" smtClean="0"/>
              <a:t>12/23/2025</a:t>
            </a:fld>
            <a:endParaRPr lang="en-US"/>
          </a:p>
        </p:txBody>
      </p:sp>
      <p:sp>
        <p:nvSpPr>
          <p:cNvPr id="6" name="Footer Placeholder 5">
            <a:extLst>
              <a:ext uri="{FF2B5EF4-FFF2-40B4-BE49-F238E27FC236}">
                <a16:creationId xmlns:a16="http://schemas.microsoft.com/office/drawing/2014/main" id="{3859E803-E6FC-4AEB-1CC5-AA74C15AC2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D9BAE0-D823-1524-28F8-5CFB8EFC5D7E}"/>
              </a:ext>
            </a:extLst>
          </p:cNvPr>
          <p:cNvSpPr>
            <a:spLocks noGrp="1"/>
          </p:cNvSpPr>
          <p:nvPr>
            <p:ph type="sldNum" sz="quarter" idx="12"/>
          </p:nvPr>
        </p:nvSpPr>
        <p:spPr/>
        <p:txBody>
          <a:bodyPr/>
          <a:lstStyle/>
          <a:p>
            <a:fld id="{06D5B5F9-488F-4DD3-845F-86795626F9DE}" type="slidenum">
              <a:rPr lang="en-US" smtClean="0"/>
              <a:t>‹#›</a:t>
            </a:fld>
            <a:endParaRPr lang="en-US"/>
          </a:p>
        </p:txBody>
      </p:sp>
    </p:spTree>
    <p:extLst>
      <p:ext uri="{BB962C8B-B14F-4D97-AF65-F5344CB8AC3E}">
        <p14:creationId xmlns:p14="http://schemas.microsoft.com/office/powerpoint/2010/main" val="38174567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B76D7-23FA-066D-3F0B-75605B10EA9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C8DC87-BF29-19BB-F875-207DBF674E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A2694A-C782-33BE-1DAD-F46BFA713A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11A860-CBC4-EB83-337E-47FFCF2B62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2FBEB9-6784-B422-4C0F-C74F55072D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7E137C-1890-E324-B29C-737ADCF54BCE}"/>
              </a:ext>
            </a:extLst>
          </p:cNvPr>
          <p:cNvSpPr>
            <a:spLocks noGrp="1"/>
          </p:cNvSpPr>
          <p:nvPr>
            <p:ph type="dt" sz="half" idx="10"/>
          </p:nvPr>
        </p:nvSpPr>
        <p:spPr/>
        <p:txBody>
          <a:bodyPr/>
          <a:lstStyle/>
          <a:p>
            <a:fld id="{CA84CF04-CD93-4067-9296-51BD7BE53CFA}" type="datetime1">
              <a:rPr lang="en-US" smtClean="0"/>
              <a:t>12/23/2025</a:t>
            </a:fld>
            <a:endParaRPr lang="en-US"/>
          </a:p>
        </p:txBody>
      </p:sp>
      <p:sp>
        <p:nvSpPr>
          <p:cNvPr id="8" name="Footer Placeholder 7">
            <a:extLst>
              <a:ext uri="{FF2B5EF4-FFF2-40B4-BE49-F238E27FC236}">
                <a16:creationId xmlns:a16="http://schemas.microsoft.com/office/drawing/2014/main" id="{C13E178D-4644-48C6-CC08-44FF71110F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2A74B6-DC60-3558-9F45-D2F744D0E2D2}"/>
              </a:ext>
            </a:extLst>
          </p:cNvPr>
          <p:cNvSpPr>
            <a:spLocks noGrp="1"/>
          </p:cNvSpPr>
          <p:nvPr>
            <p:ph type="sldNum" sz="quarter" idx="12"/>
          </p:nvPr>
        </p:nvSpPr>
        <p:spPr/>
        <p:txBody>
          <a:bodyPr/>
          <a:lstStyle/>
          <a:p>
            <a:fld id="{06D5B5F9-488F-4DD3-845F-86795626F9DE}" type="slidenum">
              <a:rPr lang="en-US" smtClean="0"/>
              <a:t>‹#›</a:t>
            </a:fld>
            <a:endParaRPr lang="en-US"/>
          </a:p>
        </p:txBody>
      </p:sp>
    </p:spTree>
    <p:extLst>
      <p:ext uri="{BB962C8B-B14F-4D97-AF65-F5344CB8AC3E}">
        <p14:creationId xmlns:p14="http://schemas.microsoft.com/office/powerpoint/2010/main" val="4043122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CC979-37F8-ED04-B12E-832CFCFA2BF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2FD65B-B3E3-22A7-F6ED-719496AD924D}"/>
              </a:ext>
            </a:extLst>
          </p:cNvPr>
          <p:cNvSpPr>
            <a:spLocks noGrp="1"/>
          </p:cNvSpPr>
          <p:nvPr>
            <p:ph type="dt" sz="half" idx="10"/>
          </p:nvPr>
        </p:nvSpPr>
        <p:spPr/>
        <p:txBody>
          <a:bodyPr/>
          <a:lstStyle/>
          <a:p>
            <a:fld id="{25424965-295E-4A4A-8C74-01BA455BC8F8}" type="datetime1">
              <a:rPr lang="en-US" smtClean="0"/>
              <a:t>12/23/2025</a:t>
            </a:fld>
            <a:endParaRPr lang="en-US"/>
          </a:p>
        </p:txBody>
      </p:sp>
      <p:sp>
        <p:nvSpPr>
          <p:cNvPr id="4" name="Footer Placeholder 3">
            <a:extLst>
              <a:ext uri="{FF2B5EF4-FFF2-40B4-BE49-F238E27FC236}">
                <a16:creationId xmlns:a16="http://schemas.microsoft.com/office/drawing/2014/main" id="{D4E136D3-F243-8467-26BD-0E7C80AAC3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30DCD8-ECAF-0727-7DA8-768B7621D15A}"/>
              </a:ext>
            </a:extLst>
          </p:cNvPr>
          <p:cNvSpPr>
            <a:spLocks noGrp="1"/>
          </p:cNvSpPr>
          <p:nvPr>
            <p:ph type="sldNum" sz="quarter" idx="12"/>
          </p:nvPr>
        </p:nvSpPr>
        <p:spPr/>
        <p:txBody>
          <a:bodyPr/>
          <a:lstStyle/>
          <a:p>
            <a:fld id="{06D5B5F9-488F-4DD3-845F-86795626F9DE}" type="slidenum">
              <a:rPr lang="en-US" smtClean="0"/>
              <a:t>‹#›</a:t>
            </a:fld>
            <a:endParaRPr lang="en-US"/>
          </a:p>
        </p:txBody>
      </p:sp>
    </p:spTree>
    <p:extLst>
      <p:ext uri="{BB962C8B-B14F-4D97-AF65-F5344CB8AC3E}">
        <p14:creationId xmlns:p14="http://schemas.microsoft.com/office/powerpoint/2010/main" val="3093563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F6A83E-D327-BC15-655D-6050EE812AA1}"/>
              </a:ext>
            </a:extLst>
          </p:cNvPr>
          <p:cNvSpPr>
            <a:spLocks noGrp="1"/>
          </p:cNvSpPr>
          <p:nvPr>
            <p:ph type="dt" sz="half" idx="10"/>
          </p:nvPr>
        </p:nvSpPr>
        <p:spPr/>
        <p:txBody>
          <a:bodyPr/>
          <a:lstStyle/>
          <a:p>
            <a:fld id="{C84921D3-53CB-4F2E-898A-FE26E3C9F177}" type="datetime1">
              <a:rPr lang="en-US" smtClean="0"/>
              <a:t>12/23/2025</a:t>
            </a:fld>
            <a:endParaRPr lang="en-US"/>
          </a:p>
        </p:txBody>
      </p:sp>
      <p:sp>
        <p:nvSpPr>
          <p:cNvPr id="3" name="Footer Placeholder 2">
            <a:extLst>
              <a:ext uri="{FF2B5EF4-FFF2-40B4-BE49-F238E27FC236}">
                <a16:creationId xmlns:a16="http://schemas.microsoft.com/office/drawing/2014/main" id="{8B2BDF7B-4431-0BC6-7C1E-F9401AF32A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5BA2CB-320C-7CCB-E258-80BD31643D7A}"/>
              </a:ext>
            </a:extLst>
          </p:cNvPr>
          <p:cNvSpPr>
            <a:spLocks noGrp="1"/>
          </p:cNvSpPr>
          <p:nvPr>
            <p:ph type="sldNum" sz="quarter" idx="12"/>
          </p:nvPr>
        </p:nvSpPr>
        <p:spPr/>
        <p:txBody>
          <a:bodyPr/>
          <a:lstStyle/>
          <a:p>
            <a:fld id="{06D5B5F9-488F-4DD3-845F-86795626F9DE}" type="slidenum">
              <a:rPr lang="en-US" smtClean="0"/>
              <a:t>‹#›</a:t>
            </a:fld>
            <a:endParaRPr lang="en-US"/>
          </a:p>
        </p:txBody>
      </p:sp>
    </p:spTree>
    <p:extLst>
      <p:ext uri="{BB962C8B-B14F-4D97-AF65-F5344CB8AC3E}">
        <p14:creationId xmlns:p14="http://schemas.microsoft.com/office/powerpoint/2010/main" val="1427090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CF317-A49C-19FC-508E-D8CB8D0E5E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850E9D-AC1A-E612-9752-930243416D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6A694E-4FE5-A12B-07ED-620FF72A9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BD4B4C-C17E-B0A7-27B4-3F8F1B9C7F88}"/>
              </a:ext>
            </a:extLst>
          </p:cNvPr>
          <p:cNvSpPr>
            <a:spLocks noGrp="1"/>
          </p:cNvSpPr>
          <p:nvPr>
            <p:ph type="dt" sz="half" idx="10"/>
          </p:nvPr>
        </p:nvSpPr>
        <p:spPr/>
        <p:txBody>
          <a:bodyPr/>
          <a:lstStyle/>
          <a:p>
            <a:fld id="{0AB3E066-3051-43D7-87EE-20D4B58A31C6}" type="datetime1">
              <a:rPr lang="en-US" smtClean="0"/>
              <a:t>12/23/2025</a:t>
            </a:fld>
            <a:endParaRPr lang="en-US"/>
          </a:p>
        </p:txBody>
      </p:sp>
      <p:sp>
        <p:nvSpPr>
          <p:cNvPr id="6" name="Footer Placeholder 5">
            <a:extLst>
              <a:ext uri="{FF2B5EF4-FFF2-40B4-BE49-F238E27FC236}">
                <a16:creationId xmlns:a16="http://schemas.microsoft.com/office/drawing/2014/main" id="{207C267B-47C2-1AB1-9C67-54F1FA3293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1D1724-F8D2-7F4C-880E-739482D27D5B}"/>
              </a:ext>
            </a:extLst>
          </p:cNvPr>
          <p:cNvSpPr>
            <a:spLocks noGrp="1"/>
          </p:cNvSpPr>
          <p:nvPr>
            <p:ph type="sldNum" sz="quarter" idx="12"/>
          </p:nvPr>
        </p:nvSpPr>
        <p:spPr/>
        <p:txBody>
          <a:bodyPr/>
          <a:lstStyle/>
          <a:p>
            <a:fld id="{06D5B5F9-488F-4DD3-845F-86795626F9DE}" type="slidenum">
              <a:rPr lang="en-US" smtClean="0"/>
              <a:t>‹#›</a:t>
            </a:fld>
            <a:endParaRPr lang="en-US"/>
          </a:p>
        </p:txBody>
      </p:sp>
    </p:spTree>
    <p:extLst>
      <p:ext uri="{BB962C8B-B14F-4D97-AF65-F5344CB8AC3E}">
        <p14:creationId xmlns:p14="http://schemas.microsoft.com/office/powerpoint/2010/main" val="675557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BB56-95A1-A189-E965-7D33783803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DA7001-201C-9F72-E68A-86655A6891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91A8F8-61A9-D330-1398-0107E13A21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1CCA1B-408B-EB7C-32F7-C711412DC048}"/>
              </a:ext>
            </a:extLst>
          </p:cNvPr>
          <p:cNvSpPr>
            <a:spLocks noGrp="1"/>
          </p:cNvSpPr>
          <p:nvPr>
            <p:ph type="dt" sz="half" idx="10"/>
          </p:nvPr>
        </p:nvSpPr>
        <p:spPr/>
        <p:txBody>
          <a:bodyPr/>
          <a:lstStyle/>
          <a:p>
            <a:fld id="{16D07F25-623C-40FB-9F03-69DADA8B3FA9}" type="datetime1">
              <a:rPr lang="en-US" smtClean="0"/>
              <a:t>12/23/2025</a:t>
            </a:fld>
            <a:endParaRPr lang="en-US"/>
          </a:p>
        </p:txBody>
      </p:sp>
      <p:sp>
        <p:nvSpPr>
          <p:cNvPr id="6" name="Footer Placeholder 5">
            <a:extLst>
              <a:ext uri="{FF2B5EF4-FFF2-40B4-BE49-F238E27FC236}">
                <a16:creationId xmlns:a16="http://schemas.microsoft.com/office/drawing/2014/main" id="{DEE86B8E-52F2-3215-2348-010EEAA334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C46A7-DD06-9153-A35E-25A43751ED97}"/>
              </a:ext>
            </a:extLst>
          </p:cNvPr>
          <p:cNvSpPr>
            <a:spLocks noGrp="1"/>
          </p:cNvSpPr>
          <p:nvPr>
            <p:ph type="sldNum" sz="quarter" idx="12"/>
          </p:nvPr>
        </p:nvSpPr>
        <p:spPr/>
        <p:txBody>
          <a:bodyPr/>
          <a:lstStyle/>
          <a:p>
            <a:fld id="{06D5B5F9-488F-4DD3-845F-86795626F9DE}" type="slidenum">
              <a:rPr lang="en-US" smtClean="0"/>
              <a:t>‹#›</a:t>
            </a:fld>
            <a:endParaRPr lang="en-US"/>
          </a:p>
        </p:txBody>
      </p:sp>
    </p:spTree>
    <p:extLst>
      <p:ext uri="{BB962C8B-B14F-4D97-AF65-F5344CB8AC3E}">
        <p14:creationId xmlns:p14="http://schemas.microsoft.com/office/powerpoint/2010/main" val="440454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7DB58-85F1-CAFE-C8D9-9FA35F1E0C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D4157F-5DF9-B90A-74FC-848003E464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346F64-236E-F7F9-61EB-0919832DBEC8}"/>
              </a:ext>
            </a:extLst>
          </p:cNvPr>
          <p:cNvSpPr>
            <a:spLocks noGrp="1"/>
          </p:cNvSpPr>
          <p:nvPr>
            <p:ph type="dt" sz="half" idx="10"/>
          </p:nvPr>
        </p:nvSpPr>
        <p:spPr/>
        <p:txBody>
          <a:bodyPr/>
          <a:lstStyle/>
          <a:p>
            <a:fld id="{C3F172FE-F657-4BB9-A898-0DE0784119C8}" type="datetime1">
              <a:rPr lang="en-US" smtClean="0"/>
              <a:t>12/23/2025</a:t>
            </a:fld>
            <a:endParaRPr lang="en-US"/>
          </a:p>
        </p:txBody>
      </p:sp>
      <p:sp>
        <p:nvSpPr>
          <p:cNvPr id="5" name="Footer Placeholder 4">
            <a:extLst>
              <a:ext uri="{FF2B5EF4-FFF2-40B4-BE49-F238E27FC236}">
                <a16:creationId xmlns:a16="http://schemas.microsoft.com/office/drawing/2014/main" id="{84E8D67D-51E3-37D6-6925-86B87B5A7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9D7D07-079E-F68C-39DB-5B7E84D639AA}"/>
              </a:ext>
            </a:extLst>
          </p:cNvPr>
          <p:cNvSpPr>
            <a:spLocks noGrp="1"/>
          </p:cNvSpPr>
          <p:nvPr>
            <p:ph type="sldNum" sz="quarter" idx="12"/>
          </p:nvPr>
        </p:nvSpPr>
        <p:spPr/>
        <p:txBody>
          <a:bodyPr/>
          <a:lstStyle/>
          <a:p>
            <a:fld id="{06D5B5F9-488F-4DD3-845F-86795626F9DE}" type="slidenum">
              <a:rPr lang="en-US" smtClean="0"/>
              <a:t>‹#›</a:t>
            </a:fld>
            <a:endParaRPr lang="en-US"/>
          </a:p>
        </p:txBody>
      </p:sp>
    </p:spTree>
    <p:extLst>
      <p:ext uri="{BB962C8B-B14F-4D97-AF65-F5344CB8AC3E}">
        <p14:creationId xmlns:p14="http://schemas.microsoft.com/office/powerpoint/2010/main" val="2850703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9F7624-B5E2-328E-CEAC-B6B4D95227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CC7CDC-932C-1A4A-27BF-103ECAFE13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C78C95-6A92-A093-7EDA-C813BBB3EF0D}"/>
              </a:ext>
            </a:extLst>
          </p:cNvPr>
          <p:cNvSpPr>
            <a:spLocks noGrp="1"/>
          </p:cNvSpPr>
          <p:nvPr>
            <p:ph type="dt" sz="half" idx="10"/>
          </p:nvPr>
        </p:nvSpPr>
        <p:spPr/>
        <p:txBody>
          <a:bodyPr/>
          <a:lstStyle/>
          <a:p>
            <a:fld id="{8A8D0F03-115C-4966-9CA3-81E94E217F3B}" type="datetime1">
              <a:rPr lang="en-US" smtClean="0"/>
              <a:t>12/23/2025</a:t>
            </a:fld>
            <a:endParaRPr lang="en-US"/>
          </a:p>
        </p:txBody>
      </p:sp>
      <p:sp>
        <p:nvSpPr>
          <p:cNvPr id="5" name="Footer Placeholder 4">
            <a:extLst>
              <a:ext uri="{FF2B5EF4-FFF2-40B4-BE49-F238E27FC236}">
                <a16:creationId xmlns:a16="http://schemas.microsoft.com/office/drawing/2014/main" id="{06EF1481-FD39-847A-40C7-AB7CA32E85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DB9D13-6837-C5B9-7D32-58EAF9035364}"/>
              </a:ext>
            </a:extLst>
          </p:cNvPr>
          <p:cNvSpPr>
            <a:spLocks noGrp="1"/>
          </p:cNvSpPr>
          <p:nvPr>
            <p:ph type="sldNum" sz="quarter" idx="12"/>
          </p:nvPr>
        </p:nvSpPr>
        <p:spPr/>
        <p:txBody>
          <a:bodyPr/>
          <a:lstStyle/>
          <a:p>
            <a:fld id="{06D5B5F9-488F-4DD3-845F-86795626F9DE}" type="slidenum">
              <a:rPr lang="en-US" smtClean="0"/>
              <a:t>‹#›</a:t>
            </a:fld>
            <a:endParaRPr lang="en-US"/>
          </a:p>
        </p:txBody>
      </p:sp>
    </p:spTree>
    <p:extLst>
      <p:ext uri="{BB962C8B-B14F-4D97-AF65-F5344CB8AC3E}">
        <p14:creationId xmlns:p14="http://schemas.microsoft.com/office/powerpoint/2010/main" val="1594599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Sides 2" userDrawn="1">
  <p:cSld name="Two Sides 2">
    <p:spTree>
      <p:nvGrpSpPr>
        <p:cNvPr id="1" name="Shape 164"/>
        <p:cNvGrpSpPr/>
        <p:nvPr/>
      </p:nvGrpSpPr>
      <p:grpSpPr>
        <a:xfrm>
          <a:off x="0" y="0"/>
          <a:ext cx="0" cy="0"/>
          <a:chOff x="0" y="0"/>
          <a:chExt cx="0" cy="0"/>
        </a:xfrm>
      </p:grpSpPr>
    </p:spTree>
    <p:extLst>
      <p:ext uri="{BB962C8B-B14F-4D97-AF65-F5344CB8AC3E}">
        <p14:creationId xmlns:p14="http://schemas.microsoft.com/office/powerpoint/2010/main" val="2319768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Freeform 5">
            <a:extLst>
              <a:ext uri="{FF2B5EF4-FFF2-40B4-BE49-F238E27FC236}">
                <a16:creationId xmlns:a16="http://schemas.microsoft.com/office/drawing/2014/main" id="{71868772-80FD-5451-5499-AB9EA5A505ED}"/>
              </a:ext>
            </a:extLst>
          </p:cNvPr>
          <p:cNvSpPr/>
          <p:nvPr userDrawn="1"/>
        </p:nvSpPr>
        <p:spPr>
          <a:xfrm>
            <a:off x="1553082" y="6532840"/>
            <a:ext cx="10638918" cy="280987"/>
          </a:xfrm>
          <a:custGeom>
            <a:avLst/>
            <a:gdLst/>
            <a:ahLst/>
            <a:cxnLst/>
            <a:rect l="l" t="t" r="r" b="b"/>
            <a:pathLst>
              <a:path w="21277835" h="561975">
                <a:moveTo>
                  <a:pt x="0" y="0"/>
                </a:moveTo>
                <a:lnTo>
                  <a:pt x="21277835" y="0"/>
                </a:lnTo>
                <a:lnTo>
                  <a:pt x="21277835" y="561975"/>
                </a:lnTo>
                <a:lnTo>
                  <a:pt x="0" y="561975"/>
                </a:lnTo>
                <a:close/>
              </a:path>
            </a:pathLst>
          </a:custGeom>
          <a:solidFill>
            <a:srgbClr val="119303"/>
          </a:solidFill>
          <a:ln w="12700">
            <a:solidFill>
              <a:srgbClr val="000000"/>
            </a:solidFill>
          </a:ln>
        </p:spPr>
        <p:txBody>
          <a:bodyPr/>
          <a:lstStyle/>
          <a:p>
            <a:endParaRPr lang="en-US" sz="1200"/>
          </a:p>
        </p:txBody>
      </p:sp>
      <p:sp>
        <p:nvSpPr>
          <p:cNvPr id="2" name="Title Placeholder 1">
            <a:extLst>
              <a:ext uri="{FF2B5EF4-FFF2-40B4-BE49-F238E27FC236}">
                <a16:creationId xmlns:a16="http://schemas.microsoft.com/office/drawing/2014/main" id="{3EDD4B72-0FFB-A023-6E35-3CD2EDB0D3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6B039D-1A70-2528-C1B0-DC8100B7B6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0B26AB-E601-561D-9508-7FEC141471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B10819-8E02-4F90-ACA8-45F1399466B6}" type="datetime1">
              <a:rPr lang="en-US" smtClean="0"/>
              <a:t>12/23/2025</a:t>
            </a:fld>
            <a:endParaRPr lang="en-US"/>
          </a:p>
        </p:txBody>
      </p:sp>
      <p:sp>
        <p:nvSpPr>
          <p:cNvPr id="5" name="Footer Placeholder 4">
            <a:extLst>
              <a:ext uri="{FF2B5EF4-FFF2-40B4-BE49-F238E27FC236}">
                <a16:creationId xmlns:a16="http://schemas.microsoft.com/office/drawing/2014/main" id="{E1C7C3C5-6E02-F3DE-CB15-0AD6B6846E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B0D184C-D52E-0B5C-4B36-E9968E651D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D5B5F9-488F-4DD3-845F-86795626F9DE}" type="slidenum">
              <a:rPr lang="en-US" smtClean="0"/>
              <a:pPr/>
              <a:t>‹#›</a:t>
            </a:fld>
            <a:r>
              <a:rPr lang="en-US" dirty="0"/>
              <a:t>/10</a:t>
            </a:r>
          </a:p>
        </p:txBody>
      </p:sp>
      <p:sp>
        <p:nvSpPr>
          <p:cNvPr id="8" name="TextBox 7">
            <a:extLst>
              <a:ext uri="{FF2B5EF4-FFF2-40B4-BE49-F238E27FC236}">
                <a16:creationId xmlns:a16="http://schemas.microsoft.com/office/drawing/2014/main" id="{1A99ABC2-DC51-0192-6025-A6C026A9AB11}"/>
              </a:ext>
            </a:extLst>
          </p:cNvPr>
          <p:cNvSpPr txBox="1"/>
          <p:nvPr userDrawn="1"/>
        </p:nvSpPr>
        <p:spPr>
          <a:xfrm>
            <a:off x="10928412" y="6488668"/>
            <a:ext cx="1263588" cy="369332"/>
          </a:xfrm>
          <a:prstGeom prst="rect">
            <a:avLst/>
          </a:prstGeom>
          <a:noFill/>
        </p:spPr>
        <p:txBody>
          <a:bodyPr wrap="square">
            <a:spAutoFit/>
          </a:bodyPr>
          <a:lstStyle/>
          <a:p>
            <a:pPr algn="r"/>
            <a:fld id="{06D5B5F9-488F-4DD3-845F-86795626F9DE}" type="slidenum">
              <a:rPr lang="en-US" b="1" smtClean="0">
                <a:solidFill>
                  <a:schemeClr val="bg1"/>
                </a:solidFill>
              </a:rPr>
              <a:pPr algn="r"/>
              <a:t>‹#›</a:t>
            </a:fld>
            <a:r>
              <a:rPr lang="en-US" b="1" dirty="0">
                <a:solidFill>
                  <a:schemeClr val="bg1"/>
                </a:solidFill>
              </a:rPr>
              <a:t>/11</a:t>
            </a:r>
          </a:p>
        </p:txBody>
      </p:sp>
    </p:spTree>
    <p:extLst>
      <p:ext uri="{BB962C8B-B14F-4D97-AF65-F5344CB8AC3E}">
        <p14:creationId xmlns:p14="http://schemas.microsoft.com/office/powerpoint/2010/main" val="2842879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microsoft.com/office/2018/10/relationships/comments" Target="../comments/modernComment_2E7_DC5363BF.xm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microsoft.com/office/2018/10/relationships/comments" Target="../comments/modernComment_2E9_CAE801DE.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10.sv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jpeg"/><Relationship Id="rId7" Type="http://schemas.openxmlformats.org/officeDocument/2006/relationships/image" Target="../media/image13.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 name="Picture 2"/>
          <p:cNvPicPr/>
          <p:nvPr/>
        </p:nvPicPr>
        <p:blipFill>
          <a:blip r:embed="rId2"/>
          <a:srcRect l="2008" r="2008"/>
          <a:stretch>
            <a:fillRect/>
          </a:stretch>
        </p:blipFill>
        <p:spPr>
          <a:xfrm>
            <a:off x="0" y="0"/>
            <a:ext cx="12191520" cy="6978720"/>
          </a:xfrm>
          <a:prstGeom prst="rect">
            <a:avLst/>
          </a:prstGeom>
          <a:ln w="0">
            <a:noFill/>
          </a:ln>
        </p:spPr>
      </p:pic>
      <p:sp>
        <p:nvSpPr>
          <p:cNvPr id="90" name="Rectangle 13"/>
          <p:cNvSpPr/>
          <p:nvPr/>
        </p:nvSpPr>
        <p:spPr>
          <a:xfrm>
            <a:off x="85440" y="408430"/>
            <a:ext cx="12191520" cy="1593625"/>
          </a:xfrm>
          <a:prstGeom prst="rect">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p:style>
        <p:txBody>
          <a:bodyPr lIns="120000" tIns="60000" rIns="120000" bIns="60000" anchor="ctr">
            <a:noAutofit/>
          </a:bodyPr>
          <a:lstStyle/>
          <a:p>
            <a:pPr algn="ctr">
              <a:lnSpc>
                <a:spcPct val="100000"/>
              </a:lnSpc>
            </a:pPr>
            <a:endParaRPr lang="en-US" sz="1867" spc="-1">
              <a:solidFill>
                <a:schemeClr val="lt1"/>
              </a:solidFill>
              <a:latin typeface="Arial" panose="020B0604020202020204"/>
              <a:ea typeface="Arial" panose="020B0604020202020204"/>
            </a:endParaRPr>
          </a:p>
        </p:txBody>
      </p:sp>
      <p:pic>
        <p:nvPicPr>
          <p:cNvPr id="92" name="Picture 16" descr="A green and grey recycle sign&#10;&#10;Description automatically generated"/>
          <p:cNvPicPr/>
          <p:nvPr/>
        </p:nvPicPr>
        <p:blipFill>
          <a:blip r:embed="rId3"/>
          <a:stretch>
            <a:fillRect/>
          </a:stretch>
        </p:blipFill>
        <p:spPr>
          <a:xfrm>
            <a:off x="36960" y="45600"/>
            <a:ext cx="1746240" cy="382080"/>
          </a:xfrm>
          <a:prstGeom prst="rect">
            <a:avLst/>
          </a:prstGeom>
          <a:ln w="0">
            <a:noFill/>
          </a:ln>
        </p:spPr>
      </p:pic>
      <p:sp>
        <p:nvSpPr>
          <p:cNvPr id="93" name="Rectangle: Rounded Corners 18"/>
          <p:cNvSpPr/>
          <p:nvPr/>
        </p:nvSpPr>
        <p:spPr>
          <a:xfrm>
            <a:off x="85440" y="6109920"/>
            <a:ext cx="3540960" cy="581760"/>
          </a:xfrm>
          <a:prstGeom prst="roundRect">
            <a:avLst>
              <a:gd name="adj" fmla="val 29818"/>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p:style>
        <p:txBody>
          <a:bodyPr lIns="120000" tIns="60000" rIns="120000" bIns="60000" anchor="ctr">
            <a:noAutofit/>
          </a:bodyPr>
          <a:lstStyle/>
          <a:p>
            <a:pPr algn="ctr">
              <a:lnSpc>
                <a:spcPct val="100000"/>
              </a:lnSpc>
            </a:pPr>
            <a:endParaRPr lang="en-US" sz="1867" spc="-1">
              <a:solidFill>
                <a:schemeClr val="lt1"/>
              </a:solidFill>
              <a:latin typeface="Arial" panose="020B0604020202020204"/>
              <a:ea typeface="Arial" panose="020B0604020202020204"/>
            </a:endParaRPr>
          </a:p>
        </p:txBody>
      </p:sp>
      <p:sp>
        <p:nvSpPr>
          <p:cNvPr id="94" name="TextBox 19"/>
          <p:cNvSpPr/>
          <p:nvPr/>
        </p:nvSpPr>
        <p:spPr>
          <a:xfrm>
            <a:off x="324960" y="6155041"/>
            <a:ext cx="3298560" cy="490504"/>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spAutoFit/>
          </a:bodyPr>
          <a:lstStyle/>
          <a:p>
            <a:pPr algn="ctr">
              <a:lnSpc>
                <a:spcPct val="100000"/>
              </a:lnSpc>
            </a:pPr>
            <a:r>
              <a:rPr lang="en-US" sz="2400" b="1" spc="-1">
                <a:solidFill>
                  <a:srgbClr val="253140"/>
                </a:solidFill>
                <a:latin typeface="Times New Roman" panose="02020603050405020304"/>
              </a:rPr>
              <a:t>NHÂN SỰ</a:t>
            </a:r>
            <a:endParaRPr lang="en-US" sz="2400" spc="-1">
              <a:solidFill>
                <a:srgbClr val="000000"/>
              </a:solidFill>
              <a:latin typeface="Arial" panose="020B0604020202020204"/>
            </a:endParaRPr>
          </a:p>
        </p:txBody>
      </p:sp>
      <p:sp>
        <p:nvSpPr>
          <p:cNvPr id="2" name="TextBox 13">
            <a:extLst>
              <a:ext uri="{FF2B5EF4-FFF2-40B4-BE49-F238E27FC236}">
                <a16:creationId xmlns:a16="http://schemas.microsoft.com/office/drawing/2014/main" id="{05462DC3-D42D-AC31-20B5-890BFA4CCC54}"/>
              </a:ext>
            </a:extLst>
          </p:cNvPr>
          <p:cNvSpPr txBox="1"/>
          <p:nvPr/>
        </p:nvSpPr>
        <p:spPr>
          <a:xfrm>
            <a:off x="36960" y="379567"/>
            <a:ext cx="12069600" cy="1620380"/>
          </a:xfrm>
          <a:prstGeom prst="rect">
            <a:avLst/>
          </a:prstGeom>
        </p:spPr>
        <p:txBody>
          <a:bodyPr wrap="square" lIns="0" tIns="0" rIns="0" bIns="0" rtlCol="0" anchor="t">
            <a:spAutoFit/>
          </a:bodyPr>
          <a:lstStyle/>
          <a:p>
            <a:pPr algn="ctr">
              <a:lnSpc>
                <a:spcPts val="6719"/>
              </a:lnSpc>
            </a:pPr>
            <a:r>
              <a:rPr lang="en-US" sz="4000" b="1" dirty="0">
                <a:solidFill>
                  <a:srgbClr val="119303"/>
                </a:solidFill>
                <a:latin typeface="Arial Bold"/>
                <a:ea typeface="Arial Bold"/>
                <a:cs typeface="Arial Bold"/>
                <a:sym typeface="Arial Bold"/>
              </a:rPr>
              <a:t>CÔNG TY CỔ PHẦN NHỰA TÁI CHẾ DUY TÂN</a:t>
            </a:r>
          </a:p>
          <a:p>
            <a:pPr algn="ctr">
              <a:lnSpc>
                <a:spcPts val="6719"/>
              </a:lnSpc>
            </a:pPr>
            <a:r>
              <a:rPr lang="en-US" sz="4000" b="1" dirty="0">
                <a:solidFill>
                  <a:srgbClr val="119303"/>
                </a:solidFill>
                <a:latin typeface="Arial Bold"/>
                <a:ea typeface="Arial Bold"/>
                <a:cs typeface="Arial Bold"/>
                <a:sym typeface="Arial Bold"/>
              </a:rPr>
              <a:t>BÁO CÁO THÁNG 11 NĂM 2025</a:t>
            </a:r>
          </a:p>
        </p:txBody>
      </p:sp>
      <p:sp>
        <p:nvSpPr>
          <p:cNvPr id="3" name="Slide Number Placeholder 2">
            <a:extLst>
              <a:ext uri="{FF2B5EF4-FFF2-40B4-BE49-F238E27FC236}">
                <a16:creationId xmlns:a16="http://schemas.microsoft.com/office/drawing/2014/main" id="{C1E129E3-5AA1-E534-AA4B-F974BB2EC81F}"/>
              </a:ext>
            </a:extLst>
          </p:cNvPr>
          <p:cNvSpPr>
            <a:spLocks noGrp="1"/>
          </p:cNvSpPr>
          <p:nvPr>
            <p:ph type="sldNum" sz="quarter" idx="12"/>
          </p:nvPr>
        </p:nvSpPr>
        <p:spPr/>
        <p:txBody>
          <a:bodyPr/>
          <a:lstStyle/>
          <a:p>
            <a:fld id="{06D5B5F9-488F-4DD3-845F-86795626F9DE}"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0">
            <a:extLst>
              <a:ext uri="{FF2B5EF4-FFF2-40B4-BE49-F238E27FC236}">
                <a16:creationId xmlns:a16="http://schemas.microsoft.com/office/drawing/2014/main" id="{B70D482A-193D-B4AD-33D5-61FCD37EE942}"/>
              </a:ext>
            </a:extLst>
          </p:cNvPr>
          <p:cNvSpPr txBox="1"/>
          <p:nvPr/>
        </p:nvSpPr>
        <p:spPr>
          <a:xfrm>
            <a:off x="2264779" y="677510"/>
            <a:ext cx="7662441" cy="371897"/>
          </a:xfrm>
          <a:prstGeom prst="rect">
            <a:avLst/>
          </a:prstGeom>
        </p:spPr>
        <p:txBody>
          <a:bodyPr wrap="square" lIns="0" tIns="0" rIns="0" bIns="0" rtlCol="0" anchor="t">
            <a:spAutoFit/>
          </a:bodyPr>
          <a:lstStyle/>
          <a:p>
            <a:pPr algn="ctr">
              <a:lnSpc>
                <a:spcPts val="2880"/>
              </a:lnSpc>
            </a:pPr>
            <a:r>
              <a:rPr lang="en-US" sz="3000" b="1" dirty="0">
                <a:solidFill>
                  <a:srgbClr val="119303"/>
                </a:solidFill>
                <a:latin typeface="Arial Bold"/>
                <a:ea typeface="Arial Bold"/>
                <a:cs typeface="Arial Bold"/>
                <a:sym typeface="Arial Bold"/>
              </a:rPr>
              <a:t>NỘI DUNG CHÍNH</a:t>
            </a:r>
          </a:p>
        </p:txBody>
      </p:sp>
      <p:sp>
        <p:nvSpPr>
          <p:cNvPr id="3" name="TextBox 30">
            <a:extLst>
              <a:ext uri="{FF2B5EF4-FFF2-40B4-BE49-F238E27FC236}">
                <a16:creationId xmlns:a16="http://schemas.microsoft.com/office/drawing/2014/main" id="{E1329A1C-D5D2-7C83-0584-9D46C52B8884}"/>
              </a:ext>
            </a:extLst>
          </p:cNvPr>
          <p:cNvSpPr txBox="1"/>
          <p:nvPr/>
        </p:nvSpPr>
        <p:spPr>
          <a:xfrm>
            <a:off x="601253" y="1473216"/>
            <a:ext cx="7662441" cy="743793"/>
          </a:xfrm>
          <a:prstGeom prst="rect">
            <a:avLst/>
          </a:prstGeom>
        </p:spPr>
        <p:txBody>
          <a:bodyPr wrap="square" lIns="0" tIns="0" rIns="0" bIns="0" rtlCol="0" anchor="t">
            <a:spAutoFit/>
          </a:bodyPr>
          <a:lstStyle/>
          <a:p>
            <a:pPr marL="514350" indent="-514350">
              <a:lnSpc>
                <a:spcPts val="2880"/>
              </a:lnSpc>
              <a:buAutoNum type="arabicPeriod"/>
            </a:pPr>
            <a:r>
              <a:rPr lang="en-US" sz="3000" b="1" dirty="0">
                <a:solidFill>
                  <a:srgbClr val="119303"/>
                </a:solidFill>
                <a:latin typeface="Arial Bold"/>
                <a:ea typeface="Arial Bold"/>
                <a:cs typeface="Arial Bold"/>
                <a:sym typeface="Arial Bold"/>
              </a:rPr>
              <a:t>Nguyên </a:t>
            </a:r>
            <a:r>
              <a:rPr lang="en-US" sz="3000" b="1" dirty="0" err="1">
                <a:solidFill>
                  <a:srgbClr val="119303"/>
                </a:solidFill>
                <a:latin typeface="Arial Bold"/>
                <a:ea typeface="Arial Bold"/>
                <a:cs typeface="Arial Bold"/>
                <a:sym typeface="Arial Bold"/>
              </a:rPr>
              <a:t>tắc</a:t>
            </a:r>
            <a:r>
              <a:rPr lang="en-US" sz="3000" b="1" dirty="0">
                <a:solidFill>
                  <a:srgbClr val="119303"/>
                </a:solidFill>
                <a:latin typeface="Arial Bold"/>
                <a:ea typeface="Arial Bold"/>
                <a:cs typeface="Arial Bold"/>
                <a:sym typeface="Arial Bold"/>
              </a:rPr>
              <a:t> </a:t>
            </a:r>
            <a:r>
              <a:rPr lang="en-US" sz="3000" b="1" dirty="0" err="1">
                <a:solidFill>
                  <a:srgbClr val="119303"/>
                </a:solidFill>
                <a:latin typeface="Arial Bold"/>
                <a:ea typeface="Arial Bold"/>
                <a:cs typeface="Arial Bold"/>
                <a:sym typeface="Arial Bold"/>
              </a:rPr>
              <a:t>thiết</a:t>
            </a:r>
            <a:r>
              <a:rPr lang="en-US" sz="3000" b="1" dirty="0">
                <a:solidFill>
                  <a:srgbClr val="119303"/>
                </a:solidFill>
                <a:latin typeface="Arial Bold"/>
                <a:ea typeface="Arial Bold"/>
                <a:cs typeface="Arial Bold"/>
                <a:sym typeface="Arial Bold"/>
              </a:rPr>
              <a:t> </a:t>
            </a:r>
            <a:r>
              <a:rPr lang="en-US" sz="3000" b="1" dirty="0" err="1">
                <a:solidFill>
                  <a:srgbClr val="119303"/>
                </a:solidFill>
                <a:latin typeface="Arial Bold"/>
                <a:ea typeface="Arial Bold"/>
                <a:cs typeface="Arial Bold"/>
                <a:sym typeface="Arial Bold"/>
              </a:rPr>
              <a:t>lập</a:t>
            </a:r>
            <a:r>
              <a:rPr lang="en-US" sz="3000" b="1" dirty="0">
                <a:solidFill>
                  <a:srgbClr val="119303"/>
                </a:solidFill>
                <a:latin typeface="Arial Bold"/>
                <a:ea typeface="Arial Bold"/>
                <a:cs typeface="Arial Bold"/>
                <a:sym typeface="Arial Bold"/>
              </a:rPr>
              <a:t> KPI 2026</a:t>
            </a:r>
          </a:p>
          <a:p>
            <a:pPr marL="514350" indent="-514350">
              <a:lnSpc>
                <a:spcPts val="2880"/>
              </a:lnSpc>
              <a:buAutoNum type="arabicPeriod"/>
            </a:pPr>
            <a:endParaRPr lang="en-US" sz="3000" b="1" dirty="0">
              <a:solidFill>
                <a:srgbClr val="119303"/>
              </a:solidFill>
              <a:latin typeface="Arial Bold"/>
              <a:ea typeface="Arial Bold"/>
              <a:cs typeface="Arial Bold"/>
              <a:sym typeface="Arial Bold"/>
            </a:endParaRPr>
          </a:p>
        </p:txBody>
      </p:sp>
      <p:sp>
        <p:nvSpPr>
          <p:cNvPr id="4" name="TextBox 30">
            <a:extLst>
              <a:ext uri="{FF2B5EF4-FFF2-40B4-BE49-F238E27FC236}">
                <a16:creationId xmlns:a16="http://schemas.microsoft.com/office/drawing/2014/main" id="{CC2783FC-4B74-F873-3EFA-D20B81F35B89}"/>
              </a:ext>
            </a:extLst>
          </p:cNvPr>
          <p:cNvSpPr txBox="1"/>
          <p:nvPr/>
        </p:nvSpPr>
        <p:spPr>
          <a:xfrm>
            <a:off x="607613" y="2014967"/>
            <a:ext cx="10774745" cy="371897"/>
          </a:xfrm>
          <a:prstGeom prst="rect">
            <a:avLst/>
          </a:prstGeom>
        </p:spPr>
        <p:txBody>
          <a:bodyPr wrap="square" lIns="0" tIns="0" rIns="0" bIns="0" rtlCol="0" anchor="t">
            <a:spAutoFit/>
          </a:bodyPr>
          <a:lstStyle/>
          <a:p>
            <a:pPr>
              <a:lnSpc>
                <a:spcPts val="2880"/>
              </a:lnSpc>
            </a:pPr>
            <a:r>
              <a:rPr lang="en-US" sz="3000" b="1" dirty="0">
                <a:solidFill>
                  <a:srgbClr val="119303"/>
                </a:solidFill>
                <a:latin typeface="Arial Bold"/>
                <a:ea typeface="Arial Bold"/>
                <a:cs typeface="Arial Bold"/>
                <a:sym typeface="Arial Bold"/>
              </a:rPr>
              <a:t>2. Khung KPI </a:t>
            </a:r>
            <a:r>
              <a:rPr lang="en-US" sz="3000" b="1" dirty="0" err="1">
                <a:solidFill>
                  <a:srgbClr val="119303"/>
                </a:solidFill>
                <a:latin typeface="Arial Bold"/>
                <a:ea typeface="Arial Bold"/>
                <a:cs typeface="Arial Bold"/>
                <a:sym typeface="Arial Bold"/>
              </a:rPr>
              <a:t>cho</a:t>
            </a:r>
            <a:r>
              <a:rPr lang="en-US" sz="3000" b="1" dirty="0">
                <a:solidFill>
                  <a:srgbClr val="119303"/>
                </a:solidFill>
                <a:latin typeface="Arial Bold"/>
                <a:ea typeface="Arial Bold"/>
                <a:cs typeface="Arial Bold"/>
                <a:sym typeface="Arial Bold"/>
              </a:rPr>
              <a:t> Công ty (DTR)</a:t>
            </a:r>
          </a:p>
        </p:txBody>
      </p:sp>
      <p:pic>
        <p:nvPicPr>
          <p:cNvPr id="5" name="Picture 16" descr="A green and grey recycle sign&#10;&#10;Description automatically generated">
            <a:extLst>
              <a:ext uri="{FF2B5EF4-FFF2-40B4-BE49-F238E27FC236}">
                <a16:creationId xmlns:a16="http://schemas.microsoft.com/office/drawing/2014/main" id="{8A1CC41A-B326-FE0F-FADD-F5D85EA67236}"/>
              </a:ext>
            </a:extLst>
          </p:cNvPr>
          <p:cNvPicPr/>
          <p:nvPr/>
        </p:nvPicPr>
        <p:blipFill>
          <a:blip r:embed="rId2"/>
          <a:stretch>
            <a:fillRect/>
          </a:stretch>
        </p:blipFill>
        <p:spPr>
          <a:xfrm>
            <a:off x="0" y="138197"/>
            <a:ext cx="1746240" cy="382080"/>
          </a:xfrm>
          <a:prstGeom prst="rect">
            <a:avLst/>
          </a:prstGeom>
          <a:ln w="0">
            <a:noFill/>
          </a:ln>
        </p:spPr>
      </p:pic>
      <p:grpSp>
        <p:nvGrpSpPr>
          <p:cNvPr id="8" name="Group 6">
            <a:extLst>
              <a:ext uri="{FF2B5EF4-FFF2-40B4-BE49-F238E27FC236}">
                <a16:creationId xmlns:a16="http://schemas.microsoft.com/office/drawing/2014/main" id="{4DAAB46B-84B3-3784-D5FA-8342B5DD9FB0}"/>
              </a:ext>
            </a:extLst>
          </p:cNvPr>
          <p:cNvGrpSpPr>
            <a:grpSpLocks noChangeAspect="1"/>
          </p:cNvGrpSpPr>
          <p:nvPr/>
        </p:nvGrpSpPr>
        <p:grpSpPr>
          <a:xfrm>
            <a:off x="107699" y="6632678"/>
            <a:ext cx="1146287" cy="175771"/>
            <a:chOff x="0" y="0"/>
            <a:chExt cx="2292573" cy="351541"/>
          </a:xfrm>
        </p:grpSpPr>
        <p:sp>
          <p:nvSpPr>
            <p:cNvPr id="9" name="Freeform 7">
              <a:extLst>
                <a:ext uri="{FF2B5EF4-FFF2-40B4-BE49-F238E27FC236}">
                  <a16:creationId xmlns:a16="http://schemas.microsoft.com/office/drawing/2014/main" id="{CE3DB185-EB17-056A-E76D-0F9C9E9FCF6C}"/>
                </a:ext>
              </a:extLst>
            </p:cNvPr>
            <p:cNvSpPr/>
            <p:nvPr/>
          </p:nvSpPr>
          <p:spPr>
            <a:xfrm>
              <a:off x="0" y="0"/>
              <a:ext cx="2292604" cy="351536"/>
            </a:xfrm>
            <a:custGeom>
              <a:avLst/>
              <a:gdLst/>
              <a:ahLst/>
              <a:cxnLst/>
              <a:rect l="l" t="t" r="r" b="b"/>
              <a:pathLst>
                <a:path w="2292604" h="351536">
                  <a:moveTo>
                    <a:pt x="0" y="0"/>
                  </a:moveTo>
                  <a:lnTo>
                    <a:pt x="2292604" y="0"/>
                  </a:lnTo>
                  <a:lnTo>
                    <a:pt x="2292604" y="351536"/>
                  </a:lnTo>
                  <a:lnTo>
                    <a:pt x="0" y="351536"/>
                  </a:lnTo>
                  <a:lnTo>
                    <a:pt x="0" y="0"/>
                  </a:lnTo>
                  <a:close/>
                </a:path>
              </a:pathLst>
            </a:custGeom>
            <a:blipFill>
              <a:blip r:embed="rId3"/>
              <a:stretch>
                <a:fillRect r="1" b="-2"/>
              </a:stretch>
            </a:blipFill>
          </p:spPr>
          <p:txBody>
            <a:bodyPr/>
            <a:lstStyle/>
            <a:p>
              <a:endParaRPr lang="en-US" sz="1200"/>
            </a:p>
          </p:txBody>
        </p:sp>
      </p:grpSp>
      <p:sp>
        <p:nvSpPr>
          <p:cNvPr id="10" name="TextBox 30">
            <a:extLst>
              <a:ext uri="{FF2B5EF4-FFF2-40B4-BE49-F238E27FC236}">
                <a16:creationId xmlns:a16="http://schemas.microsoft.com/office/drawing/2014/main" id="{BF674A26-A19C-F27D-7C18-A695094783A9}"/>
              </a:ext>
            </a:extLst>
          </p:cNvPr>
          <p:cNvSpPr txBox="1"/>
          <p:nvPr/>
        </p:nvSpPr>
        <p:spPr>
          <a:xfrm>
            <a:off x="607613" y="3523067"/>
            <a:ext cx="7662441" cy="371897"/>
          </a:xfrm>
          <a:prstGeom prst="rect">
            <a:avLst/>
          </a:prstGeom>
        </p:spPr>
        <p:txBody>
          <a:bodyPr wrap="square" lIns="0" tIns="0" rIns="0" bIns="0" rtlCol="0" anchor="t">
            <a:spAutoFit/>
          </a:bodyPr>
          <a:lstStyle/>
          <a:p>
            <a:pPr>
              <a:lnSpc>
                <a:spcPts val="2880"/>
              </a:lnSpc>
            </a:pPr>
            <a:r>
              <a:rPr lang="en-US" sz="3000" b="1" dirty="0">
                <a:solidFill>
                  <a:srgbClr val="119303"/>
                </a:solidFill>
                <a:latin typeface="Arial Bold"/>
                <a:ea typeface="Arial Bold"/>
                <a:cs typeface="Arial Bold"/>
                <a:sym typeface="Arial Bold"/>
              </a:rPr>
              <a:t>3. </a:t>
            </a:r>
            <a:r>
              <a:rPr lang="en-US" sz="3000" b="1" dirty="0" err="1">
                <a:solidFill>
                  <a:srgbClr val="119303"/>
                </a:solidFill>
                <a:latin typeface="Arial Bold"/>
                <a:ea typeface="Arial Bold"/>
                <a:cs typeface="Arial Bold"/>
                <a:sym typeface="Arial Bold"/>
              </a:rPr>
              <a:t>Phân</a:t>
            </a:r>
            <a:r>
              <a:rPr lang="en-US" sz="3000" b="1" dirty="0">
                <a:solidFill>
                  <a:srgbClr val="119303"/>
                </a:solidFill>
                <a:latin typeface="Arial Bold"/>
                <a:ea typeface="Arial Bold"/>
                <a:cs typeface="Arial Bold"/>
                <a:sym typeface="Arial Bold"/>
              </a:rPr>
              <a:t> </a:t>
            </a:r>
            <a:r>
              <a:rPr lang="en-US" sz="3000" b="1" dirty="0" err="1">
                <a:solidFill>
                  <a:srgbClr val="119303"/>
                </a:solidFill>
                <a:latin typeface="Arial Bold"/>
                <a:ea typeface="Arial Bold"/>
                <a:cs typeface="Arial Bold"/>
                <a:sym typeface="Arial Bold"/>
              </a:rPr>
              <a:t>rã</a:t>
            </a:r>
            <a:r>
              <a:rPr lang="en-US" sz="3000" b="1" dirty="0">
                <a:solidFill>
                  <a:srgbClr val="119303"/>
                </a:solidFill>
                <a:latin typeface="Arial Bold"/>
                <a:ea typeface="Arial Bold"/>
                <a:cs typeface="Arial Bold"/>
                <a:sym typeface="Arial Bold"/>
              </a:rPr>
              <a:t> KPI </a:t>
            </a:r>
            <a:r>
              <a:rPr lang="en-US" sz="3000" b="1" dirty="0" err="1">
                <a:solidFill>
                  <a:srgbClr val="119303"/>
                </a:solidFill>
                <a:latin typeface="Arial Bold"/>
                <a:ea typeface="Arial Bold"/>
                <a:cs typeface="Arial Bold"/>
                <a:sym typeface="Arial Bold"/>
              </a:rPr>
              <a:t>xuống</a:t>
            </a:r>
            <a:r>
              <a:rPr lang="en-US" sz="3000" b="1" dirty="0">
                <a:solidFill>
                  <a:srgbClr val="119303"/>
                </a:solidFill>
                <a:latin typeface="Arial Bold"/>
                <a:ea typeface="Arial Bold"/>
                <a:cs typeface="Arial Bold"/>
                <a:sym typeface="Arial Bold"/>
              </a:rPr>
              <a:t> </a:t>
            </a:r>
            <a:r>
              <a:rPr lang="en-US" sz="3000" b="1" dirty="0" err="1">
                <a:solidFill>
                  <a:srgbClr val="119303"/>
                </a:solidFill>
                <a:latin typeface="Arial Bold"/>
                <a:ea typeface="Arial Bold"/>
                <a:cs typeface="Arial Bold"/>
                <a:sym typeface="Arial Bold"/>
              </a:rPr>
              <a:t>phòng</a:t>
            </a:r>
            <a:r>
              <a:rPr lang="en-US" sz="3000" b="1" dirty="0">
                <a:solidFill>
                  <a:srgbClr val="119303"/>
                </a:solidFill>
                <a:latin typeface="Arial Bold"/>
                <a:ea typeface="Arial Bold"/>
                <a:cs typeface="Arial Bold"/>
                <a:sym typeface="Arial Bold"/>
              </a:rPr>
              <a:t> ban</a:t>
            </a:r>
          </a:p>
        </p:txBody>
      </p:sp>
      <p:sp>
        <p:nvSpPr>
          <p:cNvPr id="11" name="TextBox 30">
            <a:extLst>
              <a:ext uri="{FF2B5EF4-FFF2-40B4-BE49-F238E27FC236}">
                <a16:creationId xmlns:a16="http://schemas.microsoft.com/office/drawing/2014/main" id="{C9D5F8D9-A846-7F4F-6B24-3E83F2EA754C}"/>
              </a:ext>
            </a:extLst>
          </p:cNvPr>
          <p:cNvSpPr txBox="1"/>
          <p:nvPr/>
        </p:nvSpPr>
        <p:spPr>
          <a:xfrm>
            <a:off x="601253" y="4891924"/>
            <a:ext cx="10276642" cy="371897"/>
          </a:xfrm>
          <a:prstGeom prst="rect">
            <a:avLst/>
          </a:prstGeom>
        </p:spPr>
        <p:txBody>
          <a:bodyPr wrap="square" lIns="0" tIns="0" rIns="0" bIns="0" rtlCol="0" anchor="t">
            <a:spAutoFit/>
          </a:bodyPr>
          <a:lstStyle/>
          <a:p>
            <a:pPr>
              <a:lnSpc>
                <a:spcPts val="2880"/>
              </a:lnSpc>
            </a:pPr>
            <a:r>
              <a:rPr lang="en-US" sz="3000" b="1">
                <a:solidFill>
                  <a:srgbClr val="119303"/>
                </a:solidFill>
                <a:latin typeface="Arial Bold"/>
                <a:ea typeface="Arial Bold"/>
                <a:cs typeface="Arial Bold"/>
                <a:sym typeface="Arial Bold"/>
              </a:rPr>
              <a:t>5. Timeline và người phụ trách phối hợp</a:t>
            </a:r>
          </a:p>
        </p:txBody>
      </p:sp>
      <p:sp>
        <p:nvSpPr>
          <p:cNvPr id="6" name="TextBox 30">
            <a:extLst>
              <a:ext uri="{FF2B5EF4-FFF2-40B4-BE49-F238E27FC236}">
                <a16:creationId xmlns:a16="http://schemas.microsoft.com/office/drawing/2014/main" id="{27016790-23B7-BC13-F263-F54B2081B6C9}"/>
              </a:ext>
            </a:extLst>
          </p:cNvPr>
          <p:cNvSpPr txBox="1"/>
          <p:nvPr/>
        </p:nvSpPr>
        <p:spPr>
          <a:xfrm>
            <a:off x="607613" y="4255280"/>
            <a:ext cx="7662441" cy="371897"/>
          </a:xfrm>
          <a:prstGeom prst="rect">
            <a:avLst/>
          </a:prstGeom>
        </p:spPr>
        <p:txBody>
          <a:bodyPr wrap="square" lIns="0" tIns="0" rIns="0" bIns="0" rtlCol="0" anchor="t">
            <a:spAutoFit/>
          </a:bodyPr>
          <a:lstStyle/>
          <a:p>
            <a:pPr>
              <a:lnSpc>
                <a:spcPts val="2880"/>
              </a:lnSpc>
            </a:pPr>
            <a:r>
              <a:rPr lang="en-US" sz="3000" b="1">
                <a:solidFill>
                  <a:srgbClr val="119303"/>
                </a:solidFill>
                <a:latin typeface="Arial Bold"/>
                <a:ea typeface="Arial Bold"/>
                <a:cs typeface="Arial Bold"/>
                <a:sym typeface="Arial Bold"/>
              </a:rPr>
              <a:t>4. Biểu mẫu KPI và phụ lục</a:t>
            </a:r>
          </a:p>
        </p:txBody>
      </p:sp>
      <p:sp>
        <p:nvSpPr>
          <p:cNvPr id="7" name="Slide Number Placeholder 6">
            <a:extLst>
              <a:ext uri="{FF2B5EF4-FFF2-40B4-BE49-F238E27FC236}">
                <a16:creationId xmlns:a16="http://schemas.microsoft.com/office/drawing/2014/main" id="{F3015086-C9A0-1F32-B27A-17B01E5BD87A}"/>
              </a:ext>
            </a:extLst>
          </p:cNvPr>
          <p:cNvSpPr>
            <a:spLocks noGrp="1"/>
          </p:cNvSpPr>
          <p:nvPr>
            <p:ph type="sldNum" sz="quarter" idx="12"/>
          </p:nvPr>
        </p:nvSpPr>
        <p:spPr/>
        <p:txBody>
          <a:bodyPr/>
          <a:lstStyle/>
          <a:p>
            <a:fld id="{06D5B5F9-488F-4DD3-845F-86795626F9DE}" type="slidenum">
              <a:rPr lang="en-US" smtClean="0"/>
              <a:t>2</a:t>
            </a:fld>
            <a:endParaRPr lang="en-US"/>
          </a:p>
        </p:txBody>
      </p:sp>
    </p:spTree>
    <p:extLst>
      <p:ext uri="{BB962C8B-B14F-4D97-AF65-F5344CB8AC3E}">
        <p14:creationId xmlns:p14="http://schemas.microsoft.com/office/powerpoint/2010/main" val="1157469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9396" y="615823"/>
            <a:ext cx="12192000" cy="6563360"/>
            <a:chOff x="-71542" y="1266200"/>
            <a:chExt cx="24384000" cy="13126720"/>
          </a:xfrm>
        </p:grpSpPr>
        <p:sp>
          <p:nvSpPr>
            <p:cNvPr id="3" name="Freeform 3" descr="Skyscrapers shown from view looking up"/>
            <p:cNvSpPr/>
            <p:nvPr/>
          </p:nvSpPr>
          <p:spPr>
            <a:xfrm>
              <a:off x="-71542" y="1266200"/>
              <a:ext cx="24384000" cy="13126720"/>
            </a:xfrm>
            <a:custGeom>
              <a:avLst/>
              <a:gdLst/>
              <a:ahLst/>
              <a:cxnLst/>
              <a:rect l="l" t="t" r="r" b="b"/>
              <a:pathLst>
                <a:path w="24384000" h="13126720">
                  <a:moveTo>
                    <a:pt x="0" y="0"/>
                  </a:moveTo>
                  <a:lnTo>
                    <a:pt x="24384000" y="0"/>
                  </a:lnTo>
                  <a:lnTo>
                    <a:pt x="24384000" y="13126720"/>
                  </a:lnTo>
                  <a:lnTo>
                    <a:pt x="0" y="13126720"/>
                  </a:lnTo>
                  <a:lnTo>
                    <a:pt x="0" y="0"/>
                  </a:lnTo>
                  <a:close/>
                </a:path>
              </a:pathLst>
            </a:custGeom>
            <a:blipFill>
              <a:blip r:embed="rId3">
                <a:alphaModFix amt="5000"/>
              </a:blip>
              <a:stretch>
                <a:fillRect r="-12615" b="-39571"/>
              </a:stretch>
            </a:blipFill>
          </p:spPr>
          <p:txBody>
            <a:bodyPr/>
            <a:lstStyle/>
            <a:p>
              <a:endParaRPr lang="en-US" sz="1200"/>
            </a:p>
          </p:txBody>
        </p:sp>
      </p:grpSp>
      <p:grpSp>
        <p:nvGrpSpPr>
          <p:cNvPr id="6" name="Group 6"/>
          <p:cNvGrpSpPr>
            <a:grpSpLocks noChangeAspect="1"/>
          </p:cNvGrpSpPr>
          <p:nvPr/>
        </p:nvGrpSpPr>
        <p:grpSpPr>
          <a:xfrm>
            <a:off x="200296" y="6631207"/>
            <a:ext cx="1146287" cy="175771"/>
            <a:chOff x="0" y="0"/>
            <a:chExt cx="2292573" cy="351541"/>
          </a:xfrm>
        </p:grpSpPr>
        <p:sp>
          <p:nvSpPr>
            <p:cNvPr id="7" name="Freeform 7"/>
            <p:cNvSpPr/>
            <p:nvPr/>
          </p:nvSpPr>
          <p:spPr>
            <a:xfrm>
              <a:off x="0" y="0"/>
              <a:ext cx="2292604" cy="351536"/>
            </a:xfrm>
            <a:custGeom>
              <a:avLst/>
              <a:gdLst/>
              <a:ahLst/>
              <a:cxnLst/>
              <a:rect l="l" t="t" r="r" b="b"/>
              <a:pathLst>
                <a:path w="2292604" h="351536">
                  <a:moveTo>
                    <a:pt x="0" y="0"/>
                  </a:moveTo>
                  <a:lnTo>
                    <a:pt x="2292604" y="0"/>
                  </a:lnTo>
                  <a:lnTo>
                    <a:pt x="2292604" y="351536"/>
                  </a:lnTo>
                  <a:lnTo>
                    <a:pt x="0" y="351536"/>
                  </a:lnTo>
                  <a:lnTo>
                    <a:pt x="0" y="0"/>
                  </a:lnTo>
                  <a:close/>
                </a:path>
              </a:pathLst>
            </a:custGeom>
            <a:blipFill>
              <a:blip r:embed="rId4"/>
              <a:stretch>
                <a:fillRect r="1" b="-2"/>
              </a:stretch>
            </a:blipFill>
          </p:spPr>
          <p:txBody>
            <a:bodyPr/>
            <a:lstStyle/>
            <a:p>
              <a:endParaRPr lang="en-US" sz="1200"/>
            </a:p>
          </p:txBody>
        </p:sp>
      </p:grpSp>
      <p:sp>
        <p:nvSpPr>
          <p:cNvPr id="8" name="AutoShape 8"/>
          <p:cNvSpPr/>
          <p:nvPr/>
        </p:nvSpPr>
        <p:spPr>
          <a:xfrm>
            <a:off x="0" y="521738"/>
            <a:ext cx="12183980" cy="0"/>
          </a:xfrm>
          <a:prstGeom prst="line">
            <a:avLst/>
          </a:prstGeom>
          <a:ln w="19050" cap="flat">
            <a:solidFill>
              <a:srgbClr val="39618E"/>
            </a:solidFill>
            <a:prstDash val="solid"/>
            <a:headEnd type="none" w="sm" len="sm"/>
            <a:tailEnd type="none" w="sm" len="sm"/>
          </a:ln>
        </p:spPr>
        <p:txBody>
          <a:bodyPr/>
          <a:lstStyle/>
          <a:p>
            <a:endParaRPr lang="en-US" sz="1200"/>
          </a:p>
        </p:txBody>
      </p:sp>
      <p:sp>
        <p:nvSpPr>
          <p:cNvPr id="9" name="TextBox 9"/>
          <p:cNvSpPr txBox="1"/>
          <p:nvPr/>
        </p:nvSpPr>
        <p:spPr>
          <a:xfrm>
            <a:off x="200297" y="64051"/>
            <a:ext cx="11828379" cy="348942"/>
          </a:xfrm>
          <a:prstGeom prst="rect">
            <a:avLst/>
          </a:prstGeom>
        </p:spPr>
        <p:txBody>
          <a:bodyPr lIns="0" tIns="0" rIns="0" bIns="0" rtlCol="0" anchor="t">
            <a:spAutoFit/>
          </a:bodyPr>
          <a:lstStyle/>
          <a:p>
            <a:pPr>
              <a:lnSpc>
                <a:spcPts val="2880"/>
              </a:lnSpc>
            </a:pPr>
            <a:r>
              <a:rPr lang="en-US" sz="2400" b="1">
                <a:solidFill>
                  <a:srgbClr val="119303"/>
                </a:solidFill>
                <a:latin typeface="Arial Bold"/>
                <a:ea typeface="Arial Bold"/>
                <a:cs typeface="Arial Bold"/>
                <a:sym typeface="Arial Bold"/>
              </a:rPr>
              <a:t>1. Nguyên tắc thiết lập KPI 2026</a:t>
            </a:r>
          </a:p>
        </p:txBody>
      </p:sp>
      <p:sp>
        <p:nvSpPr>
          <p:cNvPr id="10" name="TextBox 10"/>
          <p:cNvSpPr txBox="1"/>
          <p:nvPr/>
        </p:nvSpPr>
        <p:spPr>
          <a:xfrm>
            <a:off x="200297" y="625475"/>
            <a:ext cx="11828379" cy="307777"/>
          </a:xfrm>
          <a:prstGeom prst="rect">
            <a:avLst/>
          </a:prstGeom>
        </p:spPr>
        <p:txBody>
          <a:bodyPr lIns="0" tIns="0" rIns="0" bIns="0" rtlCol="0" anchor="t">
            <a:spAutoFit/>
          </a:bodyPr>
          <a:lstStyle/>
          <a:p>
            <a:pPr>
              <a:lnSpc>
                <a:spcPts val="2400"/>
              </a:lnSpc>
            </a:pPr>
            <a:r>
              <a:rPr lang="en-US" sz="2000" b="1" dirty="0">
                <a:solidFill>
                  <a:srgbClr val="39618E"/>
                </a:solidFill>
                <a:latin typeface="Arial Bold"/>
                <a:ea typeface="Arial Bold"/>
                <a:cs typeface="Arial Bold"/>
                <a:sym typeface="Arial Bold"/>
              </a:rPr>
              <a:t>1.1 Nguyên </a:t>
            </a:r>
            <a:r>
              <a:rPr lang="en-US" sz="2000" b="1" dirty="0" err="1">
                <a:solidFill>
                  <a:srgbClr val="39618E"/>
                </a:solidFill>
                <a:latin typeface="Arial Bold"/>
                <a:ea typeface="Arial Bold"/>
                <a:cs typeface="Arial Bold"/>
                <a:sym typeface="Arial Bold"/>
              </a:rPr>
              <a:t>tắc</a:t>
            </a:r>
            <a:r>
              <a:rPr lang="en-US" sz="2000" b="1" dirty="0">
                <a:solidFill>
                  <a:srgbClr val="39618E"/>
                </a:solidFill>
                <a:latin typeface="Arial Bold"/>
                <a:ea typeface="Arial Bold"/>
                <a:cs typeface="Arial Bold"/>
                <a:sym typeface="Arial Bold"/>
              </a:rPr>
              <a:t> </a:t>
            </a:r>
            <a:r>
              <a:rPr lang="en-US" sz="2000" b="1" dirty="0" err="1">
                <a:solidFill>
                  <a:srgbClr val="39618E"/>
                </a:solidFill>
                <a:latin typeface="Arial Bold"/>
                <a:ea typeface="Arial Bold"/>
                <a:cs typeface="Arial Bold"/>
                <a:sym typeface="Arial Bold"/>
              </a:rPr>
              <a:t>thiết</a:t>
            </a:r>
            <a:r>
              <a:rPr lang="en-US" sz="2000" b="1" dirty="0">
                <a:solidFill>
                  <a:srgbClr val="39618E"/>
                </a:solidFill>
                <a:latin typeface="Arial Bold"/>
                <a:ea typeface="Arial Bold"/>
                <a:cs typeface="Arial Bold"/>
                <a:sym typeface="Arial Bold"/>
              </a:rPr>
              <a:t> </a:t>
            </a:r>
            <a:r>
              <a:rPr lang="en-US" sz="2000" b="1" dirty="0" err="1">
                <a:solidFill>
                  <a:srgbClr val="39618E"/>
                </a:solidFill>
                <a:latin typeface="Arial Bold"/>
                <a:ea typeface="Arial Bold"/>
                <a:cs typeface="Arial Bold"/>
                <a:sym typeface="Arial Bold"/>
              </a:rPr>
              <a:t>lập</a:t>
            </a:r>
            <a:r>
              <a:rPr lang="en-US" sz="2000" b="1" dirty="0">
                <a:solidFill>
                  <a:srgbClr val="39618E"/>
                </a:solidFill>
                <a:latin typeface="Arial Bold"/>
                <a:ea typeface="Arial Bold"/>
                <a:cs typeface="Arial Bold"/>
                <a:sym typeface="Arial Bold"/>
              </a:rPr>
              <a:t> KPI </a:t>
            </a:r>
            <a:r>
              <a:rPr lang="en-US" sz="2000" b="1" dirty="0" err="1">
                <a:solidFill>
                  <a:srgbClr val="39618E"/>
                </a:solidFill>
                <a:latin typeface="Arial Bold"/>
                <a:ea typeface="Arial Bold"/>
                <a:cs typeface="Arial Bold"/>
                <a:sym typeface="Arial Bold"/>
              </a:rPr>
              <a:t>dành</a:t>
            </a:r>
            <a:r>
              <a:rPr lang="en-US" sz="2000" b="1" dirty="0">
                <a:solidFill>
                  <a:srgbClr val="39618E"/>
                </a:solidFill>
                <a:latin typeface="Arial Bold"/>
                <a:ea typeface="Arial Bold"/>
                <a:cs typeface="Arial Bold"/>
                <a:sym typeface="Arial Bold"/>
              </a:rPr>
              <a:t> CMNV </a:t>
            </a:r>
            <a:r>
              <a:rPr lang="en-US" sz="2000" b="1" dirty="0" err="1">
                <a:solidFill>
                  <a:srgbClr val="39618E"/>
                </a:solidFill>
                <a:latin typeface="Arial Bold"/>
                <a:ea typeface="Arial Bold"/>
                <a:cs typeface="Arial Bold"/>
                <a:sym typeface="Arial Bold"/>
              </a:rPr>
              <a:t>chuyên</a:t>
            </a:r>
            <a:r>
              <a:rPr lang="en-US" sz="2000" b="1" dirty="0">
                <a:solidFill>
                  <a:srgbClr val="39618E"/>
                </a:solidFill>
                <a:latin typeface="Arial Bold"/>
                <a:ea typeface="Arial Bold"/>
                <a:cs typeface="Arial Bold"/>
                <a:sym typeface="Arial Bold"/>
              </a:rPr>
              <a:t> </a:t>
            </a:r>
            <a:r>
              <a:rPr lang="en-US" sz="2000" b="1" dirty="0" err="1">
                <a:solidFill>
                  <a:srgbClr val="39618E"/>
                </a:solidFill>
                <a:latin typeface="Arial Bold"/>
                <a:ea typeface="Arial Bold"/>
                <a:cs typeface="Arial Bold"/>
                <a:sym typeface="Arial Bold"/>
              </a:rPr>
              <a:t>môn</a:t>
            </a:r>
            <a:r>
              <a:rPr lang="en-US" sz="2000" b="1" dirty="0">
                <a:solidFill>
                  <a:srgbClr val="39618E"/>
                </a:solidFill>
                <a:latin typeface="Arial Bold"/>
                <a:ea typeface="Arial Bold"/>
                <a:cs typeface="Arial Bold"/>
                <a:sym typeface="Arial Bold"/>
              </a:rPr>
              <a:t> </a:t>
            </a:r>
            <a:r>
              <a:rPr lang="en-US" sz="2000" b="1" dirty="0" err="1">
                <a:solidFill>
                  <a:srgbClr val="39618E"/>
                </a:solidFill>
                <a:latin typeface="Arial Bold"/>
                <a:ea typeface="Arial Bold"/>
                <a:cs typeface="Arial Bold"/>
                <a:sym typeface="Arial Bold"/>
              </a:rPr>
              <a:t>trở</a:t>
            </a:r>
            <a:r>
              <a:rPr lang="en-US" sz="2000" b="1" dirty="0">
                <a:solidFill>
                  <a:srgbClr val="39618E"/>
                </a:solidFill>
                <a:latin typeface="Arial Bold"/>
                <a:ea typeface="Arial Bold"/>
                <a:cs typeface="Arial Bold"/>
                <a:sym typeface="Arial Bold"/>
              </a:rPr>
              <a:t> </a:t>
            </a:r>
            <a:r>
              <a:rPr lang="en-US" sz="2000" b="1" dirty="0" err="1">
                <a:solidFill>
                  <a:srgbClr val="39618E"/>
                </a:solidFill>
                <a:latin typeface="Arial Bold"/>
                <a:ea typeface="Arial Bold"/>
                <a:cs typeface="Arial Bold"/>
                <a:sym typeface="Arial Bold"/>
              </a:rPr>
              <a:t>lên</a:t>
            </a:r>
            <a:endParaRPr lang="en-US" sz="2000" b="1" dirty="0">
              <a:solidFill>
                <a:srgbClr val="39618E"/>
              </a:solidFill>
              <a:latin typeface="Arial Bold"/>
              <a:ea typeface="Arial Bold"/>
              <a:cs typeface="Arial Bold"/>
              <a:sym typeface="Arial Bold"/>
            </a:endParaRPr>
          </a:p>
        </p:txBody>
      </p:sp>
      <p:grpSp>
        <p:nvGrpSpPr>
          <p:cNvPr id="11" name="Group 11"/>
          <p:cNvGrpSpPr/>
          <p:nvPr/>
        </p:nvGrpSpPr>
        <p:grpSpPr>
          <a:xfrm>
            <a:off x="1709393" y="1017603"/>
            <a:ext cx="3656889" cy="458667"/>
            <a:chOff x="0" y="0"/>
            <a:chExt cx="1444697" cy="181202"/>
          </a:xfrm>
        </p:grpSpPr>
        <p:sp>
          <p:nvSpPr>
            <p:cNvPr id="12" name="Freeform 12"/>
            <p:cNvSpPr/>
            <p:nvPr/>
          </p:nvSpPr>
          <p:spPr>
            <a:xfrm>
              <a:off x="0" y="0"/>
              <a:ext cx="1444697" cy="181202"/>
            </a:xfrm>
            <a:custGeom>
              <a:avLst/>
              <a:gdLst/>
              <a:ahLst/>
              <a:cxnLst/>
              <a:rect l="l" t="t" r="r" b="b"/>
              <a:pathLst>
                <a:path w="1444697" h="181202">
                  <a:moveTo>
                    <a:pt x="23994" y="0"/>
                  </a:moveTo>
                  <a:lnTo>
                    <a:pt x="1420704" y="0"/>
                  </a:lnTo>
                  <a:cubicBezTo>
                    <a:pt x="1433955" y="0"/>
                    <a:pt x="1444697" y="10742"/>
                    <a:pt x="1444697" y="23994"/>
                  </a:cubicBezTo>
                  <a:lnTo>
                    <a:pt x="1444697" y="157208"/>
                  </a:lnTo>
                  <a:cubicBezTo>
                    <a:pt x="1444697" y="170459"/>
                    <a:pt x="1433955" y="181202"/>
                    <a:pt x="1420704" y="181202"/>
                  </a:cubicBezTo>
                  <a:lnTo>
                    <a:pt x="23994" y="181202"/>
                  </a:lnTo>
                  <a:cubicBezTo>
                    <a:pt x="10742" y="181202"/>
                    <a:pt x="0" y="170459"/>
                    <a:pt x="0" y="157208"/>
                  </a:cubicBezTo>
                  <a:lnTo>
                    <a:pt x="0" y="23994"/>
                  </a:lnTo>
                  <a:cubicBezTo>
                    <a:pt x="0" y="10742"/>
                    <a:pt x="10742" y="0"/>
                    <a:pt x="23994" y="0"/>
                  </a:cubicBezTo>
                  <a:close/>
                </a:path>
              </a:pathLst>
            </a:custGeom>
            <a:solidFill>
              <a:srgbClr val="119303"/>
            </a:solidFill>
          </p:spPr>
          <p:txBody>
            <a:bodyPr/>
            <a:lstStyle/>
            <a:p>
              <a:endParaRPr lang="en-US" sz="1200"/>
            </a:p>
          </p:txBody>
        </p:sp>
        <p:sp>
          <p:nvSpPr>
            <p:cNvPr id="13" name="TextBox 13"/>
            <p:cNvSpPr txBox="1"/>
            <p:nvPr/>
          </p:nvSpPr>
          <p:spPr>
            <a:xfrm>
              <a:off x="0" y="0"/>
              <a:ext cx="1444697" cy="181202"/>
            </a:xfrm>
            <a:prstGeom prst="rect">
              <a:avLst/>
            </a:prstGeom>
          </p:spPr>
          <p:txBody>
            <a:bodyPr lIns="33867" tIns="33867" rIns="33867" bIns="33867" rtlCol="0" anchor="ctr"/>
            <a:lstStyle/>
            <a:p>
              <a:pPr algn="ctr">
                <a:lnSpc>
                  <a:spcPts val="1919"/>
                </a:lnSpc>
              </a:pPr>
              <a:r>
                <a:rPr lang="en-US" sz="1600">
                  <a:solidFill>
                    <a:srgbClr val="FFFFFF"/>
                  </a:solidFill>
                  <a:latin typeface="Tahoma"/>
                  <a:ea typeface="Tahoma"/>
                  <a:cs typeface="Tahoma"/>
                  <a:sym typeface="Tahoma"/>
                </a:rPr>
                <a:t>PGĐ/GĐ CTTV</a:t>
              </a:r>
            </a:p>
          </p:txBody>
        </p:sp>
      </p:grpSp>
      <p:grpSp>
        <p:nvGrpSpPr>
          <p:cNvPr id="14" name="Group 14"/>
          <p:cNvGrpSpPr/>
          <p:nvPr/>
        </p:nvGrpSpPr>
        <p:grpSpPr>
          <a:xfrm>
            <a:off x="5381655" y="1017603"/>
            <a:ext cx="3415871" cy="458667"/>
            <a:chOff x="0" y="0"/>
            <a:chExt cx="1349480" cy="181202"/>
          </a:xfrm>
        </p:grpSpPr>
        <p:sp>
          <p:nvSpPr>
            <p:cNvPr id="15" name="Freeform 15"/>
            <p:cNvSpPr/>
            <p:nvPr/>
          </p:nvSpPr>
          <p:spPr>
            <a:xfrm>
              <a:off x="0" y="0"/>
              <a:ext cx="1349480" cy="181202"/>
            </a:xfrm>
            <a:custGeom>
              <a:avLst/>
              <a:gdLst/>
              <a:ahLst/>
              <a:cxnLst/>
              <a:rect l="l" t="t" r="r" b="b"/>
              <a:pathLst>
                <a:path w="1349480" h="181202">
                  <a:moveTo>
                    <a:pt x="25686" y="0"/>
                  </a:moveTo>
                  <a:lnTo>
                    <a:pt x="1323793" y="0"/>
                  </a:lnTo>
                  <a:cubicBezTo>
                    <a:pt x="1330606" y="0"/>
                    <a:pt x="1337139" y="2706"/>
                    <a:pt x="1341956" y="7523"/>
                  </a:cubicBezTo>
                  <a:cubicBezTo>
                    <a:pt x="1346774" y="12341"/>
                    <a:pt x="1349480" y="18874"/>
                    <a:pt x="1349480" y="25686"/>
                  </a:cubicBezTo>
                  <a:lnTo>
                    <a:pt x="1349480" y="155515"/>
                  </a:lnTo>
                  <a:cubicBezTo>
                    <a:pt x="1349480" y="162328"/>
                    <a:pt x="1346774" y="168861"/>
                    <a:pt x="1341956" y="173678"/>
                  </a:cubicBezTo>
                  <a:cubicBezTo>
                    <a:pt x="1337139" y="178495"/>
                    <a:pt x="1330606" y="181202"/>
                    <a:pt x="1323793" y="181202"/>
                  </a:cubicBezTo>
                  <a:lnTo>
                    <a:pt x="25686" y="181202"/>
                  </a:lnTo>
                  <a:cubicBezTo>
                    <a:pt x="18874" y="181202"/>
                    <a:pt x="12341" y="178495"/>
                    <a:pt x="7523" y="173678"/>
                  </a:cubicBezTo>
                  <a:cubicBezTo>
                    <a:pt x="2706" y="168861"/>
                    <a:pt x="0" y="162328"/>
                    <a:pt x="0" y="155515"/>
                  </a:cubicBezTo>
                  <a:lnTo>
                    <a:pt x="0" y="25686"/>
                  </a:lnTo>
                  <a:cubicBezTo>
                    <a:pt x="0" y="18874"/>
                    <a:pt x="2706" y="12341"/>
                    <a:pt x="7523" y="7523"/>
                  </a:cubicBezTo>
                  <a:cubicBezTo>
                    <a:pt x="12341" y="2706"/>
                    <a:pt x="18874" y="0"/>
                    <a:pt x="25686" y="0"/>
                  </a:cubicBezTo>
                  <a:close/>
                </a:path>
              </a:pathLst>
            </a:custGeom>
            <a:solidFill>
              <a:srgbClr val="79D140"/>
            </a:solidFill>
          </p:spPr>
          <p:txBody>
            <a:bodyPr/>
            <a:lstStyle/>
            <a:p>
              <a:endParaRPr lang="en-US" sz="1200"/>
            </a:p>
          </p:txBody>
        </p:sp>
        <p:sp>
          <p:nvSpPr>
            <p:cNvPr id="16" name="TextBox 16"/>
            <p:cNvSpPr txBox="1"/>
            <p:nvPr/>
          </p:nvSpPr>
          <p:spPr>
            <a:xfrm>
              <a:off x="0" y="0"/>
              <a:ext cx="1349480" cy="181202"/>
            </a:xfrm>
            <a:prstGeom prst="rect">
              <a:avLst/>
            </a:prstGeom>
          </p:spPr>
          <p:txBody>
            <a:bodyPr lIns="33867" tIns="33867" rIns="33867" bIns="33867" rtlCol="0" anchor="ctr"/>
            <a:lstStyle/>
            <a:p>
              <a:pPr algn="ctr">
                <a:lnSpc>
                  <a:spcPts val="1919"/>
                </a:lnSpc>
              </a:pPr>
              <a:r>
                <a:rPr lang="en-US" sz="1600">
                  <a:solidFill>
                    <a:srgbClr val="FFFFFF"/>
                  </a:solidFill>
                  <a:latin typeface="Tahoma"/>
                  <a:ea typeface="Tahoma"/>
                  <a:cs typeface="Tahoma"/>
                  <a:sym typeface="Tahoma"/>
                </a:rPr>
                <a:t>PP/TP CTTV</a:t>
              </a:r>
            </a:p>
          </p:txBody>
        </p:sp>
      </p:grpSp>
      <p:grpSp>
        <p:nvGrpSpPr>
          <p:cNvPr id="17" name="Group 17"/>
          <p:cNvGrpSpPr/>
          <p:nvPr/>
        </p:nvGrpSpPr>
        <p:grpSpPr>
          <a:xfrm>
            <a:off x="8834623" y="1017603"/>
            <a:ext cx="3281500" cy="458667"/>
            <a:chOff x="0" y="0"/>
            <a:chExt cx="1296395" cy="181202"/>
          </a:xfrm>
        </p:grpSpPr>
        <p:sp>
          <p:nvSpPr>
            <p:cNvPr id="18" name="Freeform 18"/>
            <p:cNvSpPr/>
            <p:nvPr/>
          </p:nvSpPr>
          <p:spPr>
            <a:xfrm>
              <a:off x="0" y="0"/>
              <a:ext cx="1296395" cy="181202"/>
            </a:xfrm>
            <a:custGeom>
              <a:avLst/>
              <a:gdLst/>
              <a:ahLst/>
              <a:cxnLst/>
              <a:rect l="l" t="t" r="r" b="b"/>
              <a:pathLst>
                <a:path w="1296395" h="181202">
                  <a:moveTo>
                    <a:pt x="26738" y="0"/>
                  </a:moveTo>
                  <a:lnTo>
                    <a:pt x="1269657" y="0"/>
                  </a:lnTo>
                  <a:cubicBezTo>
                    <a:pt x="1284424" y="0"/>
                    <a:pt x="1296395" y="11971"/>
                    <a:pt x="1296395" y="26738"/>
                  </a:cubicBezTo>
                  <a:lnTo>
                    <a:pt x="1296395" y="154463"/>
                  </a:lnTo>
                  <a:cubicBezTo>
                    <a:pt x="1296395" y="169230"/>
                    <a:pt x="1284424" y="181202"/>
                    <a:pt x="1269657" y="181202"/>
                  </a:cubicBezTo>
                  <a:lnTo>
                    <a:pt x="26738" y="181202"/>
                  </a:lnTo>
                  <a:cubicBezTo>
                    <a:pt x="19647" y="181202"/>
                    <a:pt x="12846" y="178385"/>
                    <a:pt x="7831" y="173370"/>
                  </a:cubicBezTo>
                  <a:cubicBezTo>
                    <a:pt x="2817" y="168356"/>
                    <a:pt x="0" y="161555"/>
                    <a:pt x="0" y="154463"/>
                  </a:cubicBezTo>
                  <a:lnTo>
                    <a:pt x="0" y="26738"/>
                  </a:lnTo>
                  <a:cubicBezTo>
                    <a:pt x="0" y="11971"/>
                    <a:pt x="11971" y="0"/>
                    <a:pt x="26738" y="0"/>
                  </a:cubicBezTo>
                  <a:close/>
                </a:path>
              </a:pathLst>
            </a:custGeom>
            <a:solidFill>
              <a:srgbClr val="2C6C98"/>
            </a:solidFill>
          </p:spPr>
          <p:txBody>
            <a:bodyPr/>
            <a:lstStyle/>
            <a:p>
              <a:endParaRPr lang="en-US" sz="1200"/>
            </a:p>
          </p:txBody>
        </p:sp>
        <p:sp>
          <p:nvSpPr>
            <p:cNvPr id="19" name="TextBox 19"/>
            <p:cNvSpPr txBox="1"/>
            <p:nvPr/>
          </p:nvSpPr>
          <p:spPr>
            <a:xfrm>
              <a:off x="0" y="0"/>
              <a:ext cx="1296395" cy="181202"/>
            </a:xfrm>
            <a:prstGeom prst="rect">
              <a:avLst/>
            </a:prstGeom>
          </p:spPr>
          <p:txBody>
            <a:bodyPr lIns="33867" tIns="33867" rIns="33867" bIns="33867" rtlCol="0" anchor="ctr"/>
            <a:lstStyle/>
            <a:p>
              <a:pPr algn="ctr">
                <a:lnSpc>
                  <a:spcPts val="1919"/>
                </a:lnSpc>
              </a:pPr>
              <a:r>
                <a:rPr lang="en-US" sz="1600">
                  <a:solidFill>
                    <a:srgbClr val="FFFFFF"/>
                  </a:solidFill>
                  <a:latin typeface="Tahoma"/>
                  <a:ea typeface="Tahoma"/>
                  <a:cs typeface="Tahoma"/>
                  <a:sym typeface="Tahoma"/>
                </a:rPr>
                <a:t>CÒN LẠI (CM TRỞ LÊN)</a:t>
              </a:r>
            </a:p>
          </p:txBody>
        </p:sp>
      </p:grpSp>
      <p:grpSp>
        <p:nvGrpSpPr>
          <p:cNvPr id="23" name="Group 23"/>
          <p:cNvGrpSpPr/>
          <p:nvPr/>
        </p:nvGrpSpPr>
        <p:grpSpPr>
          <a:xfrm>
            <a:off x="112848" y="1017603"/>
            <a:ext cx="1574821" cy="458667"/>
            <a:chOff x="0" y="0"/>
            <a:chExt cx="622152" cy="181202"/>
          </a:xfrm>
        </p:grpSpPr>
        <p:sp>
          <p:nvSpPr>
            <p:cNvPr id="24" name="Freeform 24"/>
            <p:cNvSpPr/>
            <p:nvPr/>
          </p:nvSpPr>
          <p:spPr>
            <a:xfrm>
              <a:off x="0" y="0"/>
              <a:ext cx="622152" cy="181202"/>
            </a:xfrm>
            <a:custGeom>
              <a:avLst/>
              <a:gdLst/>
              <a:ahLst/>
              <a:cxnLst/>
              <a:rect l="l" t="t" r="r" b="b"/>
              <a:pathLst>
                <a:path w="622152" h="181202">
                  <a:moveTo>
                    <a:pt x="55715" y="0"/>
                  </a:moveTo>
                  <a:lnTo>
                    <a:pt x="566436" y="0"/>
                  </a:lnTo>
                  <a:cubicBezTo>
                    <a:pt x="581213" y="0"/>
                    <a:pt x="595384" y="5870"/>
                    <a:pt x="605833" y="16319"/>
                  </a:cubicBezTo>
                  <a:cubicBezTo>
                    <a:pt x="616282" y="26767"/>
                    <a:pt x="622152" y="40939"/>
                    <a:pt x="622152" y="55715"/>
                  </a:cubicBezTo>
                  <a:lnTo>
                    <a:pt x="622152" y="125486"/>
                  </a:lnTo>
                  <a:cubicBezTo>
                    <a:pt x="622152" y="156257"/>
                    <a:pt x="597207" y="181202"/>
                    <a:pt x="566436" y="181202"/>
                  </a:cubicBezTo>
                  <a:lnTo>
                    <a:pt x="55715" y="181202"/>
                  </a:lnTo>
                  <a:cubicBezTo>
                    <a:pt x="40939" y="181202"/>
                    <a:pt x="26767" y="175332"/>
                    <a:pt x="16319" y="164883"/>
                  </a:cubicBezTo>
                  <a:cubicBezTo>
                    <a:pt x="5870" y="154434"/>
                    <a:pt x="0" y="140263"/>
                    <a:pt x="0" y="125486"/>
                  </a:cubicBezTo>
                  <a:lnTo>
                    <a:pt x="0" y="55715"/>
                  </a:lnTo>
                  <a:cubicBezTo>
                    <a:pt x="0" y="40939"/>
                    <a:pt x="5870" y="26767"/>
                    <a:pt x="16319" y="16319"/>
                  </a:cubicBezTo>
                  <a:cubicBezTo>
                    <a:pt x="26767" y="5870"/>
                    <a:pt x="40939" y="0"/>
                    <a:pt x="55715" y="0"/>
                  </a:cubicBezTo>
                  <a:close/>
                </a:path>
              </a:pathLst>
            </a:custGeom>
            <a:solidFill>
              <a:srgbClr val="A6A6A6"/>
            </a:solidFill>
          </p:spPr>
          <p:txBody>
            <a:bodyPr/>
            <a:lstStyle/>
            <a:p>
              <a:endParaRPr lang="en-US" sz="1200"/>
            </a:p>
          </p:txBody>
        </p:sp>
        <p:sp>
          <p:nvSpPr>
            <p:cNvPr id="25" name="TextBox 25"/>
            <p:cNvSpPr txBox="1"/>
            <p:nvPr/>
          </p:nvSpPr>
          <p:spPr>
            <a:xfrm>
              <a:off x="0" y="0"/>
              <a:ext cx="622152" cy="181202"/>
            </a:xfrm>
            <a:prstGeom prst="rect">
              <a:avLst/>
            </a:prstGeom>
          </p:spPr>
          <p:txBody>
            <a:bodyPr lIns="33867" tIns="33867" rIns="33867" bIns="33867" rtlCol="0" anchor="ctr"/>
            <a:lstStyle/>
            <a:p>
              <a:pPr algn="ctr">
                <a:lnSpc>
                  <a:spcPts val="1919"/>
                </a:lnSpc>
              </a:pPr>
              <a:r>
                <a:rPr lang="en-US" sz="1600">
                  <a:solidFill>
                    <a:srgbClr val="FFFFFF"/>
                  </a:solidFill>
                  <a:latin typeface="Tahoma"/>
                  <a:ea typeface="Tahoma"/>
                  <a:cs typeface="Tahoma"/>
                  <a:sym typeface="Tahoma"/>
                </a:rPr>
                <a:t>LOẠI KPI</a:t>
              </a:r>
            </a:p>
          </p:txBody>
        </p:sp>
      </p:grpSp>
      <p:grpSp>
        <p:nvGrpSpPr>
          <p:cNvPr id="26" name="Group 26"/>
          <p:cNvGrpSpPr/>
          <p:nvPr/>
        </p:nvGrpSpPr>
        <p:grpSpPr>
          <a:xfrm>
            <a:off x="1709393" y="1530190"/>
            <a:ext cx="3656889" cy="797922"/>
            <a:chOff x="0" y="0"/>
            <a:chExt cx="1444697" cy="315228"/>
          </a:xfrm>
        </p:grpSpPr>
        <p:sp>
          <p:nvSpPr>
            <p:cNvPr id="27" name="Freeform 27"/>
            <p:cNvSpPr/>
            <p:nvPr/>
          </p:nvSpPr>
          <p:spPr>
            <a:xfrm>
              <a:off x="0" y="0"/>
              <a:ext cx="1444697" cy="315228"/>
            </a:xfrm>
            <a:custGeom>
              <a:avLst/>
              <a:gdLst/>
              <a:ahLst/>
              <a:cxnLst/>
              <a:rect l="l" t="t" r="r" b="b"/>
              <a:pathLst>
                <a:path w="1444697" h="315228">
                  <a:moveTo>
                    <a:pt x="23994" y="0"/>
                  </a:moveTo>
                  <a:lnTo>
                    <a:pt x="1420704" y="0"/>
                  </a:lnTo>
                  <a:cubicBezTo>
                    <a:pt x="1433955" y="0"/>
                    <a:pt x="1444697" y="10742"/>
                    <a:pt x="1444697" y="23994"/>
                  </a:cubicBezTo>
                  <a:lnTo>
                    <a:pt x="1444697" y="291235"/>
                  </a:lnTo>
                  <a:cubicBezTo>
                    <a:pt x="1444697" y="304486"/>
                    <a:pt x="1433955" y="315228"/>
                    <a:pt x="1420704" y="315228"/>
                  </a:cubicBezTo>
                  <a:lnTo>
                    <a:pt x="23994" y="315228"/>
                  </a:lnTo>
                  <a:cubicBezTo>
                    <a:pt x="10742" y="315228"/>
                    <a:pt x="0" y="304486"/>
                    <a:pt x="0" y="291235"/>
                  </a:cubicBezTo>
                  <a:lnTo>
                    <a:pt x="0" y="23994"/>
                  </a:lnTo>
                  <a:cubicBezTo>
                    <a:pt x="0" y="10742"/>
                    <a:pt x="10742" y="0"/>
                    <a:pt x="23994" y="0"/>
                  </a:cubicBezTo>
                  <a:close/>
                </a:path>
              </a:pathLst>
            </a:custGeom>
            <a:solidFill>
              <a:srgbClr val="F9F9F9"/>
            </a:solidFill>
            <a:ln w="9525" cap="sq">
              <a:solidFill>
                <a:srgbClr val="A6A6A6"/>
              </a:solidFill>
              <a:prstDash val="solid"/>
              <a:miter/>
            </a:ln>
          </p:spPr>
          <p:txBody>
            <a:bodyPr/>
            <a:lstStyle/>
            <a:p>
              <a:endParaRPr lang="en-US" sz="1200"/>
            </a:p>
          </p:txBody>
        </p:sp>
        <p:sp>
          <p:nvSpPr>
            <p:cNvPr id="28" name="TextBox 28"/>
            <p:cNvSpPr txBox="1"/>
            <p:nvPr/>
          </p:nvSpPr>
          <p:spPr>
            <a:xfrm>
              <a:off x="0" y="0"/>
              <a:ext cx="1444697" cy="315228"/>
            </a:xfrm>
            <a:prstGeom prst="rect">
              <a:avLst/>
            </a:prstGeom>
          </p:spPr>
          <p:txBody>
            <a:bodyPr lIns="33867" tIns="33867" rIns="33867" bIns="33867" rtlCol="0" anchor="ctr"/>
            <a:lstStyle/>
            <a:p>
              <a:pPr>
                <a:lnSpc>
                  <a:spcPts val="1600"/>
                </a:lnSpc>
              </a:pPr>
              <a:r>
                <a:rPr lang="en-US" sz="1333" b="1">
                  <a:solidFill>
                    <a:srgbClr val="FF3131"/>
                  </a:solidFill>
                  <a:latin typeface="Tahoma Bold"/>
                  <a:ea typeface="Tahoma Bold"/>
                  <a:cs typeface="Tahoma Bold"/>
                  <a:sym typeface="Tahoma Bold"/>
                </a:rPr>
                <a:t>20%</a:t>
              </a:r>
              <a:r>
                <a:rPr lang="en-US" sz="1333">
                  <a:solidFill>
                    <a:srgbClr val="3B5272"/>
                  </a:solidFill>
                  <a:latin typeface="Tahoma"/>
                  <a:ea typeface="Tahoma"/>
                  <a:cs typeface="Tahoma"/>
                  <a:sym typeface="Tahoma"/>
                </a:rPr>
                <a:t> phân bổ cho </a:t>
              </a:r>
              <a:r>
                <a:rPr lang="en-US" sz="1333" b="1">
                  <a:solidFill>
                    <a:srgbClr val="3B5272"/>
                  </a:solidFill>
                  <a:latin typeface="Tahoma Bold"/>
                  <a:ea typeface="Tahoma Bold"/>
                  <a:cs typeface="Tahoma Bold"/>
                  <a:sym typeface="Tahoma Bold"/>
                </a:rPr>
                <a:t>2 KP</a:t>
              </a:r>
              <a:r>
                <a:rPr lang="en-US" sz="1333">
                  <a:solidFill>
                    <a:srgbClr val="3B5272"/>
                  </a:solidFill>
                  <a:latin typeface="Tahoma"/>
                  <a:ea typeface="Tahoma"/>
                  <a:cs typeface="Tahoma"/>
                  <a:sym typeface="Tahoma"/>
                </a:rPr>
                <a:t>I bên dưới:</a:t>
              </a:r>
            </a:p>
            <a:p>
              <a:pPr marL="287882" lvl="1" indent="-143941">
                <a:lnSpc>
                  <a:spcPts val="1600"/>
                </a:lnSpc>
                <a:buAutoNum type="arabicPeriod"/>
              </a:pPr>
              <a:r>
                <a:rPr lang="en-US" sz="1333">
                  <a:solidFill>
                    <a:srgbClr val="3B5272"/>
                  </a:solidFill>
                  <a:latin typeface="Tahoma"/>
                  <a:ea typeface="Tahoma"/>
                  <a:cs typeface="Tahoma"/>
                  <a:sym typeface="Tahoma"/>
                </a:rPr>
                <a:t>Doanh thu thuần (CTTV)</a:t>
              </a:r>
            </a:p>
            <a:p>
              <a:pPr marL="287882" lvl="1" indent="-143941">
                <a:lnSpc>
                  <a:spcPts val="1600"/>
                </a:lnSpc>
                <a:buAutoNum type="arabicPeriod"/>
              </a:pPr>
              <a:r>
                <a:rPr lang="en-US" sz="1333">
                  <a:solidFill>
                    <a:srgbClr val="3B5272"/>
                  </a:solidFill>
                  <a:latin typeface="Tahoma"/>
                  <a:ea typeface="Tahoma"/>
                  <a:cs typeface="Tahoma"/>
                  <a:sym typeface="Tahoma"/>
                </a:rPr>
                <a:t>Lợi nhuận sau thuế (CTTV)</a:t>
              </a:r>
            </a:p>
          </p:txBody>
        </p:sp>
      </p:grpSp>
      <p:grpSp>
        <p:nvGrpSpPr>
          <p:cNvPr id="29" name="Group 29"/>
          <p:cNvGrpSpPr/>
          <p:nvPr/>
        </p:nvGrpSpPr>
        <p:grpSpPr>
          <a:xfrm>
            <a:off x="5385332" y="1520719"/>
            <a:ext cx="3412194" cy="807392"/>
            <a:chOff x="0" y="0"/>
            <a:chExt cx="1348027" cy="318970"/>
          </a:xfrm>
        </p:grpSpPr>
        <p:sp>
          <p:nvSpPr>
            <p:cNvPr id="30" name="Freeform 30"/>
            <p:cNvSpPr/>
            <p:nvPr/>
          </p:nvSpPr>
          <p:spPr>
            <a:xfrm>
              <a:off x="0" y="0"/>
              <a:ext cx="1348027" cy="318970"/>
            </a:xfrm>
            <a:custGeom>
              <a:avLst/>
              <a:gdLst/>
              <a:ahLst/>
              <a:cxnLst/>
              <a:rect l="l" t="t" r="r" b="b"/>
              <a:pathLst>
                <a:path w="1348027" h="318970">
                  <a:moveTo>
                    <a:pt x="25714" y="0"/>
                  </a:moveTo>
                  <a:lnTo>
                    <a:pt x="1322313" y="0"/>
                  </a:lnTo>
                  <a:cubicBezTo>
                    <a:pt x="1329133" y="0"/>
                    <a:pt x="1335674" y="2709"/>
                    <a:pt x="1340496" y="7532"/>
                  </a:cubicBezTo>
                  <a:cubicBezTo>
                    <a:pt x="1345318" y="12354"/>
                    <a:pt x="1348027" y="18894"/>
                    <a:pt x="1348027" y="25714"/>
                  </a:cubicBezTo>
                  <a:lnTo>
                    <a:pt x="1348027" y="293256"/>
                  </a:lnTo>
                  <a:cubicBezTo>
                    <a:pt x="1348027" y="300075"/>
                    <a:pt x="1345318" y="306616"/>
                    <a:pt x="1340496" y="311438"/>
                  </a:cubicBezTo>
                  <a:cubicBezTo>
                    <a:pt x="1335674" y="316261"/>
                    <a:pt x="1329133" y="318970"/>
                    <a:pt x="1322313" y="318970"/>
                  </a:cubicBezTo>
                  <a:lnTo>
                    <a:pt x="25714" y="318970"/>
                  </a:lnTo>
                  <a:cubicBezTo>
                    <a:pt x="18894" y="318970"/>
                    <a:pt x="12354" y="316261"/>
                    <a:pt x="7532" y="311438"/>
                  </a:cubicBezTo>
                  <a:cubicBezTo>
                    <a:pt x="2709" y="306616"/>
                    <a:pt x="0" y="300075"/>
                    <a:pt x="0" y="293256"/>
                  </a:cubicBezTo>
                  <a:lnTo>
                    <a:pt x="0" y="25714"/>
                  </a:lnTo>
                  <a:cubicBezTo>
                    <a:pt x="0" y="18894"/>
                    <a:pt x="2709" y="12354"/>
                    <a:pt x="7532" y="7532"/>
                  </a:cubicBezTo>
                  <a:cubicBezTo>
                    <a:pt x="12354" y="2709"/>
                    <a:pt x="18894" y="0"/>
                    <a:pt x="25714" y="0"/>
                  </a:cubicBezTo>
                  <a:close/>
                </a:path>
              </a:pathLst>
            </a:custGeom>
            <a:solidFill>
              <a:srgbClr val="F9F9F9"/>
            </a:solidFill>
            <a:ln w="9525" cap="sq">
              <a:solidFill>
                <a:srgbClr val="A6A6A6"/>
              </a:solidFill>
              <a:prstDash val="solid"/>
              <a:miter/>
            </a:ln>
          </p:spPr>
          <p:txBody>
            <a:bodyPr/>
            <a:lstStyle/>
            <a:p>
              <a:endParaRPr lang="en-US" sz="1200"/>
            </a:p>
          </p:txBody>
        </p:sp>
        <p:sp>
          <p:nvSpPr>
            <p:cNvPr id="31" name="TextBox 31"/>
            <p:cNvSpPr txBox="1"/>
            <p:nvPr/>
          </p:nvSpPr>
          <p:spPr>
            <a:xfrm>
              <a:off x="0" y="0"/>
              <a:ext cx="1348027" cy="318970"/>
            </a:xfrm>
            <a:prstGeom prst="rect">
              <a:avLst/>
            </a:prstGeom>
          </p:spPr>
          <p:txBody>
            <a:bodyPr lIns="33867" tIns="33867" rIns="33867" bIns="33867" rtlCol="0" anchor="ctr"/>
            <a:lstStyle/>
            <a:p>
              <a:pPr>
                <a:lnSpc>
                  <a:spcPts val="1600"/>
                </a:lnSpc>
              </a:pPr>
              <a:r>
                <a:rPr lang="en-US" sz="1333" b="1">
                  <a:solidFill>
                    <a:srgbClr val="FF3131"/>
                  </a:solidFill>
                  <a:latin typeface="Tahoma Bold"/>
                  <a:ea typeface="Tahoma Bold"/>
                  <a:cs typeface="Tahoma Bold"/>
                  <a:sym typeface="Tahoma Bold"/>
                </a:rPr>
                <a:t>10%</a:t>
              </a:r>
              <a:r>
                <a:rPr lang="en-US" sz="1333">
                  <a:solidFill>
                    <a:srgbClr val="FF3131"/>
                  </a:solidFill>
                  <a:latin typeface="Tahoma"/>
                  <a:ea typeface="Tahoma"/>
                  <a:cs typeface="Tahoma"/>
                  <a:sym typeface="Tahoma"/>
                </a:rPr>
                <a:t> </a:t>
              </a:r>
              <a:r>
                <a:rPr lang="en-US" sz="1333">
                  <a:solidFill>
                    <a:srgbClr val="3B5272"/>
                  </a:solidFill>
                  <a:latin typeface="Tahoma"/>
                  <a:ea typeface="Tahoma"/>
                  <a:cs typeface="Tahoma"/>
                  <a:sym typeface="Tahoma"/>
                </a:rPr>
                <a:t>phân bổ cho </a:t>
              </a:r>
              <a:r>
                <a:rPr lang="en-US" sz="1333" b="1">
                  <a:solidFill>
                    <a:srgbClr val="3B5272"/>
                  </a:solidFill>
                  <a:latin typeface="Tahoma Bold"/>
                  <a:ea typeface="Tahoma Bold"/>
                  <a:cs typeface="Tahoma Bold"/>
                  <a:sym typeface="Tahoma Bold"/>
                </a:rPr>
                <a:t>1 KPI</a:t>
              </a:r>
              <a:r>
                <a:rPr lang="en-US" sz="1333">
                  <a:solidFill>
                    <a:srgbClr val="3B5272"/>
                  </a:solidFill>
                  <a:latin typeface="Tahoma"/>
                  <a:ea typeface="Tahoma"/>
                  <a:cs typeface="Tahoma"/>
                  <a:sym typeface="Tahoma"/>
                </a:rPr>
                <a:t> bên dưới:</a:t>
              </a:r>
            </a:p>
            <a:p>
              <a:pPr marL="287882" lvl="1" indent="-143941">
                <a:lnSpc>
                  <a:spcPts val="1600"/>
                </a:lnSpc>
                <a:buAutoNum type="arabicPeriod"/>
              </a:pPr>
              <a:r>
                <a:rPr lang="en-US" sz="1333">
                  <a:solidFill>
                    <a:srgbClr val="3B5272"/>
                  </a:solidFill>
                  <a:latin typeface="Tahoma"/>
                  <a:ea typeface="Tahoma"/>
                  <a:cs typeface="Tahoma"/>
                  <a:sym typeface="Tahoma"/>
                </a:rPr>
                <a:t>Lợi nhuận sau thuế (CTTV)</a:t>
              </a:r>
            </a:p>
            <a:p>
              <a:pPr>
                <a:lnSpc>
                  <a:spcPts val="1600"/>
                </a:lnSpc>
              </a:pPr>
              <a:endParaRPr lang="en-US" sz="1333">
                <a:solidFill>
                  <a:srgbClr val="3B5272"/>
                </a:solidFill>
                <a:latin typeface="Tahoma"/>
                <a:ea typeface="Tahoma"/>
                <a:cs typeface="Tahoma"/>
                <a:sym typeface="Tahoma"/>
              </a:endParaRPr>
            </a:p>
          </p:txBody>
        </p:sp>
      </p:grpSp>
      <p:grpSp>
        <p:nvGrpSpPr>
          <p:cNvPr id="35" name="Group 35"/>
          <p:cNvGrpSpPr/>
          <p:nvPr/>
        </p:nvGrpSpPr>
        <p:grpSpPr>
          <a:xfrm>
            <a:off x="1709393" y="2328111"/>
            <a:ext cx="3656889" cy="1569392"/>
            <a:chOff x="0" y="0"/>
            <a:chExt cx="1444697" cy="620007"/>
          </a:xfrm>
        </p:grpSpPr>
        <p:sp>
          <p:nvSpPr>
            <p:cNvPr id="36" name="Freeform 36"/>
            <p:cNvSpPr/>
            <p:nvPr/>
          </p:nvSpPr>
          <p:spPr>
            <a:xfrm>
              <a:off x="0" y="0"/>
              <a:ext cx="1444697" cy="620007"/>
            </a:xfrm>
            <a:custGeom>
              <a:avLst/>
              <a:gdLst/>
              <a:ahLst/>
              <a:cxnLst/>
              <a:rect l="l" t="t" r="r" b="b"/>
              <a:pathLst>
                <a:path w="1444697" h="620007">
                  <a:moveTo>
                    <a:pt x="23994" y="0"/>
                  </a:moveTo>
                  <a:lnTo>
                    <a:pt x="1420704" y="0"/>
                  </a:lnTo>
                  <a:cubicBezTo>
                    <a:pt x="1433955" y="0"/>
                    <a:pt x="1444697" y="10742"/>
                    <a:pt x="1444697" y="23994"/>
                  </a:cubicBezTo>
                  <a:lnTo>
                    <a:pt x="1444697" y="596013"/>
                  </a:lnTo>
                  <a:cubicBezTo>
                    <a:pt x="1444697" y="609264"/>
                    <a:pt x="1433955" y="620007"/>
                    <a:pt x="1420704" y="620007"/>
                  </a:cubicBezTo>
                  <a:lnTo>
                    <a:pt x="23994" y="620007"/>
                  </a:lnTo>
                  <a:cubicBezTo>
                    <a:pt x="10742" y="620007"/>
                    <a:pt x="0" y="609264"/>
                    <a:pt x="0" y="596013"/>
                  </a:cubicBezTo>
                  <a:lnTo>
                    <a:pt x="0" y="23994"/>
                  </a:lnTo>
                  <a:cubicBezTo>
                    <a:pt x="0" y="10742"/>
                    <a:pt x="10742" y="0"/>
                    <a:pt x="23994" y="0"/>
                  </a:cubicBezTo>
                  <a:close/>
                </a:path>
              </a:pathLst>
            </a:custGeom>
            <a:solidFill>
              <a:srgbClr val="F9F9F9"/>
            </a:solidFill>
            <a:ln w="9525" cap="sq">
              <a:solidFill>
                <a:srgbClr val="A6A6A6"/>
              </a:solidFill>
              <a:prstDash val="solid"/>
              <a:miter/>
            </a:ln>
          </p:spPr>
          <p:txBody>
            <a:bodyPr/>
            <a:lstStyle/>
            <a:p>
              <a:endParaRPr lang="en-US" sz="1200"/>
            </a:p>
          </p:txBody>
        </p:sp>
        <p:sp>
          <p:nvSpPr>
            <p:cNvPr id="37" name="TextBox 37"/>
            <p:cNvSpPr txBox="1"/>
            <p:nvPr/>
          </p:nvSpPr>
          <p:spPr>
            <a:xfrm>
              <a:off x="0" y="0"/>
              <a:ext cx="1444697" cy="620007"/>
            </a:xfrm>
            <a:prstGeom prst="rect">
              <a:avLst/>
            </a:prstGeom>
          </p:spPr>
          <p:txBody>
            <a:bodyPr lIns="33867" tIns="33867" rIns="33867" bIns="33867" rtlCol="0" anchor="ctr"/>
            <a:lstStyle/>
            <a:p>
              <a:pPr>
                <a:lnSpc>
                  <a:spcPts val="1600"/>
                </a:lnSpc>
              </a:pPr>
              <a:r>
                <a:rPr lang="en-US" sz="1333" b="1" dirty="0">
                  <a:solidFill>
                    <a:srgbClr val="FF3131"/>
                  </a:solidFill>
                  <a:latin typeface="Tahoma Bold"/>
                  <a:ea typeface="Tahoma Bold"/>
                  <a:cs typeface="Tahoma Bold"/>
                  <a:sym typeface="Tahoma Bold"/>
                </a:rPr>
                <a:t>20%</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phân</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bổ</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cho</a:t>
              </a:r>
              <a:r>
                <a:rPr lang="en-US" sz="1333" dirty="0">
                  <a:solidFill>
                    <a:srgbClr val="3B5272"/>
                  </a:solidFill>
                  <a:latin typeface="Tahoma"/>
                  <a:ea typeface="Tahoma"/>
                  <a:cs typeface="Tahoma"/>
                  <a:sym typeface="Tahoma"/>
                </a:rPr>
                <a:t> </a:t>
              </a:r>
              <a:r>
                <a:rPr lang="en-US" sz="1333" b="1" dirty="0">
                  <a:solidFill>
                    <a:srgbClr val="3B5272"/>
                  </a:solidFill>
                  <a:latin typeface="Tahoma Bold"/>
                  <a:ea typeface="Tahoma Bold"/>
                  <a:cs typeface="Tahoma Bold"/>
                  <a:sym typeface="Tahoma Bold"/>
                </a:rPr>
                <a:t>2 KPI/PI</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có</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liên</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quan</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được</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chọn</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từ</a:t>
              </a:r>
              <a:r>
                <a:rPr lang="en-US" sz="1333" dirty="0">
                  <a:solidFill>
                    <a:srgbClr val="3B5272"/>
                  </a:solidFill>
                  <a:latin typeface="Tahoma"/>
                  <a:ea typeface="Tahoma"/>
                  <a:cs typeface="Tahoma"/>
                  <a:sym typeface="Tahoma"/>
                </a:rPr>
                <a:t> KPI </a:t>
              </a:r>
              <a:r>
                <a:rPr lang="en-US" sz="1333" dirty="0" err="1">
                  <a:solidFill>
                    <a:srgbClr val="3B5272"/>
                  </a:solidFill>
                  <a:latin typeface="Tahoma"/>
                  <a:ea typeface="Tahoma"/>
                  <a:cs typeface="Tahoma"/>
                  <a:sym typeface="Tahoma"/>
                </a:rPr>
                <a:t>của</a:t>
              </a:r>
              <a:r>
                <a:rPr lang="en-US" sz="1333" dirty="0">
                  <a:solidFill>
                    <a:srgbClr val="3B5272"/>
                  </a:solidFill>
                  <a:latin typeface="Tahoma"/>
                  <a:ea typeface="Tahoma"/>
                  <a:cs typeface="Tahoma"/>
                  <a:sym typeface="Tahoma"/>
                </a:rPr>
                <a:t> GĐĐH </a:t>
              </a:r>
              <a:r>
                <a:rPr lang="en-US" sz="1333" dirty="0" err="1">
                  <a:solidFill>
                    <a:srgbClr val="3B5272"/>
                  </a:solidFill>
                  <a:latin typeface="Tahoma"/>
                  <a:ea typeface="Tahoma"/>
                  <a:cs typeface="Tahoma"/>
                  <a:sym typeface="Tahoma"/>
                </a:rPr>
                <a:t>hoặc</a:t>
              </a:r>
              <a:r>
                <a:rPr lang="en-US" sz="1333" dirty="0">
                  <a:solidFill>
                    <a:srgbClr val="3B5272"/>
                  </a:solidFill>
                  <a:latin typeface="Tahoma"/>
                  <a:ea typeface="Tahoma"/>
                  <a:cs typeface="Tahoma"/>
                  <a:sym typeface="Tahoma"/>
                </a:rPr>
                <a:t> GĐ Quản </a:t>
              </a:r>
              <a:r>
                <a:rPr lang="en-US" sz="1333" dirty="0" err="1">
                  <a:solidFill>
                    <a:srgbClr val="3B5272"/>
                  </a:solidFill>
                  <a:latin typeface="Tahoma"/>
                  <a:ea typeface="Tahoma"/>
                  <a:cs typeface="Tahoma"/>
                  <a:sym typeface="Tahoma"/>
                </a:rPr>
                <a:t>lý</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trực</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tiếp</a:t>
              </a:r>
              <a:endParaRPr lang="en-US" sz="1333" dirty="0">
                <a:solidFill>
                  <a:srgbClr val="3B5272"/>
                </a:solidFill>
                <a:latin typeface="Tahoma"/>
                <a:ea typeface="Tahoma"/>
                <a:cs typeface="Tahoma"/>
                <a:sym typeface="Tahoma"/>
              </a:endParaRPr>
            </a:p>
            <a:p>
              <a:pPr>
                <a:lnSpc>
                  <a:spcPts val="1600"/>
                </a:lnSpc>
              </a:pPr>
              <a:endParaRPr lang="en-US" sz="1333" dirty="0">
                <a:solidFill>
                  <a:srgbClr val="3B5272"/>
                </a:solidFill>
                <a:latin typeface="Tahoma"/>
                <a:ea typeface="Tahoma"/>
                <a:cs typeface="Tahoma"/>
                <a:sym typeface="Tahoma"/>
              </a:endParaRPr>
            </a:p>
            <a:p>
              <a:pPr>
                <a:lnSpc>
                  <a:spcPts val="1600"/>
                </a:lnSpc>
              </a:pPr>
              <a:r>
                <a:rPr lang="en-US" sz="1333" b="1" dirty="0">
                  <a:solidFill>
                    <a:srgbClr val="FF3131"/>
                  </a:solidFill>
                  <a:latin typeface="Tahoma Bold"/>
                  <a:ea typeface="Tahoma Bold"/>
                  <a:cs typeface="Tahoma Bold"/>
                  <a:sym typeface="Tahoma Bold"/>
                </a:rPr>
                <a:t>10%</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phân</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bổ</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cho</a:t>
              </a:r>
              <a:r>
                <a:rPr lang="en-US" sz="1333" dirty="0">
                  <a:solidFill>
                    <a:srgbClr val="3B5272"/>
                  </a:solidFill>
                  <a:latin typeface="Tahoma"/>
                  <a:ea typeface="Tahoma"/>
                  <a:cs typeface="Tahoma"/>
                  <a:sym typeface="Tahoma"/>
                </a:rPr>
                <a:t> </a:t>
              </a:r>
              <a:r>
                <a:rPr lang="en-US" sz="1333" b="1" dirty="0">
                  <a:solidFill>
                    <a:srgbClr val="3B5272"/>
                  </a:solidFill>
                  <a:latin typeface="Tahoma Bold"/>
                  <a:ea typeface="Tahoma Bold"/>
                  <a:cs typeface="Tahoma Bold"/>
                  <a:sym typeface="Tahoma Bold"/>
                </a:rPr>
                <a:t>1 KPI/PI</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có</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liên</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quan</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được</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chọn</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từ</a:t>
              </a:r>
              <a:r>
                <a:rPr lang="en-US" sz="1333" dirty="0">
                  <a:solidFill>
                    <a:srgbClr val="3B5272"/>
                  </a:solidFill>
                  <a:latin typeface="Tahoma"/>
                  <a:ea typeface="Tahoma"/>
                  <a:cs typeface="Tahoma"/>
                  <a:sym typeface="Tahoma"/>
                </a:rPr>
                <a:t> KPI </a:t>
              </a:r>
              <a:r>
                <a:rPr lang="en-US" sz="1333" dirty="0" err="1">
                  <a:solidFill>
                    <a:srgbClr val="3B5272"/>
                  </a:solidFill>
                  <a:latin typeface="Tahoma"/>
                  <a:ea typeface="Tahoma"/>
                  <a:cs typeface="Tahoma"/>
                  <a:sym typeface="Tahoma"/>
                </a:rPr>
                <a:t>của</a:t>
              </a:r>
              <a:r>
                <a:rPr lang="en-US" sz="1333" dirty="0">
                  <a:solidFill>
                    <a:srgbClr val="3B5272"/>
                  </a:solidFill>
                  <a:latin typeface="Tahoma"/>
                  <a:ea typeface="Tahoma"/>
                  <a:cs typeface="Tahoma"/>
                  <a:sym typeface="Tahoma"/>
                </a:rPr>
                <a:t> GĐ </a:t>
              </a:r>
              <a:r>
                <a:rPr lang="en-US" sz="1333" dirty="0" err="1">
                  <a:solidFill>
                    <a:srgbClr val="3B5272"/>
                  </a:solidFill>
                  <a:latin typeface="Tahoma"/>
                  <a:ea typeface="Tahoma"/>
                  <a:cs typeface="Tahoma"/>
                  <a:sym typeface="Tahoma"/>
                </a:rPr>
                <a:t>khác</a:t>
              </a:r>
              <a:endParaRPr lang="en-US" sz="1333" dirty="0">
                <a:solidFill>
                  <a:srgbClr val="3B5272"/>
                </a:solidFill>
                <a:latin typeface="Tahoma"/>
                <a:ea typeface="Tahoma"/>
                <a:cs typeface="Tahoma"/>
                <a:sym typeface="Tahoma"/>
              </a:endParaRPr>
            </a:p>
          </p:txBody>
        </p:sp>
      </p:grpSp>
      <p:grpSp>
        <p:nvGrpSpPr>
          <p:cNvPr id="38" name="Group 38"/>
          <p:cNvGrpSpPr/>
          <p:nvPr/>
        </p:nvGrpSpPr>
        <p:grpSpPr>
          <a:xfrm>
            <a:off x="5381655" y="2378911"/>
            <a:ext cx="3415871" cy="1569392"/>
            <a:chOff x="0" y="0"/>
            <a:chExt cx="1349480" cy="620007"/>
          </a:xfrm>
        </p:grpSpPr>
        <p:sp>
          <p:nvSpPr>
            <p:cNvPr id="39" name="Freeform 39"/>
            <p:cNvSpPr/>
            <p:nvPr/>
          </p:nvSpPr>
          <p:spPr>
            <a:xfrm>
              <a:off x="0" y="0"/>
              <a:ext cx="1349480" cy="620007"/>
            </a:xfrm>
            <a:custGeom>
              <a:avLst/>
              <a:gdLst/>
              <a:ahLst/>
              <a:cxnLst/>
              <a:rect l="l" t="t" r="r" b="b"/>
              <a:pathLst>
                <a:path w="1349480" h="620007">
                  <a:moveTo>
                    <a:pt x="25686" y="0"/>
                  </a:moveTo>
                  <a:lnTo>
                    <a:pt x="1323793" y="0"/>
                  </a:lnTo>
                  <a:cubicBezTo>
                    <a:pt x="1330606" y="0"/>
                    <a:pt x="1337139" y="2706"/>
                    <a:pt x="1341956" y="7523"/>
                  </a:cubicBezTo>
                  <a:cubicBezTo>
                    <a:pt x="1346774" y="12341"/>
                    <a:pt x="1349480" y="18874"/>
                    <a:pt x="1349480" y="25686"/>
                  </a:cubicBezTo>
                  <a:lnTo>
                    <a:pt x="1349480" y="594320"/>
                  </a:lnTo>
                  <a:cubicBezTo>
                    <a:pt x="1349480" y="601133"/>
                    <a:pt x="1346774" y="607666"/>
                    <a:pt x="1341956" y="612483"/>
                  </a:cubicBezTo>
                  <a:cubicBezTo>
                    <a:pt x="1337139" y="617300"/>
                    <a:pt x="1330606" y="620007"/>
                    <a:pt x="1323793" y="620007"/>
                  </a:cubicBezTo>
                  <a:lnTo>
                    <a:pt x="25686" y="620007"/>
                  </a:lnTo>
                  <a:cubicBezTo>
                    <a:pt x="18874" y="620007"/>
                    <a:pt x="12341" y="617300"/>
                    <a:pt x="7523" y="612483"/>
                  </a:cubicBezTo>
                  <a:cubicBezTo>
                    <a:pt x="2706" y="607666"/>
                    <a:pt x="0" y="601133"/>
                    <a:pt x="0" y="594320"/>
                  </a:cubicBezTo>
                  <a:lnTo>
                    <a:pt x="0" y="25686"/>
                  </a:lnTo>
                  <a:cubicBezTo>
                    <a:pt x="0" y="18874"/>
                    <a:pt x="2706" y="12341"/>
                    <a:pt x="7523" y="7523"/>
                  </a:cubicBezTo>
                  <a:cubicBezTo>
                    <a:pt x="12341" y="2706"/>
                    <a:pt x="18874" y="0"/>
                    <a:pt x="25686" y="0"/>
                  </a:cubicBezTo>
                  <a:close/>
                </a:path>
              </a:pathLst>
            </a:custGeom>
            <a:solidFill>
              <a:srgbClr val="F9F9F9"/>
            </a:solidFill>
            <a:ln w="9525" cap="sq">
              <a:solidFill>
                <a:srgbClr val="A6A6A6"/>
              </a:solidFill>
              <a:prstDash val="solid"/>
              <a:miter/>
            </a:ln>
          </p:spPr>
          <p:txBody>
            <a:bodyPr/>
            <a:lstStyle/>
            <a:p>
              <a:endParaRPr lang="en-US" sz="1200"/>
            </a:p>
          </p:txBody>
        </p:sp>
        <p:sp>
          <p:nvSpPr>
            <p:cNvPr id="40" name="TextBox 40"/>
            <p:cNvSpPr txBox="1"/>
            <p:nvPr/>
          </p:nvSpPr>
          <p:spPr>
            <a:xfrm>
              <a:off x="0" y="0"/>
              <a:ext cx="1349480" cy="620007"/>
            </a:xfrm>
            <a:prstGeom prst="rect">
              <a:avLst/>
            </a:prstGeom>
          </p:spPr>
          <p:txBody>
            <a:bodyPr lIns="33867" tIns="33867" rIns="33867" bIns="33867" rtlCol="0" anchor="ctr"/>
            <a:lstStyle/>
            <a:p>
              <a:pPr>
                <a:lnSpc>
                  <a:spcPts val="1600"/>
                </a:lnSpc>
              </a:pPr>
              <a:r>
                <a:rPr lang="en-US" sz="1333" b="1">
                  <a:solidFill>
                    <a:srgbClr val="FF3131"/>
                  </a:solidFill>
                  <a:latin typeface="Tahoma Bold"/>
                  <a:ea typeface="Tahoma Bold"/>
                  <a:cs typeface="Tahoma Bold"/>
                  <a:sym typeface="Tahoma Bold"/>
                </a:rPr>
                <a:t>20%</a:t>
              </a:r>
              <a:r>
                <a:rPr lang="en-US" sz="1333">
                  <a:solidFill>
                    <a:srgbClr val="3B5272"/>
                  </a:solidFill>
                  <a:latin typeface="Tahoma"/>
                  <a:ea typeface="Tahoma"/>
                  <a:cs typeface="Tahoma"/>
                  <a:sym typeface="Tahoma"/>
                </a:rPr>
                <a:t> phân bổ cho </a:t>
              </a:r>
              <a:r>
                <a:rPr lang="en-US" sz="1333" b="1">
                  <a:solidFill>
                    <a:srgbClr val="3B5272"/>
                  </a:solidFill>
                  <a:latin typeface="Tahoma Bold"/>
                  <a:ea typeface="Tahoma Bold"/>
                  <a:cs typeface="Tahoma Bold"/>
                  <a:sym typeface="Tahoma Bold"/>
                </a:rPr>
                <a:t>2 KPI/PI</a:t>
              </a:r>
              <a:r>
                <a:rPr lang="en-US" sz="1333">
                  <a:solidFill>
                    <a:srgbClr val="3B5272"/>
                  </a:solidFill>
                  <a:latin typeface="Tahoma"/>
                  <a:ea typeface="Tahoma"/>
                  <a:cs typeface="Tahoma"/>
                  <a:sym typeface="Tahoma"/>
                </a:rPr>
                <a:t> có liên quan được chọn từ KPI của QLTT</a:t>
              </a:r>
            </a:p>
            <a:p>
              <a:pPr>
                <a:lnSpc>
                  <a:spcPts val="1600"/>
                </a:lnSpc>
              </a:pPr>
              <a:endParaRPr lang="en-US" sz="1333">
                <a:solidFill>
                  <a:srgbClr val="3B5272"/>
                </a:solidFill>
                <a:latin typeface="Tahoma"/>
                <a:ea typeface="Tahoma"/>
                <a:cs typeface="Tahoma"/>
                <a:sym typeface="Tahoma"/>
              </a:endParaRPr>
            </a:p>
            <a:p>
              <a:pPr>
                <a:lnSpc>
                  <a:spcPts val="1600"/>
                </a:lnSpc>
              </a:pPr>
              <a:endParaRPr lang="en-US" sz="1333">
                <a:solidFill>
                  <a:srgbClr val="3B5272"/>
                </a:solidFill>
                <a:latin typeface="Tahoma"/>
                <a:ea typeface="Tahoma"/>
                <a:cs typeface="Tahoma"/>
                <a:sym typeface="Tahoma"/>
              </a:endParaRPr>
            </a:p>
            <a:p>
              <a:pPr>
                <a:lnSpc>
                  <a:spcPts val="1600"/>
                </a:lnSpc>
              </a:pPr>
              <a:r>
                <a:rPr lang="en-US" sz="1333" b="1">
                  <a:solidFill>
                    <a:srgbClr val="FF3131"/>
                  </a:solidFill>
                  <a:latin typeface="Tahoma Bold"/>
                  <a:ea typeface="Tahoma Bold"/>
                  <a:cs typeface="Tahoma Bold"/>
                  <a:sym typeface="Tahoma Bold"/>
                </a:rPr>
                <a:t>10%</a:t>
              </a:r>
              <a:r>
                <a:rPr lang="en-US" sz="1333">
                  <a:solidFill>
                    <a:srgbClr val="3B5272"/>
                  </a:solidFill>
                  <a:latin typeface="Tahoma"/>
                  <a:ea typeface="Tahoma"/>
                  <a:cs typeface="Tahoma"/>
                  <a:sym typeface="Tahoma"/>
                </a:rPr>
                <a:t> phân bổ cho </a:t>
              </a:r>
              <a:r>
                <a:rPr lang="en-US" sz="1333" b="1">
                  <a:solidFill>
                    <a:srgbClr val="3B5272"/>
                  </a:solidFill>
                  <a:latin typeface="Tahoma Bold"/>
                  <a:ea typeface="Tahoma Bold"/>
                  <a:cs typeface="Tahoma Bold"/>
                  <a:sym typeface="Tahoma Bold"/>
                </a:rPr>
                <a:t>1 KPI/PI</a:t>
              </a:r>
              <a:r>
                <a:rPr lang="en-US" sz="1333">
                  <a:solidFill>
                    <a:srgbClr val="3B5272"/>
                  </a:solidFill>
                  <a:latin typeface="Tahoma"/>
                  <a:ea typeface="Tahoma"/>
                  <a:cs typeface="Tahoma"/>
                  <a:sym typeface="Tahoma"/>
                </a:rPr>
                <a:t> có liên quan được chọn từ KPI của TP/ PGĐ/ GĐ</a:t>
              </a:r>
            </a:p>
          </p:txBody>
        </p:sp>
      </p:grpSp>
      <p:grpSp>
        <p:nvGrpSpPr>
          <p:cNvPr id="41" name="Group 41"/>
          <p:cNvGrpSpPr/>
          <p:nvPr/>
        </p:nvGrpSpPr>
        <p:grpSpPr>
          <a:xfrm>
            <a:off x="8830529" y="2385261"/>
            <a:ext cx="3198146" cy="1569392"/>
            <a:chOff x="0" y="0"/>
            <a:chExt cx="1296395" cy="620007"/>
          </a:xfrm>
        </p:grpSpPr>
        <p:sp>
          <p:nvSpPr>
            <p:cNvPr id="42" name="Freeform 42"/>
            <p:cNvSpPr/>
            <p:nvPr/>
          </p:nvSpPr>
          <p:spPr>
            <a:xfrm>
              <a:off x="0" y="0"/>
              <a:ext cx="1296395" cy="620007"/>
            </a:xfrm>
            <a:custGeom>
              <a:avLst/>
              <a:gdLst/>
              <a:ahLst/>
              <a:cxnLst/>
              <a:rect l="l" t="t" r="r" b="b"/>
              <a:pathLst>
                <a:path w="1296395" h="620007">
                  <a:moveTo>
                    <a:pt x="26738" y="0"/>
                  </a:moveTo>
                  <a:lnTo>
                    <a:pt x="1269657" y="0"/>
                  </a:lnTo>
                  <a:cubicBezTo>
                    <a:pt x="1284424" y="0"/>
                    <a:pt x="1296395" y="11971"/>
                    <a:pt x="1296395" y="26738"/>
                  </a:cubicBezTo>
                  <a:lnTo>
                    <a:pt x="1296395" y="593268"/>
                  </a:lnTo>
                  <a:cubicBezTo>
                    <a:pt x="1296395" y="608036"/>
                    <a:pt x="1284424" y="620007"/>
                    <a:pt x="1269657" y="620007"/>
                  </a:cubicBezTo>
                  <a:lnTo>
                    <a:pt x="26738" y="620007"/>
                  </a:lnTo>
                  <a:cubicBezTo>
                    <a:pt x="11971" y="620007"/>
                    <a:pt x="0" y="608036"/>
                    <a:pt x="0" y="593268"/>
                  </a:cubicBezTo>
                  <a:lnTo>
                    <a:pt x="0" y="26738"/>
                  </a:lnTo>
                  <a:cubicBezTo>
                    <a:pt x="0" y="11971"/>
                    <a:pt x="11971" y="0"/>
                    <a:pt x="26738" y="0"/>
                  </a:cubicBezTo>
                  <a:close/>
                </a:path>
              </a:pathLst>
            </a:custGeom>
            <a:solidFill>
              <a:srgbClr val="F9F9F9"/>
            </a:solidFill>
            <a:ln w="9525" cap="sq">
              <a:solidFill>
                <a:srgbClr val="A6A6A6"/>
              </a:solidFill>
              <a:prstDash val="solid"/>
              <a:miter/>
            </a:ln>
          </p:spPr>
          <p:txBody>
            <a:bodyPr/>
            <a:lstStyle/>
            <a:p>
              <a:endParaRPr lang="en-US" sz="1200"/>
            </a:p>
          </p:txBody>
        </p:sp>
        <p:sp>
          <p:nvSpPr>
            <p:cNvPr id="43" name="TextBox 43"/>
            <p:cNvSpPr txBox="1"/>
            <p:nvPr/>
          </p:nvSpPr>
          <p:spPr>
            <a:xfrm>
              <a:off x="32930" y="0"/>
              <a:ext cx="1263465" cy="620007"/>
            </a:xfrm>
            <a:prstGeom prst="rect">
              <a:avLst/>
            </a:prstGeom>
          </p:spPr>
          <p:txBody>
            <a:bodyPr lIns="33867" tIns="33867" rIns="33867" bIns="33867" rtlCol="0" anchor="ctr"/>
            <a:lstStyle/>
            <a:p>
              <a:pPr>
                <a:lnSpc>
                  <a:spcPts val="1600"/>
                </a:lnSpc>
              </a:pPr>
              <a:r>
                <a:rPr lang="en-US" sz="1333" b="1">
                  <a:solidFill>
                    <a:srgbClr val="FF3131"/>
                  </a:solidFill>
                  <a:latin typeface="Tahoma Bold"/>
                  <a:ea typeface="Tahoma Bold"/>
                  <a:cs typeface="Tahoma Bold"/>
                  <a:sym typeface="Tahoma Bold"/>
                </a:rPr>
                <a:t>20%</a:t>
              </a:r>
              <a:r>
                <a:rPr lang="en-US" sz="1333">
                  <a:solidFill>
                    <a:srgbClr val="FF3131"/>
                  </a:solidFill>
                  <a:latin typeface="Tahoma"/>
                  <a:ea typeface="Tahoma"/>
                  <a:cs typeface="Tahoma"/>
                  <a:sym typeface="Tahoma"/>
                </a:rPr>
                <a:t> </a:t>
              </a:r>
              <a:r>
                <a:rPr lang="en-US" sz="1333">
                  <a:solidFill>
                    <a:srgbClr val="3B5272"/>
                  </a:solidFill>
                  <a:latin typeface="Tahoma"/>
                  <a:ea typeface="Tahoma"/>
                  <a:cs typeface="Tahoma"/>
                  <a:sym typeface="Tahoma"/>
                </a:rPr>
                <a:t>phân bổ cho</a:t>
              </a:r>
              <a:r>
                <a:rPr lang="en-US" sz="1333" b="1">
                  <a:solidFill>
                    <a:srgbClr val="3B5272"/>
                  </a:solidFill>
                  <a:latin typeface="Tahoma Bold"/>
                  <a:ea typeface="Tahoma Bold"/>
                  <a:cs typeface="Tahoma Bold"/>
                  <a:sym typeface="Tahoma Bold"/>
                </a:rPr>
                <a:t> 1 KPI/PI</a:t>
              </a:r>
              <a:r>
                <a:rPr lang="en-US" sz="1333">
                  <a:solidFill>
                    <a:srgbClr val="3B5272"/>
                  </a:solidFill>
                  <a:latin typeface="Tahoma"/>
                  <a:ea typeface="Tahoma"/>
                  <a:cs typeface="Tahoma"/>
                  <a:sym typeface="Tahoma"/>
                </a:rPr>
                <a:t> có liên quan được chọn từ KPI của QLTT</a:t>
              </a:r>
            </a:p>
            <a:p>
              <a:pPr>
                <a:lnSpc>
                  <a:spcPts val="1600"/>
                </a:lnSpc>
              </a:pPr>
              <a:endParaRPr lang="en-US" sz="1333">
                <a:solidFill>
                  <a:srgbClr val="3B5272"/>
                </a:solidFill>
                <a:latin typeface="Tahoma"/>
                <a:ea typeface="Tahoma"/>
                <a:cs typeface="Tahoma"/>
                <a:sym typeface="Tahoma"/>
              </a:endParaRPr>
            </a:p>
            <a:p>
              <a:pPr>
                <a:lnSpc>
                  <a:spcPts val="1600"/>
                </a:lnSpc>
              </a:pPr>
              <a:endParaRPr lang="en-US" sz="1333">
                <a:solidFill>
                  <a:srgbClr val="3B5272"/>
                </a:solidFill>
                <a:latin typeface="Tahoma"/>
                <a:ea typeface="Tahoma"/>
                <a:cs typeface="Tahoma"/>
                <a:sym typeface="Tahoma"/>
              </a:endParaRPr>
            </a:p>
            <a:p>
              <a:pPr>
                <a:lnSpc>
                  <a:spcPts val="1600"/>
                </a:lnSpc>
              </a:pPr>
              <a:endParaRPr lang="en-US" sz="1333">
                <a:solidFill>
                  <a:srgbClr val="3B5272"/>
                </a:solidFill>
                <a:latin typeface="Tahoma"/>
                <a:ea typeface="Tahoma"/>
                <a:cs typeface="Tahoma"/>
                <a:sym typeface="Tahoma"/>
              </a:endParaRPr>
            </a:p>
            <a:p>
              <a:pPr>
                <a:lnSpc>
                  <a:spcPts val="1600"/>
                </a:lnSpc>
              </a:pPr>
              <a:endParaRPr lang="en-US" sz="1333">
                <a:solidFill>
                  <a:srgbClr val="3B5272"/>
                </a:solidFill>
                <a:latin typeface="Tahoma"/>
                <a:ea typeface="Tahoma"/>
                <a:cs typeface="Tahoma"/>
                <a:sym typeface="Tahoma"/>
              </a:endParaRPr>
            </a:p>
          </p:txBody>
        </p:sp>
      </p:grpSp>
      <p:grpSp>
        <p:nvGrpSpPr>
          <p:cNvPr id="50" name="Group 50"/>
          <p:cNvGrpSpPr/>
          <p:nvPr/>
        </p:nvGrpSpPr>
        <p:grpSpPr>
          <a:xfrm>
            <a:off x="8834623" y="4761104"/>
            <a:ext cx="3281500" cy="755121"/>
            <a:chOff x="0" y="0"/>
            <a:chExt cx="1296395" cy="298319"/>
          </a:xfrm>
        </p:grpSpPr>
        <p:sp>
          <p:nvSpPr>
            <p:cNvPr id="51" name="Freeform 51"/>
            <p:cNvSpPr/>
            <p:nvPr/>
          </p:nvSpPr>
          <p:spPr>
            <a:xfrm>
              <a:off x="0" y="0"/>
              <a:ext cx="1296395" cy="298319"/>
            </a:xfrm>
            <a:custGeom>
              <a:avLst/>
              <a:gdLst/>
              <a:ahLst/>
              <a:cxnLst/>
              <a:rect l="l" t="t" r="r" b="b"/>
              <a:pathLst>
                <a:path w="1296395" h="298319">
                  <a:moveTo>
                    <a:pt x="26738" y="0"/>
                  </a:moveTo>
                  <a:lnTo>
                    <a:pt x="1269657" y="0"/>
                  </a:lnTo>
                  <a:cubicBezTo>
                    <a:pt x="1284424" y="0"/>
                    <a:pt x="1296395" y="11971"/>
                    <a:pt x="1296395" y="26738"/>
                  </a:cubicBezTo>
                  <a:lnTo>
                    <a:pt x="1296395" y="271581"/>
                  </a:lnTo>
                  <a:cubicBezTo>
                    <a:pt x="1296395" y="278673"/>
                    <a:pt x="1293578" y="285474"/>
                    <a:pt x="1288564" y="290488"/>
                  </a:cubicBezTo>
                  <a:cubicBezTo>
                    <a:pt x="1283549" y="295502"/>
                    <a:pt x="1276748" y="298319"/>
                    <a:pt x="1269657" y="298319"/>
                  </a:cubicBezTo>
                  <a:lnTo>
                    <a:pt x="26738" y="298319"/>
                  </a:lnTo>
                  <a:cubicBezTo>
                    <a:pt x="11971" y="298319"/>
                    <a:pt x="0" y="286348"/>
                    <a:pt x="0" y="271581"/>
                  </a:cubicBezTo>
                  <a:lnTo>
                    <a:pt x="0" y="26738"/>
                  </a:lnTo>
                  <a:cubicBezTo>
                    <a:pt x="0" y="11971"/>
                    <a:pt x="11971" y="0"/>
                    <a:pt x="26738" y="0"/>
                  </a:cubicBezTo>
                  <a:close/>
                </a:path>
              </a:pathLst>
            </a:custGeom>
            <a:solidFill>
              <a:srgbClr val="F9F9F9"/>
            </a:solidFill>
            <a:ln w="9525" cap="sq">
              <a:solidFill>
                <a:srgbClr val="A6A6A6"/>
              </a:solidFill>
              <a:prstDash val="solid"/>
              <a:miter/>
            </a:ln>
          </p:spPr>
          <p:txBody>
            <a:bodyPr/>
            <a:lstStyle/>
            <a:p>
              <a:endParaRPr lang="en-US" sz="1200"/>
            </a:p>
          </p:txBody>
        </p:sp>
        <p:sp>
          <p:nvSpPr>
            <p:cNvPr id="52" name="TextBox 52"/>
            <p:cNvSpPr txBox="1"/>
            <p:nvPr/>
          </p:nvSpPr>
          <p:spPr>
            <a:xfrm>
              <a:off x="0" y="0"/>
              <a:ext cx="1296395" cy="298319"/>
            </a:xfrm>
            <a:prstGeom prst="rect">
              <a:avLst/>
            </a:prstGeom>
          </p:spPr>
          <p:txBody>
            <a:bodyPr lIns="33867" tIns="33867" rIns="33867" bIns="33867" rtlCol="0" anchor="ctr"/>
            <a:lstStyle/>
            <a:p>
              <a:pPr>
                <a:lnSpc>
                  <a:spcPts val="1600"/>
                </a:lnSpc>
              </a:pPr>
              <a:r>
                <a:rPr lang="en-US" sz="1333" b="1">
                  <a:solidFill>
                    <a:srgbClr val="FF3131"/>
                  </a:solidFill>
                  <a:latin typeface="Tahoma Bold"/>
                  <a:ea typeface="Tahoma Bold"/>
                  <a:cs typeface="Tahoma Bold"/>
                  <a:sym typeface="Tahoma Bold"/>
                </a:rPr>
                <a:t>10%</a:t>
              </a:r>
              <a:r>
                <a:rPr lang="en-US" sz="1333">
                  <a:solidFill>
                    <a:srgbClr val="3B5272"/>
                  </a:solidFill>
                  <a:latin typeface="Tahoma"/>
                  <a:ea typeface="Tahoma"/>
                  <a:cs typeface="Tahoma"/>
                  <a:sym typeface="Tahoma"/>
                </a:rPr>
                <a:t> phân bổ cho </a:t>
              </a:r>
              <a:r>
                <a:rPr lang="en-US" sz="1333" b="1">
                  <a:solidFill>
                    <a:srgbClr val="3B5272"/>
                  </a:solidFill>
                  <a:latin typeface="Tahoma Bold"/>
                  <a:ea typeface="Tahoma Bold"/>
                  <a:cs typeface="Tahoma Bold"/>
                  <a:sym typeface="Tahoma Bold"/>
                </a:rPr>
                <a:t>1 KPI</a:t>
              </a:r>
              <a:r>
                <a:rPr lang="en-US" sz="1333">
                  <a:solidFill>
                    <a:srgbClr val="3B5272"/>
                  </a:solidFill>
                  <a:latin typeface="Tahoma"/>
                  <a:ea typeface="Tahoma"/>
                  <a:cs typeface="Tahoma"/>
                  <a:sym typeface="Tahoma"/>
                </a:rPr>
                <a:t> về dự án cải tiến tiết kiệm hoặc nhận thêm việc ngoài MTCV</a:t>
              </a:r>
            </a:p>
          </p:txBody>
        </p:sp>
      </p:grpSp>
      <p:grpSp>
        <p:nvGrpSpPr>
          <p:cNvPr id="53" name="Group 53"/>
          <p:cNvGrpSpPr/>
          <p:nvPr/>
        </p:nvGrpSpPr>
        <p:grpSpPr>
          <a:xfrm>
            <a:off x="1709393" y="5530620"/>
            <a:ext cx="3656889" cy="641581"/>
            <a:chOff x="0" y="0"/>
            <a:chExt cx="1444697" cy="253464"/>
          </a:xfrm>
        </p:grpSpPr>
        <p:sp>
          <p:nvSpPr>
            <p:cNvPr id="54" name="Freeform 54"/>
            <p:cNvSpPr/>
            <p:nvPr/>
          </p:nvSpPr>
          <p:spPr>
            <a:xfrm>
              <a:off x="0" y="0"/>
              <a:ext cx="1444697" cy="253464"/>
            </a:xfrm>
            <a:custGeom>
              <a:avLst/>
              <a:gdLst/>
              <a:ahLst/>
              <a:cxnLst/>
              <a:rect l="l" t="t" r="r" b="b"/>
              <a:pathLst>
                <a:path w="1444697" h="253464">
                  <a:moveTo>
                    <a:pt x="23994" y="0"/>
                  </a:moveTo>
                  <a:lnTo>
                    <a:pt x="1420704" y="0"/>
                  </a:lnTo>
                  <a:cubicBezTo>
                    <a:pt x="1433955" y="0"/>
                    <a:pt x="1444697" y="10742"/>
                    <a:pt x="1444697" y="23994"/>
                  </a:cubicBezTo>
                  <a:lnTo>
                    <a:pt x="1444697" y="229470"/>
                  </a:lnTo>
                  <a:cubicBezTo>
                    <a:pt x="1444697" y="242722"/>
                    <a:pt x="1433955" y="253464"/>
                    <a:pt x="1420704" y="253464"/>
                  </a:cubicBezTo>
                  <a:lnTo>
                    <a:pt x="23994" y="253464"/>
                  </a:lnTo>
                  <a:cubicBezTo>
                    <a:pt x="10742" y="253464"/>
                    <a:pt x="0" y="242722"/>
                    <a:pt x="0" y="229470"/>
                  </a:cubicBezTo>
                  <a:lnTo>
                    <a:pt x="0" y="23994"/>
                  </a:lnTo>
                  <a:cubicBezTo>
                    <a:pt x="0" y="10742"/>
                    <a:pt x="10742" y="0"/>
                    <a:pt x="23994" y="0"/>
                  </a:cubicBezTo>
                  <a:close/>
                </a:path>
              </a:pathLst>
            </a:custGeom>
            <a:solidFill>
              <a:srgbClr val="FFF3C2"/>
            </a:solidFill>
            <a:ln w="9525" cap="sq">
              <a:solidFill>
                <a:srgbClr val="C6D8FB"/>
              </a:solidFill>
              <a:prstDash val="solid"/>
              <a:miter/>
            </a:ln>
          </p:spPr>
          <p:txBody>
            <a:bodyPr/>
            <a:lstStyle/>
            <a:p>
              <a:endParaRPr lang="en-US" sz="1200"/>
            </a:p>
          </p:txBody>
        </p:sp>
        <p:sp>
          <p:nvSpPr>
            <p:cNvPr id="55" name="TextBox 55"/>
            <p:cNvSpPr txBox="1"/>
            <p:nvPr/>
          </p:nvSpPr>
          <p:spPr>
            <a:xfrm>
              <a:off x="0" y="-9525"/>
              <a:ext cx="1444697" cy="262989"/>
            </a:xfrm>
            <a:prstGeom prst="rect">
              <a:avLst/>
            </a:prstGeom>
          </p:spPr>
          <p:txBody>
            <a:bodyPr lIns="33867" tIns="33867" rIns="33867" bIns="33867" rtlCol="0" anchor="ctr"/>
            <a:lstStyle/>
            <a:p>
              <a:pPr algn="ctr">
                <a:lnSpc>
                  <a:spcPts val="1759"/>
                </a:lnSpc>
              </a:pPr>
              <a:r>
                <a:rPr lang="en-US" sz="1466" b="1">
                  <a:solidFill>
                    <a:srgbClr val="3B5272"/>
                  </a:solidFill>
                  <a:latin typeface="Tahoma Bold"/>
                  <a:ea typeface="Tahoma Bold"/>
                  <a:cs typeface="Tahoma Bold"/>
                  <a:sym typeface="Tahoma Bold"/>
                </a:rPr>
                <a:t>10 KPI</a:t>
              </a:r>
            </a:p>
          </p:txBody>
        </p:sp>
      </p:grpSp>
      <p:grpSp>
        <p:nvGrpSpPr>
          <p:cNvPr id="56" name="Group 56"/>
          <p:cNvGrpSpPr/>
          <p:nvPr/>
        </p:nvGrpSpPr>
        <p:grpSpPr>
          <a:xfrm>
            <a:off x="5381655" y="5530620"/>
            <a:ext cx="3415871" cy="641581"/>
            <a:chOff x="0" y="0"/>
            <a:chExt cx="1349480" cy="253464"/>
          </a:xfrm>
        </p:grpSpPr>
        <p:sp>
          <p:nvSpPr>
            <p:cNvPr id="57" name="Freeform 57"/>
            <p:cNvSpPr/>
            <p:nvPr/>
          </p:nvSpPr>
          <p:spPr>
            <a:xfrm>
              <a:off x="0" y="0"/>
              <a:ext cx="1349480" cy="253464"/>
            </a:xfrm>
            <a:custGeom>
              <a:avLst/>
              <a:gdLst/>
              <a:ahLst/>
              <a:cxnLst/>
              <a:rect l="l" t="t" r="r" b="b"/>
              <a:pathLst>
                <a:path w="1349480" h="253464">
                  <a:moveTo>
                    <a:pt x="25686" y="0"/>
                  </a:moveTo>
                  <a:lnTo>
                    <a:pt x="1323793" y="0"/>
                  </a:lnTo>
                  <a:cubicBezTo>
                    <a:pt x="1330606" y="0"/>
                    <a:pt x="1337139" y="2706"/>
                    <a:pt x="1341956" y="7523"/>
                  </a:cubicBezTo>
                  <a:cubicBezTo>
                    <a:pt x="1346774" y="12341"/>
                    <a:pt x="1349480" y="18874"/>
                    <a:pt x="1349480" y="25686"/>
                  </a:cubicBezTo>
                  <a:lnTo>
                    <a:pt x="1349480" y="227777"/>
                  </a:lnTo>
                  <a:cubicBezTo>
                    <a:pt x="1349480" y="234590"/>
                    <a:pt x="1346774" y="241123"/>
                    <a:pt x="1341956" y="245940"/>
                  </a:cubicBezTo>
                  <a:cubicBezTo>
                    <a:pt x="1337139" y="250758"/>
                    <a:pt x="1330606" y="253464"/>
                    <a:pt x="1323793" y="253464"/>
                  </a:cubicBezTo>
                  <a:lnTo>
                    <a:pt x="25686" y="253464"/>
                  </a:lnTo>
                  <a:cubicBezTo>
                    <a:pt x="18874" y="253464"/>
                    <a:pt x="12341" y="250758"/>
                    <a:pt x="7523" y="245940"/>
                  </a:cubicBezTo>
                  <a:cubicBezTo>
                    <a:pt x="2706" y="241123"/>
                    <a:pt x="0" y="234590"/>
                    <a:pt x="0" y="227777"/>
                  </a:cubicBezTo>
                  <a:lnTo>
                    <a:pt x="0" y="25686"/>
                  </a:lnTo>
                  <a:cubicBezTo>
                    <a:pt x="0" y="18874"/>
                    <a:pt x="2706" y="12341"/>
                    <a:pt x="7523" y="7523"/>
                  </a:cubicBezTo>
                  <a:cubicBezTo>
                    <a:pt x="12341" y="2706"/>
                    <a:pt x="18874" y="0"/>
                    <a:pt x="25686" y="0"/>
                  </a:cubicBezTo>
                  <a:close/>
                </a:path>
              </a:pathLst>
            </a:custGeom>
            <a:solidFill>
              <a:srgbClr val="FFF3C2"/>
            </a:solidFill>
            <a:ln w="9525" cap="sq">
              <a:solidFill>
                <a:srgbClr val="C6D8FB"/>
              </a:solidFill>
              <a:prstDash val="solid"/>
              <a:miter/>
            </a:ln>
          </p:spPr>
          <p:txBody>
            <a:bodyPr/>
            <a:lstStyle/>
            <a:p>
              <a:endParaRPr lang="en-US" sz="1200"/>
            </a:p>
          </p:txBody>
        </p:sp>
        <p:sp>
          <p:nvSpPr>
            <p:cNvPr id="58" name="TextBox 58"/>
            <p:cNvSpPr txBox="1"/>
            <p:nvPr/>
          </p:nvSpPr>
          <p:spPr>
            <a:xfrm>
              <a:off x="0" y="-9525"/>
              <a:ext cx="1349480" cy="262989"/>
            </a:xfrm>
            <a:prstGeom prst="rect">
              <a:avLst/>
            </a:prstGeom>
          </p:spPr>
          <p:txBody>
            <a:bodyPr lIns="33867" tIns="33867" rIns="33867" bIns="33867" rtlCol="0" anchor="ctr"/>
            <a:lstStyle/>
            <a:p>
              <a:pPr algn="ctr">
                <a:lnSpc>
                  <a:spcPts val="1759"/>
                </a:lnSpc>
              </a:pPr>
              <a:r>
                <a:rPr lang="en-US" sz="1466" b="1">
                  <a:solidFill>
                    <a:srgbClr val="3B5272"/>
                  </a:solidFill>
                  <a:latin typeface="Tahoma Bold"/>
                  <a:ea typeface="Tahoma Bold"/>
                  <a:cs typeface="Tahoma Bold"/>
                  <a:sym typeface="Tahoma Bold"/>
                </a:rPr>
                <a:t>8 KPI</a:t>
              </a:r>
            </a:p>
          </p:txBody>
        </p:sp>
      </p:grpSp>
      <p:grpSp>
        <p:nvGrpSpPr>
          <p:cNvPr id="59" name="Group 59"/>
          <p:cNvGrpSpPr/>
          <p:nvPr/>
        </p:nvGrpSpPr>
        <p:grpSpPr>
          <a:xfrm>
            <a:off x="8834623" y="5530620"/>
            <a:ext cx="3281500" cy="641581"/>
            <a:chOff x="0" y="0"/>
            <a:chExt cx="1296395" cy="253464"/>
          </a:xfrm>
        </p:grpSpPr>
        <p:sp>
          <p:nvSpPr>
            <p:cNvPr id="60" name="Freeform 60"/>
            <p:cNvSpPr/>
            <p:nvPr/>
          </p:nvSpPr>
          <p:spPr>
            <a:xfrm>
              <a:off x="0" y="0"/>
              <a:ext cx="1296395" cy="253464"/>
            </a:xfrm>
            <a:custGeom>
              <a:avLst/>
              <a:gdLst/>
              <a:ahLst/>
              <a:cxnLst/>
              <a:rect l="l" t="t" r="r" b="b"/>
              <a:pathLst>
                <a:path w="1296395" h="253464">
                  <a:moveTo>
                    <a:pt x="26738" y="0"/>
                  </a:moveTo>
                  <a:lnTo>
                    <a:pt x="1269657" y="0"/>
                  </a:lnTo>
                  <a:cubicBezTo>
                    <a:pt x="1284424" y="0"/>
                    <a:pt x="1296395" y="11971"/>
                    <a:pt x="1296395" y="26738"/>
                  </a:cubicBezTo>
                  <a:lnTo>
                    <a:pt x="1296395" y="226726"/>
                  </a:lnTo>
                  <a:cubicBezTo>
                    <a:pt x="1296395" y="233817"/>
                    <a:pt x="1293578" y="240618"/>
                    <a:pt x="1288564" y="245632"/>
                  </a:cubicBezTo>
                  <a:cubicBezTo>
                    <a:pt x="1283549" y="250647"/>
                    <a:pt x="1276748" y="253464"/>
                    <a:pt x="1269657" y="253464"/>
                  </a:cubicBezTo>
                  <a:lnTo>
                    <a:pt x="26738" y="253464"/>
                  </a:lnTo>
                  <a:cubicBezTo>
                    <a:pt x="11971" y="253464"/>
                    <a:pt x="0" y="241493"/>
                    <a:pt x="0" y="226726"/>
                  </a:cubicBezTo>
                  <a:lnTo>
                    <a:pt x="0" y="26738"/>
                  </a:lnTo>
                  <a:cubicBezTo>
                    <a:pt x="0" y="11971"/>
                    <a:pt x="11971" y="0"/>
                    <a:pt x="26738" y="0"/>
                  </a:cubicBezTo>
                  <a:close/>
                </a:path>
              </a:pathLst>
            </a:custGeom>
            <a:solidFill>
              <a:srgbClr val="FFF3C2"/>
            </a:solidFill>
            <a:ln w="9525" cap="sq">
              <a:solidFill>
                <a:srgbClr val="C6D8FB"/>
              </a:solidFill>
              <a:prstDash val="solid"/>
              <a:miter/>
            </a:ln>
          </p:spPr>
          <p:txBody>
            <a:bodyPr/>
            <a:lstStyle/>
            <a:p>
              <a:endParaRPr lang="en-US" sz="1200"/>
            </a:p>
          </p:txBody>
        </p:sp>
        <p:sp>
          <p:nvSpPr>
            <p:cNvPr id="61" name="TextBox 61"/>
            <p:cNvSpPr txBox="1"/>
            <p:nvPr/>
          </p:nvSpPr>
          <p:spPr>
            <a:xfrm>
              <a:off x="0" y="-9525"/>
              <a:ext cx="1296395" cy="262989"/>
            </a:xfrm>
            <a:prstGeom prst="rect">
              <a:avLst/>
            </a:prstGeom>
          </p:spPr>
          <p:txBody>
            <a:bodyPr lIns="33867" tIns="33867" rIns="33867" bIns="33867" rtlCol="0" anchor="ctr"/>
            <a:lstStyle/>
            <a:p>
              <a:pPr algn="ctr">
                <a:lnSpc>
                  <a:spcPts val="1759"/>
                </a:lnSpc>
              </a:pPr>
              <a:r>
                <a:rPr lang="en-US" sz="1466" b="1">
                  <a:solidFill>
                    <a:srgbClr val="3B5272"/>
                  </a:solidFill>
                  <a:latin typeface="Tahoma Bold"/>
                  <a:ea typeface="Tahoma Bold"/>
                  <a:cs typeface="Tahoma Bold"/>
                  <a:sym typeface="Tahoma Bold"/>
                </a:rPr>
                <a:t>6 KPI</a:t>
              </a:r>
            </a:p>
          </p:txBody>
        </p:sp>
      </p:grpSp>
      <p:grpSp>
        <p:nvGrpSpPr>
          <p:cNvPr id="62" name="Group 62"/>
          <p:cNvGrpSpPr/>
          <p:nvPr/>
        </p:nvGrpSpPr>
        <p:grpSpPr>
          <a:xfrm>
            <a:off x="112848" y="5530620"/>
            <a:ext cx="1558445" cy="641581"/>
            <a:chOff x="0" y="0"/>
            <a:chExt cx="615682" cy="253464"/>
          </a:xfrm>
        </p:grpSpPr>
        <p:sp>
          <p:nvSpPr>
            <p:cNvPr id="63" name="Freeform 63"/>
            <p:cNvSpPr/>
            <p:nvPr/>
          </p:nvSpPr>
          <p:spPr>
            <a:xfrm>
              <a:off x="0" y="0"/>
              <a:ext cx="615682" cy="253464"/>
            </a:xfrm>
            <a:custGeom>
              <a:avLst/>
              <a:gdLst/>
              <a:ahLst/>
              <a:cxnLst/>
              <a:rect l="l" t="t" r="r" b="b"/>
              <a:pathLst>
                <a:path w="615682" h="253464">
                  <a:moveTo>
                    <a:pt x="56301" y="0"/>
                  </a:moveTo>
                  <a:lnTo>
                    <a:pt x="559381" y="0"/>
                  </a:lnTo>
                  <a:cubicBezTo>
                    <a:pt x="574313" y="0"/>
                    <a:pt x="588633" y="5932"/>
                    <a:pt x="599192" y="16490"/>
                  </a:cubicBezTo>
                  <a:cubicBezTo>
                    <a:pt x="609750" y="27049"/>
                    <a:pt x="615682" y="41369"/>
                    <a:pt x="615682" y="56301"/>
                  </a:cubicBezTo>
                  <a:lnTo>
                    <a:pt x="615682" y="197163"/>
                  </a:lnTo>
                  <a:cubicBezTo>
                    <a:pt x="615682" y="212095"/>
                    <a:pt x="609750" y="226415"/>
                    <a:pt x="599192" y="236974"/>
                  </a:cubicBezTo>
                  <a:cubicBezTo>
                    <a:pt x="588633" y="247532"/>
                    <a:pt x="574313" y="253464"/>
                    <a:pt x="559381" y="253464"/>
                  </a:cubicBezTo>
                  <a:lnTo>
                    <a:pt x="56301" y="253464"/>
                  </a:lnTo>
                  <a:cubicBezTo>
                    <a:pt x="41369" y="253464"/>
                    <a:pt x="27049" y="247532"/>
                    <a:pt x="16490" y="236974"/>
                  </a:cubicBezTo>
                  <a:cubicBezTo>
                    <a:pt x="5932" y="226415"/>
                    <a:pt x="0" y="212095"/>
                    <a:pt x="0" y="197163"/>
                  </a:cubicBezTo>
                  <a:lnTo>
                    <a:pt x="0" y="56301"/>
                  </a:lnTo>
                  <a:cubicBezTo>
                    <a:pt x="0" y="41369"/>
                    <a:pt x="5932" y="27049"/>
                    <a:pt x="16490" y="16490"/>
                  </a:cubicBezTo>
                  <a:cubicBezTo>
                    <a:pt x="27049" y="5932"/>
                    <a:pt x="41369" y="0"/>
                    <a:pt x="56301" y="0"/>
                  </a:cubicBezTo>
                  <a:close/>
                </a:path>
              </a:pathLst>
            </a:custGeom>
            <a:solidFill>
              <a:srgbClr val="FFF3C2"/>
            </a:solidFill>
            <a:ln w="9525" cap="sq">
              <a:solidFill>
                <a:srgbClr val="C6D8FB"/>
              </a:solidFill>
              <a:prstDash val="solid"/>
              <a:miter/>
            </a:ln>
          </p:spPr>
          <p:txBody>
            <a:bodyPr/>
            <a:lstStyle/>
            <a:p>
              <a:endParaRPr lang="en-US" sz="1200"/>
            </a:p>
          </p:txBody>
        </p:sp>
        <p:sp>
          <p:nvSpPr>
            <p:cNvPr id="64" name="TextBox 64"/>
            <p:cNvSpPr txBox="1"/>
            <p:nvPr/>
          </p:nvSpPr>
          <p:spPr>
            <a:xfrm>
              <a:off x="0" y="0"/>
              <a:ext cx="615682" cy="253464"/>
            </a:xfrm>
            <a:prstGeom prst="rect">
              <a:avLst/>
            </a:prstGeom>
          </p:spPr>
          <p:txBody>
            <a:bodyPr lIns="33867" tIns="33867" rIns="33867" bIns="33867" rtlCol="0" anchor="ctr"/>
            <a:lstStyle/>
            <a:p>
              <a:pPr algn="ctr">
                <a:lnSpc>
                  <a:spcPts val="1600"/>
                </a:lnSpc>
              </a:pPr>
              <a:r>
                <a:rPr lang="en-US" sz="1333" b="1">
                  <a:solidFill>
                    <a:schemeClr val="accent1">
                      <a:lumMod val="50000"/>
                    </a:schemeClr>
                  </a:solidFill>
                  <a:latin typeface="Tahoma Bold"/>
                  <a:ea typeface="Tahoma Bold"/>
                  <a:cs typeface="Tahoma Bold"/>
                  <a:sym typeface="Tahoma Bold"/>
                </a:rPr>
                <a:t>Số lượng KPI</a:t>
              </a:r>
            </a:p>
          </p:txBody>
        </p:sp>
      </p:grpSp>
      <p:grpSp>
        <p:nvGrpSpPr>
          <p:cNvPr id="65" name="Group 65"/>
          <p:cNvGrpSpPr/>
          <p:nvPr/>
        </p:nvGrpSpPr>
        <p:grpSpPr>
          <a:xfrm>
            <a:off x="121036" y="4761104"/>
            <a:ext cx="1550256" cy="747737"/>
            <a:chOff x="0" y="0"/>
            <a:chExt cx="612447" cy="295402"/>
          </a:xfrm>
        </p:grpSpPr>
        <p:sp>
          <p:nvSpPr>
            <p:cNvPr id="66" name="Freeform 66"/>
            <p:cNvSpPr/>
            <p:nvPr/>
          </p:nvSpPr>
          <p:spPr>
            <a:xfrm>
              <a:off x="0" y="0"/>
              <a:ext cx="612447" cy="295402"/>
            </a:xfrm>
            <a:custGeom>
              <a:avLst/>
              <a:gdLst/>
              <a:ahLst/>
              <a:cxnLst/>
              <a:rect l="l" t="t" r="r" b="b"/>
              <a:pathLst>
                <a:path w="612447" h="295402">
                  <a:moveTo>
                    <a:pt x="56598" y="0"/>
                  </a:moveTo>
                  <a:lnTo>
                    <a:pt x="555849" y="0"/>
                  </a:lnTo>
                  <a:cubicBezTo>
                    <a:pt x="570859" y="0"/>
                    <a:pt x="585255" y="5963"/>
                    <a:pt x="595870" y="16577"/>
                  </a:cubicBezTo>
                  <a:cubicBezTo>
                    <a:pt x="606484" y="27191"/>
                    <a:pt x="612447" y="41587"/>
                    <a:pt x="612447" y="56598"/>
                  </a:cubicBezTo>
                  <a:lnTo>
                    <a:pt x="612447" y="238804"/>
                  </a:lnTo>
                  <a:cubicBezTo>
                    <a:pt x="612447" y="270062"/>
                    <a:pt x="587107" y="295402"/>
                    <a:pt x="555849" y="295402"/>
                  </a:cubicBezTo>
                  <a:lnTo>
                    <a:pt x="56598" y="295402"/>
                  </a:lnTo>
                  <a:cubicBezTo>
                    <a:pt x="25340" y="295402"/>
                    <a:pt x="0" y="270062"/>
                    <a:pt x="0" y="238804"/>
                  </a:cubicBezTo>
                  <a:lnTo>
                    <a:pt x="0" y="56598"/>
                  </a:lnTo>
                  <a:cubicBezTo>
                    <a:pt x="0" y="25340"/>
                    <a:pt x="25340" y="0"/>
                    <a:pt x="56598" y="0"/>
                  </a:cubicBezTo>
                  <a:close/>
                </a:path>
              </a:pathLst>
            </a:custGeom>
            <a:solidFill>
              <a:srgbClr val="A6A6A6"/>
            </a:solidFill>
            <a:ln w="9525" cap="sq">
              <a:solidFill>
                <a:srgbClr val="C6D8FB"/>
              </a:solidFill>
              <a:prstDash val="solid"/>
              <a:miter/>
            </a:ln>
          </p:spPr>
          <p:txBody>
            <a:bodyPr/>
            <a:lstStyle/>
            <a:p>
              <a:endParaRPr lang="en-US" sz="1200"/>
            </a:p>
          </p:txBody>
        </p:sp>
        <p:sp>
          <p:nvSpPr>
            <p:cNvPr id="67" name="TextBox 67"/>
            <p:cNvSpPr txBox="1"/>
            <p:nvPr/>
          </p:nvSpPr>
          <p:spPr>
            <a:xfrm>
              <a:off x="0" y="0"/>
              <a:ext cx="612447" cy="295402"/>
            </a:xfrm>
            <a:prstGeom prst="rect">
              <a:avLst/>
            </a:prstGeom>
          </p:spPr>
          <p:txBody>
            <a:bodyPr lIns="33867" tIns="33867" rIns="33867" bIns="33867" rtlCol="0" anchor="ctr"/>
            <a:lstStyle/>
            <a:p>
              <a:pPr algn="ctr">
                <a:lnSpc>
                  <a:spcPts val="1600"/>
                </a:lnSpc>
              </a:pPr>
              <a:r>
                <a:rPr lang="en-US" sz="1333" b="1">
                  <a:solidFill>
                    <a:srgbClr val="FFFFFF"/>
                  </a:solidFill>
                  <a:latin typeface="Tahoma Bold"/>
                  <a:ea typeface="Tahoma Bold"/>
                  <a:cs typeface="Tahoma Bold"/>
                  <a:sym typeface="Tahoma Bold"/>
                </a:rPr>
                <a:t>Phát triển cá nhân</a:t>
              </a:r>
            </a:p>
          </p:txBody>
        </p:sp>
      </p:grpSp>
      <p:grpSp>
        <p:nvGrpSpPr>
          <p:cNvPr id="68" name="Group 68"/>
          <p:cNvGrpSpPr/>
          <p:nvPr/>
        </p:nvGrpSpPr>
        <p:grpSpPr>
          <a:xfrm>
            <a:off x="112848" y="2378911"/>
            <a:ext cx="1550256" cy="1569392"/>
            <a:chOff x="0" y="0"/>
            <a:chExt cx="612447" cy="620007"/>
          </a:xfrm>
        </p:grpSpPr>
        <p:sp>
          <p:nvSpPr>
            <p:cNvPr id="69" name="Freeform 69"/>
            <p:cNvSpPr/>
            <p:nvPr/>
          </p:nvSpPr>
          <p:spPr>
            <a:xfrm>
              <a:off x="0" y="0"/>
              <a:ext cx="612447" cy="620007"/>
            </a:xfrm>
            <a:custGeom>
              <a:avLst/>
              <a:gdLst/>
              <a:ahLst/>
              <a:cxnLst/>
              <a:rect l="l" t="t" r="r" b="b"/>
              <a:pathLst>
                <a:path w="612447" h="620007">
                  <a:moveTo>
                    <a:pt x="56598" y="0"/>
                  </a:moveTo>
                  <a:lnTo>
                    <a:pt x="555849" y="0"/>
                  </a:lnTo>
                  <a:cubicBezTo>
                    <a:pt x="570859" y="0"/>
                    <a:pt x="585255" y="5963"/>
                    <a:pt x="595870" y="16577"/>
                  </a:cubicBezTo>
                  <a:cubicBezTo>
                    <a:pt x="606484" y="27191"/>
                    <a:pt x="612447" y="41587"/>
                    <a:pt x="612447" y="56598"/>
                  </a:cubicBezTo>
                  <a:lnTo>
                    <a:pt x="612447" y="563408"/>
                  </a:lnTo>
                  <a:cubicBezTo>
                    <a:pt x="612447" y="594667"/>
                    <a:pt x="587107" y="620007"/>
                    <a:pt x="555849" y="620007"/>
                  </a:cubicBezTo>
                  <a:lnTo>
                    <a:pt x="56598" y="620007"/>
                  </a:lnTo>
                  <a:cubicBezTo>
                    <a:pt x="25340" y="620007"/>
                    <a:pt x="0" y="594667"/>
                    <a:pt x="0" y="563408"/>
                  </a:cubicBezTo>
                  <a:lnTo>
                    <a:pt x="0" y="56598"/>
                  </a:lnTo>
                  <a:cubicBezTo>
                    <a:pt x="0" y="25340"/>
                    <a:pt x="25340" y="0"/>
                    <a:pt x="56598" y="0"/>
                  </a:cubicBezTo>
                  <a:close/>
                </a:path>
              </a:pathLst>
            </a:custGeom>
            <a:solidFill>
              <a:srgbClr val="A6A6A6"/>
            </a:solidFill>
            <a:ln w="9525" cap="sq">
              <a:solidFill>
                <a:srgbClr val="C6D8FB"/>
              </a:solidFill>
              <a:prstDash val="solid"/>
              <a:miter/>
            </a:ln>
          </p:spPr>
          <p:txBody>
            <a:bodyPr/>
            <a:lstStyle/>
            <a:p>
              <a:endParaRPr lang="en-US" sz="1200"/>
            </a:p>
          </p:txBody>
        </p:sp>
        <p:sp>
          <p:nvSpPr>
            <p:cNvPr id="70" name="TextBox 70"/>
            <p:cNvSpPr txBox="1"/>
            <p:nvPr/>
          </p:nvSpPr>
          <p:spPr>
            <a:xfrm>
              <a:off x="0" y="0"/>
              <a:ext cx="612447" cy="620007"/>
            </a:xfrm>
            <a:prstGeom prst="rect">
              <a:avLst/>
            </a:prstGeom>
          </p:spPr>
          <p:txBody>
            <a:bodyPr lIns="33867" tIns="33867" rIns="33867" bIns="33867" rtlCol="0" anchor="ctr"/>
            <a:lstStyle/>
            <a:p>
              <a:pPr algn="ctr">
                <a:lnSpc>
                  <a:spcPts val="1600"/>
                </a:lnSpc>
              </a:pPr>
              <a:r>
                <a:rPr lang="en-US" sz="1333" b="1" dirty="0">
                  <a:solidFill>
                    <a:srgbClr val="FFFFFF"/>
                  </a:solidFill>
                  <a:latin typeface="Tahoma Bold"/>
                  <a:ea typeface="Tahoma Bold"/>
                  <a:cs typeface="Tahoma Bold"/>
                  <a:sym typeface="Tahoma Bold"/>
                </a:rPr>
                <a:t>Liên PB/ĐV A</a:t>
              </a:r>
            </a:p>
            <a:p>
              <a:pPr algn="ctr">
                <a:lnSpc>
                  <a:spcPts val="1600"/>
                </a:lnSpc>
              </a:pPr>
              <a:endParaRPr lang="en-US" sz="1333" b="1" dirty="0">
                <a:solidFill>
                  <a:srgbClr val="FFFFFF"/>
                </a:solidFill>
                <a:latin typeface="Tahoma Bold"/>
                <a:ea typeface="Tahoma Bold"/>
                <a:cs typeface="Tahoma Bold"/>
                <a:sym typeface="Tahoma Bold"/>
              </a:endParaRPr>
            </a:p>
            <a:p>
              <a:pPr algn="ctr">
                <a:lnSpc>
                  <a:spcPts val="1600"/>
                </a:lnSpc>
              </a:pPr>
              <a:endParaRPr lang="en-US" sz="1333" b="1" dirty="0">
                <a:solidFill>
                  <a:srgbClr val="FFFFFF"/>
                </a:solidFill>
                <a:latin typeface="Tahoma Bold"/>
                <a:ea typeface="Tahoma Bold"/>
                <a:cs typeface="Tahoma Bold"/>
                <a:sym typeface="Tahoma Bold"/>
              </a:endParaRPr>
            </a:p>
            <a:p>
              <a:pPr algn="ctr">
                <a:lnSpc>
                  <a:spcPts val="1600"/>
                </a:lnSpc>
              </a:pPr>
              <a:endParaRPr lang="en-US" sz="1333" b="1" dirty="0">
                <a:solidFill>
                  <a:srgbClr val="FFFFFF"/>
                </a:solidFill>
                <a:latin typeface="Tahoma Bold"/>
                <a:ea typeface="Tahoma Bold"/>
                <a:cs typeface="Tahoma Bold"/>
                <a:sym typeface="Tahoma Bold"/>
              </a:endParaRPr>
            </a:p>
            <a:p>
              <a:pPr algn="ctr">
                <a:lnSpc>
                  <a:spcPts val="1600"/>
                </a:lnSpc>
              </a:pPr>
              <a:r>
                <a:rPr lang="en-US" sz="1333" b="1" dirty="0">
                  <a:solidFill>
                    <a:srgbClr val="FFFFFF"/>
                  </a:solidFill>
                  <a:latin typeface="Tahoma Bold"/>
                  <a:ea typeface="Tahoma Bold"/>
                  <a:cs typeface="Tahoma Bold"/>
                  <a:sym typeface="Tahoma Bold"/>
                </a:rPr>
                <a:t>Liên PB/ĐV B</a:t>
              </a:r>
            </a:p>
          </p:txBody>
        </p:sp>
      </p:grpSp>
      <p:grpSp>
        <p:nvGrpSpPr>
          <p:cNvPr id="71" name="Group 71"/>
          <p:cNvGrpSpPr/>
          <p:nvPr/>
        </p:nvGrpSpPr>
        <p:grpSpPr>
          <a:xfrm>
            <a:off x="137413" y="1525455"/>
            <a:ext cx="1550256" cy="802657"/>
            <a:chOff x="0" y="0"/>
            <a:chExt cx="612447" cy="317099"/>
          </a:xfrm>
        </p:grpSpPr>
        <p:sp>
          <p:nvSpPr>
            <p:cNvPr id="72" name="Freeform 72"/>
            <p:cNvSpPr/>
            <p:nvPr/>
          </p:nvSpPr>
          <p:spPr>
            <a:xfrm>
              <a:off x="0" y="0"/>
              <a:ext cx="612447" cy="317099"/>
            </a:xfrm>
            <a:custGeom>
              <a:avLst/>
              <a:gdLst/>
              <a:ahLst/>
              <a:cxnLst/>
              <a:rect l="l" t="t" r="r" b="b"/>
              <a:pathLst>
                <a:path w="612447" h="317099">
                  <a:moveTo>
                    <a:pt x="56598" y="0"/>
                  </a:moveTo>
                  <a:lnTo>
                    <a:pt x="555849" y="0"/>
                  </a:lnTo>
                  <a:cubicBezTo>
                    <a:pt x="570859" y="0"/>
                    <a:pt x="585255" y="5963"/>
                    <a:pt x="595870" y="16577"/>
                  </a:cubicBezTo>
                  <a:cubicBezTo>
                    <a:pt x="606484" y="27191"/>
                    <a:pt x="612447" y="41587"/>
                    <a:pt x="612447" y="56598"/>
                  </a:cubicBezTo>
                  <a:lnTo>
                    <a:pt x="612447" y="260501"/>
                  </a:lnTo>
                  <a:cubicBezTo>
                    <a:pt x="612447" y="291759"/>
                    <a:pt x="587107" y="317099"/>
                    <a:pt x="555849" y="317099"/>
                  </a:cubicBezTo>
                  <a:lnTo>
                    <a:pt x="56598" y="317099"/>
                  </a:lnTo>
                  <a:cubicBezTo>
                    <a:pt x="25340" y="317099"/>
                    <a:pt x="0" y="291759"/>
                    <a:pt x="0" y="260501"/>
                  </a:cubicBezTo>
                  <a:lnTo>
                    <a:pt x="0" y="56598"/>
                  </a:lnTo>
                  <a:cubicBezTo>
                    <a:pt x="0" y="25340"/>
                    <a:pt x="25340" y="0"/>
                    <a:pt x="56598" y="0"/>
                  </a:cubicBezTo>
                  <a:close/>
                </a:path>
              </a:pathLst>
            </a:custGeom>
            <a:solidFill>
              <a:srgbClr val="A6A6A6"/>
            </a:solidFill>
            <a:ln w="9525" cap="sq">
              <a:solidFill>
                <a:srgbClr val="C6D8FB"/>
              </a:solidFill>
              <a:prstDash val="solid"/>
              <a:miter/>
            </a:ln>
          </p:spPr>
          <p:txBody>
            <a:bodyPr/>
            <a:lstStyle/>
            <a:p>
              <a:endParaRPr lang="en-US" sz="1200"/>
            </a:p>
          </p:txBody>
        </p:sp>
        <p:sp>
          <p:nvSpPr>
            <p:cNvPr id="73" name="TextBox 73"/>
            <p:cNvSpPr txBox="1"/>
            <p:nvPr/>
          </p:nvSpPr>
          <p:spPr>
            <a:xfrm>
              <a:off x="0" y="0"/>
              <a:ext cx="612447" cy="317099"/>
            </a:xfrm>
            <a:prstGeom prst="rect">
              <a:avLst/>
            </a:prstGeom>
          </p:spPr>
          <p:txBody>
            <a:bodyPr lIns="33867" tIns="33867" rIns="33867" bIns="33867" rtlCol="0" anchor="ctr"/>
            <a:lstStyle/>
            <a:p>
              <a:pPr algn="ctr">
                <a:lnSpc>
                  <a:spcPts val="1600"/>
                </a:lnSpc>
              </a:pPr>
              <a:r>
                <a:rPr lang="en-US" sz="1333" b="1">
                  <a:solidFill>
                    <a:srgbClr val="FFFFFF"/>
                  </a:solidFill>
                  <a:latin typeface="Tahoma Bold"/>
                  <a:ea typeface="Tahoma Bold"/>
                  <a:cs typeface="Tahoma Bold"/>
                  <a:sym typeface="Tahoma Bold"/>
                </a:rPr>
                <a:t>Công ty</a:t>
              </a:r>
            </a:p>
          </p:txBody>
        </p:sp>
      </p:grpSp>
      <p:sp>
        <p:nvSpPr>
          <p:cNvPr id="74" name="AutoShape 74"/>
          <p:cNvSpPr/>
          <p:nvPr/>
        </p:nvSpPr>
        <p:spPr>
          <a:xfrm flipV="1">
            <a:off x="137413" y="3169957"/>
            <a:ext cx="11978710" cy="0"/>
          </a:xfrm>
          <a:prstGeom prst="line">
            <a:avLst/>
          </a:prstGeom>
          <a:ln w="19050" cap="flat">
            <a:solidFill>
              <a:srgbClr val="39618E"/>
            </a:solidFill>
            <a:prstDash val="sysDot"/>
            <a:headEnd type="none" w="sm" len="sm"/>
            <a:tailEnd type="none" w="sm" len="sm"/>
          </a:ln>
        </p:spPr>
        <p:txBody>
          <a:bodyPr/>
          <a:lstStyle/>
          <a:p>
            <a:endParaRPr lang="en-US" sz="1200"/>
          </a:p>
        </p:txBody>
      </p:sp>
      <p:sp>
        <p:nvSpPr>
          <p:cNvPr id="75" name="TextBox 75"/>
          <p:cNvSpPr txBox="1"/>
          <p:nvPr/>
        </p:nvSpPr>
        <p:spPr>
          <a:xfrm>
            <a:off x="1539276" y="6242902"/>
            <a:ext cx="7454801" cy="487313"/>
          </a:xfrm>
          <a:prstGeom prst="rect">
            <a:avLst/>
          </a:prstGeom>
        </p:spPr>
        <p:txBody>
          <a:bodyPr lIns="0" tIns="0" rIns="0" bIns="0" rtlCol="0" anchor="t">
            <a:spAutoFit/>
          </a:bodyPr>
          <a:lstStyle/>
          <a:p>
            <a:pPr>
              <a:lnSpc>
                <a:spcPts val="1919"/>
              </a:lnSpc>
              <a:spcBef>
                <a:spcPct val="0"/>
              </a:spcBef>
            </a:pPr>
            <a:r>
              <a:rPr lang="en-US" sz="1600" i="1">
                <a:solidFill>
                  <a:srgbClr val="119303"/>
                </a:solidFill>
                <a:latin typeface="Arial Italics"/>
                <a:ea typeface="Arial Italics"/>
                <a:cs typeface="Arial Italics"/>
                <a:sym typeface="Arial Italics"/>
              </a:rPr>
              <a:t>Phân bổ  tỷ trọng: mỗi KPI có tỷ trọng &gt;= 5% và là bội số của 5%: 5%, 10%, 15%...</a:t>
            </a:r>
          </a:p>
        </p:txBody>
      </p:sp>
      <p:grpSp>
        <p:nvGrpSpPr>
          <p:cNvPr id="76" name="Group 76"/>
          <p:cNvGrpSpPr/>
          <p:nvPr/>
        </p:nvGrpSpPr>
        <p:grpSpPr>
          <a:xfrm>
            <a:off x="1705299" y="3984011"/>
            <a:ext cx="3656889" cy="741387"/>
            <a:chOff x="0" y="0"/>
            <a:chExt cx="1444697" cy="292893"/>
          </a:xfrm>
        </p:grpSpPr>
        <p:sp>
          <p:nvSpPr>
            <p:cNvPr id="77" name="Freeform 77"/>
            <p:cNvSpPr/>
            <p:nvPr/>
          </p:nvSpPr>
          <p:spPr>
            <a:xfrm>
              <a:off x="0" y="0"/>
              <a:ext cx="1444697" cy="292893"/>
            </a:xfrm>
            <a:custGeom>
              <a:avLst/>
              <a:gdLst/>
              <a:ahLst/>
              <a:cxnLst/>
              <a:rect l="l" t="t" r="r" b="b"/>
              <a:pathLst>
                <a:path w="1444697" h="292893">
                  <a:moveTo>
                    <a:pt x="23994" y="0"/>
                  </a:moveTo>
                  <a:lnTo>
                    <a:pt x="1420704" y="0"/>
                  </a:lnTo>
                  <a:cubicBezTo>
                    <a:pt x="1433955" y="0"/>
                    <a:pt x="1444697" y="10742"/>
                    <a:pt x="1444697" y="23994"/>
                  </a:cubicBezTo>
                  <a:lnTo>
                    <a:pt x="1444697" y="268900"/>
                  </a:lnTo>
                  <a:cubicBezTo>
                    <a:pt x="1444697" y="282151"/>
                    <a:pt x="1433955" y="292893"/>
                    <a:pt x="1420704" y="292893"/>
                  </a:cubicBezTo>
                  <a:lnTo>
                    <a:pt x="23994" y="292893"/>
                  </a:lnTo>
                  <a:cubicBezTo>
                    <a:pt x="10742" y="292893"/>
                    <a:pt x="0" y="282151"/>
                    <a:pt x="0" y="268900"/>
                  </a:cubicBezTo>
                  <a:lnTo>
                    <a:pt x="0" y="23994"/>
                  </a:lnTo>
                  <a:cubicBezTo>
                    <a:pt x="0" y="10742"/>
                    <a:pt x="10742" y="0"/>
                    <a:pt x="23994" y="0"/>
                  </a:cubicBezTo>
                  <a:close/>
                </a:path>
              </a:pathLst>
            </a:custGeom>
            <a:solidFill>
              <a:srgbClr val="F9F9F9"/>
            </a:solidFill>
            <a:ln w="9525" cap="sq">
              <a:solidFill>
                <a:srgbClr val="A6A6A6"/>
              </a:solidFill>
              <a:prstDash val="solid"/>
              <a:miter/>
            </a:ln>
          </p:spPr>
          <p:txBody>
            <a:bodyPr/>
            <a:lstStyle/>
            <a:p>
              <a:endParaRPr lang="en-US" sz="1200"/>
            </a:p>
          </p:txBody>
        </p:sp>
        <p:sp>
          <p:nvSpPr>
            <p:cNvPr id="78" name="TextBox 78"/>
            <p:cNvSpPr txBox="1"/>
            <p:nvPr/>
          </p:nvSpPr>
          <p:spPr>
            <a:xfrm>
              <a:off x="0" y="0"/>
              <a:ext cx="1444697" cy="292893"/>
            </a:xfrm>
            <a:prstGeom prst="rect">
              <a:avLst/>
            </a:prstGeom>
          </p:spPr>
          <p:txBody>
            <a:bodyPr lIns="33867" tIns="33867" rIns="33867" bIns="33867" rtlCol="0" anchor="ctr"/>
            <a:lstStyle/>
            <a:p>
              <a:pPr>
                <a:lnSpc>
                  <a:spcPts val="1600"/>
                </a:lnSpc>
              </a:pPr>
              <a:r>
                <a:rPr lang="en-US" sz="1333" b="1" dirty="0">
                  <a:solidFill>
                    <a:srgbClr val="FF3131"/>
                  </a:solidFill>
                  <a:latin typeface="Tahoma Bold"/>
                  <a:ea typeface="Tahoma Bold"/>
                  <a:cs typeface="Tahoma Bold"/>
                  <a:sym typeface="Tahoma Bold"/>
                </a:rPr>
                <a:t>50%</a:t>
              </a:r>
              <a:r>
                <a:rPr lang="en-US" sz="1333" dirty="0">
                  <a:solidFill>
                    <a:srgbClr val="FF3131"/>
                  </a:solidFill>
                  <a:latin typeface="Tahoma"/>
                  <a:ea typeface="Tahoma"/>
                  <a:cs typeface="Tahoma"/>
                  <a:sym typeface="Tahoma"/>
                </a:rPr>
                <a:t> </a:t>
              </a:r>
              <a:r>
                <a:rPr lang="en-US" sz="1333" dirty="0" err="1">
                  <a:solidFill>
                    <a:srgbClr val="3B5272"/>
                  </a:solidFill>
                  <a:latin typeface="Tahoma"/>
                  <a:ea typeface="Tahoma"/>
                  <a:cs typeface="Tahoma"/>
                  <a:sym typeface="Tahoma"/>
                </a:rPr>
                <a:t>phân</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bổ</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cho</a:t>
              </a:r>
              <a:r>
                <a:rPr lang="en-US" sz="1333" dirty="0">
                  <a:solidFill>
                    <a:srgbClr val="3B5272"/>
                  </a:solidFill>
                  <a:latin typeface="Tahoma"/>
                  <a:ea typeface="Tahoma"/>
                  <a:cs typeface="Tahoma"/>
                  <a:sym typeface="Tahoma"/>
                </a:rPr>
                <a:t> </a:t>
              </a:r>
              <a:r>
                <a:rPr lang="en-US" sz="1333" b="1" dirty="0">
                  <a:solidFill>
                    <a:srgbClr val="3B5272"/>
                  </a:solidFill>
                  <a:latin typeface="Tahoma Bold"/>
                  <a:ea typeface="Tahoma Bold"/>
                  <a:cs typeface="Tahoma Bold"/>
                  <a:sym typeface="Tahoma Bold"/>
                </a:rPr>
                <a:t>5 KPI</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chức</a:t>
              </a:r>
              <a:r>
                <a:rPr lang="en-US" sz="1333" dirty="0">
                  <a:solidFill>
                    <a:srgbClr val="3B5272"/>
                  </a:solidFill>
                  <a:latin typeface="Tahoma"/>
                  <a:ea typeface="Tahoma"/>
                  <a:cs typeface="Tahoma"/>
                  <a:sym typeface="Tahoma"/>
                </a:rPr>
                <a:t> </a:t>
              </a:r>
              <a:r>
                <a:rPr lang="en-US" sz="1333" dirty="0" err="1">
                  <a:solidFill>
                    <a:srgbClr val="3B5272"/>
                  </a:solidFill>
                  <a:latin typeface="Tahoma"/>
                  <a:ea typeface="Tahoma"/>
                  <a:cs typeface="Tahoma"/>
                  <a:sym typeface="Tahoma"/>
                </a:rPr>
                <a:t>năng</a:t>
              </a:r>
              <a:endParaRPr lang="en-US" sz="1333" dirty="0">
                <a:solidFill>
                  <a:srgbClr val="3B5272"/>
                </a:solidFill>
                <a:latin typeface="Tahoma"/>
                <a:ea typeface="Tahoma"/>
                <a:cs typeface="Tahoma"/>
                <a:sym typeface="Tahoma"/>
              </a:endParaRPr>
            </a:p>
          </p:txBody>
        </p:sp>
      </p:grpSp>
      <p:grpSp>
        <p:nvGrpSpPr>
          <p:cNvPr id="79" name="Group 79"/>
          <p:cNvGrpSpPr/>
          <p:nvPr/>
        </p:nvGrpSpPr>
        <p:grpSpPr>
          <a:xfrm>
            <a:off x="5377561" y="3984011"/>
            <a:ext cx="3415871" cy="741387"/>
            <a:chOff x="0" y="0"/>
            <a:chExt cx="1349480" cy="292893"/>
          </a:xfrm>
        </p:grpSpPr>
        <p:sp>
          <p:nvSpPr>
            <p:cNvPr id="80" name="Freeform 80"/>
            <p:cNvSpPr/>
            <p:nvPr/>
          </p:nvSpPr>
          <p:spPr>
            <a:xfrm>
              <a:off x="0" y="0"/>
              <a:ext cx="1349480" cy="292893"/>
            </a:xfrm>
            <a:custGeom>
              <a:avLst/>
              <a:gdLst/>
              <a:ahLst/>
              <a:cxnLst/>
              <a:rect l="l" t="t" r="r" b="b"/>
              <a:pathLst>
                <a:path w="1349480" h="292893">
                  <a:moveTo>
                    <a:pt x="25686" y="0"/>
                  </a:moveTo>
                  <a:lnTo>
                    <a:pt x="1323793" y="0"/>
                  </a:lnTo>
                  <a:cubicBezTo>
                    <a:pt x="1330606" y="0"/>
                    <a:pt x="1337139" y="2706"/>
                    <a:pt x="1341956" y="7523"/>
                  </a:cubicBezTo>
                  <a:cubicBezTo>
                    <a:pt x="1346774" y="12341"/>
                    <a:pt x="1349480" y="18874"/>
                    <a:pt x="1349480" y="25686"/>
                  </a:cubicBezTo>
                  <a:lnTo>
                    <a:pt x="1349480" y="267207"/>
                  </a:lnTo>
                  <a:cubicBezTo>
                    <a:pt x="1349480" y="274019"/>
                    <a:pt x="1346774" y="280553"/>
                    <a:pt x="1341956" y="285370"/>
                  </a:cubicBezTo>
                  <a:cubicBezTo>
                    <a:pt x="1337139" y="290187"/>
                    <a:pt x="1330606" y="292893"/>
                    <a:pt x="1323793" y="292893"/>
                  </a:cubicBezTo>
                  <a:lnTo>
                    <a:pt x="25686" y="292893"/>
                  </a:lnTo>
                  <a:cubicBezTo>
                    <a:pt x="18874" y="292893"/>
                    <a:pt x="12341" y="290187"/>
                    <a:pt x="7523" y="285370"/>
                  </a:cubicBezTo>
                  <a:cubicBezTo>
                    <a:pt x="2706" y="280553"/>
                    <a:pt x="0" y="274019"/>
                    <a:pt x="0" y="267207"/>
                  </a:cubicBezTo>
                  <a:lnTo>
                    <a:pt x="0" y="25686"/>
                  </a:lnTo>
                  <a:cubicBezTo>
                    <a:pt x="0" y="18874"/>
                    <a:pt x="2706" y="12341"/>
                    <a:pt x="7523" y="7523"/>
                  </a:cubicBezTo>
                  <a:cubicBezTo>
                    <a:pt x="12341" y="2706"/>
                    <a:pt x="18874" y="0"/>
                    <a:pt x="25686" y="0"/>
                  </a:cubicBezTo>
                  <a:close/>
                </a:path>
              </a:pathLst>
            </a:custGeom>
            <a:solidFill>
              <a:srgbClr val="F9F9F9"/>
            </a:solidFill>
            <a:ln w="9525" cap="sq">
              <a:solidFill>
                <a:srgbClr val="A6A6A6"/>
              </a:solidFill>
              <a:prstDash val="solid"/>
              <a:miter/>
            </a:ln>
          </p:spPr>
          <p:txBody>
            <a:bodyPr/>
            <a:lstStyle/>
            <a:p>
              <a:endParaRPr lang="en-US" sz="1200"/>
            </a:p>
          </p:txBody>
        </p:sp>
        <p:sp>
          <p:nvSpPr>
            <p:cNvPr id="81" name="TextBox 81"/>
            <p:cNvSpPr txBox="1"/>
            <p:nvPr/>
          </p:nvSpPr>
          <p:spPr>
            <a:xfrm>
              <a:off x="0" y="0"/>
              <a:ext cx="1349480" cy="292893"/>
            </a:xfrm>
            <a:prstGeom prst="rect">
              <a:avLst/>
            </a:prstGeom>
          </p:spPr>
          <p:txBody>
            <a:bodyPr lIns="33867" tIns="33867" rIns="33867" bIns="33867" rtlCol="0" anchor="ctr"/>
            <a:lstStyle/>
            <a:p>
              <a:pPr>
                <a:lnSpc>
                  <a:spcPts val="1600"/>
                </a:lnSpc>
              </a:pPr>
              <a:r>
                <a:rPr lang="en-US" sz="1333" b="1">
                  <a:solidFill>
                    <a:srgbClr val="FF3131"/>
                  </a:solidFill>
                  <a:latin typeface="Tahoma Bold"/>
                  <a:ea typeface="Tahoma Bold"/>
                  <a:cs typeface="Tahoma Bold"/>
                  <a:sym typeface="Tahoma Bold"/>
                </a:rPr>
                <a:t>60%</a:t>
              </a:r>
              <a:r>
                <a:rPr lang="en-US" sz="1333">
                  <a:solidFill>
                    <a:srgbClr val="DE3231"/>
                  </a:solidFill>
                  <a:latin typeface="Tahoma"/>
                  <a:ea typeface="Tahoma"/>
                  <a:cs typeface="Tahoma"/>
                  <a:sym typeface="Tahoma"/>
                </a:rPr>
                <a:t> </a:t>
              </a:r>
              <a:r>
                <a:rPr lang="en-US" sz="1333">
                  <a:solidFill>
                    <a:srgbClr val="3B5272"/>
                  </a:solidFill>
                  <a:latin typeface="Tahoma"/>
                  <a:ea typeface="Tahoma"/>
                  <a:cs typeface="Tahoma"/>
                  <a:sym typeface="Tahoma"/>
                </a:rPr>
                <a:t>phân bổ cho </a:t>
              </a:r>
              <a:r>
                <a:rPr lang="en-US" sz="1333" b="1">
                  <a:solidFill>
                    <a:srgbClr val="3B5272"/>
                  </a:solidFill>
                  <a:latin typeface="Tahoma Bold"/>
                  <a:ea typeface="Tahoma Bold"/>
                  <a:cs typeface="Tahoma Bold"/>
                  <a:sym typeface="Tahoma Bold"/>
                </a:rPr>
                <a:t>4 KPI</a:t>
              </a:r>
              <a:r>
                <a:rPr lang="en-US" sz="1333">
                  <a:solidFill>
                    <a:srgbClr val="3B5272"/>
                  </a:solidFill>
                  <a:latin typeface="Tahoma"/>
                  <a:ea typeface="Tahoma"/>
                  <a:cs typeface="Tahoma"/>
                  <a:sym typeface="Tahoma"/>
                </a:rPr>
                <a:t> chức năng</a:t>
              </a:r>
            </a:p>
          </p:txBody>
        </p:sp>
      </p:grpSp>
      <p:grpSp>
        <p:nvGrpSpPr>
          <p:cNvPr id="82" name="Group 82"/>
          <p:cNvGrpSpPr/>
          <p:nvPr/>
        </p:nvGrpSpPr>
        <p:grpSpPr>
          <a:xfrm>
            <a:off x="8830529" y="3984011"/>
            <a:ext cx="3281500" cy="741387"/>
            <a:chOff x="0" y="0"/>
            <a:chExt cx="1296395" cy="292893"/>
          </a:xfrm>
        </p:grpSpPr>
        <p:sp>
          <p:nvSpPr>
            <p:cNvPr id="83" name="Freeform 83"/>
            <p:cNvSpPr/>
            <p:nvPr/>
          </p:nvSpPr>
          <p:spPr>
            <a:xfrm>
              <a:off x="0" y="0"/>
              <a:ext cx="1296395" cy="292893"/>
            </a:xfrm>
            <a:custGeom>
              <a:avLst/>
              <a:gdLst/>
              <a:ahLst/>
              <a:cxnLst/>
              <a:rect l="l" t="t" r="r" b="b"/>
              <a:pathLst>
                <a:path w="1296395" h="292893">
                  <a:moveTo>
                    <a:pt x="26738" y="0"/>
                  </a:moveTo>
                  <a:lnTo>
                    <a:pt x="1269657" y="0"/>
                  </a:lnTo>
                  <a:cubicBezTo>
                    <a:pt x="1284424" y="0"/>
                    <a:pt x="1296395" y="11971"/>
                    <a:pt x="1296395" y="26738"/>
                  </a:cubicBezTo>
                  <a:lnTo>
                    <a:pt x="1296395" y="266155"/>
                  </a:lnTo>
                  <a:cubicBezTo>
                    <a:pt x="1296395" y="280922"/>
                    <a:pt x="1284424" y="292893"/>
                    <a:pt x="1269657" y="292893"/>
                  </a:cubicBezTo>
                  <a:lnTo>
                    <a:pt x="26738" y="292893"/>
                  </a:lnTo>
                  <a:cubicBezTo>
                    <a:pt x="11971" y="292893"/>
                    <a:pt x="0" y="280922"/>
                    <a:pt x="0" y="266155"/>
                  </a:cubicBezTo>
                  <a:lnTo>
                    <a:pt x="0" y="26738"/>
                  </a:lnTo>
                  <a:cubicBezTo>
                    <a:pt x="0" y="11971"/>
                    <a:pt x="11971" y="0"/>
                    <a:pt x="26738" y="0"/>
                  </a:cubicBezTo>
                  <a:close/>
                </a:path>
              </a:pathLst>
            </a:custGeom>
            <a:solidFill>
              <a:srgbClr val="F9F9F9"/>
            </a:solidFill>
            <a:ln w="9525" cap="sq">
              <a:solidFill>
                <a:srgbClr val="A6A6A6"/>
              </a:solidFill>
              <a:prstDash val="solid"/>
              <a:miter/>
            </a:ln>
          </p:spPr>
          <p:txBody>
            <a:bodyPr/>
            <a:lstStyle/>
            <a:p>
              <a:endParaRPr lang="en-US" sz="1200"/>
            </a:p>
          </p:txBody>
        </p:sp>
        <p:sp>
          <p:nvSpPr>
            <p:cNvPr id="84" name="TextBox 84"/>
            <p:cNvSpPr txBox="1"/>
            <p:nvPr/>
          </p:nvSpPr>
          <p:spPr>
            <a:xfrm>
              <a:off x="0" y="0"/>
              <a:ext cx="1296395" cy="292893"/>
            </a:xfrm>
            <a:prstGeom prst="rect">
              <a:avLst/>
            </a:prstGeom>
          </p:spPr>
          <p:txBody>
            <a:bodyPr lIns="33867" tIns="33867" rIns="33867" bIns="33867" rtlCol="0" anchor="ctr"/>
            <a:lstStyle/>
            <a:p>
              <a:pPr>
                <a:lnSpc>
                  <a:spcPts val="1600"/>
                </a:lnSpc>
              </a:pPr>
              <a:r>
                <a:rPr lang="en-US" sz="1333" b="1">
                  <a:solidFill>
                    <a:srgbClr val="FF3131"/>
                  </a:solidFill>
                  <a:latin typeface="Tahoma Bold"/>
                  <a:ea typeface="Tahoma Bold"/>
                  <a:cs typeface="Tahoma Bold"/>
                  <a:sym typeface="Tahoma Bold"/>
                </a:rPr>
                <a:t>70%</a:t>
              </a:r>
              <a:r>
                <a:rPr lang="en-US" sz="1333">
                  <a:solidFill>
                    <a:srgbClr val="3B5272"/>
                  </a:solidFill>
                  <a:latin typeface="Tahoma"/>
                  <a:ea typeface="Tahoma"/>
                  <a:cs typeface="Tahoma"/>
                  <a:sym typeface="Tahoma"/>
                </a:rPr>
                <a:t> phân bổ cho </a:t>
              </a:r>
              <a:r>
                <a:rPr lang="en-US" sz="1333" b="1">
                  <a:solidFill>
                    <a:srgbClr val="3B5272"/>
                  </a:solidFill>
                  <a:latin typeface="Tahoma Bold"/>
                  <a:ea typeface="Tahoma Bold"/>
                  <a:cs typeface="Tahoma Bold"/>
                  <a:sym typeface="Tahoma Bold"/>
                </a:rPr>
                <a:t>4 KPI</a:t>
              </a:r>
              <a:r>
                <a:rPr lang="en-US" sz="1333">
                  <a:solidFill>
                    <a:srgbClr val="3B5272"/>
                  </a:solidFill>
                  <a:latin typeface="Tahoma"/>
                  <a:ea typeface="Tahoma"/>
                  <a:cs typeface="Tahoma"/>
                  <a:sym typeface="Tahoma"/>
                </a:rPr>
                <a:t> theo MTCV</a:t>
              </a:r>
            </a:p>
          </p:txBody>
        </p:sp>
      </p:grpSp>
      <p:grpSp>
        <p:nvGrpSpPr>
          <p:cNvPr id="85" name="Group 85"/>
          <p:cNvGrpSpPr/>
          <p:nvPr/>
        </p:nvGrpSpPr>
        <p:grpSpPr>
          <a:xfrm>
            <a:off x="116942" y="3984011"/>
            <a:ext cx="1550256" cy="741387"/>
            <a:chOff x="0" y="0"/>
            <a:chExt cx="612447" cy="292893"/>
          </a:xfrm>
        </p:grpSpPr>
        <p:sp>
          <p:nvSpPr>
            <p:cNvPr id="86" name="Freeform 86"/>
            <p:cNvSpPr/>
            <p:nvPr/>
          </p:nvSpPr>
          <p:spPr>
            <a:xfrm>
              <a:off x="0" y="0"/>
              <a:ext cx="612447" cy="292893"/>
            </a:xfrm>
            <a:custGeom>
              <a:avLst/>
              <a:gdLst/>
              <a:ahLst/>
              <a:cxnLst/>
              <a:rect l="l" t="t" r="r" b="b"/>
              <a:pathLst>
                <a:path w="612447" h="292893">
                  <a:moveTo>
                    <a:pt x="56598" y="0"/>
                  </a:moveTo>
                  <a:lnTo>
                    <a:pt x="555849" y="0"/>
                  </a:lnTo>
                  <a:cubicBezTo>
                    <a:pt x="570859" y="0"/>
                    <a:pt x="585255" y="5963"/>
                    <a:pt x="595870" y="16577"/>
                  </a:cubicBezTo>
                  <a:cubicBezTo>
                    <a:pt x="606484" y="27191"/>
                    <a:pt x="612447" y="41587"/>
                    <a:pt x="612447" y="56598"/>
                  </a:cubicBezTo>
                  <a:lnTo>
                    <a:pt x="612447" y="236295"/>
                  </a:lnTo>
                  <a:cubicBezTo>
                    <a:pt x="612447" y="267553"/>
                    <a:pt x="587107" y="292893"/>
                    <a:pt x="555849" y="292893"/>
                  </a:cubicBezTo>
                  <a:lnTo>
                    <a:pt x="56598" y="292893"/>
                  </a:lnTo>
                  <a:cubicBezTo>
                    <a:pt x="25340" y="292893"/>
                    <a:pt x="0" y="267553"/>
                    <a:pt x="0" y="236295"/>
                  </a:cubicBezTo>
                  <a:lnTo>
                    <a:pt x="0" y="56598"/>
                  </a:lnTo>
                  <a:cubicBezTo>
                    <a:pt x="0" y="25340"/>
                    <a:pt x="25340" y="0"/>
                    <a:pt x="56598" y="0"/>
                  </a:cubicBezTo>
                  <a:close/>
                </a:path>
              </a:pathLst>
            </a:custGeom>
            <a:solidFill>
              <a:srgbClr val="A6A6A6"/>
            </a:solidFill>
            <a:ln w="9525" cap="sq">
              <a:solidFill>
                <a:srgbClr val="C6D8FB"/>
              </a:solidFill>
              <a:prstDash val="solid"/>
              <a:miter/>
            </a:ln>
          </p:spPr>
          <p:txBody>
            <a:bodyPr/>
            <a:lstStyle/>
            <a:p>
              <a:endParaRPr lang="en-US" sz="1200"/>
            </a:p>
          </p:txBody>
        </p:sp>
        <p:sp>
          <p:nvSpPr>
            <p:cNvPr id="87" name="TextBox 87"/>
            <p:cNvSpPr txBox="1"/>
            <p:nvPr/>
          </p:nvSpPr>
          <p:spPr>
            <a:xfrm>
              <a:off x="0" y="0"/>
              <a:ext cx="612447" cy="292893"/>
            </a:xfrm>
            <a:prstGeom prst="rect">
              <a:avLst/>
            </a:prstGeom>
          </p:spPr>
          <p:txBody>
            <a:bodyPr lIns="33867" tIns="33867" rIns="33867" bIns="33867" rtlCol="0" anchor="ctr"/>
            <a:lstStyle/>
            <a:p>
              <a:pPr algn="ctr">
                <a:lnSpc>
                  <a:spcPts val="1600"/>
                </a:lnSpc>
              </a:pPr>
              <a:r>
                <a:rPr lang="en-US" sz="1333" b="1">
                  <a:solidFill>
                    <a:srgbClr val="FFFFFF"/>
                  </a:solidFill>
                  <a:latin typeface="Tahoma Bold"/>
                  <a:ea typeface="Tahoma Bold"/>
                  <a:cs typeface="Tahoma Bold"/>
                  <a:sym typeface="Tahoma Bold"/>
                </a:rPr>
                <a:t>Chức năng</a:t>
              </a:r>
            </a:p>
          </p:txBody>
        </p:sp>
      </p:grpSp>
      <p:sp>
        <p:nvSpPr>
          <p:cNvPr id="4" name="Rectangle 3">
            <a:extLst>
              <a:ext uri="{FF2B5EF4-FFF2-40B4-BE49-F238E27FC236}">
                <a16:creationId xmlns:a16="http://schemas.microsoft.com/office/drawing/2014/main" id="{785C9C9D-9588-9EEF-7EFA-8368F1DBB596}"/>
              </a:ext>
            </a:extLst>
          </p:cNvPr>
          <p:cNvSpPr/>
          <p:nvPr/>
        </p:nvSpPr>
        <p:spPr>
          <a:xfrm>
            <a:off x="1706719" y="966599"/>
            <a:ext cx="3662236" cy="5205602"/>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B05B5BF8-3D70-A1A7-B8EE-206B70D9C6C2}"/>
              </a:ext>
            </a:extLst>
          </p:cNvPr>
          <p:cNvSpPr>
            <a:spLocks noGrp="1"/>
          </p:cNvSpPr>
          <p:nvPr>
            <p:ph type="sldNum" sz="quarter" idx="12"/>
          </p:nvPr>
        </p:nvSpPr>
        <p:spPr/>
        <p:txBody>
          <a:bodyPr/>
          <a:lstStyle/>
          <a:p>
            <a:fld id="{06D5B5F9-488F-4DD3-845F-86795626F9DE}" type="slidenum">
              <a:rPr lang="en-US" smtClean="0"/>
              <a:t>3</a:t>
            </a:fld>
            <a:endParaRPr lang="en-US"/>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06102-4CEA-7F84-1E4D-1FBB5336C6D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E25EEB8-559D-DC42-D41E-FCFE205D398A}"/>
              </a:ext>
            </a:extLst>
          </p:cNvPr>
          <p:cNvGraphicFramePr>
            <a:graphicFrameLocks noGrp="1"/>
          </p:cNvGraphicFramePr>
          <p:nvPr>
            <p:extLst>
              <p:ext uri="{D42A27DB-BD31-4B8C-83A1-F6EECF244321}">
                <p14:modId xmlns:p14="http://schemas.microsoft.com/office/powerpoint/2010/main" val="1666849823"/>
              </p:ext>
            </p:extLst>
          </p:nvPr>
        </p:nvGraphicFramePr>
        <p:xfrm>
          <a:off x="282613" y="848337"/>
          <a:ext cx="11674031" cy="5624001"/>
        </p:xfrm>
        <a:graphic>
          <a:graphicData uri="http://schemas.openxmlformats.org/drawingml/2006/table">
            <a:tbl>
              <a:tblPr/>
              <a:tblGrid>
                <a:gridCol w="590734">
                  <a:extLst>
                    <a:ext uri="{9D8B030D-6E8A-4147-A177-3AD203B41FA5}">
                      <a16:colId xmlns:a16="http://schemas.microsoft.com/office/drawing/2014/main" val="579770684"/>
                    </a:ext>
                  </a:extLst>
                </a:gridCol>
                <a:gridCol w="2278547">
                  <a:extLst>
                    <a:ext uri="{9D8B030D-6E8A-4147-A177-3AD203B41FA5}">
                      <a16:colId xmlns:a16="http://schemas.microsoft.com/office/drawing/2014/main" val="864320135"/>
                    </a:ext>
                  </a:extLst>
                </a:gridCol>
                <a:gridCol w="637618">
                  <a:extLst>
                    <a:ext uri="{9D8B030D-6E8A-4147-A177-3AD203B41FA5}">
                      <a16:colId xmlns:a16="http://schemas.microsoft.com/office/drawing/2014/main" val="3934543624"/>
                    </a:ext>
                  </a:extLst>
                </a:gridCol>
                <a:gridCol w="637618">
                  <a:extLst>
                    <a:ext uri="{9D8B030D-6E8A-4147-A177-3AD203B41FA5}">
                      <a16:colId xmlns:a16="http://schemas.microsoft.com/office/drawing/2014/main" val="819757976"/>
                    </a:ext>
                  </a:extLst>
                </a:gridCol>
                <a:gridCol w="637618">
                  <a:extLst>
                    <a:ext uri="{9D8B030D-6E8A-4147-A177-3AD203B41FA5}">
                      <a16:colId xmlns:a16="http://schemas.microsoft.com/office/drawing/2014/main" val="190487244"/>
                    </a:ext>
                  </a:extLst>
                </a:gridCol>
                <a:gridCol w="637618">
                  <a:extLst>
                    <a:ext uri="{9D8B030D-6E8A-4147-A177-3AD203B41FA5}">
                      <a16:colId xmlns:a16="http://schemas.microsoft.com/office/drawing/2014/main" val="325237224"/>
                    </a:ext>
                  </a:extLst>
                </a:gridCol>
                <a:gridCol w="872037">
                  <a:extLst>
                    <a:ext uri="{9D8B030D-6E8A-4147-A177-3AD203B41FA5}">
                      <a16:colId xmlns:a16="http://schemas.microsoft.com/office/drawing/2014/main" val="3126626879"/>
                    </a:ext>
                  </a:extLst>
                </a:gridCol>
                <a:gridCol w="872037">
                  <a:extLst>
                    <a:ext uri="{9D8B030D-6E8A-4147-A177-3AD203B41FA5}">
                      <a16:colId xmlns:a16="http://schemas.microsoft.com/office/drawing/2014/main" val="2724392448"/>
                    </a:ext>
                  </a:extLst>
                </a:gridCol>
                <a:gridCol w="684502">
                  <a:extLst>
                    <a:ext uri="{9D8B030D-6E8A-4147-A177-3AD203B41FA5}">
                      <a16:colId xmlns:a16="http://schemas.microsoft.com/office/drawing/2014/main" val="436681820"/>
                    </a:ext>
                  </a:extLst>
                </a:gridCol>
                <a:gridCol w="684502">
                  <a:extLst>
                    <a:ext uri="{9D8B030D-6E8A-4147-A177-3AD203B41FA5}">
                      <a16:colId xmlns:a16="http://schemas.microsoft.com/office/drawing/2014/main" val="521938368"/>
                    </a:ext>
                  </a:extLst>
                </a:gridCol>
                <a:gridCol w="314120">
                  <a:extLst>
                    <a:ext uri="{9D8B030D-6E8A-4147-A177-3AD203B41FA5}">
                      <a16:colId xmlns:a16="http://schemas.microsoft.com/office/drawing/2014/main" val="3771291728"/>
                    </a:ext>
                  </a:extLst>
                </a:gridCol>
                <a:gridCol w="314120">
                  <a:extLst>
                    <a:ext uri="{9D8B030D-6E8A-4147-A177-3AD203B41FA5}">
                      <a16:colId xmlns:a16="http://schemas.microsoft.com/office/drawing/2014/main" val="4211330377"/>
                    </a:ext>
                  </a:extLst>
                </a:gridCol>
                <a:gridCol w="314120">
                  <a:extLst>
                    <a:ext uri="{9D8B030D-6E8A-4147-A177-3AD203B41FA5}">
                      <a16:colId xmlns:a16="http://schemas.microsoft.com/office/drawing/2014/main" val="3255237653"/>
                    </a:ext>
                  </a:extLst>
                </a:gridCol>
                <a:gridCol w="314120">
                  <a:extLst>
                    <a:ext uri="{9D8B030D-6E8A-4147-A177-3AD203B41FA5}">
                      <a16:colId xmlns:a16="http://schemas.microsoft.com/office/drawing/2014/main" val="2080548077"/>
                    </a:ext>
                  </a:extLst>
                </a:gridCol>
                <a:gridCol w="314120">
                  <a:extLst>
                    <a:ext uri="{9D8B030D-6E8A-4147-A177-3AD203B41FA5}">
                      <a16:colId xmlns:a16="http://schemas.microsoft.com/office/drawing/2014/main" val="2685472169"/>
                    </a:ext>
                  </a:extLst>
                </a:gridCol>
                <a:gridCol w="314120">
                  <a:extLst>
                    <a:ext uri="{9D8B030D-6E8A-4147-A177-3AD203B41FA5}">
                      <a16:colId xmlns:a16="http://schemas.microsoft.com/office/drawing/2014/main" val="1489426594"/>
                    </a:ext>
                  </a:extLst>
                </a:gridCol>
                <a:gridCol w="314120">
                  <a:extLst>
                    <a:ext uri="{9D8B030D-6E8A-4147-A177-3AD203B41FA5}">
                      <a16:colId xmlns:a16="http://schemas.microsoft.com/office/drawing/2014/main" val="2559156139"/>
                    </a:ext>
                  </a:extLst>
                </a:gridCol>
                <a:gridCol w="314120">
                  <a:extLst>
                    <a:ext uri="{9D8B030D-6E8A-4147-A177-3AD203B41FA5}">
                      <a16:colId xmlns:a16="http://schemas.microsoft.com/office/drawing/2014/main" val="2017754979"/>
                    </a:ext>
                  </a:extLst>
                </a:gridCol>
                <a:gridCol w="314120">
                  <a:extLst>
                    <a:ext uri="{9D8B030D-6E8A-4147-A177-3AD203B41FA5}">
                      <a16:colId xmlns:a16="http://schemas.microsoft.com/office/drawing/2014/main" val="1559707025"/>
                    </a:ext>
                  </a:extLst>
                </a:gridCol>
                <a:gridCol w="314120">
                  <a:extLst>
                    <a:ext uri="{9D8B030D-6E8A-4147-A177-3AD203B41FA5}">
                      <a16:colId xmlns:a16="http://schemas.microsoft.com/office/drawing/2014/main" val="2513241033"/>
                    </a:ext>
                  </a:extLst>
                </a:gridCol>
              </a:tblGrid>
              <a:tr h="205808">
                <a:tc rowSpan="2">
                  <a:txBody>
                    <a:bodyPr/>
                    <a:lstStyle/>
                    <a:p>
                      <a:pPr algn="ctr" rtl="0" fontAlgn="ctr">
                        <a:buNone/>
                      </a:pPr>
                      <a:r>
                        <a:rPr lang="en-US" sz="1000" b="1" i="0" u="none" strike="noStrike">
                          <a:solidFill>
                            <a:srgbClr val="FFFFFF"/>
                          </a:solidFill>
                          <a:effectLst/>
                          <a:latin typeface="Times New Roman" panose="02020603050405020304" pitchFamily="18" charset="0"/>
                        </a:rPr>
                        <a:t>STT</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rowSpan="2">
                  <a:txBody>
                    <a:bodyPr/>
                    <a:lstStyle/>
                    <a:p>
                      <a:pPr algn="ctr" rtl="0" fontAlgn="ctr">
                        <a:buNone/>
                      </a:pPr>
                      <a:r>
                        <a:rPr lang="en-US" sz="1000" b="1" i="0" u="none" strike="noStrike">
                          <a:solidFill>
                            <a:srgbClr val="FFFFFF"/>
                          </a:solidFill>
                          <a:effectLst/>
                          <a:latin typeface="Times New Roman" panose="02020603050405020304" pitchFamily="18" charset="0"/>
                        </a:rPr>
                        <a:t>KPI</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vi-VN" sz="1000" b="1" i="0" u="none" strike="noStrike">
                          <a:solidFill>
                            <a:srgbClr val="FFFFFF"/>
                          </a:solidFill>
                          <a:effectLst/>
                          <a:latin typeface="Times New Roman" panose="02020603050405020304" pitchFamily="18" charset="0"/>
                        </a:rPr>
                        <a:t>Đơn vị</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2024</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2025</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C3339A"/>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2025</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C65911"/>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2026</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Đề xuất KPI</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Tỉ trọng</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Tỉ trọng</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gridSpan="10">
                  <a:txBody>
                    <a:bodyPr/>
                    <a:lstStyle/>
                    <a:p>
                      <a:pPr algn="ctr" fontAlgn="ctr">
                        <a:buNone/>
                      </a:pPr>
                      <a:r>
                        <a:rPr lang="en-US" sz="1000" b="1" i="0" u="none" strike="noStrike">
                          <a:solidFill>
                            <a:srgbClr val="000000"/>
                          </a:solidFill>
                          <a:effectLst/>
                          <a:latin typeface="Times New Roman" panose="02020603050405020304" pitchFamily="18" charset="0"/>
                        </a:rPr>
                        <a:t>LIÊN QUAN PHÒNG BAN CHỨC NĂNG</a:t>
                      </a:r>
                    </a:p>
                  </a:txBody>
                  <a:tcPr marL="3875" marR="3875" marT="3875" marB="0" anchor="ctr">
                    <a:lnL w="6350" cap="flat" cmpd="sng" algn="ctr">
                      <a:solidFill>
                        <a:srgbClr val="9E9E9E"/>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8CBA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38629002"/>
                  </a:ext>
                </a:extLst>
              </a:tr>
              <a:tr h="285178">
                <a:tc vMerge="1">
                  <a:txBody>
                    <a:bodyPr/>
                    <a:lstStyle/>
                    <a:p>
                      <a:endParaRPr lang="en-US"/>
                    </a:p>
                  </a:txBody>
                  <a:tcPr/>
                </a:tc>
                <a:tc vMerge="1">
                  <a:txBody>
                    <a:bodyPr/>
                    <a:lstStyle/>
                    <a:p>
                      <a:endParaRPr lang="en-US"/>
                    </a:p>
                  </a:txBody>
                  <a:tcPr/>
                </a:tc>
                <a:tc>
                  <a:txBody>
                    <a:bodyPr/>
                    <a:lstStyle/>
                    <a:p>
                      <a:pPr algn="ctr" rtl="0" fontAlgn="ctr">
                        <a:buNone/>
                      </a:pPr>
                      <a:r>
                        <a:rPr lang="en-US" sz="1000" b="1" i="0" u="none" strike="noStrike">
                          <a:solidFill>
                            <a:srgbClr val="FFFFFF"/>
                          </a:solidFill>
                          <a:effectLst/>
                          <a:latin typeface="Times New Roman" panose="02020603050405020304" pitchFamily="18" charset="0"/>
                        </a:rPr>
                        <a:t>tính</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(Thực tế)</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(Kế hoạch)</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3339A"/>
                    </a:solidFill>
                  </a:tcPr>
                </a:tc>
                <a:tc>
                  <a:txBody>
                    <a:bodyPr/>
                    <a:lstStyle/>
                    <a:p>
                      <a:pPr algn="ctr" rtl="0" fontAlgn="ctr">
                        <a:buNone/>
                      </a:pPr>
                      <a:r>
                        <a:rPr lang="vi-VN" sz="1000" b="0" i="0" u="none" strike="noStrike">
                          <a:solidFill>
                            <a:srgbClr val="FFFFFF"/>
                          </a:solidFill>
                          <a:effectLst/>
                          <a:latin typeface="Times New Roman" panose="02020603050405020304" pitchFamily="18" charset="0"/>
                        </a:rPr>
                        <a:t>(ước 8+4)</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65911"/>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(Kế hoạch)</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2026</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2025</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2026</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fontAlgn="ctr">
                        <a:buNone/>
                      </a:pPr>
                      <a:r>
                        <a:rPr lang="en-US" sz="1000" b="1" i="0" u="none" strike="noStrike">
                          <a:solidFill>
                            <a:srgbClr val="000000"/>
                          </a:solidFill>
                          <a:effectLst/>
                          <a:latin typeface="Calibri" panose="020F0502020204030204" pitchFamily="34" charset="0"/>
                        </a:rPr>
                        <a:t>SX</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KT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QC</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vi-VN" sz="1000" b="1" i="0" u="none" strike="noStrike">
                          <a:solidFill>
                            <a:srgbClr val="000000"/>
                          </a:solidFill>
                          <a:effectLst/>
                          <a:latin typeface="Calibri" panose="020F0502020204030204" pitchFamily="34" charset="0"/>
                        </a:rPr>
                        <a:t>CƯ</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KD</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HCNS</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KTOAN</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TRẠM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CL CƯ</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R&amp;D</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701218517"/>
                  </a:ext>
                </a:extLst>
              </a:tr>
              <a:tr h="261023">
                <a:tc>
                  <a:txBody>
                    <a:bodyPr/>
                    <a:lstStyle/>
                    <a:p>
                      <a:pPr algn="ctr" rtl="0" fontAlgn="ctr">
                        <a:buNone/>
                      </a:pPr>
                      <a:r>
                        <a:rPr lang="en-US" sz="1200" b="0" i="0" u="none" strike="noStrike">
                          <a:solidFill>
                            <a:srgbClr val="000000"/>
                          </a:solidFill>
                          <a:effectLst/>
                          <a:latin typeface="Times New Roman" panose="02020603050405020304" pitchFamily="18" charset="0"/>
                        </a:rPr>
                        <a:t>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rtl="0" fontAlgn="ctr">
                        <a:buNone/>
                      </a:pPr>
                      <a:r>
                        <a:rPr lang="en-US" sz="1200" b="0" i="0" u="none" strike="noStrike">
                          <a:solidFill>
                            <a:srgbClr val="000000"/>
                          </a:solidFill>
                          <a:effectLst/>
                          <a:latin typeface="Times New Roman" panose="02020603050405020304" pitchFamily="18" charset="0"/>
                        </a:rPr>
                        <a:t>Lợi nhuận sau thuế (LNST)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000" b="0" i="0" u="none" strike="noStrike">
                          <a:solidFill>
                            <a:srgbClr val="000000"/>
                          </a:solidFill>
                          <a:effectLst/>
                          <a:latin typeface="Times New Roman" panose="02020603050405020304" pitchFamily="18" charset="0"/>
                        </a:rPr>
                        <a:t>Tỷ VND</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61.4</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C00000"/>
                          </a:solidFill>
                          <a:effectLst/>
                          <a:latin typeface="Times New Roman" panose="02020603050405020304" pitchFamily="18" charset="0"/>
                        </a:rPr>
                        <a:t>151.6</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36.3</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40.0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60%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30%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20%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00527801"/>
                  </a:ext>
                </a:extLst>
              </a:tr>
              <a:tr h="376476">
                <a:tc>
                  <a:txBody>
                    <a:bodyPr/>
                    <a:lstStyle/>
                    <a:p>
                      <a:pPr algn="ctr" rtl="0" fontAlgn="ctr">
                        <a:buNone/>
                      </a:pPr>
                      <a:r>
                        <a:rPr lang="en-US" sz="12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buNone/>
                      </a:pPr>
                      <a:r>
                        <a:rPr lang="en-US" sz="1200" b="0" i="0" u="none" strike="noStrike">
                          <a:solidFill>
                            <a:srgbClr val="000000"/>
                          </a:solidFill>
                          <a:effectLst/>
                          <a:latin typeface="Times New Roman" panose="02020603050405020304" pitchFamily="18" charset="0"/>
                        </a:rPr>
                        <a:t>Doanh Thu Thuần (DTT)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Tỷ VND</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1,191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C00000"/>
                          </a:solidFill>
                          <a:effectLst/>
                          <a:latin typeface="Times New Roman" panose="02020603050405020304" pitchFamily="18" charset="0"/>
                        </a:rPr>
                        <a:t>2,000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1,542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1,700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60%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15%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49762924"/>
                  </a:ext>
                </a:extLst>
              </a:tr>
              <a:tr h="376476">
                <a:tc>
                  <a:txBody>
                    <a:bodyPr/>
                    <a:lstStyle/>
                    <a:p>
                      <a:pPr algn="ctr" rtl="0" fontAlgn="ctr">
                        <a:buNone/>
                      </a:pPr>
                      <a:r>
                        <a:rPr lang="en-US" sz="1200" b="0" i="0" u="none" strike="noStrike">
                          <a:solidFill>
                            <a:srgbClr val="000000"/>
                          </a:solidFill>
                          <a:effectLst/>
                          <a:latin typeface="Times New Roman" panose="02020603050405020304" pitchFamily="18" charset="0"/>
                        </a:rPr>
                        <a:t>3</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200" b="0" i="0" u="none" strike="noStrike">
                          <a:solidFill>
                            <a:srgbClr val="000000"/>
                          </a:solidFill>
                          <a:effectLst/>
                          <a:latin typeface="Times New Roman" panose="02020603050405020304" pitchFamily="18" charset="0"/>
                        </a:rPr>
                        <a:t>Hiệu suất sử dụng máy tạo hạt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67.0%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78.0%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65.0%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b="1" dirty="0">
                          <a:solidFill>
                            <a:srgbClr val="C82613"/>
                          </a:solidFill>
                          <a:effectLst/>
                          <a:latin typeface="Times" panose="02020603050405020304" pitchFamily="18" charset="0"/>
                          <a:ea typeface="Times New Roman" panose="02020603050405020304" pitchFamily="18" charset="0"/>
                          <a:cs typeface="Aptos" panose="020B0004020202020204" pitchFamily="34" charset="0"/>
                        </a:rPr>
                        <a:t>75.0%</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60%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15%</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15%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32857171"/>
                  </a:ext>
                </a:extLst>
              </a:tr>
              <a:tr h="261023">
                <a:tc>
                  <a:txBody>
                    <a:bodyPr/>
                    <a:lstStyle/>
                    <a:p>
                      <a:pPr algn="ctr" rtl="0" fontAlgn="ctr">
                        <a:buNone/>
                      </a:pPr>
                      <a:r>
                        <a:rPr lang="en-US" sz="1200" b="0" i="0" u="none" strike="noStrike">
                          <a:solidFill>
                            <a:srgbClr val="000000"/>
                          </a:solidFill>
                          <a:effectLst/>
                          <a:latin typeface="Times New Roman" panose="02020603050405020304" pitchFamily="18" charset="0"/>
                        </a:rPr>
                        <a:t>4</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Giá trị cải tiến, tiết kiệm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Tỷ VND</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36.3</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50.0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50.7</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b="1">
                          <a:solidFill>
                            <a:srgbClr val="C82613"/>
                          </a:solidFill>
                          <a:effectLst/>
                          <a:latin typeface="Times" panose="02020603050405020304" pitchFamily="18" charset="0"/>
                          <a:ea typeface="Times New Roman" panose="02020603050405020304" pitchFamily="18" charset="0"/>
                          <a:cs typeface="Aptos" panose="020B0004020202020204" pitchFamily="34" charset="0"/>
                        </a:rPr>
                        <a:t>55.0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60%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129722457"/>
                  </a:ext>
                </a:extLst>
              </a:tr>
              <a:tr h="371457">
                <a:tc>
                  <a:txBody>
                    <a:bodyPr/>
                    <a:lstStyle/>
                    <a:p>
                      <a:pPr algn="ctr" rtl="0" fontAlgn="ctr">
                        <a:buNone/>
                      </a:pPr>
                      <a:r>
                        <a:rPr lang="en-US" sz="1200" b="0" i="0" u="none" strike="noStrike">
                          <a:solidFill>
                            <a:srgbClr val="000000"/>
                          </a:solidFill>
                          <a:effectLst/>
                          <a:latin typeface="Times New Roman" panose="02020603050405020304" pitchFamily="18" charset="0"/>
                        </a:rPr>
                        <a:t>5</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Số ngày tồn kho bình quân (thành phẩm)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Số ngày</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90.0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75.0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85.4</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75.0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KPI TGĐ 10%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10%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08908803"/>
                  </a:ext>
                </a:extLst>
              </a:tr>
              <a:tr h="341498">
                <a:tc>
                  <a:txBody>
                    <a:bodyPr/>
                    <a:lstStyle/>
                    <a:p>
                      <a:pPr algn="ctr" rtl="0" fontAlgn="ctr">
                        <a:buNone/>
                      </a:pPr>
                      <a:r>
                        <a:rPr lang="en-US" sz="1200" b="0" i="0" u="none" strike="noStrike">
                          <a:solidFill>
                            <a:srgbClr val="000000"/>
                          </a:solidFill>
                          <a:effectLst/>
                          <a:latin typeface="Times New Roman" panose="02020603050405020304" pitchFamily="18" charset="0"/>
                        </a:rPr>
                        <a:t>6</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An toàn lao động và phòng chống cháy nổ</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vi-VN" sz="1000" b="0" i="0" u="none" strike="noStrike">
                          <a:solidFill>
                            <a:srgbClr val="000000"/>
                          </a:solidFill>
                          <a:effectLst/>
                          <a:latin typeface="Times New Roman" panose="02020603050405020304" pitchFamily="18" charset="0"/>
                        </a:rPr>
                        <a:t>Số lượng</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KPI HOLD 10%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27973258"/>
                  </a:ext>
                </a:extLst>
              </a:tr>
              <a:tr h="346359">
                <a:tc>
                  <a:txBody>
                    <a:bodyPr/>
                    <a:lstStyle/>
                    <a:p>
                      <a:pPr algn="ctr" rtl="0" fontAlgn="ctr">
                        <a:buNone/>
                      </a:pPr>
                      <a:r>
                        <a:rPr lang="en-US" sz="1200" b="0" i="0" u="none" strike="noStrike">
                          <a:solidFill>
                            <a:srgbClr val="000000"/>
                          </a:solidFill>
                          <a:effectLst/>
                          <a:latin typeface="Times New Roman" panose="02020603050405020304" pitchFamily="18" charset="0"/>
                        </a:rPr>
                        <a:t>7</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vi-VN" sz="1200" b="0" i="0" u="none" strike="noStrike">
                          <a:solidFill>
                            <a:srgbClr val="000000"/>
                          </a:solidFill>
                          <a:effectLst/>
                          <a:latin typeface="Times New Roman" panose="02020603050405020304" pitchFamily="18" charset="0"/>
                        </a:rPr>
                        <a:t>Sản lượng mua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Tấn</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48,741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62,000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50,656</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57,500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20% CM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10%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10%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548049832"/>
                  </a:ext>
                </a:extLst>
              </a:tr>
              <a:tr h="261023">
                <a:tc>
                  <a:txBody>
                    <a:bodyPr/>
                    <a:lstStyle/>
                    <a:p>
                      <a:pPr algn="ctr" rtl="0" fontAlgn="ctr">
                        <a:buNone/>
                      </a:pPr>
                      <a:r>
                        <a:rPr lang="en-US" sz="1200" b="0" i="0" u="none" strike="noStrike">
                          <a:solidFill>
                            <a:srgbClr val="000000"/>
                          </a:solidFill>
                          <a:effectLst/>
                          <a:latin typeface="Times New Roman" panose="02020603050405020304" pitchFamily="18" charset="0"/>
                        </a:rPr>
                        <a:t>8</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Giá thành sản phẩm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USD/tấn</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NA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NA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1,227</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b="1">
                          <a:solidFill>
                            <a:srgbClr val="C82613"/>
                          </a:solidFill>
                          <a:effectLst/>
                          <a:latin typeface="Times" panose="02020603050405020304" pitchFamily="18" charset="0"/>
                          <a:ea typeface="Times New Roman" panose="02020603050405020304" pitchFamily="18" charset="0"/>
                          <a:cs typeface="Aptos" panose="020B0004020202020204" pitchFamily="34" charset="0"/>
                        </a:rPr>
                        <a:t>1,020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20% CM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0" i="0" u="none" strike="noStrike" dirty="0">
                          <a:solidFill>
                            <a:srgbClr val="000000"/>
                          </a:solidFill>
                          <a:effectLst/>
                          <a:latin typeface="Times New Roman" panose="02020603050405020304" pitchFamily="18" charset="0"/>
                        </a:rPr>
                        <a:t>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28292285"/>
                  </a:ext>
                </a:extLst>
              </a:tr>
              <a:tr h="341498">
                <a:tc>
                  <a:txBody>
                    <a:bodyPr/>
                    <a:lstStyle/>
                    <a:p>
                      <a:pPr algn="ctr" rtl="0" fontAlgn="ctr">
                        <a:buNone/>
                      </a:pPr>
                      <a:r>
                        <a:rPr lang="en-US" sz="1200" b="0" i="0" u="none" strike="noStrike">
                          <a:solidFill>
                            <a:srgbClr val="000000"/>
                          </a:solidFill>
                          <a:effectLst/>
                          <a:latin typeface="Times New Roman" panose="02020603050405020304" pitchFamily="18" charset="0"/>
                        </a:rPr>
                        <a:t>9</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Tỷ lệ nhân sự gắn kết (CMNV trở lên)</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Tỷ lệ</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NA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80.0%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71.0%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82.0%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20% CM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4080618657"/>
                  </a:ext>
                </a:extLst>
              </a:tr>
              <a:tr h="421652">
                <a:tc>
                  <a:txBody>
                    <a:bodyPr/>
                    <a:lstStyle/>
                    <a:p>
                      <a:pPr algn="ctr" rtl="0" fontAlgn="ctr">
                        <a:buNone/>
                      </a:pPr>
                      <a:r>
                        <a:rPr lang="en-US" sz="1200" b="0" i="0" u="none" strike="noStrike">
                          <a:solidFill>
                            <a:srgbClr val="000000"/>
                          </a:solidFill>
                          <a:effectLst/>
                          <a:latin typeface="Times New Roman" panose="02020603050405020304" pitchFamily="18" charset="0"/>
                        </a:rPr>
                        <a:t>10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Số lần khiếu nại khách hàng</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Lần</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46.0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48.0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45.0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36.0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20% CM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537109273"/>
                  </a:ext>
                </a:extLst>
              </a:tr>
              <a:tr h="421652">
                <a:tc>
                  <a:txBody>
                    <a:bodyPr/>
                    <a:lstStyle/>
                    <a:p>
                      <a:pPr algn="ctr" rtl="0" fontAlgn="ctr">
                        <a:buNone/>
                      </a:pPr>
                      <a:r>
                        <a:rPr lang="en-US" sz="1200" b="0" i="0" u="none" strike="noStrike">
                          <a:solidFill>
                            <a:srgbClr val="000000"/>
                          </a:solidFill>
                          <a:effectLst/>
                          <a:latin typeface="Times New Roman" panose="02020603050405020304" pitchFamily="18" charset="0"/>
                        </a:rPr>
                        <a:t>11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Tỷ lệ nhân sự kế thừa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NA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50.0%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88.0%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50.0%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PI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5%</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18845460"/>
                  </a:ext>
                </a:extLst>
              </a:tr>
              <a:tr h="285178">
                <a:tc>
                  <a:txBody>
                    <a:bodyPr/>
                    <a:lstStyle/>
                    <a:p>
                      <a:pPr algn="ctr" rtl="0" fontAlgn="ctr">
                        <a:buNone/>
                      </a:pPr>
                      <a:r>
                        <a:rPr lang="en-US" sz="1200" b="0" i="0" u="none" strike="noStrike">
                          <a:solidFill>
                            <a:srgbClr val="000000"/>
                          </a:solidFill>
                          <a:effectLst/>
                          <a:latin typeface="Times New Roman" panose="02020603050405020304" pitchFamily="18" charset="0"/>
                        </a:rPr>
                        <a:t>12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vi-VN" sz="1200" b="0" i="0" u="none" strike="noStrike">
                          <a:solidFill>
                            <a:srgbClr val="000000"/>
                          </a:solidFill>
                          <a:effectLst/>
                          <a:latin typeface="Times New Roman" panose="02020603050405020304" pitchFamily="18" charset="0"/>
                        </a:rPr>
                        <a:t>Doanh thu thuần trên người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vi-VN" sz="1000" b="0" i="0" u="none" strike="noStrike">
                          <a:solidFill>
                            <a:srgbClr val="000000"/>
                          </a:solidFill>
                          <a:effectLst/>
                          <a:latin typeface="Times New Roman" panose="02020603050405020304" pitchFamily="18" charset="0"/>
                        </a:rPr>
                        <a:t>Tỷ VND/ Người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2.6</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3.1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2.3</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2.7</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PI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99196174"/>
                  </a:ext>
                </a:extLst>
              </a:tr>
              <a:tr h="341498">
                <a:tc>
                  <a:txBody>
                    <a:bodyPr/>
                    <a:lstStyle/>
                    <a:p>
                      <a:pPr algn="ctr" rtl="0" fontAlgn="ctr">
                        <a:buNone/>
                      </a:pPr>
                      <a:r>
                        <a:rPr lang="en-US" sz="1200" b="0" i="0" u="none" strike="noStrike">
                          <a:solidFill>
                            <a:srgbClr val="000000"/>
                          </a:solidFill>
                          <a:effectLst/>
                          <a:latin typeface="Times New Roman" panose="02020603050405020304" pitchFamily="18" charset="0"/>
                        </a:rPr>
                        <a:t>13</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Giao hàng đầy đủ, đúng thời gian cam kết (OTIF1)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Tỷ lệ</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100.0%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100.0%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ED7D31"/>
                          </a:solidFill>
                          <a:effectLst/>
                          <a:latin typeface="Times New Roman" panose="02020603050405020304" pitchFamily="18" charset="0"/>
                        </a:rPr>
                        <a:t>100.0%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100.0%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PI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40402388"/>
                  </a:ext>
                </a:extLst>
              </a:tr>
              <a:tr h="286122">
                <a:tc>
                  <a:txBody>
                    <a:bodyPr/>
                    <a:lstStyle/>
                    <a:p>
                      <a:pPr algn="ctr" rtl="0" fontAlgn="ctr">
                        <a:buNone/>
                      </a:pPr>
                      <a:r>
                        <a:rPr lang="en-US" sz="1200" b="0" i="0" u="none" strike="noStrike">
                          <a:solidFill>
                            <a:srgbClr val="000000"/>
                          </a:solidFill>
                          <a:effectLst/>
                          <a:latin typeface="Times New Roman" panose="02020603050405020304" pitchFamily="18" charset="0"/>
                        </a:rPr>
                        <a:t>14</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Tuân thủ</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vi-VN" sz="1000" b="0" i="0" u="none" strike="noStrike">
                          <a:solidFill>
                            <a:srgbClr val="000000"/>
                          </a:solidFill>
                          <a:effectLst/>
                          <a:latin typeface="Times New Roman" panose="02020603050405020304" pitchFamily="18" charset="0"/>
                        </a:rPr>
                        <a:t>Số lượng</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80.0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72.0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ED7D31"/>
                          </a:solidFill>
                          <a:effectLst/>
                          <a:latin typeface="Times New Roman" panose="02020603050405020304" pitchFamily="18" charset="0"/>
                        </a:rPr>
                        <a:t>17.0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1" i="0" u="none" strike="noStrike">
                          <a:solidFill>
                            <a:srgbClr val="00B050"/>
                          </a:solidFill>
                          <a:effectLst/>
                          <a:latin typeface="Times New Roman" panose="02020603050405020304" pitchFamily="18" charset="0"/>
                        </a:rPr>
                        <a:t>18.0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PI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72558513"/>
                  </a:ext>
                </a:extLst>
              </a:tr>
              <a:tr h="285178">
                <a:tc>
                  <a:txBody>
                    <a:bodyPr/>
                    <a:lstStyle/>
                    <a:p>
                      <a:pPr algn="ctr" rtl="0" fontAlgn="ctr">
                        <a:buNone/>
                      </a:pPr>
                      <a:r>
                        <a:rPr lang="en-US" sz="1200" b="0" i="0" u="none" strike="noStrike">
                          <a:solidFill>
                            <a:srgbClr val="000000"/>
                          </a:solidFill>
                          <a:effectLst/>
                          <a:latin typeface="Times New Roman" panose="02020603050405020304" pitchFamily="18" charset="0"/>
                        </a:rPr>
                        <a:t>15</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vi-VN" sz="1200" b="0" i="0" u="none" strike="noStrike">
                          <a:solidFill>
                            <a:srgbClr val="000000"/>
                          </a:solidFill>
                          <a:effectLst/>
                          <a:latin typeface="Times New Roman" panose="02020603050405020304" pitchFamily="18" charset="0"/>
                        </a:rPr>
                        <a:t>Số giờ được đào tạo trung bình</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vi-VN" sz="1000" b="0" i="0" u="none" strike="noStrike">
                          <a:solidFill>
                            <a:srgbClr val="000000"/>
                          </a:solidFill>
                          <a:effectLst/>
                          <a:latin typeface="Times New Roman" panose="02020603050405020304" pitchFamily="18" charset="0"/>
                        </a:rPr>
                        <a:t>tiếng / người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19.0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33.0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ED7D31"/>
                          </a:solidFill>
                          <a:effectLst/>
                          <a:latin typeface="Times New Roman" panose="02020603050405020304" pitchFamily="18" charset="0"/>
                        </a:rPr>
                        <a:t>24.7</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1" i="0" u="none" strike="noStrike">
                          <a:solidFill>
                            <a:srgbClr val="00B050"/>
                          </a:solidFill>
                          <a:effectLst/>
                          <a:latin typeface="Times New Roman" panose="02020603050405020304" pitchFamily="18" charset="0"/>
                        </a:rPr>
                        <a:t>25.0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PI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dirty="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89893500"/>
                  </a:ext>
                </a:extLst>
              </a:tr>
            </a:tbl>
          </a:graphicData>
        </a:graphic>
      </p:graphicFrame>
      <p:sp>
        <p:nvSpPr>
          <p:cNvPr id="3" name="TextBox 9">
            <a:extLst>
              <a:ext uri="{FF2B5EF4-FFF2-40B4-BE49-F238E27FC236}">
                <a16:creationId xmlns:a16="http://schemas.microsoft.com/office/drawing/2014/main" id="{7329AB8A-347E-8F7B-A1D0-5180F74C61CA}"/>
              </a:ext>
            </a:extLst>
          </p:cNvPr>
          <p:cNvSpPr txBox="1"/>
          <p:nvPr/>
        </p:nvSpPr>
        <p:spPr>
          <a:xfrm>
            <a:off x="200297" y="64051"/>
            <a:ext cx="11828379" cy="348942"/>
          </a:xfrm>
          <a:prstGeom prst="rect">
            <a:avLst/>
          </a:prstGeom>
        </p:spPr>
        <p:txBody>
          <a:bodyPr lIns="0" tIns="0" rIns="0" bIns="0" rtlCol="0" anchor="t">
            <a:spAutoFit/>
          </a:bodyPr>
          <a:lstStyle/>
          <a:p>
            <a:pPr>
              <a:lnSpc>
                <a:spcPts val="2880"/>
              </a:lnSpc>
            </a:pPr>
            <a:r>
              <a:rPr lang="en-US" sz="2400" b="1">
                <a:solidFill>
                  <a:srgbClr val="119303"/>
                </a:solidFill>
                <a:latin typeface="Arial Bold"/>
                <a:ea typeface="Arial Bold"/>
                <a:cs typeface="Arial Bold"/>
                <a:sym typeface="Arial Bold"/>
              </a:rPr>
              <a:t>2. Khung KPI Công ty DTR (GĐĐH)</a:t>
            </a:r>
          </a:p>
        </p:txBody>
      </p:sp>
      <p:cxnSp>
        <p:nvCxnSpPr>
          <p:cNvPr id="6" name="Straight Connector 5">
            <a:extLst>
              <a:ext uri="{FF2B5EF4-FFF2-40B4-BE49-F238E27FC236}">
                <a16:creationId xmlns:a16="http://schemas.microsoft.com/office/drawing/2014/main" id="{E7779420-3928-B2B7-15F6-FA97204BC1E9}"/>
              </a:ext>
            </a:extLst>
          </p:cNvPr>
          <p:cNvCxnSpPr>
            <a:cxnSpLocks/>
          </p:cNvCxnSpPr>
          <p:nvPr/>
        </p:nvCxnSpPr>
        <p:spPr>
          <a:xfrm>
            <a:off x="0" y="4807513"/>
            <a:ext cx="12192000" cy="0"/>
          </a:xfrm>
          <a:prstGeom prst="line">
            <a:avLst/>
          </a:prstGeom>
          <a:ln w="57150">
            <a:prstDash val="sysDot"/>
          </a:ln>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DCA7C1B4-072D-47C8-376A-9901B58EE392}"/>
              </a:ext>
            </a:extLst>
          </p:cNvPr>
          <p:cNvGrpSpPr>
            <a:grpSpLocks noChangeAspect="1"/>
          </p:cNvGrpSpPr>
          <p:nvPr/>
        </p:nvGrpSpPr>
        <p:grpSpPr>
          <a:xfrm>
            <a:off x="144639" y="6576546"/>
            <a:ext cx="1146287" cy="175771"/>
            <a:chOff x="0" y="0"/>
            <a:chExt cx="2292573" cy="351541"/>
          </a:xfrm>
        </p:grpSpPr>
        <p:sp>
          <p:nvSpPr>
            <p:cNvPr id="9" name="Freeform 7">
              <a:extLst>
                <a:ext uri="{FF2B5EF4-FFF2-40B4-BE49-F238E27FC236}">
                  <a16:creationId xmlns:a16="http://schemas.microsoft.com/office/drawing/2014/main" id="{9FFC67B9-D17D-1E05-6043-7C0BA0C678E3}"/>
                </a:ext>
              </a:extLst>
            </p:cNvPr>
            <p:cNvSpPr/>
            <p:nvPr/>
          </p:nvSpPr>
          <p:spPr>
            <a:xfrm>
              <a:off x="0" y="0"/>
              <a:ext cx="2292604" cy="351536"/>
            </a:xfrm>
            <a:custGeom>
              <a:avLst/>
              <a:gdLst/>
              <a:ahLst/>
              <a:cxnLst/>
              <a:rect l="l" t="t" r="r" b="b"/>
              <a:pathLst>
                <a:path w="2292604" h="351536">
                  <a:moveTo>
                    <a:pt x="0" y="0"/>
                  </a:moveTo>
                  <a:lnTo>
                    <a:pt x="2292604" y="0"/>
                  </a:lnTo>
                  <a:lnTo>
                    <a:pt x="2292604" y="351536"/>
                  </a:lnTo>
                  <a:lnTo>
                    <a:pt x="0" y="351536"/>
                  </a:lnTo>
                  <a:lnTo>
                    <a:pt x="0" y="0"/>
                  </a:lnTo>
                  <a:close/>
                </a:path>
              </a:pathLst>
            </a:custGeom>
            <a:blipFill>
              <a:blip r:embed="rId4"/>
              <a:stretch>
                <a:fillRect r="1" b="-2"/>
              </a:stretch>
            </a:blipFill>
          </p:spPr>
          <p:txBody>
            <a:bodyPr/>
            <a:lstStyle/>
            <a:p>
              <a:endParaRPr lang="en-US" sz="1200"/>
            </a:p>
          </p:txBody>
        </p:sp>
      </p:grpSp>
      <p:sp>
        <p:nvSpPr>
          <p:cNvPr id="11" name="Rectangle 10">
            <a:extLst>
              <a:ext uri="{FF2B5EF4-FFF2-40B4-BE49-F238E27FC236}">
                <a16:creationId xmlns:a16="http://schemas.microsoft.com/office/drawing/2014/main" id="{FEFA4CC1-BECA-4000-F135-1275D0886A63}"/>
              </a:ext>
            </a:extLst>
          </p:cNvPr>
          <p:cNvSpPr/>
          <p:nvPr/>
        </p:nvSpPr>
        <p:spPr>
          <a:xfrm>
            <a:off x="8096451" y="848337"/>
            <a:ext cx="729916" cy="566460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B83EF6E-7EF4-C0C1-374A-7AA62FC432BE}"/>
              </a:ext>
            </a:extLst>
          </p:cNvPr>
          <p:cNvSpPr txBox="1"/>
          <p:nvPr/>
        </p:nvSpPr>
        <p:spPr>
          <a:xfrm>
            <a:off x="7891040" y="-10160"/>
            <a:ext cx="4300960" cy="830997"/>
          </a:xfrm>
          <a:prstGeom prst="rect">
            <a:avLst/>
          </a:prstGeom>
          <a:noFill/>
        </p:spPr>
        <p:txBody>
          <a:bodyPr wrap="square" rtlCol="0">
            <a:spAutoFit/>
          </a:bodyPr>
          <a:lstStyle/>
          <a:p>
            <a:endParaRPr lang="en-US" sz="1200" b="1">
              <a:solidFill>
                <a:srgbClr val="FF0000"/>
              </a:solidFill>
            </a:endParaRPr>
          </a:p>
          <a:p>
            <a:r>
              <a:rPr lang="en-US" sz="1200" b="1">
                <a:solidFill>
                  <a:srgbClr val="FF0000"/>
                </a:solidFill>
              </a:rPr>
              <a:t>Màu </a:t>
            </a:r>
            <a:r>
              <a:rPr lang="en-US" sz="1200" b="1" dirty="0">
                <a:solidFill>
                  <a:srgbClr val="FF0000"/>
                </a:solidFill>
              </a:rPr>
              <a:t>đỏ </a:t>
            </a:r>
            <a:r>
              <a:rPr lang="en-US" sz="1200" b="1" dirty="0"/>
              <a:t>là công </a:t>
            </a:r>
            <a:r>
              <a:rPr lang="en-US" sz="1200" b="1"/>
              <a:t>ty phân rã           </a:t>
            </a:r>
            <a:r>
              <a:rPr lang="en-US" sz="1200" b="1">
                <a:solidFill>
                  <a:srgbClr val="00B0F0"/>
                </a:solidFill>
              </a:rPr>
              <a:t>Màu dương </a:t>
            </a:r>
            <a:r>
              <a:rPr lang="en-US" sz="1200" b="1"/>
              <a:t>là liên đới</a:t>
            </a:r>
            <a:endParaRPr lang="en-US" sz="1200" b="1" dirty="0"/>
          </a:p>
          <a:p>
            <a:endParaRPr lang="en-US" sz="1200" b="1" dirty="0"/>
          </a:p>
          <a:p>
            <a:endParaRPr lang="en-US" sz="1200" b="1" dirty="0"/>
          </a:p>
        </p:txBody>
      </p:sp>
      <p:cxnSp>
        <p:nvCxnSpPr>
          <p:cNvPr id="5" name="Straight Connector 4">
            <a:extLst>
              <a:ext uri="{FF2B5EF4-FFF2-40B4-BE49-F238E27FC236}">
                <a16:creationId xmlns:a16="http://schemas.microsoft.com/office/drawing/2014/main" id="{F293178D-5F20-8B4B-188C-56F2CF95E748}"/>
              </a:ext>
            </a:extLst>
          </p:cNvPr>
          <p:cNvCxnSpPr>
            <a:cxnSpLocks/>
          </p:cNvCxnSpPr>
          <p:nvPr/>
        </p:nvCxnSpPr>
        <p:spPr>
          <a:xfrm>
            <a:off x="-8020" y="2624043"/>
            <a:ext cx="12192000" cy="0"/>
          </a:xfrm>
          <a:prstGeom prst="line">
            <a:avLst/>
          </a:prstGeom>
          <a:ln w="57150">
            <a:prstDash val="sysDot"/>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6DB90FA2-0082-01DF-B9AF-A1CB6A079F08}"/>
              </a:ext>
            </a:extLst>
          </p:cNvPr>
          <p:cNvSpPr/>
          <p:nvPr/>
        </p:nvSpPr>
        <p:spPr>
          <a:xfrm>
            <a:off x="5731041" y="848337"/>
            <a:ext cx="843013" cy="562400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8">
            <a:extLst>
              <a:ext uri="{FF2B5EF4-FFF2-40B4-BE49-F238E27FC236}">
                <a16:creationId xmlns:a16="http://schemas.microsoft.com/office/drawing/2014/main" id="{65F6553E-6275-C0C1-7D57-DAC4481F9766}"/>
              </a:ext>
            </a:extLst>
          </p:cNvPr>
          <p:cNvSpPr/>
          <p:nvPr/>
        </p:nvSpPr>
        <p:spPr>
          <a:xfrm>
            <a:off x="0" y="521738"/>
            <a:ext cx="12183980" cy="0"/>
          </a:xfrm>
          <a:prstGeom prst="line">
            <a:avLst/>
          </a:prstGeom>
          <a:ln w="19050" cap="flat">
            <a:solidFill>
              <a:srgbClr val="39618E"/>
            </a:solidFill>
            <a:prstDash val="solid"/>
            <a:headEnd type="none" w="sm" len="sm"/>
            <a:tailEnd type="none" w="sm" len="sm"/>
          </a:ln>
        </p:spPr>
        <p:txBody>
          <a:bodyPr/>
          <a:lstStyle/>
          <a:p>
            <a:endParaRPr lang="en-US" sz="1200"/>
          </a:p>
        </p:txBody>
      </p:sp>
      <p:grpSp>
        <p:nvGrpSpPr>
          <p:cNvPr id="47" name="Group 23">
            <a:extLst>
              <a:ext uri="{FF2B5EF4-FFF2-40B4-BE49-F238E27FC236}">
                <a16:creationId xmlns:a16="http://schemas.microsoft.com/office/drawing/2014/main" id="{0AF4ABB9-9D8A-AB6D-B05A-5C872B753BF1}"/>
              </a:ext>
            </a:extLst>
          </p:cNvPr>
          <p:cNvGrpSpPr/>
          <p:nvPr/>
        </p:nvGrpSpPr>
        <p:grpSpPr>
          <a:xfrm>
            <a:off x="12227990" y="979102"/>
            <a:ext cx="1574821" cy="458667"/>
            <a:chOff x="0" y="0"/>
            <a:chExt cx="622152" cy="181202"/>
          </a:xfrm>
        </p:grpSpPr>
        <p:sp>
          <p:nvSpPr>
            <p:cNvPr id="48" name="Freeform 24">
              <a:extLst>
                <a:ext uri="{FF2B5EF4-FFF2-40B4-BE49-F238E27FC236}">
                  <a16:creationId xmlns:a16="http://schemas.microsoft.com/office/drawing/2014/main" id="{979575DB-2E7B-DE7C-2DEC-1B9EAEBFC990}"/>
                </a:ext>
              </a:extLst>
            </p:cNvPr>
            <p:cNvSpPr/>
            <p:nvPr/>
          </p:nvSpPr>
          <p:spPr>
            <a:xfrm>
              <a:off x="0" y="0"/>
              <a:ext cx="622152" cy="181202"/>
            </a:xfrm>
            <a:custGeom>
              <a:avLst/>
              <a:gdLst/>
              <a:ahLst/>
              <a:cxnLst/>
              <a:rect l="l" t="t" r="r" b="b"/>
              <a:pathLst>
                <a:path w="622152" h="181202">
                  <a:moveTo>
                    <a:pt x="55715" y="0"/>
                  </a:moveTo>
                  <a:lnTo>
                    <a:pt x="566436" y="0"/>
                  </a:lnTo>
                  <a:cubicBezTo>
                    <a:pt x="581213" y="0"/>
                    <a:pt x="595384" y="5870"/>
                    <a:pt x="605833" y="16319"/>
                  </a:cubicBezTo>
                  <a:cubicBezTo>
                    <a:pt x="616282" y="26767"/>
                    <a:pt x="622152" y="40939"/>
                    <a:pt x="622152" y="55715"/>
                  </a:cubicBezTo>
                  <a:lnTo>
                    <a:pt x="622152" y="125486"/>
                  </a:lnTo>
                  <a:cubicBezTo>
                    <a:pt x="622152" y="156257"/>
                    <a:pt x="597207" y="181202"/>
                    <a:pt x="566436" y="181202"/>
                  </a:cubicBezTo>
                  <a:lnTo>
                    <a:pt x="55715" y="181202"/>
                  </a:lnTo>
                  <a:cubicBezTo>
                    <a:pt x="40939" y="181202"/>
                    <a:pt x="26767" y="175332"/>
                    <a:pt x="16319" y="164883"/>
                  </a:cubicBezTo>
                  <a:cubicBezTo>
                    <a:pt x="5870" y="154434"/>
                    <a:pt x="0" y="140263"/>
                    <a:pt x="0" y="125486"/>
                  </a:cubicBezTo>
                  <a:lnTo>
                    <a:pt x="0" y="55715"/>
                  </a:lnTo>
                  <a:cubicBezTo>
                    <a:pt x="0" y="40939"/>
                    <a:pt x="5870" y="26767"/>
                    <a:pt x="16319" y="16319"/>
                  </a:cubicBezTo>
                  <a:cubicBezTo>
                    <a:pt x="26767" y="5870"/>
                    <a:pt x="40939" y="0"/>
                    <a:pt x="55715" y="0"/>
                  </a:cubicBezTo>
                  <a:close/>
                </a:path>
              </a:pathLst>
            </a:custGeom>
            <a:solidFill>
              <a:srgbClr val="A6A6A6"/>
            </a:solidFill>
          </p:spPr>
          <p:txBody>
            <a:bodyPr/>
            <a:lstStyle/>
            <a:p>
              <a:endParaRPr lang="en-US" sz="1200"/>
            </a:p>
          </p:txBody>
        </p:sp>
        <p:sp>
          <p:nvSpPr>
            <p:cNvPr id="49" name="TextBox 25">
              <a:extLst>
                <a:ext uri="{FF2B5EF4-FFF2-40B4-BE49-F238E27FC236}">
                  <a16:creationId xmlns:a16="http://schemas.microsoft.com/office/drawing/2014/main" id="{BE1C1992-E4A7-7B8D-E4AB-DBBC136F24E1}"/>
                </a:ext>
              </a:extLst>
            </p:cNvPr>
            <p:cNvSpPr txBox="1"/>
            <p:nvPr/>
          </p:nvSpPr>
          <p:spPr>
            <a:xfrm>
              <a:off x="0" y="0"/>
              <a:ext cx="622152" cy="181202"/>
            </a:xfrm>
            <a:prstGeom prst="rect">
              <a:avLst/>
            </a:prstGeom>
          </p:spPr>
          <p:txBody>
            <a:bodyPr lIns="33867" tIns="33867" rIns="33867" bIns="33867" rtlCol="0" anchor="ctr"/>
            <a:lstStyle/>
            <a:p>
              <a:pPr algn="ctr">
                <a:lnSpc>
                  <a:spcPts val="1919"/>
                </a:lnSpc>
              </a:pPr>
              <a:r>
                <a:rPr lang="en-US" sz="1600" b="1">
                  <a:solidFill>
                    <a:srgbClr val="FFFFFF"/>
                  </a:solidFill>
                  <a:latin typeface="Tahoma"/>
                  <a:ea typeface="Tahoma"/>
                  <a:cs typeface="Tahoma"/>
                  <a:sym typeface="Tahoma"/>
                </a:rPr>
                <a:t>LOẠI KPI</a:t>
              </a:r>
            </a:p>
          </p:txBody>
        </p:sp>
      </p:grpSp>
      <p:grpSp>
        <p:nvGrpSpPr>
          <p:cNvPr id="50" name="Group 62">
            <a:extLst>
              <a:ext uri="{FF2B5EF4-FFF2-40B4-BE49-F238E27FC236}">
                <a16:creationId xmlns:a16="http://schemas.microsoft.com/office/drawing/2014/main" id="{CC8D2DD7-C291-5F6F-BE69-A20178C48667}"/>
              </a:ext>
            </a:extLst>
          </p:cNvPr>
          <p:cNvGrpSpPr/>
          <p:nvPr/>
        </p:nvGrpSpPr>
        <p:grpSpPr>
          <a:xfrm>
            <a:off x="12227990" y="5492119"/>
            <a:ext cx="1558445" cy="641581"/>
            <a:chOff x="0" y="0"/>
            <a:chExt cx="615682" cy="253464"/>
          </a:xfrm>
        </p:grpSpPr>
        <p:sp>
          <p:nvSpPr>
            <p:cNvPr id="51" name="Freeform 63">
              <a:extLst>
                <a:ext uri="{FF2B5EF4-FFF2-40B4-BE49-F238E27FC236}">
                  <a16:creationId xmlns:a16="http://schemas.microsoft.com/office/drawing/2014/main" id="{AE1C27A6-651D-BB97-9076-04F8A0EBAFBF}"/>
                </a:ext>
              </a:extLst>
            </p:cNvPr>
            <p:cNvSpPr/>
            <p:nvPr/>
          </p:nvSpPr>
          <p:spPr>
            <a:xfrm>
              <a:off x="0" y="0"/>
              <a:ext cx="615682" cy="253464"/>
            </a:xfrm>
            <a:custGeom>
              <a:avLst/>
              <a:gdLst/>
              <a:ahLst/>
              <a:cxnLst/>
              <a:rect l="l" t="t" r="r" b="b"/>
              <a:pathLst>
                <a:path w="615682" h="253464">
                  <a:moveTo>
                    <a:pt x="56301" y="0"/>
                  </a:moveTo>
                  <a:lnTo>
                    <a:pt x="559381" y="0"/>
                  </a:lnTo>
                  <a:cubicBezTo>
                    <a:pt x="574313" y="0"/>
                    <a:pt x="588633" y="5932"/>
                    <a:pt x="599192" y="16490"/>
                  </a:cubicBezTo>
                  <a:cubicBezTo>
                    <a:pt x="609750" y="27049"/>
                    <a:pt x="615682" y="41369"/>
                    <a:pt x="615682" y="56301"/>
                  </a:cubicBezTo>
                  <a:lnTo>
                    <a:pt x="615682" y="197163"/>
                  </a:lnTo>
                  <a:cubicBezTo>
                    <a:pt x="615682" y="212095"/>
                    <a:pt x="609750" y="226415"/>
                    <a:pt x="599192" y="236974"/>
                  </a:cubicBezTo>
                  <a:cubicBezTo>
                    <a:pt x="588633" y="247532"/>
                    <a:pt x="574313" y="253464"/>
                    <a:pt x="559381" y="253464"/>
                  </a:cubicBezTo>
                  <a:lnTo>
                    <a:pt x="56301" y="253464"/>
                  </a:lnTo>
                  <a:cubicBezTo>
                    <a:pt x="41369" y="253464"/>
                    <a:pt x="27049" y="247532"/>
                    <a:pt x="16490" y="236974"/>
                  </a:cubicBezTo>
                  <a:cubicBezTo>
                    <a:pt x="5932" y="226415"/>
                    <a:pt x="0" y="212095"/>
                    <a:pt x="0" y="197163"/>
                  </a:cubicBezTo>
                  <a:lnTo>
                    <a:pt x="0" y="56301"/>
                  </a:lnTo>
                  <a:cubicBezTo>
                    <a:pt x="0" y="41369"/>
                    <a:pt x="5932" y="27049"/>
                    <a:pt x="16490" y="16490"/>
                  </a:cubicBezTo>
                  <a:cubicBezTo>
                    <a:pt x="27049" y="5932"/>
                    <a:pt x="41369" y="0"/>
                    <a:pt x="56301" y="0"/>
                  </a:cubicBezTo>
                  <a:close/>
                </a:path>
              </a:pathLst>
            </a:custGeom>
            <a:solidFill>
              <a:srgbClr val="FFF3C2"/>
            </a:solidFill>
            <a:ln w="9525" cap="sq">
              <a:solidFill>
                <a:srgbClr val="C6D8FB"/>
              </a:solidFill>
              <a:prstDash val="solid"/>
              <a:miter/>
            </a:ln>
          </p:spPr>
          <p:txBody>
            <a:bodyPr/>
            <a:lstStyle/>
            <a:p>
              <a:endParaRPr lang="en-US" sz="1200"/>
            </a:p>
          </p:txBody>
        </p:sp>
        <p:sp>
          <p:nvSpPr>
            <p:cNvPr id="52" name="TextBox 64">
              <a:extLst>
                <a:ext uri="{FF2B5EF4-FFF2-40B4-BE49-F238E27FC236}">
                  <a16:creationId xmlns:a16="http://schemas.microsoft.com/office/drawing/2014/main" id="{E34A7495-BE9E-EEC4-8229-0DD41E110CDE}"/>
                </a:ext>
              </a:extLst>
            </p:cNvPr>
            <p:cNvSpPr txBox="1"/>
            <p:nvPr/>
          </p:nvSpPr>
          <p:spPr>
            <a:xfrm>
              <a:off x="0" y="0"/>
              <a:ext cx="615682" cy="253464"/>
            </a:xfrm>
            <a:prstGeom prst="rect">
              <a:avLst/>
            </a:prstGeom>
          </p:spPr>
          <p:txBody>
            <a:bodyPr lIns="33867" tIns="33867" rIns="33867" bIns="33867" rtlCol="0" anchor="ctr"/>
            <a:lstStyle/>
            <a:p>
              <a:pPr algn="ctr">
                <a:lnSpc>
                  <a:spcPts val="1600"/>
                </a:lnSpc>
              </a:pPr>
              <a:r>
                <a:rPr lang="en-US" sz="1333" b="1">
                  <a:solidFill>
                    <a:schemeClr val="accent1">
                      <a:lumMod val="50000"/>
                    </a:schemeClr>
                  </a:solidFill>
                  <a:latin typeface="Tahoma Bold"/>
                  <a:ea typeface="Tahoma Bold"/>
                  <a:cs typeface="Tahoma Bold"/>
                  <a:sym typeface="Tahoma Bold"/>
                </a:rPr>
                <a:t>Số lượng KPI</a:t>
              </a:r>
            </a:p>
          </p:txBody>
        </p:sp>
      </p:grpSp>
      <p:grpSp>
        <p:nvGrpSpPr>
          <p:cNvPr id="53" name="Group 65">
            <a:extLst>
              <a:ext uri="{FF2B5EF4-FFF2-40B4-BE49-F238E27FC236}">
                <a16:creationId xmlns:a16="http://schemas.microsoft.com/office/drawing/2014/main" id="{4848B414-D125-29E5-AE73-0DD14ACC2EC8}"/>
              </a:ext>
            </a:extLst>
          </p:cNvPr>
          <p:cNvGrpSpPr/>
          <p:nvPr/>
        </p:nvGrpSpPr>
        <p:grpSpPr>
          <a:xfrm>
            <a:off x="12236178" y="4722603"/>
            <a:ext cx="1550256" cy="747737"/>
            <a:chOff x="0" y="0"/>
            <a:chExt cx="612447" cy="295402"/>
          </a:xfrm>
        </p:grpSpPr>
        <p:sp>
          <p:nvSpPr>
            <p:cNvPr id="54" name="Freeform 66">
              <a:extLst>
                <a:ext uri="{FF2B5EF4-FFF2-40B4-BE49-F238E27FC236}">
                  <a16:creationId xmlns:a16="http://schemas.microsoft.com/office/drawing/2014/main" id="{8860D397-FD5D-D006-1426-44689EA95607}"/>
                </a:ext>
              </a:extLst>
            </p:cNvPr>
            <p:cNvSpPr/>
            <p:nvPr/>
          </p:nvSpPr>
          <p:spPr>
            <a:xfrm>
              <a:off x="0" y="0"/>
              <a:ext cx="612447" cy="295402"/>
            </a:xfrm>
            <a:custGeom>
              <a:avLst/>
              <a:gdLst/>
              <a:ahLst/>
              <a:cxnLst/>
              <a:rect l="l" t="t" r="r" b="b"/>
              <a:pathLst>
                <a:path w="612447" h="295402">
                  <a:moveTo>
                    <a:pt x="56598" y="0"/>
                  </a:moveTo>
                  <a:lnTo>
                    <a:pt x="555849" y="0"/>
                  </a:lnTo>
                  <a:cubicBezTo>
                    <a:pt x="570859" y="0"/>
                    <a:pt x="585255" y="5963"/>
                    <a:pt x="595870" y="16577"/>
                  </a:cubicBezTo>
                  <a:cubicBezTo>
                    <a:pt x="606484" y="27191"/>
                    <a:pt x="612447" y="41587"/>
                    <a:pt x="612447" y="56598"/>
                  </a:cubicBezTo>
                  <a:lnTo>
                    <a:pt x="612447" y="238804"/>
                  </a:lnTo>
                  <a:cubicBezTo>
                    <a:pt x="612447" y="270062"/>
                    <a:pt x="587107" y="295402"/>
                    <a:pt x="555849" y="295402"/>
                  </a:cubicBezTo>
                  <a:lnTo>
                    <a:pt x="56598" y="295402"/>
                  </a:lnTo>
                  <a:cubicBezTo>
                    <a:pt x="25340" y="295402"/>
                    <a:pt x="0" y="270062"/>
                    <a:pt x="0" y="238804"/>
                  </a:cubicBezTo>
                  <a:lnTo>
                    <a:pt x="0" y="56598"/>
                  </a:lnTo>
                  <a:cubicBezTo>
                    <a:pt x="0" y="25340"/>
                    <a:pt x="25340" y="0"/>
                    <a:pt x="56598" y="0"/>
                  </a:cubicBezTo>
                  <a:close/>
                </a:path>
              </a:pathLst>
            </a:custGeom>
            <a:solidFill>
              <a:srgbClr val="A6A6A6"/>
            </a:solidFill>
            <a:ln w="9525" cap="sq">
              <a:solidFill>
                <a:srgbClr val="C6D8FB"/>
              </a:solidFill>
              <a:prstDash val="solid"/>
              <a:miter/>
            </a:ln>
          </p:spPr>
          <p:txBody>
            <a:bodyPr/>
            <a:lstStyle/>
            <a:p>
              <a:endParaRPr lang="en-US" sz="1200"/>
            </a:p>
          </p:txBody>
        </p:sp>
        <p:sp>
          <p:nvSpPr>
            <p:cNvPr id="55" name="TextBox 67">
              <a:extLst>
                <a:ext uri="{FF2B5EF4-FFF2-40B4-BE49-F238E27FC236}">
                  <a16:creationId xmlns:a16="http://schemas.microsoft.com/office/drawing/2014/main" id="{B51FAE2A-0B0F-A591-7A2C-C42E13A794D0}"/>
                </a:ext>
              </a:extLst>
            </p:cNvPr>
            <p:cNvSpPr txBox="1"/>
            <p:nvPr/>
          </p:nvSpPr>
          <p:spPr>
            <a:xfrm>
              <a:off x="0" y="0"/>
              <a:ext cx="612447" cy="295402"/>
            </a:xfrm>
            <a:prstGeom prst="rect">
              <a:avLst/>
            </a:prstGeom>
          </p:spPr>
          <p:txBody>
            <a:bodyPr lIns="33867" tIns="33867" rIns="33867" bIns="33867" rtlCol="0" anchor="ctr"/>
            <a:lstStyle/>
            <a:p>
              <a:pPr algn="ctr">
                <a:lnSpc>
                  <a:spcPts val="1600"/>
                </a:lnSpc>
              </a:pPr>
              <a:r>
                <a:rPr lang="en-US" sz="1333" b="1">
                  <a:solidFill>
                    <a:srgbClr val="FFFFFF"/>
                  </a:solidFill>
                  <a:latin typeface="Tahoma Bold"/>
                  <a:ea typeface="Tahoma Bold"/>
                  <a:cs typeface="Tahoma Bold"/>
                  <a:sym typeface="Tahoma Bold"/>
                </a:rPr>
                <a:t>Chức năng</a:t>
              </a:r>
            </a:p>
          </p:txBody>
        </p:sp>
      </p:grpSp>
      <p:grpSp>
        <p:nvGrpSpPr>
          <p:cNvPr id="56" name="Group 68">
            <a:extLst>
              <a:ext uri="{FF2B5EF4-FFF2-40B4-BE49-F238E27FC236}">
                <a16:creationId xmlns:a16="http://schemas.microsoft.com/office/drawing/2014/main" id="{0CE0E8B7-1183-E7D5-ADCD-3C5B042C18A8}"/>
              </a:ext>
            </a:extLst>
          </p:cNvPr>
          <p:cNvGrpSpPr/>
          <p:nvPr/>
        </p:nvGrpSpPr>
        <p:grpSpPr>
          <a:xfrm>
            <a:off x="12227990" y="3108760"/>
            <a:ext cx="1550256" cy="1569392"/>
            <a:chOff x="0" y="0"/>
            <a:chExt cx="612447" cy="620007"/>
          </a:xfrm>
        </p:grpSpPr>
        <p:sp>
          <p:nvSpPr>
            <p:cNvPr id="57" name="Freeform 69">
              <a:extLst>
                <a:ext uri="{FF2B5EF4-FFF2-40B4-BE49-F238E27FC236}">
                  <a16:creationId xmlns:a16="http://schemas.microsoft.com/office/drawing/2014/main" id="{19F76862-4AA6-4A9C-10CD-78CDF00C53C8}"/>
                </a:ext>
              </a:extLst>
            </p:cNvPr>
            <p:cNvSpPr/>
            <p:nvPr/>
          </p:nvSpPr>
          <p:spPr>
            <a:xfrm>
              <a:off x="0" y="0"/>
              <a:ext cx="612447" cy="620007"/>
            </a:xfrm>
            <a:custGeom>
              <a:avLst/>
              <a:gdLst/>
              <a:ahLst/>
              <a:cxnLst/>
              <a:rect l="l" t="t" r="r" b="b"/>
              <a:pathLst>
                <a:path w="612447" h="620007">
                  <a:moveTo>
                    <a:pt x="56598" y="0"/>
                  </a:moveTo>
                  <a:lnTo>
                    <a:pt x="555849" y="0"/>
                  </a:lnTo>
                  <a:cubicBezTo>
                    <a:pt x="570859" y="0"/>
                    <a:pt x="585255" y="5963"/>
                    <a:pt x="595870" y="16577"/>
                  </a:cubicBezTo>
                  <a:cubicBezTo>
                    <a:pt x="606484" y="27191"/>
                    <a:pt x="612447" y="41587"/>
                    <a:pt x="612447" y="56598"/>
                  </a:cubicBezTo>
                  <a:lnTo>
                    <a:pt x="612447" y="563408"/>
                  </a:lnTo>
                  <a:cubicBezTo>
                    <a:pt x="612447" y="594667"/>
                    <a:pt x="587107" y="620007"/>
                    <a:pt x="555849" y="620007"/>
                  </a:cubicBezTo>
                  <a:lnTo>
                    <a:pt x="56598" y="620007"/>
                  </a:lnTo>
                  <a:cubicBezTo>
                    <a:pt x="25340" y="620007"/>
                    <a:pt x="0" y="594667"/>
                    <a:pt x="0" y="563408"/>
                  </a:cubicBezTo>
                  <a:lnTo>
                    <a:pt x="0" y="56598"/>
                  </a:lnTo>
                  <a:cubicBezTo>
                    <a:pt x="0" y="25340"/>
                    <a:pt x="25340" y="0"/>
                    <a:pt x="56598" y="0"/>
                  </a:cubicBezTo>
                  <a:close/>
                </a:path>
              </a:pathLst>
            </a:custGeom>
            <a:solidFill>
              <a:srgbClr val="A6A6A6"/>
            </a:solidFill>
            <a:ln w="9525" cap="sq">
              <a:solidFill>
                <a:srgbClr val="C6D8FB"/>
              </a:solidFill>
              <a:prstDash val="solid"/>
              <a:miter/>
            </a:ln>
          </p:spPr>
          <p:txBody>
            <a:bodyPr/>
            <a:lstStyle/>
            <a:p>
              <a:endParaRPr lang="en-US" sz="1200"/>
            </a:p>
          </p:txBody>
        </p:sp>
        <p:sp>
          <p:nvSpPr>
            <p:cNvPr id="58" name="TextBox 70">
              <a:extLst>
                <a:ext uri="{FF2B5EF4-FFF2-40B4-BE49-F238E27FC236}">
                  <a16:creationId xmlns:a16="http://schemas.microsoft.com/office/drawing/2014/main" id="{A05A5010-FF2A-73CD-5F98-556AAC984C34}"/>
                </a:ext>
              </a:extLst>
            </p:cNvPr>
            <p:cNvSpPr txBox="1"/>
            <p:nvPr/>
          </p:nvSpPr>
          <p:spPr>
            <a:xfrm>
              <a:off x="0" y="0"/>
              <a:ext cx="612447" cy="620007"/>
            </a:xfrm>
            <a:prstGeom prst="rect">
              <a:avLst/>
            </a:prstGeom>
          </p:spPr>
          <p:txBody>
            <a:bodyPr lIns="33867" tIns="33867" rIns="33867" bIns="33867" rtlCol="0" anchor="ctr"/>
            <a:lstStyle/>
            <a:p>
              <a:pPr algn="ctr">
                <a:lnSpc>
                  <a:spcPts val="1600"/>
                </a:lnSpc>
              </a:pPr>
              <a:r>
                <a:rPr lang="en-US" sz="1333" b="1">
                  <a:solidFill>
                    <a:srgbClr val="FFFFFF"/>
                  </a:solidFill>
                  <a:latin typeface="Tahoma Bold"/>
                  <a:ea typeface="Tahoma Bold"/>
                  <a:cs typeface="Tahoma Bold"/>
                  <a:sym typeface="Tahoma Bold"/>
                </a:rPr>
                <a:t>Liên chức năng A</a:t>
              </a:r>
            </a:p>
            <a:p>
              <a:pPr algn="ctr">
                <a:lnSpc>
                  <a:spcPts val="1600"/>
                </a:lnSpc>
              </a:pPr>
              <a:endParaRPr lang="en-US" sz="1333" b="1">
                <a:solidFill>
                  <a:srgbClr val="FFFFFF"/>
                </a:solidFill>
                <a:latin typeface="Tahoma Bold"/>
                <a:ea typeface="Tahoma Bold"/>
                <a:cs typeface="Tahoma Bold"/>
                <a:sym typeface="Tahoma Bold"/>
              </a:endParaRPr>
            </a:p>
            <a:p>
              <a:pPr algn="ctr">
                <a:lnSpc>
                  <a:spcPts val="1600"/>
                </a:lnSpc>
              </a:pPr>
              <a:endParaRPr lang="en-US" sz="1333" b="1">
                <a:solidFill>
                  <a:srgbClr val="FFFFFF"/>
                </a:solidFill>
                <a:latin typeface="Tahoma Bold"/>
                <a:ea typeface="Tahoma Bold"/>
                <a:cs typeface="Tahoma Bold"/>
                <a:sym typeface="Tahoma Bold"/>
              </a:endParaRPr>
            </a:p>
            <a:p>
              <a:pPr algn="ctr">
                <a:lnSpc>
                  <a:spcPts val="1600"/>
                </a:lnSpc>
              </a:pPr>
              <a:endParaRPr lang="en-US" sz="1333" b="1">
                <a:solidFill>
                  <a:srgbClr val="FFFFFF"/>
                </a:solidFill>
                <a:latin typeface="Tahoma Bold"/>
                <a:ea typeface="Tahoma Bold"/>
                <a:cs typeface="Tahoma Bold"/>
                <a:sym typeface="Tahoma Bold"/>
              </a:endParaRPr>
            </a:p>
            <a:p>
              <a:pPr algn="ctr">
                <a:lnSpc>
                  <a:spcPts val="1600"/>
                </a:lnSpc>
              </a:pPr>
              <a:r>
                <a:rPr lang="en-US" sz="1333" b="1">
                  <a:solidFill>
                    <a:srgbClr val="FFFFFF"/>
                  </a:solidFill>
                  <a:latin typeface="Tahoma Bold"/>
                  <a:ea typeface="Tahoma Bold"/>
                  <a:cs typeface="Tahoma Bold"/>
                  <a:sym typeface="Tahoma Bold"/>
                </a:rPr>
                <a:t>Liên chức năng B</a:t>
              </a:r>
            </a:p>
          </p:txBody>
        </p:sp>
      </p:grpSp>
      <p:grpSp>
        <p:nvGrpSpPr>
          <p:cNvPr id="59" name="Group 71">
            <a:extLst>
              <a:ext uri="{FF2B5EF4-FFF2-40B4-BE49-F238E27FC236}">
                <a16:creationId xmlns:a16="http://schemas.microsoft.com/office/drawing/2014/main" id="{A6F97820-696A-BCE9-0BE4-A61250EF36FF}"/>
              </a:ext>
            </a:extLst>
          </p:cNvPr>
          <p:cNvGrpSpPr/>
          <p:nvPr/>
        </p:nvGrpSpPr>
        <p:grpSpPr>
          <a:xfrm>
            <a:off x="12227990" y="1488568"/>
            <a:ext cx="1574821" cy="1569392"/>
            <a:chOff x="0" y="0"/>
            <a:chExt cx="612447" cy="620007"/>
          </a:xfrm>
        </p:grpSpPr>
        <p:sp>
          <p:nvSpPr>
            <p:cNvPr id="60" name="Freeform 72">
              <a:extLst>
                <a:ext uri="{FF2B5EF4-FFF2-40B4-BE49-F238E27FC236}">
                  <a16:creationId xmlns:a16="http://schemas.microsoft.com/office/drawing/2014/main" id="{A50C1D5A-91FA-18F8-8B9F-9A7B55A6832F}"/>
                </a:ext>
              </a:extLst>
            </p:cNvPr>
            <p:cNvSpPr/>
            <p:nvPr/>
          </p:nvSpPr>
          <p:spPr>
            <a:xfrm>
              <a:off x="0" y="0"/>
              <a:ext cx="612447" cy="620007"/>
            </a:xfrm>
            <a:custGeom>
              <a:avLst/>
              <a:gdLst/>
              <a:ahLst/>
              <a:cxnLst/>
              <a:rect l="l" t="t" r="r" b="b"/>
              <a:pathLst>
                <a:path w="612447" h="620007">
                  <a:moveTo>
                    <a:pt x="56598" y="0"/>
                  </a:moveTo>
                  <a:lnTo>
                    <a:pt x="555849" y="0"/>
                  </a:lnTo>
                  <a:cubicBezTo>
                    <a:pt x="570859" y="0"/>
                    <a:pt x="585255" y="5963"/>
                    <a:pt x="595870" y="16577"/>
                  </a:cubicBezTo>
                  <a:cubicBezTo>
                    <a:pt x="606484" y="27191"/>
                    <a:pt x="612447" y="41587"/>
                    <a:pt x="612447" y="56598"/>
                  </a:cubicBezTo>
                  <a:lnTo>
                    <a:pt x="612447" y="563408"/>
                  </a:lnTo>
                  <a:cubicBezTo>
                    <a:pt x="612447" y="594667"/>
                    <a:pt x="587107" y="620007"/>
                    <a:pt x="555849" y="620007"/>
                  </a:cubicBezTo>
                  <a:lnTo>
                    <a:pt x="56598" y="620007"/>
                  </a:lnTo>
                  <a:cubicBezTo>
                    <a:pt x="25340" y="620007"/>
                    <a:pt x="0" y="594667"/>
                    <a:pt x="0" y="563408"/>
                  </a:cubicBezTo>
                  <a:lnTo>
                    <a:pt x="0" y="56598"/>
                  </a:lnTo>
                  <a:cubicBezTo>
                    <a:pt x="0" y="25340"/>
                    <a:pt x="25340" y="0"/>
                    <a:pt x="56598" y="0"/>
                  </a:cubicBezTo>
                  <a:close/>
                </a:path>
              </a:pathLst>
            </a:custGeom>
            <a:solidFill>
              <a:srgbClr val="A6A6A6"/>
            </a:solidFill>
            <a:ln w="9525" cap="sq">
              <a:solidFill>
                <a:srgbClr val="C6D8FB"/>
              </a:solidFill>
              <a:prstDash val="solid"/>
              <a:miter/>
            </a:ln>
          </p:spPr>
          <p:txBody>
            <a:bodyPr/>
            <a:lstStyle/>
            <a:p>
              <a:endParaRPr lang="en-US" sz="1200"/>
            </a:p>
          </p:txBody>
        </p:sp>
        <p:sp>
          <p:nvSpPr>
            <p:cNvPr id="61" name="TextBox 73">
              <a:extLst>
                <a:ext uri="{FF2B5EF4-FFF2-40B4-BE49-F238E27FC236}">
                  <a16:creationId xmlns:a16="http://schemas.microsoft.com/office/drawing/2014/main" id="{7D9B1604-D5D1-752D-269D-698D14CD3CE2}"/>
                </a:ext>
              </a:extLst>
            </p:cNvPr>
            <p:cNvSpPr txBox="1"/>
            <p:nvPr/>
          </p:nvSpPr>
          <p:spPr>
            <a:xfrm>
              <a:off x="0" y="0"/>
              <a:ext cx="612447" cy="620007"/>
            </a:xfrm>
            <a:prstGeom prst="rect">
              <a:avLst/>
            </a:prstGeom>
          </p:spPr>
          <p:txBody>
            <a:bodyPr lIns="33867" tIns="33867" rIns="33867" bIns="33867" rtlCol="0" anchor="ctr"/>
            <a:lstStyle/>
            <a:p>
              <a:pPr algn="ctr">
                <a:lnSpc>
                  <a:spcPts val="1600"/>
                </a:lnSpc>
              </a:pPr>
              <a:r>
                <a:rPr lang="en-US" sz="1333" b="1">
                  <a:solidFill>
                    <a:srgbClr val="FFFFFF"/>
                  </a:solidFill>
                  <a:latin typeface="Tahoma Bold"/>
                  <a:ea typeface="Tahoma Bold"/>
                  <a:cs typeface="Tahoma Bold"/>
                  <a:sym typeface="Tahoma Bold"/>
                </a:rPr>
                <a:t>Tập đoàn</a:t>
              </a:r>
            </a:p>
          </p:txBody>
        </p:sp>
      </p:grpSp>
      <p:grpSp>
        <p:nvGrpSpPr>
          <p:cNvPr id="74" name="Group 17">
            <a:extLst>
              <a:ext uri="{FF2B5EF4-FFF2-40B4-BE49-F238E27FC236}">
                <a16:creationId xmlns:a16="http://schemas.microsoft.com/office/drawing/2014/main" id="{F0B7B426-A24E-463D-DABD-F99FAACFD833}"/>
              </a:ext>
            </a:extLst>
          </p:cNvPr>
          <p:cNvGrpSpPr/>
          <p:nvPr/>
        </p:nvGrpSpPr>
        <p:grpSpPr>
          <a:xfrm>
            <a:off x="13846989" y="976539"/>
            <a:ext cx="3281500" cy="458668"/>
            <a:chOff x="0" y="0"/>
            <a:chExt cx="1296395" cy="181202"/>
          </a:xfrm>
        </p:grpSpPr>
        <p:sp>
          <p:nvSpPr>
            <p:cNvPr id="75" name="Freeform 18">
              <a:extLst>
                <a:ext uri="{FF2B5EF4-FFF2-40B4-BE49-F238E27FC236}">
                  <a16:creationId xmlns:a16="http://schemas.microsoft.com/office/drawing/2014/main" id="{084972D7-38BB-61D7-FE32-142619C41459}"/>
                </a:ext>
              </a:extLst>
            </p:cNvPr>
            <p:cNvSpPr/>
            <p:nvPr/>
          </p:nvSpPr>
          <p:spPr>
            <a:xfrm>
              <a:off x="0" y="0"/>
              <a:ext cx="1296395" cy="181202"/>
            </a:xfrm>
            <a:custGeom>
              <a:avLst/>
              <a:gdLst/>
              <a:ahLst/>
              <a:cxnLst/>
              <a:rect l="l" t="t" r="r" b="b"/>
              <a:pathLst>
                <a:path w="1296395" h="181202">
                  <a:moveTo>
                    <a:pt x="26738" y="0"/>
                  </a:moveTo>
                  <a:lnTo>
                    <a:pt x="1269657" y="0"/>
                  </a:lnTo>
                  <a:cubicBezTo>
                    <a:pt x="1284424" y="0"/>
                    <a:pt x="1296395" y="11971"/>
                    <a:pt x="1296395" y="26738"/>
                  </a:cubicBezTo>
                  <a:lnTo>
                    <a:pt x="1296395" y="154463"/>
                  </a:lnTo>
                  <a:cubicBezTo>
                    <a:pt x="1296395" y="169230"/>
                    <a:pt x="1284424" y="181202"/>
                    <a:pt x="1269657" y="181202"/>
                  </a:cubicBezTo>
                  <a:lnTo>
                    <a:pt x="26738" y="181202"/>
                  </a:lnTo>
                  <a:cubicBezTo>
                    <a:pt x="19647" y="181202"/>
                    <a:pt x="12846" y="178385"/>
                    <a:pt x="7831" y="173370"/>
                  </a:cubicBezTo>
                  <a:cubicBezTo>
                    <a:pt x="2817" y="168356"/>
                    <a:pt x="0" y="161555"/>
                    <a:pt x="0" y="154463"/>
                  </a:cubicBezTo>
                  <a:lnTo>
                    <a:pt x="0" y="26738"/>
                  </a:lnTo>
                  <a:cubicBezTo>
                    <a:pt x="0" y="11971"/>
                    <a:pt x="11971" y="0"/>
                    <a:pt x="26738" y="0"/>
                  </a:cubicBezTo>
                  <a:close/>
                </a:path>
              </a:pathLst>
            </a:custGeom>
            <a:solidFill>
              <a:srgbClr val="2C6C98"/>
            </a:solidFill>
          </p:spPr>
          <p:txBody>
            <a:bodyPr/>
            <a:lstStyle/>
            <a:p>
              <a:endParaRPr lang="en-US" sz="1200"/>
            </a:p>
          </p:txBody>
        </p:sp>
        <p:sp>
          <p:nvSpPr>
            <p:cNvPr id="76" name="TextBox 19">
              <a:extLst>
                <a:ext uri="{FF2B5EF4-FFF2-40B4-BE49-F238E27FC236}">
                  <a16:creationId xmlns:a16="http://schemas.microsoft.com/office/drawing/2014/main" id="{F4C2A408-0D6B-DBB7-05A0-6F91CD66CA20}"/>
                </a:ext>
              </a:extLst>
            </p:cNvPr>
            <p:cNvSpPr txBox="1"/>
            <p:nvPr/>
          </p:nvSpPr>
          <p:spPr>
            <a:xfrm>
              <a:off x="0" y="0"/>
              <a:ext cx="1296395" cy="181202"/>
            </a:xfrm>
            <a:prstGeom prst="rect">
              <a:avLst/>
            </a:prstGeom>
          </p:spPr>
          <p:txBody>
            <a:bodyPr lIns="33867" tIns="33867" rIns="33867" bIns="33867" rtlCol="0" anchor="ctr"/>
            <a:lstStyle/>
            <a:p>
              <a:pPr algn="ctr">
                <a:lnSpc>
                  <a:spcPts val="1919"/>
                </a:lnSpc>
              </a:pPr>
              <a:r>
                <a:rPr lang="en-US" sz="1600">
                  <a:solidFill>
                    <a:srgbClr val="FFFFFF"/>
                  </a:solidFill>
                  <a:latin typeface="Tahoma"/>
                  <a:ea typeface="Tahoma"/>
                  <a:cs typeface="Tahoma"/>
                  <a:sym typeface="Tahoma"/>
                </a:rPr>
                <a:t>TGĐ/ GĐĐH CTTV</a:t>
              </a:r>
            </a:p>
          </p:txBody>
        </p:sp>
      </p:grpSp>
      <p:grpSp>
        <p:nvGrpSpPr>
          <p:cNvPr id="77" name="Group 32">
            <a:extLst>
              <a:ext uri="{FF2B5EF4-FFF2-40B4-BE49-F238E27FC236}">
                <a16:creationId xmlns:a16="http://schemas.microsoft.com/office/drawing/2014/main" id="{A250704A-4F02-B3EA-5A1F-1D485AD5FA99}"/>
              </a:ext>
            </a:extLst>
          </p:cNvPr>
          <p:cNvGrpSpPr/>
          <p:nvPr/>
        </p:nvGrpSpPr>
        <p:grpSpPr>
          <a:xfrm>
            <a:off x="13846989" y="1492355"/>
            <a:ext cx="3281500" cy="1569392"/>
            <a:chOff x="0" y="0"/>
            <a:chExt cx="1296395" cy="620007"/>
          </a:xfrm>
        </p:grpSpPr>
        <p:sp>
          <p:nvSpPr>
            <p:cNvPr id="78" name="Freeform 33">
              <a:extLst>
                <a:ext uri="{FF2B5EF4-FFF2-40B4-BE49-F238E27FC236}">
                  <a16:creationId xmlns:a16="http://schemas.microsoft.com/office/drawing/2014/main" id="{607DFAF9-D49D-1136-3AA3-38AF1DEB197C}"/>
                </a:ext>
              </a:extLst>
            </p:cNvPr>
            <p:cNvSpPr/>
            <p:nvPr/>
          </p:nvSpPr>
          <p:spPr>
            <a:xfrm>
              <a:off x="0" y="0"/>
              <a:ext cx="1296395" cy="620007"/>
            </a:xfrm>
            <a:custGeom>
              <a:avLst/>
              <a:gdLst/>
              <a:ahLst/>
              <a:cxnLst/>
              <a:rect l="l" t="t" r="r" b="b"/>
              <a:pathLst>
                <a:path w="1296395" h="620007">
                  <a:moveTo>
                    <a:pt x="26738" y="0"/>
                  </a:moveTo>
                  <a:lnTo>
                    <a:pt x="1269657" y="0"/>
                  </a:lnTo>
                  <a:cubicBezTo>
                    <a:pt x="1284424" y="0"/>
                    <a:pt x="1296395" y="11971"/>
                    <a:pt x="1296395" y="26738"/>
                  </a:cubicBezTo>
                  <a:lnTo>
                    <a:pt x="1296395" y="593268"/>
                  </a:lnTo>
                  <a:cubicBezTo>
                    <a:pt x="1296395" y="608036"/>
                    <a:pt x="1284424" y="620007"/>
                    <a:pt x="1269657" y="620007"/>
                  </a:cubicBezTo>
                  <a:lnTo>
                    <a:pt x="26738" y="620007"/>
                  </a:lnTo>
                  <a:cubicBezTo>
                    <a:pt x="11971" y="620007"/>
                    <a:pt x="0" y="608036"/>
                    <a:pt x="0" y="593268"/>
                  </a:cubicBezTo>
                  <a:lnTo>
                    <a:pt x="0" y="26738"/>
                  </a:lnTo>
                  <a:cubicBezTo>
                    <a:pt x="0" y="11971"/>
                    <a:pt x="11971" y="0"/>
                    <a:pt x="26738" y="0"/>
                  </a:cubicBezTo>
                  <a:close/>
                </a:path>
              </a:pathLst>
            </a:custGeom>
            <a:solidFill>
              <a:srgbClr val="F9F9F9"/>
            </a:solidFill>
            <a:ln w="9525" cap="sq">
              <a:solidFill>
                <a:srgbClr val="A6A6A6"/>
              </a:solidFill>
              <a:prstDash val="solid"/>
              <a:miter/>
            </a:ln>
          </p:spPr>
          <p:txBody>
            <a:bodyPr/>
            <a:lstStyle/>
            <a:p>
              <a:endParaRPr lang="en-US" sz="1200"/>
            </a:p>
          </p:txBody>
        </p:sp>
        <p:sp>
          <p:nvSpPr>
            <p:cNvPr id="79" name="TextBox 34">
              <a:extLst>
                <a:ext uri="{FF2B5EF4-FFF2-40B4-BE49-F238E27FC236}">
                  <a16:creationId xmlns:a16="http://schemas.microsoft.com/office/drawing/2014/main" id="{55AD1B50-6B8C-B560-109C-FE4FEBDC29B6}"/>
                </a:ext>
              </a:extLst>
            </p:cNvPr>
            <p:cNvSpPr txBox="1"/>
            <p:nvPr/>
          </p:nvSpPr>
          <p:spPr>
            <a:xfrm>
              <a:off x="0" y="0"/>
              <a:ext cx="1296395" cy="620007"/>
            </a:xfrm>
            <a:prstGeom prst="rect">
              <a:avLst/>
            </a:prstGeom>
          </p:spPr>
          <p:txBody>
            <a:bodyPr lIns="33867" tIns="33867" rIns="33867" bIns="33867" rtlCol="0" anchor="ctr"/>
            <a:lstStyle/>
            <a:p>
              <a:pPr>
                <a:lnSpc>
                  <a:spcPts val="1600"/>
                </a:lnSpc>
              </a:pPr>
              <a:r>
                <a:rPr lang="en-US" sz="1333" b="1">
                  <a:solidFill>
                    <a:srgbClr val="FF3131"/>
                  </a:solidFill>
                  <a:latin typeface="Tahoma Bold"/>
                  <a:ea typeface="Tahoma Bold"/>
                  <a:cs typeface="Tahoma Bold"/>
                  <a:sym typeface="Tahoma Bold"/>
                </a:rPr>
                <a:t>60%</a:t>
              </a:r>
              <a:r>
                <a:rPr lang="en-US" sz="1333">
                  <a:solidFill>
                    <a:srgbClr val="3B5272"/>
                  </a:solidFill>
                  <a:latin typeface="Tahoma"/>
                  <a:ea typeface="Tahoma"/>
                  <a:cs typeface="Tahoma"/>
                  <a:sym typeface="Tahoma"/>
                </a:rPr>
                <a:t> phân bổ cho </a:t>
              </a:r>
              <a:r>
                <a:rPr lang="en-US" sz="1333" b="1">
                  <a:solidFill>
                    <a:srgbClr val="3B5272"/>
                  </a:solidFill>
                  <a:latin typeface="Tahoma Bold"/>
                  <a:ea typeface="Tahoma Bold"/>
                  <a:cs typeface="Tahoma Bold"/>
                  <a:sym typeface="Tahoma Bold"/>
                </a:rPr>
                <a:t>4 KP</a:t>
              </a:r>
              <a:r>
                <a:rPr lang="en-US" sz="1333">
                  <a:solidFill>
                    <a:srgbClr val="3B5272"/>
                  </a:solidFill>
                  <a:latin typeface="Tahoma"/>
                  <a:ea typeface="Tahoma"/>
                  <a:cs typeface="Tahoma"/>
                  <a:sym typeface="Tahoma"/>
                </a:rPr>
                <a:t>I bên dưới:</a:t>
              </a:r>
            </a:p>
            <a:p>
              <a:pPr marL="287882" lvl="1" indent="-143941">
                <a:lnSpc>
                  <a:spcPts val="1600"/>
                </a:lnSpc>
                <a:buFont typeface="Arial"/>
                <a:buChar char="•"/>
              </a:pPr>
              <a:r>
                <a:rPr lang="en-US" sz="1333">
                  <a:solidFill>
                    <a:srgbClr val="3B5272"/>
                  </a:solidFill>
                  <a:latin typeface="Tahoma"/>
                  <a:ea typeface="Tahoma"/>
                  <a:cs typeface="Tahoma"/>
                  <a:sym typeface="Tahoma"/>
                </a:rPr>
                <a:t>Doanh thu thuần (CTTV)</a:t>
              </a:r>
            </a:p>
            <a:p>
              <a:pPr marL="287882" lvl="1" indent="-143941">
                <a:lnSpc>
                  <a:spcPts val="1600"/>
                </a:lnSpc>
                <a:buFont typeface="Arial"/>
                <a:buChar char="•"/>
              </a:pPr>
              <a:r>
                <a:rPr lang="en-US" sz="1333">
                  <a:solidFill>
                    <a:srgbClr val="3B5272"/>
                  </a:solidFill>
                  <a:latin typeface="Tahoma"/>
                  <a:ea typeface="Tahoma"/>
                  <a:cs typeface="Tahoma"/>
                  <a:sym typeface="Tahoma"/>
                </a:rPr>
                <a:t>Lợi nhuận sau thuế (CTTV)</a:t>
              </a:r>
            </a:p>
            <a:p>
              <a:pPr marL="287882" lvl="1" indent="-143941">
                <a:lnSpc>
                  <a:spcPts val="1600"/>
                </a:lnSpc>
                <a:buFont typeface="Arial"/>
                <a:buChar char="•"/>
              </a:pPr>
              <a:r>
                <a:rPr lang="en-US" sz="1333">
                  <a:solidFill>
                    <a:srgbClr val="3B5272"/>
                  </a:solidFill>
                  <a:latin typeface="Tahoma"/>
                  <a:ea typeface="Tahoma"/>
                  <a:cs typeface="Tahoma"/>
                  <a:sym typeface="Tahoma"/>
                </a:rPr>
                <a:t>Hiệu suất máy (CTTV)</a:t>
              </a:r>
            </a:p>
            <a:p>
              <a:pPr marL="287882" lvl="1" indent="-143941">
                <a:lnSpc>
                  <a:spcPts val="1600"/>
                </a:lnSpc>
                <a:buFont typeface="Arial"/>
                <a:buChar char="•"/>
              </a:pPr>
              <a:r>
                <a:rPr lang="en-US" sz="1333">
                  <a:solidFill>
                    <a:srgbClr val="3B5272"/>
                  </a:solidFill>
                  <a:latin typeface="Tahoma"/>
                  <a:ea typeface="Tahoma"/>
                  <a:cs typeface="Tahoma"/>
                  <a:sym typeface="Tahoma"/>
                </a:rPr>
                <a:t>Cải tiến tiết kiệm (CTTV)</a:t>
              </a:r>
            </a:p>
            <a:p>
              <a:pPr>
                <a:lnSpc>
                  <a:spcPts val="1600"/>
                </a:lnSpc>
              </a:pPr>
              <a:endParaRPr lang="en-US" sz="1333">
                <a:solidFill>
                  <a:srgbClr val="3B5272"/>
                </a:solidFill>
                <a:latin typeface="Tahoma"/>
                <a:ea typeface="Tahoma"/>
                <a:cs typeface="Tahoma"/>
                <a:sym typeface="Tahoma"/>
              </a:endParaRPr>
            </a:p>
            <a:p>
              <a:pPr>
                <a:lnSpc>
                  <a:spcPts val="1600"/>
                </a:lnSpc>
              </a:pPr>
              <a:endParaRPr lang="en-US" sz="1333">
                <a:solidFill>
                  <a:srgbClr val="3B5272"/>
                </a:solidFill>
                <a:latin typeface="Tahoma"/>
                <a:ea typeface="Tahoma"/>
                <a:cs typeface="Tahoma"/>
                <a:sym typeface="Tahoma"/>
              </a:endParaRPr>
            </a:p>
          </p:txBody>
        </p:sp>
      </p:grpSp>
      <p:grpSp>
        <p:nvGrpSpPr>
          <p:cNvPr id="80" name="Group 41">
            <a:extLst>
              <a:ext uri="{FF2B5EF4-FFF2-40B4-BE49-F238E27FC236}">
                <a16:creationId xmlns:a16="http://schemas.microsoft.com/office/drawing/2014/main" id="{83E4FA8E-95D9-646E-730A-CC0F65DADEAD}"/>
              </a:ext>
            </a:extLst>
          </p:cNvPr>
          <p:cNvGrpSpPr/>
          <p:nvPr/>
        </p:nvGrpSpPr>
        <p:grpSpPr>
          <a:xfrm>
            <a:off x="13846989" y="3106197"/>
            <a:ext cx="3281500" cy="1569392"/>
            <a:chOff x="0" y="0"/>
            <a:chExt cx="1296395" cy="620007"/>
          </a:xfrm>
        </p:grpSpPr>
        <p:sp>
          <p:nvSpPr>
            <p:cNvPr id="81" name="Freeform 42">
              <a:extLst>
                <a:ext uri="{FF2B5EF4-FFF2-40B4-BE49-F238E27FC236}">
                  <a16:creationId xmlns:a16="http://schemas.microsoft.com/office/drawing/2014/main" id="{96420E85-BC91-1B87-1EF4-84B1CFF9F7BE}"/>
                </a:ext>
              </a:extLst>
            </p:cNvPr>
            <p:cNvSpPr/>
            <p:nvPr/>
          </p:nvSpPr>
          <p:spPr>
            <a:xfrm>
              <a:off x="0" y="0"/>
              <a:ext cx="1296395" cy="620007"/>
            </a:xfrm>
            <a:custGeom>
              <a:avLst/>
              <a:gdLst/>
              <a:ahLst/>
              <a:cxnLst/>
              <a:rect l="l" t="t" r="r" b="b"/>
              <a:pathLst>
                <a:path w="1296395" h="620007">
                  <a:moveTo>
                    <a:pt x="26738" y="0"/>
                  </a:moveTo>
                  <a:lnTo>
                    <a:pt x="1269657" y="0"/>
                  </a:lnTo>
                  <a:cubicBezTo>
                    <a:pt x="1284424" y="0"/>
                    <a:pt x="1296395" y="11971"/>
                    <a:pt x="1296395" y="26738"/>
                  </a:cubicBezTo>
                  <a:lnTo>
                    <a:pt x="1296395" y="593268"/>
                  </a:lnTo>
                  <a:cubicBezTo>
                    <a:pt x="1296395" y="608036"/>
                    <a:pt x="1284424" y="620007"/>
                    <a:pt x="1269657" y="620007"/>
                  </a:cubicBezTo>
                  <a:lnTo>
                    <a:pt x="26738" y="620007"/>
                  </a:lnTo>
                  <a:cubicBezTo>
                    <a:pt x="11971" y="620007"/>
                    <a:pt x="0" y="608036"/>
                    <a:pt x="0" y="593268"/>
                  </a:cubicBezTo>
                  <a:lnTo>
                    <a:pt x="0" y="26738"/>
                  </a:lnTo>
                  <a:cubicBezTo>
                    <a:pt x="0" y="11971"/>
                    <a:pt x="11971" y="0"/>
                    <a:pt x="26738" y="0"/>
                  </a:cubicBezTo>
                  <a:close/>
                </a:path>
              </a:pathLst>
            </a:custGeom>
            <a:solidFill>
              <a:srgbClr val="F9F9F9"/>
            </a:solidFill>
            <a:ln w="9525" cap="sq">
              <a:solidFill>
                <a:srgbClr val="A6A6A6"/>
              </a:solidFill>
              <a:prstDash val="solid"/>
              <a:miter/>
            </a:ln>
          </p:spPr>
          <p:txBody>
            <a:bodyPr/>
            <a:lstStyle/>
            <a:p>
              <a:endParaRPr lang="en-US" sz="1200"/>
            </a:p>
          </p:txBody>
        </p:sp>
        <p:sp>
          <p:nvSpPr>
            <p:cNvPr id="82" name="TextBox 43">
              <a:extLst>
                <a:ext uri="{FF2B5EF4-FFF2-40B4-BE49-F238E27FC236}">
                  <a16:creationId xmlns:a16="http://schemas.microsoft.com/office/drawing/2014/main" id="{5B9C8B53-38B9-4EC4-AD3C-83357674697C}"/>
                </a:ext>
              </a:extLst>
            </p:cNvPr>
            <p:cNvSpPr txBox="1"/>
            <p:nvPr/>
          </p:nvSpPr>
          <p:spPr>
            <a:xfrm>
              <a:off x="0" y="0"/>
              <a:ext cx="1296395" cy="620007"/>
            </a:xfrm>
            <a:prstGeom prst="rect">
              <a:avLst/>
            </a:prstGeom>
          </p:spPr>
          <p:txBody>
            <a:bodyPr lIns="33867" tIns="33867" rIns="33867" bIns="33867" rtlCol="0" anchor="ctr"/>
            <a:lstStyle/>
            <a:p>
              <a:pPr>
                <a:lnSpc>
                  <a:spcPts val="1600"/>
                </a:lnSpc>
              </a:pPr>
              <a:r>
                <a:rPr lang="en-US" sz="1333" b="1">
                  <a:solidFill>
                    <a:srgbClr val="FF3131"/>
                  </a:solidFill>
                  <a:latin typeface="Tahoma Bold"/>
                  <a:ea typeface="Tahoma Bold"/>
                  <a:cs typeface="Tahoma Bold"/>
                  <a:sym typeface="Tahoma Bold"/>
                </a:rPr>
                <a:t>10%</a:t>
              </a:r>
              <a:r>
                <a:rPr lang="en-US" sz="1333">
                  <a:solidFill>
                    <a:srgbClr val="FF3131"/>
                  </a:solidFill>
                  <a:latin typeface="Tahoma"/>
                  <a:ea typeface="Tahoma"/>
                  <a:cs typeface="Tahoma"/>
                  <a:sym typeface="Tahoma"/>
                </a:rPr>
                <a:t> </a:t>
              </a:r>
              <a:r>
                <a:rPr lang="en-US" sz="1333">
                  <a:solidFill>
                    <a:srgbClr val="3B5272"/>
                  </a:solidFill>
                  <a:latin typeface="Tahoma"/>
                  <a:ea typeface="Tahoma"/>
                  <a:cs typeface="Tahoma"/>
                  <a:sym typeface="Tahoma"/>
                </a:rPr>
                <a:t>phân bổ cho </a:t>
              </a:r>
              <a:r>
                <a:rPr lang="en-US" sz="1333" b="1">
                  <a:solidFill>
                    <a:srgbClr val="3B5272"/>
                  </a:solidFill>
                  <a:latin typeface="Tahoma"/>
                  <a:ea typeface="Tahoma"/>
                  <a:cs typeface="Tahoma"/>
                  <a:sym typeface="Tahoma"/>
                </a:rPr>
                <a:t>1</a:t>
              </a:r>
              <a:r>
                <a:rPr lang="en-US" sz="1333" b="1">
                  <a:solidFill>
                    <a:srgbClr val="3B5272"/>
                  </a:solidFill>
                  <a:latin typeface="Tahoma Bold"/>
                  <a:ea typeface="Tahoma Bold"/>
                  <a:cs typeface="Tahoma Bold"/>
                  <a:sym typeface="Tahoma Bold"/>
                </a:rPr>
                <a:t> KPI/PI</a:t>
              </a:r>
              <a:r>
                <a:rPr lang="en-US" sz="1333">
                  <a:solidFill>
                    <a:srgbClr val="3B5272"/>
                  </a:solidFill>
                  <a:latin typeface="Tahoma"/>
                  <a:ea typeface="Tahoma"/>
                  <a:cs typeface="Tahoma"/>
                  <a:sym typeface="Tahoma"/>
                </a:rPr>
                <a:t> có liên quan được chọn từ KPI của TGĐ DTH (CTTV)</a:t>
              </a:r>
            </a:p>
            <a:p>
              <a:pPr>
                <a:lnSpc>
                  <a:spcPts val="1600"/>
                </a:lnSpc>
              </a:pPr>
              <a:endParaRPr lang="en-US" sz="1333">
                <a:solidFill>
                  <a:srgbClr val="3B5272"/>
                </a:solidFill>
                <a:latin typeface="Tahoma"/>
                <a:ea typeface="Tahoma"/>
                <a:cs typeface="Tahoma"/>
                <a:sym typeface="Tahoma"/>
              </a:endParaRPr>
            </a:p>
            <a:p>
              <a:pPr>
                <a:lnSpc>
                  <a:spcPts val="1600"/>
                </a:lnSpc>
              </a:pPr>
              <a:endParaRPr lang="en-US" sz="1333">
                <a:solidFill>
                  <a:srgbClr val="3B5272"/>
                </a:solidFill>
                <a:latin typeface="Tahoma"/>
                <a:ea typeface="Tahoma"/>
                <a:cs typeface="Tahoma"/>
                <a:sym typeface="Tahoma"/>
              </a:endParaRPr>
            </a:p>
            <a:p>
              <a:pPr>
                <a:lnSpc>
                  <a:spcPts val="1600"/>
                </a:lnSpc>
              </a:pPr>
              <a:r>
                <a:rPr lang="en-US" sz="1333" b="1">
                  <a:solidFill>
                    <a:srgbClr val="FF3131"/>
                  </a:solidFill>
                  <a:latin typeface="Tahoma Bold"/>
                  <a:ea typeface="Tahoma Bold"/>
                  <a:cs typeface="Tahoma Bold"/>
                  <a:sym typeface="Tahoma Bold"/>
                </a:rPr>
                <a:t>10%</a:t>
              </a:r>
              <a:r>
                <a:rPr lang="en-US" sz="1333">
                  <a:solidFill>
                    <a:srgbClr val="FF3131"/>
                  </a:solidFill>
                  <a:latin typeface="Tahoma"/>
                  <a:ea typeface="Tahoma"/>
                  <a:cs typeface="Tahoma"/>
                  <a:sym typeface="Tahoma"/>
                </a:rPr>
                <a:t> </a:t>
              </a:r>
              <a:r>
                <a:rPr lang="en-US" sz="1333">
                  <a:solidFill>
                    <a:srgbClr val="3B5272"/>
                  </a:solidFill>
                  <a:latin typeface="Tahoma"/>
                  <a:ea typeface="Tahoma"/>
                  <a:cs typeface="Tahoma"/>
                  <a:sym typeface="Tahoma"/>
                </a:rPr>
                <a:t>phân bổ cho </a:t>
              </a:r>
              <a:r>
                <a:rPr lang="en-US" sz="1333" b="1">
                  <a:solidFill>
                    <a:srgbClr val="3B5272"/>
                  </a:solidFill>
                  <a:latin typeface="Tahoma"/>
                  <a:ea typeface="Tahoma"/>
                  <a:cs typeface="Tahoma"/>
                  <a:sym typeface="Tahoma"/>
                </a:rPr>
                <a:t>1</a:t>
              </a:r>
              <a:r>
                <a:rPr lang="en-US" sz="1333" b="1">
                  <a:solidFill>
                    <a:srgbClr val="3B5272"/>
                  </a:solidFill>
                  <a:latin typeface="Tahoma Bold"/>
                  <a:ea typeface="Tahoma Bold"/>
                  <a:cs typeface="Tahoma Bold"/>
                  <a:sym typeface="Tahoma Bold"/>
                </a:rPr>
                <a:t> KPI/PI</a:t>
              </a:r>
              <a:r>
                <a:rPr lang="en-US" sz="1333">
                  <a:solidFill>
                    <a:srgbClr val="3B5272"/>
                  </a:solidFill>
                  <a:latin typeface="Tahoma"/>
                  <a:ea typeface="Tahoma"/>
                  <a:cs typeface="Tahoma"/>
                  <a:sym typeface="Tahoma"/>
                </a:rPr>
                <a:t> có liên quan được chọn từ KPI của GĐ (Head) DTH (CTTV)</a:t>
              </a:r>
            </a:p>
          </p:txBody>
        </p:sp>
      </p:grpSp>
      <p:grpSp>
        <p:nvGrpSpPr>
          <p:cNvPr id="83" name="Group 50">
            <a:extLst>
              <a:ext uri="{FF2B5EF4-FFF2-40B4-BE49-F238E27FC236}">
                <a16:creationId xmlns:a16="http://schemas.microsoft.com/office/drawing/2014/main" id="{5974919F-105A-AD31-A0B8-ED22A90EE439}"/>
              </a:ext>
            </a:extLst>
          </p:cNvPr>
          <p:cNvGrpSpPr/>
          <p:nvPr/>
        </p:nvGrpSpPr>
        <p:grpSpPr>
          <a:xfrm>
            <a:off x="13846989" y="4720040"/>
            <a:ext cx="3281500" cy="747737"/>
            <a:chOff x="0" y="0"/>
            <a:chExt cx="1296395" cy="295402"/>
          </a:xfrm>
        </p:grpSpPr>
        <p:sp>
          <p:nvSpPr>
            <p:cNvPr id="84" name="Freeform 51">
              <a:extLst>
                <a:ext uri="{FF2B5EF4-FFF2-40B4-BE49-F238E27FC236}">
                  <a16:creationId xmlns:a16="http://schemas.microsoft.com/office/drawing/2014/main" id="{7AD7FEF5-8E1F-0E5C-3A54-343B374CFF89}"/>
                </a:ext>
              </a:extLst>
            </p:cNvPr>
            <p:cNvSpPr/>
            <p:nvPr/>
          </p:nvSpPr>
          <p:spPr>
            <a:xfrm>
              <a:off x="0" y="0"/>
              <a:ext cx="1296395" cy="295402"/>
            </a:xfrm>
            <a:custGeom>
              <a:avLst/>
              <a:gdLst/>
              <a:ahLst/>
              <a:cxnLst/>
              <a:rect l="l" t="t" r="r" b="b"/>
              <a:pathLst>
                <a:path w="1296395" h="295402">
                  <a:moveTo>
                    <a:pt x="26738" y="0"/>
                  </a:moveTo>
                  <a:lnTo>
                    <a:pt x="1269657" y="0"/>
                  </a:lnTo>
                  <a:cubicBezTo>
                    <a:pt x="1284424" y="0"/>
                    <a:pt x="1296395" y="11971"/>
                    <a:pt x="1296395" y="26738"/>
                  </a:cubicBezTo>
                  <a:lnTo>
                    <a:pt x="1296395" y="268664"/>
                  </a:lnTo>
                  <a:cubicBezTo>
                    <a:pt x="1296395" y="283431"/>
                    <a:pt x="1284424" y="295402"/>
                    <a:pt x="1269657" y="295402"/>
                  </a:cubicBezTo>
                  <a:lnTo>
                    <a:pt x="26738" y="295402"/>
                  </a:lnTo>
                  <a:cubicBezTo>
                    <a:pt x="11971" y="295402"/>
                    <a:pt x="0" y="283431"/>
                    <a:pt x="0" y="268664"/>
                  </a:cubicBezTo>
                  <a:lnTo>
                    <a:pt x="0" y="26738"/>
                  </a:lnTo>
                  <a:cubicBezTo>
                    <a:pt x="0" y="11971"/>
                    <a:pt x="11971" y="0"/>
                    <a:pt x="26738" y="0"/>
                  </a:cubicBezTo>
                  <a:close/>
                </a:path>
              </a:pathLst>
            </a:custGeom>
            <a:solidFill>
              <a:srgbClr val="F9F9F9"/>
            </a:solidFill>
            <a:ln w="9525" cap="sq">
              <a:solidFill>
                <a:srgbClr val="A6A6A6"/>
              </a:solidFill>
              <a:prstDash val="solid"/>
              <a:miter/>
            </a:ln>
          </p:spPr>
          <p:txBody>
            <a:bodyPr/>
            <a:lstStyle/>
            <a:p>
              <a:endParaRPr lang="en-US" sz="1200"/>
            </a:p>
          </p:txBody>
        </p:sp>
        <p:sp>
          <p:nvSpPr>
            <p:cNvPr id="85" name="TextBox 52">
              <a:extLst>
                <a:ext uri="{FF2B5EF4-FFF2-40B4-BE49-F238E27FC236}">
                  <a16:creationId xmlns:a16="http://schemas.microsoft.com/office/drawing/2014/main" id="{179C3473-6C73-9F05-55CE-27E45321D6D6}"/>
                </a:ext>
              </a:extLst>
            </p:cNvPr>
            <p:cNvSpPr txBox="1"/>
            <p:nvPr/>
          </p:nvSpPr>
          <p:spPr>
            <a:xfrm>
              <a:off x="0" y="0"/>
              <a:ext cx="1296395" cy="295402"/>
            </a:xfrm>
            <a:prstGeom prst="rect">
              <a:avLst/>
            </a:prstGeom>
          </p:spPr>
          <p:txBody>
            <a:bodyPr lIns="33867" tIns="33867" rIns="33867" bIns="33867" rtlCol="0" anchor="ctr"/>
            <a:lstStyle/>
            <a:p>
              <a:pPr>
                <a:lnSpc>
                  <a:spcPts val="1600"/>
                </a:lnSpc>
              </a:pPr>
              <a:r>
                <a:rPr lang="en-US" sz="1333" b="1">
                  <a:solidFill>
                    <a:srgbClr val="FF3131"/>
                  </a:solidFill>
                  <a:latin typeface="Tahoma Bold"/>
                  <a:ea typeface="Tahoma Bold"/>
                  <a:cs typeface="Tahoma Bold"/>
                  <a:sym typeface="Tahoma Bold"/>
                </a:rPr>
                <a:t>20%</a:t>
              </a:r>
              <a:r>
                <a:rPr lang="en-US" sz="1333">
                  <a:solidFill>
                    <a:srgbClr val="3B5272"/>
                  </a:solidFill>
                  <a:latin typeface="Tahoma"/>
                  <a:ea typeface="Tahoma"/>
                  <a:cs typeface="Tahoma"/>
                  <a:sym typeface="Tahoma"/>
                </a:rPr>
                <a:t> phân bổ cho </a:t>
              </a:r>
              <a:r>
                <a:rPr lang="en-US" sz="1333" b="1">
                  <a:solidFill>
                    <a:srgbClr val="3B5272"/>
                  </a:solidFill>
                  <a:latin typeface="Tahoma Bold"/>
                  <a:ea typeface="Tahoma Bold"/>
                  <a:cs typeface="Tahoma Bold"/>
                  <a:sym typeface="Tahoma Bold"/>
                </a:rPr>
                <a:t>4 KPI</a:t>
              </a:r>
              <a:r>
                <a:rPr lang="en-US" sz="1333">
                  <a:solidFill>
                    <a:srgbClr val="3B5272"/>
                  </a:solidFill>
                  <a:latin typeface="Tahoma"/>
                  <a:ea typeface="Tahoma"/>
                  <a:cs typeface="Tahoma"/>
                  <a:sym typeface="Tahoma"/>
                </a:rPr>
                <a:t> ưu tiên khác (CTTV)</a:t>
              </a:r>
            </a:p>
          </p:txBody>
        </p:sp>
      </p:grpSp>
      <p:grpSp>
        <p:nvGrpSpPr>
          <p:cNvPr id="86" name="Group 59">
            <a:extLst>
              <a:ext uri="{FF2B5EF4-FFF2-40B4-BE49-F238E27FC236}">
                <a16:creationId xmlns:a16="http://schemas.microsoft.com/office/drawing/2014/main" id="{81AD01F2-EA66-74D1-2BE4-D46EAF79D4AD}"/>
              </a:ext>
            </a:extLst>
          </p:cNvPr>
          <p:cNvGrpSpPr/>
          <p:nvPr/>
        </p:nvGrpSpPr>
        <p:grpSpPr>
          <a:xfrm>
            <a:off x="13846989" y="5489556"/>
            <a:ext cx="3281500" cy="641581"/>
            <a:chOff x="0" y="0"/>
            <a:chExt cx="1296395" cy="253464"/>
          </a:xfrm>
        </p:grpSpPr>
        <p:sp>
          <p:nvSpPr>
            <p:cNvPr id="87" name="Freeform 60">
              <a:extLst>
                <a:ext uri="{FF2B5EF4-FFF2-40B4-BE49-F238E27FC236}">
                  <a16:creationId xmlns:a16="http://schemas.microsoft.com/office/drawing/2014/main" id="{48CB9E20-1688-756A-5A7B-DF15C73A5C7C}"/>
                </a:ext>
              </a:extLst>
            </p:cNvPr>
            <p:cNvSpPr/>
            <p:nvPr/>
          </p:nvSpPr>
          <p:spPr>
            <a:xfrm>
              <a:off x="0" y="0"/>
              <a:ext cx="1296395" cy="253464"/>
            </a:xfrm>
            <a:custGeom>
              <a:avLst/>
              <a:gdLst/>
              <a:ahLst/>
              <a:cxnLst/>
              <a:rect l="l" t="t" r="r" b="b"/>
              <a:pathLst>
                <a:path w="1296395" h="253464">
                  <a:moveTo>
                    <a:pt x="26738" y="0"/>
                  </a:moveTo>
                  <a:lnTo>
                    <a:pt x="1269657" y="0"/>
                  </a:lnTo>
                  <a:cubicBezTo>
                    <a:pt x="1284424" y="0"/>
                    <a:pt x="1296395" y="11971"/>
                    <a:pt x="1296395" y="26738"/>
                  </a:cubicBezTo>
                  <a:lnTo>
                    <a:pt x="1296395" y="226726"/>
                  </a:lnTo>
                  <a:cubicBezTo>
                    <a:pt x="1296395" y="233817"/>
                    <a:pt x="1293578" y="240618"/>
                    <a:pt x="1288564" y="245632"/>
                  </a:cubicBezTo>
                  <a:cubicBezTo>
                    <a:pt x="1283549" y="250647"/>
                    <a:pt x="1276748" y="253464"/>
                    <a:pt x="1269657" y="253464"/>
                  </a:cubicBezTo>
                  <a:lnTo>
                    <a:pt x="26738" y="253464"/>
                  </a:lnTo>
                  <a:cubicBezTo>
                    <a:pt x="11971" y="253464"/>
                    <a:pt x="0" y="241493"/>
                    <a:pt x="0" y="226726"/>
                  </a:cubicBezTo>
                  <a:lnTo>
                    <a:pt x="0" y="26738"/>
                  </a:lnTo>
                  <a:cubicBezTo>
                    <a:pt x="0" y="11971"/>
                    <a:pt x="11971" y="0"/>
                    <a:pt x="26738" y="0"/>
                  </a:cubicBezTo>
                  <a:close/>
                </a:path>
              </a:pathLst>
            </a:custGeom>
            <a:solidFill>
              <a:srgbClr val="FFF3C2"/>
            </a:solidFill>
            <a:ln w="9525" cap="sq">
              <a:solidFill>
                <a:srgbClr val="C6D8FB"/>
              </a:solidFill>
              <a:prstDash val="solid"/>
              <a:miter/>
            </a:ln>
          </p:spPr>
          <p:txBody>
            <a:bodyPr/>
            <a:lstStyle/>
            <a:p>
              <a:endParaRPr lang="en-US" sz="1200"/>
            </a:p>
          </p:txBody>
        </p:sp>
        <p:sp>
          <p:nvSpPr>
            <p:cNvPr id="88" name="TextBox 61">
              <a:extLst>
                <a:ext uri="{FF2B5EF4-FFF2-40B4-BE49-F238E27FC236}">
                  <a16:creationId xmlns:a16="http://schemas.microsoft.com/office/drawing/2014/main" id="{12641210-F7F5-E06B-5A9F-5F59FE41D5BB}"/>
                </a:ext>
              </a:extLst>
            </p:cNvPr>
            <p:cNvSpPr txBox="1"/>
            <p:nvPr/>
          </p:nvSpPr>
          <p:spPr>
            <a:xfrm>
              <a:off x="0" y="-9525"/>
              <a:ext cx="1296395" cy="262989"/>
            </a:xfrm>
            <a:prstGeom prst="rect">
              <a:avLst/>
            </a:prstGeom>
          </p:spPr>
          <p:txBody>
            <a:bodyPr lIns="33867" tIns="33867" rIns="33867" bIns="33867" rtlCol="0" anchor="ctr"/>
            <a:lstStyle/>
            <a:p>
              <a:pPr algn="ctr">
                <a:lnSpc>
                  <a:spcPts val="1759"/>
                </a:lnSpc>
              </a:pPr>
              <a:r>
                <a:rPr lang="en-US" sz="1466" b="1">
                  <a:solidFill>
                    <a:srgbClr val="3B5272"/>
                  </a:solidFill>
                  <a:latin typeface="Tahoma Bold"/>
                  <a:ea typeface="Tahoma Bold"/>
                  <a:cs typeface="Tahoma Bold"/>
                  <a:sym typeface="Tahoma Bold"/>
                </a:rPr>
                <a:t>10 KPI</a:t>
              </a:r>
            </a:p>
          </p:txBody>
        </p:sp>
      </p:grpSp>
      <p:cxnSp>
        <p:nvCxnSpPr>
          <p:cNvPr id="89" name="Straight Connector 88">
            <a:extLst>
              <a:ext uri="{FF2B5EF4-FFF2-40B4-BE49-F238E27FC236}">
                <a16:creationId xmlns:a16="http://schemas.microsoft.com/office/drawing/2014/main" id="{0FC157EB-A7D0-4193-9923-47B119D26B7D}"/>
              </a:ext>
            </a:extLst>
          </p:cNvPr>
          <p:cNvCxnSpPr>
            <a:cxnSpLocks/>
          </p:cNvCxnSpPr>
          <p:nvPr/>
        </p:nvCxnSpPr>
        <p:spPr>
          <a:xfrm>
            <a:off x="0" y="3335243"/>
            <a:ext cx="12192000" cy="0"/>
          </a:xfrm>
          <a:prstGeom prst="line">
            <a:avLst/>
          </a:prstGeom>
          <a:ln w="57150">
            <a:prstDash val="sysDot"/>
          </a:ln>
        </p:spPr>
        <p:style>
          <a:lnRef idx="2">
            <a:schemeClr val="accent1"/>
          </a:lnRef>
          <a:fillRef idx="0">
            <a:schemeClr val="accent1"/>
          </a:fillRef>
          <a:effectRef idx="1">
            <a:schemeClr val="accent1"/>
          </a:effectRef>
          <a:fontRef idx="minor">
            <a:schemeClr val="tx1"/>
          </a:fontRef>
        </p:style>
      </p:cxnSp>
      <p:sp>
        <p:nvSpPr>
          <p:cNvPr id="90" name="Slide Number Placeholder 89">
            <a:extLst>
              <a:ext uri="{FF2B5EF4-FFF2-40B4-BE49-F238E27FC236}">
                <a16:creationId xmlns:a16="http://schemas.microsoft.com/office/drawing/2014/main" id="{4866E298-5367-5206-65B3-F8C3BF653848}"/>
              </a:ext>
            </a:extLst>
          </p:cNvPr>
          <p:cNvSpPr>
            <a:spLocks noGrp="1"/>
          </p:cNvSpPr>
          <p:nvPr>
            <p:ph type="sldNum" sz="quarter" idx="12"/>
          </p:nvPr>
        </p:nvSpPr>
        <p:spPr/>
        <p:txBody>
          <a:bodyPr/>
          <a:lstStyle/>
          <a:p>
            <a:fld id="{06D5B5F9-488F-4DD3-845F-86795626F9DE}" type="slidenum">
              <a:rPr lang="en-US" smtClean="0"/>
              <a:t>4</a:t>
            </a:fld>
            <a:endParaRPr lang="en-US"/>
          </a:p>
        </p:txBody>
      </p:sp>
    </p:spTree>
    <p:extLst>
      <p:ext uri="{BB962C8B-B14F-4D97-AF65-F5344CB8AC3E}">
        <p14:creationId xmlns:p14="http://schemas.microsoft.com/office/powerpoint/2010/main" val="3696452543"/>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5D3A0-BE13-1DCD-0CF9-1FCBAFA1418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B31AC5D-8032-83C0-7618-A91689E3CC2A}"/>
              </a:ext>
            </a:extLst>
          </p:cNvPr>
          <p:cNvGraphicFramePr>
            <a:graphicFrameLocks noGrp="1"/>
          </p:cNvGraphicFramePr>
          <p:nvPr>
            <p:extLst>
              <p:ext uri="{D42A27DB-BD31-4B8C-83A1-F6EECF244321}">
                <p14:modId xmlns:p14="http://schemas.microsoft.com/office/powerpoint/2010/main" val="1295233467"/>
              </p:ext>
            </p:extLst>
          </p:nvPr>
        </p:nvGraphicFramePr>
        <p:xfrm>
          <a:off x="282613" y="848337"/>
          <a:ext cx="11674031" cy="5624001"/>
        </p:xfrm>
        <a:graphic>
          <a:graphicData uri="http://schemas.openxmlformats.org/drawingml/2006/table">
            <a:tbl>
              <a:tblPr/>
              <a:tblGrid>
                <a:gridCol w="590734">
                  <a:extLst>
                    <a:ext uri="{9D8B030D-6E8A-4147-A177-3AD203B41FA5}">
                      <a16:colId xmlns:a16="http://schemas.microsoft.com/office/drawing/2014/main" val="579770684"/>
                    </a:ext>
                  </a:extLst>
                </a:gridCol>
                <a:gridCol w="2278547">
                  <a:extLst>
                    <a:ext uri="{9D8B030D-6E8A-4147-A177-3AD203B41FA5}">
                      <a16:colId xmlns:a16="http://schemas.microsoft.com/office/drawing/2014/main" val="864320135"/>
                    </a:ext>
                  </a:extLst>
                </a:gridCol>
                <a:gridCol w="637618">
                  <a:extLst>
                    <a:ext uri="{9D8B030D-6E8A-4147-A177-3AD203B41FA5}">
                      <a16:colId xmlns:a16="http://schemas.microsoft.com/office/drawing/2014/main" val="3934543624"/>
                    </a:ext>
                  </a:extLst>
                </a:gridCol>
                <a:gridCol w="637618">
                  <a:extLst>
                    <a:ext uri="{9D8B030D-6E8A-4147-A177-3AD203B41FA5}">
                      <a16:colId xmlns:a16="http://schemas.microsoft.com/office/drawing/2014/main" val="819757976"/>
                    </a:ext>
                  </a:extLst>
                </a:gridCol>
                <a:gridCol w="637618">
                  <a:extLst>
                    <a:ext uri="{9D8B030D-6E8A-4147-A177-3AD203B41FA5}">
                      <a16:colId xmlns:a16="http://schemas.microsoft.com/office/drawing/2014/main" val="190487244"/>
                    </a:ext>
                  </a:extLst>
                </a:gridCol>
                <a:gridCol w="637618">
                  <a:extLst>
                    <a:ext uri="{9D8B030D-6E8A-4147-A177-3AD203B41FA5}">
                      <a16:colId xmlns:a16="http://schemas.microsoft.com/office/drawing/2014/main" val="325237224"/>
                    </a:ext>
                  </a:extLst>
                </a:gridCol>
                <a:gridCol w="872037">
                  <a:extLst>
                    <a:ext uri="{9D8B030D-6E8A-4147-A177-3AD203B41FA5}">
                      <a16:colId xmlns:a16="http://schemas.microsoft.com/office/drawing/2014/main" val="3126626879"/>
                    </a:ext>
                  </a:extLst>
                </a:gridCol>
                <a:gridCol w="872037">
                  <a:extLst>
                    <a:ext uri="{9D8B030D-6E8A-4147-A177-3AD203B41FA5}">
                      <a16:colId xmlns:a16="http://schemas.microsoft.com/office/drawing/2014/main" val="2724392448"/>
                    </a:ext>
                  </a:extLst>
                </a:gridCol>
                <a:gridCol w="684502">
                  <a:extLst>
                    <a:ext uri="{9D8B030D-6E8A-4147-A177-3AD203B41FA5}">
                      <a16:colId xmlns:a16="http://schemas.microsoft.com/office/drawing/2014/main" val="436681820"/>
                    </a:ext>
                  </a:extLst>
                </a:gridCol>
                <a:gridCol w="684502">
                  <a:extLst>
                    <a:ext uri="{9D8B030D-6E8A-4147-A177-3AD203B41FA5}">
                      <a16:colId xmlns:a16="http://schemas.microsoft.com/office/drawing/2014/main" val="521938368"/>
                    </a:ext>
                  </a:extLst>
                </a:gridCol>
                <a:gridCol w="314120">
                  <a:extLst>
                    <a:ext uri="{9D8B030D-6E8A-4147-A177-3AD203B41FA5}">
                      <a16:colId xmlns:a16="http://schemas.microsoft.com/office/drawing/2014/main" val="3771291728"/>
                    </a:ext>
                  </a:extLst>
                </a:gridCol>
                <a:gridCol w="314120">
                  <a:extLst>
                    <a:ext uri="{9D8B030D-6E8A-4147-A177-3AD203B41FA5}">
                      <a16:colId xmlns:a16="http://schemas.microsoft.com/office/drawing/2014/main" val="4211330377"/>
                    </a:ext>
                  </a:extLst>
                </a:gridCol>
                <a:gridCol w="314120">
                  <a:extLst>
                    <a:ext uri="{9D8B030D-6E8A-4147-A177-3AD203B41FA5}">
                      <a16:colId xmlns:a16="http://schemas.microsoft.com/office/drawing/2014/main" val="3255237653"/>
                    </a:ext>
                  </a:extLst>
                </a:gridCol>
                <a:gridCol w="314120">
                  <a:extLst>
                    <a:ext uri="{9D8B030D-6E8A-4147-A177-3AD203B41FA5}">
                      <a16:colId xmlns:a16="http://schemas.microsoft.com/office/drawing/2014/main" val="2080548077"/>
                    </a:ext>
                  </a:extLst>
                </a:gridCol>
                <a:gridCol w="314120">
                  <a:extLst>
                    <a:ext uri="{9D8B030D-6E8A-4147-A177-3AD203B41FA5}">
                      <a16:colId xmlns:a16="http://schemas.microsoft.com/office/drawing/2014/main" val="2685472169"/>
                    </a:ext>
                  </a:extLst>
                </a:gridCol>
                <a:gridCol w="314120">
                  <a:extLst>
                    <a:ext uri="{9D8B030D-6E8A-4147-A177-3AD203B41FA5}">
                      <a16:colId xmlns:a16="http://schemas.microsoft.com/office/drawing/2014/main" val="1489426594"/>
                    </a:ext>
                  </a:extLst>
                </a:gridCol>
                <a:gridCol w="314120">
                  <a:extLst>
                    <a:ext uri="{9D8B030D-6E8A-4147-A177-3AD203B41FA5}">
                      <a16:colId xmlns:a16="http://schemas.microsoft.com/office/drawing/2014/main" val="2559156139"/>
                    </a:ext>
                  </a:extLst>
                </a:gridCol>
                <a:gridCol w="314120">
                  <a:extLst>
                    <a:ext uri="{9D8B030D-6E8A-4147-A177-3AD203B41FA5}">
                      <a16:colId xmlns:a16="http://schemas.microsoft.com/office/drawing/2014/main" val="2017754979"/>
                    </a:ext>
                  </a:extLst>
                </a:gridCol>
                <a:gridCol w="314120">
                  <a:extLst>
                    <a:ext uri="{9D8B030D-6E8A-4147-A177-3AD203B41FA5}">
                      <a16:colId xmlns:a16="http://schemas.microsoft.com/office/drawing/2014/main" val="1559707025"/>
                    </a:ext>
                  </a:extLst>
                </a:gridCol>
                <a:gridCol w="314120">
                  <a:extLst>
                    <a:ext uri="{9D8B030D-6E8A-4147-A177-3AD203B41FA5}">
                      <a16:colId xmlns:a16="http://schemas.microsoft.com/office/drawing/2014/main" val="2513241033"/>
                    </a:ext>
                  </a:extLst>
                </a:gridCol>
              </a:tblGrid>
              <a:tr h="205808">
                <a:tc rowSpan="2">
                  <a:txBody>
                    <a:bodyPr/>
                    <a:lstStyle/>
                    <a:p>
                      <a:pPr algn="ctr" rtl="0" fontAlgn="ctr">
                        <a:buNone/>
                      </a:pPr>
                      <a:r>
                        <a:rPr lang="en-US" sz="1000" b="1" i="0" u="none" strike="noStrike">
                          <a:solidFill>
                            <a:srgbClr val="FFFFFF"/>
                          </a:solidFill>
                          <a:effectLst/>
                          <a:latin typeface="Times New Roman" panose="02020603050405020304" pitchFamily="18" charset="0"/>
                        </a:rPr>
                        <a:t>STT</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rowSpan="2">
                  <a:txBody>
                    <a:bodyPr/>
                    <a:lstStyle/>
                    <a:p>
                      <a:pPr algn="ctr" rtl="0" fontAlgn="ctr">
                        <a:buNone/>
                      </a:pPr>
                      <a:r>
                        <a:rPr lang="en-US" sz="1000" b="1" i="0" u="none" strike="noStrike">
                          <a:solidFill>
                            <a:srgbClr val="FFFFFF"/>
                          </a:solidFill>
                          <a:effectLst/>
                          <a:latin typeface="Times New Roman" panose="02020603050405020304" pitchFamily="18" charset="0"/>
                        </a:rPr>
                        <a:t>KPI</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vi-VN" sz="1000" b="1" i="0" u="none" strike="noStrike">
                          <a:solidFill>
                            <a:srgbClr val="FFFFFF"/>
                          </a:solidFill>
                          <a:effectLst/>
                          <a:latin typeface="Times New Roman" panose="02020603050405020304" pitchFamily="18" charset="0"/>
                        </a:rPr>
                        <a:t>Đơn vị</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2024</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2025</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C3339A"/>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2025</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C65911"/>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2026</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Đề xuất KPI</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Tỉ trọng</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a:txBody>
                    <a:bodyPr/>
                    <a:lstStyle/>
                    <a:p>
                      <a:pPr algn="ctr" rtl="0" fontAlgn="ctr">
                        <a:buNone/>
                      </a:pPr>
                      <a:r>
                        <a:rPr lang="en-US" sz="1000" b="1" i="0" u="none" strike="noStrike">
                          <a:solidFill>
                            <a:srgbClr val="FFFFFF"/>
                          </a:solidFill>
                          <a:effectLst/>
                          <a:latin typeface="Times New Roman" panose="02020603050405020304" pitchFamily="18" charset="0"/>
                        </a:rPr>
                        <a:t>Tỉ trọng</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w="6350" cap="flat" cmpd="sng" algn="ctr">
                      <a:solidFill>
                        <a:srgbClr val="9E9E9E"/>
                      </a:solidFill>
                      <a:prstDash val="solid"/>
                      <a:round/>
                      <a:headEnd type="none" w="med" len="med"/>
                      <a:tailEnd type="none" w="med" len="med"/>
                    </a:lnT>
                    <a:lnB>
                      <a:noFill/>
                    </a:lnB>
                    <a:solidFill>
                      <a:srgbClr val="119303"/>
                    </a:solidFill>
                  </a:tcPr>
                </a:tc>
                <a:tc gridSpan="10">
                  <a:txBody>
                    <a:bodyPr/>
                    <a:lstStyle/>
                    <a:p>
                      <a:pPr algn="ctr" fontAlgn="ctr">
                        <a:buNone/>
                      </a:pPr>
                      <a:r>
                        <a:rPr lang="en-US" sz="1000" b="1" i="0" u="none" strike="noStrike">
                          <a:solidFill>
                            <a:srgbClr val="000000"/>
                          </a:solidFill>
                          <a:effectLst/>
                          <a:latin typeface="Times New Roman" panose="02020603050405020304" pitchFamily="18" charset="0"/>
                        </a:rPr>
                        <a:t>LIÊN QUAN PHÒNG BAN CHỨC NĂNG</a:t>
                      </a:r>
                    </a:p>
                  </a:txBody>
                  <a:tcPr marL="3875" marR="3875" marT="3875" marB="0" anchor="ctr">
                    <a:lnL w="6350" cap="flat" cmpd="sng" algn="ctr">
                      <a:solidFill>
                        <a:srgbClr val="9E9E9E"/>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8CBA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38629002"/>
                  </a:ext>
                </a:extLst>
              </a:tr>
              <a:tr h="285178">
                <a:tc vMerge="1">
                  <a:txBody>
                    <a:bodyPr/>
                    <a:lstStyle/>
                    <a:p>
                      <a:endParaRPr lang="en-US"/>
                    </a:p>
                  </a:txBody>
                  <a:tcPr/>
                </a:tc>
                <a:tc vMerge="1">
                  <a:txBody>
                    <a:bodyPr/>
                    <a:lstStyle/>
                    <a:p>
                      <a:endParaRPr lang="en-US"/>
                    </a:p>
                  </a:txBody>
                  <a:tcPr/>
                </a:tc>
                <a:tc>
                  <a:txBody>
                    <a:bodyPr/>
                    <a:lstStyle/>
                    <a:p>
                      <a:pPr algn="ctr" rtl="0" fontAlgn="ctr">
                        <a:buNone/>
                      </a:pPr>
                      <a:r>
                        <a:rPr lang="en-US" sz="1000" b="1" i="0" u="none" strike="noStrike">
                          <a:solidFill>
                            <a:srgbClr val="FFFFFF"/>
                          </a:solidFill>
                          <a:effectLst/>
                          <a:latin typeface="Times New Roman" panose="02020603050405020304" pitchFamily="18" charset="0"/>
                        </a:rPr>
                        <a:t>tính</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(Thực tế)</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(Kế hoạch)</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3339A"/>
                    </a:solidFill>
                  </a:tcPr>
                </a:tc>
                <a:tc>
                  <a:txBody>
                    <a:bodyPr/>
                    <a:lstStyle/>
                    <a:p>
                      <a:pPr algn="ctr" rtl="0" fontAlgn="ctr">
                        <a:buNone/>
                      </a:pPr>
                      <a:r>
                        <a:rPr lang="vi-VN" sz="1000" b="0" i="0" u="none" strike="noStrike">
                          <a:solidFill>
                            <a:srgbClr val="FFFFFF"/>
                          </a:solidFill>
                          <a:effectLst/>
                          <a:latin typeface="Times New Roman" panose="02020603050405020304" pitchFamily="18" charset="0"/>
                        </a:rPr>
                        <a:t>(ước 8+4)</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C65911"/>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(Kế hoạch)</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2026</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2025</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9E9E9E"/>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rtl="0" fontAlgn="ctr">
                        <a:buNone/>
                      </a:pPr>
                      <a:r>
                        <a:rPr lang="en-US" sz="1000" b="0" i="0" u="none" strike="noStrike">
                          <a:solidFill>
                            <a:srgbClr val="FFFFFF"/>
                          </a:solidFill>
                          <a:effectLst/>
                          <a:latin typeface="Times New Roman" panose="02020603050405020304" pitchFamily="18" charset="0"/>
                        </a:rPr>
                        <a:t>2026</a:t>
                      </a:r>
                    </a:p>
                  </a:txBody>
                  <a:tcPr marL="3875" marR="3875" marT="3875" marB="0" anchor="ctr">
                    <a:lnL w="6350" cap="flat" cmpd="sng" algn="ctr">
                      <a:solidFill>
                        <a:srgbClr val="9E9E9E"/>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119303"/>
                    </a:solidFill>
                  </a:tcPr>
                </a:tc>
                <a:tc>
                  <a:txBody>
                    <a:bodyPr/>
                    <a:lstStyle/>
                    <a:p>
                      <a:pPr algn="ctr" fontAlgn="ctr">
                        <a:buNone/>
                      </a:pPr>
                      <a:r>
                        <a:rPr lang="en-US" sz="1000" b="1" i="0" u="none" strike="noStrike">
                          <a:solidFill>
                            <a:srgbClr val="000000"/>
                          </a:solidFill>
                          <a:effectLst/>
                          <a:latin typeface="Calibri" panose="020F0502020204030204" pitchFamily="34" charset="0"/>
                        </a:rPr>
                        <a:t>SX</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KT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QC</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vi-VN" sz="1000" b="1" i="0" u="none" strike="noStrike">
                          <a:solidFill>
                            <a:srgbClr val="000000"/>
                          </a:solidFill>
                          <a:effectLst/>
                          <a:latin typeface="Calibri" panose="020F0502020204030204" pitchFamily="34" charset="0"/>
                        </a:rPr>
                        <a:t>CƯ</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KD</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HCNS</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KTOAN</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TRẠM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CL CƯ</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buNone/>
                      </a:pPr>
                      <a:r>
                        <a:rPr lang="en-US" sz="1000" b="1" i="0" u="none" strike="noStrike">
                          <a:solidFill>
                            <a:srgbClr val="000000"/>
                          </a:solidFill>
                          <a:effectLst/>
                          <a:latin typeface="Calibri" panose="020F0502020204030204" pitchFamily="34" charset="0"/>
                        </a:rPr>
                        <a:t>R&amp;D</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701218517"/>
                  </a:ext>
                </a:extLst>
              </a:tr>
              <a:tr h="261023">
                <a:tc>
                  <a:txBody>
                    <a:bodyPr/>
                    <a:lstStyle/>
                    <a:p>
                      <a:pPr algn="ctr" rtl="0" fontAlgn="ctr">
                        <a:buNone/>
                      </a:pPr>
                      <a:r>
                        <a:rPr lang="en-US" sz="1200" b="0" i="0" u="none" strike="noStrike">
                          <a:solidFill>
                            <a:srgbClr val="000000"/>
                          </a:solidFill>
                          <a:effectLst/>
                          <a:latin typeface="Times New Roman" panose="02020603050405020304" pitchFamily="18" charset="0"/>
                        </a:rPr>
                        <a:t>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rtl="0" fontAlgn="ctr">
                        <a:buNone/>
                      </a:pPr>
                      <a:r>
                        <a:rPr lang="en-US" sz="1200" b="0" i="0" u="none" strike="noStrike">
                          <a:solidFill>
                            <a:srgbClr val="000000"/>
                          </a:solidFill>
                          <a:effectLst/>
                          <a:latin typeface="Times New Roman" panose="02020603050405020304" pitchFamily="18" charset="0"/>
                        </a:rPr>
                        <a:t>Lợi nhuận sau thuế (LNST)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ctr">
                        <a:buNone/>
                      </a:pPr>
                      <a:r>
                        <a:rPr lang="en-US" sz="1000" b="0" i="0" u="none" strike="noStrike">
                          <a:solidFill>
                            <a:srgbClr val="000000"/>
                          </a:solidFill>
                          <a:effectLst/>
                          <a:latin typeface="Times New Roman" panose="02020603050405020304" pitchFamily="18" charset="0"/>
                        </a:rPr>
                        <a:t>Tỷ VND</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61.4</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C00000"/>
                          </a:solidFill>
                          <a:effectLst/>
                          <a:latin typeface="Times New Roman" panose="02020603050405020304" pitchFamily="18" charset="0"/>
                        </a:rPr>
                        <a:t>151.6</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36.3</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40.0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60%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30%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Aptos" panose="020B0004020202020204" pitchFamily="34" charset="0"/>
                          <a:cs typeface="Aptos" panose="020B0004020202020204" pitchFamily="34" charset="0"/>
                        </a:rPr>
                        <a:t>10%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00527801"/>
                  </a:ext>
                </a:extLst>
              </a:tr>
              <a:tr h="376476">
                <a:tc>
                  <a:txBody>
                    <a:bodyPr/>
                    <a:lstStyle/>
                    <a:p>
                      <a:pPr algn="ctr" rtl="0" fontAlgn="ctr">
                        <a:buNone/>
                      </a:pPr>
                      <a:r>
                        <a:rPr lang="en-US" sz="12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buNone/>
                      </a:pPr>
                      <a:r>
                        <a:rPr lang="en-US" sz="1200" b="0" i="0" u="none" strike="noStrike">
                          <a:solidFill>
                            <a:srgbClr val="000000"/>
                          </a:solidFill>
                          <a:effectLst/>
                          <a:latin typeface="Times New Roman" panose="02020603050405020304" pitchFamily="18" charset="0"/>
                        </a:rPr>
                        <a:t>Doanh Thu Thuần (DTT)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Tỷ VND</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1,191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C00000"/>
                          </a:solidFill>
                          <a:effectLst/>
                          <a:latin typeface="Times New Roman" panose="02020603050405020304" pitchFamily="18" charset="0"/>
                        </a:rPr>
                        <a:t>2,000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1,542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1,700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60%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Aptos" panose="020B0004020202020204" pitchFamily="34" charset="0"/>
                          <a:cs typeface="Aptos" panose="020B0004020202020204" pitchFamily="34" charset="0"/>
                        </a:rPr>
                        <a:t>10%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49762924"/>
                  </a:ext>
                </a:extLst>
              </a:tr>
              <a:tr h="376476">
                <a:tc>
                  <a:txBody>
                    <a:bodyPr/>
                    <a:lstStyle/>
                    <a:p>
                      <a:pPr algn="ctr" rtl="0" fontAlgn="ctr">
                        <a:buNone/>
                      </a:pPr>
                      <a:r>
                        <a:rPr lang="en-US" sz="1200" b="0" i="0" u="none" strike="noStrike">
                          <a:solidFill>
                            <a:srgbClr val="000000"/>
                          </a:solidFill>
                          <a:effectLst/>
                          <a:latin typeface="Times New Roman" panose="02020603050405020304" pitchFamily="18" charset="0"/>
                        </a:rPr>
                        <a:t>3</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rtl="0" fontAlgn="ctr">
                        <a:buNone/>
                      </a:pPr>
                      <a:r>
                        <a:rPr lang="en-US" sz="1200" b="0" i="0" u="none" strike="noStrike">
                          <a:solidFill>
                            <a:srgbClr val="000000"/>
                          </a:solidFill>
                          <a:effectLst/>
                          <a:latin typeface="Times New Roman" panose="02020603050405020304" pitchFamily="18" charset="0"/>
                        </a:rPr>
                        <a:t>Hiệu suất sử dụng máy tạo hạt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67.0%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78.0%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65.0%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b="1">
                          <a:solidFill>
                            <a:srgbClr val="C82613"/>
                          </a:solidFill>
                          <a:effectLst/>
                          <a:latin typeface="Times" panose="02020603050405020304" pitchFamily="18" charset="0"/>
                          <a:ea typeface="Times New Roman" panose="02020603050405020304" pitchFamily="18" charset="0"/>
                          <a:cs typeface="Aptos" panose="020B0004020202020204" pitchFamily="34" charset="0"/>
                        </a:rPr>
                        <a:t>75.0%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60%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15%</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15%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932857171"/>
                  </a:ext>
                </a:extLst>
              </a:tr>
              <a:tr h="261023">
                <a:tc>
                  <a:txBody>
                    <a:bodyPr/>
                    <a:lstStyle/>
                    <a:p>
                      <a:pPr algn="ctr" rtl="0" fontAlgn="ctr">
                        <a:buNone/>
                      </a:pPr>
                      <a:r>
                        <a:rPr lang="en-US" sz="1200" b="0" i="0" u="none" strike="noStrike">
                          <a:solidFill>
                            <a:srgbClr val="000000"/>
                          </a:solidFill>
                          <a:effectLst/>
                          <a:latin typeface="Times New Roman" panose="02020603050405020304" pitchFamily="18" charset="0"/>
                        </a:rPr>
                        <a:t>4</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6">
                        <a:lumMod val="20000"/>
                        <a:lumOff val="80000"/>
                      </a:schemeClr>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Giá trị cải tiến, tiết kiệm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Tỷ VND</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36.3</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50.0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50.7</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b="1">
                          <a:solidFill>
                            <a:srgbClr val="C82613"/>
                          </a:solidFill>
                          <a:effectLst/>
                          <a:latin typeface="Times" panose="02020603050405020304" pitchFamily="18" charset="0"/>
                          <a:ea typeface="Times New Roman" panose="02020603050405020304" pitchFamily="18" charset="0"/>
                          <a:cs typeface="Aptos" panose="020B0004020202020204" pitchFamily="34" charset="0"/>
                        </a:rPr>
                        <a:t>55.0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60%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129722457"/>
                  </a:ext>
                </a:extLst>
              </a:tr>
              <a:tr h="371457">
                <a:tc>
                  <a:txBody>
                    <a:bodyPr/>
                    <a:lstStyle/>
                    <a:p>
                      <a:pPr algn="ctr" rtl="0" fontAlgn="ctr">
                        <a:buNone/>
                      </a:pPr>
                      <a:r>
                        <a:rPr lang="en-US" sz="1200" b="0" i="0" u="none" strike="noStrike">
                          <a:solidFill>
                            <a:srgbClr val="000000"/>
                          </a:solidFill>
                          <a:effectLst/>
                          <a:latin typeface="Times New Roman" panose="02020603050405020304" pitchFamily="18" charset="0"/>
                        </a:rPr>
                        <a:t>5</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200" b="0" i="0" u="none" strike="noStrike" dirty="0" err="1">
                          <a:solidFill>
                            <a:srgbClr val="000000"/>
                          </a:solidFill>
                          <a:effectLst/>
                          <a:latin typeface="Times New Roman" panose="02020603050405020304" pitchFamily="18" charset="0"/>
                        </a:rPr>
                        <a:t>Số</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ngày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tồn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kho</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bình</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quân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thành</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phẩm</a:t>
                      </a:r>
                      <a:r>
                        <a:rPr lang="en-US" sz="1200" b="0" i="0" u="none" strike="noStrike" dirty="0">
                          <a:solidFill>
                            <a:srgbClr val="000000"/>
                          </a:solidFill>
                          <a:effectLst/>
                          <a:latin typeface="Times New Roman" panose="02020603050405020304" pitchFamily="18" charset="0"/>
                        </a:rPr>
                        <a: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dirty="0" err="1">
                          <a:solidFill>
                            <a:srgbClr val="000000"/>
                          </a:solidFill>
                          <a:effectLst/>
                          <a:latin typeface="Times New Roman" panose="02020603050405020304" pitchFamily="18" charset="0"/>
                        </a:rPr>
                        <a:t>Số</a:t>
                      </a:r>
                      <a:r>
                        <a:rPr lang="en-US" sz="1000" b="0" i="0" u="none" strike="noStrike" dirty="0">
                          <a:solidFill>
                            <a:srgbClr val="000000"/>
                          </a:solidFill>
                          <a:effectLst/>
                          <a:latin typeface="Times New Roman" panose="02020603050405020304" pitchFamily="18" charset="0"/>
                        </a:rPr>
                        <a:t> </a:t>
                      </a:r>
                      <a:r>
                        <a:rPr lang="en-US" sz="1000" b="0" i="0" u="none" strike="noStrike" dirty="0" err="1">
                          <a:solidFill>
                            <a:srgbClr val="000000"/>
                          </a:solidFill>
                          <a:effectLst/>
                          <a:latin typeface="Times New Roman" panose="02020603050405020304" pitchFamily="18" charset="0"/>
                        </a:rPr>
                        <a:t>ngày</a:t>
                      </a:r>
                      <a:endParaRPr lang="en-US" sz="1000" b="0" i="0" u="none" strike="noStrike" dirty="0">
                        <a:solidFill>
                          <a:srgbClr val="000000"/>
                        </a:solidFill>
                        <a:effectLst/>
                        <a:latin typeface="Times New Roman" panose="02020603050405020304" pitchFamily="18" charset="0"/>
                      </a:endParaRP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90.0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75.0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85.4</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75.0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dirty="0">
                          <a:solidFill>
                            <a:srgbClr val="000000"/>
                          </a:solidFill>
                          <a:effectLst/>
                          <a:latin typeface="Times New Roman" panose="02020603050405020304" pitchFamily="18" charset="0"/>
                        </a:rPr>
                        <a:t>KPI TGĐ 10%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dirty="0">
                          <a:solidFill>
                            <a:srgbClr val="0C64C0"/>
                          </a:solidFill>
                          <a:effectLst/>
                          <a:latin typeface="Times" panose="02020603050405020304" pitchFamily="18" charset="0"/>
                          <a:ea typeface="Times New Roman" panose="02020603050405020304" pitchFamily="18" charset="0"/>
                          <a:cs typeface="Aptos" panose="020B0004020202020204" pitchFamily="34" charset="0"/>
                        </a:rPr>
                        <a:t>10%</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08908803"/>
                  </a:ext>
                </a:extLst>
              </a:tr>
              <a:tr h="341498">
                <a:tc>
                  <a:txBody>
                    <a:bodyPr/>
                    <a:lstStyle/>
                    <a:p>
                      <a:pPr algn="ctr" rtl="0" fontAlgn="ctr">
                        <a:buNone/>
                      </a:pPr>
                      <a:r>
                        <a:rPr lang="en-US" sz="1200" b="0" i="0" u="none" strike="noStrike">
                          <a:solidFill>
                            <a:srgbClr val="000000"/>
                          </a:solidFill>
                          <a:effectLst/>
                          <a:latin typeface="Times New Roman" panose="02020603050405020304" pitchFamily="18" charset="0"/>
                        </a:rPr>
                        <a:t>6</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200" b="0" i="0" u="none" strike="noStrike" dirty="0">
                          <a:solidFill>
                            <a:srgbClr val="000000"/>
                          </a:solidFill>
                          <a:effectLst/>
                          <a:latin typeface="Times New Roman" panose="02020603050405020304" pitchFamily="18" charset="0"/>
                        </a:rPr>
                        <a:t>An </a:t>
                      </a:r>
                      <a:r>
                        <a:rPr lang="en-US" sz="1200" b="0" i="0" u="none" strike="noStrike" dirty="0" err="1">
                          <a:solidFill>
                            <a:srgbClr val="000000"/>
                          </a:solidFill>
                          <a:effectLst/>
                          <a:latin typeface="Times New Roman" panose="02020603050405020304" pitchFamily="18" charset="0"/>
                        </a:rPr>
                        <a:t>toàn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lao</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động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và</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phòng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chống</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cháy</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nổ</a:t>
                      </a:r>
                      <a:endParaRPr lang="en-US" sz="1200" b="0" i="0" u="none" strike="noStrike" dirty="0">
                        <a:solidFill>
                          <a:srgbClr val="000000"/>
                        </a:solidFill>
                        <a:effectLst/>
                        <a:latin typeface="Times New Roman" panose="02020603050405020304" pitchFamily="18" charset="0"/>
                      </a:endParaRP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vi-VN" sz="1000" b="0" i="0" u="none" strike="noStrike">
                          <a:solidFill>
                            <a:srgbClr val="000000"/>
                          </a:solidFill>
                          <a:effectLst/>
                          <a:latin typeface="Times New Roman" panose="02020603050405020304" pitchFamily="18" charset="0"/>
                        </a:rPr>
                        <a:t>Số lượng</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KPI HOLD 10%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427973258"/>
                  </a:ext>
                </a:extLst>
              </a:tr>
              <a:tr h="346359">
                <a:tc>
                  <a:txBody>
                    <a:bodyPr/>
                    <a:lstStyle/>
                    <a:p>
                      <a:pPr algn="ctr" rtl="0" fontAlgn="ctr">
                        <a:buNone/>
                      </a:pPr>
                      <a:r>
                        <a:rPr lang="en-US" sz="1200" b="0" i="0" u="none" strike="noStrike">
                          <a:solidFill>
                            <a:srgbClr val="000000"/>
                          </a:solidFill>
                          <a:effectLst/>
                          <a:latin typeface="Times New Roman" panose="02020603050405020304" pitchFamily="18" charset="0"/>
                        </a:rPr>
                        <a:t>7</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vi-VN" sz="1200" b="0" i="0" u="none" strike="noStrike" dirty="0">
                          <a:solidFill>
                            <a:srgbClr val="000000"/>
                          </a:solidFill>
                          <a:effectLst/>
                          <a:latin typeface="Times New Roman" panose="02020603050405020304" pitchFamily="18" charset="0"/>
                        </a:rPr>
                        <a:t>Sản lượng mua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Tấn</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48,741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62,000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50,656</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57,500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dirty="0" err="1">
                          <a:solidFill>
                            <a:srgbClr val="000000"/>
                          </a:solidFill>
                          <a:effectLst/>
                          <a:latin typeface="Times New Roman" panose="02020603050405020304" pitchFamily="18" charset="0"/>
                        </a:rPr>
                        <a:t>Nhóm</a:t>
                      </a:r>
                      <a:r>
                        <a:rPr lang="en-US" sz="1000" b="0" i="0" u="none" strike="noStrike" dirty="0">
                          <a:solidFill>
                            <a:srgbClr val="000000"/>
                          </a:solidFill>
                          <a:effectLst/>
                          <a:latin typeface="Times New Roman" panose="02020603050405020304" pitchFamily="18" charset="0"/>
                        </a:rPr>
                        <a:t> 20% CM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0" i="0" u="none" strike="noStrike" dirty="0">
                          <a:solidFill>
                            <a:srgbClr val="000000"/>
                          </a:solidFill>
                          <a:effectLst/>
                          <a:latin typeface="Times New Roman" panose="02020603050405020304" pitchFamily="18" charset="0"/>
                        </a:rPr>
                        <a:t>10%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dirty="0">
                          <a:solidFill>
                            <a:srgbClr val="0C64C0"/>
                          </a:solidFill>
                          <a:effectLst/>
                          <a:latin typeface="Times" panose="02020603050405020304" pitchFamily="18" charset="0"/>
                          <a:ea typeface="Times New Roman" panose="02020603050405020304" pitchFamily="18" charset="0"/>
                          <a:cs typeface="Aptos" panose="020B0004020202020204" pitchFamily="34" charset="0"/>
                        </a:rPr>
                        <a:t>10%</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548049832"/>
                  </a:ext>
                </a:extLst>
              </a:tr>
              <a:tr h="261023">
                <a:tc>
                  <a:txBody>
                    <a:bodyPr/>
                    <a:lstStyle/>
                    <a:p>
                      <a:pPr algn="ctr" rtl="0" fontAlgn="ctr">
                        <a:buNone/>
                      </a:pPr>
                      <a:r>
                        <a:rPr lang="en-US" sz="1200" b="0" i="0" u="none" strike="noStrike">
                          <a:solidFill>
                            <a:srgbClr val="000000"/>
                          </a:solidFill>
                          <a:effectLst/>
                          <a:latin typeface="Times New Roman" panose="02020603050405020304" pitchFamily="18" charset="0"/>
                        </a:rPr>
                        <a:t>8</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Giá thành sản phẩm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USD/tấn</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NA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NA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1,227</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b="1">
                          <a:solidFill>
                            <a:srgbClr val="C82613"/>
                          </a:solidFill>
                          <a:effectLst/>
                          <a:latin typeface="Times" panose="02020603050405020304" pitchFamily="18" charset="0"/>
                          <a:ea typeface="Times New Roman" panose="02020603050405020304" pitchFamily="18" charset="0"/>
                          <a:cs typeface="Aptos" panose="020B0004020202020204" pitchFamily="34" charset="0"/>
                        </a:rPr>
                        <a:t>1,020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20% CM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0" i="0" u="none" strike="noStrike" dirty="0">
                          <a:solidFill>
                            <a:srgbClr val="000000"/>
                          </a:solidFill>
                          <a:effectLst/>
                          <a:latin typeface="Times New Roman" panose="02020603050405020304" pitchFamily="18" charset="0"/>
                        </a:rPr>
                        <a:t>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dirty="0">
                          <a:solidFill>
                            <a:srgbClr val="0C64C0"/>
                          </a:solidFill>
                          <a:effectLst/>
                          <a:latin typeface="Times" panose="02020603050405020304" pitchFamily="18" charset="0"/>
                          <a:ea typeface="Times New Roman" panose="02020603050405020304" pitchFamily="18" charset="0"/>
                          <a:cs typeface="Aptos" panose="020B0004020202020204" pitchFamily="34" charset="0"/>
                        </a:rPr>
                        <a:t>5%</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28292285"/>
                  </a:ext>
                </a:extLst>
              </a:tr>
              <a:tr h="341498">
                <a:tc>
                  <a:txBody>
                    <a:bodyPr/>
                    <a:lstStyle/>
                    <a:p>
                      <a:pPr algn="ctr" rtl="0" fontAlgn="ctr">
                        <a:buNone/>
                      </a:pPr>
                      <a:r>
                        <a:rPr lang="en-US" sz="1200" b="0" i="0" u="none" strike="noStrike">
                          <a:solidFill>
                            <a:srgbClr val="000000"/>
                          </a:solidFill>
                          <a:effectLst/>
                          <a:latin typeface="Times New Roman" panose="02020603050405020304" pitchFamily="18" charset="0"/>
                        </a:rPr>
                        <a:t>9</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200" b="0" i="0" u="none" strike="noStrike" dirty="0" err="1">
                          <a:solidFill>
                            <a:srgbClr val="000000"/>
                          </a:solidFill>
                          <a:effectLst/>
                          <a:latin typeface="Times New Roman" panose="02020603050405020304" pitchFamily="18" charset="0"/>
                        </a:rPr>
                        <a:t>Tỷ</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lệ</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nhân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sự</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gắn</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kết</a:t>
                      </a:r>
                      <a:r>
                        <a:rPr lang="en-US" sz="1200" b="0" i="0" u="none" strike="noStrike" dirty="0">
                          <a:solidFill>
                            <a:srgbClr val="000000"/>
                          </a:solidFill>
                          <a:effectLst/>
                          <a:latin typeface="Times New Roman" panose="02020603050405020304" pitchFamily="18" charset="0"/>
                        </a:rPr>
                        <a:t> (CMNV </a:t>
                      </a:r>
                      <a:r>
                        <a:rPr lang="en-US" sz="1200" b="0" i="0" u="none" strike="noStrike" dirty="0" err="1">
                          <a:solidFill>
                            <a:srgbClr val="000000"/>
                          </a:solidFill>
                          <a:effectLst/>
                          <a:latin typeface="Times New Roman" panose="02020603050405020304" pitchFamily="18" charset="0"/>
                        </a:rPr>
                        <a:t>trở</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lên</a:t>
                      </a:r>
                      <a:r>
                        <a:rPr lang="en-US" sz="1200" b="0" i="0" u="none" strike="noStrike" dirty="0">
                          <a:solidFill>
                            <a:srgbClr val="000000"/>
                          </a:solidFill>
                          <a:effectLst/>
                          <a:latin typeface="Times New Roman" panose="02020603050405020304" pitchFamily="18" charset="0"/>
                        </a:rPr>
                        <a: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Tỷ lệ</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NA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80.0%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71.0%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82.0%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dirty="0" err="1">
                          <a:solidFill>
                            <a:srgbClr val="000000"/>
                          </a:solidFill>
                          <a:effectLst/>
                          <a:latin typeface="Times New Roman" panose="02020603050405020304" pitchFamily="18" charset="0"/>
                        </a:rPr>
                        <a:t>Nhóm</a:t>
                      </a:r>
                      <a:r>
                        <a:rPr lang="en-US" sz="1000" b="0" i="0" u="none" strike="noStrike" dirty="0">
                          <a:solidFill>
                            <a:srgbClr val="000000"/>
                          </a:solidFill>
                          <a:effectLst/>
                          <a:latin typeface="Times New Roman" panose="02020603050405020304" pitchFamily="18" charset="0"/>
                        </a:rPr>
                        <a:t> 20% CM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0" i="0" u="none" strike="noStrike" dirty="0">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dirty="0">
                          <a:solidFill>
                            <a:srgbClr val="0C64C0"/>
                          </a:solidFill>
                          <a:effectLst/>
                          <a:latin typeface="Times" panose="02020603050405020304" pitchFamily="18" charset="0"/>
                          <a:ea typeface="Times New Roman" panose="02020603050405020304" pitchFamily="18" charset="0"/>
                          <a:cs typeface="Aptos" panose="020B0004020202020204" pitchFamily="34" charset="0"/>
                        </a:rPr>
                        <a:t>5%</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080618657"/>
                  </a:ext>
                </a:extLst>
              </a:tr>
              <a:tr h="421652">
                <a:tc>
                  <a:txBody>
                    <a:bodyPr/>
                    <a:lstStyle/>
                    <a:p>
                      <a:pPr algn="ctr" rtl="0" fontAlgn="ctr">
                        <a:buNone/>
                      </a:pPr>
                      <a:r>
                        <a:rPr lang="en-US" sz="1200" b="0" i="0" u="none" strike="noStrike">
                          <a:solidFill>
                            <a:srgbClr val="000000"/>
                          </a:solidFill>
                          <a:effectLst/>
                          <a:latin typeface="Times New Roman" panose="02020603050405020304" pitchFamily="18" charset="0"/>
                        </a:rPr>
                        <a:t>10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Số lần khiếu nại khách hàng</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Lần</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46.0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48.0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45.0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36.0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Nhóm 20% CM</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10%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37109273"/>
                  </a:ext>
                </a:extLst>
              </a:tr>
              <a:tr h="421652">
                <a:tc>
                  <a:txBody>
                    <a:bodyPr/>
                    <a:lstStyle/>
                    <a:p>
                      <a:pPr algn="ctr" rtl="0" fontAlgn="ctr">
                        <a:buNone/>
                      </a:pPr>
                      <a:r>
                        <a:rPr lang="en-US" sz="1200" b="0" i="0" u="none" strike="noStrike">
                          <a:solidFill>
                            <a:srgbClr val="000000"/>
                          </a:solidFill>
                          <a:effectLst/>
                          <a:latin typeface="Times New Roman" panose="02020603050405020304" pitchFamily="18" charset="0"/>
                        </a:rPr>
                        <a:t>11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Tỷ lệ nhân sự kế thừa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rtl="0" fontAlgn="ctr">
                        <a:buNone/>
                      </a:pPr>
                      <a:r>
                        <a:rPr lang="en-US" sz="1000" b="1" i="0" u="none" strike="noStrike">
                          <a:solidFill>
                            <a:srgbClr val="000000"/>
                          </a:solidFill>
                          <a:effectLst/>
                          <a:latin typeface="Times New Roman" panose="02020603050405020304" pitchFamily="18" charset="0"/>
                        </a:rPr>
                        <a:t>NA</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50.0%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88.0%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b="1" dirty="0">
                          <a:solidFill>
                            <a:srgbClr val="0C64C0"/>
                          </a:solidFill>
                          <a:effectLst/>
                          <a:latin typeface="Times" panose="02020603050405020304" pitchFamily="18" charset="0"/>
                          <a:ea typeface="Times New Roman" panose="02020603050405020304" pitchFamily="18" charset="0"/>
                          <a:cs typeface="Aptos" panose="020B0004020202020204" pitchFamily="34" charset="0"/>
                        </a:rPr>
                        <a:t>50.0%</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PI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0" i="0" u="none" strike="noStrike" dirty="0">
                          <a:solidFill>
                            <a:srgbClr val="000000"/>
                          </a:solidFill>
                          <a:effectLst/>
                          <a:latin typeface="Times New Roman" panose="02020603050405020304" pitchFamily="18" charset="0"/>
                        </a:rPr>
                        <a:t>5%</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018845460"/>
                  </a:ext>
                </a:extLst>
              </a:tr>
              <a:tr h="285178">
                <a:tc>
                  <a:txBody>
                    <a:bodyPr/>
                    <a:lstStyle/>
                    <a:p>
                      <a:pPr algn="ctr" rtl="0" fontAlgn="ctr">
                        <a:buNone/>
                      </a:pPr>
                      <a:r>
                        <a:rPr lang="en-US" sz="1200" b="0" i="0" u="none" strike="noStrike">
                          <a:solidFill>
                            <a:srgbClr val="000000"/>
                          </a:solidFill>
                          <a:effectLst/>
                          <a:latin typeface="Times New Roman" panose="02020603050405020304" pitchFamily="18" charset="0"/>
                        </a:rPr>
                        <a:t>12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vi-VN" sz="1200" b="0" i="0" u="none" strike="noStrike">
                          <a:solidFill>
                            <a:srgbClr val="000000"/>
                          </a:solidFill>
                          <a:effectLst/>
                          <a:latin typeface="Times New Roman" panose="02020603050405020304" pitchFamily="18" charset="0"/>
                        </a:rPr>
                        <a:t>Doanh thu thuần trên người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vi-VN" sz="1000" b="0" i="0" u="none" strike="noStrike">
                          <a:solidFill>
                            <a:srgbClr val="000000"/>
                          </a:solidFill>
                          <a:effectLst/>
                          <a:latin typeface="Times New Roman" panose="02020603050405020304" pitchFamily="18" charset="0"/>
                        </a:rPr>
                        <a:t>Tỷ VND/ Người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2.6</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3.1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rtl="0" fontAlgn="ctr">
                        <a:buNone/>
                      </a:pPr>
                      <a:r>
                        <a:rPr lang="en-US" sz="1000" b="1" i="0" u="none" strike="noStrike">
                          <a:solidFill>
                            <a:srgbClr val="ED7D31"/>
                          </a:solidFill>
                          <a:effectLst/>
                          <a:latin typeface="Times New Roman" panose="02020603050405020304" pitchFamily="18" charset="0"/>
                        </a:rPr>
                        <a:t>2.3</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2.7</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PI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5%</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399196174"/>
                  </a:ext>
                </a:extLst>
              </a:tr>
              <a:tr h="341498">
                <a:tc>
                  <a:txBody>
                    <a:bodyPr/>
                    <a:lstStyle/>
                    <a:p>
                      <a:pPr algn="ctr" rtl="0" fontAlgn="ctr">
                        <a:buNone/>
                      </a:pPr>
                      <a:r>
                        <a:rPr lang="en-US" sz="1200" b="0" i="0" u="none" strike="noStrike">
                          <a:solidFill>
                            <a:srgbClr val="000000"/>
                          </a:solidFill>
                          <a:effectLst/>
                          <a:latin typeface="Times New Roman" panose="02020603050405020304" pitchFamily="18" charset="0"/>
                        </a:rPr>
                        <a:t>13</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Giao hàng đầy đủ, đúng thời gian cam kết (OTIF1)</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en-US" sz="1000" b="0" i="0" u="none" strike="noStrike">
                          <a:solidFill>
                            <a:srgbClr val="000000"/>
                          </a:solidFill>
                          <a:effectLst/>
                          <a:latin typeface="Times New Roman" panose="02020603050405020304" pitchFamily="18" charset="0"/>
                        </a:rPr>
                        <a:t>Tỷ lệ</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100.0%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100.0%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100.0%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b="1">
                          <a:solidFill>
                            <a:srgbClr val="0C64C0"/>
                          </a:solidFill>
                          <a:effectLst/>
                          <a:latin typeface="Times" panose="02020603050405020304" pitchFamily="18" charset="0"/>
                          <a:ea typeface="Times New Roman" panose="02020603050405020304" pitchFamily="18" charset="0"/>
                          <a:cs typeface="Aptos" panose="020B0004020202020204" pitchFamily="34" charset="0"/>
                        </a:rPr>
                        <a:t>100.0%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PI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 </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40402388"/>
                  </a:ext>
                </a:extLst>
              </a:tr>
              <a:tr h="286122">
                <a:tc>
                  <a:txBody>
                    <a:bodyPr/>
                    <a:lstStyle/>
                    <a:p>
                      <a:pPr algn="ctr" rtl="0" fontAlgn="ctr">
                        <a:buNone/>
                      </a:pPr>
                      <a:r>
                        <a:rPr lang="en-US" sz="1200" b="0" i="0" u="none" strike="noStrike">
                          <a:solidFill>
                            <a:srgbClr val="000000"/>
                          </a:solidFill>
                          <a:effectLst/>
                          <a:latin typeface="Times New Roman" panose="02020603050405020304" pitchFamily="18" charset="0"/>
                        </a:rPr>
                        <a:t>14</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en-US" sz="1200" b="0" i="0" u="none" strike="noStrike">
                          <a:solidFill>
                            <a:srgbClr val="000000"/>
                          </a:solidFill>
                          <a:effectLst/>
                          <a:latin typeface="Times New Roman" panose="02020603050405020304" pitchFamily="18" charset="0"/>
                        </a:rPr>
                        <a:t>Tuân thủ</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vi-VN" sz="1000" b="0" i="0" u="none" strike="noStrike">
                          <a:solidFill>
                            <a:srgbClr val="000000"/>
                          </a:solidFill>
                          <a:effectLst/>
                          <a:latin typeface="Times New Roman" panose="02020603050405020304" pitchFamily="18" charset="0"/>
                        </a:rPr>
                        <a:t>Số lượng</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80.0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72.0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17.0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00B050"/>
                          </a:solidFill>
                          <a:effectLst/>
                          <a:latin typeface="Times New Roman" panose="02020603050405020304" pitchFamily="18" charset="0"/>
                        </a:rPr>
                        <a:t>18.0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PI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buNone/>
                      </a:pPr>
                      <a:endParaRPr lang="en-US" sz="1000">
                        <a:effectLst/>
                        <a:latin typeface="Times New Roman" panose="02020603050405020304" pitchFamily="18"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72558513"/>
                  </a:ext>
                </a:extLst>
              </a:tr>
              <a:tr h="285178">
                <a:tc>
                  <a:txBody>
                    <a:bodyPr/>
                    <a:lstStyle/>
                    <a:p>
                      <a:pPr algn="ctr" rtl="0" fontAlgn="ctr">
                        <a:buNone/>
                      </a:pPr>
                      <a:r>
                        <a:rPr lang="en-US" sz="1200" b="0" i="0" u="none" strike="noStrike">
                          <a:solidFill>
                            <a:srgbClr val="000000"/>
                          </a:solidFill>
                          <a:effectLst/>
                          <a:latin typeface="Times New Roman" panose="02020603050405020304" pitchFamily="18" charset="0"/>
                        </a:rPr>
                        <a:t>15</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vi-VN" sz="1200" b="0" i="0" u="none" strike="noStrike">
                          <a:solidFill>
                            <a:srgbClr val="000000"/>
                          </a:solidFill>
                          <a:effectLst/>
                          <a:latin typeface="Times New Roman" panose="02020603050405020304" pitchFamily="18" charset="0"/>
                        </a:rPr>
                        <a:t>Số giờ được đào tạo trung bình</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l" fontAlgn="ctr">
                        <a:buNone/>
                      </a:pPr>
                      <a:r>
                        <a:rPr lang="vi-VN" sz="1000" b="0" i="0" u="none" strike="noStrike">
                          <a:solidFill>
                            <a:srgbClr val="000000"/>
                          </a:solidFill>
                          <a:effectLst/>
                          <a:latin typeface="Times New Roman" panose="02020603050405020304" pitchFamily="18" charset="0"/>
                        </a:rPr>
                        <a:t>tiếng / người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000000"/>
                          </a:solidFill>
                          <a:effectLst/>
                          <a:latin typeface="Times New Roman" panose="02020603050405020304" pitchFamily="18" charset="0"/>
                        </a:rPr>
                        <a:t>19.0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C00000"/>
                          </a:solidFill>
                          <a:effectLst/>
                          <a:latin typeface="Times New Roman" panose="02020603050405020304" pitchFamily="18" charset="0"/>
                        </a:rPr>
                        <a:t>33.0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ED7D31"/>
                          </a:solidFill>
                          <a:effectLst/>
                          <a:latin typeface="Times New Roman" panose="02020603050405020304" pitchFamily="18" charset="0"/>
                        </a:rPr>
                        <a:t>24.7</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1" i="0" u="none" strike="noStrike">
                          <a:solidFill>
                            <a:srgbClr val="00B050"/>
                          </a:solidFill>
                          <a:effectLst/>
                          <a:latin typeface="Times New Roman" panose="02020603050405020304" pitchFamily="18" charset="0"/>
                        </a:rPr>
                        <a:t>25.0</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PI</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en-US" sz="1000" b="0" i="0" u="none" strike="noStrike">
                          <a:solidFill>
                            <a:srgbClr val="000000"/>
                          </a:solidFill>
                          <a:effectLst/>
                          <a:latin typeface="Times New Roman" panose="02020603050405020304" pitchFamily="18" charset="0"/>
                        </a:rPr>
                        <a:t>2%</a:t>
                      </a:r>
                    </a:p>
                  </a:txBody>
                  <a:tcPr marL="3875" marR="3875" marT="387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0%</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marL="0" marR="0" algn="ctr">
                        <a:buNone/>
                      </a:pPr>
                      <a:r>
                        <a:rPr lang="en-US" sz="1200" dirty="0">
                          <a:solidFill>
                            <a:srgbClr val="0C64C0"/>
                          </a:solidFill>
                          <a:effectLst/>
                          <a:latin typeface="Times" panose="02020603050405020304" pitchFamily="18" charset="0"/>
                          <a:ea typeface="Times New Roman" panose="02020603050405020304" pitchFamily="18" charset="0"/>
                          <a:cs typeface="Aptos" panose="020B0004020202020204" pitchFamily="34" charset="0"/>
                        </a:rPr>
                        <a:t>X</a:t>
                      </a:r>
                      <a:endParaRPr lang="en-US" sz="1200" dirty="0">
                        <a:effectLst/>
                        <a:latin typeface="Aptos" panose="020B0004020202020204" pitchFamily="34" charset="0"/>
                        <a:ea typeface="Aptos" panose="020B0004020202020204" pitchFamily="34" charset="0"/>
                        <a:cs typeface="Aptos" panose="020B0004020202020204" pitchFamily="34" charset="0"/>
                      </a:endParaRPr>
                    </a:p>
                  </a:txBody>
                  <a:tcPr marL="3810" marR="3810" marT="381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989893500"/>
                  </a:ext>
                </a:extLst>
              </a:tr>
            </a:tbl>
          </a:graphicData>
        </a:graphic>
      </p:graphicFrame>
      <p:sp>
        <p:nvSpPr>
          <p:cNvPr id="3" name="TextBox 9">
            <a:extLst>
              <a:ext uri="{FF2B5EF4-FFF2-40B4-BE49-F238E27FC236}">
                <a16:creationId xmlns:a16="http://schemas.microsoft.com/office/drawing/2014/main" id="{0255D03B-496F-3304-A29A-73F06CF33BF2}"/>
              </a:ext>
            </a:extLst>
          </p:cNvPr>
          <p:cNvSpPr txBox="1"/>
          <p:nvPr/>
        </p:nvSpPr>
        <p:spPr>
          <a:xfrm>
            <a:off x="200297" y="64051"/>
            <a:ext cx="11828379" cy="348942"/>
          </a:xfrm>
          <a:prstGeom prst="rect">
            <a:avLst/>
          </a:prstGeom>
        </p:spPr>
        <p:txBody>
          <a:bodyPr lIns="0" tIns="0" rIns="0" bIns="0" rtlCol="0" anchor="t">
            <a:spAutoFit/>
          </a:bodyPr>
          <a:lstStyle/>
          <a:p>
            <a:pPr>
              <a:lnSpc>
                <a:spcPts val="2880"/>
              </a:lnSpc>
            </a:pPr>
            <a:r>
              <a:rPr lang="en-US" sz="2400" b="1">
                <a:solidFill>
                  <a:srgbClr val="119303"/>
                </a:solidFill>
                <a:latin typeface="Arial Bold"/>
                <a:ea typeface="Arial Bold"/>
                <a:cs typeface="Arial Bold"/>
                <a:sym typeface="Arial Bold"/>
              </a:rPr>
              <a:t>3. Phân rã KPI xuống phòng ban</a:t>
            </a:r>
          </a:p>
        </p:txBody>
      </p:sp>
      <p:sp>
        <p:nvSpPr>
          <p:cNvPr id="4" name="TextBox 10">
            <a:extLst>
              <a:ext uri="{FF2B5EF4-FFF2-40B4-BE49-F238E27FC236}">
                <a16:creationId xmlns:a16="http://schemas.microsoft.com/office/drawing/2014/main" id="{4CD424A1-77A9-39A9-380C-F7640BA40BC4}"/>
              </a:ext>
            </a:extLst>
          </p:cNvPr>
          <p:cNvSpPr txBox="1"/>
          <p:nvPr/>
        </p:nvSpPr>
        <p:spPr>
          <a:xfrm>
            <a:off x="235355" y="540560"/>
            <a:ext cx="7137717" cy="307777"/>
          </a:xfrm>
          <a:prstGeom prst="rect">
            <a:avLst/>
          </a:prstGeom>
        </p:spPr>
        <p:txBody>
          <a:bodyPr wrap="square" lIns="0" tIns="0" rIns="0" bIns="0" rtlCol="0" anchor="t">
            <a:spAutoFit/>
          </a:bodyPr>
          <a:lstStyle/>
          <a:p>
            <a:pPr>
              <a:lnSpc>
                <a:spcPts val="2400"/>
              </a:lnSpc>
            </a:pPr>
            <a:r>
              <a:rPr lang="en-US" sz="2000" b="1">
                <a:solidFill>
                  <a:srgbClr val="39618E"/>
                </a:solidFill>
                <a:latin typeface="Arial Bold"/>
                <a:ea typeface="Arial Bold"/>
                <a:cs typeface="Arial Bold"/>
                <a:sym typeface="Arial Bold"/>
              </a:rPr>
              <a:t>KPI của GĐ/PGĐ là KPI của phòng ban</a:t>
            </a:r>
          </a:p>
        </p:txBody>
      </p:sp>
      <p:cxnSp>
        <p:nvCxnSpPr>
          <p:cNvPr id="6" name="Straight Connector 5">
            <a:extLst>
              <a:ext uri="{FF2B5EF4-FFF2-40B4-BE49-F238E27FC236}">
                <a16:creationId xmlns:a16="http://schemas.microsoft.com/office/drawing/2014/main" id="{A01E0238-EDF3-E4B3-BE12-79AA87BB72F9}"/>
              </a:ext>
            </a:extLst>
          </p:cNvPr>
          <p:cNvCxnSpPr>
            <a:cxnSpLocks/>
          </p:cNvCxnSpPr>
          <p:nvPr/>
        </p:nvCxnSpPr>
        <p:spPr>
          <a:xfrm>
            <a:off x="-8020" y="4790833"/>
            <a:ext cx="12192000" cy="0"/>
          </a:xfrm>
          <a:prstGeom prst="line">
            <a:avLst/>
          </a:prstGeom>
          <a:ln w="57150">
            <a:prstDash val="sysDot"/>
          </a:ln>
        </p:spPr>
        <p:style>
          <a:lnRef idx="2">
            <a:schemeClr val="accent1"/>
          </a:lnRef>
          <a:fillRef idx="0">
            <a:schemeClr val="accent1"/>
          </a:fillRef>
          <a:effectRef idx="1">
            <a:schemeClr val="accent1"/>
          </a:effectRef>
          <a:fontRef idx="minor">
            <a:schemeClr val="tx1"/>
          </a:fontRef>
        </p:style>
      </p:cxnSp>
      <p:grpSp>
        <p:nvGrpSpPr>
          <p:cNvPr id="8" name="Group 7">
            <a:extLst>
              <a:ext uri="{FF2B5EF4-FFF2-40B4-BE49-F238E27FC236}">
                <a16:creationId xmlns:a16="http://schemas.microsoft.com/office/drawing/2014/main" id="{AC2ECAD1-385A-50E0-9091-77B3F61F87DD}"/>
              </a:ext>
            </a:extLst>
          </p:cNvPr>
          <p:cNvGrpSpPr>
            <a:grpSpLocks noChangeAspect="1"/>
          </p:cNvGrpSpPr>
          <p:nvPr/>
        </p:nvGrpSpPr>
        <p:grpSpPr>
          <a:xfrm>
            <a:off x="144639" y="6576546"/>
            <a:ext cx="1146287" cy="175771"/>
            <a:chOff x="0" y="0"/>
            <a:chExt cx="2292573" cy="351541"/>
          </a:xfrm>
        </p:grpSpPr>
        <p:sp>
          <p:nvSpPr>
            <p:cNvPr id="9" name="Freeform 7">
              <a:extLst>
                <a:ext uri="{FF2B5EF4-FFF2-40B4-BE49-F238E27FC236}">
                  <a16:creationId xmlns:a16="http://schemas.microsoft.com/office/drawing/2014/main" id="{3023E266-BED1-420A-6667-2958C5C18834}"/>
                </a:ext>
              </a:extLst>
            </p:cNvPr>
            <p:cNvSpPr/>
            <p:nvPr/>
          </p:nvSpPr>
          <p:spPr>
            <a:xfrm>
              <a:off x="0" y="0"/>
              <a:ext cx="2292604" cy="351536"/>
            </a:xfrm>
            <a:custGeom>
              <a:avLst/>
              <a:gdLst/>
              <a:ahLst/>
              <a:cxnLst/>
              <a:rect l="l" t="t" r="r" b="b"/>
              <a:pathLst>
                <a:path w="2292604" h="351536">
                  <a:moveTo>
                    <a:pt x="0" y="0"/>
                  </a:moveTo>
                  <a:lnTo>
                    <a:pt x="2292604" y="0"/>
                  </a:lnTo>
                  <a:lnTo>
                    <a:pt x="2292604" y="351536"/>
                  </a:lnTo>
                  <a:lnTo>
                    <a:pt x="0" y="351536"/>
                  </a:lnTo>
                  <a:lnTo>
                    <a:pt x="0" y="0"/>
                  </a:lnTo>
                  <a:close/>
                </a:path>
              </a:pathLst>
            </a:custGeom>
            <a:blipFill>
              <a:blip r:embed="rId4"/>
              <a:stretch>
                <a:fillRect r="1" b="-2"/>
              </a:stretch>
            </a:blipFill>
          </p:spPr>
          <p:txBody>
            <a:bodyPr/>
            <a:lstStyle/>
            <a:p>
              <a:endParaRPr lang="en-US" sz="1200"/>
            </a:p>
          </p:txBody>
        </p:sp>
      </p:grpSp>
      <p:sp>
        <p:nvSpPr>
          <p:cNvPr id="11" name="Rectangle 10">
            <a:extLst>
              <a:ext uri="{FF2B5EF4-FFF2-40B4-BE49-F238E27FC236}">
                <a16:creationId xmlns:a16="http://schemas.microsoft.com/office/drawing/2014/main" id="{6E15CD32-C31D-F1BB-F9C8-C653793DB6FC}"/>
              </a:ext>
            </a:extLst>
          </p:cNvPr>
          <p:cNvSpPr/>
          <p:nvPr/>
        </p:nvSpPr>
        <p:spPr>
          <a:xfrm>
            <a:off x="8096451" y="848337"/>
            <a:ext cx="729916" cy="5664608"/>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70D0BA1-9B95-7CC9-907C-91679D765B3D}"/>
              </a:ext>
            </a:extLst>
          </p:cNvPr>
          <p:cNvGrpSpPr/>
          <p:nvPr/>
        </p:nvGrpSpPr>
        <p:grpSpPr>
          <a:xfrm>
            <a:off x="12362973" y="1083038"/>
            <a:ext cx="2620520" cy="5154598"/>
            <a:chOff x="112848" y="1017603"/>
            <a:chExt cx="5253434" cy="5154598"/>
          </a:xfrm>
        </p:grpSpPr>
        <p:grpSp>
          <p:nvGrpSpPr>
            <p:cNvPr id="13" name="Group 11">
              <a:extLst>
                <a:ext uri="{FF2B5EF4-FFF2-40B4-BE49-F238E27FC236}">
                  <a16:creationId xmlns:a16="http://schemas.microsoft.com/office/drawing/2014/main" id="{0549B959-6DD7-DFAA-FA01-FA1AE35EFC05}"/>
                </a:ext>
              </a:extLst>
            </p:cNvPr>
            <p:cNvGrpSpPr/>
            <p:nvPr/>
          </p:nvGrpSpPr>
          <p:grpSpPr>
            <a:xfrm>
              <a:off x="1709393" y="1017603"/>
              <a:ext cx="3656889" cy="458667"/>
              <a:chOff x="0" y="0"/>
              <a:chExt cx="1444697" cy="181202"/>
            </a:xfrm>
          </p:grpSpPr>
          <p:sp>
            <p:nvSpPr>
              <p:cNvPr id="44" name="Freeform 12">
                <a:extLst>
                  <a:ext uri="{FF2B5EF4-FFF2-40B4-BE49-F238E27FC236}">
                    <a16:creationId xmlns:a16="http://schemas.microsoft.com/office/drawing/2014/main" id="{04D6380E-91AE-972F-45AA-755FE82AD246}"/>
                  </a:ext>
                </a:extLst>
              </p:cNvPr>
              <p:cNvSpPr/>
              <p:nvPr/>
            </p:nvSpPr>
            <p:spPr>
              <a:xfrm>
                <a:off x="0" y="0"/>
                <a:ext cx="1444697" cy="181202"/>
              </a:xfrm>
              <a:custGeom>
                <a:avLst/>
                <a:gdLst/>
                <a:ahLst/>
                <a:cxnLst/>
                <a:rect l="l" t="t" r="r" b="b"/>
                <a:pathLst>
                  <a:path w="1444697" h="181202">
                    <a:moveTo>
                      <a:pt x="23994" y="0"/>
                    </a:moveTo>
                    <a:lnTo>
                      <a:pt x="1420704" y="0"/>
                    </a:lnTo>
                    <a:cubicBezTo>
                      <a:pt x="1433955" y="0"/>
                      <a:pt x="1444697" y="10742"/>
                      <a:pt x="1444697" y="23994"/>
                    </a:cubicBezTo>
                    <a:lnTo>
                      <a:pt x="1444697" y="157208"/>
                    </a:lnTo>
                    <a:cubicBezTo>
                      <a:pt x="1444697" y="170459"/>
                      <a:pt x="1433955" y="181202"/>
                      <a:pt x="1420704" y="181202"/>
                    </a:cubicBezTo>
                    <a:lnTo>
                      <a:pt x="23994" y="181202"/>
                    </a:lnTo>
                    <a:cubicBezTo>
                      <a:pt x="10742" y="181202"/>
                      <a:pt x="0" y="170459"/>
                      <a:pt x="0" y="157208"/>
                    </a:cubicBezTo>
                    <a:lnTo>
                      <a:pt x="0" y="23994"/>
                    </a:lnTo>
                    <a:cubicBezTo>
                      <a:pt x="0" y="10742"/>
                      <a:pt x="10742" y="0"/>
                      <a:pt x="23994" y="0"/>
                    </a:cubicBezTo>
                    <a:close/>
                  </a:path>
                </a:pathLst>
              </a:custGeom>
              <a:solidFill>
                <a:srgbClr val="119303"/>
              </a:solidFill>
            </p:spPr>
            <p:txBody>
              <a:bodyPr/>
              <a:lstStyle/>
              <a:p>
                <a:endParaRPr lang="en-US" sz="700"/>
              </a:p>
            </p:txBody>
          </p:sp>
          <p:sp>
            <p:nvSpPr>
              <p:cNvPr id="45" name="TextBox 13">
                <a:extLst>
                  <a:ext uri="{FF2B5EF4-FFF2-40B4-BE49-F238E27FC236}">
                    <a16:creationId xmlns:a16="http://schemas.microsoft.com/office/drawing/2014/main" id="{A3FAE7A8-4AEE-C84C-0574-9328FBCE04FF}"/>
                  </a:ext>
                </a:extLst>
              </p:cNvPr>
              <p:cNvSpPr txBox="1"/>
              <p:nvPr/>
            </p:nvSpPr>
            <p:spPr>
              <a:xfrm>
                <a:off x="0" y="0"/>
                <a:ext cx="1444697" cy="181202"/>
              </a:xfrm>
              <a:prstGeom prst="rect">
                <a:avLst/>
              </a:prstGeom>
            </p:spPr>
            <p:txBody>
              <a:bodyPr lIns="33867" tIns="33867" rIns="33867" bIns="33867" rtlCol="0" anchor="ctr"/>
              <a:lstStyle/>
              <a:p>
                <a:pPr algn="ctr">
                  <a:lnSpc>
                    <a:spcPts val="1919"/>
                  </a:lnSpc>
                </a:pPr>
                <a:r>
                  <a:rPr lang="en-US" sz="900" dirty="0">
                    <a:solidFill>
                      <a:srgbClr val="FFFFFF"/>
                    </a:solidFill>
                    <a:latin typeface="Tahoma"/>
                    <a:ea typeface="Tahoma"/>
                    <a:cs typeface="Tahoma"/>
                    <a:sym typeface="Tahoma"/>
                  </a:rPr>
                  <a:t>PGĐ/GĐ CTTV</a:t>
                </a:r>
              </a:p>
            </p:txBody>
          </p:sp>
        </p:grpSp>
        <p:grpSp>
          <p:nvGrpSpPr>
            <p:cNvPr id="14" name="Group 23">
              <a:extLst>
                <a:ext uri="{FF2B5EF4-FFF2-40B4-BE49-F238E27FC236}">
                  <a16:creationId xmlns:a16="http://schemas.microsoft.com/office/drawing/2014/main" id="{BF47D679-17F7-DBA8-BC7A-F89130052D8C}"/>
                </a:ext>
              </a:extLst>
            </p:cNvPr>
            <p:cNvGrpSpPr/>
            <p:nvPr/>
          </p:nvGrpSpPr>
          <p:grpSpPr>
            <a:xfrm>
              <a:off x="112848" y="1017603"/>
              <a:ext cx="1574821" cy="458667"/>
              <a:chOff x="0" y="0"/>
              <a:chExt cx="622152" cy="181202"/>
            </a:xfrm>
          </p:grpSpPr>
          <p:sp>
            <p:nvSpPr>
              <p:cNvPr id="42" name="Freeform 24">
                <a:extLst>
                  <a:ext uri="{FF2B5EF4-FFF2-40B4-BE49-F238E27FC236}">
                    <a16:creationId xmlns:a16="http://schemas.microsoft.com/office/drawing/2014/main" id="{90BE8588-FC59-E275-170A-7CA5266EF7C7}"/>
                  </a:ext>
                </a:extLst>
              </p:cNvPr>
              <p:cNvSpPr/>
              <p:nvPr/>
            </p:nvSpPr>
            <p:spPr>
              <a:xfrm>
                <a:off x="0" y="0"/>
                <a:ext cx="622152" cy="181202"/>
              </a:xfrm>
              <a:custGeom>
                <a:avLst/>
                <a:gdLst/>
                <a:ahLst/>
                <a:cxnLst/>
                <a:rect l="l" t="t" r="r" b="b"/>
                <a:pathLst>
                  <a:path w="622152" h="181202">
                    <a:moveTo>
                      <a:pt x="55715" y="0"/>
                    </a:moveTo>
                    <a:lnTo>
                      <a:pt x="566436" y="0"/>
                    </a:lnTo>
                    <a:cubicBezTo>
                      <a:pt x="581213" y="0"/>
                      <a:pt x="595384" y="5870"/>
                      <a:pt x="605833" y="16319"/>
                    </a:cubicBezTo>
                    <a:cubicBezTo>
                      <a:pt x="616282" y="26767"/>
                      <a:pt x="622152" y="40939"/>
                      <a:pt x="622152" y="55715"/>
                    </a:cubicBezTo>
                    <a:lnTo>
                      <a:pt x="622152" y="125486"/>
                    </a:lnTo>
                    <a:cubicBezTo>
                      <a:pt x="622152" y="156257"/>
                      <a:pt x="597207" y="181202"/>
                      <a:pt x="566436" y="181202"/>
                    </a:cubicBezTo>
                    <a:lnTo>
                      <a:pt x="55715" y="181202"/>
                    </a:lnTo>
                    <a:cubicBezTo>
                      <a:pt x="40939" y="181202"/>
                      <a:pt x="26767" y="175332"/>
                      <a:pt x="16319" y="164883"/>
                    </a:cubicBezTo>
                    <a:cubicBezTo>
                      <a:pt x="5870" y="154434"/>
                      <a:pt x="0" y="140263"/>
                      <a:pt x="0" y="125486"/>
                    </a:cubicBezTo>
                    <a:lnTo>
                      <a:pt x="0" y="55715"/>
                    </a:lnTo>
                    <a:cubicBezTo>
                      <a:pt x="0" y="40939"/>
                      <a:pt x="5870" y="26767"/>
                      <a:pt x="16319" y="16319"/>
                    </a:cubicBezTo>
                    <a:cubicBezTo>
                      <a:pt x="26767" y="5870"/>
                      <a:pt x="40939" y="0"/>
                      <a:pt x="55715" y="0"/>
                    </a:cubicBezTo>
                    <a:close/>
                  </a:path>
                </a:pathLst>
              </a:custGeom>
              <a:solidFill>
                <a:srgbClr val="A6A6A6"/>
              </a:solidFill>
            </p:spPr>
            <p:txBody>
              <a:bodyPr/>
              <a:lstStyle/>
              <a:p>
                <a:endParaRPr lang="en-US" sz="700"/>
              </a:p>
            </p:txBody>
          </p:sp>
          <p:sp>
            <p:nvSpPr>
              <p:cNvPr id="43" name="TextBox 25">
                <a:extLst>
                  <a:ext uri="{FF2B5EF4-FFF2-40B4-BE49-F238E27FC236}">
                    <a16:creationId xmlns:a16="http://schemas.microsoft.com/office/drawing/2014/main" id="{84B6FF8A-44AD-7C43-CF0A-1D5DDE59029D}"/>
                  </a:ext>
                </a:extLst>
              </p:cNvPr>
              <p:cNvSpPr txBox="1"/>
              <p:nvPr/>
            </p:nvSpPr>
            <p:spPr>
              <a:xfrm>
                <a:off x="0" y="0"/>
                <a:ext cx="622152" cy="181202"/>
              </a:xfrm>
              <a:prstGeom prst="rect">
                <a:avLst/>
              </a:prstGeom>
            </p:spPr>
            <p:txBody>
              <a:bodyPr lIns="33867" tIns="33867" rIns="33867" bIns="33867" rtlCol="0" anchor="ctr"/>
              <a:lstStyle/>
              <a:p>
                <a:pPr algn="ctr">
                  <a:lnSpc>
                    <a:spcPts val="1919"/>
                  </a:lnSpc>
                </a:pPr>
                <a:r>
                  <a:rPr lang="en-US" sz="900" dirty="0">
                    <a:solidFill>
                      <a:srgbClr val="FFFFFF"/>
                    </a:solidFill>
                    <a:latin typeface="Tahoma"/>
                    <a:ea typeface="Tahoma"/>
                    <a:cs typeface="Tahoma"/>
                    <a:sym typeface="Tahoma"/>
                  </a:rPr>
                  <a:t>LOẠI KPI</a:t>
                </a:r>
              </a:p>
            </p:txBody>
          </p:sp>
        </p:grpSp>
        <p:grpSp>
          <p:nvGrpSpPr>
            <p:cNvPr id="15" name="Group 26">
              <a:extLst>
                <a:ext uri="{FF2B5EF4-FFF2-40B4-BE49-F238E27FC236}">
                  <a16:creationId xmlns:a16="http://schemas.microsoft.com/office/drawing/2014/main" id="{62FFEA7A-692D-7C28-1ACA-2C90B5669D22}"/>
                </a:ext>
              </a:extLst>
            </p:cNvPr>
            <p:cNvGrpSpPr/>
            <p:nvPr/>
          </p:nvGrpSpPr>
          <p:grpSpPr>
            <a:xfrm>
              <a:off x="1709393" y="1530190"/>
              <a:ext cx="3656889" cy="797922"/>
              <a:chOff x="0" y="0"/>
              <a:chExt cx="1444697" cy="315228"/>
            </a:xfrm>
          </p:grpSpPr>
          <p:sp>
            <p:nvSpPr>
              <p:cNvPr id="40" name="Freeform 27">
                <a:extLst>
                  <a:ext uri="{FF2B5EF4-FFF2-40B4-BE49-F238E27FC236}">
                    <a16:creationId xmlns:a16="http://schemas.microsoft.com/office/drawing/2014/main" id="{BD7E94D2-114D-6EDA-201A-22B8A5EA3ECB}"/>
                  </a:ext>
                </a:extLst>
              </p:cNvPr>
              <p:cNvSpPr/>
              <p:nvPr/>
            </p:nvSpPr>
            <p:spPr>
              <a:xfrm>
                <a:off x="0" y="0"/>
                <a:ext cx="1444697" cy="315228"/>
              </a:xfrm>
              <a:custGeom>
                <a:avLst/>
                <a:gdLst/>
                <a:ahLst/>
                <a:cxnLst/>
                <a:rect l="l" t="t" r="r" b="b"/>
                <a:pathLst>
                  <a:path w="1444697" h="315228">
                    <a:moveTo>
                      <a:pt x="23994" y="0"/>
                    </a:moveTo>
                    <a:lnTo>
                      <a:pt x="1420704" y="0"/>
                    </a:lnTo>
                    <a:cubicBezTo>
                      <a:pt x="1433955" y="0"/>
                      <a:pt x="1444697" y="10742"/>
                      <a:pt x="1444697" y="23994"/>
                    </a:cubicBezTo>
                    <a:lnTo>
                      <a:pt x="1444697" y="291235"/>
                    </a:lnTo>
                    <a:cubicBezTo>
                      <a:pt x="1444697" y="304486"/>
                      <a:pt x="1433955" y="315228"/>
                      <a:pt x="1420704" y="315228"/>
                    </a:cubicBezTo>
                    <a:lnTo>
                      <a:pt x="23994" y="315228"/>
                    </a:lnTo>
                    <a:cubicBezTo>
                      <a:pt x="10742" y="315228"/>
                      <a:pt x="0" y="304486"/>
                      <a:pt x="0" y="291235"/>
                    </a:cubicBezTo>
                    <a:lnTo>
                      <a:pt x="0" y="23994"/>
                    </a:lnTo>
                    <a:cubicBezTo>
                      <a:pt x="0" y="10742"/>
                      <a:pt x="10742" y="0"/>
                      <a:pt x="23994" y="0"/>
                    </a:cubicBezTo>
                    <a:close/>
                  </a:path>
                </a:pathLst>
              </a:custGeom>
              <a:solidFill>
                <a:srgbClr val="F9F9F9"/>
              </a:solidFill>
              <a:ln w="9525" cap="sq">
                <a:solidFill>
                  <a:srgbClr val="A6A6A6"/>
                </a:solidFill>
                <a:prstDash val="solid"/>
                <a:miter/>
              </a:ln>
            </p:spPr>
            <p:txBody>
              <a:bodyPr/>
              <a:lstStyle/>
              <a:p>
                <a:endParaRPr lang="en-US" sz="700"/>
              </a:p>
            </p:txBody>
          </p:sp>
          <p:sp>
            <p:nvSpPr>
              <p:cNvPr id="41" name="TextBox 28">
                <a:extLst>
                  <a:ext uri="{FF2B5EF4-FFF2-40B4-BE49-F238E27FC236}">
                    <a16:creationId xmlns:a16="http://schemas.microsoft.com/office/drawing/2014/main" id="{F4009AB4-2CAB-BFBF-BC39-7E2888DD9DA8}"/>
                  </a:ext>
                </a:extLst>
              </p:cNvPr>
              <p:cNvSpPr txBox="1"/>
              <p:nvPr/>
            </p:nvSpPr>
            <p:spPr>
              <a:xfrm>
                <a:off x="0" y="0"/>
                <a:ext cx="1444697" cy="239221"/>
              </a:xfrm>
              <a:prstGeom prst="rect">
                <a:avLst/>
              </a:prstGeom>
            </p:spPr>
            <p:txBody>
              <a:bodyPr lIns="33867" tIns="33867" rIns="33867" bIns="33867" rtlCol="0" anchor="ctr"/>
              <a:lstStyle/>
              <a:p>
                <a:pPr>
                  <a:lnSpc>
                    <a:spcPts val="1600"/>
                  </a:lnSpc>
                </a:pPr>
                <a:r>
                  <a:rPr lang="en-US" sz="800" b="1">
                    <a:solidFill>
                      <a:srgbClr val="FF3131"/>
                    </a:solidFill>
                    <a:latin typeface="Tahoma Bold"/>
                    <a:ea typeface="Tahoma Bold"/>
                    <a:cs typeface="Tahoma Bold"/>
                    <a:sym typeface="Tahoma Bold"/>
                  </a:rPr>
                  <a:t>20%</a:t>
                </a:r>
                <a:r>
                  <a:rPr lang="en-US" sz="800">
                    <a:solidFill>
                      <a:srgbClr val="3B5272"/>
                    </a:solidFill>
                    <a:latin typeface="Tahoma"/>
                    <a:ea typeface="Tahoma"/>
                    <a:cs typeface="Tahoma"/>
                    <a:sym typeface="Tahoma"/>
                  </a:rPr>
                  <a:t> phân bổ cho </a:t>
                </a:r>
                <a:r>
                  <a:rPr lang="en-US" sz="800" b="1">
                    <a:solidFill>
                      <a:srgbClr val="3B5272"/>
                    </a:solidFill>
                    <a:latin typeface="Tahoma Bold"/>
                    <a:ea typeface="Tahoma Bold"/>
                    <a:cs typeface="Tahoma Bold"/>
                    <a:sym typeface="Tahoma Bold"/>
                  </a:rPr>
                  <a:t>2 KP</a:t>
                </a:r>
                <a:r>
                  <a:rPr lang="en-US" sz="800">
                    <a:solidFill>
                      <a:srgbClr val="3B5272"/>
                    </a:solidFill>
                    <a:latin typeface="Tahoma"/>
                    <a:ea typeface="Tahoma"/>
                    <a:cs typeface="Tahoma"/>
                    <a:sym typeface="Tahoma"/>
                  </a:rPr>
                  <a:t>I bên dưới:</a:t>
                </a:r>
              </a:p>
              <a:p>
                <a:pPr marL="287882" lvl="1" indent="-143941">
                  <a:lnSpc>
                    <a:spcPts val="1600"/>
                  </a:lnSpc>
                  <a:buAutoNum type="arabicPeriod"/>
                </a:pPr>
                <a:r>
                  <a:rPr lang="en-US" sz="800">
                    <a:solidFill>
                      <a:srgbClr val="3B5272"/>
                    </a:solidFill>
                    <a:latin typeface="Tahoma"/>
                    <a:ea typeface="Tahoma"/>
                    <a:cs typeface="Tahoma"/>
                    <a:sym typeface="Tahoma"/>
                  </a:rPr>
                  <a:t>Doanh thu thuần (CTTV)</a:t>
                </a:r>
              </a:p>
              <a:p>
                <a:pPr marL="287882" lvl="1" indent="-143941">
                  <a:lnSpc>
                    <a:spcPts val="1600"/>
                  </a:lnSpc>
                  <a:buAutoNum type="arabicPeriod"/>
                </a:pPr>
                <a:r>
                  <a:rPr lang="en-US" sz="800">
                    <a:solidFill>
                      <a:srgbClr val="3B5272"/>
                    </a:solidFill>
                    <a:latin typeface="Tahoma"/>
                    <a:ea typeface="Tahoma"/>
                    <a:cs typeface="Tahoma"/>
                    <a:sym typeface="Tahoma"/>
                  </a:rPr>
                  <a:t>Lợi nhuận sau thuế (CTTV)</a:t>
                </a:r>
              </a:p>
            </p:txBody>
          </p:sp>
        </p:grpSp>
        <p:grpSp>
          <p:nvGrpSpPr>
            <p:cNvPr id="16" name="Group 35">
              <a:extLst>
                <a:ext uri="{FF2B5EF4-FFF2-40B4-BE49-F238E27FC236}">
                  <a16:creationId xmlns:a16="http://schemas.microsoft.com/office/drawing/2014/main" id="{4CC75EAB-2D83-C882-2E86-06AF66E40AAE}"/>
                </a:ext>
              </a:extLst>
            </p:cNvPr>
            <p:cNvGrpSpPr/>
            <p:nvPr/>
          </p:nvGrpSpPr>
          <p:grpSpPr>
            <a:xfrm>
              <a:off x="1709393" y="2328111"/>
              <a:ext cx="3656889" cy="1569392"/>
              <a:chOff x="0" y="0"/>
              <a:chExt cx="1444697" cy="620007"/>
            </a:xfrm>
          </p:grpSpPr>
          <p:sp>
            <p:nvSpPr>
              <p:cNvPr id="38" name="Freeform 36">
                <a:extLst>
                  <a:ext uri="{FF2B5EF4-FFF2-40B4-BE49-F238E27FC236}">
                    <a16:creationId xmlns:a16="http://schemas.microsoft.com/office/drawing/2014/main" id="{56803B89-6899-C028-0A49-025BC91CA716}"/>
                  </a:ext>
                </a:extLst>
              </p:cNvPr>
              <p:cNvSpPr/>
              <p:nvPr/>
            </p:nvSpPr>
            <p:spPr>
              <a:xfrm>
                <a:off x="0" y="0"/>
                <a:ext cx="1444697" cy="620007"/>
              </a:xfrm>
              <a:custGeom>
                <a:avLst/>
                <a:gdLst/>
                <a:ahLst/>
                <a:cxnLst/>
                <a:rect l="l" t="t" r="r" b="b"/>
                <a:pathLst>
                  <a:path w="1444697" h="620007">
                    <a:moveTo>
                      <a:pt x="23994" y="0"/>
                    </a:moveTo>
                    <a:lnTo>
                      <a:pt x="1420704" y="0"/>
                    </a:lnTo>
                    <a:cubicBezTo>
                      <a:pt x="1433955" y="0"/>
                      <a:pt x="1444697" y="10742"/>
                      <a:pt x="1444697" y="23994"/>
                    </a:cubicBezTo>
                    <a:lnTo>
                      <a:pt x="1444697" y="596013"/>
                    </a:lnTo>
                    <a:cubicBezTo>
                      <a:pt x="1444697" y="609264"/>
                      <a:pt x="1433955" y="620007"/>
                      <a:pt x="1420704" y="620007"/>
                    </a:cubicBezTo>
                    <a:lnTo>
                      <a:pt x="23994" y="620007"/>
                    </a:lnTo>
                    <a:cubicBezTo>
                      <a:pt x="10742" y="620007"/>
                      <a:pt x="0" y="609264"/>
                      <a:pt x="0" y="596013"/>
                    </a:cubicBezTo>
                    <a:lnTo>
                      <a:pt x="0" y="23994"/>
                    </a:lnTo>
                    <a:cubicBezTo>
                      <a:pt x="0" y="10742"/>
                      <a:pt x="10742" y="0"/>
                      <a:pt x="23994" y="0"/>
                    </a:cubicBezTo>
                    <a:close/>
                  </a:path>
                </a:pathLst>
              </a:custGeom>
              <a:solidFill>
                <a:srgbClr val="F9F9F9"/>
              </a:solidFill>
              <a:ln w="9525" cap="sq">
                <a:solidFill>
                  <a:srgbClr val="A6A6A6"/>
                </a:solidFill>
                <a:prstDash val="solid"/>
                <a:miter/>
              </a:ln>
            </p:spPr>
            <p:txBody>
              <a:bodyPr/>
              <a:lstStyle/>
              <a:p>
                <a:endParaRPr lang="en-US" sz="700"/>
              </a:p>
            </p:txBody>
          </p:sp>
          <p:sp>
            <p:nvSpPr>
              <p:cNvPr id="39" name="TextBox 37">
                <a:extLst>
                  <a:ext uri="{FF2B5EF4-FFF2-40B4-BE49-F238E27FC236}">
                    <a16:creationId xmlns:a16="http://schemas.microsoft.com/office/drawing/2014/main" id="{1B359471-697C-B131-51F7-939A493A6F2A}"/>
                  </a:ext>
                </a:extLst>
              </p:cNvPr>
              <p:cNvSpPr txBox="1"/>
              <p:nvPr/>
            </p:nvSpPr>
            <p:spPr>
              <a:xfrm>
                <a:off x="0" y="0"/>
                <a:ext cx="1444697" cy="620007"/>
              </a:xfrm>
              <a:prstGeom prst="rect">
                <a:avLst/>
              </a:prstGeom>
            </p:spPr>
            <p:txBody>
              <a:bodyPr lIns="33867" tIns="33867" rIns="33867" bIns="33867" rtlCol="0" anchor="ctr"/>
              <a:lstStyle/>
              <a:p>
                <a:pPr>
                  <a:lnSpc>
                    <a:spcPts val="1600"/>
                  </a:lnSpc>
                </a:pPr>
                <a:r>
                  <a:rPr lang="en-US" sz="800" b="1" dirty="0">
                    <a:solidFill>
                      <a:srgbClr val="FF3131"/>
                    </a:solidFill>
                    <a:latin typeface="Tahoma Bold"/>
                    <a:ea typeface="Tahoma Bold"/>
                    <a:cs typeface="Tahoma Bold"/>
                    <a:sym typeface="Tahoma Bold"/>
                  </a:rPr>
                  <a:t>20%</a:t>
                </a:r>
                <a:r>
                  <a:rPr lang="en-US" sz="800" dirty="0">
                    <a:solidFill>
                      <a:srgbClr val="3B5272"/>
                    </a:solidFill>
                    <a:latin typeface="Tahoma"/>
                    <a:ea typeface="Tahoma"/>
                    <a:cs typeface="Tahoma"/>
                    <a:sym typeface="Tahoma"/>
                  </a:rPr>
                  <a:t> phân bổ cho </a:t>
                </a:r>
                <a:r>
                  <a:rPr lang="en-US" sz="800" b="1" dirty="0">
                    <a:solidFill>
                      <a:srgbClr val="3B5272"/>
                    </a:solidFill>
                    <a:latin typeface="Tahoma Bold"/>
                    <a:ea typeface="Tahoma Bold"/>
                    <a:cs typeface="Tahoma Bold"/>
                    <a:sym typeface="Tahoma Bold"/>
                  </a:rPr>
                  <a:t>2 KPI/PI</a:t>
                </a:r>
                <a:r>
                  <a:rPr lang="en-US" sz="800" dirty="0">
                    <a:solidFill>
                      <a:srgbClr val="3B5272"/>
                    </a:solidFill>
                    <a:latin typeface="Tahoma"/>
                    <a:ea typeface="Tahoma"/>
                    <a:cs typeface="Tahoma"/>
                    <a:sym typeface="Tahoma"/>
                  </a:rPr>
                  <a:t> có liên quan được chọn từ KPI của </a:t>
                </a:r>
                <a:r>
                  <a:rPr lang="en-US" sz="800" b="1" dirty="0">
                    <a:solidFill>
                      <a:srgbClr val="FF0000"/>
                    </a:solidFill>
                    <a:latin typeface="Tahoma"/>
                    <a:ea typeface="Tahoma"/>
                    <a:cs typeface="Tahoma"/>
                    <a:sym typeface="Tahoma"/>
                  </a:rPr>
                  <a:t>GĐĐH hoặc GĐ Quản lý trực tiếp</a:t>
                </a:r>
              </a:p>
              <a:p>
                <a:pPr>
                  <a:lnSpc>
                    <a:spcPts val="1600"/>
                  </a:lnSpc>
                </a:pPr>
                <a:endParaRPr lang="en-US" sz="800" dirty="0">
                  <a:solidFill>
                    <a:srgbClr val="3B5272"/>
                  </a:solidFill>
                  <a:latin typeface="Tahoma"/>
                  <a:ea typeface="Tahoma"/>
                  <a:cs typeface="Tahoma"/>
                  <a:sym typeface="Tahoma"/>
                </a:endParaRPr>
              </a:p>
              <a:p>
                <a:pPr>
                  <a:lnSpc>
                    <a:spcPts val="1600"/>
                  </a:lnSpc>
                </a:pPr>
                <a:r>
                  <a:rPr lang="en-US" sz="800" b="1" dirty="0">
                    <a:solidFill>
                      <a:srgbClr val="FF3131"/>
                    </a:solidFill>
                    <a:latin typeface="Tahoma Bold"/>
                    <a:ea typeface="Tahoma Bold"/>
                    <a:cs typeface="Tahoma Bold"/>
                    <a:sym typeface="Tahoma Bold"/>
                  </a:rPr>
                  <a:t>10%</a:t>
                </a:r>
                <a:r>
                  <a:rPr lang="en-US" sz="800" dirty="0">
                    <a:solidFill>
                      <a:srgbClr val="3B5272"/>
                    </a:solidFill>
                    <a:latin typeface="Tahoma"/>
                    <a:ea typeface="Tahoma"/>
                    <a:cs typeface="Tahoma"/>
                    <a:sym typeface="Tahoma"/>
                  </a:rPr>
                  <a:t> phân bổ cho </a:t>
                </a:r>
                <a:r>
                  <a:rPr lang="en-US" sz="800" b="1" dirty="0">
                    <a:solidFill>
                      <a:srgbClr val="3B5272"/>
                    </a:solidFill>
                    <a:latin typeface="Tahoma Bold"/>
                    <a:ea typeface="Tahoma Bold"/>
                    <a:cs typeface="Tahoma Bold"/>
                    <a:sym typeface="Tahoma Bold"/>
                  </a:rPr>
                  <a:t>1 KPI/PI</a:t>
                </a:r>
                <a:r>
                  <a:rPr lang="en-US" sz="800" dirty="0">
                    <a:solidFill>
                      <a:srgbClr val="3B5272"/>
                    </a:solidFill>
                    <a:latin typeface="Tahoma"/>
                    <a:ea typeface="Tahoma"/>
                    <a:cs typeface="Tahoma"/>
                    <a:sym typeface="Tahoma"/>
                  </a:rPr>
                  <a:t> có liên quan được chọn từ KPI của </a:t>
                </a:r>
                <a:r>
                  <a:rPr lang="en-US" sz="800" b="1" dirty="0">
                    <a:solidFill>
                      <a:srgbClr val="00B0F0"/>
                    </a:solidFill>
                    <a:latin typeface="Tahoma"/>
                    <a:ea typeface="Tahoma"/>
                    <a:cs typeface="Tahoma"/>
                    <a:sym typeface="Tahoma"/>
                  </a:rPr>
                  <a:t>GĐ khác</a:t>
                </a:r>
              </a:p>
            </p:txBody>
          </p:sp>
        </p:grpSp>
        <p:grpSp>
          <p:nvGrpSpPr>
            <p:cNvPr id="17" name="Group 53">
              <a:extLst>
                <a:ext uri="{FF2B5EF4-FFF2-40B4-BE49-F238E27FC236}">
                  <a16:creationId xmlns:a16="http://schemas.microsoft.com/office/drawing/2014/main" id="{B8BC9CDF-D5D2-B03C-9A54-D2730D7B8E95}"/>
                </a:ext>
              </a:extLst>
            </p:cNvPr>
            <p:cNvGrpSpPr/>
            <p:nvPr/>
          </p:nvGrpSpPr>
          <p:grpSpPr>
            <a:xfrm>
              <a:off x="1709393" y="5530620"/>
              <a:ext cx="3656889" cy="641581"/>
              <a:chOff x="0" y="0"/>
              <a:chExt cx="1444697" cy="253464"/>
            </a:xfrm>
          </p:grpSpPr>
          <p:sp>
            <p:nvSpPr>
              <p:cNvPr id="36" name="Freeform 54">
                <a:extLst>
                  <a:ext uri="{FF2B5EF4-FFF2-40B4-BE49-F238E27FC236}">
                    <a16:creationId xmlns:a16="http://schemas.microsoft.com/office/drawing/2014/main" id="{97A736FA-6755-44EF-E0D0-658E18B76179}"/>
                  </a:ext>
                </a:extLst>
              </p:cNvPr>
              <p:cNvSpPr/>
              <p:nvPr/>
            </p:nvSpPr>
            <p:spPr>
              <a:xfrm>
                <a:off x="0" y="0"/>
                <a:ext cx="1444697" cy="253464"/>
              </a:xfrm>
              <a:custGeom>
                <a:avLst/>
                <a:gdLst/>
                <a:ahLst/>
                <a:cxnLst/>
                <a:rect l="l" t="t" r="r" b="b"/>
                <a:pathLst>
                  <a:path w="1444697" h="253464">
                    <a:moveTo>
                      <a:pt x="23994" y="0"/>
                    </a:moveTo>
                    <a:lnTo>
                      <a:pt x="1420704" y="0"/>
                    </a:lnTo>
                    <a:cubicBezTo>
                      <a:pt x="1433955" y="0"/>
                      <a:pt x="1444697" y="10742"/>
                      <a:pt x="1444697" y="23994"/>
                    </a:cubicBezTo>
                    <a:lnTo>
                      <a:pt x="1444697" y="229470"/>
                    </a:lnTo>
                    <a:cubicBezTo>
                      <a:pt x="1444697" y="242722"/>
                      <a:pt x="1433955" y="253464"/>
                      <a:pt x="1420704" y="253464"/>
                    </a:cubicBezTo>
                    <a:lnTo>
                      <a:pt x="23994" y="253464"/>
                    </a:lnTo>
                    <a:cubicBezTo>
                      <a:pt x="10742" y="253464"/>
                      <a:pt x="0" y="242722"/>
                      <a:pt x="0" y="229470"/>
                    </a:cubicBezTo>
                    <a:lnTo>
                      <a:pt x="0" y="23994"/>
                    </a:lnTo>
                    <a:cubicBezTo>
                      <a:pt x="0" y="10742"/>
                      <a:pt x="10742" y="0"/>
                      <a:pt x="23994" y="0"/>
                    </a:cubicBezTo>
                    <a:close/>
                  </a:path>
                </a:pathLst>
              </a:custGeom>
              <a:solidFill>
                <a:srgbClr val="FFF3C2"/>
              </a:solidFill>
              <a:ln w="9525" cap="sq">
                <a:solidFill>
                  <a:srgbClr val="C6D8FB"/>
                </a:solidFill>
                <a:prstDash val="solid"/>
                <a:miter/>
              </a:ln>
            </p:spPr>
            <p:txBody>
              <a:bodyPr/>
              <a:lstStyle/>
              <a:p>
                <a:endParaRPr lang="en-US" sz="700"/>
              </a:p>
            </p:txBody>
          </p:sp>
          <p:sp>
            <p:nvSpPr>
              <p:cNvPr id="37" name="TextBox 55">
                <a:extLst>
                  <a:ext uri="{FF2B5EF4-FFF2-40B4-BE49-F238E27FC236}">
                    <a16:creationId xmlns:a16="http://schemas.microsoft.com/office/drawing/2014/main" id="{00CD98B1-5795-D54F-3081-B8F83E667C82}"/>
                  </a:ext>
                </a:extLst>
              </p:cNvPr>
              <p:cNvSpPr txBox="1"/>
              <p:nvPr/>
            </p:nvSpPr>
            <p:spPr>
              <a:xfrm>
                <a:off x="0" y="-9525"/>
                <a:ext cx="1444697" cy="262989"/>
              </a:xfrm>
              <a:prstGeom prst="rect">
                <a:avLst/>
              </a:prstGeom>
            </p:spPr>
            <p:txBody>
              <a:bodyPr lIns="33867" tIns="33867" rIns="33867" bIns="33867" rtlCol="0" anchor="ctr"/>
              <a:lstStyle/>
              <a:p>
                <a:pPr algn="ctr">
                  <a:lnSpc>
                    <a:spcPts val="1759"/>
                  </a:lnSpc>
                </a:pPr>
                <a:r>
                  <a:rPr lang="en-US" sz="900" b="1">
                    <a:solidFill>
                      <a:srgbClr val="3B5272"/>
                    </a:solidFill>
                    <a:latin typeface="Tahoma Bold"/>
                    <a:ea typeface="Tahoma Bold"/>
                    <a:cs typeface="Tahoma Bold"/>
                    <a:sym typeface="Tahoma Bold"/>
                  </a:rPr>
                  <a:t>10 KPI</a:t>
                </a:r>
              </a:p>
            </p:txBody>
          </p:sp>
        </p:grpSp>
        <p:grpSp>
          <p:nvGrpSpPr>
            <p:cNvPr id="18" name="Group 62">
              <a:extLst>
                <a:ext uri="{FF2B5EF4-FFF2-40B4-BE49-F238E27FC236}">
                  <a16:creationId xmlns:a16="http://schemas.microsoft.com/office/drawing/2014/main" id="{33890A39-5396-DC1A-83CC-7328613C67A8}"/>
                </a:ext>
              </a:extLst>
            </p:cNvPr>
            <p:cNvGrpSpPr/>
            <p:nvPr/>
          </p:nvGrpSpPr>
          <p:grpSpPr>
            <a:xfrm>
              <a:off x="112848" y="5530620"/>
              <a:ext cx="1558445" cy="641581"/>
              <a:chOff x="0" y="0"/>
              <a:chExt cx="615682" cy="253464"/>
            </a:xfrm>
          </p:grpSpPr>
          <p:sp>
            <p:nvSpPr>
              <p:cNvPr id="34" name="Freeform 63">
                <a:extLst>
                  <a:ext uri="{FF2B5EF4-FFF2-40B4-BE49-F238E27FC236}">
                    <a16:creationId xmlns:a16="http://schemas.microsoft.com/office/drawing/2014/main" id="{B57D6C6D-3930-0C43-60B8-AB84060D9531}"/>
                  </a:ext>
                </a:extLst>
              </p:cNvPr>
              <p:cNvSpPr/>
              <p:nvPr/>
            </p:nvSpPr>
            <p:spPr>
              <a:xfrm>
                <a:off x="0" y="0"/>
                <a:ext cx="615682" cy="253464"/>
              </a:xfrm>
              <a:custGeom>
                <a:avLst/>
                <a:gdLst/>
                <a:ahLst/>
                <a:cxnLst/>
                <a:rect l="l" t="t" r="r" b="b"/>
                <a:pathLst>
                  <a:path w="615682" h="253464">
                    <a:moveTo>
                      <a:pt x="56301" y="0"/>
                    </a:moveTo>
                    <a:lnTo>
                      <a:pt x="559381" y="0"/>
                    </a:lnTo>
                    <a:cubicBezTo>
                      <a:pt x="574313" y="0"/>
                      <a:pt x="588633" y="5932"/>
                      <a:pt x="599192" y="16490"/>
                    </a:cubicBezTo>
                    <a:cubicBezTo>
                      <a:pt x="609750" y="27049"/>
                      <a:pt x="615682" y="41369"/>
                      <a:pt x="615682" y="56301"/>
                    </a:cubicBezTo>
                    <a:lnTo>
                      <a:pt x="615682" y="197163"/>
                    </a:lnTo>
                    <a:cubicBezTo>
                      <a:pt x="615682" y="212095"/>
                      <a:pt x="609750" y="226415"/>
                      <a:pt x="599192" y="236974"/>
                    </a:cubicBezTo>
                    <a:cubicBezTo>
                      <a:pt x="588633" y="247532"/>
                      <a:pt x="574313" y="253464"/>
                      <a:pt x="559381" y="253464"/>
                    </a:cubicBezTo>
                    <a:lnTo>
                      <a:pt x="56301" y="253464"/>
                    </a:lnTo>
                    <a:cubicBezTo>
                      <a:pt x="41369" y="253464"/>
                      <a:pt x="27049" y="247532"/>
                      <a:pt x="16490" y="236974"/>
                    </a:cubicBezTo>
                    <a:cubicBezTo>
                      <a:pt x="5932" y="226415"/>
                      <a:pt x="0" y="212095"/>
                      <a:pt x="0" y="197163"/>
                    </a:cubicBezTo>
                    <a:lnTo>
                      <a:pt x="0" y="56301"/>
                    </a:lnTo>
                    <a:cubicBezTo>
                      <a:pt x="0" y="41369"/>
                      <a:pt x="5932" y="27049"/>
                      <a:pt x="16490" y="16490"/>
                    </a:cubicBezTo>
                    <a:cubicBezTo>
                      <a:pt x="27049" y="5932"/>
                      <a:pt x="41369" y="0"/>
                      <a:pt x="56301" y="0"/>
                    </a:cubicBezTo>
                    <a:close/>
                  </a:path>
                </a:pathLst>
              </a:custGeom>
              <a:solidFill>
                <a:srgbClr val="FFF3C2"/>
              </a:solidFill>
              <a:ln w="9525" cap="sq">
                <a:solidFill>
                  <a:srgbClr val="C6D8FB"/>
                </a:solidFill>
                <a:prstDash val="solid"/>
                <a:miter/>
              </a:ln>
            </p:spPr>
            <p:txBody>
              <a:bodyPr/>
              <a:lstStyle/>
              <a:p>
                <a:endParaRPr lang="en-US" sz="700"/>
              </a:p>
            </p:txBody>
          </p:sp>
          <p:sp>
            <p:nvSpPr>
              <p:cNvPr id="35" name="TextBox 64">
                <a:extLst>
                  <a:ext uri="{FF2B5EF4-FFF2-40B4-BE49-F238E27FC236}">
                    <a16:creationId xmlns:a16="http://schemas.microsoft.com/office/drawing/2014/main" id="{D0BC6EB2-EB8F-4952-9F6F-831F9EBB30C6}"/>
                  </a:ext>
                </a:extLst>
              </p:cNvPr>
              <p:cNvSpPr txBox="1"/>
              <p:nvPr/>
            </p:nvSpPr>
            <p:spPr>
              <a:xfrm>
                <a:off x="0" y="0"/>
                <a:ext cx="615682" cy="253464"/>
              </a:xfrm>
              <a:prstGeom prst="rect">
                <a:avLst/>
              </a:prstGeom>
            </p:spPr>
            <p:txBody>
              <a:bodyPr lIns="33867" tIns="33867" rIns="33867" bIns="33867" rtlCol="0" anchor="ctr"/>
              <a:lstStyle/>
              <a:p>
                <a:pPr algn="ctr">
                  <a:lnSpc>
                    <a:spcPts val="1600"/>
                  </a:lnSpc>
                </a:pPr>
                <a:r>
                  <a:rPr lang="en-US" sz="800" b="1">
                    <a:solidFill>
                      <a:schemeClr val="accent1">
                        <a:lumMod val="50000"/>
                      </a:schemeClr>
                    </a:solidFill>
                    <a:latin typeface="Tahoma Bold"/>
                    <a:ea typeface="Tahoma Bold"/>
                    <a:cs typeface="Tahoma Bold"/>
                    <a:sym typeface="Tahoma Bold"/>
                  </a:rPr>
                  <a:t>Số lượng KPI</a:t>
                </a:r>
              </a:p>
            </p:txBody>
          </p:sp>
        </p:grpSp>
        <p:grpSp>
          <p:nvGrpSpPr>
            <p:cNvPr id="19" name="Group 65">
              <a:extLst>
                <a:ext uri="{FF2B5EF4-FFF2-40B4-BE49-F238E27FC236}">
                  <a16:creationId xmlns:a16="http://schemas.microsoft.com/office/drawing/2014/main" id="{B1E349E7-04F8-2474-3271-3AF3B38F31F1}"/>
                </a:ext>
              </a:extLst>
            </p:cNvPr>
            <p:cNvGrpSpPr/>
            <p:nvPr/>
          </p:nvGrpSpPr>
          <p:grpSpPr>
            <a:xfrm>
              <a:off x="121036" y="4761104"/>
              <a:ext cx="1550256" cy="747737"/>
              <a:chOff x="0" y="0"/>
              <a:chExt cx="612447" cy="295402"/>
            </a:xfrm>
          </p:grpSpPr>
          <p:sp>
            <p:nvSpPr>
              <p:cNvPr id="32" name="Freeform 66">
                <a:extLst>
                  <a:ext uri="{FF2B5EF4-FFF2-40B4-BE49-F238E27FC236}">
                    <a16:creationId xmlns:a16="http://schemas.microsoft.com/office/drawing/2014/main" id="{90060498-A348-1595-74E7-1010265A20B8}"/>
                  </a:ext>
                </a:extLst>
              </p:cNvPr>
              <p:cNvSpPr/>
              <p:nvPr/>
            </p:nvSpPr>
            <p:spPr>
              <a:xfrm>
                <a:off x="0" y="0"/>
                <a:ext cx="612447" cy="295402"/>
              </a:xfrm>
              <a:custGeom>
                <a:avLst/>
                <a:gdLst/>
                <a:ahLst/>
                <a:cxnLst/>
                <a:rect l="l" t="t" r="r" b="b"/>
                <a:pathLst>
                  <a:path w="612447" h="295402">
                    <a:moveTo>
                      <a:pt x="56598" y="0"/>
                    </a:moveTo>
                    <a:lnTo>
                      <a:pt x="555849" y="0"/>
                    </a:lnTo>
                    <a:cubicBezTo>
                      <a:pt x="570859" y="0"/>
                      <a:pt x="585255" y="5963"/>
                      <a:pt x="595870" y="16577"/>
                    </a:cubicBezTo>
                    <a:cubicBezTo>
                      <a:pt x="606484" y="27191"/>
                      <a:pt x="612447" y="41587"/>
                      <a:pt x="612447" y="56598"/>
                    </a:cubicBezTo>
                    <a:lnTo>
                      <a:pt x="612447" y="238804"/>
                    </a:lnTo>
                    <a:cubicBezTo>
                      <a:pt x="612447" y="270062"/>
                      <a:pt x="587107" y="295402"/>
                      <a:pt x="555849" y="295402"/>
                    </a:cubicBezTo>
                    <a:lnTo>
                      <a:pt x="56598" y="295402"/>
                    </a:lnTo>
                    <a:cubicBezTo>
                      <a:pt x="25340" y="295402"/>
                      <a:pt x="0" y="270062"/>
                      <a:pt x="0" y="238804"/>
                    </a:cubicBezTo>
                    <a:lnTo>
                      <a:pt x="0" y="56598"/>
                    </a:lnTo>
                    <a:cubicBezTo>
                      <a:pt x="0" y="25340"/>
                      <a:pt x="25340" y="0"/>
                      <a:pt x="56598" y="0"/>
                    </a:cubicBezTo>
                    <a:close/>
                  </a:path>
                </a:pathLst>
              </a:custGeom>
              <a:solidFill>
                <a:srgbClr val="A6A6A6"/>
              </a:solidFill>
              <a:ln w="9525" cap="sq">
                <a:solidFill>
                  <a:srgbClr val="C6D8FB"/>
                </a:solidFill>
                <a:prstDash val="solid"/>
                <a:miter/>
              </a:ln>
            </p:spPr>
            <p:txBody>
              <a:bodyPr/>
              <a:lstStyle/>
              <a:p>
                <a:endParaRPr lang="en-US" sz="700"/>
              </a:p>
            </p:txBody>
          </p:sp>
          <p:sp>
            <p:nvSpPr>
              <p:cNvPr id="33" name="TextBox 67">
                <a:extLst>
                  <a:ext uri="{FF2B5EF4-FFF2-40B4-BE49-F238E27FC236}">
                    <a16:creationId xmlns:a16="http://schemas.microsoft.com/office/drawing/2014/main" id="{0C536718-030E-2F67-0F97-60D08D34DF30}"/>
                  </a:ext>
                </a:extLst>
              </p:cNvPr>
              <p:cNvSpPr txBox="1"/>
              <p:nvPr/>
            </p:nvSpPr>
            <p:spPr>
              <a:xfrm>
                <a:off x="0" y="0"/>
                <a:ext cx="612447" cy="295402"/>
              </a:xfrm>
              <a:prstGeom prst="rect">
                <a:avLst/>
              </a:prstGeom>
            </p:spPr>
            <p:txBody>
              <a:bodyPr lIns="33867" tIns="33867" rIns="33867" bIns="33867" rtlCol="0" anchor="ctr"/>
              <a:lstStyle/>
              <a:p>
                <a:pPr algn="ctr">
                  <a:lnSpc>
                    <a:spcPts val="1600"/>
                  </a:lnSpc>
                </a:pPr>
                <a:r>
                  <a:rPr lang="en-US" sz="800" b="1">
                    <a:solidFill>
                      <a:srgbClr val="FFFFFF"/>
                    </a:solidFill>
                    <a:latin typeface="Tahoma Bold"/>
                    <a:ea typeface="Tahoma Bold"/>
                    <a:cs typeface="Tahoma Bold"/>
                    <a:sym typeface="Tahoma Bold"/>
                  </a:rPr>
                  <a:t>BI</a:t>
                </a:r>
              </a:p>
            </p:txBody>
          </p:sp>
        </p:grpSp>
        <p:grpSp>
          <p:nvGrpSpPr>
            <p:cNvPr id="20" name="Group 68">
              <a:extLst>
                <a:ext uri="{FF2B5EF4-FFF2-40B4-BE49-F238E27FC236}">
                  <a16:creationId xmlns:a16="http://schemas.microsoft.com/office/drawing/2014/main" id="{A5D2AE66-ED21-C93C-1CCB-7E14418E56CC}"/>
                </a:ext>
              </a:extLst>
            </p:cNvPr>
            <p:cNvGrpSpPr/>
            <p:nvPr/>
          </p:nvGrpSpPr>
          <p:grpSpPr>
            <a:xfrm>
              <a:off x="112848" y="2378911"/>
              <a:ext cx="1550256" cy="1569392"/>
              <a:chOff x="0" y="0"/>
              <a:chExt cx="612447" cy="620007"/>
            </a:xfrm>
          </p:grpSpPr>
          <p:sp>
            <p:nvSpPr>
              <p:cNvPr id="30" name="Freeform 69">
                <a:extLst>
                  <a:ext uri="{FF2B5EF4-FFF2-40B4-BE49-F238E27FC236}">
                    <a16:creationId xmlns:a16="http://schemas.microsoft.com/office/drawing/2014/main" id="{3DD51263-F315-2C5D-F7E0-6C0C369A6ADF}"/>
                  </a:ext>
                </a:extLst>
              </p:cNvPr>
              <p:cNvSpPr/>
              <p:nvPr/>
            </p:nvSpPr>
            <p:spPr>
              <a:xfrm>
                <a:off x="0" y="0"/>
                <a:ext cx="612447" cy="620007"/>
              </a:xfrm>
              <a:custGeom>
                <a:avLst/>
                <a:gdLst/>
                <a:ahLst/>
                <a:cxnLst/>
                <a:rect l="l" t="t" r="r" b="b"/>
                <a:pathLst>
                  <a:path w="612447" h="620007">
                    <a:moveTo>
                      <a:pt x="56598" y="0"/>
                    </a:moveTo>
                    <a:lnTo>
                      <a:pt x="555849" y="0"/>
                    </a:lnTo>
                    <a:cubicBezTo>
                      <a:pt x="570859" y="0"/>
                      <a:pt x="585255" y="5963"/>
                      <a:pt x="595870" y="16577"/>
                    </a:cubicBezTo>
                    <a:cubicBezTo>
                      <a:pt x="606484" y="27191"/>
                      <a:pt x="612447" y="41587"/>
                      <a:pt x="612447" y="56598"/>
                    </a:cubicBezTo>
                    <a:lnTo>
                      <a:pt x="612447" y="563408"/>
                    </a:lnTo>
                    <a:cubicBezTo>
                      <a:pt x="612447" y="594667"/>
                      <a:pt x="587107" y="620007"/>
                      <a:pt x="555849" y="620007"/>
                    </a:cubicBezTo>
                    <a:lnTo>
                      <a:pt x="56598" y="620007"/>
                    </a:lnTo>
                    <a:cubicBezTo>
                      <a:pt x="25340" y="620007"/>
                      <a:pt x="0" y="594667"/>
                      <a:pt x="0" y="563408"/>
                    </a:cubicBezTo>
                    <a:lnTo>
                      <a:pt x="0" y="56598"/>
                    </a:lnTo>
                    <a:cubicBezTo>
                      <a:pt x="0" y="25340"/>
                      <a:pt x="25340" y="0"/>
                      <a:pt x="56598" y="0"/>
                    </a:cubicBezTo>
                    <a:close/>
                  </a:path>
                </a:pathLst>
              </a:custGeom>
              <a:solidFill>
                <a:srgbClr val="A6A6A6"/>
              </a:solidFill>
              <a:ln w="9525" cap="sq">
                <a:solidFill>
                  <a:srgbClr val="C6D8FB"/>
                </a:solidFill>
                <a:prstDash val="solid"/>
                <a:miter/>
              </a:ln>
            </p:spPr>
            <p:txBody>
              <a:bodyPr/>
              <a:lstStyle/>
              <a:p>
                <a:endParaRPr lang="en-US" sz="700"/>
              </a:p>
            </p:txBody>
          </p:sp>
          <p:sp>
            <p:nvSpPr>
              <p:cNvPr id="31" name="TextBox 70">
                <a:extLst>
                  <a:ext uri="{FF2B5EF4-FFF2-40B4-BE49-F238E27FC236}">
                    <a16:creationId xmlns:a16="http://schemas.microsoft.com/office/drawing/2014/main" id="{5230138A-928D-12CF-F282-CD9C11A18DEF}"/>
                  </a:ext>
                </a:extLst>
              </p:cNvPr>
              <p:cNvSpPr txBox="1"/>
              <p:nvPr/>
            </p:nvSpPr>
            <p:spPr>
              <a:xfrm>
                <a:off x="0" y="0"/>
                <a:ext cx="612447" cy="620007"/>
              </a:xfrm>
              <a:prstGeom prst="rect">
                <a:avLst/>
              </a:prstGeom>
            </p:spPr>
            <p:txBody>
              <a:bodyPr lIns="33867" tIns="33867" rIns="33867" bIns="33867" rtlCol="0" anchor="ctr"/>
              <a:lstStyle/>
              <a:p>
                <a:pPr algn="ctr">
                  <a:lnSpc>
                    <a:spcPts val="1600"/>
                  </a:lnSpc>
                </a:pPr>
                <a:r>
                  <a:rPr lang="en-US" sz="800" b="1" dirty="0">
                    <a:solidFill>
                      <a:srgbClr val="FFFFFF"/>
                    </a:solidFill>
                    <a:latin typeface="Tahoma Bold"/>
                    <a:ea typeface="Tahoma Bold"/>
                    <a:cs typeface="Tahoma Bold"/>
                    <a:sym typeface="Tahoma Bold"/>
                  </a:rPr>
                  <a:t>Liên PB/ĐV A</a:t>
                </a:r>
              </a:p>
              <a:p>
                <a:pPr algn="ctr">
                  <a:lnSpc>
                    <a:spcPts val="1600"/>
                  </a:lnSpc>
                </a:pPr>
                <a:endParaRPr lang="en-US" sz="800" b="1" dirty="0">
                  <a:solidFill>
                    <a:srgbClr val="FFFFFF"/>
                  </a:solidFill>
                  <a:latin typeface="Tahoma Bold"/>
                  <a:ea typeface="Tahoma Bold"/>
                  <a:cs typeface="Tahoma Bold"/>
                  <a:sym typeface="Tahoma Bold"/>
                </a:endParaRPr>
              </a:p>
              <a:p>
                <a:pPr algn="ctr">
                  <a:lnSpc>
                    <a:spcPts val="1600"/>
                  </a:lnSpc>
                </a:pPr>
                <a:endParaRPr lang="en-US" sz="800" b="1" dirty="0">
                  <a:solidFill>
                    <a:srgbClr val="FFFFFF"/>
                  </a:solidFill>
                  <a:latin typeface="Tahoma Bold"/>
                  <a:ea typeface="Tahoma Bold"/>
                  <a:cs typeface="Tahoma Bold"/>
                  <a:sym typeface="Tahoma Bold"/>
                </a:endParaRPr>
              </a:p>
              <a:p>
                <a:pPr algn="ctr">
                  <a:lnSpc>
                    <a:spcPts val="1600"/>
                  </a:lnSpc>
                </a:pPr>
                <a:endParaRPr lang="en-US" sz="800" b="1" dirty="0">
                  <a:solidFill>
                    <a:srgbClr val="FFFFFF"/>
                  </a:solidFill>
                  <a:latin typeface="Tahoma Bold"/>
                  <a:ea typeface="Tahoma Bold"/>
                  <a:cs typeface="Tahoma Bold"/>
                  <a:sym typeface="Tahoma Bold"/>
                </a:endParaRPr>
              </a:p>
              <a:p>
                <a:pPr algn="ctr">
                  <a:lnSpc>
                    <a:spcPts val="1600"/>
                  </a:lnSpc>
                </a:pPr>
                <a:r>
                  <a:rPr lang="en-US" sz="800" b="1" dirty="0">
                    <a:solidFill>
                      <a:srgbClr val="FFFFFF"/>
                    </a:solidFill>
                    <a:latin typeface="Tahoma Bold"/>
                    <a:ea typeface="Tahoma Bold"/>
                    <a:cs typeface="Tahoma Bold"/>
                    <a:sym typeface="Tahoma Bold"/>
                  </a:rPr>
                  <a:t>Liên PB/ĐV B</a:t>
                </a:r>
              </a:p>
            </p:txBody>
          </p:sp>
        </p:grpSp>
        <p:grpSp>
          <p:nvGrpSpPr>
            <p:cNvPr id="21" name="Group 71">
              <a:extLst>
                <a:ext uri="{FF2B5EF4-FFF2-40B4-BE49-F238E27FC236}">
                  <a16:creationId xmlns:a16="http://schemas.microsoft.com/office/drawing/2014/main" id="{96AF10DD-0152-4868-1BB2-C2E9F7218000}"/>
                </a:ext>
              </a:extLst>
            </p:cNvPr>
            <p:cNvGrpSpPr/>
            <p:nvPr/>
          </p:nvGrpSpPr>
          <p:grpSpPr>
            <a:xfrm>
              <a:off x="137413" y="1525455"/>
              <a:ext cx="1550256" cy="802657"/>
              <a:chOff x="0" y="0"/>
              <a:chExt cx="612447" cy="317099"/>
            </a:xfrm>
          </p:grpSpPr>
          <p:sp>
            <p:nvSpPr>
              <p:cNvPr id="28" name="Freeform 72">
                <a:extLst>
                  <a:ext uri="{FF2B5EF4-FFF2-40B4-BE49-F238E27FC236}">
                    <a16:creationId xmlns:a16="http://schemas.microsoft.com/office/drawing/2014/main" id="{0BC61541-760E-36C5-4E2E-F16F79791C62}"/>
                  </a:ext>
                </a:extLst>
              </p:cNvPr>
              <p:cNvSpPr/>
              <p:nvPr/>
            </p:nvSpPr>
            <p:spPr>
              <a:xfrm>
                <a:off x="0" y="0"/>
                <a:ext cx="612447" cy="240640"/>
              </a:xfrm>
              <a:custGeom>
                <a:avLst/>
                <a:gdLst/>
                <a:ahLst/>
                <a:cxnLst/>
                <a:rect l="l" t="t" r="r" b="b"/>
                <a:pathLst>
                  <a:path w="612447" h="317099">
                    <a:moveTo>
                      <a:pt x="56598" y="0"/>
                    </a:moveTo>
                    <a:lnTo>
                      <a:pt x="555849" y="0"/>
                    </a:lnTo>
                    <a:cubicBezTo>
                      <a:pt x="570859" y="0"/>
                      <a:pt x="585255" y="5963"/>
                      <a:pt x="595870" y="16577"/>
                    </a:cubicBezTo>
                    <a:cubicBezTo>
                      <a:pt x="606484" y="27191"/>
                      <a:pt x="612447" y="41587"/>
                      <a:pt x="612447" y="56598"/>
                    </a:cubicBezTo>
                    <a:lnTo>
                      <a:pt x="612447" y="260501"/>
                    </a:lnTo>
                    <a:cubicBezTo>
                      <a:pt x="612447" y="291759"/>
                      <a:pt x="587107" y="317099"/>
                      <a:pt x="555849" y="317099"/>
                    </a:cubicBezTo>
                    <a:lnTo>
                      <a:pt x="56598" y="317099"/>
                    </a:lnTo>
                    <a:cubicBezTo>
                      <a:pt x="25340" y="317099"/>
                      <a:pt x="0" y="291759"/>
                      <a:pt x="0" y="260501"/>
                    </a:cubicBezTo>
                    <a:lnTo>
                      <a:pt x="0" y="56598"/>
                    </a:lnTo>
                    <a:cubicBezTo>
                      <a:pt x="0" y="25340"/>
                      <a:pt x="25340" y="0"/>
                      <a:pt x="56598" y="0"/>
                    </a:cubicBezTo>
                    <a:close/>
                  </a:path>
                </a:pathLst>
              </a:custGeom>
              <a:solidFill>
                <a:srgbClr val="A6A6A6"/>
              </a:solidFill>
              <a:ln w="9525" cap="sq">
                <a:solidFill>
                  <a:srgbClr val="C6D8FB"/>
                </a:solidFill>
                <a:prstDash val="solid"/>
                <a:miter/>
              </a:ln>
            </p:spPr>
            <p:txBody>
              <a:bodyPr/>
              <a:lstStyle/>
              <a:p>
                <a:endParaRPr lang="en-US" sz="700"/>
              </a:p>
            </p:txBody>
          </p:sp>
          <p:sp>
            <p:nvSpPr>
              <p:cNvPr id="29" name="TextBox 73">
                <a:extLst>
                  <a:ext uri="{FF2B5EF4-FFF2-40B4-BE49-F238E27FC236}">
                    <a16:creationId xmlns:a16="http://schemas.microsoft.com/office/drawing/2014/main" id="{FA565FD2-4B83-3387-B62B-CA148FFF42F7}"/>
                  </a:ext>
                </a:extLst>
              </p:cNvPr>
              <p:cNvSpPr txBox="1"/>
              <p:nvPr/>
            </p:nvSpPr>
            <p:spPr>
              <a:xfrm>
                <a:off x="0" y="0"/>
                <a:ext cx="612447" cy="317099"/>
              </a:xfrm>
              <a:prstGeom prst="rect">
                <a:avLst/>
              </a:prstGeom>
            </p:spPr>
            <p:txBody>
              <a:bodyPr lIns="33867" tIns="33867" rIns="33867" bIns="33867" rtlCol="0" anchor="ctr"/>
              <a:lstStyle/>
              <a:p>
                <a:pPr algn="ctr">
                  <a:lnSpc>
                    <a:spcPts val="1600"/>
                  </a:lnSpc>
                </a:pPr>
                <a:r>
                  <a:rPr lang="en-US" sz="800" b="1">
                    <a:solidFill>
                      <a:srgbClr val="FFFFFF"/>
                    </a:solidFill>
                    <a:latin typeface="Tahoma Bold"/>
                    <a:ea typeface="Tahoma Bold"/>
                    <a:cs typeface="Tahoma Bold"/>
                    <a:sym typeface="Tahoma Bold"/>
                  </a:rPr>
                  <a:t>Công ty</a:t>
                </a:r>
              </a:p>
            </p:txBody>
          </p:sp>
        </p:grpSp>
        <p:grpSp>
          <p:nvGrpSpPr>
            <p:cNvPr id="22" name="Group 76">
              <a:extLst>
                <a:ext uri="{FF2B5EF4-FFF2-40B4-BE49-F238E27FC236}">
                  <a16:creationId xmlns:a16="http://schemas.microsoft.com/office/drawing/2014/main" id="{F783318E-D27F-5D9A-52B6-70074FFAE970}"/>
                </a:ext>
              </a:extLst>
            </p:cNvPr>
            <p:cNvGrpSpPr/>
            <p:nvPr/>
          </p:nvGrpSpPr>
          <p:grpSpPr>
            <a:xfrm>
              <a:off x="1705299" y="3984011"/>
              <a:ext cx="3656889" cy="741387"/>
              <a:chOff x="0" y="0"/>
              <a:chExt cx="1444697" cy="292893"/>
            </a:xfrm>
          </p:grpSpPr>
          <p:sp>
            <p:nvSpPr>
              <p:cNvPr id="26" name="Freeform 77">
                <a:extLst>
                  <a:ext uri="{FF2B5EF4-FFF2-40B4-BE49-F238E27FC236}">
                    <a16:creationId xmlns:a16="http://schemas.microsoft.com/office/drawing/2014/main" id="{F56FCD69-95AF-1875-79AE-A5DF6692451B}"/>
                  </a:ext>
                </a:extLst>
              </p:cNvPr>
              <p:cNvSpPr/>
              <p:nvPr/>
            </p:nvSpPr>
            <p:spPr>
              <a:xfrm>
                <a:off x="0" y="0"/>
                <a:ext cx="1444697" cy="292893"/>
              </a:xfrm>
              <a:custGeom>
                <a:avLst/>
                <a:gdLst/>
                <a:ahLst/>
                <a:cxnLst/>
                <a:rect l="l" t="t" r="r" b="b"/>
                <a:pathLst>
                  <a:path w="1444697" h="292893">
                    <a:moveTo>
                      <a:pt x="23994" y="0"/>
                    </a:moveTo>
                    <a:lnTo>
                      <a:pt x="1420704" y="0"/>
                    </a:lnTo>
                    <a:cubicBezTo>
                      <a:pt x="1433955" y="0"/>
                      <a:pt x="1444697" y="10742"/>
                      <a:pt x="1444697" y="23994"/>
                    </a:cubicBezTo>
                    <a:lnTo>
                      <a:pt x="1444697" y="268900"/>
                    </a:lnTo>
                    <a:cubicBezTo>
                      <a:pt x="1444697" y="282151"/>
                      <a:pt x="1433955" y="292893"/>
                      <a:pt x="1420704" y="292893"/>
                    </a:cubicBezTo>
                    <a:lnTo>
                      <a:pt x="23994" y="292893"/>
                    </a:lnTo>
                    <a:cubicBezTo>
                      <a:pt x="10742" y="292893"/>
                      <a:pt x="0" y="282151"/>
                      <a:pt x="0" y="268900"/>
                    </a:cubicBezTo>
                    <a:lnTo>
                      <a:pt x="0" y="23994"/>
                    </a:lnTo>
                    <a:cubicBezTo>
                      <a:pt x="0" y="10742"/>
                      <a:pt x="10742" y="0"/>
                      <a:pt x="23994" y="0"/>
                    </a:cubicBezTo>
                    <a:close/>
                  </a:path>
                </a:pathLst>
              </a:custGeom>
              <a:solidFill>
                <a:srgbClr val="F9F9F9"/>
              </a:solidFill>
              <a:ln w="9525" cap="sq">
                <a:solidFill>
                  <a:srgbClr val="A6A6A6"/>
                </a:solidFill>
                <a:prstDash val="solid"/>
                <a:miter/>
              </a:ln>
            </p:spPr>
            <p:txBody>
              <a:bodyPr/>
              <a:lstStyle/>
              <a:p>
                <a:endParaRPr lang="en-US" sz="700"/>
              </a:p>
            </p:txBody>
          </p:sp>
          <p:sp>
            <p:nvSpPr>
              <p:cNvPr id="27" name="TextBox 78">
                <a:extLst>
                  <a:ext uri="{FF2B5EF4-FFF2-40B4-BE49-F238E27FC236}">
                    <a16:creationId xmlns:a16="http://schemas.microsoft.com/office/drawing/2014/main" id="{CC62AC0B-E73B-FA3F-6942-DB1565D3B2F6}"/>
                  </a:ext>
                </a:extLst>
              </p:cNvPr>
              <p:cNvSpPr txBox="1"/>
              <p:nvPr/>
            </p:nvSpPr>
            <p:spPr>
              <a:xfrm>
                <a:off x="0" y="0"/>
                <a:ext cx="1444697" cy="292893"/>
              </a:xfrm>
              <a:prstGeom prst="rect">
                <a:avLst/>
              </a:prstGeom>
            </p:spPr>
            <p:txBody>
              <a:bodyPr lIns="33867" tIns="33867" rIns="33867" bIns="33867" rtlCol="0" anchor="ctr"/>
              <a:lstStyle/>
              <a:p>
                <a:pPr>
                  <a:lnSpc>
                    <a:spcPts val="1600"/>
                  </a:lnSpc>
                </a:pPr>
                <a:r>
                  <a:rPr lang="en-US" sz="800" b="1">
                    <a:solidFill>
                      <a:srgbClr val="FF3131"/>
                    </a:solidFill>
                    <a:latin typeface="Tahoma Bold"/>
                    <a:ea typeface="Tahoma Bold"/>
                    <a:cs typeface="Tahoma Bold"/>
                    <a:sym typeface="Tahoma Bold"/>
                  </a:rPr>
                  <a:t>50%</a:t>
                </a:r>
                <a:r>
                  <a:rPr lang="en-US" sz="800">
                    <a:solidFill>
                      <a:srgbClr val="FF3131"/>
                    </a:solidFill>
                    <a:latin typeface="Tahoma"/>
                    <a:ea typeface="Tahoma"/>
                    <a:cs typeface="Tahoma"/>
                    <a:sym typeface="Tahoma"/>
                  </a:rPr>
                  <a:t> </a:t>
                </a:r>
                <a:r>
                  <a:rPr lang="en-US" sz="800">
                    <a:solidFill>
                      <a:srgbClr val="3B5272"/>
                    </a:solidFill>
                    <a:latin typeface="Tahoma"/>
                    <a:ea typeface="Tahoma"/>
                    <a:cs typeface="Tahoma"/>
                    <a:sym typeface="Tahoma"/>
                  </a:rPr>
                  <a:t>phân bổ cho </a:t>
                </a:r>
                <a:r>
                  <a:rPr lang="en-US" sz="800" b="1">
                    <a:solidFill>
                      <a:srgbClr val="3B5272"/>
                    </a:solidFill>
                    <a:latin typeface="Tahoma Bold"/>
                    <a:ea typeface="Tahoma Bold"/>
                    <a:cs typeface="Tahoma Bold"/>
                    <a:sym typeface="Tahoma Bold"/>
                  </a:rPr>
                  <a:t>5 KPI</a:t>
                </a:r>
                <a:r>
                  <a:rPr lang="en-US" sz="800">
                    <a:solidFill>
                      <a:srgbClr val="3B5272"/>
                    </a:solidFill>
                    <a:latin typeface="Tahoma"/>
                    <a:ea typeface="Tahoma"/>
                    <a:cs typeface="Tahoma"/>
                    <a:sym typeface="Tahoma"/>
                  </a:rPr>
                  <a:t> chức năng</a:t>
                </a:r>
              </a:p>
            </p:txBody>
          </p:sp>
        </p:grpSp>
        <p:grpSp>
          <p:nvGrpSpPr>
            <p:cNvPr id="23" name="Group 85">
              <a:extLst>
                <a:ext uri="{FF2B5EF4-FFF2-40B4-BE49-F238E27FC236}">
                  <a16:creationId xmlns:a16="http://schemas.microsoft.com/office/drawing/2014/main" id="{74243730-B088-9E0B-71ED-E25ABC743E7B}"/>
                </a:ext>
              </a:extLst>
            </p:cNvPr>
            <p:cNvGrpSpPr/>
            <p:nvPr/>
          </p:nvGrpSpPr>
          <p:grpSpPr>
            <a:xfrm>
              <a:off x="116942" y="3984011"/>
              <a:ext cx="1550256" cy="741387"/>
              <a:chOff x="0" y="0"/>
              <a:chExt cx="612447" cy="292893"/>
            </a:xfrm>
          </p:grpSpPr>
          <p:sp>
            <p:nvSpPr>
              <p:cNvPr id="24" name="Freeform 86">
                <a:extLst>
                  <a:ext uri="{FF2B5EF4-FFF2-40B4-BE49-F238E27FC236}">
                    <a16:creationId xmlns:a16="http://schemas.microsoft.com/office/drawing/2014/main" id="{908B2A68-DA62-7C54-6094-A3763BBB7AFF}"/>
                  </a:ext>
                </a:extLst>
              </p:cNvPr>
              <p:cNvSpPr/>
              <p:nvPr/>
            </p:nvSpPr>
            <p:spPr>
              <a:xfrm>
                <a:off x="0" y="0"/>
                <a:ext cx="612447" cy="292893"/>
              </a:xfrm>
              <a:custGeom>
                <a:avLst/>
                <a:gdLst/>
                <a:ahLst/>
                <a:cxnLst/>
                <a:rect l="l" t="t" r="r" b="b"/>
                <a:pathLst>
                  <a:path w="612447" h="292893">
                    <a:moveTo>
                      <a:pt x="56598" y="0"/>
                    </a:moveTo>
                    <a:lnTo>
                      <a:pt x="555849" y="0"/>
                    </a:lnTo>
                    <a:cubicBezTo>
                      <a:pt x="570859" y="0"/>
                      <a:pt x="585255" y="5963"/>
                      <a:pt x="595870" y="16577"/>
                    </a:cubicBezTo>
                    <a:cubicBezTo>
                      <a:pt x="606484" y="27191"/>
                      <a:pt x="612447" y="41587"/>
                      <a:pt x="612447" y="56598"/>
                    </a:cubicBezTo>
                    <a:lnTo>
                      <a:pt x="612447" y="236295"/>
                    </a:lnTo>
                    <a:cubicBezTo>
                      <a:pt x="612447" y="267553"/>
                      <a:pt x="587107" y="292893"/>
                      <a:pt x="555849" y="292893"/>
                    </a:cubicBezTo>
                    <a:lnTo>
                      <a:pt x="56598" y="292893"/>
                    </a:lnTo>
                    <a:cubicBezTo>
                      <a:pt x="25340" y="292893"/>
                      <a:pt x="0" y="267553"/>
                      <a:pt x="0" y="236295"/>
                    </a:cubicBezTo>
                    <a:lnTo>
                      <a:pt x="0" y="56598"/>
                    </a:lnTo>
                    <a:cubicBezTo>
                      <a:pt x="0" y="25340"/>
                      <a:pt x="25340" y="0"/>
                      <a:pt x="56598" y="0"/>
                    </a:cubicBezTo>
                    <a:close/>
                  </a:path>
                </a:pathLst>
              </a:custGeom>
              <a:solidFill>
                <a:srgbClr val="A6A6A6"/>
              </a:solidFill>
              <a:ln w="9525" cap="sq">
                <a:solidFill>
                  <a:srgbClr val="C6D8FB"/>
                </a:solidFill>
                <a:prstDash val="solid"/>
                <a:miter/>
              </a:ln>
            </p:spPr>
            <p:txBody>
              <a:bodyPr/>
              <a:lstStyle/>
              <a:p>
                <a:endParaRPr lang="en-US" sz="700"/>
              </a:p>
            </p:txBody>
          </p:sp>
          <p:sp>
            <p:nvSpPr>
              <p:cNvPr id="25" name="TextBox 87">
                <a:extLst>
                  <a:ext uri="{FF2B5EF4-FFF2-40B4-BE49-F238E27FC236}">
                    <a16:creationId xmlns:a16="http://schemas.microsoft.com/office/drawing/2014/main" id="{0D625757-2219-E4E9-0EEF-7A8BC1FD061A}"/>
                  </a:ext>
                </a:extLst>
              </p:cNvPr>
              <p:cNvSpPr txBox="1"/>
              <p:nvPr/>
            </p:nvSpPr>
            <p:spPr>
              <a:xfrm>
                <a:off x="0" y="0"/>
                <a:ext cx="612447" cy="292893"/>
              </a:xfrm>
              <a:prstGeom prst="rect">
                <a:avLst/>
              </a:prstGeom>
            </p:spPr>
            <p:txBody>
              <a:bodyPr lIns="33867" tIns="33867" rIns="33867" bIns="33867" rtlCol="0" anchor="ctr"/>
              <a:lstStyle/>
              <a:p>
                <a:pPr algn="ctr">
                  <a:lnSpc>
                    <a:spcPts val="1600"/>
                  </a:lnSpc>
                </a:pPr>
                <a:r>
                  <a:rPr lang="en-US" sz="800" b="1">
                    <a:solidFill>
                      <a:srgbClr val="FFFFFF"/>
                    </a:solidFill>
                    <a:latin typeface="Tahoma Bold"/>
                    <a:ea typeface="Tahoma Bold"/>
                    <a:cs typeface="Tahoma Bold"/>
                    <a:sym typeface="Tahoma Bold"/>
                  </a:rPr>
                  <a:t>Chức năng</a:t>
                </a:r>
              </a:p>
            </p:txBody>
          </p:sp>
        </p:grpSp>
      </p:grpSp>
      <p:cxnSp>
        <p:nvCxnSpPr>
          <p:cNvPr id="5" name="Straight Connector 4">
            <a:extLst>
              <a:ext uri="{FF2B5EF4-FFF2-40B4-BE49-F238E27FC236}">
                <a16:creationId xmlns:a16="http://schemas.microsoft.com/office/drawing/2014/main" id="{FB1DC832-CDB1-0BE7-0143-411927BB8CC5}"/>
              </a:ext>
            </a:extLst>
          </p:cNvPr>
          <p:cNvCxnSpPr>
            <a:cxnSpLocks/>
          </p:cNvCxnSpPr>
          <p:nvPr/>
        </p:nvCxnSpPr>
        <p:spPr>
          <a:xfrm>
            <a:off x="11267" y="2027143"/>
            <a:ext cx="12192000" cy="0"/>
          </a:xfrm>
          <a:prstGeom prst="line">
            <a:avLst/>
          </a:prstGeom>
          <a:ln w="57150">
            <a:prstDash val="sysDot"/>
          </a:ln>
        </p:spPr>
        <p:style>
          <a:lnRef idx="2">
            <a:schemeClr val="accent1"/>
          </a:lnRef>
          <a:fillRef idx="0">
            <a:schemeClr val="accent1"/>
          </a:fillRef>
          <a:effectRef idx="1">
            <a:schemeClr val="accent1"/>
          </a:effectRef>
          <a:fontRef idx="minor">
            <a:schemeClr val="tx1"/>
          </a:fontRef>
        </p:style>
      </p:cxnSp>
      <p:sp>
        <p:nvSpPr>
          <p:cNvPr id="7" name="Rectangle 6">
            <a:extLst>
              <a:ext uri="{FF2B5EF4-FFF2-40B4-BE49-F238E27FC236}">
                <a16:creationId xmlns:a16="http://schemas.microsoft.com/office/drawing/2014/main" id="{82AFF9E3-4912-7898-F70C-E4B0C4CC1B64}"/>
              </a:ext>
            </a:extLst>
          </p:cNvPr>
          <p:cNvSpPr/>
          <p:nvPr/>
        </p:nvSpPr>
        <p:spPr>
          <a:xfrm>
            <a:off x="5731041" y="848337"/>
            <a:ext cx="843013" cy="5624001"/>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8">
            <a:extLst>
              <a:ext uri="{FF2B5EF4-FFF2-40B4-BE49-F238E27FC236}">
                <a16:creationId xmlns:a16="http://schemas.microsoft.com/office/drawing/2014/main" id="{EA1066B6-E39B-23CD-0995-1691E15BF2BF}"/>
              </a:ext>
            </a:extLst>
          </p:cNvPr>
          <p:cNvSpPr/>
          <p:nvPr/>
        </p:nvSpPr>
        <p:spPr>
          <a:xfrm>
            <a:off x="0" y="521738"/>
            <a:ext cx="12183980" cy="0"/>
          </a:xfrm>
          <a:prstGeom prst="line">
            <a:avLst/>
          </a:prstGeom>
          <a:ln w="19050" cap="flat">
            <a:solidFill>
              <a:srgbClr val="39618E"/>
            </a:solidFill>
            <a:prstDash val="solid"/>
            <a:headEnd type="none" w="sm" len="sm"/>
            <a:tailEnd type="none" w="sm" len="sm"/>
          </a:ln>
        </p:spPr>
        <p:txBody>
          <a:bodyPr/>
          <a:lstStyle/>
          <a:p>
            <a:endParaRPr lang="en-US" sz="1200"/>
          </a:p>
        </p:txBody>
      </p:sp>
      <p:sp>
        <p:nvSpPr>
          <p:cNvPr id="47" name="Slide Number Placeholder 46">
            <a:extLst>
              <a:ext uri="{FF2B5EF4-FFF2-40B4-BE49-F238E27FC236}">
                <a16:creationId xmlns:a16="http://schemas.microsoft.com/office/drawing/2014/main" id="{C486438C-AFDB-B608-88AB-80A86E26077E}"/>
              </a:ext>
            </a:extLst>
          </p:cNvPr>
          <p:cNvSpPr>
            <a:spLocks noGrp="1"/>
          </p:cNvSpPr>
          <p:nvPr>
            <p:ph type="sldNum" sz="quarter" idx="12"/>
          </p:nvPr>
        </p:nvSpPr>
        <p:spPr/>
        <p:txBody>
          <a:bodyPr/>
          <a:lstStyle/>
          <a:p>
            <a:fld id="{06D5B5F9-488F-4DD3-845F-86795626F9DE}" type="slidenum">
              <a:rPr lang="en-US" smtClean="0"/>
              <a:t>5</a:t>
            </a:fld>
            <a:endParaRPr lang="en-US"/>
          </a:p>
        </p:txBody>
      </p:sp>
    </p:spTree>
    <p:extLst>
      <p:ext uri="{BB962C8B-B14F-4D97-AF65-F5344CB8AC3E}">
        <p14:creationId xmlns:p14="http://schemas.microsoft.com/office/powerpoint/2010/main" val="3404202462"/>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F0FDC-485A-5B1E-37ED-C700F69596A2}"/>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302A11DB-950B-CCD5-F0F3-06639E5046FB}"/>
              </a:ext>
            </a:extLst>
          </p:cNvPr>
          <p:cNvGrpSpPr/>
          <p:nvPr/>
        </p:nvGrpSpPr>
        <p:grpSpPr>
          <a:xfrm>
            <a:off x="1545092" y="6567605"/>
            <a:ext cx="10638888" cy="281005"/>
            <a:chOff x="0" y="0"/>
            <a:chExt cx="21277776" cy="562011"/>
          </a:xfrm>
        </p:grpSpPr>
        <p:sp>
          <p:nvSpPr>
            <p:cNvPr id="5" name="Freeform 5">
              <a:extLst>
                <a:ext uri="{FF2B5EF4-FFF2-40B4-BE49-F238E27FC236}">
                  <a16:creationId xmlns:a16="http://schemas.microsoft.com/office/drawing/2014/main" id="{8601EE89-10C3-7426-46F4-2352ACC5FE43}"/>
                </a:ext>
              </a:extLst>
            </p:cNvPr>
            <p:cNvSpPr/>
            <p:nvPr/>
          </p:nvSpPr>
          <p:spPr>
            <a:xfrm>
              <a:off x="0" y="0"/>
              <a:ext cx="21277835" cy="561975"/>
            </a:xfrm>
            <a:custGeom>
              <a:avLst/>
              <a:gdLst/>
              <a:ahLst/>
              <a:cxnLst/>
              <a:rect l="l" t="t" r="r" b="b"/>
              <a:pathLst>
                <a:path w="21277835" h="561975">
                  <a:moveTo>
                    <a:pt x="0" y="0"/>
                  </a:moveTo>
                  <a:lnTo>
                    <a:pt x="21277835" y="0"/>
                  </a:lnTo>
                  <a:lnTo>
                    <a:pt x="21277835" y="561975"/>
                  </a:lnTo>
                  <a:lnTo>
                    <a:pt x="0" y="561975"/>
                  </a:lnTo>
                  <a:close/>
                </a:path>
              </a:pathLst>
            </a:custGeom>
            <a:solidFill>
              <a:srgbClr val="119303"/>
            </a:solidFill>
            <a:ln w="12700">
              <a:solidFill>
                <a:srgbClr val="000000"/>
              </a:solidFill>
            </a:ln>
          </p:spPr>
          <p:txBody>
            <a:bodyPr/>
            <a:lstStyle/>
            <a:p>
              <a:endParaRPr lang="en-US" sz="1200"/>
            </a:p>
          </p:txBody>
        </p:sp>
      </p:grpSp>
      <p:grpSp>
        <p:nvGrpSpPr>
          <p:cNvPr id="6" name="Group 6">
            <a:extLst>
              <a:ext uri="{FF2B5EF4-FFF2-40B4-BE49-F238E27FC236}">
                <a16:creationId xmlns:a16="http://schemas.microsoft.com/office/drawing/2014/main" id="{130EBFDC-5A93-F42D-2AD3-137EA4697007}"/>
              </a:ext>
            </a:extLst>
          </p:cNvPr>
          <p:cNvGrpSpPr>
            <a:grpSpLocks noChangeAspect="1"/>
          </p:cNvGrpSpPr>
          <p:nvPr/>
        </p:nvGrpSpPr>
        <p:grpSpPr>
          <a:xfrm>
            <a:off x="200296" y="6631207"/>
            <a:ext cx="1146287" cy="175771"/>
            <a:chOff x="0" y="0"/>
            <a:chExt cx="2292573" cy="351541"/>
          </a:xfrm>
        </p:grpSpPr>
        <p:sp>
          <p:nvSpPr>
            <p:cNvPr id="7" name="Freeform 7">
              <a:extLst>
                <a:ext uri="{FF2B5EF4-FFF2-40B4-BE49-F238E27FC236}">
                  <a16:creationId xmlns:a16="http://schemas.microsoft.com/office/drawing/2014/main" id="{25D18868-0CE9-04A8-5B58-60AD52E9A6B1}"/>
                </a:ext>
              </a:extLst>
            </p:cNvPr>
            <p:cNvSpPr/>
            <p:nvPr/>
          </p:nvSpPr>
          <p:spPr>
            <a:xfrm>
              <a:off x="0" y="0"/>
              <a:ext cx="2292604" cy="351536"/>
            </a:xfrm>
            <a:custGeom>
              <a:avLst/>
              <a:gdLst/>
              <a:ahLst/>
              <a:cxnLst/>
              <a:rect l="l" t="t" r="r" b="b"/>
              <a:pathLst>
                <a:path w="2292604" h="351536">
                  <a:moveTo>
                    <a:pt x="0" y="0"/>
                  </a:moveTo>
                  <a:lnTo>
                    <a:pt x="2292604" y="0"/>
                  </a:lnTo>
                  <a:lnTo>
                    <a:pt x="2292604" y="351536"/>
                  </a:lnTo>
                  <a:lnTo>
                    <a:pt x="0" y="351536"/>
                  </a:lnTo>
                  <a:lnTo>
                    <a:pt x="0" y="0"/>
                  </a:lnTo>
                  <a:close/>
                </a:path>
              </a:pathLst>
            </a:custGeom>
            <a:blipFill>
              <a:blip r:embed="rId3"/>
              <a:stretch>
                <a:fillRect r="1" b="-2"/>
              </a:stretch>
            </a:blipFill>
          </p:spPr>
          <p:txBody>
            <a:bodyPr/>
            <a:lstStyle/>
            <a:p>
              <a:endParaRPr lang="en-US" sz="1200"/>
            </a:p>
          </p:txBody>
        </p:sp>
      </p:grpSp>
      <p:sp>
        <p:nvSpPr>
          <p:cNvPr id="8" name="AutoShape 8">
            <a:extLst>
              <a:ext uri="{FF2B5EF4-FFF2-40B4-BE49-F238E27FC236}">
                <a16:creationId xmlns:a16="http://schemas.microsoft.com/office/drawing/2014/main" id="{3791568A-0A7B-F213-DFC8-68B9753387DB}"/>
              </a:ext>
            </a:extLst>
          </p:cNvPr>
          <p:cNvSpPr/>
          <p:nvPr/>
        </p:nvSpPr>
        <p:spPr>
          <a:xfrm>
            <a:off x="0" y="521738"/>
            <a:ext cx="12183980" cy="0"/>
          </a:xfrm>
          <a:prstGeom prst="line">
            <a:avLst/>
          </a:prstGeom>
          <a:ln w="19050" cap="flat">
            <a:solidFill>
              <a:srgbClr val="39618E"/>
            </a:solidFill>
            <a:prstDash val="solid"/>
            <a:headEnd type="none" w="sm" len="sm"/>
            <a:tailEnd type="none" w="sm" len="sm"/>
          </a:ln>
        </p:spPr>
        <p:txBody>
          <a:bodyPr/>
          <a:lstStyle/>
          <a:p>
            <a:endParaRPr lang="en-US" sz="1200"/>
          </a:p>
        </p:txBody>
      </p:sp>
      <p:sp>
        <p:nvSpPr>
          <p:cNvPr id="9" name="TextBox 9">
            <a:extLst>
              <a:ext uri="{FF2B5EF4-FFF2-40B4-BE49-F238E27FC236}">
                <a16:creationId xmlns:a16="http://schemas.microsoft.com/office/drawing/2014/main" id="{04FB7254-598E-2AA9-FE83-183D1E34FBE0}"/>
              </a:ext>
            </a:extLst>
          </p:cNvPr>
          <p:cNvSpPr txBox="1"/>
          <p:nvPr/>
        </p:nvSpPr>
        <p:spPr>
          <a:xfrm>
            <a:off x="200297" y="64051"/>
            <a:ext cx="11828379" cy="348942"/>
          </a:xfrm>
          <a:prstGeom prst="rect">
            <a:avLst/>
          </a:prstGeom>
        </p:spPr>
        <p:txBody>
          <a:bodyPr lIns="0" tIns="0" rIns="0" bIns="0" rtlCol="0" anchor="t">
            <a:spAutoFit/>
          </a:bodyPr>
          <a:lstStyle/>
          <a:p>
            <a:pPr>
              <a:lnSpc>
                <a:spcPts val="2880"/>
              </a:lnSpc>
            </a:pPr>
            <a:r>
              <a:rPr lang="en-US" sz="2400" b="1">
                <a:solidFill>
                  <a:srgbClr val="119303"/>
                </a:solidFill>
                <a:latin typeface="Arial Bold"/>
                <a:ea typeface="Arial Bold"/>
                <a:cs typeface="Arial Bold"/>
                <a:sym typeface="Arial Bold"/>
              </a:rPr>
              <a:t>4. Biểu mẫu KPI 2026</a:t>
            </a:r>
          </a:p>
        </p:txBody>
      </p:sp>
      <p:sp>
        <p:nvSpPr>
          <p:cNvPr id="10" name="TextBox 10">
            <a:extLst>
              <a:ext uri="{FF2B5EF4-FFF2-40B4-BE49-F238E27FC236}">
                <a16:creationId xmlns:a16="http://schemas.microsoft.com/office/drawing/2014/main" id="{4B134D10-6DBD-14C2-3D44-30E67E432A64}"/>
              </a:ext>
            </a:extLst>
          </p:cNvPr>
          <p:cNvSpPr txBox="1"/>
          <p:nvPr/>
        </p:nvSpPr>
        <p:spPr>
          <a:xfrm>
            <a:off x="200297" y="625475"/>
            <a:ext cx="11828379" cy="307777"/>
          </a:xfrm>
          <a:prstGeom prst="rect">
            <a:avLst/>
          </a:prstGeom>
        </p:spPr>
        <p:txBody>
          <a:bodyPr lIns="0" tIns="0" rIns="0" bIns="0" rtlCol="0" anchor="t">
            <a:spAutoFit/>
          </a:bodyPr>
          <a:lstStyle/>
          <a:p>
            <a:pPr>
              <a:lnSpc>
                <a:spcPts val="2400"/>
              </a:lnSpc>
            </a:pPr>
            <a:r>
              <a:rPr lang="en-US" sz="2000" b="1">
                <a:solidFill>
                  <a:srgbClr val="39618E"/>
                </a:solidFill>
                <a:latin typeface="Arial Bold"/>
                <a:ea typeface="Arial Bold"/>
                <a:cs typeface="Arial Bold"/>
                <a:sym typeface="Arial Bold"/>
              </a:rPr>
              <a:t>4. 1 Biểu mẫu thiết lập KPIs 2026</a:t>
            </a:r>
          </a:p>
        </p:txBody>
      </p:sp>
      <p:graphicFrame>
        <p:nvGraphicFramePr>
          <p:cNvPr id="16" name="Table 15">
            <a:extLst>
              <a:ext uri="{FF2B5EF4-FFF2-40B4-BE49-F238E27FC236}">
                <a16:creationId xmlns:a16="http://schemas.microsoft.com/office/drawing/2014/main" id="{50274E48-D9B6-8F06-4374-B470D3F45ED3}"/>
              </a:ext>
            </a:extLst>
          </p:cNvPr>
          <p:cNvGraphicFramePr>
            <a:graphicFrameLocks noGrp="1"/>
          </p:cNvGraphicFramePr>
          <p:nvPr/>
        </p:nvGraphicFramePr>
        <p:xfrm>
          <a:off x="233893" y="1046711"/>
          <a:ext cx="11653309" cy="5425659"/>
        </p:xfrm>
        <a:graphic>
          <a:graphicData uri="http://schemas.openxmlformats.org/drawingml/2006/table">
            <a:tbl>
              <a:tblPr/>
              <a:tblGrid>
                <a:gridCol w="441556">
                  <a:extLst>
                    <a:ext uri="{9D8B030D-6E8A-4147-A177-3AD203B41FA5}">
                      <a16:colId xmlns:a16="http://schemas.microsoft.com/office/drawing/2014/main" val="2033914317"/>
                    </a:ext>
                  </a:extLst>
                </a:gridCol>
                <a:gridCol w="657635">
                  <a:extLst>
                    <a:ext uri="{9D8B030D-6E8A-4147-A177-3AD203B41FA5}">
                      <a16:colId xmlns:a16="http://schemas.microsoft.com/office/drawing/2014/main" val="670075107"/>
                    </a:ext>
                  </a:extLst>
                </a:gridCol>
                <a:gridCol w="375793">
                  <a:extLst>
                    <a:ext uri="{9D8B030D-6E8A-4147-A177-3AD203B41FA5}">
                      <a16:colId xmlns:a16="http://schemas.microsoft.com/office/drawing/2014/main" val="2552518186"/>
                    </a:ext>
                  </a:extLst>
                </a:gridCol>
                <a:gridCol w="2076250">
                  <a:extLst>
                    <a:ext uri="{9D8B030D-6E8A-4147-A177-3AD203B41FA5}">
                      <a16:colId xmlns:a16="http://schemas.microsoft.com/office/drawing/2014/main" val="360972507"/>
                    </a:ext>
                  </a:extLst>
                </a:gridCol>
                <a:gridCol w="2104435">
                  <a:extLst>
                    <a:ext uri="{9D8B030D-6E8A-4147-A177-3AD203B41FA5}">
                      <a16:colId xmlns:a16="http://schemas.microsoft.com/office/drawing/2014/main" val="1738302185"/>
                    </a:ext>
                  </a:extLst>
                </a:gridCol>
                <a:gridCol w="338213">
                  <a:extLst>
                    <a:ext uri="{9D8B030D-6E8A-4147-A177-3AD203B41FA5}">
                      <a16:colId xmlns:a16="http://schemas.microsoft.com/office/drawing/2014/main" val="3727543390"/>
                    </a:ext>
                  </a:extLst>
                </a:gridCol>
                <a:gridCol w="360761">
                  <a:extLst>
                    <a:ext uri="{9D8B030D-6E8A-4147-A177-3AD203B41FA5}">
                      <a16:colId xmlns:a16="http://schemas.microsoft.com/office/drawing/2014/main" val="2461095496"/>
                    </a:ext>
                  </a:extLst>
                </a:gridCol>
                <a:gridCol w="535503">
                  <a:extLst>
                    <a:ext uri="{9D8B030D-6E8A-4147-A177-3AD203B41FA5}">
                      <a16:colId xmlns:a16="http://schemas.microsoft.com/office/drawing/2014/main" val="2407019985"/>
                    </a:ext>
                  </a:extLst>
                </a:gridCol>
                <a:gridCol w="629451">
                  <a:extLst>
                    <a:ext uri="{9D8B030D-6E8A-4147-A177-3AD203B41FA5}">
                      <a16:colId xmlns:a16="http://schemas.microsoft.com/office/drawing/2014/main" val="2304989439"/>
                    </a:ext>
                  </a:extLst>
                </a:gridCol>
                <a:gridCol w="516714">
                  <a:extLst>
                    <a:ext uri="{9D8B030D-6E8A-4147-A177-3AD203B41FA5}">
                      <a16:colId xmlns:a16="http://schemas.microsoft.com/office/drawing/2014/main" val="977203760"/>
                    </a:ext>
                  </a:extLst>
                </a:gridCol>
                <a:gridCol w="629451">
                  <a:extLst>
                    <a:ext uri="{9D8B030D-6E8A-4147-A177-3AD203B41FA5}">
                      <a16:colId xmlns:a16="http://schemas.microsoft.com/office/drawing/2014/main" val="1043950953"/>
                    </a:ext>
                  </a:extLst>
                </a:gridCol>
                <a:gridCol w="610661">
                  <a:extLst>
                    <a:ext uri="{9D8B030D-6E8A-4147-A177-3AD203B41FA5}">
                      <a16:colId xmlns:a16="http://schemas.microsoft.com/office/drawing/2014/main" val="4242025709"/>
                    </a:ext>
                  </a:extLst>
                </a:gridCol>
                <a:gridCol w="544899">
                  <a:extLst>
                    <a:ext uri="{9D8B030D-6E8A-4147-A177-3AD203B41FA5}">
                      <a16:colId xmlns:a16="http://schemas.microsoft.com/office/drawing/2014/main" val="3650136297"/>
                    </a:ext>
                  </a:extLst>
                </a:gridCol>
                <a:gridCol w="573083">
                  <a:extLst>
                    <a:ext uri="{9D8B030D-6E8A-4147-A177-3AD203B41FA5}">
                      <a16:colId xmlns:a16="http://schemas.microsoft.com/office/drawing/2014/main" val="698880717"/>
                    </a:ext>
                  </a:extLst>
                </a:gridCol>
                <a:gridCol w="591873">
                  <a:extLst>
                    <a:ext uri="{9D8B030D-6E8A-4147-A177-3AD203B41FA5}">
                      <a16:colId xmlns:a16="http://schemas.microsoft.com/office/drawing/2014/main" val="1399709437"/>
                    </a:ext>
                  </a:extLst>
                </a:gridCol>
                <a:gridCol w="667031">
                  <a:extLst>
                    <a:ext uri="{9D8B030D-6E8A-4147-A177-3AD203B41FA5}">
                      <a16:colId xmlns:a16="http://schemas.microsoft.com/office/drawing/2014/main" val="3082399049"/>
                    </a:ext>
                  </a:extLst>
                </a:gridCol>
              </a:tblGrid>
              <a:tr h="380023">
                <a:tc rowSpan="2" gridSpan="3">
                  <a:txBody>
                    <a:bodyPr/>
                    <a:lstStyle/>
                    <a:p>
                      <a:pPr algn="ctr" fontAlgn="ctr">
                        <a:buNone/>
                      </a:pPr>
                      <a:r>
                        <a:rPr lang="en-US" sz="1600" b="1" i="0" u="none" strike="noStrike">
                          <a:solidFill>
                            <a:srgbClr val="203764"/>
                          </a:solidFill>
                          <a:effectLst/>
                          <a:latin typeface="Calibri" panose="020F0502020204030204" pitchFamily="34" charset="0"/>
                        </a:rPr>
                        <a:t>(logo)</a:t>
                      </a:r>
                    </a:p>
                  </a:txBody>
                  <a:tcPr marL="0" marR="0" marT="0" marB="0" anchor="ctr">
                    <a:lnL w="6350" cap="flat" cmpd="sng" algn="ctr">
                      <a:solidFill>
                        <a:srgbClr val="0C769E"/>
                      </a:solidFill>
                      <a:prstDash val="solid"/>
                      <a:round/>
                      <a:headEnd type="none" w="med" len="med"/>
                      <a:tailEnd type="none" w="med" len="med"/>
                    </a:lnL>
                    <a:lnR>
                      <a:noFill/>
                    </a:lnR>
                    <a:lnT w="6350" cap="flat" cmpd="sng" algn="ctr">
                      <a:solidFill>
                        <a:srgbClr val="0C769E"/>
                      </a:solidFill>
                      <a:prstDash val="solid"/>
                      <a:round/>
                      <a:headEnd type="none" w="med" len="med"/>
                      <a:tailEnd type="none" w="med" len="med"/>
                    </a:lnT>
                    <a:lnB>
                      <a:noFill/>
                    </a:lnB>
                    <a:solidFill>
                      <a:srgbClr val="FFFFFF"/>
                    </a:solidFill>
                  </a:tcPr>
                </a:tc>
                <a:tc rowSpan="2" hMerge="1">
                  <a:txBody>
                    <a:bodyPr/>
                    <a:lstStyle/>
                    <a:p>
                      <a:endParaRPr lang="en-US"/>
                    </a:p>
                  </a:txBody>
                  <a:tcPr/>
                </a:tc>
                <a:tc rowSpan="2" hMerge="1">
                  <a:txBody>
                    <a:bodyPr/>
                    <a:lstStyle/>
                    <a:p>
                      <a:endParaRPr lang="en-US"/>
                    </a:p>
                  </a:txBody>
                  <a:tcPr/>
                </a:tc>
                <a:tc gridSpan="13">
                  <a:txBody>
                    <a:bodyPr/>
                    <a:lstStyle/>
                    <a:p>
                      <a:pPr algn="ctr" fontAlgn="ctr">
                        <a:buNone/>
                      </a:pPr>
                      <a:r>
                        <a:rPr lang="en-US" sz="2400" b="1" i="0" u="none" strike="noStrike">
                          <a:solidFill>
                            <a:srgbClr val="203764"/>
                          </a:solidFill>
                          <a:effectLst/>
                          <a:latin typeface="Calibri" panose="020F0502020204030204" pitchFamily="34" charset="0"/>
                        </a:rPr>
                        <a:t>KPI 2026 - CÔNG TY TNHH NHỰA DUY TÂN</a:t>
                      </a:r>
                    </a:p>
                  </a:txBody>
                  <a:tcPr marL="0" marR="0" marT="0" marB="0" anchor="ctr">
                    <a:lnL>
                      <a:noFill/>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a:noFill/>
                    </a:lnB>
                    <a:solidFill>
                      <a:srgbClr val="BDD7E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46972213"/>
                  </a:ext>
                </a:extLst>
              </a:tr>
              <a:tr h="250677">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a:txBody>
                    <a:bodyPr/>
                    <a:lstStyle/>
                    <a:p>
                      <a:pPr algn="l" fontAlgn="ctr">
                        <a:buNone/>
                      </a:pPr>
                      <a:r>
                        <a:rPr lang="en-US" sz="900" b="1" i="0" u="none" strike="noStrike">
                          <a:solidFill>
                            <a:srgbClr val="203764"/>
                          </a:solidFill>
                          <a:effectLst/>
                          <a:latin typeface="Calibri" panose="020F0502020204030204" pitchFamily="34" charset="0"/>
                        </a:rPr>
                        <a:t>Vị trí: </a:t>
                      </a:r>
                    </a:p>
                  </a:txBody>
                  <a:tcPr marL="0" marR="0" marT="0" marB="0" anchor="ctr">
                    <a:lnL>
                      <a:noFill/>
                    </a:lnL>
                    <a:lnR>
                      <a:noFill/>
                    </a:lnR>
                    <a:lnT>
                      <a:noFill/>
                    </a:lnT>
                    <a:lnB>
                      <a:noFill/>
                    </a:lnB>
                    <a:solidFill>
                      <a:srgbClr val="DDEBF7"/>
                    </a:solidFill>
                  </a:tcPr>
                </a:tc>
                <a:tc>
                  <a:txBody>
                    <a:bodyPr/>
                    <a:lstStyle/>
                    <a:p>
                      <a:pPr algn="l" fontAlgn="ctr">
                        <a:buNone/>
                      </a:pPr>
                      <a:r>
                        <a:rPr lang="en-US" sz="900" b="1" i="0" u="none" strike="noStrike">
                          <a:solidFill>
                            <a:srgbClr val="203764"/>
                          </a:solidFill>
                          <a:effectLst/>
                          <a:latin typeface="Calibri" panose="020F0502020204030204" pitchFamily="34" charset="0"/>
                        </a:rPr>
                        <a:t>Ngày lập: </a:t>
                      </a:r>
                    </a:p>
                  </a:txBody>
                  <a:tcPr marL="0" marR="0" marT="0" marB="0" anchor="ctr">
                    <a:lnL>
                      <a:noFill/>
                    </a:lnL>
                    <a:lnR>
                      <a:noFill/>
                    </a:lnR>
                    <a:lnT>
                      <a:noFill/>
                    </a:lnT>
                    <a:lnB>
                      <a:noFill/>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rgbClr val="DDEBF7"/>
                    </a:solidFill>
                  </a:tcPr>
                </a:tc>
                <a:tc>
                  <a:txBody>
                    <a:bodyPr/>
                    <a:lstStyle/>
                    <a:p>
                      <a:pPr algn="ctr" fontAlgn="ctr">
                        <a:buNone/>
                      </a:pPr>
                      <a:r>
                        <a:rPr lang="en-US" sz="900" b="1" i="0" u="none" strike="noStrike">
                          <a:solidFill>
                            <a:srgbClr val="FF0000"/>
                          </a:solidFill>
                          <a:effectLst/>
                          <a:latin typeface="Calibri" panose="020F0502020204030204" pitchFamily="34" charset="0"/>
                        </a:rPr>
                        <a:t> </a:t>
                      </a:r>
                    </a:p>
                  </a:txBody>
                  <a:tcPr marL="0" marR="0" marT="0" marB="0" anchor="ctr">
                    <a:lnL>
                      <a:noFill/>
                    </a:lnL>
                    <a:lnR>
                      <a:noFill/>
                    </a:lnR>
                    <a:lnT>
                      <a:noFill/>
                    </a:lnT>
                    <a:lnB>
                      <a:noFill/>
                    </a:lnB>
                    <a:solidFill>
                      <a:srgbClr val="DDEBF7"/>
                    </a:solidFill>
                  </a:tcPr>
                </a:tc>
                <a:tc>
                  <a:txBody>
                    <a:bodyPr/>
                    <a:lstStyle/>
                    <a:p>
                      <a:pPr algn="ctr"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rgbClr val="DDEBF7"/>
                    </a:solidFill>
                  </a:tcPr>
                </a:tc>
                <a:tc>
                  <a:txBody>
                    <a:bodyPr/>
                    <a:lstStyle/>
                    <a:p>
                      <a:pPr algn="ctr"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a:noFill/>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w="6350" cap="flat" cmpd="sng" algn="ctr">
                      <a:solidFill>
                        <a:srgbClr val="0C769E"/>
                      </a:solidFill>
                      <a:prstDash val="solid"/>
                      <a:round/>
                      <a:headEnd type="none" w="med" len="med"/>
                      <a:tailEnd type="none" w="med" len="med"/>
                    </a:lnR>
                    <a:lnT>
                      <a:noFill/>
                    </a:lnT>
                    <a:lnB>
                      <a:noFill/>
                    </a:lnB>
                    <a:solidFill>
                      <a:srgbClr val="DDEBF7"/>
                    </a:solidFill>
                  </a:tcPr>
                </a:tc>
                <a:extLst>
                  <a:ext uri="{0D108BD9-81ED-4DB2-BD59-A6C34878D82A}">
                    <a16:rowId xmlns:a16="http://schemas.microsoft.com/office/drawing/2014/main" val="1412233835"/>
                  </a:ext>
                </a:extLst>
              </a:tr>
              <a:tr h="250677">
                <a:tc>
                  <a:txBody>
                    <a:bodyPr/>
                    <a:lstStyle/>
                    <a:p>
                      <a:pPr algn="ctr" fontAlgn="ctr">
                        <a:buNone/>
                      </a:pPr>
                      <a:r>
                        <a:rPr lang="en-US" sz="900" b="1" i="0" u="none" strike="noStrike">
                          <a:solidFill>
                            <a:srgbClr val="000000"/>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ctr"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ctr"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900" b="1" i="0" u="none" strike="noStrike">
                          <a:solidFill>
                            <a:srgbClr val="203764"/>
                          </a:solidFill>
                          <a:effectLst/>
                          <a:latin typeface="Calibri" panose="020F0502020204030204" pitchFamily="34" charset="0"/>
                        </a:rPr>
                        <a:t>Họ và Tên: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900" b="1" i="0" u="none" strike="noStrike">
                          <a:solidFill>
                            <a:srgbClr val="203764"/>
                          </a:solidFill>
                          <a:effectLst/>
                          <a:latin typeface="Calibri" panose="020F0502020204030204" pitchFamily="34" charset="0"/>
                        </a:rPr>
                        <a:t>Phòng ban: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ctr" fontAlgn="ctr">
                        <a:buNone/>
                      </a:pPr>
                      <a:r>
                        <a:rPr lang="en-US" sz="900" b="1" i="0" u="none" strike="noStrike">
                          <a:solidFill>
                            <a:srgbClr val="FF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ctr"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ctr"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900" b="1" i="0" u="none" strike="noStrike">
                          <a:solidFill>
                            <a:srgbClr val="000000"/>
                          </a:solidFill>
                          <a:effectLst/>
                          <a:latin typeface="Calibri" panose="020F0502020204030204" pitchFamily="34" charset="0"/>
                        </a:rPr>
                        <a:t> </a:t>
                      </a:r>
                    </a:p>
                  </a:txBody>
                  <a:tcPr marL="0" marR="0" marT="0" marB="0" anchor="ctr">
                    <a:lnL>
                      <a:noFill/>
                    </a:lnL>
                    <a:lnR w="6350" cap="flat" cmpd="sng" algn="ctr">
                      <a:solidFill>
                        <a:srgbClr val="0C769E"/>
                      </a:solidFill>
                      <a:prstDash val="solid"/>
                      <a:round/>
                      <a:headEnd type="none" w="med" len="med"/>
                      <a:tailEnd type="none" w="med" len="med"/>
                    </a:lnR>
                    <a:lnT>
                      <a:noFill/>
                    </a:lnT>
                    <a:lnB w="6350" cap="flat" cmpd="sng" algn="ctr">
                      <a:solidFill>
                        <a:srgbClr val="0C769E"/>
                      </a:solidFill>
                      <a:prstDash val="solid"/>
                      <a:round/>
                      <a:headEnd type="none" w="med" len="med"/>
                      <a:tailEnd type="none" w="med" len="med"/>
                    </a:lnB>
                    <a:solidFill>
                      <a:srgbClr val="DDEBF7"/>
                    </a:solidFill>
                  </a:tcPr>
                </a:tc>
                <a:extLst>
                  <a:ext uri="{0D108BD9-81ED-4DB2-BD59-A6C34878D82A}">
                    <a16:rowId xmlns:a16="http://schemas.microsoft.com/office/drawing/2014/main" val="2651050637"/>
                  </a:ext>
                </a:extLst>
              </a:tr>
              <a:tr h="466197">
                <a:tc>
                  <a:txBody>
                    <a:bodyPr/>
                    <a:lstStyle/>
                    <a:p>
                      <a:pPr algn="ctr" rtl="0" fontAlgn="ctr">
                        <a:buNone/>
                      </a:pPr>
                      <a:r>
                        <a:rPr lang="en-US" sz="900" b="1" i="0" u="none" strike="noStrike">
                          <a:solidFill>
                            <a:srgbClr val="203764"/>
                          </a:solidFill>
                          <a:effectLst/>
                          <a:latin typeface="Calibri" panose="020F0502020204030204" pitchFamily="34" charset="0"/>
                        </a:rPr>
                        <a:t>KPI/PI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Khía cạnh</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STT</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Tên KPI/PI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Cách tính</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Phụ lục</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Phạm vi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Chủ nguồn dữ liệu</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vi-VN" sz="900" b="1" i="0" u="none" strike="noStrike">
                          <a:solidFill>
                            <a:srgbClr val="203764"/>
                          </a:solidFill>
                          <a:effectLst/>
                          <a:latin typeface="Calibri" panose="020F0502020204030204" pitchFamily="34" charset="0"/>
                        </a:rPr>
                        <a:t>Đơn vị</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vi-VN" sz="900" b="1" i="0" u="none" strike="noStrike">
                          <a:solidFill>
                            <a:srgbClr val="203764"/>
                          </a:solidFill>
                          <a:effectLst/>
                          <a:latin typeface="Calibri" panose="020F0502020204030204" pitchFamily="34" charset="0"/>
                        </a:rPr>
                        <a:t>Xu hướng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Chỉ tiêu 2025</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Thực hiện 2024</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vi-VN" sz="900" b="1" i="0" u="none" strike="noStrike">
                          <a:solidFill>
                            <a:srgbClr val="203764"/>
                          </a:solidFill>
                          <a:effectLst/>
                          <a:latin typeface="Calibri" panose="020F0502020204030204" pitchFamily="34" charset="0"/>
                        </a:rPr>
                        <a:t>So với năm trước</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 thay đổi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Trọng số</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Tần suất báo cáo</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extLst>
                  <a:ext uri="{0D108BD9-81ED-4DB2-BD59-A6C34878D82A}">
                    <a16:rowId xmlns:a16="http://schemas.microsoft.com/office/drawing/2014/main" val="4265492661"/>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KPI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Tài chính</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1</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Doanh thu thuần</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PL01</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DTG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KTTC</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Tỷ VND</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k</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1000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900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1000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11%</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20%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2576712953"/>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KPI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Khách hàng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2</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m</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4169838906"/>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KPI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Quy trình</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3</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n</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2059945466"/>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KPI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PTTC</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4</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4106248980"/>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KPI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5</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3682575454"/>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KPI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6</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1885030582"/>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KPI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7</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635264582"/>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KPI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8</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687996557"/>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KPI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9</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488157019"/>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KPI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10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3813535026"/>
                  </a:ext>
                </a:extLst>
              </a:tr>
              <a:tr h="158965">
                <a:tc gridSpan="2">
                  <a:txBody>
                    <a:bodyPr/>
                    <a:lstStyle/>
                    <a:p>
                      <a:pPr algn="r" rtl="0" fontAlgn="ctr">
                        <a:buNone/>
                      </a:pPr>
                      <a:r>
                        <a:rPr lang="vi-VN" sz="900" b="1" i="0" u="none" strike="noStrike">
                          <a:solidFill>
                            <a:srgbClr val="203764"/>
                          </a:solidFill>
                          <a:effectLst/>
                          <a:latin typeface="Calibri" panose="020F0502020204030204" pitchFamily="34" charset="0"/>
                        </a:rPr>
                        <a:t>Tổng số lượng KPI: 10</a:t>
                      </a:r>
                    </a:p>
                  </a:txBody>
                  <a:tcPr marL="0" marR="0" marT="0" marB="0" anchor="ctr">
                    <a:lnL w="6350" cap="flat" cmpd="sng" algn="ctr">
                      <a:solidFill>
                        <a:srgbClr val="0C769E"/>
                      </a:solidFill>
                      <a:prstDash val="solid"/>
                      <a:round/>
                      <a:headEnd type="none" w="med" len="med"/>
                      <a:tailEnd type="none" w="med" len="med"/>
                    </a:lnL>
                    <a:lnR>
                      <a:noFill/>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hMerge="1">
                  <a:txBody>
                    <a:bodyPr/>
                    <a:lstStyle/>
                    <a:p>
                      <a:endParaRPr lang="en-US"/>
                    </a:p>
                  </a:txBody>
                  <a:tcPr/>
                </a:tc>
                <a:tc>
                  <a:txBody>
                    <a:bodyPr/>
                    <a:lstStyle/>
                    <a:p>
                      <a:pPr algn="l" rtl="0" fontAlgn="ctr">
                        <a:buNone/>
                      </a:pPr>
                      <a:r>
                        <a:rPr lang="en-US" sz="900" b="1" i="0" u="none" strike="noStrike">
                          <a:solidFill>
                            <a:srgbClr val="203764"/>
                          </a:solidFill>
                          <a:effectLst/>
                          <a:latin typeface="Calibri" panose="020F0502020204030204" pitchFamily="34" charset="0"/>
                        </a:rPr>
                        <a:t> </a:t>
                      </a:r>
                    </a:p>
                  </a:txBody>
                  <a:tcPr marL="0" marR="0" marT="0" marB="0" anchor="ctr">
                    <a:lnL>
                      <a:noFill/>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gridSpan="9">
                  <a:txBody>
                    <a:bodyPr/>
                    <a:lstStyle/>
                    <a:p>
                      <a:pPr algn="ctr" rtl="0" fontAlgn="ctr">
                        <a:buNone/>
                      </a:pPr>
                      <a:r>
                        <a:rPr lang="en-US" sz="900" b="1"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rtl="0" fontAlgn="ctr">
                        <a:buNone/>
                      </a:pPr>
                      <a:r>
                        <a:rPr lang="en-US" sz="900" b="1" i="0" u="none" strike="noStrike">
                          <a:solidFill>
                            <a:srgbClr val="203764"/>
                          </a:solidFill>
                          <a:effectLst/>
                          <a:latin typeface="Calibri" panose="020F0502020204030204" pitchFamily="34" charset="0"/>
                        </a:rPr>
                        <a:t>Tổng trọng số KPI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hMerge="1">
                  <a:txBody>
                    <a:bodyPr/>
                    <a:lstStyle/>
                    <a:p>
                      <a:endParaRPr lang="en-US"/>
                    </a:p>
                  </a:txBody>
                  <a:tcPr/>
                </a:tc>
                <a:tc>
                  <a:txBody>
                    <a:bodyPr/>
                    <a:lstStyle/>
                    <a:p>
                      <a:pPr algn="ctr" rtl="0" fontAlgn="ctr">
                        <a:buNone/>
                      </a:pPr>
                      <a:r>
                        <a:rPr lang="en-US" sz="900" b="1" i="0" u="none" strike="noStrike">
                          <a:solidFill>
                            <a:srgbClr val="203764"/>
                          </a:solidFill>
                          <a:effectLst/>
                          <a:latin typeface="Calibri" panose="020F0502020204030204" pitchFamily="34" charset="0"/>
                        </a:rPr>
                        <a:t>100%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extLst>
                  <a:ext uri="{0D108BD9-81ED-4DB2-BD59-A6C34878D82A}">
                    <a16:rowId xmlns:a16="http://schemas.microsoft.com/office/drawing/2014/main" val="2690927885"/>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Tài chính</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1</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k</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4172820209"/>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Khách hàng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2</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m</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2235534444"/>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Quy trình</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3</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n</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775017078"/>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PTTC</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4</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4109632176"/>
                  </a:ext>
                </a:extLst>
              </a:tr>
              <a:tr h="250677">
                <a:tc>
                  <a:txBody>
                    <a:bodyPr/>
                    <a:lstStyle/>
                    <a:p>
                      <a:pPr algn="ctr" fontAlgn="ctr">
                        <a:buNone/>
                      </a:pPr>
                      <a:r>
                        <a:rPr lang="en-US" sz="900" b="1" i="0" u="none" strike="noStrike">
                          <a:solidFill>
                            <a:srgbClr val="203764"/>
                          </a:solidFill>
                          <a:effectLst/>
                          <a:latin typeface="Calibri" panose="020F0502020204030204" pitchFamily="34" charset="0"/>
                        </a:rPr>
                        <a:t>PI</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1" u="none" strike="noStrike">
                          <a:solidFill>
                            <a:srgbClr val="203764"/>
                          </a:solidFill>
                          <a:effectLst/>
                          <a:latin typeface="Calibri" panose="020F0502020204030204" pitchFamily="34" charset="0"/>
                        </a:rPr>
                        <a:t>5</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Wingdings 3" panose="05040102010807070707" pitchFamily="18" charset="2"/>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900" b="0" i="0" u="none" strike="noStrike">
                          <a:solidFill>
                            <a:srgbClr val="203764"/>
                          </a:solidFill>
                          <a:effectLst/>
                          <a:latin typeface="Calibri" panose="020F0502020204030204" pitchFamily="34" charset="0"/>
                        </a:rPr>
                        <a:t>Hàng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2649620358"/>
                  </a:ext>
                </a:extLst>
              </a:tr>
              <a:tr h="158965">
                <a:tc gridSpan="2">
                  <a:txBody>
                    <a:bodyPr/>
                    <a:lstStyle/>
                    <a:p>
                      <a:pPr algn="r" rtl="0" fontAlgn="ctr">
                        <a:buNone/>
                      </a:pPr>
                      <a:r>
                        <a:rPr lang="vi-VN" sz="900" b="1" i="0" u="none" strike="noStrike">
                          <a:solidFill>
                            <a:srgbClr val="203764"/>
                          </a:solidFill>
                          <a:effectLst/>
                          <a:latin typeface="Calibri" panose="020F0502020204030204" pitchFamily="34" charset="0"/>
                        </a:rPr>
                        <a:t>Tổng số lượng KPI: 5</a:t>
                      </a:r>
                    </a:p>
                  </a:txBody>
                  <a:tcPr marL="0" marR="0" marT="0" marB="0" anchor="ctr">
                    <a:lnL w="6350" cap="flat" cmpd="sng" algn="ctr">
                      <a:solidFill>
                        <a:srgbClr val="0C769E"/>
                      </a:solidFill>
                      <a:prstDash val="solid"/>
                      <a:round/>
                      <a:headEnd type="none" w="med" len="med"/>
                      <a:tailEnd type="none" w="med" len="med"/>
                    </a:lnL>
                    <a:lnR>
                      <a:noFill/>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hMerge="1">
                  <a:txBody>
                    <a:bodyPr/>
                    <a:lstStyle/>
                    <a:p>
                      <a:endParaRPr lang="en-US"/>
                    </a:p>
                  </a:txBody>
                  <a:tcPr/>
                </a:tc>
                <a:tc>
                  <a:txBody>
                    <a:bodyPr/>
                    <a:lstStyle/>
                    <a:p>
                      <a:pPr algn="l" rtl="0" fontAlgn="ctr">
                        <a:buNone/>
                      </a:pPr>
                      <a:r>
                        <a:rPr lang="en-US" sz="900" b="1" i="0" u="none" strike="noStrike">
                          <a:solidFill>
                            <a:srgbClr val="203764"/>
                          </a:solidFill>
                          <a:effectLst/>
                          <a:latin typeface="Calibri" panose="020F0502020204030204" pitchFamily="34" charset="0"/>
                        </a:rPr>
                        <a:t> </a:t>
                      </a:r>
                    </a:p>
                  </a:txBody>
                  <a:tcPr marL="0" marR="0" marT="0" marB="0" anchor="ctr">
                    <a:lnL>
                      <a:noFill/>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gridSpan="9">
                  <a:txBody>
                    <a:bodyPr/>
                    <a:lstStyle/>
                    <a:p>
                      <a:pPr algn="ctr" rtl="0" fontAlgn="ctr">
                        <a:buNone/>
                      </a:pPr>
                      <a:r>
                        <a:rPr lang="en-US" sz="900" b="1"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rtl="0" fontAlgn="ctr">
                        <a:buNone/>
                      </a:pPr>
                      <a:r>
                        <a:rPr lang="en-US" sz="900" b="1"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hMerge="1">
                  <a:txBody>
                    <a:bodyPr/>
                    <a:lstStyle/>
                    <a:p>
                      <a:endParaRPr lang="en-US"/>
                    </a:p>
                  </a:txBody>
                  <a:tcPr/>
                </a:tc>
                <a:tc>
                  <a:txBody>
                    <a:bodyPr/>
                    <a:lstStyle/>
                    <a:p>
                      <a:pPr algn="ctr" rtl="0" fontAlgn="ctr">
                        <a:buNone/>
                      </a:pPr>
                      <a:r>
                        <a:rPr lang="en-US" sz="900" b="1"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900" b="1"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extLst>
                  <a:ext uri="{0D108BD9-81ED-4DB2-BD59-A6C34878D82A}">
                    <a16:rowId xmlns:a16="http://schemas.microsoft.com/office/drawing/2014/main" val="1381921878"/>
                  </a:ext>
                </a:extLst>
              </a:tr>
            </a:tbl>
          </a:graphicData>
        </a:graphic>
      </p:graphicFrame>
      <p:sp>
        <p:nvSpPr>
          <p:cNvPr id="2" name="Slide Number Placeholder 1">
            <a:extLst>
              <a:ext uri="{FF2B5EF4-FFF2-40B4-BE49-F238E27FC236}">
                <a16:creationId xmlns:a16="http://schemas.microsoft.com/office/drawing/2014/main" id="{7DABAB8E-04B3-98E8-7A60-5FDD579B61F8}"/>
              </a:ext>
            </a:extLst>
          </p:cNvPr>
          <p:cNvSpPr>
            <a:spLocks noGrp="1"/>
          </p:cNvSpPr>
          <p:nvPr>
            <p:ph type="sldNum" sz="quarter" idx="12"/>
          </p:nvPr>
        </p:nvSpPr>
        <p:spPr/>
        <p:txBody>
          <a:bodyPr/>
          <a:lstStyle/>
          <a:p>
            <a:fld id="{06D5B5F9-488F-4DD3-845F-86795626F9DE}" type="slidenum">
              <a:rPr lang="en-US" smtClean="0"/>
              <a:t>6</a:t>
            </a:fld>
            <a:endParaRPr lang="en-US"/>
          </a:p>
        </p:txBody>
      </p:sp>
      <p:sp>
        <p:nvSpPr>
          <p:cNvPr id="3" name="TextBox 10">
            <a:extLst>
              <a:ext uri="{FF2B5EF4-FFF2-40B4-BE49-F238E27FC236}">
                <a16:creationId xmlns:a16="http://schemas.microsoft.com/office/drawing/2014/main" id="{FE69C811-921D-6E2F-FED6-415D09F29502}"/>
              </a:ext>
            </a:extLst>
          </p:cNvPr>
          <p:cNvSpPr txBox="1"/>
          <p:nvPr/>
        </p:nvSpPr>
        <p:spPr>
          <a:xfrm>
            <a:off x="11300038" y="6538912"/>
            <a:ext cx="830180" cy="307777"/>
          </a:xfrm>
          <a:prstGeom prst="rect">
            <a:avLst/>
          </a:prstGeom>
        </p:spPr>
        <p:txBody>
          <a:bodyPr wrap="square" lIns="0" tIns="0" rIns="0" bIns="0" rtlCol="0" anchor="t">
            <a:spAutoFit/>
          </a:bodyPr>
          <a:lstStyle/>
          <a:p>
            <a:pPr>
              <a:lnSpc>
                <a:spcPts val="2400"/>
              </a:lnSpc>
            </a:pPr>
            <a:r>
              <a:rPr lang="en-US" sz="2000" b="1">
                <a:solidFill>
                  <a:schemeClr val="bg1"/>
                </a:solidFill>
                <a:latin typeface="Arial Bold"/>
                <a:ea typeface="Arial Bold"/>
                <a:cs typeface="Arial Bold"/>
                <a:sym typeface="Arial Bold"/>
              </a:rPr>
              <a:t>7/11</a:t>
            </a:r>
          </a:p>
        </p:txBody>
      </p:sp>
    </p:spTree>
    <p:extLst>
      <p:ext uri="{BB962C8B-B14F-4D97-AF65-F5344CB8AC3E}">
        <p14:creationId xmlns:p14="http://schemas.microsoft.com/office/powerpoint/2010/main" val="64058433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680D4-1ACA-5A8B-4FAE-F41AAA9BE54B}"/>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AA84702E-BE84-AC10-C351-B6715464A588}"/>
              </a:ext>
            </a:extLst>
          </p:cNvPr>
          <p:cNvGrpSpPr/>
          <p:nvPr/>
        </p:nvGrpSpPr>
        <p:grpSpPr>
          <a:xfrm>
            <a:off x="1545092" y="6567605"/>
            <a:ext cx="10638888" cy="281005"/>
            <a:chOff x="0" y="0"/>
            <a:chExt cx="21277776" cy="562011"/>
          </a:xfrm>
        </p:grpSpPr>
        <p:sp>
          <p:nvSpPr>
            <p:cNvPr id="5" name="Freeform 5">
              <a:extLst>
                <a:ext uri="{FF2B5EF4-FFF2-40B4-BE49-F238E27FC236}">
                  <a16:creationId xmlns:a16="http://schemas.microsoft.com/office/drawing/2014/main" id="{BE391C55-3654-D866-FA1E-25BABAEF7ABB}"/>
                </a:ext>
              </a:extLst>
            </p:cNvPr>
            <p:cNvSpPr/>
            <p:nvPr/>
          </p:nvSpPr>
          <p:spPr>
            <a:xfrm>
              <a:off x="0" y="0"/>
              <a:ext cx="21277835" cy="561975"/>
            </a:xfrm>
            <a:custGeom>
              <a:avLst/>
              <a:gdLst/>
              <a:ahLst/>
              <a:cxnLst/>
              <a:rect l="l" t="t" r="r" b="b"/>
              <a:pathLst>
                <a:path w="21277835" h="561975">
                  <a:moveTo>
                    <a:pt x="0" y="0"/>
                  </a:moveTo>
                  <a:lnTo>
                    <a:pt x="21277835" y="0"/>
                  </a:lnTo>
                  <a:lnTo>
                    <a:pt x="21277835" y="561975"/>
                  </a:lnTo>
                  <a:lnTo>
                    <a:pt x="0" y="561975"/>
                  </a:lnTo>
                  <a:close/>
                </a:path>
              </a:pathLst>
            </a:custGeom>
            <a:solidFill>
              <a:srgbClr val="119303"/>
            </a:solidFill>
            <a:ln w="12700">
              <a:solidFill>
                <a:srgbClr val="000000"/>
              </a:solidFill>
            </a:ln>
          </p:spPr>
          <p:txBody>
            <a:bodyPr/>
            <a:lstStyle/>
            <a:p>
              <a:endParaRPr lang="en-US" sz="1200"/>
            </a:p>
          </p:txBody>
        </p:sp>
      </p:grpSp>
      <p:grpSp>
        <p:nvGrpSpPr>
          <p:cNvPr id="6" name="Group 6">
            <a:extLst>
              <a:ext uri="{FF2B5EF4-FFF2-40B4-BE49-F238E27FC236}">
                <a16:creationId xmlns:a16="http://schemas.microsoft.com/office/drawing/2014/main" id="{3C8D6A27-1C1B-632A-2B33-5481F11FF1B2}"/>
              </a:ext>
            </a:extLst>
          </p:cNvPr>
          <p:cNvGrpSpPr>
            <a:grpSpLocks noChangeAspect="1"/>
          </p:cNvGrpSpPr>
          <p:nvPr/>
        </p:nvGrpSpPr>
        <p:grpSpPr>
          <a:xfrm>
            <a:off x="200296" y="6631207"/>
            <a:ext cx="1146287" cy="175771"/>
            <a:chOff x="0" y="0"/>
            <a:chExt cx="2292573" cy="351541"/>
          </a:xfrm>
        </p:grpSpPr>
        <p:sp>
          <p:nvSpPr>
            <p:cNvPr id="7" name="Freeform 7">
              <a:extLst>
                <a:ext uri="{FF2B5EF4-FFF2-40B4-BE49-F238E27FC236}">
                  <a16:creationId xmlns:a16="http://schemas.microsoft.com/office/drawing/2014/main" id="{CF030A1E-A258-6C8A-6090-C6D28DB3C463}"/>
                </a:ext>
              </a:extLst>
            </p:cNvPr>
            <p:cNvSpPr/>
            <p:nvPr/>
          </p:nvSpPr>
          <p:spPr>
            <a:xfrm>
              <a:off x="0" y="0"/>
              <a:ext cx="2292604" cy="351536"/>
            </a:xfrm>
            <a:custGeom>
              <a:avLst/>
              <a:gdLst/>
              <a:ahLst/>
              <a:cxnLst/>
              <a:rect l="l" t="t" r="r" b="b"/>
              <a:pathLst>
                <a:path w="2292604" h="351536">
                  <a:moveTo>
                    <a:pt x="0" y="0"/>
                  </a:moveTo>
                  <a:lnTo>
                    <a:pt x="2292604" y="0"/>
                  </a:lnTo>
                  <a:lnTo>
                    <a:pt x="2292604" y="351536"/>
                  </a:lnTo>
                  <a:lnTo>
                    <a:pt x="0" y="351536"/>
                  </a:lnTo>
                  <a:lnTo>
                    <a:pt x="0" y="0"/>
                  </a:lnTo>
                  <a:close/>
                </a:path>
              </a:pathLst>
            </a:custGeom>
            <a:blipFill>
              <a:blip r:embed="rId3"/>
              <a:stretch>
                <a:fillRect r="1" b="-2"/>
              </a:stretch>
            </a:blipFill>
          </p:spPr>
          <p:txBody>
            <a:bodyPr/>
            <a:lstStyle/>
            <a:p>
              <a:endParaRPr lang="en-US" sz="1200"/>
            </a:p>
          </p:txBody>
        </p:sp>
      </p:grpSp>
      <p:sp>
        <p:nvSpPr>
          <p:cNvPr id="8" name="AutoShape 8">
            <a:extLst>
              <a:ext uri="{FF2B5EF4-FFF2-40B4-BE49-F238E27FC236}">
                <a16:creationId xmlns:a16="http://schemas.microsoft.com/office/drawing/2014/main" id="{C2786F07-D338-43A5-6E65-8D788BF5B02D}"/>
              </a:ext>
            </a:extLst>
          </p:cNvPr>
          <p:cNvSpPr/>
          <p:nvPr/>
        </p:nvSpPr>
        <p:spPr>
          <a:xfrm>
            <a:off x="0" y="521738"/>
            <a:ext cx="12183980" cy="0"/>
          </a:xfrm>
          <a:prstGeom prst="line">
            <a:avLst/>
          </a:prstGeom>
          <a:ln w="19050" cap="flat">
            <a:solidFill>
              <a:srgbClr val="39618E"/>
            </a:solidFill>
            <a:prstDash val="solid"/>
            <a:headEnd type="none" w="sm" len="sm"/>
            <a:tailEnd type="none" w="sm" len="sm"/>
          </a:ln>
        </p:spPr>
        <p:txBody>
          <a:bodyPr/>
          <a:lstStyle/>
          <a:p>
            <a:endParaRPr lang="en-US" sz="1200"/>
          </a:p>
        </p:txBody>
      </p:sp>
      <p:sp>
        <p:nvSpPr>
          <p:cNvPr id="9" name="TextBox 9">
            <a:extLst>
              <a:ext uri="{FF2B5EF4-FFF2-40B4-BE49-F238E27FC236}">
                <a16:creationId xmlns:a16="http://schemas.microsoft.com/office/drawing/2014/main" id="{23B3D6D4-DB8D-3410-BEBB-DD3D94243155}"/>
              </a:ext>
            </a:extLst>
          </p:cNvPr>
          <p:cNvSpPr txBox="1"/>
          <p:nvPr/>
        </p:nvSpPr>
        <p:spPr>
          <a:xfrm>
            <a:off x="200297" y="64051"/>
            <a:ext cx="11828379" cy="348942"/>
          </a:xfrm>
          <a:prstGeom prst="rect">
            <a:avLst/>
          </a:prstGeom>
        </p:spPr>
        <p:txBody>
          <a:bodyPr lIns="0" tIns="0" rIns="0" bIns="0" rtlCol="0" anchor="t">
            <a:spAutoFit/>
          </a:bodyPr>
          <a:lstStyle/>
          <a:p>
            <a:pPr>
              <a:lnSpc>
                <a:spcPts val="2880"/>
              </a:lnSpc>
            </a:pPr>
            <a:r>
              <a:rPr lang="en-US" sz="2400" b="1">
                <a:solidFill>
                  <a:srgbClr val="119303"/>
                </a:solidFill>
                <a:latin typeface="Arial Bold"/>
                <a:ea typeface="Arial Bold"/>
                <a:cs typeface="Arial Bold"/>
                <a:sym typeface="Arial Bold"/>
              </a:rPr>
              <a:t>4. Biểu mẫu KPI 2026</a:t>
            </a:r>
          </a:p>
        </p:txBody>
      </p:sp>
      <p:sp>
        <p:nvSpPr>
          <p:cNvPr id="10" name="TextBox 10">
            <a:extLst>
              <a:ext uri="{FF2B5EF4-FFF2-40B4-BE49-F238E27FC236}">
                <a16:creationId xmlns:a16="http://schemas.microsoft.com/office/drawing/2014/main" id="{FD1ED860-2CAB-6ABC-042C-9EA9EB35AAEF}"/>
              </a:ext>
            </a:extLst>
          </p:cNvPr>
          <p:cNvSpPr txBox="1"/>
          <p:nvPr/>
        </p:nvSpPr>
        <p:spPr>
          <a:xfrm>
            <a:off x="200297" y="625475"/>
            <a:ext cx="11828379" cy="307777"/>
          </a:xfrm>
          <a:prstGeom prst="rect">
            <a:avLst/>
          </a:prstGeom>
        </p:spPr>
        <p:txBody>
          <a:bodyPr lIns="0" tIns="0" rIns="0" bIns="0" rtlCol="0" anchor="t">
            <a:spAutoFit/>
          </a:bodyPr>
          <a:lstStyle/>
          <a:p>
            <a:pPr>
              <a:lnSpc>
                <a:spcPts val="2400"/>
              </a:lnSpc>
            </a:pPr>
            <a:r>
              <a:rPr lang="en-US" sz="2000" b="1">
                <a:solidFill>
                  <a:srgbClr val="39618E"/>
                </a:solidFill>
                <a:latin typeface="Arial Bold"/>
                <a:ea typeface="Arial Bold"/>
                <a:cs typeface="Arial Bold"/>
                <a:sym typeface="Arial Bold"/>
              </a:rPr>
              <a:t>4.2 Phụ lục kế hoạch thực hiện</a:t>
            </a:r>
          </a:p>
        </p:txBody>
      </p:sp>
      <p:graphicFrame>
        <p:nvGraphicFramePr>
          <p:cNvPr id="2" name="Table 1">
            <a:extLst>
              <a:ext uri="{FF2B5EF4-FFF2-40B4-BE49-F238E27FC236}">
                <a16:creationId xmlns:a16="http://schemas.microsoft.com/office/drawing/2014/main" id="{1C73CFE6-392D-AADB-E35E-5B9D594FAD88}"/>
              </a:ext>
            </a:extLst>
          </p:cNvPr>
          <p:cNvGraphicFramePr>
            <a:graphicFrameLocks noGrp="1"/>
          </p:cNvGraphicFramePr>
          <p:nvPr/>
        </p:nvGraphicFramePr>
        <p:xfrm>
          <a:off x="200296" y="1018223"/>
          <a:ext cx="11828380" cy="5354635"/>
        </p:xfrm>
        <a:graphic>
          <a:graphicData uri="http://schemas.openxmlformats.org/drawingml/2006/table">
            <a:tbl>
              <a:tblPr/>
              <a:tblGrid>
                <a:gridCol w="456433">
                  <a:extLst>
                    <a:ext uri="{9D8B030D-6E8A-4147-A177-3AD203B41FA5}">
                      <a16:colId xmlns:a16="http://schemas.microsoft.com/office/drawing/2014/main" val="864180889"/>
                    </a:ext>
                  </a:extLst>
                </a:gridCol>
                <a:gridCol w="456433">
                  <a:extLst>
                    <a:ext uri="{9D8B030D-6E8A-4147-A177-3AD203B41FA5}">
                      <a16:colId xmlns:a16="http://schemas.microsoft.com/office/drawing/2014/main" val="2111625345"/>
                    </a:ext>
                  </a:extLst>
                </a:gridCol>
                <a:gridCol w="3078486">
                  <a:extLst>
                    <a:ext uri="{9D8B030D-6E8A-4147-A177-3AD203B41FA5}">
                      <a16:colId xmlns:a16="http://schemas.microsoft.com/office/drawing/2014/main" val="4147390981"/>
                    </a:ext>
                  </a:extLst>
                </a:gridCol>
                <a:gridCol w="2680322">
                  <a:extLst>
                    <a:ext uri="{9D8B030D-6E8A-4147-A177-3AD203B41FA5}">
                      <a16:colId xmlns:a16="http://schemas.microsoft.com/office/drawing/2014/main" val="1718249062"/>
                    </a:ext>
                  </a:extLst>
                </a:gridCol>
                <a:gridCol w="1048821">
                  <a:extLst>
                    <a:ext uri="{9D8B030D-6E8A-4147-A177-3AD203B41FA5}">
                      <a16:colId xmlns:a16="http://schemas.microsoft.com/office/drawing/2014/main" val="454008360"/>
                    </a:ext>
                  </a:extLst>
                </a:gridCol>
                <a:gridCol w="553545">
                  <a:extLst>
                    <a:ext uri="{9D8B030D-6E8A-4147-A177-3AD203B41FA5}">
                      <a16:colId xmlns:a16="http://schemas.microsoft.com/office/drawing/2014/main" val="1117351109"/>
                    </a:ext>
                  </a:extLst>
                </a:gridCol>
                <a:gridCol w="1340161">
                  <a:extLst>
                    <a:ext uri="{9D8B030D-6E8A-4147-A177-3AD203B41FA5}">
                      <a16:colId xmlns:a16="http://schemas.microsoft.com/office/drawing/2014/main" val="2924576816"/>
                    </a:ext>
                  </a:extLst>
                </a:gridCol>
                <a:gridCol w="611813">
                  <a:extLst>
                    <a:ext uri="{9D8B030D-6E8A-4147-A177-3AD203B41FA5}">
                      <a16:colId xmlns:a16="http://schemas.microsoft.com/office/drawing/2014/main" val="4068102555"/>
                    </a:ext>
                  </a:extLst>
                </a:gridCol>
                <a:gridCol w="1602366">
                  <a:extLst>
                    <a:ext uri="{9D8B030D-6E8A-4147-A177-3AD203B41FA5}">
                      <a16:colId xmlns:a16="http://schemas.microsoft.com/office/drawing/2014/main" val="3201353903"/>
                    </a:ext>
                  </a:extLst>
                </a:gridCol>
              </a:tblGrid>
              <a:tr h="435235">
                <a:tc rowSpan="2" gridSpan="2">
                  <a:txBody>
                    <a:bodyPr/>
                    <a:lstStyle/>
                    <a:p>
                      <a:pPr algn="ctr" fontAlgn="ctr">
                        <a:buNone/>
                      </a:pPr>
                      <a:r>
                        <a:rPr lang="en-US" sz="2400" b="1" i="0" u="none" strike="noStrike">
                          <a:solidFill>
                            <a:srgbClr val="203764"/>
                          </a:solidFill>
                          <a:effectLst/>
                          <a:latin typeface="Calibri" panose="020F0502020204030204" pitchFamily="34" charset="0"/>
                        </a:rPr>
                        <a:t>(logo)</a:t>
                      </a:r>
                    </a:p>
                  </a:txBody>
                  <a:tcPr marL="0" marR="0" marT="0" marB="0" anchor="ctr">
                    <a:lnL w="6350" cap="flat" cmpd="sng" algn="ctr">
                      <a:solidFill>
                        <a:srgbClr val="0C769E"/>
                      </a:solidFill>
                      <a:prstDash val="solid"/>
                      <a:round/>
                      <a:headEnd type="none" w="med" len="med"/>
                      <a:tailEnd type="none" w="med" len="med"/>
                    </a:lnL>
                    <a:lnR>
                      <a:noFill/>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FFFFFF"/>
                    </a:solidFill>
                  </a:tcPr>
                </a:tc>
                <a:tc rowSpan="2" hMerge="1">
                  <a:txBody>
                    <a:bodyPr/>
                    <a:lstStyle/>
                    <a:p>
                      <a:endParaRPr lang="en-US"/>
                    </a:p>
                  </a:txBody>
                  <a:tcPr/>
                </a:tc>
                <a:tc gridSpan="7">
                  <a:txBody>
                    <a:bodyPr/>
                    <a:lstStyle/>
                    <a:p>
                      <a:pPr algn="ctr" fontAlgn="ctr">
                        <a:buNone/>
                      </a:pPr>
                      <a:r>
                        <a:rPr lang="en-US" sz="2700" b="1" i="0" u="none" strike="noStrike">
                          <a:solidFill>
                            <a:srgbClr val="203764"/>
                          </a:solidFill>
                          <a:effectLst/>
                          <a:latin typeface="Calibri" panose="020F0502020204030204" pitchFamily="34" charset="0"/>
                        </a:rPr>
                        <a:t>KPI 2026 - PHỤ LỤC KẾ HOẠCH THỰC HIỆN KPI/PI SỐ ….</a:t>
                      </a:r>
                    </a:p>
                  </a:txBody>
                  <a:tcPr marL="0" marR="0" marT="0" marB="0" anchor="ctr">
                    <a:lnL>
                      <a:noFill/>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a:noFill/>
                    </a:lnB>
                    <a:solidFill>
                      <a:srgbClr val="BDD7E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28949628"/>
                  </a:ext>
                </a:extLst>
              </a:tr>
              <a:tr h="318655">
                <a:tc gridSpan="2" vMerge="1">
                  <a:txBody>
                    <a:bodyPr/>
                    <a:lstStyle/>
                    <a:p>
                      <a:endParaRPr lang="en-US"/>
                    </a:p>
                  </a:txBody>
                  <a:tcPr/>
                </a:tc>
                <a:tc hMerge="1" vMerge="1">
                  <a:txBody>
                    <a:bodyPr/>
                    <a:lstStyle/>
                    <a:p>
                      <a:endParaRPr lang="en-US"/>
                    </a:p>
                  </a:txBody>
                  <a:tcPr/>
                </a:tc>
                <a:tc>
                  <a:txBody>
                    <a:bodyPr/>
                    <a:lstStyle/>
                    <a:p>
                      <a:pPr algn="l" fontAlgn="ctr">
                        <a:buNone/>
                      </a:pPr>
                      <a:r>
                        <a:rPr lang="en-US" sz="1100" b="1" i="0" u="none" strike="noStrike">
                          <a:solidFill>
                            <a:srgbClr val="203764"/>
                          </a:solidFill>
                          <a:effectLst/>
                          <a:latin typeface="Calibri" panose="020F0502020204030204" pitchFamily="34" charset="0"/>
                        </a:rPr>
                        <a:t>Tên KPI/PI: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1100" b="1" i="0" u="none" strike="noStrike">
                          <a:solidFill>
                            <a:srgbClr val="203764"/>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11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ctr" fontAlgn="ctr">
                        <a:buNone/>
                      </a:pPr>
                      <a:r>
                        <a:rPr lang="en-US" sz="1100" b="1" i="0" u="none" strike="noStrike">
                          <a:solidFill>
                            <a:srgbClr val="FF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ctr" fontAlgn="ctr">
                        <a:buNone/>
                      </a:pPr>
                      <a:r>
                        <a:rPr lang="en-US" sz="11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1100" b="1" i="0" u="none" strike="noStrike">
                          <a:solidFill>
                            <a:srgbClr val="000000"/>
                          </a:solidFill>
                          <a:effectLst/>
                          <a:latin typeface="Calibri" panose="020F0502020204030204" pitchFamily="34" charset="0"/>
                        </a:rPr>
                        <a:t> </a:t>
                      </a:r>
                    </a:p>
                  </a:txBody>
                  <a:tcPr marL="0" marR="0" marT="0" marB="0" anchor="ctr">
                    <a:lnL>
                      <a:noFill/>
                    </a:lnL>
                    <a:lnR>
                      <a:noFill/>
                    </a:lnR>
                    <a:lnT>
                      <a:noFill/>
                    </a:lnT>
                    <a:lnB w="6350" cap="flat" cmpd="sng" algn="ctr">
                      <a:solidFill>
                        <a:srgbClr val="0C769E"/>
                      </a:solidFill>
                      <a:prstDash val="solid"/>
                      <a:round/>
                      <a:headEnd type="none" w="med" len="med"/>
                      <a:tailEnd type="none" w="med" len="med"/>
                    </a:lnB>
                    <a:solidFill>
                      <a:srgbClr val="DDEBF7"/>
                    </a:solidFill>
                  </a:tcPr>
                </a:tc>
                <a:tc>
                  <a:txBody>
                    <a:bodyPr/>
                    <a:lstStyle/>
                    <a:p>
                      <a:pPr algn="l" fontAlgn="ctr">
                        <a:buNone/>
                      </a:pPr>
                      <a:r>
                        <a:rPr lang="en-US" sz="1100" b="1" i="0" u="none" strike="noStrike">
                          <a:solidFill>
                            <a:srgbClr val="000000"/>
                          </a:solidFill>
                          <a:effectLst/>
                          <a:latin typeface="Calibri" panose="020F0502020204030204" pitchFamily="34" charset="0"/>
                        </a:rPr>
                        <a:t> </a:t>
                      </a:r>
                    </a:p>
                  </a:txBody>
                  <a:tcPr marL="0" marR="0" marT="0" marB="0" anchor="ctr">
                    <a:lnL>
                      <a:noFill/>
                    </a:lnL>
                    <a:lnR w="6350" cap="flat" cmpd="sng" algn="ctr">
                      <a:solidFill>
                        <a:srgbClr val="0C769E"/>
                      </a:solidFill>
                      <a:prstDash val="solid"/>
                      <a:round/>
                      <a:headEnd type="none" w="med" len="med"/>
                      <a:tailEnd type="none" w="med" len="med"/>
                    </a:lnR>
                    <a:lnT>
                      <a:noFill/>
                    </a:lnT>
                    <a:lnB w="6350" cap="flat" cmpd="sng" algn="ctr">
                      <a:solidFill>
                        <a:srgbClr val="0C769E"/>
                      </a:solidFill>
                      <a:prstDash val="solid"/>
                      <a:round/>
                      <a:headEnd type="none" w="med" len="med"/>
                      <a:tailEnd type="none" w="med" len="med"/>
                    </a:lnB>
                    <a:solidFill>
                      <a:srgbClr val="DDEBF7"/>
                    </a:solidFill>
                  </a:tcPr>
                </a:tc>
                <a:extLst>
                  <a:ext uri="{0D108BD9-81ED-4DB2-BD59-A6C34878D82A}">
                    <a16:rowId xmlns:a16="http://schemas.microsoft.com/office/drawing/2014/main" val="112340429"/>
                  </a:ext>
                </a:extLst>
              </a:tr>
              <a:tr h="592620">
                <a:tc>
                  <a:txBody>
                    <a:bodyPr/>
                    <a:lstStyle/>
                    <a:p>
                      <a:pPr algn="ctr" rtl="0" fontAlgn="ctr">
                        <a:buNone/>
                      </a:pPr>
                      <a:r>
                        <a:rPr lang="en-US" sz="1100" b="1" i="0" u="none" strike="noStrike">
                          <a:solidFill>
                            <a:srgbClr val="203764"/>
                          </a:solidFill>
                          <a:effectLst/>
                          <a:latin typeface="Calibri" panose="020F0502020204030204" pitchFamily="34" charset="0"/>
                        </a:rPr>
                        <a:t>STT</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gridSpan="2">
                  <a:txBody>
                    <a:bodyPr/>
                    <a:lstStyle/>
                    <a:p>
                      <a:pPr algn="ctr" rtl="0" fontAlgn="ctr">
                        <a:buNone/>
                      </a:pPr>
                      <a:r>
                        <a:rPr lang="en-US" sz="1100" b="1" i="0" u="none" strike="noStrike">
                          <a:solidFill>
                            <a:srgbClr val="203764"/>
                          </a:solidFill>
                          <a:effectLst/>
                          <a:latin typeface="Calibri" panose="020F0502020204030204" pitchFamily="34" charset="0"/>
                        </a:rPr>
                        <a:t>Hạng mục công việc chính</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hMerge="1">
                  <a:txBody>
                    <a:bodyPr/>
                    <a:lstStyle/>
                    <a:p>
                      <a:endParaRPr lang="en-US"/>
                    </a:p>
                  </a:txBody>
                  <a:tcPr/>
                </a:tc>
                <a:tc>
                  <a:txBody>
                    <a:bodyPr/>
                    <a:lstStyle/>
                    <a:p>
                      <a:pPr algn="ctr" rtl="0" fontAlgn="ctr">
                        <a:buNone/>
                      </a:pPr>
                      <a:r>
                        <a:rPr lang="en-US" sz="1100" b="1" i="0" u="none" strike="noStrike">
                          <a:solidFill>
                            <a:srgbClr val="203764"/>
                          </a:solidFill>
                          <a:effectLst/>
                          <a:latin typeface="Calibri" panose="020F0502020204030204" pitchFamily="34" charset="0"/>
                        </a:rPr>
                        <a:t>Kết quả đầu ra</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1100" b="1" i="0" u="none" strike="noStrike">
                          <a:solidFill>
                            <a:srgbClr val="203764"/>
                          </a:solidFill>
                          <a:effectLst/>
                          <a:latin typeface="Calibri" panose="020F0502020204030204" pitchFamily="34" charset="0"/>
                        </a:rPr>
                        <a:t>Thời gian hoàn thành</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1100" b="1" i="0" u="none" strike="noStrike">
                          <a:solidFill>
                            <a:srgbClr val="203764"/>
                          </a:solidFill>
                          <a:effectLst/>
                          <a:latin typeface="Calibri" panose="020F0502020204030204" pitchFamily="34" charset="0"/>
                        </a:rPr>
                        <a:t>Tỷ trọng</a:t>
                      </a:r>
                      <a:br>
                        <a:rPr lang="en-US" sz="1100" b="1" i="0" u="none" strike="noStrike">
                          <a:solidFill>
                            <a:srgbClr val="203764"/>
                          </a:solidFill>
                          <a:effectLst/>
                          <a:latin typeface="Calibri" panose="020F0502020204030204" pitchFamily="34" charset="0"/>
                        </a:rPr>
                      </a:br>
                      <a:r>
                        <a:rPr lang="en-US" sz="1100" b="1" i="0" u="none" strike="noStrike">
                          <a:solidFill>
                            <a:srgbClr val="203764"/>
                          </a:solidFill>
                          <a:effectLst/>
                          <a:latin typeface="Calibri" panose="020F0502020204030204" pitchFamily="34" charset="0"/>
                        </a:rPr>
                        <a:t>(nếu có)</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vi-VN" sz="1100" b="1" i="0" u="none" strike="noStrike">
                          <a:solidFill>
                            <a:srgbClr val="203764"/>
                          </a:solidFill>
                          <a:effectLst/>
                          <a:latin typeface="Calibri" panose="020F0502020204030204" pitchFamily="34" charset="0"/>
                        </a:rPr>
                        <a:t>Người phụ trách</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1100" b="1" i="0" u="none" strike="noStrike">
                          <a:solidFill>
                            <a:srgbClr val="203764"/>
                          </a:solidFill>
                          <a:effectLst/>
                          <a:latin typeface="Calibri" panose="020F0502020204030204" pitchFamily="34" charset="0"/>
                        </a:rPr>
                        <a:t>Trọng số</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tc>
                  <a:txBody>
                    <a:bodyPr/>
                    <a:lstStyle/>
                    <a:p>
                      <a:pPr algn="ctr" rtl="0" fontAlgn="ctr">
                        <a:buNone/>
                      </a:pPr>
                      <a:r>
                        <a:rPr lang="en-US" sz="1100" b="1" i="0" u="none" strike="noStrike">
                          <a:solidFill>
                            <a:srgbClr val="203764"/>
                          </a:solidFill>
                          <a:effectLst/>
                          <a:latin typeface="Calibri" panose="020F0502020204030204" pitchFamily="34" charset="0"/>
                        </a:rPr>
                        <a:t>Ghi chú</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solidFill>
                      <a:srgbClr val="BDD7EE"/>
                    </a:solidFill>
                  </a:tcPr>
                </a:tc>
                <a:extLst>
                  <a:ext uri="{0D108BD9-81ED-4DB2-BD59-A6C34878D82A}">
                    <a16:rowId xmlns:a16="http://schemas.microsoft.com/office/drawing/2014/main" val="4159830547"/>
                  </a:ext>
                </a:extLst>
              </a:tr>
              <a:tr h="487680">
                <a:tc>
                  <a:txBody>
                    <a:bodyPr/>
                    <a:lstStyle/>
                    <a:p>
                      <a:pPr algn="ctr" fontAlgn="ctr">
                        <a:buNone/>
                      </a:pPr>
                      <a:r>
                        <a:rPr lang="en-US" sz="1100" b="0" i="0" u="none" strike="noStrike">
                          <a:solidFill>
                            <a:srgbClr val="203764"/>
                          </a:solidFill>
                          <a:effectLst/>
                          <a:latin typeface="Calibri" panose="020F0502020204030204" pitchFamily="34" charset="0"/>
                        </a:rPr>
                        <a:t>1</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gridSpan="2">
                  <a:txBody>
                    <a:bodyPr/>
                    <a:lstStyle/>
                    <a:p>
                      <a:pPr algn="l" fontAlgn="ctr">
                        <a:buNone/>
                      </a:pPr>
                      <a:r>
                        <a:rPr lang="en-US" sz="1100" b="0" i="0" u="none" strike="noStrike">
                          <a:solidFill>
                            <a:srgbClr val="203764"/>
                          </a:solidFill>
                          <a:effectLst/>
                          <a:latin typeface="Calibri" panose="020F0502020204030204" pitchFamily="34" charset="0"/>
                        </a:rPr>
                        <a:t>Nên chia công việc cho 12 tháng để có kết quả báo cáo tháng</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hMerge="1">
                  <a:txBody>
                    <a:bodyPr/>
                    <a:lstStyle/>
                    <a:p>
                      <a:endParaRPr lang="en-US"/>
                    </a:p>
                  </a:txBody>
                  <a:tcPr/>
                </a:tc>
                <a:tc>
                  <a:txBody>
                    <a:bodyPr/>
                    <a:lstStyle/>
                    <a:p>
                      <a:pPr algn="ctr" fontAlgn="ctr">
                        <a:buNone/>
                      </a:pPr>
                      <a:r>
                        <a:rPr lang="en-US" sz="1100" b="0" i="0" u="none" strike="noStrike">
                          <a:solidFill>
                            <a:srgbClr val="203764"/>
                          </a:solidFill>
                          <a:effectLst/>
                          <a:latin typeface="Calibri" panose="020F0502020204030204" pitchFamily="34" charset="0"/>
                        </a:rPr>
                        <a:t>Đầu ra cụ thể để đánh giá</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31/1/2026</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10%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Nguyễn Văn A</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10%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Nếu không chia tỷ lệ thì kết quả tính theo số đầu mục công việc</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615057144"/>
                  </a:ext>
                </a:extLst>
              </a:tr>
              <a:tr h="318655">
                <a:tc>
                  <a:txBody>
                    <a:bodyPr/>
                    <a:lstStyle/>
                    <a:p>
                      <a:pPr algn="ctr" fontAlgn="ctr">
                        <a:buNone/>
                      </a:pPr>
                      <a:r>
                        <a:rPr lang="en-US" sz="1100" b="0" i="0" u="none" strike="noStrike">
                          <a:solidFill>
                            <a:srgbClr val="203764"/>
                          </a:solidFill>
                          <a:effectLst/>
                          <a:latin typeface="Calibri" panose="020F0502020204030204" pitchFamily="34" charset="0"/>
                        </a:rPr>
                        <a:t>2</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gridSpan="2">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hMerge="1">
                  <a:txBody>
                    <a:bodyPr/>
                    <a:lstStyle/>
                    <a:p>
                      <a:endParaRPr lang="en-US"/>
                    </a:p>
                  </a:txBody>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874217225"/>
                  </a:ext>
                </a:extLst>
              </a:tr>
              <a:tr h="318655">
                <a:tc>
                  <a:txBody>
                    <a:bodyPr/>
                    <a:lstStyle/>
                    <a:p>
                      <a:pPr algn="ctr" fontAlgn="ctr">
                        <a:buNone/>
                      </a:pPr>
                      <a:r>
                        <a:rPr lang="en-US" sz="1100" b="0" i="0" u="none" strike="noStrike">
                          <a:solidFill>
                            <a:srgbClr val="203764"/>
                          </a:solidFill>
                          <a:effectLst/>
                          <a:latin typeface="Calibri" panose="020F0502020204030204" pitchFamily="34" charset="0"/>
                        </a:rPr>
                        <a:t>3</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gridSpan="2">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hMerge="1">
                  <a:txBody>
                    <a:bodyPr/>
                    <a:lstStyle/>
                    <a:p>
                      <a:endParaRPr lang="en-US"/>
                    </a:p>
                  </a:txBody>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1421443631"/>
                  </a:ext>
                </a:extLst>
              </a:tr>
              <a:tr h="318655">
                <a:tc>
                  <a:txBody>
                    <a:bodyPr/>
                    <a:lstStyle/>
                    <a:p>
                      <a:pPr algn="ctr" fontAlgn="ctr">
                        <a:buNone/>
                      </a:pPr>
                      <a:r>
                        <a:rPr lang="en-US" sz="1100" b="0" i="0" u="none" strike="noStrike">
                          <a:solidFill>
                            <a:srgbClr val="203764"/>
                          </a:solidFill>
                          <a:effectLst/>
                          <a:latin typeface="Calibri" panose="020F0502020204030204" pitchFamily="34" charset="0"/>
                        </a:rPr>
                        <a:t>4</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gridSpan="2">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hMerge="1">
                  <a:txBody>
                    <a:bodyPr/>
                    <a:lstStyle/>
                    <a:p>
                      <a:endParaRPr lang="en-US"/>
                    </a:p>
                  </a:txBody>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2075927805"/>
                  </a:ext>
                </a:extLst>
              </a:tr>
              <a:tr h="318655">
                <a:tc>
                  <a:txBody>
                    <a:bodyPr/>
                    <a:lstStyle/>
                    <a:p>
                      <a:pPr algn="ctr" fontAlgn="ctr">
                        <a:buNone/>
                      </a:pPr>
                      <a:r>
                        <a:rPr lang="en-US" sz="1100" b="0" i="0" u="none" strike="noStrike">
                          <a:solidFill>
                            <a:srgbClr val="203764"/>
                          </a:solidFill>
                          <a:effectLst/>
                          <a:latin typeface="Calibri" panose="020F0502020204030204" pitchFamily="34" charset="0"/>
                        </a:rPr>
                        <a:t>5</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gridSpan="2">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hMerge="1">
                  <a:txBody>
                    <a:bodyPr/>
                    <a:lstStyle/>
                    <a:p>
                      <a:endParaRPr lang="en-US"/>
                    </a:p>
                  </a:txBody>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2920552704"/>
                  </a:ext>
                </a:extLst>
              </a:tr>
              <a:tr h="318655">
                <a:tc>
                  <a:txBody>
                    <a:bodyPr/>
                    <a:lstStyle/>
                    <a:p>
                      <a:pPr algn="ctr" fontAlgn="ctr">
                        <a:buNone/>
                      </a:pPr>
                      <a:r>
                        <a:rPr lang="en-US" sz="1100" b="0" i="0" u="none" strike="noStrike">
                          <a:solidFill>
                            <a:srgbClr val="203764"/>
                          </a:solidFill>
                          <a:effectLst/>
                          <a:latin typeface="Calibri" panose="020F0502020204030204" pitchFamily="34" charset="0"/>
                        </a:rPr>
                        <a:t>6</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gridSpan="2">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hMerge="1">
                  <a:txBody>
                    <a:bodyPr/>
                    <a:lstStyle/>
                    <a:p>
                      <a:endParaRPr lang="en-US"/>
                    </a:p>
                  </a:txBody>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3335097311"/>
                  </a:ext>
                </a:extLst>
              </a:tr>
              <a:tr h="318655">
                <a:tc>
                  <a:txBody>
                    <a:bodyPr/>
                    <a:lstStyle/>
                    <a:p>
                      <a:pPr algn="ctr" fontAlgn="ctr">
                        <a:buNone/>
                      </a:pPr>
                      <a:r>
                        <a:rPr lang="en-US" sz="1100" b="0" i="0" u="none" strike="noStrike">
                          <a:solidFill>
                            <a:srgbClr val="203764"/>
                          </a:solidFill>
                          <a:effectLst/>
                          <a:latin typeface="Calibri" panose="020F0502020204030204" pitchFamily="34" charset="0"/>
                        </a:rPr>
                        <a:t>7</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gridSpan="2">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hMerge="1">
                  <a:txBody>
                    <a:bodyPr/>
                    <a:lstStyle/>
                    <a:p>
                      <a:endParaRPr lang="en-US"/>
                    </a:p>
                  </a:txBody>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2575833141"/>
                  </a:ext>
                </a:extLst>
              </a:tr>
              <a:tr h="318655">
                <a:tc>
                  <a:txBody>
                    <a:bodyPr/>
                    <a:lstStyle/>
                    <a:p>
                      <a:pPr algn="ctr" fontAlgn="ctr">
                        <a:buNone/>
                      </a:pPr>
                      <a:r>
                        <a:rPr lang="en-US" sz="1100" b="0" i="0" u="none" strike="noStrike">
                          <a:solidFill>
                            <a:srgbClr val="203764"/>
                          </a:solidFill>
                          <a:effectLst/>
                          <a:latin typeface="Calibri" panose="020F0502020204030204" pitchFamily="34" charset="0"/>
                        </a:rPr>
                        <a:t>8</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gridSpan="2">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hMerge="1">
                  <a:txBody>
                    <a:bodyPr/>
                    <a:lstStyle/>
                    <a:p>
                      <a:endParaRPr lang="en-US"/>
                    </a:p>
                  </a:txBody>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3233763868"/>
                  </a:ext>
                </a:extLst>
              </a:tr>
              <a:tr h="318655">
                <a:tc>
                  <a:txBody>
                    <a:bodyPr/>
                    <a:lstStyle/>
                    <a:p>
                      <a:pPr algn="ctr" fontAlgn="ctr">
                        <a:buNone/>
                      </a:pPr>
                      <a:r>
                        <a:rPr lang="en-US" sz="1100" b="0" i="0" u="none" strike="noStrike">
                          <a:solidFill>
                            <a:srgbClr val="203764"/>
                          </a:solidFill>
                          <a:effectLst/>
                          <a:latin typeface="Calibri" panose="020F0502020204030204" pitchFamily="34" charset="0"/>
                        </a:rPr>
                        <a:t>9</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a:noFill/>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a:noFill/>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161758017"/>
                  </a:ext>
                </a:extLst>
              </a:tr>
              <a:tr h="318655">
                <a:tc>
                  <a:txBody>
                    <a:bodyPr/>
                    <a:lstStyle/>
                    <a:p>
                      <a:pPr algn="ctr" fontAlgn="ctr">
                        <a:buNone/>
                      </a:pPr>
                      <a:r>
                        <a:rPr lang="en-US" sz="1100" b="0" i="0" u="none" strike="noStrike">
                          <a:solidFill>
                            <a:srgbClr val="203764"/>
                          </a:solidFill>
                          <a:effectLst/>
                          <a:latin typeface="Calibri" panose="020F0502020204030204" pitchFamily="34" charset="0"/>
                        </a:rPr>
                        <a:t>10</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a:noFill/>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a:noFill/>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3439271505"/>
                  </a:ext>
                </a:extLst>
              </a:tr>
              <a:tr h="318655">
                <a:tc>
                  <a:txBody>
                    <a:bodyPr/>
                    <a:lstStyle/>
                    <a:p>
                      <a:pPr algn="ctr" fontAlgn="ctr">
                        <a:buNone/>
                      </a:pPr>
                      <a:r>
                        <a:rPr lang="en-US" sz="1100" b="0" i="0" u="none" strike="noStrike">
                          <a:solidFill>
                            <a:srgbClr val="203764"/>
                          </a:solidFill>
                          <a:effectLst/>
                          <a:latin typeface="Calibri" panose="020F0502020204030204" pitchFamily="34" charset="0"/>
                        </a:rPr>
                        <a:t>11</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a:noFill/>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a:noFill/>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220087960"/>
                  </a:ext>
                </a:extLst>
              </a:tr>
              <a:tr h="318655">
                <a:tc>
                  <a:txBody>
                    <a:bodyPr/>
                    <a:lstStyle/>
                    <a:p>
                      <a:pPr algn="ctr" fontAlgn="ctr">
                        <a:buNone/>
                      </a:pPr>
                      <a:r>
                        <a:rPr lang="en-US" sz="1100" b="0" i="0" u="none" strike="noStrike">
                          <a:solidFill>
                            <a:srgbClr val="203764"/>
                          </a:solidFill>
                          <a:effectLst/>
                          <a:latin typeface="Calibri" panose="020F0502020204030204" pitchFamily="34" charset="0"/>
                        </a:rPr>
                        <a:t>12</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gridSpan="2">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hMerge="1">
                  <a:txBody>
                    <a:bodyPr/>
                    <a:lstStyle/>
                    <a:p>
                      <a:endParaRPr lang="en-US"/>
                    </a:p>
                  </a:txBody>
                  <a:tcPr/>
                </a:tc>
                <a:tc>
                  <a:txBody>
                    <a:bodyPr/>
                    <a:lstStyle/>
                    <a:p>
                      <a:pPr algn="l"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tc>
                  <a:txBody>
                    <a:bodyPr/>
                    <a:lstStyle/>
                    <a:p>
                      <a:pPr algn="ctr" fontAlgn="ctr">
                        <a:buNone/>
                      </a:pPr>
                      <a:r>
                        <a:rPr lang="en-US" sz="1100" b="0" i="0" u="none" strike="noStrike">
                          <a:solidFill>
                            <a:srgbClr val="203764"/>
                          </a:solidFill>
                          <a:effectLst/>
                          <a:latin typeface="Calibri" panose="020F0502020204030204" pitchFamily="34" charset="0"/>
                        </a:rPr>
                        <a:t> </a:t>
                      </a:r>
                    </a:p>
                  </a:txBody>
                  <a:tcPr marL="0" marR="0" marT="0" marB="0" anchor="ctr">
                    <a:lnL w="6350" cap="flat" cmpd="sng" algn="ctr">
                      <a:solidFill>
                        <a:srgbClr val="0C769E"/>
                      </a:solidFill>
                      <a:prstDash val="solid"/>
                      <a:round/>
                      <a:headEnd type="none" w="med" len="med"/>
                      <a:tailEnd type="none" w="med" len="med"/>
                    </a:lnL>
                    <a:lnR w="6350" cap="flat" cmpd="sng" algn="ctr">
                      <a:solidFill>
                        <a:srgbClr val="0C769E"/>
                      </a:solidFill>
                      <a:prstDash val="solid"/>
                      <a:round/>
                      <a:headEnd type="none" w="med" len="med"/>
                      <a:tailEnd type="none" w="med" len="med"/>
                    </a:lnR>
                    <a:lnT w="6350" cap="flat" cmpd="sng" algn="ctr">
                      <a:solidFill>
                        <a:srgbClr val="0C769E"/>
                      </a:solidFill>
                      <a:prstDash val="solid"/>
                      <a:round/>
                      <a:headEnd type="none" w="med" len="med"/>
                      <a:tailEnd type="none" w="med" len="med"/>
                    </a:lnT>
                    <a:lnB w="6350" cap="flat" cmpd="sng" algn="ctr">
                      <a:solidFill>
                        <a:srgbClr val="0C769E"/>
                      </a:solidFill>
                      <a:prstDash val="solid"/>
                      <a:round/>
                      <a:headEnd type="none" w="med" len="med"/>
                      <a:tailEnd type="none" w="med" len="med"/>
                    </a:lnB>
                    <a:noFill/>
                  </a:tcPr>
                </a:tc>
                <a:extLst>
                  <a:ext uri="{0D108BD9-81ED-4DB2-BD59-A6C34878D82A}">
                    <a16:rowId xmlns:a16="http://schemas.microsoft.com/office/drawing/2014/main" val="188149154"/>
                  </a:ext>
                </a:extLst>
              </a:tr>
            </a:tbl>
          </a:graphicData>
        </a:graphic>
      </p:graphicFrame>
      <p:sp>
        <p:nvSpPr>
          <p:cNvPr id="3" name="Slide Number Placeholder 2">
            <a:extLst>
              <a:ext uri="{FF2B5EF4-FFF2-40B4-BE49-F238E27FC236}">
                <a16:creationId xmlns:a16="http://schemas.microsoft.com/office/drawing/2014/main" id="{FE61AEA8-808D-29C4-1927-6D3EBAF6A5D1}"/>
              </a:ext>
            </a:extLst>
          </p:cNvPr>
          <p:cNvSpPr>
            <a:spLocks noGrp="1"/>
          </p:cNvSpPr>
          <p:nvPr>
            <p:ph type="sldNum" sz="quarter" idx="12"/>
          </p:nvPr>
        </p:nvSpPr>
        <p:spPr/>
        <p:txBody>
          <a:bodyPr/>
          <a:lstStyle/>
          <a:p>
            <a:fld id="{06D5B5F9-488F-4DD3-845F-86795626F9DE}" type="slidenum">
              <a:rPr lang="en-US" smtClean="0"/>
              <a:t>7</a:t>
            </a:fld>
            <a:endParaRPr lang="en-US"/>
          </a:p>
        </p:txBody>
      </p:sp>
      <p:sp>
        <p:nvSpPr>
          <p:cNvPr id="11" name="TextBox 10">
            <a:extLst>
              <a:ext uri="{FF2B5EF4-FFF2-40B4-BE49-F238E27FC236}">
                <a16:creationId xmlns:a16="http://schemas.microsoft.com/office/drawing/2014/main" id="{27E87451-189F-23FD-9202-72A995B6752F}"/>
              </a:ext>
            </a:extLst>
          </p:cNvPr>
          <p:cNvSpPr txBox="1"/>
          <p:nvPr/>
        </p:nvSpPr>
        <p:spPr>
          <a:xfrm>
            <a:off x="11300038" y="6538912"/>
            <a:ext cx="830180" cy="307777"/>
          </a:xfrm>
          <a:prstGeom prst="rect">
            <a:avLst/>
          </a:prstGeom>
        </p:spPr>
        <p:txBody>
          <a:bodyPr wrap="square" lIns="0" tIns="0" rIns="0" bIns="0" rtlCol="0" anchor="t">
            <a:spAutoFit/>
          </a:bodyPr>
          <a:lstStyle/>
          <a:p>
            <a:pPr>
              <a:lnSpc>
                <a:spcPts val="2400"/>
              </a:lnSpc>
            </a:pPr>
            <a:r>
              <a:rPr lang="en-US" sz="2000" b="1">
                <a:solidFill>
                  <a:schemeClr val="bg1"/>
                </a:solidFill>
                <a:latin typeface="Arial Bold"/>
                <a:ea typeface="Arial Bold"/>
                <a:cs typeface="Arial Bold"/>
                <a:sym typeface="Arial Bold"/>
              </a:rPr>
              <a:t>8/11</a:t>
            </a:r>
          </a:p>
        </p:txBody>
      </p:sp>
    </p:spTree>
    <p:extLst>
      <p:ext uri="{BB962C8B-B14F-4D97-AF65-F5344CB8AC3E}">
        <p14:creationId xmlns:p14="http://schemas.microsoft.com/office/powerpoint/2010/main" val="75383086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EA029-AE43-C5B6-82F9-FCC26F7601B1}"/>
            </a:ext>
          </a:extLst>
        </p:cNvPr>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AACC7AC-AA3D-6D15-8362-9AD274D69E77}"/>
              </a:ext>
            </a:extLst>
          </p:cNvPr>
          <p:cNvCxnSpPr/>
          <p:nvPr/>
        </p:nvCxnSpPr>
        <p:spPr>
          <a:xfrm>
            <a:off x="350703" y="2483298"/>
            <a:ext cx="11490593" cy="0"/>
          </a:xfrm>
          <a:prstGeom prst="line">
            <a:avLst/>
          </a:prstGeom>
          <a:ln>
            <a:solidFill>
              <a:srgbClr val="7030A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F151804-9C12-BD42-A9E3-704407DAC6BE}"/>
              </a:ext>
            </a:extLst>
          </p:cNvPr>
          <p:cNvSpPr txBox="1"/>
          <p:nvPr/>
        </p:nvSpPr>
        <p:spPr>
          <a:xfrm>
            <a:off x="-27025" y="3351925"/>
            <a:ext cx="2091370" cy="369332"/>
          </a:xfrm>
          <a:prstGeom prst="rect">
            <a:avLst/>
          </a:prstGeom>
          <a:noFill/>
        </p:spPr>
        <p:txBody>
          <a:bodyPr wrap="square" rtlCol="0">
            <a:spAutoFit/>
          </a:bodyPr>
          <a:lstStyle/>
          <a:p>
            <a:pPr algn="ctr"/>
            <a:r>
              <a:rPr lang="en-US" b="1">
                <a:solidFill>
                  <a:srgbClr val="0070C0"/>
                </a:solidFill>
              </a:rPr>
              <a:t>Kickoff KPI</a:t>
            </a:r>
          </a:p>
        </p:txBody>
      </p:sp>
      <p:sp>
        <p:nvSpPr>
          <p:cNvPr id="12" name="TextBox 11">
            <a:extLst>
              <a:ext uri="{FF2B5EF4-FFF2-40B4-BE49-F238E27FC236}">
                <a16:creationId xmlns:a16="http://schemas.microsoft.com/office/drawing/2014/main" id="{2D4926E0-827A-917A-F887-822FD208338C}"/>
              </a:ext>
            </a:extLst>
          </p:cNvPr>
          <p:cNvSpPr txBox="1"/>
          <p:nvPr/>
        </p:nvSpPr>
        <p:spPr>
          <a:xfrm>
            <a:off x="1921979" y="3234502"/>
            <a:ext cx="2091370" cy="646331"/>
          </a:xfrm>
          <a:prstGeom prst="rect">
            <a:avLst/>
          </a:prstGeom>
          <a:noFill/>
        </p:spPr>
        <p:txBody>
          <a:bodyPr wrap="square" rtlCol="0">
            <a:spAutoFit/>
          </a:bodyPr>
          <a:lstStyle/>
          <a:p>
            <a:pPr algn="ctr"/>
            <a:r>
              <a:rPr lang="en-US" b="1">
                <a:solidFill>
                  <a:srgbClr val="0070C0"/>
                </a:solidFill>
              </a:rPr>
              <a:t>BGĐ gửi</a:t>
            </a:r>
          </a:p>
          <a:p>
            <a:pPr algn="ctr"/>
            <a:r>
              <a:rPr lang="en-US" b="1">
                <a:solidFill>
                  <a:srgbClr val="0070C0"/>
                </a:solidFill>
              </a:rPr>
              <a:t>KPI chuyên môn</a:t>
            </a:r>
          </a:p>
        </p:txBody>
      </p:sp>
      <p:sp>
        <p:nvSpPr>
          <p:cNvPr id="13" name="TextBox 12">
            <a:extLst>
              <a:ext uri="{FF2B5EF4-FFF2-40B4-BE49-F238E27FC236}">
                <a16:creationId xmlns:a16="http://schemas.microsoft.com/office/drawing/2014/main" id="{996BEF6B-4628-9830-3FE9-7AE0579EDF68}"/>
              </a:ext>
            </a:extLst>
          </p:cNvPr>
          <p:cNvSpPr txBox="1"/>
          <p:nvPr/>
        </p:nvSpPr>
        <p:spPr>
          <a:xfrm>
            <a:off x="4194099" y="3213425"/>
            <a:ext cx="2091370" cy="646331"/>
          </a:xfrm>
          <a:prstGeom prst="rect">
            <a:avLst/>
          </a:prstGeom>
          <a:noFill/>
        </p:spPr>
        <p:txBody>
          <a:bodyPr wrap="square" rtlCol="0">
            <a:spAutoFit/>
          </a:bodyPr>
          <a:lstStyle/>
          <a:p>
            <a:pPr algn="ctr"/>
            <a:r>
              <a:rPr lang="en-US" b="1">
                <a:solidFill>
                  <a:srgbClr val="0070C0"/>
                </a:solidFill>
              </a:rPr>
              <a:t>Cung cấp số liệu 2025, chỉ tiêu 2026</a:t>
            </a:r>
          </a:p>
        </p:txBody>
      </p:sp>
      <p:sp>
        <p:nvSpPr>
          <p:cNvPr id="14" name="TextBox 13">
            <a:extLst>
              <a:ext uri="{FF2B5EF4-FFF2-40B4-BE49-F238E27FC236}">
                <a16:creationId xmlns:a16="http://schemas.microsoft.com/office/drawing/2014/main" id="{88FA96E0-6142-A458-F00E-5DC0E32C44B7}"/>
              </a:ext>
            </a:extLst>
          </p:cNvPr>
          <p:cNvSpPr txBox="1"/>
          <p:nvPr/>
        </p:nvSpPr>
        <p:spPr>
          <a:xfrm>
            <a:off x="8121205" y="3260485"/>
            <a:ext cx="2091370" cy="369332"/>
          </a:xfrm>
          <a:prstGeom prst="rect">
            <a:avLst/>
          </a:prstGeom>
          <a:noFill/>
        </p:spPr>
        <p:txBody>
          <a:bodyPr wrap="square" rtlCol="0">
            <a:spAutoFit/>
          </a:bodyPr>
          <a:lstStyle/>
          <a:p>
            <a:pPr algn="ctr"/>
            <a:r>
              <a:rPr lang="en-US" b="1">
                <a:solidFill>
                  <a:srgbClr val="0070C0"/>
                </a:solidFill>
              </a:rPr>
              <a:t>Trình kí bản cứng</a:t>
            </a:r>
          </a:p>
        </p:txBody>
      </p:sp>
      <p:sp>
        <p:nvSpPr>
          <p:cNvPr id="16" name="TextBox 15">
            <a:extLst>
              <a:ext uri="{FF2B5EF4-FFF2-40B4-BE49-F238E27FC236}">
                <a16:creationId xmlns:a16="http://schemas.microsoft.com/office/drawing/2014/main" id="{868D8D2C-7669-ACBE-DD0F-6F63A79D4926}"/>
              </a:ext>
            </a:extLst>
          </p:cNvPr>
          <p:cNvSpPr txBox="1"/>
          <p:nvPr/>
        </p:nvSpPr>
        <p:spPr>
          <a:xfrm>
            <a:off x="10201795" y="3247157"/>
            <a:ext cx="2091370" cy="369332"/>
          </a:xfrm>
          <a:prstGeom prst="rect">
            <a:avLst/>
          </a:prstGeom>
          <a:noFill/>
        </p:spPr>
        <p:txBody>
          <a:bodyPr wrap="square" rtlCol="0">
            <a:spAutoFit/>
          </a:bodyPr>
          <a:lstStyle/>
          <a:p>
            <a:pPr algn="ctr"/>
            <a:r>
              <a:rPr lang="en-US" b="1">
                <a:solidFill>
                  <a:srgbClr val="0070C0"/>
                </a:solidFill>
              </a:rPr>
              <a:t>Thiết lập lên PMS</a:t>
            </a:r>
          </a:p>
        </p:txBody>
      </p:sp>
      <p:sp>
        <p:nvSpPr>
          <p:cNvPr id="19" name="Rectangle 18">
            <a:extLst>
              <a:ext uri="{FF2B5EF4-FFF2-40B4-BE49-F238E27FC236}">
                <a16:creationId xmlns:a16="http://schemas.microsoft.com/office/drawing/2014/main" id="{463BF752-F51F-47DB-EF12-28A8B01F79DF}"/>
              </a:ext>
            </a:extLst>
          </p:cNvPr>
          <p:cNvSpPr/>
          <p:nvPr/>
        </p:nvSpPr>
        <p:spPr>
          <a:xfrm>
            <a:off x="205951" y="1695544"/>
            <a:ext cx="1646606" cy="477054"/>
          </a:xfrm>
          <a:prstGeom prst="rect">
            <a:avLst/>
          </a:prstGeom>
          <a:noFill/>
        </p:spPr>
        <p:txBody>
          <a:bodyPr wrap="none" lIns="91440" tIns="45720" rIns="91440" bIns="45720">
            <a:spAutoFit/>
          </a:bodyPr>
          <a:lstStyle/>
          <a:p>
            <a:pPr algn="ctr"/>
            <a:r>
              <a:rPr lang="en-US" sz="2500" b="1">
                <a:ln w="0"/>
                <a:solidFill>
                  <a:srgbClr val="0070C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18/12/2025</a:t>
            </a:r>
            <a:endParaRPr lang="en-US" sz="2500" b="1" cap="none" spc="0">
              <a:ln w="0"/>
              <a:solidFill>
                <a:srgbClr val="0070C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D04CF838-1404-E4D9-3B4A-8AA6932881F8}"/>
              </a:ext>
            </a:extLst>
          </p:cNvPr>
          <p:cNvSpPr/>
          <p:nvPr/>
        </p:nvSpPr>
        <p:spPr>
          <a:xfrm>
            <a:off x="2224701" y="1695544"/>
            <a:ext cx="1646606" cy="477054"/>
          </a:xfrm>
          <a:prstGeom prst="rect">
            <a:avLst/>
          </a:prstGeom>
          <a:noFill/>
        </p:spPr>
        <p:txBody>
          <a:bodyPr wrap="none" lIns="91440" tIns="45720" rIns="91440" bIns="45720">
            <a:spAutoFit/>
          </a:bodyPr>
          <a:lstStyle/>
          <a:p>
            <a:pPr algn="ctr"/>
            <a:r>
              <a:rPr lang="en-US" sz="2500" b="1">
                <a:ln w="0"/>
                <a:solidFill>
                  <a:srgbClr val="0070C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25/12/2025</a:t>
            </a:r>
          </a:p>
        </p:txBody>
      </p:sp>
      <p:sp>
        <p:nvSpPr>
          <p:cNvPr id="21" name="Rectangle 20">
            <a:extLst>
              <a:ext uri="{FF2B5EF4-FFF2-40B4-BE49-F238E27FC236}">
                <a16:creationId xmlns:a16="http://schemas.microsoft.com/office/drawing/2014/main" id="{932CB9B1-4BE7-A1C8-3414-37C9CB502E3A}"/>
              </a:ext>
            </a:extLst>
          </p:cNvPr>
          <p:cNvSpPr/>
          <p:nvPr/>
        </p:nvSpPr>
        <p:spPr>
          <a:xfrm>
            <a:off x="4318823" y="1717226"/>
            <a:ext cx="1646606" cy="477054"/>
          </a:xfrm>
          <a:prstGeom prst="rect">
            <a:avLst/>
          </a:prstGeom>
          <a:noFill/>
        </p:spPr>
        <p:txBody>
          <a:bodyPr wrap="none" lIns="91440" tIns="45720" rIns="91440" bIns="45720">
            <a:spAutoFit/>
          </a:bodyPr>
          <a:lstStyle/>
          <a:p>
            <a:pPr algn="ctr"/>
            <a:r>
              <a:rPr lang="en-US" sz="2500" b="1" cap="none" spc="0">
                <a:ln w="0"/>
                <a:solidFill>
                  <a:srgbClr val="0070C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31/12/2025</a:t>
            </a:r>
          </a:p>
        </p:txBody>
      </p:sp>
      <p:sp>
        <p:nvSpPr>
          <p:cNvPr id="22" name="Rectangle 21">
            <a:extLst>
              <a:ext uri="{FF2B5EF4-FFF2-40B4-BE49-F238E27FC236}">
                <a16:creationId xmlns:a16="http://schemas.microsoft.com/office/drawing/2014/main" id="{FE13D55A-C56C-53CC-E1C6-08E7AE89C2E8}"/>
              </a:ext>
            </a:extLst>
          </p:cNvPr>
          <p:cNvSpPr/>
          <p:nvPr/>
        </p:nvSpPr>
        <p:spPr>
          <a:xfrm>
            <a:off x="8270280" y="1706383"/>
            <a:ext cx="1646606" cy="477054"/>
          </a:xfrm>
          <a:prstGeom prst="rect">
            <a:avLst/>
          </a:prstGeom>
          <a:noFill/>
        </p:spPr>
        <p:txBody>
          <a:bodyPr wrap="none" lIns="91440" tIns="45720" rIns="91440" bIns="45720">
            <a:spAutoFit/>
          </a:bodyPr>
          <a:lstStyle/>
          <a:p>
            <a:pPr algn="ctr"/>
            <a:r>
              <a:rPr lang="en-US" sz="2500" b="1">
                <a:ln w="0"/>
                <a:solidFill>
                  <a:srgbClr val="0070C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22/01/2026</a:t>
            </a:r>
            <a:endParaRPr lang="en-US" sz="2500" b="1" cap="none" spc="0">
              <a:ln w="0"/>
              <a:solidFill>
                <a:srgbClr val="0070C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0E1DEC0B-0463-41A4-24C0-20D5DCEEE351}"/>
              </a:ext>
            </a:extLst>
          </p:cNvPr>
          <p:cNvSpPr/>
          <p:nvPr/>
        </p:nvSpPr>
        <p:spPr>
          <a:xfrm>
            <a:off x="10344314" y="1717226"/>
            <a:ext cx="1646606" cy="477054"/>
          </a:xfrm>
          <a:prstGeom prst="rect">
            <a:avLst/>
          </a:prstGeom>
          <a:noFill/>
        </p:spPr>
        <p:txBody>
          <a:bodyPr wrap="none" lIns="91440" tIns="45720" rIns="91440" bIns="45720">
            <a:spAutoFit/>
          </a:bodyPr>
          <a:lstStyle/>
          <a:p>
            <a:pPr algn="ctr"/>
            <a:r>
              <a:rPr lang="en-US" sz="2500" b="1">
                <a:ln w="0"/>
                <a:solidFill>
                  <a:srgbClr val="0070C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31/01/2025</a:t>
            </a:r>
            <a:endParaRPr lang="en-US" sz="2500" b="1" cap="none" spc="0">
              <a:ln w="0"/>
              <a:solidFill>
                <a:srgbClr val="0070C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55128F37-396A-EA91-91B3-39EF5F2C2A11}"/>
              </a:ext>
            </a:extLst>
          </p:cNvPr>
          <p:cNvSpPr/>
          <p:nvPr/>
        </p:nvSpPr>
        <p:spPr>
          <a:xfrm rot="18802725">
            <a:off x="866981" y="2299644"/>
            <a:ext cx="304799" cy="3265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1141FC9-4A95-E51B-C940-35AC4946AB7C}"/>
              </a:ext>
            </a:extLst>
          </p:cNvPr>
          <p:cNvSpPr/>
          <p:nvPr/>
        </p:nvSpPr>
        <p:spPr>
          <a:xfrm rot="18802725">
            <a:off x="2796172" y="2299645"/>
            <a:ext cx="304799" cy="3265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D5150C7-F7C3-44BA-5C43-8030F5131659}"/>
              </a:ext>
            </a:extLst>
          </p:cNvPr>
          <p:cNvSpPr/>
          <p:nvPr/>
        </p:nvSpPr>
        <p:spPr>
          <a:xfrm rot="18802725">
            <a:off x="4986327" y="2299644"/>
            <a:ext cx="304799" cy="3265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9ACF5D0-0A7B-70C6-EFE4-18D2F4FFDF32}"/>
              </a:ext>
            </a:extLst>
          </p:cNvPr>
          <p:cNvSpPr/>
          <p:nvPr/>
        </p:nvSpPr>
        <p:spPr>
          <a:xfrm rot="18802725">
            <a:off x="8941182" y="2299645"/>
            <a:ext cx="304799" cy="3265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26680E3-907E-7E8E-A786-1DD3E8694B23}"/>
              </a:ext>
            </a:extLst>
          </p:cNvPr>
          <p:cNvSpPr/>
          <p:nvPr/>
        </p:nvSpPr>
        <p:spPr>
          <a:xfrm rot="18802725">
            <a:off x="11038061" y="2288802"/>
            <a:ext cx="304799" cy="3265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276D50E0-C046-C2A4-C35D-942796A5B7E6}"/>
              </a:ext>
            </a:extLst>
          </p:cNvPr>
          <p:cNvCxnSpPr/>
          <p:nvPr/>
        </p:nvCxnSpPr>
        <p:spPr>
          <a:xfrm>
            <a:off x="1030007" y="2685844"/>
            <a:ext cx="0" cy="50367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7E99CA7-9A4C-F1D2-7E93-E64312253899}"/>
              </a:ext>
            </a:extLst>
          </p:cNvPr>
          <p:cNvCxnSpPr/>
          <p:nvPr/>
        </p:nvCxnSpPr>
        <p:spPr>
          <a:xfrm>
            <a:off x="2967664" y="2685844"/>
            <a:ext cx="0" cy="50367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CDC818EF-A875-4F29-4B52-E57EA21012B3}"/>
              </a:ext>
            </a:extLst>
          </p:cNvPr>
          <p:cNvCxnSpPr/>
          <p:nvPr/>
        </p:nvCxnSpPr>
        <p:spPr>
          <a:xfrm>
            <a:off x="5154864" y="2685844"/>
            <a:ext cx="0" cy="50367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F04E5BEB-0EA4-413D-463A-54DFB21CA994}"/>
              </a:ext>
            </a:extLst>
          </p:cNvPr>
          <p:cNvCxnSpPr/>
          <p:nvPr/>
        </p:nvCxnSpPr>
        <p:spPr>
          <a:xfrm>
            <a:off x="9115750" y="2685844"/>
            <a:ext cx="0" cy="50367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89F508A5-814F-ED11-4C5F-35ACE57FCE82}"/>
              </a:ext>
            </a:extLst>
          </p:cNvPr>
          <p:cNvCxnSpPr/>
          <p:nvPr/>
        </p:nvCxnSpPr>
        <p:spPr>
          <a:xfrm>
            <a:off x="11205807" y="2685844"/>
            <a:ext cx="0" cy="50367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F8CD43ED-C3FC-61DA-C6DB-56BFDFF5EBCC}"/>
              </a:ext>
            </a:extLst>
          </p:cNvPr>
          <p:cNvSpPr txBox="1"/>
          <p:nvPr/>
        </p:nvSpPr>
        <p:spPr>
          <a:xfrm>
            <a:off x="3937530" y="4215756"/>
            <a:ext cx="2604508" cy="646331"/>
          </a:xfrm>
          <a:prstGeom prst="rect">
            <a:avLst/>
          </a:prstGeom>
          <a:noFill/>
        </p:spPr>
        <p:txBody>
          <a:bodyPr wrap="square" rtlCol="0">
            <a:spAutoFit/>
          </a:bodyPr>
          <a:lstStyle/>
          <a:p>
            <a:pPr algn="ctr"/>
            <a:r>
              <a:rPr lang="en-US" b="1">
                <a:solidFill>
                  <a:srgbClr val="0070C0"/>
                </a:solidFill>
              </a:rPr>
              <a:t>Diễm KTQT cung cấp</a:t>
            </a:r>
          </a:p>
          <a:p>
            <a:pPr algn="ctr"/>
            <a:r>
              <a:rPr lang="en-US" b="1">
                <a:solidFill>
                  <a:srgbClr val="0070C0"/>
                </a:solidFill>
              </a:rPr>
              <a:t>Ban KPI gửi BGĐ</a:t>
            </a:r>
          </a:p>
        </p:txBody>
      </p:sp>
      <p:sp>
        <p:nvSpPr>
          <p:cNvPr id="4" name="TextBox 3">
            <a:extLst>
              <a:ext uri="{FF2B5EF4-FFF2-40B4-BE49-F238E27FC236}">
                <a16:creationId xmlns:a16="http://schemas.microsoft.com/office/drawing/2014/main" id="{B2E98C01-2685-2BF8-C426-67AAC244F040}"/>
              </a:ext>
            </a:extLst>
          </p:cNvPr>
          <p:cNvSpPr txBox="1"/>
          <p:nvPr/>
        </p:nvSpPr>
        <p:spPr>
          <a:xfrm>
            <a:off x="7853856" y="4225918"/>
            <a:ext cx="2604508" cy="369332"/>
          </a:xfrm>
          <a:prstGeom prst="rect">
            <a:avLst/>
          </a:prstGeom>
          <a:noFill/>
        </p:spPr>
        <p:txBody>
          <a:bodyPr wrap="square" rtlCol="0">
            <a:spAutoFit/>
          </a:bodyPr>
          <a:lstStyle/>
          <a:p>
            <a:pPr algn="ctr"/>
            <a:r>
              <a:rPr lang="en-US" b="1">
                <a:solidFill>
                  <a:srgbClr val="0070C0"/>
                </a:solidFill>
              </a:rPr>
              <a:t>Ban KPI</a:t>
            </a:r>
          </a:p>
        </p:txBody>
      </p:sp>
      <p:sp>
        <p:nvSpPr>
          <p:cNvPr id="5" name="TextBox 4">
            <a:extLst>
              <a:ext uri="{FF2B5EF4-FFF2-40B4-BE49-F238E27FC236}">
                <a16:creationId xmlns:a16="http://schemas.microsoft.com/office/drawing/2014/main" id="{486325A1-34F3-4789-C318-8839075C41C7}"/>
              </a:ext>
            </a:extLst>
          </p:cNvPr>
          <p:cNvSpPr txBox="1"/>
          <p:nvPr/>
        </p:nvSpPr>
        <p:spPr>
          <a:xfrm>
            <a:off x="10113658" y="4184487"/>
            <a:ext cx="2604508" cy="369332"/>
          </a:xfrm>
          <a:prstGeom prst="rect">
            <a:avLst/>
          </a:prstGeom>
          <a:noFill/>
        </p:spPr>
        <p:txBody>
          <a:bodyPr wrap="square" rtlCol="0">
            <a:spAutoFit/>
          </a:bodyPr>
          <a:lstStyle/>
          <a:p>
            <a:pPr algn="ctr"/>
            <a:r>
              <a:rPr lang="en-US" b="1">
                <a:solidFill>
                  <a:srgbClr val="0070C0"/>
                </a:solidFill>
              </a:rPr>
              <a:t>BGĐ/TP</a:t>
            </a:r>
          </a:p>
        </p:txBody>
      </p:sp>
      <p:sp>
        <p:nvSpPr>
          <p:cNvPr id="6" name="TextBox 5">
            <a:extLst>
              <a:ext uri="{FF2B5EF4-FFF2-40B4-BE49-F238E27FC236}">
                <a16:creationId xmlns:a16="http://schemas.microsoft.com/office/drawing/2014/main" id="{417897B9-C2A2-FB90-F161-64BBD82020AC}"/>
              </a:ext>
            </a:extLst>
          </p:cNvPr>
          <p:cNvSpPr txBox="1"/>
          <p:nvPr/>
        </p:nvSpPr>
        <p:spPr>
          <a:xfrm>
            <a:off x="1667985" y="4202672"/>
            <a:ext cx="2604508" cy="369332"/>
          </a:xfrm>
          <a:prstGeom prst="rect">
            <a:avLst/>
          </a:prstGeom>
          <a:noFill/>
        </p:spPr>
        <p:txBody>
          <a:bodyPr wrap="square" rtlCol="0">
            <a:spAutoFit/>
          </a:bodyPr>
          <a:lstStyle/>
          <a:p>
            <a:pPr algn="ctr"/>
            <a:r>
              <a:rPr lang="en-US" b="1">
                <a:solidFill>
                  <a:srgbClr val="0070C0"/>
                </a:solidFill>
              </a:rPr>
              <a:t>BGĐ</a:t>
            </a:r>
          </a:p>
        </p:txBody>
      </p:sp>
      <p:sp>
        <p:nvSpPr>
          <p:cNvPr id="7" name="TextBox 6">
            <a:extLst>
              <a:ext uri="{FF2B5EF4-FFF2-40B4-BE49-F238E27FC236}">
                <a16:creationId xmlns:a16="http://schemas.microsoft.com/office/drawing/2014/main" id="{92106661-1AB5-D139-9A55-25E1CE691F82}"/>
              </a:ext>
            </a:extLst>
          </p:cNvPr>
          <p:cNvSpPr txBox="1"/>
          <p:nvPr/>
        </p:nvSpPr>
        <p:spPr>
          <a:xfrm>
            <a:off x="31856" y="4338757"/>
            <a:ext cx="1146596" cy="369332"/>
          </a:xfrm>
          <a:prstGeom prst="rect">
            <a:avLst/>
          </a:prstGeom>
          <a:noFill/>
        </p:spPr>
        <p:txBody>
          <a:bodyPr wrap="square" rtlCol="0">
            <a:spAutoFit/>
          </a:bodyPr>
          <a:lstStyle/>
          <a:p>
            <a:pPr algn="ctr"/>
            <a:r>
              <a:rPr lang="en-US" b="1">
                <a:solidFill>
                  <a:srgbClr val="FF0000"/>
                </a:solidFill>
              </a:rPr>
              <a:t>PIC</a:t>
            </a:r>
          </a:p>
        </p:txBody>
      </p:sp>
      <p:cxnSp>
        <p:nvCxnSpPr>
          <p:cNvPr id="15" name="Straight Arrow Connector 14">
            <a:extLst>
              <a:ext uri="{FF2B5EF4-FFF2-40B4-BE49-F238E27FC236}">
                <a16:creationId xmlns:a16="http://schemas.microsoft.com/office/drawing/2014/main" id="{ADBFE88A-025F-25A6-E184-F8A9CFCF8052}"/>
              </a:ext>
            </a:extLst>
          </p:cNvPr>
          <p:cNvCxnSpPr>
            <a:stCxn id="12" idx="2"/>
            <a:endCxn id="6" idx="0"/>
          </p:cNvCxnSpPr>
          <p:nvPr/>
        </p:nvCxnSpPr>
        <p:spPr>
          <a:xfrm>
            <a:off x="2967664" y="3880833"/>
            <a:ext cx="2575" cy="321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EAAC8460-B6EE-4331-9E0C-984E610853E6}"/>
              </a:ext>
            </a:extLst>
          </p:cNvPr>
          <p:cNvCxnSpPr/>
          <p:nvPr/>
        </p:nvCxnSpPr>
        <p:spPr>
          <a:xfrm>
            <a:off x="5219792" y="3904079"/>
            <a:ext cx="2575" cy="321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428525E-A29E-956A-0A92-1BB09D8251F8}"/>
              </a:ext>
            </a:extLst>
          </p:cNvPr>
          <p:cNvCxnSpPr/>
          <p:nvPr/>
        </p:nvCxnSpPr>
        <p:spPr>
          <a:xfrm>
            <a:off x="9115750" y="3873550"/>
            <a:ext cx="2575" cy="321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EF33CED7-7B52-AF8C-CF2A-0367A0151438}"/>
              </a:ext>
            </a:extLst>
          </p:cNvPr>
          <p:cNvCxnSpPr/>
          <p:nvPr/>
        </p:nvCxnSpPr>
        <p:spPr>
          <a:xfrm>
            <a:off x="11247480" y="3873550"/>
            <a:ext cx="2575" cy="321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C96539E-1036-DD05-F24F-FBF4907D0DAA}"/>
              </a:ext>
            </a:extLst>
          </p:cNvPr>
          <p:cNvCxnSpPr>
            <a:cxnSpLocks/>
          </p:cNvCxnSpPr>
          <p:nvPr/>
        </p:nvCxnSpPr>
        <p:spPr>
          <a:xfrm flipV="1">
            <a:off x="350703" y="3875707"/>
            <a:ext cx="11351440" cy="15044"/>
          </a:xfrm>
          <a:prstGeom prst="line">
            <a:avLst/>
          </a:prstGeom>
          <a:ln>
            <a:prstDash val="sysDot"/>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74E784EB-E69C-F3A3-C195-F43826D860DB}"/>
              </a:ext>
            </a:extLst>
          </p:cNvPr>
          <p:cNvSpPr/>
          <p:nvPr/>
        </p:nvSpPr>
        <p:spPr>
          <a:xfrm rot="18802725">
            <a:off x="6990674" y="2324720"/>
            <a:ext cx="304799" cy="32656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4AC9801-62B1-7810-B59C-502BF6DA12D9}"/>
              </a:ext>
            </a:extLst>
          </p:cNvPr>
          <p:cNvSpPr txBox="1"/>
          <p:nvPr/>
        </p:nvSpPr>
        <p:spPr>
          <a:xfrm>
            <a:off x="6243796" y="3169190"/>
            <a:ext cx="2091370" cy="646331"/>
          </a:xfrm>
          <a:prstGeom prst="rect">
            <a:avLst/>
          </a:prstGeom>
          <a:noFill/>
        </p:spPr>
        <p:txBody>
          <a:bodyPr wrap="square" rtlCol="0">
            <a:spAutoFit/>
          </a:bodyPr>
          <a:lstStyle/>
          <a:p>
            <a:pPr algn="ctr"/>
            <a:r>
              <a:rPr lang="en-US" sz="1200" b="1">
                <a:solidFill>
                  <a:srgbClr val="0070C0"/>
                </a:solidFill>
              </a:rPr>
              <a:t>Phòng ban phân rã và gửi lại Ban KPI kiểm tra trước khi trình kí</a:t>
            </a:r>
          </a:p>
        </p:txBody>
      </p:sp>
      <p:sp>
        <p:nvSpPr>
          <p:cNvPr id="11" name="Rectangle 10">
            <a:extLst>
              <a:ext uri="{FF2B5EF4-FFF2-40B4-BE49-F238E27FC236}">
                <a16:creationId xmlns:a16="http://schemas.microsoft.com/office/drawing/2014/main" id="{05485C8B-50F2-3E38-6B7D-D797D10E1525}"/>
              </a:ext>
            </a:extLst>
          </p:cNvPr>
          <p:cNvSpPr/>
          <p:nvPr/>
        </p:nvSpPr>
        <p:spPr>
          <a:xfrm>
            <a:off x="6337574" y="1706383"/>
            <a:ext cx="1646606" cy="477054"/>
          </a:xfrm>
          <a:prstGeom prst="rect">
            <a:avLst/>
          </a:prstGeom>
          <a:noFill/>
        </p:spPr>
        <p:txBody>
          <a:bodyPr wrap="none" lIns="91440" tIns="45720" rIns="91440" bIns="45720">
            <a:spAutoFit/>
          </a:bodyPr>
          <a:lstStyle/>
          <a:p>
            <a:pPr algn="ctr"/>
            <a:r>
              <a:rPr lang="en-US" sz="2500" b="1">
                <a:ln w="0"/>
                <a:solidFill>
                  <a:srgbClr val="0070C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12/01/2025</a:t>
            </a:r>
            <a:endParaRPr lang="en-US" sz="2500" b="1" cap="none" spc="0">
              <a:ln w="0"/>
              <a:solidFill>
                <a:srgbClr val="0070C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cxnSp>
        <p:nvCxnSpPr>
          <p:cNvPr id="36" name="Straight Connector 35">
            <a:extLst>
              <a:ext uri="{FF2B5EF4-FFF2-40B4-BE49-F238E27FC236}">
                <a16:creationId xmlns:a16="http://schemas.microsoft.com/office/drawing/2014/main" id="{60C9C781-C987-0F47-80A2-D10CCF261C58}"/>
              </a:ext>
            </a:extLst>
          </p:cNvPr>
          <p:cNvCxnSpPr/>
          <p:nvPr/>
        </p:nvCxnSpPr>
        <p:spPr>
          <a:xfrm>
            <a:off x="7160877" y="2731781"/>
            <a:ext cx="0" cy="50367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C77A766F-8E3D-2DE3-C2CD-1CC18B39F14B}"/>
              </a:ext>
            </a:extLst>
          </p:cNvPr>
          <p:cNvCxnSpPr/>
          <p:nvPr/>
        </p:nvCxnSpPr>
        <p:spPr>
          <a:xfrm>
            <a:off x="7161558" y="3910200"/>
            <a:ext cx="2575" cy="321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BC7B53CC-4AFB-B56B-7245-141531DCD578}"/>
              </a:ext>
            </a:extLst>
          </p:cNvPr>
          <p:cNvSpPr txBox="1"/>
          <p:nvPr/>
        </p:nvSpPr>
        <p:spPr>
          <a:xfrm>
            <a:off x="5981028" y="4215756"/>
            <a:ext cx="2604508" cy="369332"/>
          </a:xfrm>
          <a:prstGeom prst="rect">
            <a:avLst/>
          </a:prstGeom>
          <a:noFill/>
        </p:spPr>
        <p:txBody>
          <a:bodyPr wrap="square" rtlCol="0">
            <a:spAutoFit/>
          </a:bodyPr>
          <a:lstStyle/>
          <a:p>
            <a:pPr algn="ctr"/>
            <a:r>
              <a:rPr lang="en-US" b="1">
                <a:solidFill>
                  <a:srgbClr val="0070C0"/>
                </a:solidFill>
              </a:rPr>
              <a:t>Ban KPI</a:t>
            </a:r>
          </a:p>
        </p:txBody>
      </p:sp>
      <p:grpSp>
        <p:nvGrpSpPr>
          <p:cNvPr id="42" name="Group 41">
            <a:extLst>
              <a:ext uri="{FF2B5EF4-FFF2-40B4-BE49-F238E27FC236}">
                <a16:creationId xmlns:a16="http://schemas.microsoft.com/office/drawing/2014/main" id="{A241404E-8355-E8CA-0447-9BB5337B2124}"/>
              </a:ext>
            </a:extLst>
          </p:cNvPr>
          <p:cNvGrpSpPr>
            <a:grpSpLocks noChangeAspect="1"/>
          </p:cNvGrpSpPr>
          <p:nvPr/>
        </p:nvGrpSpPr>
        <p:grpSpPr>
          <a:xfrm>
            <a:off x="144639" y="6576546"/>
            <a:ext cx="1146287" cy="175771"/>
            <a:chOff x="0" y="0"/>
            <a:chExt cx="2292573" cy="351541"/>
          </a:xfrm>
        </p:grpSpPr>
        <p:sp>
          <p:nvSpPr>
            <p:cNvPr id="43" name="Freeform 7">
              <a:extLst>
                <a:ext uri="{FF2B5EF4-FFF2-40B4-BE49-F238E27FC236}">
                  <a16:creationId xmlns:a16="http://schemas.microsoft.com/office/drawing/2014/main" id="{D3D3EA69-9655-D390-C526-E370E0E3B7C5}"/>
                </a:ext>
              </a:extLst>
            </p:cNvPr>
            <p:cNvSpPr/>
            <p:nvPr/>
          </p:nvSpPr>
          <p:spPr>
            <a:xfrm>
              <a:off x="0" y="0"/>
              <a:ext cx="2292604" cy="351536"/>
            </a:xfrm>
            <a:custGeom>
              <a:avLst/>
              <a:gdLst/>
              <a:ahLst/>
              <a:cxnLst/>
              <a:rect l="l" t="t" r="r" b="b"/>
              <a:pathLst>
                <a:path w="2292604" h="351536">
                  <a:moveTo>
                    <a:pt x="0" y="0"/>
                  </a:moveTo>
                  <a:lnTo>
                    <a:pt x="2292604" y="0"/>
                  </a:lnTo>
                  <a:lnTo>
                    <a:pt x="2292604" y="351536"/>
                  </a:lnTo>
                  <a:lnTo>
                    <a:pt x="0" y="351536"/>
                  </a:lnTo>
                  <a:lnTo>
                    <a:pt x="0" y="0"/>
                  </a:lnTo>
                  <a:close/>
                </a:path>
              </a:pathLst>
            </a:custGeom>
            <a:blipFill>
              <a:blip r:embed="rId2"/>
              <a:stretch>
                <a:fillRect r="1" b="-2"/>
              </a:stretch>
            </a:blipFill>
          </p:spPr>
          <p:txBody>
            <a:bodyPr/>
            <a:lstStyle/>
            <a:p>
              <a:endParaRPr lang="en-US" sz="1200"/>
            </a:p>
          </p:txBody>
        </p:sp>
      </p:grpSp>
      <p:sp>
        <p:nvSpPr>
          <p:cNvPr id="40" name="AutoShape 8">
            <a:extLst>
              <a:ext uri="{FF2B5EF4-FFF2-40B4-BE49-F238E27FC236}">
                <a16:creationId xmlns:a16="http://schemas.microsoft.com/office/drawing/2014/main" id="{D778A19C-93AC-6B37-7AF6-D00EF116AF81}"/>
              </a:ext>
            </a:extLst>
          </p:cNvPr>
          <p:cNvSpPr/>
          <p:nvPr/>
        </p:nvSpPr>
        <p:spPr>
          <a:xfrm>
            <a:off x="0" y="521738"/>
            <a:ext cx="12183980" cy="0"/>
          </a:xfrm>
          <a:prstGeom prst="line">
            <a:avLst/>
          </a:prstGeom>
          <a:ln w="19050" cap="flat">
            <a:solidFill>
              <a:srgbClr val="39618E"/>
            </a:solidFill>
            <a:prstDash val="solid"/>
            <a:headEnd type="none" w="sm" len="sm"/>
            <a:tailEnd type="none" w="sm" len="sm"/>
          </a:ln>
        </p:spPr>
        <p:txBody>
          <a:bodyPr/>
          <a:lstStyle/>
          <a:p>
            <a:endParaRPr lang="en-US" sz="1200"/>
          </a:p>
        </p:txBody>
      </p:sp>
      <p:sp>
        <p:nvSpPr>
          <p:cNvPr id="41" name="TextBox 9">
            <a:extLst>
              <a:ext uri="{FF2B5EF4-FFF2-40B4-BE49-F238E27FC236}">
                <a16:creationId xmlns:a16="http://schemas.microsoft.com/office/drawing/2014/main" id="{9B2E4846-17D5-E005-BA55-01E0FB2DC56D}"/>
              </a:ext>
            </a:extLst>
          </p:cNvPr>
          <p:cNvSpPr txBox="1"/>
          <p:nvPr/>
        </p:nvSpPr>
        <p:spPr>
          <a:xfrm>
            <a:off x="200297" y="64051"/>
            <a:ext cx="11828379" cy="348942"/>
          </a:xfrm>
          <a:prstGeom prst="rect">
            <a:avLst/>
          </a:prstGeom>
        </p:spPr>
        <p:txBody>
          <a:bodyPr lIns="0" tIns="0" rIns="0" bIns="0" rtlCol="0" anchor="t">
            <a:spAutoFit/>
          </a:bodyPr>
          <a:lstStyle/>
          <a:p>
            <a:pPr>
              <a:lnSpc>
                <a:spcPts val="2880"/>
              </a:lnSpc>
            </a:pPr>
            <a:r>
              <a:rPr lang="en-US" sz="2400" b="1">
                <a:solidFill>
                  <a:srgbClr val="119303"/>
                </a:solidFill>
                <a:latin typeface="Arial Bold"/>
                <a:ea typeface="Arial Bold"/>
                <a:cs typeface="Arial Bold"/>
                <a:sym typeface="Arial Bold"/>
              </a:rPr>
              <a:t>5. Timeline</a:t>
            </a:r>
          </a:p>
        </p:txBody>
      </p:sp>
      <p:sp>
        <p:nvSpPr>
          <p:cNvPr id="44" name="TextBox 10">
            <a:extLst>
              <a:ext uri="{FF2B5EF4-FFF2-40B4-BE49-F238E27FC236}">
                <a16:creationId xmlns:a16="http://schemas.microsoft.com/office/drawing/2014/main" id="{44EBEAD8-504B-FA86-FF93-20EE45F259CD}"/>
              </a:ext>
            </a:extLst>
          </p:cNvPr>
          <p:cNvSpPr txBox="1"/>
          <p:nvPr/>
        </p:nvSpPr>
        <p:spPr>
          <a:xfrm>
            <a:off x="200297" y="625475"/>
            <a:ext cx="11828379" cy="307777"/>
          </a:xfrm>
          <a:prstGeom prst="rect">
            <a:avLst/>
          </a:prstGeom>
        </p:spPr>
        <p:txBody>
          <a:bodyPr lIns="0" tIns="0" rIns="0" bIns="0" rtlCol="0" anchor="t">
            <a:spAutoFit/>
          </a:bodyPr>
          <a:lstStyle/>
          <a:p>
            <a:pPr>
              <a:lnSpc>
                <a:spcPts val="2400"/>
              </a:lnSpc>
            </a:pPr>
            <a:r>
              <a:rPr lang="en-US" sz="2000" b="1">
                <a:solidFill>
                  <a:srgbClr val="39618E"/>
                </a:solidFill>
                <a:latin typeface="Arial Bold"/>
                <a:ea typeface="Arial Bold"/>
                <a:cs typeface="Arial Bold"/>
                <a:sym typeface="Arial Bold"/>
              </a:rPr>
              <a:t>5. 1 Các mốc thời gian</a:t>
            </a:r>
          </a:p>
        </p:txBody>
      </p:sp>
      <p:sp>
        <p:nvSpPr>
          <p:cNvPr id="45" name="Slide Number Placeholder 44">
            <a:extLst>
              <a:ext uri="{FF2B5EF4-FFF2-40B4-BE49-F238E27FC236}">
                <a16:creationId xmlns:a16="http://schemas.microsoft.com/office/drawing/2014/main" id="{5354598B-F608-7C18-7CAD-20CD3DA7A24C}"/>
              </a:ext>
            </a:extLst>
          </p:cNvPr>
          <p:cNvSpPr>
            <a:spLocks noGrp="1"/>
          </p:cNvSpPr>
          <p:nvPr>
            <p:ph type="sldNum" sz="quarter" idx="12"/>
          </p:nvPr>
        </p:nvSpPr>
        <p:spPr/>
        <p:txBody>
          <a:bodyPr/>
          <a:lstStyle/>
          <a:p>
            <a:fld id="{06D5B5F9-488F-4DD3-845F-86795626F9DE}" type="slidenum">
              <a:rPr lang="en-US" smtClean="0"/>
              <a:t>8</a:t>
            </a:fld>
            <a:endParaRPr lang="en-US"/>
          </a:p>
        </p:txBody>
      </p:sp>
    </p:spTree>
    <p:extLst>
      <p:ext uri="{BB962C8B-B14F-4D97-AF65-F5344CB8AC3E}">
        <p14:creationId xmlns:p14="http://schemas.microsoft.com/office/powerpoint/2010/main" val="2300405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6227638-E878-9C1D-0DF7-D084EB30CD14}"/>
              </a:ext>
            </a:extLst>
          </p:cNvPr>
          <p:cNvGraphicFramePr>
            <a:graphicFrameLocks noGrp="1"/>
          </p:cNvGraphicFramePr>
          <p:nvPr>
            <p:extLst>
              <p:ext uri="{D42A27DB-BD31-4B8C-83A1-F6EECF244321}">
                <p14:modId xmlns:p14="http://schemas.microsoft.com/office/powerpoint/2010/main" val="1431405750"/>
              </p:ext>
            </p:extLst>
          </p:nvPr>
        </p:nvGraphicFramePr>
        <p:xfrm>
          <a:off x="446391" y="1333500"/>
          <a:ext cx="3479800" cy="3981450"/>
        </p:xfrm>
        <a:graphic>
          <a:graphicData uri="http://schemas.openxmlformats.org/drawingml/2006/table">
            <a:tbl>
              <a:tblPr>
                <a:tableStyleId>{5C22544A-7EE6-4342-B048-85BDC9FD1C3A}</a:tableStyleId>
              </a:tblPr>
              <a:tblGrid>
                <a:gridCol w="2603500">
                  <a:extLst>
                    <a:ext uri="{9D8B030D-6E8A-4147-A177-3AD203B41FA5}">
                      <a16:colId xmlns:a16="http://schemas.microsoft.com/office/drawing/2014/main" val="2171694628"/>
                    </a:ext>
                  </a:extLst>
                </a:gridCol>
                <a:gridCol w="876300">
                  <a:extLst>
                    <a:ext uri="{9D8B030D-6E8A-4147-A177-3AD203B41FA5}">
                      <a16:colId xmlns:a16="http://schemas.microsoft.com/office/drawing/2014/main" val="197015371"/>
                    </a:ext>
                  </a:extLst>
                </a:gridCol>
              </a:tblGrid>
              <a:tr h="361950">
                <a:tc>
                  <a:txBody>
                    <a:bodyPr/>
                    <a:lstStyle/>
                    <a:p>
                      <a:pPr algn="l" fontAlgn="b">
                        <a:buNone/>
                      </a:pPr>
                      <a:r>
                        <a:rPr lang="en-US" sz="2000" b="1" kern="1200">
                          <a:solidFill>
                            <a:srgbClr val="39618E"/>
                          </a:solidFill>
                          <a:latin typeface="Arial Bold"/>
                          <a:cs typeface="Arial Bold"/>
                        </a:rPr>
                        <a:t>- BGĐ</a:t>
                      </a:r>
                    </a:p>
                  </a:txBody>
                  <a:tcPr marL="6350" marR="6350" marT="6350" marB="0" anchor="b">
                    <a:noFill/>
                  </a:tcPr>
                </a:tc>
                <a:tc>
                  <a:txBody>
                    <a:bodyPr/>
                    <a:lstStyle/>
                    <a:p>
                      <a:pPr algn="ctr" fontAlgn="b">
                        <a:buNone/>
                      </a:pPr>
                      <a:r>
                        <a:rPr lang="en-US" sz="2000" b="1" kern="1200">
                          <a:solidFill>
                            <a:srgbClr val="39618E"/>
                          </a:solidFill>
                          <a:highlight>
                            <a:srgbClr val="FFFF00"/>
                          </a:highlight>
                          <a:latin typeface="Arial Bold"/>
                          <a:cs typeface="Arial Bold"/>
                        </a:rPr>
                        <a:t>Liên</a:t>
                      </a:r>
                    </a:p>
                  </a:txBody>
                  <a:tcPr marL="6350" marR="6350" marT="6350" marB="0" anchor="b">
                    <a:noFill/>
                  </a:tcPr>
                </a:tc>
                <a:extLst>
                  <a:ext uri="{0D108BD9-81ED-4DB2-BD59-A6C34878D82A}">
                    <a16:rowId xmlns:a16="http://schemas.microsoft.com/office/drawing/2014/main" val="1025751604"/>
                  </a:ext>
                </a:extLst>
              </a:tr>
              <a:tr h="361950">
                <a:tc>
                  <a:txBody>
                    <a:bodyPr/>
                    <a:lstStyle/>
                    <a:p>
                      <a:pPr algn="l" fontAlgn="b">
                        <a:buNone/>
                      </a:pPr>
                      <a:r>
                        <a:rPr lang="en-US" sz="2000" b="1" kern="1200">
                          <a:solidFill>
                            <a:srgbClr val="39618E"/>
                          </a:solidFill>
                          <a:latin typeface="Arial Bold"/>
                          <a:cs typeface="Arial Bold"/>
                        </a:rPr>
                        <a:t>- VP BGĐ</a:t>
                      </a:r>
                    </a:p>
                  </a:txBody>
                  <a:tcPr marL="6350" marR="6350" marT="6350" marB="0" anchor="b">
                    <a:noFill/>
                  </a:tcPr>
                </a:tc>
                <a:tc>
                  <a:txBody>
                    <a:bodyPr/>
                    <a:lstStyle/>
                    <a:p>
                      <a:pPr algn="ctr" fontAlgn="b">
                        <a:buNone/>
                      </a:pPr>
                      <a:r>
                        <a:rPr lang="en-US" sz="2000" b="1" kern="1200">
                          <a:solidFill>
                            <a:srgbClr val="39618E"/>
                          </a:solidFill>
                          <a:latin typeface="Arial Bold"/>
                          <a:cs typeface="Arial Bold"/>
                        </a:rPr>
                        <a:t>Quyền</a:t>
                      </a:r>
                    </a:p>
                  </a:txBody>
                  <a:tcPr marL="6350" marR="6350" marT="6350" marB="0" anchor="b">
                    <a:noFill/>
                  </a:tcPr>
                </a:tc>
                <a:extLst>
                  <a:ext uri="{0D108BD9-81ED-4DB2-BD59-A6C34878D82A}">
                    <a16:rowId xmlns:a16="http://schemas.microsoft.com/office/drawing/2014/main" val="3287690162"/>
                  </a:ext>
                </a:extLst>
              </a:tr>
              <a:tr h="361950">
                <a:tc>
                  <a:txBody>
                    <a:bodyPr/>
                    <a:lstStyle/>
                    <a:p>
                      <a:pPr marL="0" indent="0" algn="l" fontAlgn="b">
                        <a:buFontTx/>
                        <a:buNone/>
                      </a:pPr>
                      <a:r>
                        <a:rPr lang="en-US" sz="2000" b="1" kern="1200">
                          <a:solidFill>
                            <a:srgbClr val="39618E"/>
                          </a:solidFill>
                          <a:latin typeface="Arial Bold"/>
                          <a:cs typeface="Arial Bold"/>
                        </a:rPr>
                        <a:t>-HCNS</a:t>
                      </a:r>
                    </a:p>
                  </a:txBody>
                  <a:tcPr marL="6350" marR="6350" marT="6350" marB="0" anchor="b">
                    <a:noFill/>
                  </a:tcPr>
                </a:tc>
                <a:tc>
                  <a:txBody>
                    <a:bodyPr/>
                    <a:lstStyle/>
                    <a:p>
                      <a:pPr algn="ctr" fontAlgn="b">
                        <a:buNone/>
                      </a:pPr>
                      <a:r>
                        <a:rPr lang="en-US" sz="2000" b="1" kern="1200">
                          <a:solidFill>
                            <a:srgbClr val="39618E"/>
                          </a:solidFill>
                          <a:latin typeface="Arial Bold"/>
                          <a:cs typeface="Arial Bold"/>
                        </a:rPr>
                        <a:t>Quyền</a:t>
                      </a:r>
                    </a:p>
                  </a:txBody>
                  <a:tcPr marL="6350" marR="6350" marT="6350" marB="0" anchor="b">
                    <a:noFill/>
                  </a:tcPr>
                </a:tc>
                <a:extLst>
                  <a:ext uri="{0D108BD9-81ED-4DB2-BD59-A6C34878D82A}">
                    <a16:rowId xmlns:a16="http://schemas.microsoft.com/office/drawing/2014/main" val="3297925082"/>
                  </a:ext>
                </a:extLst>
              </a:tr>
              <a:tr h="361950">
                <a:tc>
                  <a:txBody>
                    <a:bodyPr/>
                    <a:lstStyle/>
                    <a:p>
                      <a:pPr algn="l" fontAlgn="b">
                        <a:buNone/>
                      </a:pPr>
                      <a:r>
                        <a:rPr lang="en-US" sz="2000" b="1" kern="1200">
                          <a:solidFill>
                            <a:srgbClr val="39618E"/>
                          </a:solidFill>
                          <a:latin typeface="Arial Bold"/>
                          <a:cs typeface="Arial Bold"/>
                        </a:rPr>
                        <a:t>- KTTC</a:t>
                      </a:r>
                    </a:p>
                  </a:txBody>
                  <a:tcPr marL="6350" marR="6350" marT="6350" marB="0" anchor="b">
                    <a:noFill/>
                  </a:tcPr>
                </a:tc>
                <a:tc>
                  <a:txBody>
                    <a:bodyPr/>
                    <a:lstStyle/>
                    <a:p>
                      <a:pPr algn="ctr" fontAlgn="b">
                        <a:buNone/>
                      </a:pPr>
                      <a:r>
                        <a:rPr lang="en-US" sz="2000" b="1" kern="1200">
                          <a:solidFill>
                            <a:srgbClr val="39618E"/>
                          </a:solidFill>
                          <a:highlight>
                            <a:srgbClr val="FFFF00"/>
                          </a:highlight>
                          <a:latin typeface="Arial Bold"/>
                          <a:cs typeface="Arial Bold"/>
                        </a:rPr>
                        <a:t>Liên</a:t>
                      </a:r>
                    </a:p>
                  </a:txBody>
                  <a:tcPr marL="6350" marR="6350" marT="6350" marB="0" anchor="b">
                    <a:noFill/>
                  </a:tcPr>
                </a:tc>
                <a:extLst>
                  <a:ext uri="{0D108BD9-81ED-4DB2-BD59-A6C34878D82A}">
                    <a16:rowId xmlns:a16="http://schemas.microsoft.com/office/drawing/2014/main" val="3137692790"/>
                  </a:ext>
                </a:extLst>
              </a:tr>
              <a:tr h="361950">
                <a:tc>
                  <a:txBody>
                    <a:bodyPr/>
                    <a:lstStyle/>
                    <a:p>
                      <a:pPr algn="l" fontAlgn="b">
                        <a:buNone/>
                      </a:pPr>
                      <a:r>
                        <a:rPr lang="en-US" sz="2000" b="1" kern="1200">
                          <a:solidFill>
                            <a:srgbClr val="39618E"/>
                          </a:solidFill>
                          <a:latin typeface="Arial Bold"/>
                          <a:cs typeface="Arial Bold"/>
                        </a:rPr>
                        <a:t>- SẢN XUẤT &amp;MH</a:t>
                      </a:r>
                    </a:p>
                  </a:txBody>
                  <a:tcPr marL="6350" marR="6350" marT="6350" marB="0" anchor="b">
                    <a:noFill/>
                  </a:tcPr>
                </a:tc>
                <a:tc>
                  <a:txBody>
                    <a:bodyPr/>
                    <a:lstStyle/>
                    <a:p>
                      <a:pPr algn="ctr" fontAlgn="b">
                        <a:buNone/>
                      </a:pPr>
                      <a:r>
                        <a:rPr lang="en-US" sz="2000" b="1" kern="1200">
                          <a:solidFill>
                            <a:srgbClr val="39618E"/>
                          </a:solidFill>
                          <a:highlight>
                            <a:srgbClr val="FF00FF"/>
                          </a:highlight>
                          <a:latin typeface="Arial Bold"/>
                          <a:cs typeface="Arial Bold"/>
                        </a:rPr>
                        <a:t>Xuân</a:t>
                      </a:r>
                    </a:p>
                  </a:txBody>
                  <a:tcPr marL="6350" marR="6350" marT="6350" marB="0" anchor="b">
                    <a:noFill/>
                  </a:tcPr>
                </a:tc>
                <a:extLst>
                  <a:ext uri="{0D108BD9-81ED-4DB2-BD59-A6C34878D82A}">
                    <a16:rowId xmlns:a16="http://schemas.microsoft.com/office/drawing/2014/main" val="2316116038"/>
                  </a:ext>
                </a:extLst>
              </a:tr>
              <a:tr h="361950">
                <a:tc>
                  <a:txBody>
                    <a:bodyPr/>
                    <a:lstStyle/>
                    <a:p>
                      <a:pPr algn="l" fontAlgn="b">
                        <a:buNone/>
                      </a:pPr>
                      <a:r>
                        <a:rPr lang="en-US" sz="2000" b="1" kern="1200">
                          <a:solidFill>
                            <a:srgbClr val="39618E"/>
                          </a:solidFill>
                          <a:latin typeface="Arial Bold"/>
                          <a:cs typeface="Arial Bold"/>
                        </a:rPr>
                        <a:t>- KỸ THUẬT</a:t>
                      </a:r>
                    </a:p>
                  </a:txBody>
                  <a:tcPr marL="6350" marR="6350" marT="6350" marB="0" anchor="b">
                    <a:noFill/>
                  </a:tcPr>
                </a:tc>
                <a:tc>
                  <a:txBody>
                    <a:bodyPr/>
                    <a:lstStyle/>
                    <a:p>
                      <a:pPr algn="ctr" fontAlgn="b">
                        <a:buNone/>
                      </a:pPr>
                      <a:r>
                        <a:rPr lang="en-US" sz="2000" b="1" kern="1200">
                          <a:solidFill>
                            <a:srgbClr val="39618E"/>
                          </a:solidFill>
                          <a:highlight>
                            <a:srgbClr val="FFFF00"/>
                          </a:highlight>
                          <a:latin typeface="Arial Bold"/>
                          <a:cs typeface="Arial Bold"/>
                        </a:rPr>
                        <a:t>Liên</a:t>
                      </a:r>
                    </a:p>
                  </a:txBody>
                  <a:tcPr marL="6350" marR="6350" marT="6350" marB="0" anchor="b">
                    <a:noFill/>
                  </a:tcPr>
                </a:tc>
                <a:extLst>
                  <a:ext uri="{0D108BD9-81ED-4DB2-BD59-A6C34878D82A}">
                    <a16:rowId xmlns:a16="http://schemas.microsoft.com/office/drawing/2014/main" val="566933793"/>
                  </a:ext>
                </a:extLst>
              </a:tr>
              <a:tr h="361950">
                <a:tc>
                  <a:txBody>
                    <a:bodyPr/>
                    <a:lstStyle/>
                    <a:p>
                      <a:pPr algn="l" fontAlgn="b">
                        <a:buNone/>
                      </a:pPr>
                      <a:r>
                        <a:rPr lang="en-US" sz="2000" b="1" kern="1200">
                          <a:solidFill>
                            <a:srgbClr val="39618E"/>
                          </a:solidFill>
                          <a:latin typeface="Arial Bold"/>
                          <a:cs typeface="Arial Bold"/>
                        </a:rPr>
                        <a:t>- CUNG ỨNG</a:t>
                      </a:r>
                    </a:p>
                  </a:txBody>
                  <a:tcPr marL="6350" marR="6350" marT="6350" marB="0" anchor="b">
                    <a:noFill/>
                  </a:tcPr>
                </a:tc>
                <a:tc>
                  <a:txBody>
                    <a:bodyPr/>
                    <a:lstStyle/>
                    <a:p>
                      <a:pPr algn="ctr" fontAlgn="b">
                        <a:buNone/>
                      </a:pPr>
                      <a:r>
                        <a:rPr lang="en-US" sz="2000" b="1" kern="1200">
                          <a:solidFill>
                            <a:srgbClr val="39618E"/>
                          </a:solidFill>
                          <a:highlight>
                            <a:srgbClr val="00FF00"/>
                          </a:highlight>
                          <a:latin typeface="Arial Bold"/>
                          <a:cs typeface="Arial Bold"/>
                        </a:rPr>
                        <a:t>Thiện</a:t>
                      </a:r>
                    </a:p>
                  </a:txBody>
                  <a:tcPr marL="6350" marR="6350" marT="6350" marB="0" anchor="b">
                    <a:noFill/>
                  </a:tcPr>
                </a:tc>
                <a:extLst>
                  <a:ext uri="{0D108BD9-81ED-4DB2-BD59-A6C34878D82A}">
                    <a16:rowId xmlns:a16="http://schemas.microsoft.com/office/drawing/2014/main" val="3297268289"/>
                  </a:ext>
                </a:extLst>
              </a:tr>
              <a:tr h="361950">
                <a:tc>
                  <a:txBody>
                    <a:bodyPr/>
                    <a:lstStyle/>
                    <a:p>
                      <a:pPr algn="l" fontAlgn="b">
                        <a:buNone/>
                      </a:pPr>
                      <a:r>
                        <a:rPr lang="en-US" sz="2000" b="1" kern="1200">
                          <a:solidFill>
                            <a:srgbClr val="39618E"/>
                          </a:solidFill>
                          <a:latin typeface="Arial Bold"/>
                          <a:cs typeface="Arial Bold"/>
                        </a:rPr>
                        <a:t>- R&amp;D</a:t>
                      </a:r>
                    </a:p>
                  </a:txBody>
                  <a:tcPr marL="6350" marR="6350" marT="6350" marB="0" anchor="b">
                    <a:noFill/>
                  </a:tcPr>
                </a:tc>
                <a:tc>
                  <a:txBody>
                    <a:bodyPr/>
                    <a:lstStyle/>
                    <a:p>
                      <a:pPr algn="ctr" fontAlgn="b">
                        <a:buNone/>
                      </a:pPr>
                      <a:r>
                        <a:rPr lang="en-US" sz="2000" b="1" kern="1200">
                          <a:solidFill>
                            <a:srgbClr val="39618E"/>
                          </a:solidFill>
                          <a:highlight>
                            <a:srgbClr val="FF00FF"/>
                          </a:highlight>
                          <a:latin typeface="Arial Bold"/>
                          <a:cs typeface="Arial Bold"/>
                        </a:rPr>
                        <a:t>Xuân</a:t>
                      </a:r>
                    </a:p>
                  </a:txBody>
                  <a:tcPr marL="6350" marR="6350" marT="6350" marB="0" anchor="b">
                    <a:noFill/>
                  </a:tcPr>
                </a:tc>
                <a:extLst>
                  <a:ext uri="{0D108BD9-81ED-4DB2-BD59-A6C34878D82A}">
                    <a16:rowId xmlns:a16="http://schemas.microsoft.com/office/drawing/2014/main" val="4063540330"/>
                  </a:ext>
                </a:extLst>
              </a:tr>
              <a:tr h="361950">
                <a:tc>
                  <a:txBody>
                    <a:bodyPr/>
                    <a:lstStyle/>
                    <a:p>
                      <a:pPr algn="l" fontAlgn="b">
                        <a:buNone/>
                      </a:pPr>
                      <a:r>
                        <a:rPr lang="en-US" sz="2000" b="1" kern="1200">
                          <a:solidFill>
                            <a:srgbClr val="39618E"/>
                          </a:solidFill>
                          <a:latin typeface="Arial Bold"/>
                          <a:cs typeface="Arial Bold"/>
                        </a:rPr>
                        <a:t>- BAN DỰ ÁN CL</a:t>
                      </a:r>
                    </a:p>
                  </a:txBody>
                  <a:tcPr marL="6350" marR="6350" marT="6350" marB="0" anchor="b">
                    <a:noFill/>
                  </a:tcPr>
                </a:tc>
                <a:tc>
                  <a:txBody>
                    <a:bodyPr/>
                    <a:lstStyle/>
                    <a:p>
                      <a:pPr algn="ctr" fontAlgn="b">
                        <a:buNone/>
                      </a:pPr>
                      <a:r>
                        <a:rPr lang="en-US" sz="2000" b="1" kern="1200">
                          <a:solidFill>
                            <a:srgbClr val="39618E"/>
                          </a:solidFill>
                          <a:highlight>
                            <a:srgbClr val="00FF00"/>
                          </a:highlight>
                          <a:latin typeface="Arial Bold"/>
                          <a:cs typeface="Arial Bold"/>
                        </a:rPr>
                        <a:t>Thiện</a:t>
                      </a:r>
                    </a:p>
                  </a:txBody>
                  <a:tcPr marL="6350" marR="6350" marT="6350" marB="0" anchor="b">
                    <a:noFill/>
                  </a:tcPr>
                </a:tc>
                <a:extLst>
                  <a:ext uri="{0D108BD9-81ED-4DB2-BD59-A6C34878D82A}">
                    <a16:rowId xmlns:a16="http://schemas.microsoft.com/office/drawing/2014/main" val="830259364"/>
                  </a:ext>
                </a:extLst>
              </a:tr>
              <a:tr h="361950">
                <a:tc>
                  <a:txBody>
                    <a:bodyPr/>
                    <a:lstStyle/>
                    <a:p>
                      <a:pPr algn="l" fontAlgn="b">
                        <a:buNone/>
                      </a:pPr>
                      <a:r>
                        <a:rPr lang="en-US" sz="2000" b="1" kern="1200">
                          <a:solidFill>
                            <a:srgbClr val="39618E"/>
                          </a:solidFill>
                          <a:latin typeface="Arial Bold"/>
                          <a:cs typeface="Arial Bold"/>
                        </a:rPr>
                        <a:t>- CÁC TRẠM</a:t>
                      </a:r>
                    </a:p>
                  </a:txBody>
                  <a:tcPr marL="6350" marR="6350" marT="6350" marB="0" anchor="b">
                    <a:noFill/>
                  </a:tcPr>
                </a:tc>
                <a:tc>
                  <a:txBody>
                    <a:bodyPr/>
                    <a:lstStyle/>
                    <a:p>
                      <a:pPr algn="ctr" fontAlgn="b">
                        <a:buNone/>
                      </a:pPr>
                      <a:r>
                        <a:rPr lang="en-US" sz="2000" b="1" kern="1200">
                          <a:solidFill>
                            <a:srgbClr val="39618E"/>
                          </a:solidFill>
                          <a:latin typeface="Arial Bold"/>
                          <a:cs typeface="Arial Bold"/>
                        </a:rPr>
                        <a:t>Quyền</a:t>
                      </a:r>
                    </a:p>
                  </a:txBody>
                  <a:tcPr marL="6350" marR="6350" marT="6350" marB="0" anchor="b">
                    <a:noFill/>
                  </a:tcPr>
                </a:tc>
                <a:extLst>
                  <a:ext uri="{0D108BD9-81ED-4DB2-BD59-A6C34878D82A}">
                    <a16:rowId xmlns:a16="http://schemas.microsoft.com/office/drawing/2014/main" val="1085014514"/>
                  </a:ext>
                </a:extLst>
              </a:tr>
              <a:tr h="361950">
                <a:tc>
                  <a:txBody>
                    <a:bodyPr/>
                    <a:lstStyle/>
                    <a:p>
                      <a:pPr marL="0" indent="0" algn="l" fontAlgn="b">
                        <a:buFontTx/>
                        <a:buNone/>
                      </a:pPr>
                      <a:r>
                        <a:rPr lang="en-US" sz="2000" b="1" kern="1200">
                          <a:solidFill>
                            <a:srgbClr val="39618E"/>
                          </a:solidFill>
                          <a:latin typeface="Arial Bold"/>
                          <a:cs typeface="Arial Bold"/>
                        </a:rPr>
                        <a:t>-QC</a:t>
                      </a:r>
                    </a:p>
                  </a:txBody>
                  <a:tcPr marL="6350" marR="6350" marT="6350" marB="0" anchor="b">
                    <a:noFill/>
                  </a:tcPr>
                </a:tc>
                <a:tc>
                  <a:txBody>
                    <a:bodyPr/>
                    <a:lstStyle/>
                    <a:p>
                      <a:pPr algn="ctr" fontAlgn="b">
                        <a:buNone/>
                      </a:pPr>
                      <a:r>
                        <a:rPr lang="en-US" sz="2000" b="1" kern="1200" dirty="0">
                          <a:solidFill>
                            <a:srgbClr val="39618E"/>
                          </a:solidFill>
                          <a:highlight>
                            <a:srgbClr val="FF00FF"/>
                          </a:highlight>
                          <a:latin typeface="Arial Bold"/>
                          <a:cs typeface="Arial Bold"/>
                        </a:rPr>
                        <a:t>Xuân</a:t>
                      </a:r>
                    </a:p>
                  </a:txBody>
                  <a:tcPr marL="6350" marR="6350" marT="6350" marB="0" anchor="b">
                    <a:noFill/>
                  </a:tcPr>
                </a:tc>
                <a:extLst>
                  <a:ext uri="{0D108BD9-81ED-4DB2-BD59-A6C34878D82A}">
                    <a16:rowId xmlns:a16="http://schemas.microsoft.com/office/drawing/2014/main" val="2541523599"/>
                  </a:ext>
                </a:extLst>
              </a:tr>
            </a:tbl>
          </a:graphicData>
        </a:graphic>
      </p:graphicFrame>
      <p:sp>
        <p:nvSpPr>
          <p:cNvPr id="7" name="AutoShape 8">
            <a:extLst>
              <a:ext uri="{FF2B5EF4-FFF2-40B4-BE49-F238E27FC236}">
                <a16:creationId xmlns:a16="http://schemas.microsoft.com/office/drawing/2014/main" id="{93CA0BFF-3438-4DFE-D0EA-614D5B16FCD0}"/>
              </a:ext>
            </a:extLst>
          </p:cNvPr>
          <p:cNvSpPr/>
          <p:nvPr/>
        </p:nvSpPr>
        <p:spPr>
          <a:xfrm>
            <a:off x="0" y="521738"/>
            <a:ext cx="12183980" cy="0"/>
          </a:xfrm>
          <a:prstGeom prst="line">
            <a:avLst/>
          </a:prstGeom>
          <a:ln w="19050" cap="flat">
            <a:solidFill>
              <a:srgbClr val="39618E"/>
            </a:solidFill>
            <a:prstDash val="solid"/>
            <a:headEnd type="none" w="sm" len="sm"/>
            <a:tailEnd type="none" w="sm" len="sm"/>
          </a:ln>
        </p:spPr>
        <p:txBody>
          <a:bodyPr/>
          <a:lstStyle/>
          <a:p>
            <a:endParaRPr lang="en-US" sz="1200"/>
          </a:p>
        </p:txBody>
      </p:sp>
      <p:sp>
        <p:nvSpPr>
          <p:cNvPr id="8" name="TextBox 9">
            <a:extLst>
              <a:ext uri="{FF2B5EF4-FFF2-40B4-BE49-F238E27FC236}">
                <a16:creationId xmlns:a16="http://schemas.microsoft.com/office/drawing/2014/main" id="{19F70DC1-1FD6-3D9B-662A-C510F87DD066}"/>
              </a:ext>
            </a:extLst>
          </p:cNvPr>
          <p:cNvSpPr txBox="1"/>
          <p:nvPr/>
        </p:nvSpPr>
        <p:spPr>
          <a:xfrm>
            <a:off x="200297" y="64051"/>
            <a:ext cx="11828379" cy="348942"/>
          </a:xfrm>
          <a:prstGeom prst="rect">
            <a:avLst/>
          </a:prstGeom>
        </p:spPr>
        <p:txBody>
          <a:bodyPr lIns="0" tIns="0" rIns="0" bIns="0" rtlCol="0" anchor="t">
            <a:spAutoFit/>
          </a:bodyPr>
          <a:lstStyle/>
          <a:p>
            <a:pPr>
              <a:lnSpc>
                <a:spcPts val="2880"/>
              </a:lnSpc>
            </a:pPr>
            <a:r>
              <a:rPr lang="en-US" sz="2400" b="1">
                <a:solidFill>
                  <a:srgbClr val="119303"/>
                </a:solidFill>
                <a:latin typeface="Arial Bold"/>
                <a:ea typeface="Arial Bold"/>
                <a:cs typeface="Arial Bold"/>
                <a:sym typeface="Arial Bold"/>
              </a:rPr>
              <a:t>5. Timeline</a:t>
            </a:r>
          </a:p>
        </p:txBody>
      </p:sp>
      <p:sp>
        <p:nvSpPr>
          <p:cNvPr id="9" name="TextBox 10">
            <a:extLst>
              <a:ext uri="{FF2B5EF4-FFF2-40B4-BE49-F238E27FC236}">
                <a16:creationId xmlns:a16="http://schemas.microsoft.com/office/drawing/2014/main" id="{F556D902-84EC-08CC-57D5-629A906271D3}"/>
              </a:ext>
            </a:extLst>
          </p:cNvPr>
          <p:cNvSpPr txBox="1"/>
          <p:nvPr/>
        </p:nvSpPr>
        <p:spPr>
          <a:xfrm>
            <a:off x="200297" y="625475"/>
            <a:ext cx="11828379" cy="307777"/>
          </a:xfrm>
          <a:prstGeom prst="rect">
            <a:avLst/>
          </a:prstGeom>
        </p:spPr>
        <p:txBody>
          <a:bodyPr lIns="0" tIns="0" rIns="0" bIns="0" rtlCol="0" anchor="t">
            <a:spAutoFit/>
          </a:bodyPr>
          <a:lstStyle/>
          <a:p>
            <a:pPr>
              <a:lnSpc>
                <a:spcPts val="2400"/>
              </a:lnSpc>
            </a:pPr>
            <a:r>
              <a:rPr lang="en-US" sz="2000" b="1">
                <a:solidFill>
                  <a:srgbClr val="39618E"/>
                </a:solidFill>
                <a:latin typeface="Arial Bold"/>
                <a:ea typeface="Arial Bold"/>
                <a:cs typeface="Arial Bold"/>
                <a:sym typeface="Arial Bold"/>
              </a:rPr>
              <a:t>5.2 Người hỗ trợ</a:t>
            </a:r>
          </a:p>
        </p:txBody>
      </p:sp>
      <p:sp>
        <p:nvSpPr>
          <p:cNvPr id="10" name="TextBox 10">
            <a:extLst>
              <a:ext uri="{FF2B5EF4-FFF2-40B4-BE49-F238E27FC236}">
                <a16:creationId xmlns:a16="http://schemas.microsoft.com/office/drawing/2014/main" id="{5E6F6EDC-8796-64D3-5AFD-2F7FDA3D47E2}"/>
              </a:ext>
            </a:extLst>
          </p:cNvPr>
          <p:cNvSpPr txBox="1"/>
          <p:nvPr/>
        </p:nvSpPr>
        <p:spPr>
          <a:xfrm>
            <a:off x="5839097" y="1244600"/>
            <a:ext cx="5527403" cy="2769989"/>
          </a:xfrm>
          <a:prstGeom prst="rect">
            <a:avLst/>
          </a:prstGeom>
        </p:spPr>
        <p:txBody>
          <a:bodyPr wrap="square" lIns="0" tIns="0" rIns="0" bIns="0" rtlCol="0" anchor="t">
            <a:spAutoFit/>
          </a:bodyPr>
          <a:lstStyle/>
          <a:p>
            <a:pPr>
              <a:lnSpc>
                <a:spcPts val="2400"/>
              </a:lnSpc>
            </a:pPr>
            <a:r>
              <a:rPr lang="en-US" sz="2000" b="1" u="sng">
                <a:solidFill>
                  <a:srgbClr val="00B0F0"/>
                </a:solidFill>
                <a:latin typeface="Arial Bold"/>
                <a:ea typeface="Arial Bold"/>
                <a:cs typeface="Arial Bold"/>
                <a:sym typeface="Arial Bold"/>
              </a:rPr>
              <a:t>Nhiệm vụ người hỗ trợ:</a:t>
            </a:r>
          </a:p>
          <a:p>
            <a:pPr>
              <a:lnSpc>
                <a:spcPts val="2400"/>
              </a:lnSpc>
            </a:pPr>
            <a:endParaRPr lang="en-US" sz="2000" b="1">
              <a:solidFill>
                <a:srgbClr val="39618E"/>
              </a:solidFill>
              <a:latin typeface="Arial Bold"/>
              <a:ea typeface="Arial Bold"/>
              <a:cs typeface="Arial Bold"/>
              <a:sym typeface="Arial Bold"/>
            </a:endParaRPr>
          </a:p>
          <a:p>
            <a:pPr marL="457200" indent="-457200">
              <a:lnSpc>
                <a:spcPts val="2400"/>
              </a:lnSpc>
              <a:buAutoNum type="arabicPeriod"/>
            </a:pPr>
            <a:r>
              <a:rPr lang="en-US" sz="2000" b="1">
                <a:solidFill>
                  <a:srgbClr val="39618E"/>
                </a:solidFill>
                <a:latin typeface="Arial Bold"/>
                <a:ea typeface="Arial Bold"/>
                <a:cs typeface="Arial Bold"/>
                <a:sym typeface="Arial Bold"/>
              </a:rPr>
              <a:t>Kiểm tra sự phù hợp theo nguyên tắc thiết lập</a:t>
            </a:r>
          </a:p>
          <a:p>
            <a:pPr marL="457200" indent="-457200">
              <a:lnSpc>
                <a:spcPts val="2400"/>
              </a:lnSpc>
              <a:buAutoNum type="arabicPeriod"/>
            </a:pPr>
            <a:r>
              <a:rPr lang="en-US" sz="2000" b="1">
                <a:solidFill>
                  <a:srgbClr val="39618E"/>
                </a:solidFill>
                <a:latin typeface="Arial Bold"/>
                <a:ea typeface="Arial Bold"/>
                <a:cs typeface="Arial Bold"/>
                <a:sym typeface="Arial Bold"/>
              </a:rPr>
              <a:t>Tư vấn các KPI chuyên môn </a:t>
            </a:r>
          </a:p>
          <a:p>
            <a:pPr marL="457200" indent="-457200">
              <a:lnSpc>
                <a:spcPts val="2400"/>
              </a:lnSpc>
              <a:buAutoNum type="arabicPeriod"/>
            </a:pPr>
            <a:r>
              <a:rPr lang="en-US" sz="2000" b="1">
                <a:solidFill>
                  <a:srgbClr val="39618E"/>
                </a:solidFill>
                <a:latin typeface="Arial Bold"/>
                <a:ea typeface="Arial Bold"/>
                <a:cs typeface="Arial Bold"/>
                <a:sym typeface="Arial Bold"/>
              </a:rPr>
              <a:t>Kiểm tra số liệu 2025 và chỉ tiêu 2026 đúng theo nguyên tắc thiết lập</a:t>
            </a:r>
          </a:p>
          <a:p>
            <a:pPr marL="457200" indent="-457200">
              <a:lnSpc>
                <a:spcPts val="2400"/>
              </a:lnSpc>
              <a:buAutoNum type="arabicPeriod"/>
            </a:pPr>
            <a:r>
              <a:rPr lang="en-US" sz="2000" b="1">
                <a:solidFill>
                  <a:srgbClr val="39618E"/>
                </a:solidFill>
                <a:latin typeface="Arial Bold"/>
                <a:ea typeface="Arial Bold"/>
                <a:cs typeface="Arial Bold"/>
                <a:sym typeface="Arial Bold"/>
              </a:rPr>
              <a:t>Kiểm tra form trình kí và phân bổ</a:t>
            </a:r>
          </a:p>
          <a:p>
            <a:pPr marL="457200" indent="-457200">
              <a:lnSpc>
                <a:spcPts val="2400"/>
              </a:lnSpc>
              <a:buAutoNum type="arabicPeriod"/>
            </a:pPr>
            <a:r>
              <a:rPr lang="en-US" sz="2000" b="1">
                <a:solidFill>
                  <a:srgbClr val="39618E"/>
                </a:solidFill>
                <a:latin typeface="Arial Bold"/>
                <a:ea typeface="Arial Bold"/>
                <a:cs typeface="Arial Bold"/>
                <a:sym typeface="Arial Bold"/>
              </a:rPr>
              <a:t>Hỗ trợ gỡ, điều chỉnh trên PMS</a:t>
            </a:r>
          </a:p>
        </p:txBody>
      </p:sp>
      <p:sp>
        <p:nvSpPr>
          <p:cNvPr id="11" name="Rectangle 10">
            <a:extLst>
              <a:ext uri="{FF2B5EF4-FFF2-40B4-BE49-F238E27FC236}">
                <a16:creationId xmlns:a16="http://schemas.microsoft.com/office/drawing/2014/main" id="{B9978382-FA42-2D2D-80E2-AA48C4C1E57D}"/>
              </a:ext>
            </a:extLst>
          </p:cNvPr>
          <p:cNvSpPr/>
          <p:nvPr/>
        </p:nvSpPr>
        <p:spPr>
          <a:xfrm>
            <a:off x="95583" y="1036988"/>
            <a:ext cx="5172013" cy="4830412"/>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8F8A49D-3025-5066-FC66-6AD568FC0F25}"/>
              </a:ext>
            </a:extLst>
          </p:cNvPr>
          <p:cNvSpPr/>
          <p:nvPr/>
        </p:nvSpPr>
        <p:spPr>
          <a:xfrm>
            <a:off x="5493084" y="1036988"/>
            <a:ext cx="6216316" cy="4830412"/>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a:extLst>
              <a:ext uri="{FF2B5EF4-FFF2-40B4-BE49-F238E27FC236}">
                <a16:creationId xmlns:a16="http://schemas.microsoft.com/office/drawing/2014/main" id="{140850B3-383C-55EA-BEBF-D65893A0B2BF}"/>
              </a:ext>
            </a:extLst>
          </p:cNvPr>
          <p:cNvSpPr>
            <a:spLocks noGrp="1"/>
          </p:cNvSpPr>
          <p:nvPr>
            <p:ph type="sldNum" sz="quarter" idx="12"/>
          </p:nvPr>
        </p:nvSpPr>
        <p:spPr/>
        <p:txBody>
          <a:bodyPr/>
          <a:lstStyle/>
          <a:p>
            <a:fld id="{06D5B5F9-488F-4DD3-845F-86795626F9DE}" type="slidenum">
              <a:rPr lang="en-US" smtClean="0"/>
              <a:t>9</a:t>
            </a:fld>
            <a:endParaRPr lang="en-US"/>
          </a:p>
        </p:txBody>
      </p:sp>
    </p:spTree>
    <p:extLst>
      <p:ext uri="{BB962C8B-B14F-4D97-AF65-F5344CB8AC3E}">
        <p14:creationId xmlns:p14="http://schemas.microsoft.com/office/powerpoint/2010/main" val="35901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10" name="Google Shape;364;p47">
            <a:extLst>
              <a:ext uri="{FF2B5EF4-FFF2-40B4-BE49-F238E27FC236}">
                <a16:creationId xmlns:a16="http://schemas.microsoft.com/office/drawing/2014/main" id="{A8746D1E-6BF5-4678-BDF6-54834ADDE5D2}"/>
              </a:ext>
            </a:extLst>
          </p:cNvPr>
          <p:cNvSpPr txBox="1">
            <a:spLocks/>
          </p:cNvSpPr>
          <p:nvPr/>
        </p:nvSpPr>
        <p:spPr>
          <a:xfrm>
            <a:off x="2500117" y="3047200"/>
            <a:ext cx="6765804"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733">
                <a:solidFill>
                  <a:schemeClr val="bg1"/>
                </a:solidFill>
              </a:rPr>
              <a:t>Thank you</a:t>
            </a:r>
            <a:endParaRPr lang="en-US" sz="3733">
              <a:solidFill>
                <a:schemeClr val="bg1"/>
              </a:solidFill>
            </a:endParaRPr>
          </a:p>
        </p:txBody>
      </p:sp>
      <p:sp>
        <p:nvSpPr>
          <p:cNvPr id="7" name="Google Shape;170;p19">
            <a:extLst>
              <a:ext uri="{FF2B5EF4-FFF2-40B4-BE49-F238E27FC236}">
                <a16:creationId xmlns:a16="http://schemas.microsoft.com/office/drawing/2014/main" id="{DB97AC02-F358-4C2D-BB8B-52908F91590A}"/>
              </a:ext>
            </a:extLst>
          </p:cNvPr>
          <p:cNvSpPr txBox="1">
            <a:spLocks/>
          </p:cNvSpPr>
          <p:nvPr/>
        </p:nvSpPr>
        <p:spPr>
          <a:xfrm>
            <a:off x="3974947" y="2005502"/>
            <a:ext cx="6210893" cy="1333853"/>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1pPr>
            <a:lvl2pPr marR="0" lvl="1"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2pPr>
            <a:lvl3pPr marR="0" lvl="2"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3pPr>
            <a:lvl4pPr marR="0" lvl="3"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4pPr>
            <a:lvl5pPr marR="0" lvl="4"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5pPr>
            <a:lvl6pPr marR="0" lvl="5"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6pPr>
            <a:lvl7pPr marR="0" lvl="6"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7pPr>
            <a:lvl8pPr marR="0" lvl="7"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8pPr>
            <a:lvl9pPr marR="0" lvl="8"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9pPr>
          </a:lstStyle>
          <a:p>
            <a:r>
              <a:rPr lang="en-US" sz="5333">
                <a:solidFill>
                  <a:srgbClr val="119303"/>
                </a:solidFill>
                <a:latin typeface="+mn-lt"/>
                <a:cs typeface="Arial" panose="020B0604020202020204" pitchFamily="34" charset="0"/>
              </a:rPr>
              <a:t>Thank you!</a:t>
            </a:r>
          </a:p>
        </p:txBody>
      </p:sp>
      <p:sp>
        <p:nvSpPr>
          <p:cNvPr id="20" name="Rectangle 19">
            <a:extLst>
              <a:ext uri="{FF2B5EF4-FFF2-40B4-BE49-F238E27FC236}">
                <a16:creationId xmlns:a16="http://schemas.microsoft.com/office/drawing/2014/main" id="{FD3E05C9-56B8-4586-A819-B49F27A2B987}"/>
              </a:ext>
            </a:extLst>
          </p:cNvPr>
          <p:cNvSpPr/>
          <p:nvPr/>
        </p:nvSpPr>
        <p:spPr>
          <a:xfrm flipV="1">
            <a:off x="3594845" y="3131382"/>
            <a:ext cx="2651616" cy="60959"/>
          </a:xfrm>
          <a:prstGeom prst="rect">
            <a:avLst/>
          </a:prstGeom>
          <a:solidFill>
            <a:srgbClr val="11930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21" name="Rectangle 20">
            <a:extLst>
              <a:ext uri="{FF2B5EF4-FFF2-40B4-BE49-F238E27FC236}">
                <a16:creationId xmlns:a16="http://schemas.microsoft.com/office/drawing/2014/main" id="{95E67B52-CC81-434E-B2A4-97AE3E9EAACD}"/>
              </a:ext>
            </a:extLst>
          </p:cNvPr>
          <p:cNvSpPr/>
          <p:nvPr/>
        </p:nvSpPr>
        <p:spPr>
          <a:xfrm flipV="1">
            <a:off x="6524517" y="3131379"/>
            <a:ext cx="2117459" cy="60959"/>
          </a:xfrm>
          <a:prstGeom prst="rect">
            <a:avLst/>
          </a:prstGeom>
          <a:solidFill>
            <a:srgbClr val="11930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23" name="Picture 22">
            <a:extLst>
              <a:ext uri="{FF2B5EF4-FFF2-40B4-BE49-F238E27FC236}">
                <a16:creationId xmlns:a16="http://schemas.microsoft.com/office/drawing/2014/main" id="{38A86909-5278-4A4F-B3FA-5E61E21B0963}"/>
              </a:ext>
            </a:extLst>
          </p:cNvPr>
          <p:cNvPicPr>
            <a:picLocks noChangeAspect="1"/>
          </p:cNvPicPr>
          <p:nvPr/>
        </p:nvPicPr>
        <p:blipFill>
          <a:blip r:embed="rId3"/>
          <a:stretch>
            <a:fillRect/>
          </a:stretch>
        </p:blipFill>
        <p:spPr>
          <a:xfrm rot="10800000">
            <a:off x="7724607" y="2124744"/>
            <a:ext cx="1064747" cy="9224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52905"/>
            <a:ext cx="12192000" cy="6563360"/>
            <a:chOff x="0" y="0"/>
            <a:chExt cx="24384000" cy="13126720"/>
          </a:xfrm>
        </p:grpSpPr>
        <p:sp>
          <p:nvSpPr>
            <p:cNvPr id="3" name="Freeform 3" descr="Skyscrapers shown from view looking up"/>
            <p:cNvSpPr/>
            <p:nvPr/>
          </p:nvSpPr>
          <p:spPr>
            <a:xfrm>
              <a:off x="0" y="0"/>
              <a:ext cx="24384000" cy="13126720"/>
            </a:xfrm>
            <a:custGeom>
              <a:avLst/>
              <a:gdLst/>
              <a:ahLst/>
              <a:cxnLst/>
              <a:rect l="l" t="t" r="r" b="b"/>
              <a:pathLst>
                <a:path w="24384000" h="13126720">
                  <a:moveTo>
                    <a:pt x="0" y="0"/>
                  </a:moveTo>
                  <a:lnTo>
                    <a:pt x="24384000" y="0"/>
                  </a:lnTo>
                  <a:lnTo>
                    <a:pt x="24384000" y="13126720"/>
                  </a:lnTo>
                  <a:lnTo>
                    <a:pt x="0" y="13126720"/>
                  </a:lnTo>
                  <a:lnTo>
                    <a:pt x="0" y="0"/>
                  </a:lnTo>
                  <a:close/>
                </a:path>
              </a:pathLst>
            </a:custGeom>
            <a:blipFill>
              <a:blip r:embed="rId3">
                <a:alphaModFix amt="5000"/>
              </a:blip>
              <a:stretch>
                <a:fillRect r="-12615" b="-39571"/>
              </a:stretch>
            </a:blipFill>
          </p:spPr>
          <p:txBody>
            <a:bodyPr/>
            <a:lstStyle/>
            <a:p>
              <a:endParaRPr lang="en-US" sz="1200"/>
            </a:p>
          </p:txBody>
        </p:sp>
      </p:grpSp>
      <p:grpSp>
        <p:nvGrpSpPr>
          <p:cNvPr id="6" name="Group 6"/>
          <p:cNvGrpSpPr>
            <a:grpSpLocks noChangeAspect="1"/>
          </p:cNvGrpSpPr>
          <p:nvPr/>
        </p:nvGrpSpPr>
        <p:grpSpPr>
          <a:xfrm>
            <a:off x="200296" y="6631207"/>
            <a:ext cx="1146287" cy="175771"/>
            <a:chOff x="0" y="0"/>
            <a:chExt cx="2292573" cy="351541"/>
          </a:xfrm>
        </p:grpSpPr>
        <p:sp>
          <p:nvSpPr>
            <p:cNvPr id="7" name="Freeform 7"/>
            <p:cNvSpPr/>
            <p:nvPr/>
          </p:nvSpPr>
          <p:spPr>
            <a:xfrm>
              <a:off x="0" y="0"/>
              <a:ext cx="2292604" cy="351536"/>
            </a:xfrm>
            <a:custGeom>
              <a:avLst/>
              <a:gdLst/>
              <a:ahLst/>
              <a:cxnLst/>
              <a:rect l="l" t="t" r="r" b="b"/>
              <a:pathLst>
                <a:path w="2292604" h="351536">
                  <a:moveTo>
                    <a:pt x="0" y="0"/>
                  </a:moveTo>
                  <a:lnTo>
                    <a:pt x="2292604" y="0"/>
                  </a:lnTo>
                  <a:lnTo>
                    <a:pt x="2292604" y="351536"/>
                  </a:lnTo>
                  <a:lnTo>
                    <a:pt x="0" y="351536"/>
                  </a:lnTo>
                  <a:lnTo>
                    <a:pt x="0" y="0"/>
                  </a:lnTo>
                  <a:close/>
                </a:path>
              </a:pathLst>
            </a:custGeom>
            <a:blipFill>
              <a:blip r:embed="rId4"/>
              <a:stretch>
                <a:fillRect r="1" b="-2"/>
              </a:stretch>
            </a:blipFill>
          </p:spPr>
          <p:txBody>
            <a:bodyPr/>
            <a:lstStyle/>
            <a:p>
              <a:endParaRPr lang="en-US" sz="1200"/>
            </a:p>
          </p:txBody>
        </p:sp>
      </p:grpSp>
      <p:sp>
        <p:nvSpPr>
          <p:cNvPr id="8" name="AutoShape 8"/>
          <p:cNvSpPr/>
          <p:nvPr/>
        </p:nvSpPr>
        <p:spPr>
          <a:xfrm>
            <a:off x="0" y="521738"/>
            <a:ext cx="12183980" cy="0"/>
          </a:xfrm>
          <a:prstGeom prst="line">
            <a:avLst/>
          </a:prstGeom>
          <a:ln w="19050" cap="flat">
            <a:solidFill>
              <a:srgbClr val="39618E"/>
            </a:solidFill>
            <a:prstDash val="solid"/>
            <a:headEnd type="none" w="sm" len="sm"/>
            <a:tailEnd type="none" w="sm" len="sm"/>
          </a:ln>
        </p:spPr>
        <p:txBody>
          <a:bodyPr/>
          <a:lstStyle/>
          <a:p>
            <a:endParaRPr lang="en-US" sz="1200"/>
          </a:p>
        </p:txBody>
      </p:sp>
      <p:grpSp>
        <p:nvGrpSpPr>
          <p:cNvPr id="9" name="Group 9"/>
          <p:cNvGrpSpPr/>
          <p:nvPr/>
        </p:nvGrpSpPr>
        <p:grpSpPr>
          <a:xfrm>
            <a:off x="3990522" y="1171375"/>
            <a:ext cx="4210957" cy="2057400"/>
            <a:chOff x="0" y="0"/>
            <a:chExt cx="1663588" cy="812800"/>
          </a:xfrm>
        </p:grpSpPr>
        <p:sp>
          <p:nvSpPr>
            <p:cNvPr id="10" name="Freeform 10"/>
            <p:cNvSpPr/>
            <p:nvPr/>
          </p:nvSpPr>
          <p:spPr>
            <a:xfrm>
              <a:off x="0" y="0"/>
              <a:ext cx="1663588" cy="812800"/>
            </a:xfrm>
            <a:custGeom>
              <a:avLst/>
              <a:gdLst/>
              <a:ahLst/>
              <a:cxnLst/>
              <a:rect l="l" t="t" r="r" b="b"/>
              <a:pathLst>
                <a:path w="1663588" h="812800">
                  <a:moveTo>
                    <a:pt x="66187" y="0"/>
                  </a:moveTo>
                  <a:lnTo>
                    <a:pt x="1597401" y="0"/>
                  </a:lnTo>
                  <a:cubicBezTo>
                    <a:pt x="1614955" y="0"/>
                    <a:pt x="1631790" y="6973"/>
                    <a:pt x="1644202" y="19386"/>
                  </a:cubicBezTo>
                  <a:cubicBezTo>
                    <a:pt x="1656615" y="31798"/>
                    <a:pt x="1663588" y="48633"/>
                    <a:pt x="1663588" y="66187"/>
                  </a:cubicBezTo>
                  <a:lnTo>
                    <a:pt x="1663588" y="746613"/>
                  </a:lnTo>
                  <a:cubicBezTo>
                    <a:pt x="1663588" y="764167"/>
                    <a:pt x="1656615" y="781002"/>
                    <a:pt x="1644202" y="793414"/>
                  </a:cubicBezTo>
                  <a:cubicBezTo>
                    <a:pt x="1631790" y="805827"/>
                    <a:pt x="1614955" y="812800"/>
                    <a:pt x="1597401" y="812800"/>
                  </a:cubicBezTo>
                  <a:lnTo>
                    <a:pt x="66187" y="812800"/>
                  </a:lnTo>
                  <a:cubicBezTo>
                    <a:pt x="48633" y="812800"/>
                    <a:pt x="31798" y="805827"/>
                    <a:pt x="19386" y="793414"/>
                  </a:cubicBezTo>
                  <a:cubicBezTo>
                    <a:pt x="6973" y="781002"/>
                    <a:pt x="0" y="764167"/>
                    <a:pt x="0" y="746613"/>
                  </a:cubicBezTo>
                  <a:lnTo>
                    <a:pt x="0" y="66187"/>
                  </a:lnTo>
                  <a:cubicBezTo>
                    <a:pt x="0" y="48633"/>
                    <a:pt x="6973" y="31798"/>
                    <a:pt x="19386" y="19386"/>
                  </a:cubicBezTo>
                  <a:cubicBezTo>
                    <a:pt x="31798" y="6973"/>
                    <a:pt x="48633" y="0"/>
                    <a:pt x="66187" y="0"/>
                  </a:cubicBezTo>
                  <a:close/>
                </a:path>
              </a:pathLst>
            </a:custGeom>
            <a:solidFill>
              <a:srgbClr val="FFF3C2">
                <a:alpha val="35686"/>
              </a:srgbClr>
            </a:solidFill>
          </p:spPr>
          <p:txBody>
            <a:bodyPr/>
            <a:lstStyle/>
            <a:p>
              <a:endParaRPr lang="en-US" sz="1200"/>
            </a:p>
          </p:txBody>
        </p:sp>
        <p:sp>
          <p:nvSpPr>
            <p:cNvPr id="11" name="TextBox 11"/>
            <p:cNvSpPr txBox="1"/>
            <p:nvPr/>
          </p:nvSpPr>
          <p:spPr>
            <a:xfrm>
              <a:off x="0" y="-9525"/>
              <a:ext cx="1663588" cy="822325"/>
            </a:xfrm>
            <a:prstGeom prst="rect">
              <a:avLst/>
            </a:prstGeom>
          </p:spPr>
          <p:txBody>
            <a:bodyPr lIns="33867" tIns="33867" rIns="33867" bIns="33867" rtlCol="0" anchor="ctr"/>
            <a:lstStyle/>
            <a:p>
              <a:pPr algn="ctr">
                <a:lnSpc>
                  <a:spcPts val="2073"/>
                </a:lnSpc>
              </a:pPr>
              <a:endParaRPr sz="1200"/>
            </a:p>
          </p:txBody>
        </p:sp>
      </p:grpSp>
      <p:grpSp>
        <p:nvGrpSpPr>
          <p:cNvPr id="12" name="Group 12"/>
          <p:cNvGrpSpPr/>
          <p:nvPr/>
        </p:nvGrpSpPr>
        <p:grpSpPr>
          <a:xfrm>
            <a:off x="8324420" y="1145975"/>
            <a:ext cx="3551973" cy="2057400"/>
            <a:chOff x="0" y="0"/>
            <a:chExt cx="1403249" cy="812800"/>
          </a:xfrm>
        </p:grpSpPr>
        <p:sp>
          <p:nvSpPr>
            <p:cNvPr id="13" name="Freeform 13"/>
            <p:cNvSpPr/>
            <p:nvPr/>
          </p:nvSpPr>
          <p:spPr>
            <a:xfrm>
              <a:off x="0" y="0"/>
              <a:ext cx="1403249" cy="812800"/>
            </a:xfrm>
            <a:custGeom>
              <a:avLst/>
              <a:gdLst/>
              <a:ahLst/>
              <a:cxnLst/>
              <a:rect l="l" t="t" r="r" b="b"/>
              <a:pathLst>
                <a:path w="1403249" h="812800">
                  <a:moveTo>
                    <a:pt x="78466" y="0"/>
                  </a:moveTo>
                  <a:lnTo>
                    <a:pt x="1324783" y="0"/>
                  </a:lnTo>
                  <a:cubicBezTo>
                    <a:pt x="1368118" y="0"/>
                    <a:pt x="1403249" y="35130"/>
                    <a:pt x="1403249" y="78466"/>
                  </a:cubicBezTo>
                  <a:lnTo>
                    <a:pt x="1403249" y="734334"/>
                  </a:lnTo>
                  <a:cubicBezTo>
                    <a:pt x="1403249" y="755144"/>
                    <a:pt x="1394982" y="775103"/>
                    <a:pt x="1380267" y="789818"/>
                  </a:cubicBezTo>
                  <a:cubicBezTo>
                    <a:pt x="1365551" y="804533"/>
                    <a:pt x="1345593" y="812800"/>
                    <a:pt x="1324783" y="812800"/>
                  </a:cubicBezTo>
                  <a:lnTo>
                    <a:pt x="78466" y="812800"/>
                  </a:lnTo>
                  <a:cubicBezTo>
                    <a:pt x="35130" y="812800"/>
                    <a:pt x="0" y="777670"/>
                    <a:pt x="0" y="734334"/>
                  </a:cubicBezTo>
                  <a:lnTo>
                    <a:pt x="0" y="78466"/>
                  </a:lnTo>
                  <a:cubicBezTo>
                    <a:pt x="0" y="35130"/>
                    <a:pt x="35130" y="0"/>
                    <a:pt x="78466" y="0"/>
                  </a:cubicBezTo>
                  <a:close/>
                </a:path>
              </a:pathLst>
            </a:custGeom>
            <a:solidFill>
              <a:srgbClr val="FFF3C2">
                <a:alpha val="35686"/>
              </a:srgbClr>
            </a:solidFill>
          </p:spPr>
          <p:txBody>
            <a:bodyPr/>
            <a:lstStyle/>
            <a:p>
              <a:endParaRPr lang="en-US" sz="1200"/>
            </a:p>
          </p:txBody>
        </p:sp>
        <p:sp>
          <p:nvSpPr>
            <p:cNvPr id="14" name="TextBox 14"/>
            <p:cNvSpPr txBox="1"/>
            <p:nvPr/>
          </p:nvSpPr>
          <p:spPr>
            <a:xfrm>
              <a:off x="0" y="-9525"/>
              <a:ext cx="1403249" cy="822325"/>
            </a:xfrm>
            <a:prstGeom prst="rect">
              <a:avLst/>
            </a:prstGeom>
          </p:spPr>
          <p:txBody>
            <a:bodyPr lIns="33867" tIns="33867" rIns="33867" bIns="33867" rtlCol="0" anchor="ctr"/>
            <a:lstStyle/>
            <a:p>
              <a:pPr algn="ctr">
                <a:lnSpc>
                  <a:spcPts val="2073"/>
                </a:lnSpc>
              </a:pPr>
              <a:endParaRPr sz="1200"/>
            </a:p>
          </p:txBody>
        </p:sp>
      </p:grpSp>
      <p:grpSp>
        <p:nvGrpSpPr>
          <p:cNvPr id="15" name="Group 15"/>
          <p:cNvGrpSpPr/>
          <p:nvPr/>
        </p:nvGrpSpPr>
        <p:grpSpPr>
          <a:xfrm>
            <a:off x="200296" y="1171375"/>
            <a:ext cx="3551973" cy="2057400"/>
            <a:chOff x="0" y="0"/>
            <a:chExt cx="1403249" cy="812800"/>
          </a:xfrm>
        </p:grpSpPr>
        <p:sp>
          <p:nvSpPr>
            <p:cNvPr id="16" name="Freeform 16"/>
            <p:cNvSpPr/>
            <p:nvPr/>
          </p:nvSpPr>
          <p:spPr>
            <a:xfrm>
              <a:off x="0" y="0"/>
              <a:ext cx="1403249" cy="812800"/>
            </a:xfrm>
            <a:custGeom>
              <a:avLst/>
              <a:gdLst/>
              <a:ahLst/>
              <a:cxnLst/>
              <a:rect l="l" t="t" r="r" b="b"/>
              <a:pathLst>
                <a:path w="1403249" h="812800">
                  <a:moveTo>
                    <a:pt x="78466" y="0"/>
                  </a:moveTo>
                  <a:lnTo>
                    <a:pt x="1324783" y="0"/>
                  </a:lnTo>
                  <a:cubicBezTo>
                    <a:pt x="1368118" y="0"/>
                    <a:pt x="1403249" y="35130"/>
                    <a:pt x="1403249" y="78466"/>
                  </a:cubicBezTo>
                  <a:lnTo>
                    <a:pt x="1403249" y="734334"/>
                  </a:lnTo>
                  <a:cubicBezTo>
                    <a:pt x="1403249" y="755144"/>
                    <a:pt x="1394982" y="775103"/>
                    <a:pt x="1380267" y="789818"/>
                  </a:cubicBezTo>
                  <a:cubicBezTo>
                    <a:pt x="1365551" y="804533"/>
                    <a:pt x="1345593" y="812800"/>
                    <a:pt x="1324783" y="812800"/>
                  </a:cubicBezTo>
                  <a:lnTo>
                    <a:pt x="78466" y="812800"/>
                  </a:lnTo>
                  <a:cubicBezTo>
                    <a:pt x="35130" y="812800"/>
                    <a:pt x="0" y="777670"/>
                    <a:pt x="0" y="734334"/>
                  </a:cubicBezTo>
                  <a:lnTo>
                    <a:pt x="0" y="78466"/>
                  </a:lnTo>
                  <a:cubicBezTo>
                    <a:pt x="0" y="35130"/>
                    <a:pt x="35130" y="0"/>
                    <a:pt x="78466" y="0"/>
                  </a:cubicBezTo>
                  <a:close/>
                </a:path>
              </a:pathLst>
            </a:custGeom>
            <a:solidFill>
              <a:srgbClr val="FFF3C2">
                <a:alpha val="35686"/>
              </a:srgbClr>
            </a:solidFill>
          </p:spPr>
          <p:txBody>
            <a:bodyPr/>
            <a:lstStyle/>
            <a:p>
              <a:endParaRPr lang="en-US" sz="1200"/>
            </a:p>
          </p:txBody>
        </p:sp>
        <p:sp>
          <p:nvSpPr>
            <p:cNvPr id="17" name="TextBox 17"/>
            <p:cNvSpPr txBox="1"/>
            <p:nvPr/>
          </p:nvSpPr>
          <p:spPr>
            <a:xfrm>
              <a:off x="0" y="-9525"/>
              <a:ext cx="1403249" cy="822325"/>
            </a:xfrm>
            <a:prstGeom prst="rect">
              <a:avLst/>
            </a:prstGeom>
          </p:spPr>
          <p:txBody>
            <a:bodyPr lIns="33867" tIns="33867" rIns="33867" bIns="33867" rtlCol="0" anchor="ctr"/>
            <a:lstStyle/>
            <a:p>
              <a:pPr algn="ctr">
                <a:lnSpc>
                  <a:spcPts val="2073"/>
                </a:lnSpc>
              </a:pPr>
              <a:endParaRPr sz="1200"/>
            </a:p>
          </p:txBody>
        </p:sp>
      </p:grpSp>
      <p:grpSp>
        <p:nvGrpSpPr>
          <p:cNvPr id="18" name="Group 18"/>
          <p:cNvGrpSpPr/>
          <p:nvPr/>
        </p:nvGrpSpPr>
        <p:grpSpPr>
          <a:xfrm>
            <a:off x="200296" y="3368475"/>
            <a:ext cx="3551973" cy="2986993"/>
            <a:chOff x="0" y="0"/>
            <a:chExt cx="1403249" cy="1180047"/>
          </a:xfrm>
        </p:grpSpPr>
        <p:sp>
          <p:nvSpPr>
            <p:cNvPr id="19" name="Freeform 19"/>
            <p:cNvSpPr/>
            <p:nvPr/>
          </p:nvSpPr>
          <p:spPr>
            <a:xfrm>
              <a:off x="0" y="0"/>
              <a:ext cx="1403249" cy="1180047"/>
            </a:xfrm>
            <a:custGeom>
              <a:avLst/>
              <a:gdLst/>
              <a:ahLst/>
              <a:cxnLst/>
              <a:rect l="l" t="t" r="r" b="b"/>
              <a:pathLst>
                <a:path w="1403249" h="1180047">
                  <a:moveTo>
                    <a:pt x="18890" y="0"/>
                  </a:moveTo>
                  <a:lnTo>
                    <a:pt x="1384359" y="0"/>
                  </a:lnTo>
                  <a:cubicBezTo>
                    <a:pt x="1394791" y="0"/>
                    <a:pt x="1403249" y="8457"/>
                    <a:pt x="1403249" y="18890"/>
                  </a:cubicBezTo>
                  <a:lnTo>
                    <a:pt x="1403249" y="1161157"/>
                  </a:lnTo>
                  <a:cubicBezTo>
                    <a:pt x="1403249" y="1166167"/>
                    <a:pt x="1401258" y="1170971"/>
                    <a:pt x="1397716" y="1174514"/>
                  </a:cubicBezTo>
                  <a:cubicBezTo>
                    <a:pt x="1394173" y="1178056"/>
                    <a:pt x="1389369" y="1180047"/>
                    <a:pt x="1384359" y="1180047"/>
                  </a:cubicBezTo>
                  <a:lnTo>
                    <a:pt x="18890" y="1180047"/>
                  </a:lnTo>
                  <a:cubicBezTo>
                    <a:pt x="13880" y="1180047"/>
                    <a:pt x="9075" y="1178056"/>
                    <a:pt x="5533" y="1174514"/>
                  </a:cubicBezTo>
                  <a:cubicBezTo>
                    <a:pt x="1990" y="1170971"/>
                    <a:pt x="0" y="1166167"/>
                    <a:pt x="0" y="1161157"/>
                  </a:cubicBezTo>
                  <a:lnTo>
                    <a:pt x="0" y="18890"/>
                  </a:lnTo>
                  <a:cubicBezTo>
                    <a:pt x="0" y="13880"/>
                    <a:pt x="1990" y="9075"/>
                    <a:pt x="5533" y="5533"/>
                  </a:cubicBezTo>
                  <a:cubicBezTo>
                    <a:pt x="9075" y="1990"/>
                    <a:pt x="13880" y="0"/>
                    <a:pt x="18890" y="0"/>
                  </a:cubicBezTo>
                  <a:close/>
                </a:path>
              </a:pathLst>
            </a:custGeom>
            <a:solidFill>
              <a:srgbClr val="FFFFFF">
                <a:alpha val="35686"/>
              </a:srgbClr>
            </a:solidFill>
            <a:ln w="38100" cap="sq">
              <a:solidFill>
                <a:srgbClr val="000000">
                  <a:alpha val="35686"/>
                </a:srgbClr>
              </a:solidFill>
              <a:prstDash val="sysDot"/>
              <a:miter/>
            </a:ln>
          </p:spPr>
          <p:txBody>
            <a:bodyPr/>
            <a:lstStyle/>
            <a:p>
              <a:endParaRPr lang="en-US" sz="1200"/>
            </a:p>
          </p:txBody>
        </p:sp>
        <p:sp>
          <p:nvSpPr>
            <p:cNvPr id="20" name="TextBox 20"/>
            <p:cNvSpPr txBox="1"/>
            <p:nvPr/>
          </p:nvSpPr>
          <p:spPr>
            <a:xfrm>
              <a:off x="0" y="-9525"/>
              <a:ext cx="1403249" cy="1189572"/>
            </a:xfrm>
            <a:prstGeom prst="rect">
              <a:avLst/>
            </a:prstGeom>
          </p:spPr>
          <p:txBody>
            <a:bodyPr lIns="33867" tIns="33867" rIns="33867" bIns="33867" rtlCol="0" anchor="ctr"/>
            <a:lstStyle/>
            <a:p>
              <a:pPr algn="ctr">
                <a:lnSpc>
                  <a:spcPts val="2073"/>
                </a:lnSpc>
              </a:pPr>
              <a:endParaRPr sz="1200"/>
            </a:p>
          </p:txBody>
        </p:sp>
      </p:grpSp>
      <p:grpSp>
        <p:nvGrpSpPr>
          <p:cNvPr id="21" name="Group 21"/>
          <p:cNvGrpSpPr/>
          <p:nvPr/>
        </p:nvGrpSpPr>
        <p:grpSpPr>
          <a:xfrm>
            <a:off x="3990522" y="3368475"/>
            <a:ext cx="4210957" cy="2986993"/>
            <a:chOff x="0" y="0"/>
            <a:chExt cx="1663588" cy="1180047"/>
          </a:xfrm>
        </p:grpSpPr>
        <p:sp>
          <p:nvSpPr>
            <p:cNvPr id="22" name="Freeform 22"/>
            <p:cNvSpPr/>
            <p:nvPr/>
          </p:nvSpPr>
          <p:spPr>
            <a:xfrm>
              <a:off x="0" y="0"/>
              <a:ext cx="1663588" cy="1180047"/>
            </a:xfrm>
            <a:custGeom>
              <a:avLst/>
              <a:gdLst/>
              <a:ahLst/>
              <a:cxnLst/>
              <a:rect l="l" t="t" r="r" b="b"/>
              <a:pathLst>
                <a:path w="1663588" h="1180047">
                  <a:moveTo>
                    <a:pt x="15934" y="0"/>
                  </a:moveTo>
                  <a:lnTo>
                    <a:pt x="1647654" y="0"/>
                  </a:lnTo>
                  <a:cubicBezTo>
                    <a:pt x="1656454" y="0"/>
                    <a:pt x="1663588" y="7134"/>
                    <a:pt x="1663588" y="15934"/>
                  </a:cubicBezTo>
                  <a:lnTo>
                    <a:pt x="1663588" y="1164113"/>
                  </a:lnTo>
                  <a:cubicBezTo>
                    <a:pt x="1663588" y="1172913"/>
                    <a:pt x="1656454" y="1180047"/>
                    <a:pt x="1647654" y="1180047"/>
                  </a:cubicBezTo>
                  <a:lnTo>
                    <a:pt x="15934" y="1180047"/>
                  </a:lnTo>
                  <a:cubicBezTo>
                    <a:pt x="7134" y="1180047"/>
                    <a:pt x="0" y="1172913"/>
                    <a:pt x="0" y="1164113"/>
                  </a:cubicBezTo>
                  <a:lnTo>
                    <a:pt x="0" y="15934"/>
                  </a:lnTo>
                  <a:cubicBezTo>
                    <a:pt x="0" y="7134"/>
                    <a:pt x="7134" y="0"/>
                    <a:pt x="15934" y="0"/>
                  </a:cubicBezTo>
                  <a:close/>
                </a:path>
              </a:pathLst>
            </a:custGeom>
            <a:solidFill>
              <a:srgbClr val="FFFFFF">
                <a:alpha val="35686"/>
              </a:srgbClr>
            </a:solidFill>
            <a:ln w="38100" cap="sq">
              <a:solidFill>
                <a:srgbClr val="000000">
                  <a:alpha val="35686"/>
                </a:srgbClr>
              </a:solidFill>
              <a:prstDash val="sysDot"/>
              <a:miter/>
            </a:ln>
          </p:spPr>
          <p:txBody>
            <a:bodyPr/>
            <a:lstStyle/>
            <a:p>
              <a:endParaRPr lang="en-US" sz="1200"/>
            </a:p>
          </p:txBody>
        </p:sp>
        <p:sp>
          <p:nvSpPr>
            <p:cNvPr id="23" name="TextBox 23"/>
            <p:cNvSpPr txBox="1"/>
            <p:nvPr/>
          </p:nvSpPr>
          <p:spPr>
            <a:xfrm>
              <a:off x="0" y="-9525"/>
              <a:ext cx="1663588" cy="1189572"/>
            </a:xfrm>
            <a:prstGeom prst="rect">
              <a:avLst/>
            </a:prstGeom>
          </p:spPr>
          <p:txBody>
            <a:bodyPr lIns="33867" tIns="33867" rIns="33867" bIns="33867" rtlCol="0" anchor="ctr"/>
            <a:lstStyle/>
            <a:p>
              <a:pPr algn="ctr">
                <a:lnSpc>
                  <a:spcPts val="2073"/>
                </a:lnSpc>
              </a:pPr>
              <a:endParaRPr sz="1200"/>
            </a:p>
          </p:txBody>
        </p:sp>
      </p:grpSp>
      <p:grpSp>
        <p:nvGrpSpPr>
          <p:cNvPr id="24" name="Group 24"/>
          <p:cNvGrpSpPr/>
          <p:nvPr/>
        </p:nvGrpSpPr>
        <p:grpSpPr>
          <a:xfrm>
            <a:off x="8388338" y="3343075"/>
            <a:ext cx="3551973" cy="2986993"/>
            <a:chOff x="0" y="0"/>
            <a:chExt cx="1403249" cy="1180047"/>
          </a:xfrm>
        </p:grpSpPr>
        <p:sp>
          <p:nvSpPr>
            <p:cNvPr id="25" name="Freeform 25"/>
            <p:cNvSpPr/>
            <p:nvPr/>
          </p:nvSpPr>
          <p:spPr>
            <a:xfrm>
              <a:off x="0" y="0"/>
              <a:ext cx="1403249" cy="1180047"/>
            </a:xfrm>
            <a:custGeom>
              <a:avLst/>
              <a:gdLst/>
              <a:ahLst/>
              <a:cxnLst/>
              <a:rect l="l" t="t" r="r" b="b"/>
              <a:pathLst>
                <a:path w="1403249" h="1180047">
                  <a:moveTo>
                    <a:pt x="18890" y="0"/>
                  </a:moveTo>
                  <a:lnTo>
                    <a:pt x="1384359" y="0"/>
                  </a:lnTo>
                  <a:cubicBezTo>
                    <a:pt x="1394791" y="0"/>
                    <a:pt x="1403249" y="8457"/>
                    <a:pt x="1403249" y="18890"/>
                  </a:cubicBezTo>
                  <a:lnTo>
                    <a:pt x="1403249" y="1161157"/>
                  </a:lnTo>
                  <a:cubicBezTo>
                    <a:pt x="1403249" y="1166167"/>
                    <a:pt x="1401258" y="1170971"/>
                    <a:pt x="1397716" y="1174514"/>
                  </a:cubicBezTo>
                  <a:cubicBezTo>
                    <a:pt x="1394173" y="1178056"/>
                    <a:pt x="1389369" y="1180047"/>
                    <a:pt x="1384359" y="1180047"/>
                  </a:cubicBezTo>
                  <a:lnTo>
                    <a:pt x="18890" y="1180047"/>
                  </a:lnTo>
                  <a:cubicBezTo>
                    <a:pt x="13880" y="1180047"/>
                    <a:pt x="9075" y="1178056"/>
                    <a:pt x="5533" y="1174514"/>
                  </a:cubicBezTo>
                  <a:cubicBezTo>
                    <a:pt x="1990" y="1170971"/>
                    <a:pt x="0" y="1166167"/>
                    <a:pt x="0" y="1161157"/>
                  </a:cubicBezTo>
                  <a:lnTo>
                    <a:pt x="0" y="18890"/>
                  </a:lnTo>
                  <a:cubicBezTo>
                    <a:pt x="0" y="13880"/>
                    <a:pt x="1990" y="9075"/>
                    <a:pt x="5533" y="5533"/>
                  </a:cubicBezTo>
                  <a:cubicBezTo>
                    <a:pt x="9075" y="1990"/>
                    <a:pt x="13880" y="0"/>
                    <a:pt x="18890" y="0"/>
                  </a:cubicBezTo>
                  <a:close/>
                </a:path>
              </a:pathLst>
            </a:custGeom>
            <a:solidFill>
              <a:srgbClr val="FFFFFF">
                <a:alpha val="35686"/>
              </a:srgbClr>
            </a:solidFill>
            <a:ln w="38100" cap="sq">
              <a:solidFill>
                <a:srgbClr val="000000">
                  <a:alpha val="35686"/>
                </a:srgbClr>
              </a:solidFill>
              <a:prstDash val="sysDot"/>
              <a:miter/>
            </a:ln>
          </p:spPr>
          <p:txBody>
            <a:bodyPr/>
            <a:lstStyle/>
            <a:p>
              <a:endParaRPr lang="en-US" sz="1200"/>
            </a:p>
          </p:txBody>
        </p:sp>
        <p:sp>
          <p:nvSpPr>
            <p:cNvPr id="26" name="TextBox 26"/>
            <p:cNvSpPr txBox="1"/>
            <p:nvPr/>
          </p:nvSpPr>
          <p:spPr>
            <a:xfrm>
              <a:off x="0" y="-9525"/>
              <a:ext cx="1403249" cy="1189572"/>
            </a:xfrm>
            <a:prstGeom prst="rect">
              <a:avLst/>
            </a:prstGeom>
          </p:spPr>
          <p:txBody>
            <a:bodyPr lIns="33867" tIns="33867" rIns="33867" bIns="33867" rtlCol="0" anchor="ctr"/>
            <a:lstStyle/>
            <a:p>
              <a:pPr algn="just">
                <a:lnSpc>
                  <a:spcPts val="2073"/>
                </a:lnSpc>
              </a:pPr>
              <a:endParaRPr sz="1200"/>
            </a:p>
          </p:txBody>
        </p:sp>
      </p:grpSp>
      <p:sp>
        <p:nvSpPr>
          <p:cNvPr id="27" name="Freeform 27"/>
          <p:cNvSpPr/>
          <p:nvPr/>
        </p:nvSpPr>
        <p:spPr>
          <a:xfrm>
            <a:off x="5563059" y="1987471"/>
            <a:ext cx="1102854" cy="1121071"/>
          </a:xfrm>
          <a:custGeom>
            <a:avLst/>
            <a:gdLst/>
            <a:ahLst/>
            <a:cxnLst/>
            <a:rect l="l" t="t" r="r" b="b"/>
            <a:pathLst>
              <a:path w="1654281" h="1681607">
                <a:moveTo>
                  <a:pt x="0" y="0"/>
                </a:moveTo>
                <a:lnTo>
                  <a:pt x="1654281" y="0"/>
                </a:lnTo>
                <a:lnTo>
                  <a:pt x="1654281" y="1681607"/>
                </a:lnTo>
                <a:lnTo>
                  <a:pt x="0" y="1681607"/>
                </a:lnTo>
                <a:lnTo>
                  <a:pt x="0" y="0"/>
                </a:lnTo>
                <a:close/>
              </a:path>
            </a:pathLst>
          </a:custGeom>
          <a:blipFill>
            <a:blip r:embed="rId5"/>
            <a:stretch>
              <a:fillRect/>
            </a:stretch>
          </a:blipFill>
        </p:spPr>
        <p:txBody>
          <a:bodyPr/>
          <a:lstStyle/>
          <a:p>
            <a:endParaRPr lang="en-US" sz="1200"/>
          </a:p>
        </p:txBody>
      </p:sp>
      <p:sp>
        <p:nvSpPr>
          <p:cNvPr id="28" name="Freeform 28"/>
          <p:cNvSpPr/>
          <p:nvPr/>
        </p:nvSpPr>
        <p:spPr>
          <a:xfrm>
            <a:off x="9162239" y="2106354"/>
            <a:ext cx="2181983" cy="889158"/>
          </a:xfrm>
          <a:custGeom>
            <a:avLst/>
            <a:gdLst/>
            <a:ahLst/>
            <a:cxnLst/>
            <a:rect l="l" t="t" r="r" b="b"/>
            <a:pathLst>
              <a:path w="3272975" h="1333737">
                <a:moveTo>
                  <a:pt x="0" y="0"/>
                </a:moveTo>
                <a:lnTo>
                  <a:pt x="3272975" y="0"/>
                </a:lnTo>
                <a:lnTo>
                  <a:pt x="3272975" y="1333737"/>
                </a:lnTo>
                <a:lnTo>
                  <a:pt x="0" y="13337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sz="1200"/>
          </a:p>
        </p:txBody>
      </p:sp>
      <p:sp>
        <p:nvSpPr>
          <p:cNvPr id="29" name="Freeform 29"/>
          <p:cNvSpPr/>
          <p:nvPr/>
        </p:nvSpPr>
        <p:spPr>
          <a:xfrm>
            <a:off x="1453717" y="1974771"/>
            <a:ext cx="1045131" cy="1133771"/>
          </a:xfrm>
          <a:custGeom>
            <a:avLst/>
            <a:gdLst/>
            <a:ahLst/>
            <a:cxnLst/>
            <a:rect l="l" t="t" r="r" b="b"/>
            <a:pathLst>
              <a:path w="1567697" h="1700657">
                <a:moveTo>
                  <a:pt x="0" y="0"/>
                </a:moveTo>
                <a:lnTo>
                  <a:pt x="1567697" y="0"/>
                </a:lnTo>
                <a:lnTo>
                  <a:pt x="1567697" y="1700657"/>
                </a:lnTo>
                <a:lnTo>
                  <a:pt x="0" y="170065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sz="1200"/>
          </a:p>
        </p:txBody>
      </p:sp>
      <p:sp>
        <p:nvSpPr>
          <p:cNvPr id="30" name="TextBox 30"/>
          <p:cNvSpPr txBox="1"/>
          <p:nvPr/>
        </p:nvSpPr>
        <p:spPr>
          <a:xfrm>
            <a:off x="200297" y="64051"/>
            <a:ext cx="11828379" cy="348942"/>
          </a:xfrm>
          <a:prstGeom prst="rect">
            <a:avLst/>
          </a:prstGeom>
        </p:spPr>
        <p:txBody>
          <a:bodyPr lIns="0" tIns="0" rIns="0" bIns="0" rtlCol="0" anchor="t">
            <a:spAutoFit/>
          </a:bodyPr>
          <a:lstStyle/>
          <a:p>
            <a:pPr>
              <a:lnSpc>
                <a:spcPts val="2880"/>
              </a:lnSpc>
            </a:pPr>
            <a:r>
              <a:rPr lang="en-US" sz="2400" b="1">
                <a:solidFill>
                  <a:srgbClr val="119303"/>
                </a:solidFill>
                <a:latin typeface="Arial Bold"/>
                <a:ea typeface="Arial Bold"/>
                <a:cs typeface="Arial Bold"/>
                <a:sym typeface="Arial Bold"/>
              </a:rPr>
              <a:t>Nguyên tắc chung thiết lập KPIs 2026</a:t>
            </a:r>
          </a:p>
        </p:txBody>
      </p:sp>
      <p:sp>
        <p:nvSpPr>
          <p:cNvPr id="31" name="TextBox 31"/>
          <p:cNvSpPr txBox="1"/>
          <p:nvPr/>
        </p:nvSpPr>
        <p:spPr>
          <a:xfrm>
            <a:off x="200297" y="571500"/>
            <a:ext cx="11828379" cy="307777"/>
          </a:xfrm>
          <a:prstGeom prst="rect">
            <a:avLst/>
          </a:prstGeom>
        </p:spPr>
        <p:txBody>
          <a:bodyPr lIns="0" tIns="0" rIns="0" bIns="0" rtlCol="0" anchor="t">
            <a:spAutoFit/>
          </a:bodyPr>
          <a:lstStyle/>
          <a:p>
            <a:pPr>
              <a:lnSpc>
                <a:spcPts val="2400"/>
              </a:lnSpc>
            </a:pPr>
            <a:r>
              <a:rPr lang="en-US" sz="2000" b="1">
                <a:solidFill>
                  <a:srgbClr val="39618E"/>
                </a:solidFill>
                <a:latin typeface="Arial Bold"/>
                <a:ea typeface="Arial Bold"/>
                <a:cs typeface="Arial Bold"/>
                <a:sym typeface="Arial Bold"/>
              </a:rPr>
              <a:t>Nguyên tắc chung</a:t>
            </a:r>
          </a:p>
        </p:txBody>
      </p:sp>
      <p:sp>
        <p:nvSpPr>
          <p:cNvPr id="32" name="TextBox 32"/>
          <p:cNvSpPr txBox="1"/>
          <p:nvPr/>
        </p:nvSpPr>
        <p:spPr>
          <a:xfrm>
            <a:off x="4943904" y="1314371"/>
            <a:ext cx="2341165" cy="596958"/>
          </a:xfrm>
          <a:prstGeom prst="rect">
            <a:avLst/>
          </a:prstGeom>
        </p:spPr>
        <p:txBody>
          <a:bodyPr lIns="0" tIns="0" rIns="0" bIns="0" rtlCol="0" anchor="t">
            <a:spAutoFit/>
          </a:bodyPr>
          <a:lstStyle/>
          <a:p>
            <a:pPr algn="ctr">
              <a:lnSpc>
                <a:spcPts val="2399"/>
              </a:lnSpc>
            </a:pPr>
            <a:r>
              <a:rPr lang="en-US" sz="1999" b="1">
                <a:solidFill>
                  <a:srgbClr val="39618E"/>
                </a:solidFill>
                <a:latin typeface="Arial Bold"/>
                <a:ea typeface="Arial Bold"/>
                <a:cs typeface="Arial Bold"/>
                <a:sym typeface="Arial Bold"/>
              </a:rPr>
              <a:t>NGUYÊN TẮC</a:t>
            </a:r>
          </a:p>
          <a:p>
            <a:pPr algn="ctr">
              <a:lnSpc>
                <a:spcPts val="2399"/>
              </a:lnSpc>
            </a:pPr>
            <a:r>
              <a:rPr lang="en-US" sz="1999" b="1">
                <a:solidFill>
                  <a:srgbClr val="39618E"/>
                </a:solidFill>
                <a:latin typeface="Arial Bold"/>
                <a:ea typeface="Arial Bold"/>
                <a:cs typeface="Arial Bold"/>
                <a:sym typeface="Arial Bold"/>
              </a:rPr>
              <a:t>PHÁT TRIỂN</a:t>
            </a:r>
          </a:p>
        </p:txBody>
      </p:sp>
      <p:sp>
        <p:nvSpPr>
          <p:cNvPr id="33" name="TextBox 33"/>
          <p:cNvSpPr txBox="1"/>
          <p:nvPr/>
        </p:nvSpPr>
        <p:spPr>
          <a:xfrm>
            <a:off x="8766643" y="1301533"/>
            <a:ext cx="2973177" cy="596958"/>
          </a:xfrm>
          <a:prstGeom prst="rect">
            <a:avLst/>
          </a:prstGeom>
        </p:spPr>
        <p:txBody>
          <a:bodyPr wrap="square" lIns="0" tIns="0" rIns="0" bIns="0" rtlCol="0" anchor="t">
            <a:spAutoFit/>
          </a:bodyPr>
          <a:lstStyle/>
          <a:p>
            <a:pPr algn="ctr">
              <a:lnSpc>
                <a:spcPts val="2399"/>
              </a:lnSpc>
            </a:pPr>
            <a:r>
              <a:rPr lang="en-US" sz="1999" b="1">
                <a:solidFill>
                  <a:srgbClr val="39618E"/>
                </a:solidFill>
                <a:latin typeface="Arial Bold"/>
                <a:ea typeface="Arial Bold"/>
                <a:cs typeface="Arial Bold"/>
                <a:sym typeface="Arial Bold"/>
              </a:rPr>
              <a:t>PHÂN BỔ VÀ BÁO CÁO KPI THEO THÁNG</a:t>
            </a:r>
          </a:p>
        </p:txBody>
      </p:sp>
      <p:sp>
        <p:nvSpPr>
          <p:cNvPr id="34" name="TextBox 34"/>
          <p:cNvSpPr txBox="1"/>
          <p:nvPr/>
        </p:nvSpPr>
        <p:spPr>
          <a:xfrm>
            <a:off x="557809" y="1314371"/>
            <a:ext cx="2836948" cy="596958"/>
          </a:xfrm>
          <a:prstGeom prst="rect">
            <a:avLst/>
          </a:prstGeom>
        </p:spPr>
        <p:txBody>
          <a:bodyPr lIns="0" tIns="0" rIns="0" bIns="0" rtlCol="0" anchor="t">
            <a:spAutoFit/>
          </a:bodyPr>
          <a:lstStyle/>
          <a:p>
            <a:pPr algn="ctr">
              <a:lnSpc>
                <a:spcPts val="2399"/>
              </a:lnSpc>
            </a:pPr>
            <a:r>
              <a:rPr lang="en-US" sz="1999" b="1">
                <a:solidFill>
                  <a:srgbClr val="39618E"/>
                </a:solidFill>
                <a:latin typeface="Arial Bold"/>
                <a:ea typeface="Arial Bold"/>
                <a:cs typeface="Arial Bold"/>
                <a:sym typeface="Arial Bold"/>
              </a:rPr>
              <a:t>NGUYÊN TẮC</a:t>
            </a:r>
          </a:p>
          <a:p>
            <a:pPr algn="ctr">
              <a:lnSpc>
                <a:spcPts val="2399"/>
              </a:lnSpc>
            </a:pPr>
            <a:r>
              <a:rPr lang="en-US" sz="1999" b="1">
                <a:solidFill>
                  <a:srgbClr val="39618E"/>
                </a:solidFill>
                <a:latin typeface="Arial Bold"/>
                <a:ea typeface="Arial Bold"/>
                <a:cs typeface="Arial Bold"/>
                <a:sym typeface="Arial Bold"/>
              </a:rPr>
              <a:t>“10X10"</a:t>
            </a:r>
          </a:p>
        </p:txBody>
      </p:sp>
      <p:sp>
        <p:nvSpPr>
          <p:cNvPr id="35" name="TextBox 35"/>
          <p:cNvSpPr txBox="1"/>
          <p:nvPr/>
        </p:nvSpPr>
        <p:spPr>
          <a:xfrm>
            <a:off x="8614229" y="3632149"/>
            <a:ext cx="3150991" cy="2257028"/>
          </a:xfrm>
          <a:prstGeom prst="rect">
            <a:avLst/>
          </a:prstGeom>
        </p:spPr>
        <p:txBody>
          <a:bodyPr lIns="0" tIns="0" rIns="0" bIns="0" rtlCol="0" anchor="t">
            <a:spAutoFit/>
          </a:bodyPr>
          <a:lstStyle/>
          <a:p>
            <a:pPr marL="403033" lvl="1" indent="-201517" algn="just">
              <a:lnSpc>
                <a:spcPts val="2239"/>
              </a:lnSpc>
              <a:buFont typeface="Arial"/>
              <a:buChar char="•"/>
            </a:pPr>
            <a:r>
              <a:rPr lang="en-US" sz="1866">
                <a:solidFill>
                  <a:srgbClr val="2C6C98"/>
                </a:solidFill>
                <a:latin typeface="Tahoma"/>
                <a:ea typeface="Tahoma"/>
                <a:cs typeface="Tahoma"/>
                <a:sym typeface="Tahoma"/>
              </a:rPr>
              <a:t>Tất cả KPI phải phân bổ chỉ tiêu theo tháng</a:t>
            </a:r>
          </a:p>
          <a:p>
            <a:pPr marL="403033" lvl="1" indent="-201517" algn="just">
              <a:lnSpc>
                <a:spcPts val="2239"/>
              </a:lnSpc>
              <a:buFont typeface="Arial"/>
              <a:buChar char="•"/>
            </a:pPr>
            <a:r>
              <a:rPr lang="en-US" sz="1866">
                <a:solidFill>
                  <a:srgbClr val="2C6C98"/>
                </a:solidFill>
                <a:latin typeface="Tahoma"/>
                <a:ea typeface="Tahoma"/>
                <a:cs typeface="Tahoma"/>
                <a:sym typeface="Tahoma"/>
              </a:rPr>
              <a:t>Tần suất báo cáo KPI định kỳ hàng tháng</a:t>
            </a:r>
          </a:p>
          <a:p>
            <a:pPr marL="403033" lvl="1" indent="-201517" algn="just">
              <a:lnSpc>
                <a:spcPts val="2239"/>
              </a:lnSpc>
              <a:buFont typeface="Arial"/>
              <a:buChar char="•"/>
            </a:pPr>
            <a:r>
              <a:rPr lang="en-US" sz="1866">
                <a:solidFill>
                  <a:srgbClr val="2C6C98"/>
                </a:solidFill>
                <a:latin typeface="Tahoma"/>
                <a:ea typeface="Tahoma"/>
                <a:cs typeface="Tahoma"/>
                <a:sym typeface="Tahoma"/>
              </a:rPr>
              <a:t>Đối với các KPI đạt kết quả quý/ 6 tháng/ năm cần có KHHĐ phân rã cho từng tháng</a:t>
            </a:r>
          </a:p>
        </p:txBody>
      </p:sp>
      <p:sp>
        <p:nvSpPr>
          <p:cNvPr id="36" name="TextBox 36"/>
          <p:cNvSpPr txBox="1"/>
          <p:nvPr/>
        </p:nvSpPr>
        <p:spPr>
          <a:xfrm>
            <a:off x="4277002" y="3632150"/>
            <a:ext cx="3662267" cy="1974900"/>
          </a:xfrm>
          <a:prstGeom prst="rect">
            <a:avLst/>
          </a:prstGeom>
        </p:spPr>
        <p:txBody>
          <a:bodyPr lIns="0" tIns="0" rIns="0" bIns="0" rtlCol="0" anchor="t">
            <a:spAutoFit/>
          </a:bodyPr>
          <a:lstStyle/>
          <a:p>
            <a:pPr marL="304815" indent="-304815" algn="just">
              <a:lnSpc>
                <a:spcPts val="2239"/>
              </a:lnSpc>
              <a:buFont typeface="Arial" panose="020B0604020202020204" pitchFamily="34" charset="0"/>
              <a:buChar char="•"/>
            </a:pPr>
            <a:r>
              <a:rPr lang="en-US" sz="1866">
                <a:solidFill>
                  <a:srgbClr val="2C6C98"/>
                </a:solidFill>
                <a:latin typeface="Tahoma"/>
                <a:ea typeface="Tahoma"/>
                <a:cs typeface="Tahoma"/>
                <a:sym typeface="Tahoma"/>
              </a:rPr>
              <a:t>Mục tiêu KPI phải theo chiều hướng phát triển: năm sau tốt hơn năm trước, không đặt mục tiêu lỗ.</a:t>
            </a:r>
          </a:p>
          <a:p>
            <a:pPr algn="just">
              <a:lnSpc>
                <a:spcPts val="2239"/>
              </a:lnSpc>
            </a:pPr>
            <a:r>
              <a:rPr lang="en-US" sz="1866" i="1">
                <a:solidFill>
                  <a:srgbClr val="2C6C98"/>
                </a:solidFill>
                <a:latin typeface="Tahoma"/>
                <a:ea typeface="Tahoma"/>
                <a:cs typeface="Tahoma"/>
                <a:sym typeface="Tahoma"/>
              </a:rPr>
              <a:t>Trường hợp chưa thỏa mãn cá nhân, đơn vị cần giải trình rõ nguyên nhân.</a:t>
            </a:r>
          </a:p>
        </p:txBody>
      </p:sp>
      <p:sp>
        <p:nvSpPr>
          <p:cNvPr id="37" name="TextBox 37"/>
          <p:cNvSpPr txBox="1"/>
          <p:nvPr/>
        </p:nvSpPr>
        <p:spPr>
          <a:xfrm>
            <a:off x="400787" y="3434092"/>
            <a:ext cx="3150991" cy="2821285"/>
          </a:xfrm>
          <a:prstGeom prst="rect">
            <a:avLst/>
          </a:prstGeom>
        </p:spPr>
        <p:txBody>
          <a:bodyPr lIns="0" tIns="0" rIns="0" bIns="0" rtlCol="0" anchor="t">
            <a:spAutoFit/>
          </a:bodyPr>
          <a:lstStyle/>
          <a:p>
            <a:pPr algn="ctr">
              <a:lnSpc>
                <a:spcPts val="2239"/>
              </a:lnSpc>
            </a:pPr>
            <a:r>
              <a:rPr lang="en-US" sz="1866" b="1">
                <a:solidFill>
                  <a:srgbClr val="2C6C98"/>
                </a:solidFill>
                <a:latin typeface="Tahoma Bold"/>
                <a:ea typeface="Tahoma Bold"/>
                <a:cs typeface="Tahoma Bold"/>
                <a:sym typeface="Tahoma Bold"/>
              </a:rPr>
              <a:t>Đặt mục tiêu phát triển bền vững:</a:t>
            </a:r>
          </a:p>
          <a:p>
            <a:pPr marL="403033" lvl="1" indent="-201517">
              <a:lnSpc>
                <a:spcPts val="2239"/>
              </a:lnSpc>
              <a:buFont typeface="Arial"/>
              <a:buChar char="•"/>
            </a:pPr>
            <a:r>
              <a:rPr lang="en-US" sz="1866">
                <a:solidFill>
                  <a:srgbClr val="2C6C98"/>
                </a:solidFill>
                <a:latin typeface="Tahoma"/>
                <a:ea typeface="Tahoma"/>
                <a:cs typeface="Tahoma"/>
                <a:sym typeface="Tahoma"/>
              </a:rPr>
              <a:t>Tăng trưởng kinh doanh &gt;= 10% (Doanh thu, sản lượng)</a:t>
            </a:r>
          </a:p>
          <a:p>
            <a:pPr marL="403033" lvl="1" indent="-201517">
              <a:lnSpc>
                <a:spcPts val="2239"/>
              </a:lnSpc>
              <a:buFont typeface="Arial"/>
              <a:buChar char="•"/>
            </a:pPr>
            <a:r>
              <a:rPr lang="en-US" sz="1866">
                <a:solidFill>
                  <a:srgbClr val="2C6C98"/>
                </a:solidFill>
                <a:latin typeface="Tahoma"/>
                <a:ea typeface="Tahoma"/>
                <a:cs typeface="Tahoma"/>
                <a:sym typeface="Tahoma"/>
              </a:rPr>
              <a:t>Tăng trưởng lợi nhuận &gt;=10%</a:t>
            </a:r>
          </a:p>
          <a:p>
            <a:pPr>
              <a:lnSpc>
                <a:spcPts val="2239"/>
              </a:lnSpc>
            </a:pPr>
            <a:r>
              <a:rPr lang="en-US" sz="1866" i="1">
                <a:solidFill>
                  <a:srgbClr val="2C6C98"/>
                </a:solidFill>
                <a:latin typeface="Tahoma"/>
                <a:ea typeface="Tahoma"/>
                <a:cs typeface="Tahoma"/>
                <a:sym typeface="Tahoma"/>
              </a:rPr>
              <a:t>Trường hợp chưa thỏa mãn cá nhân, đơn vị cần giải trình rõ nguyên nhân.</a:t>
            </a:r>
          </a:p>
        </p:txBody>
      </p:sp>
      <p:sp>
        <p:nvSpPr>
          <p:cNvPr id="4" name="Slide Number Placeholder 3">
            <a:extLst>
              <a:ext uri="{FF2B5EF4-FFF2-40B4-BE49-F238E27FC236}">
                <a16:creationId xmlns:a16="http://schemas.microsoft.com/office/drawing/2014/main" id="{B242E936-ACFB-CAEE-7ABD-F22783965776}"/>
              </a:ext>
            </a:extLst>
          </p:cNvPr>
          <p:cNvSpPr>
            <a:spLocks noGrp="1"/>
          </p:cNvSpPr>
          <p:nvPr>
            <p:ph type="sldNum" sz="quarter" idx="12"/>
          </p:nvPr>
        </p:nvSpPr>
        <p:spPr/>
        <p:txBody>
          <a:bodyPr/>
          <a:lstStyle/>
          <a:p>
            <a:fld id="{06D5B5F9-488F-4DD3-845F-86795626F9DE}" type="slidenum">
              <a:rPr lang="en-US" smtClean="0"/>
              <a:t>11</a:t>
            </a:fld>
            <a:endParaRPr 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500" fill="hold"/>
                                        <p:tgtEl>
                                          <p:spTgt spid="34"/>
                                        </p:tgtEl>
                                        <p:attrNameLst>
                                          <p:attrName>ppt_x</p:attrName>
                                        </p:attrNameLst>
                                      </p:cBhvr>
                                      <p:tavLst>
                                        <p:tav tm="0">
                                          <p:val>
                                            <p:strVal val="#ppt_x"/>
                                          </p:val>
                                        </p:tav>
                                        <p:tav tm="100000">
                                          <p:val>
                                            <p:strVal val="#ppt_x"/>
                                          </p:val>
                                        </p:tav>
                                      </p:tavLst>
                                    </p:anim>
                                    <p:anim calcmode="lin" valueType="num">
                                      <p:cBhvr additive="base">
                                        <p:cTn id="20" dur="500" fill="hold"/>
                                        <p:tgtEl>
                                          <p:spTgt spid="3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ppt_x"/>
                                          </p:val>
                                        </p:tav>
                                        <p:tav tm="100000">
                                          <p:val>
                                            <p:strVal val="#ppt_x"/>
                                          </p:val>
                                        </p:tav>
                                      </p:tavLst>
                                    </p:anim>
                                    <p:anim calcmode="lin" valueType="num">
                                      <p:cBhvr additive="base">
                                        <p:cTn id="2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ppt_x"/>
                                          </p:val>
                                        </p:tav>
                                        <p:tav tm="100000">
                                          <p:val>
                                            <p:strVal val="#ppt_x"/>
                                          </p:val>
                                        </p:tav>
                                      </p:tavLst>
                                    </p:anim>
                                    <p:anim calcmode="lin" valueType="num">
                                      <p:cBhvr additive="base">
                                        <p:cTn id="34" dur="500" fill="hold"/>
                                        <p:tgtEl>
                                          <p:spTgt spid="2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additive="base">
                                        <p:cTn id="37" dur="500" fill="hold"/>
                                        <p:tgtEl>
                                          <p:spTgt spid="27"/>
                                        </p:tgtEl>
                                        <p:attrNameLst>
                                          <p:attrName>ppt_x</p:attrName>
                                        </p:attrNameLst>
                                      </p:cBhvr>
                                      <p:tavLst>
                                        <p:tav tm="0">
                                          <p:val>
                                            <p:strVal val="#ppt_x"/>
                                          </p:val>
                                        </p:tav>
                                        <p:tav tm="100000">
                                          <p:val>
                                            <p:strVal val="#ppt_x"/>
                                          </p:val>
                                        </p:tav>
                                      </p:tavLst>
                                    </p:anim>
                                    <p:anim calcmode="lin" valueType="num">
                                      <p:cBhvr additive="base">
                                        <p:cTn id="38" dur="500" fill="hold"/>
                                        <p:tgtEl>
                                          <p:spTgt spid="27"/>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ppt_x"/>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 calcmode="lin" valueType="num">
                                      <p:cBhvr additive="base">
                                        <p:cTn id="45" dur="500" fill="hold"/>
                                        <p:tgtEl>
                                          <p:spTgt spid="36"/>
                                        </p:tgtEl>
                                        <p:attrNameLst>
                                          <p:attrName>ppt_x</p:attrName>
                                        </p:attrNameLst>
                                      </p:cBhvr>
                                      <p:tavLst>
                                        <p:tav tm="0">
                                          <p:val>
                                            <p:strVal val="#ppt_x"/>
                                          </p:val>
                                        </p:tav>
                                        <p:tav tm="100000">
                                          <p:val>
                                            <p:strVal val="#ppt_x"/>
                                          </p:val>
                                        </p:tav>
                                      </p:tavLst>
                                    </p:anim>
                                    <p:anim calcmode="lin" valueType="num">
                                      <p:cBhvr additive="base">
                                        <p:cTn id="4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ppt_x"/>
                                          </p:val>
                                        </p:tav>
                                        <p:tav tm="100000">
                                          <p:val>
                                            <p:strVal val="#ppt_x"/>
                                          </p:val>
                                        </p:tav>
                                      </p:tavLst>
                                    </p:anim>
                                    <p:anim calcmode="lin" valueType="num">
                                      <p:cBhvr additive="base">
                                        <p:cTn id="56" dur="500" fill="hold"/>
                                        <p:tgtEl>
                                          <p:spTgt spid="2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500" fill="hold"/>
                                        <p:tgtEl>
                                          <p:spTgt spid="28"/>
                                        </p:tgtEl>
                                        <p:attrNameLst>
                                          <p:attrName>ppt_x</p:attrName>
                                        </p:attrNameLst>
                                      </p:cBhvr>
                                      <p:tavLst>
                                        <p:tav tm="0">
                                          <p:val>
                                            <p:strVal val="#ppt_x"/>
                                          </p:val>
                                        </p:tav>
                                        <p:tav tm="100000">
                                          <p:val>
                                            <p:strVal val="#ppt_x"/>
                                          </p:val>
                                        </p:tav>
                                      </p:tavLst>
                                    </p:anim>
                                    <p:anim calcmode="lin" valueType="num">
                                      <p:cBhvr additive="base">
                                        <p:cTn id="60" dur="500" fill="hold"/>
                                        <p:tgtEl>
                                          <p:spTgt spid="28"/>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 calcmode="lin" valueType="num">
                                      <p:cBhvr additive="base">
                                        <p:cTn id="63" dur="500" fill="hold"/>
                                        <p:tgtEl>
                                          <p:spTgt spid="33"/>
                                        </p:tgtEl>
                                        <p:attrNameLst>
                                          <p:attrName>ppt_x</p:attrName>
                                        </p:attrNameLst>
                                      </p:cBhvr>
                                      <p:tavLst>
                                        <p:tav tm="0">
                                          <p:val>
                                            <p:strVal val="#ppt_x"/>
                                          </p:val>
                                        </p:tav>
                                        <p:tav tm="100000">
                                          <p:val>
                                            <p:strVal val="#ppt_x"/>
                                          </p:val>
                                        </p:tav>
                                      </p:tavLst>
                                    </p:anim>
                                    <p:anim calcmode="lin" valueType="num">
                                      <p:cBhvr additive="base">
                                        <p:cTn id="64" dur="500" fill="hold"/>
                                        <p:tgtEl>
                                          <p:spTgt spid="33"/>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 calcmode="lin" valueType="num">
                                      <p:cBhvr additive="base">
                                        <p:cTn id="67" dur="500" fill="hold"/>
                                        <p:tgtEl>
                                          <p:spTgt spid="35"/>
                                        </p:tgtEl>
                                        <p:attrNameLst>
                                          <p:attrName>ppt_x</p:attrName>
                                        </p:attrNameLst>
                                      </p:cBhvr>
                                      <p:tavLst>
                                        <p:tav tm="0">
                                          <p:val>
                                            <p:strVal val="#ppt_x"/>
                                          </p:val>
                                        </p:tav>
                                        <p:tav tm="100000">
                                          <p:val>
                                            <p:strVal val="#ppt_x"/>
                                          </p:val>
                                        </p:tav>
                                      </p:tavLst>
                                    </p:anim>
                                    <p:anim calcmode="lin" valueType="num">
                                      <p:cBhvr additive="base">
                                        <p:cTn id="6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2" grpId="0"/>
      <p:bldP spid="33" grpId="0"/>
      <p:bldP spid="34" grpId="0"/>
      <p:bldP spid="35" grpId="0"/>
      <p:bldP spid="36" grpId="0"/>
      <p:bldP spid="3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90524-B4EF-4276-6A16-457E09B8525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B8F52B9-1C91-5B2D-CE03-3923294499B6}"/>
              </a:ext>
            </a:extLst>
          </p:cNvPr>
          <p:cNvGrpSpPr>
            <a:grpSpLocks noChangeAspect="1"/>
          </p:cNvGrpSpPr>
          <p:nvPr/>
        </p:nvGrpSpPr>
        <p:grpSpPr>
          <a:xfrm>
            <a:off x="0" y="-52905"/>
            <a:ext cx="12192000" cy="6563360"/>
            <a:chOff x="0" y="0"/>
            <a:chExt cx="24384000" cy="13126720"/>
          </a:xfrm>
        </p:grpSpPr>
        <p:sp>
          <p:nvSpPr>
            <p:cNvPr id="3" name="Freeform 3" descr="Skyscrapers shown from view looking up">
              <a:extLst>
                <a:ext uri="{FF2B5EF4-FFF2-40B4-BE49-F238E27FC236}">
                  <a16:creationId xmlns:a16="http://schemas.microsoft.com/office/drawing/2014/main" id="{E1DBC6AA-4071-1596-E38B-6F6A64218BCC}"/>
                </a:ext>
              </a:extLst>
            </p:cNvPr>
            <p:cNvSpPr/>
            <p:nvPr/>
          </p:nvSpPr>
          <p:spPr>
            <a:xfrm>
              <a:off x="0" y="0"/>
              <a:ext cx="24384000" cy="13126720"/>
            </a:xfrm>
            <a:custGeom>
              <a:avLst/>
              <a:gdLst/>
              <a:ahLst/>
              <a:cxnLst/>
              <a:rect l="l" t="t" r="r" b="b"/>
              <a:pathLst>
                <a:path w="24384000" h="13126720">
                  <a:moveTo>
                    <a:pt x="0" y="0"/>
                  </a:moveTo>
                  <a:lnTo>
                    <a:pt x="24384000" y="0"/>
                  </a:lnTo>
                  <a:lnTo>
                    <a:pt x="24384000" y="13126720"/>
                  </a:lnTo>
                  <a:lnTo>
                    <a:pt x="0" y="13126720"/>
                  </a:lnTo>
                  <a:lnTo>
                    <a:pt x="0" y="0"/>
                  </a:lnTo>
                  <a:close/>
                </a:path>
              </a:pathLst>
            </a:custGeom>
            <a:blipFill>
              <a:blip r:embed="rId3">
                <a:alphaModFix amt="5000"/>
              </a:blip>
              <a:stretch>
                <a:fillRect r="-12615" b="-39571"/>
              </a:stretch>
            </a:blipFill>
          </p:spPr>
          <p:txBody>
            <a:bodyPr/>
            <a:lstStyle/>
            <a:p>
              <a:endParaRPr lang="en-US" sz="1200"/>
            </a:p>
          </p:txBody>
        </p:sp>
      </p:grpSp>
      <p:grpSp>
        <p:nvGrpSpPr>
          <p:cNvPr id="4" name="Group 4">
            <a:extLst>
              <a:ext uri="{FF2B5EF4-FFF2-40B4-BE49-F238E27FC236}">
                <a16:creationId xmlns:a16="http://schemas.microsoft.com/office/drawing/2014/main" id="{4242FB66-E613-99A4-9100-1BFA9728CEB8}"/>
              </a:ext>
            </a:extLst>
          </p:cNvPr>
          <p:cNvGrpSpPr/>
          <p:nvPr/>
        </p:nvGrpSpPr>
        <p:grpSpPr>
          <a:xfrm>
            <a:off x="1545092" y="6575524"/>
            <a:ext cx="10638888" cy="281005"/>
            <a:chOff x="0" y="0"/>
            <a:chExt cx="21277776" cy="562011"/>
          </a:xfrm>
        </p:grpSpPr>
        <p:sp>
          <p:nvSpPr>
            <p:cNvPr id="5" name="Freeform 5">
              <a:extLst>
                <a:ext uri="{FF2B5EF4-FFF2-40B4-BE49-F238E27FC236}">
                  <a16:creationId xmlns:a16="http://schemas.microsoft.com/office/drawing/2014/main" id="{9415380F-BDC8-39EF-9FE2-A1E1ED062639}"/>
                </a:ext>
              </a:extLst>
            </p:cNvPr>
            <p:cNvSpPr/>
            <p:nvPr/>
          </p:nvSpPr>
          <p:spPr>
            <a:xfrm>
              <a:off x="0" y="0"/>
              <a:ext cx="21277835" cy="561975"/>
            </a:xfrm>
            <a:custGeom>
              <a:avLst/>
              <a:gdLst/>
              <a:ahLst/>
              <a:cxnLst/>
              <a:rect l="l" t="t" r="r" b="b"/>
              <a:pathLst>
                <a:path w="21277835" h="561975">
                  <a:moveTo>
                    <a:pt x="0" y="0"/>
                  </a:moveTo>
                  <a:lnTo>
                    <a:pt x="21277835" y="0"/>
                  </a:lnTo>
                  <a:lnTo>
                    <a:pt x="21277835" y="561975"/>
                  </a:lnTo>
                  <a:lnTo>
                    <a:pt x="0" y="561975"/>
                  </a:lnTo>
                  <a:close/>
                </a:path>
              </a:pathLst>
            </a:custGeom>
            <a:solidFill>
              <a:srgbClr val="119303"/>
            </a:solidFill>
            <a:ln w="12700">
              <a:solidFill>
                <a:srgbClr val="000000"/>
              </a:solidFill>
            </a:ln>
          </p:spPr>
          <p:txBody>
            <a:bodyPr/>
            <a:lstStyle/>
            <a:p>
              <a:endParaRPr lang="en-US" sz="1200"/>
            </a:p>
          </p:txBody>
        </p:sp>
      </p:grpSp>
      <p:grpSp>
        <p:nvGrpSpPr>
          <p:cNvPr id="6" name="Group 6">
            <a:extLst>
              <a:ext uri="{FF2B5EF4-FFF2-40B4-BE49-F238E27FC236}">
                <a16:creationId xmlns:a16="http://schemas.microsoft.com/office/drawing/2014/main" id="{E6C947A1-3B44-07E6-D804-6FFD1BE776EF}"/>
              </a:ext>
            </a:extLst>
          </p:cNvPr>
          <p:cNvGrpSpPr>
            <a:grpSpLocks noChangeAspect="1"/>
          </p:cNvGrpSpPr>
          <p:nvPr/>
        </p:nvGrpSpPr>
        <p:grpSpPr>
          <a:xfrm>
            <a:off x="200296" y="6631207"/>
            <a:ext cx="1146287" cy="175771"/>
            <a:chOff x="0" y="0"/>
            <a:chExt cx="2292573" cy="351541"/>
          </a:xfrm>
        </p:grpSpPr>
        <p:sp>
          <p:nvSpPr>
            <p:cNvPr id="7" name="Freeform 7">
              <a:extLst>
                <a:ext uri="{FF2B5EF4-FFF2-40B4-BE49-F238E27FC236}">
                  <a16:creationId xmlns:a16="http://schemas.microsoft.com/office/drawing/2014/main" id="{D6CC608D-BA9B-FE22-7487-0BA4A3A445BF}"/>
                </a:ext>
              </a:extLst>
            </p:cNvPr>
            <p:cNvSpPr/>
            <p:nvPr/>
          </p:nvSpPr>
          <p:spPr>
            <a:xfrm>
              <a:off x="0" y="0"/>
              <a:ext cx="2292604" cy="351536"/>
            </a:xfrm>
            <a:custGeom>
              <a:avLst/>
              <a:gdLst/>
              <a:ahLst/>
              <a:cxnLst/>
              <a:rect l="l" t="t" r="r" b="b"/>
              <a:pathLst>
                <a:path w="2292604" h="351536">
                  <a:moveTo>
                    <a:pt x="0" y="0"/>
                  </a:moveTo>
                  <a:lnTo>
                    <a:pt x="2292604" y="0"/>
                  </a:lnTo>
                  <a:lnTo>
                    <a:pt x="2292604" y="351536"/>
                  </a:lnTo>
                  <a:lnTo>
                    <a:pt x="0" y="351536"/>
                  </a:lnTo>
                  <a:lnTo>
                    <a:pt x="0" y="0"/>
                  </a:lnTo>
                  <a:close/>
                </a:path>
              </a:pathLst>
            </a:custGeom>
            <a:blipFill>
              <a:blip r:embed="rId4"/>
              <a:stretch>
                <a:fillRect r="1" b="-2"/>
              </a:stretch>
            </a:blipFill>
          </p:spPr>
          <p:txBody>
            <a:bodyPr/>
            <a:lstStyle/>
            <a:p>
              <a:endParaRPr lang="en-US" sz="1200"/>
            </a:p>
          </p:txBody>
        </p:sp>
      </p:grpSp>
      <p:sp>
        <p:nvSpPr>
          <p:cNvPr id="8" name="AutoShape 8">
            <a:extLst>
              <a:ext uri="{FF2B5EF4-FFF2-40B4-BE49-F238E27FC236}">
                <a16:creationId xmlns:a16="http://schemas.microsoft.com/office/drawing/2014/main" id="{1E7A8DEC-DA79-B0E7-29FF-5D4B7BD2207E}"/>
              </a:ext>
            </a:extLst>
          </p:cNvPr>
          <p:cNvSpPr/>
          <p:nvPr/>
        </p:nvSpPr>
        <p:spPr>
          <a:xfrm>
            <a:off x="0" y="521738"/>
            <a:ext cx="12183980" cy="0"/>
          </a:xfrm>
          <a:prstGeom prst="line">
            <a:avLst/>
          </a:prstGeom>
          <a:ln w="19050" cap="flat">
            <a:solidFill>
              <a:srgbClr val="39618E"/>
            </a:solidFill>
            <a:prstDash val="solid"/>
            <a:headEnd type="none" w="sm" len="sm"/>
            <a:tailEnd type="none" w="sm" len="sm"/>
          </a:ln>
        </p:spPr>
        <p:txBody>
          <a:bodyPr/>
          <a:lstStyle/>
          <a:p>
            <a:endParaRPr lang="en-US" sz="1200"/>
          </a:p>
        </p:txBody>
      </p:sp>
      <p:grpSp>
        <p:nvGrpSpPr>
          <p:cNvPr id="9" name="Group 9">
            <a:extLst>
              <a:ext uri="{FF2B5EF4-FFF2-40B4-BE49-F238E27FC236}">
                <a16:creationId xmlns:a16="http://schemas.microsoft.com/office/drawing/2014/main" id="{4CB709DD-53B7-E418-88A6-B997C85E4544}"/>
              </a:ext>
            </a:extLst>
          </p:cNvPr>
          <p:cNvGrpSpPr/>
          <p:nvPr/>
        </p:nvGrpSpPr>
        <p:grpSpPr>
          <a:xfrm>
            <a:off x="3990522" y="1171375"/>
            <a:ext cx="4210957" cy="2057400"/>
            <a:chOff x="0" y="0"/>
            <a:chExt cx="1663588" cy="812800"/>
          </a:xfrm>
        </p:grpSpPr>
        <p:sp>
          <p:nvSpPr>
            <p:cNvPr id="10" name="Freeform 10">
              <a:extLst>
                <a:ext uri="{FF2B5EF4-FFF2-40B4-BE49-F238E27FC236}">
                  <a16:creationId xmlns:a16="http://schemas.microsoft.com/office/drawing/2014/main" id="{B29B5A63-90F1-6EA1-8E94-3A86C834504E}"/>
                </a:ext>
              </a:extLst>
            </p:cNvPr>
            <p:cNvSpPr/>
            <p:nvPr/>
          </p:nvSpPr>
          <p:spPr>
            <a:xfrm>
              <a:off x="0" y="0"/>
              <a:ext cx="1663588" cy="812800"/>
            </a:xfrm>
            <a:custGeom>
              <a:avLst/>
              <a:gdLst/>
              <a:ahLst/>
              <a:cxnLst/>
              <a:rect l="l" t="t" r="r" b="b"/>
              <a:pathLst>
                <a:path w="1663588" h="812800">
                  <a:moveTo>
                    <a:pt x="66187" y="0"/>
                  </a:moveTo>
                  <a:lnTo>
                    <a:pt x="1597401" y="0"/>
                  </a:lnTo>
                  <a:cubicBezTo>
                    <a:pt x="1614955" y="0"/>
                    <a:pt x="1631790" y="6973"/>
                    <a:pt x="1644202" y="19386"/>
                  </a:cubicBezTo>
                  <a:cubicBezTo>
                    <a:pt x="1656615" y="31798"/>
                    <a:pt x="1663588" y="48633"/>
                    <a:pt x="1663588" y="66187"/>
                  </a:cubicBezTo>
                  <a:lnTo>
                    <a:pt x="1663588" y="746613"/>
                  </a:lnTo>
                  <a:cubicBezTo>
                    <a:pt x="1663588" y="764167"/>
                    <a:pt x="1656615" y="781002"/>
                    <a:pt x="1644202" y="793414"/>
                  </a:cubicBezTo>
                  <a:cubicBezTo>
                    <a:pt x="1631790" y="805827"/>
                    <a:pt x="1614955" y="812800"/>
                    <a:pt x="1597401" y="812800"/>
                  </a:cubicBezTo>
                  <a:lnTo>
                    <a:pt x="66187" y="812800"/>
                  </a:lnTo>
                  <a:cubicBezTo>
                    <a:pt x="48633" y="812800"/>
                    <a:pt x="31798" y="805827"/>
                    <a:pt x="19386" y="793414"/>
                  </a:cubicBezTo>
                  <a:cubicBezTo>
                    <a:pt x="6973" y="781002"/>
                    <a:pt x="0" y="764167"/>
                    <a:pt x="0" y="746613"/>
                  </a:cubicBezTo>
                  <a:lnTo>
                    <a:pt x="0" y="66187"/>
                  </a:lnTo>
                  <a:cubicBezTo>
                    <a:pt x="0" y="48633"/>
                    <a:pt x="6973" y="31798"/>
                    <a:pt x="19386" y="19386"/>
                  </a:cubicBezTo>
                  <a:cubicBezTo>
                    <a:pt x="31798" y="6973"/>
                    <a:pt x="48633" y="0"/>
                    <a:pt x="66187" y="0"/>
                  </a:cubicBezTo>
                  <a:close/>
                </a:path>
              </a:pathLst>
            </a:custGeom>
            <a:solidFill>
              <a:srgbClr val="C2DCFF">
                <a:alpha val="35686"/>
              </a:srgbClr>
            </a:solidFill>
          </p:spPr>
          <p:txBody>
            <a:bodyPr/>
            <a:lstStyle/>
            <a:p>
              <a:endParaRPr lang="en-US" sz="1200"/>
            </a:p>
          </p:txBody>
        </p:sp>
        <p:sp>
          <p:nvSpPr>
            <p:cNvPr id="11" name="TextBox 11">
              <a:extLst>
                <a:ext uri="{FF2B5EF4-FFF2-40B4-BE49-F238E27FC236}">
                  <a16:creationId xmlns:a16="http://schemas.microsoft.com/office/drawing/2014/main" id="{9D62DE62-5887-BE05-BDD3-C05A9C50895A}"/>
                </a:ext>
              </a:extLst>
            </p:cNvPr>
            <p:cNvSpPr txBox="1"/>
            <p:nvPr/>
          </p:nvSpPr>
          <p:spPr>
            <a:xfrm>
              <a:off x="0" y="-9525"/>
              <a:ext cx="1663588" cy="822325"/>
            </a:xfrm>
            <a:prstGeom prst="rect">
              <a:avLst/>
            </a:prstGeom>
          </p:spPr>
          <p:txBody>
            <a:bodyPr lIns="33867" tIns="33867" rIns="33867" bIns="33867" rtlCol="0" anchor="ctr"/>
            <a:lstStyle/>
            <a:p>
              <a:pPr algn="ctr">
                <a:lnSpc>
                  <a:spcPts val="2073"/>
                </a:lnSpc>
              </a:pPr>
              <a:endParaRPr sz="1200"/>
            </a:p>
          </p:txBody>
        </p:sp>
      </p:grpSp>
      <p:sp>
        <p:nvSpPr>
          <p:cNvPr id="12" name="Freeform 12">
            <a:extLst>
              <a:ext uri="{FF2B5EF4-FFF2-40B4-BE49-F238E27FC236}">
                <a16:creationId xmlns:a16="http://schemas.microsoft.com/office/drawing/2014/main" id="{133A5CBB-96BA-4980-1AFF-F0C98F1205F7}"/>
              </a:ext>
            </a:extLst>
          </p:cNvPr>
          <p:cNvSpPr/>
          <p:nvPr/>
        </p:nvSpPr>
        <p:spPr>
          <a:xfrm>
            <a:off x="4333939" y="1688002"/>
            <a:ext cx="3524123" cy="1515373"/>
          </a:xfrm>
          <a:custGeom>
            <a:avLst/>
            <a:gdLst/>
            <a:ahLst/>
            <a:cxnLst/>
            <a:rect l="l" t="t" r="r" b="b"/>
            <a:pathLst>
              <a:path w="5286184" h="2273059">
                <a:moveTo>
                  <a:pt x="0" y="0"/>
                </a:moveTo>
                <a:lnTo>
                  <a:pt x="5286184" y="0"/>
                </a:lnTo>
                <a:lnTo>
                  <a:pt x="5286184" y="2273059"/>
                </a:lnTo>
                <a:lnTo>
                  <a:pt x="0" y="2273059"/>
                </a:lnTo>
                <a:lnTo>
                  <a:pt x="0" y="0"/>
                </a:lnTo>
                <a:close/>
              </a:path>
            </a:pathLst>
          </a:custGeom>
          <a:blipFill>
            <a:blip r:embed="rId5"/>
            <a:stretch>
              <a:fillRect/>
            </a:stretch>
          </a:blipFill>
        </p:spPr>
        <p:txBody>
          <a:bodyPr/>
          <a:lstStyle/>
          <a:p>
            <a:endParaRPr lang="en-US" sz="1200"/>
          </a:p>
        </p:txBody>
      </p:sp>
      <p:grpSp>
        <p:nvGrpSpPr>
          <p:cNvPr id="13" name="Group 13">
            <a:extLst>
              <a:ext uri="{FF2B5EF4-FFF2-40B4-BE49-F238E27FC236}">
                <a16:creationId xmlns:a16="http://schemas.microsoft.com/office/drawing/2014/main" id="{C13ADC35-E069-42FF-0D1F-15D80AC15591}"/>
              </a:ext>
            </a:extLst>
          </p:cNvPr>
          <p:cNvGrpSpPr/>
          <p:nvPr/>
        </p:nvGrpSpPr>
        <p:grpSpPr>
          <a:xfrm>
            <a:off x="8324420" y="1145975"/>
            <a:ext cx="3551973" cy="2057400"/>
            <a:chOff x="0" y="0"/>
            <a:chExt cx="1403249" cy="812800"/>
          </a:xfrm>
        </p:grpSpPr>
        <p:sp>
          <p:nvSpPr>
            <p:cNvPr id="14" name="Freeform 14">
              <a:extLst>
                <a:ext uri="{FF2B5EF4-FFF2-40B4-BE49-F238E27FC236}">
                  <a16:creationId xmlns:a16="http://schemas.microsoft.com/office/drawing/2014/main" id="{E3FB6107-0CD5-7D01-E76F-CB790405C574}"/>
                </a:ext>
              </a:extLst>
            </p:cNvPr>
            <p:cNvSpPr/>
            <p:nvPr/>
          </p:nvSpPr>
          <p:spPr>
            <a:xfrm>
              <a:off x="0" y="0"/>
              <a:ext cx="1403249" cy="812800"/>
            </a:xfrm>
            <a:custGeom>
              <a:avLst/>
              <a:gdLst/>
              <a:ahLst/>
              <a:cxnLst/>
              <a:rect l="l" t="t" r="r" b="b"/>
              <a:pathLst>
                <a:path w="1403249" h="812800">
                  <a:moveTo>
                    <a:pt x="78466" y="0"/>
                  </a:moveTo>
                  <a:lnTo>
                    <a:pt x="1324783" y="0"/>
                  </a:lnTo>
                  <a:cubicBezTo>
                    <a:pt x="1368118" y="0"/>
                    <a:pt x="1403249" y="35130"/>
                    <a:pt x="1403249" y="78466"/>
                  </a:cubicBezTo>
                  <a:lnTo>
                    <a:pt x="1403249" y="734334"/>
                  </a:lnTo>
                  <a:cubicBezTo>
                    <a:pt x="1403249" y="755144"/>
                    <a:pt x="1394982" y="775103"/>
                    <a:pt x="1380267" y="789818"/>
                  </a:cubicBezTo>
                  <a:cubicBezTo>
                    <a:pt x="1365551" y="804533"/>
                    <a:pt x="1345593" y="812800"/>
                    <a:pt x="1324783" y="812800"/>
                  </a:cubicBezTo>
                  <a:lnTo>
                    <a:pt x="78466" y="812800"/>
                  </a:lnTo>
                  <a:cubicBezTo>
                    <a:pt x="35130" y="812800"/>
                    <a:pt x="0" y="777670"/>
                    <a:pt x="0" y="734334"/>
                  </a:cubicBezTo>
                  <a:lnTo>
                    <a:pt x="0" y="78466"/>
                  </a:lnTo>
                  <a:cubicBezTo>
                    <a:pt x="0" y="35130"/>
                    <a:pt x="35130" y="0"/>
                    <a:pt x="78466" y="0"/>
                  </a:cubicBezTo>
                  <a:close/>
                </a:path>
              </a:pathLst>
            </a:custGeom>
            <a:solidFill>
              <a:srgbClr val="C2DCFF">
                <a:alpha val="35686"/>
              </a:srgbClr>
            </a:solidFill>
          </p:spPr>
          <p:txBody>
            <a:bodyPr/>
            <a:lstStyle/>
            <a:p>
              <a:endParaRPr lang="en-US" sz="1200"/>
            </a:p>
          </p:txBody>
        </p:sp>
        <p:sp>
          <p:nvSpPr>
            <p:cNvPr id="15" name="TextBox 15">
              <a:extLst>
                <a:ext uri="{FF2B5EF4-FFF2-40B4-BE49-F238E27FC236}">
                  <a16:creationId xmlns:a16="http://schemas.microsoft.com/office/drawing/2014/main" id="{44D16AEE-A084-9324-7544-C8833FFD819F}"/>
                </a:ext>
              </a:extLst>
            </p:cNvPr>
            <p:cNvSpPr txBox="1"/>
            <p:nvPr/>
          </p:nvSpPr>
          <p:spPr>
            <a:xfrm>
              <a:off x="0" y="-9525"/>
              <a:ext cx="1403249" cy="822325"/>
            </a:xfrm>
            <a:prstGeom prst="rect">
              <a:avLst/>
            </a:prstGeom>
          </p:spPr>
          <p:txBody>
            <a:bodyPr lIns="33867" tIns="33867" rIns="33867" bIns="33867" rtlCol="0" anchor="ctr"/>
            <a:lstStyle/>
            <a:p>
              <a:pPr algn="ctr">
                <a:lnSpc>
                  <a:spcPts val="2073"/>
                </a:lnSpc>
              </a:pPr>
              <a:endParaRPr sz="1200"/>
            </a:p>
          </p:txBody>
        </p:sp>
      </p:grpSp>
      <p:grpSp>
        <p:nvGrpSpPr>
          <p:cNvPr id="16" name="Group 16">
            <a:extLst>
              <a:ext uri="{FF2B5EF4-FFF2-40B4-BE49-F238E27FC236}">
                <a16:creationId xmlns:a16="http://schemas.microsoft.com/office/drawing/2014/main" id="{F11F4465-9161-1DE2-BC6C-7DA227C92BD7}"/>
              </a:ext>
            </a:extLst>
          </p:cNvPr>
          <p:cNvGrpSpPr/>
          <p:nvPr/>
        </p:nvGrpSpPr>
        <p:grpSpPr>
          <a:xfrm>
            <a:off x="200296" y="1171375"/>
            <a:ext cx="3551973" cy="2057400"/>
            <a:chOff x="0" y="0"/>
            <a:chExt cx="1403249" cy="812800"/>
          </a:xfrm>
        </p:grpSpPr>
        <p:sp>
          <p:nvSpPr>
            <p:cNvPr id="17" name="Freeform 17">
              <a:extLst>
                <a:ext uri="{FF2B5EF4-FFF2-40B4-BE49-F238E27FC236}">
                  <a16:creationId xmlns:a16="http://schemas.microsoft.com/office/drawing/2014/main" id="{809EB549-E261-0032-CFE2-B8C06BC9A027}"/>
                </a:ext>
              </a:extLst>
            </p:cNvPr>
            <p:cNvSpPr/>
            <p:nvPr/>
          </p:nvSpPr>
          <p:spPr>
            <a:xfrm>
              <a:off x="0" y="0"/>
              <a:ext cx="1403249" cy="812800"/>
            </a:xfrm>
            <a:custGeom>
              <a:avLst/>
              <a:gdLst/>
              <a:ahLst/>
              <a:cxnLst/>
              <a:rect l="l" t="t" r="r" b="b"/>
              <a:pathLst>
                <a:path w="1403249" h="812800">
                  <a:moveTo>
                    <a:pt x="78466" y="0"/>
                  </a:moveTo>
                  <a:lnTo>
                    <a:pt x="1324783" y="0"/>
                  </a:lnTo>
                  <a:cubicBezTo>
                    <a:pt x="1368118" y="0"/>
                    <a:pt x="1403249" y="35130"/>
                    <a:pt x="1403249" y="78466"/>
                  </a:cubicBezTo>
                  <a:lnTo>
                    <a:pt x="1403249" y="734334"/>
                  </a:lnTo>
                  <a:cubicBezTo>
                    <a:pt x="1403249" y="755144"/>
                    <a:pt x="1394982" y="775103"/>
                    <a:pt x="1380267" y="789818"/>
                  </a:cubicBezTo>
                  <a:cubicBezTo>
                    <a:pt x="1365551" y="804533"/>
                    <a:pt x="1345593" y="812800"/>
                    <a:pt x="1324783" y="812800"/>
                  </a:cubicBezTo>
                  <a:lnTo>
                    <a:pt x="78466" y="812800"/>
                  </a:lnTo>
                  <a:cubicBezTo>
                    <a:pt x="35130" y="812800"/>
                    <a:pt x="0" y="777670"/>
                    <a:pt x="0" y="734334"/>
                  </a:cubicBezTo>
                  <a:lnTo>
                    <a:pt x="0" y="78466"/>
                  </a:lnTo>
                  <a:cubicBezTo>
                    <a:pt x="0" y="35130"/>
                    <a:pt x="35130" y="0"/>
                    <a:pt x="78466" y="0"/>
                  </a:cubicBezTo>
                  <a:close/>
                </a:path>
              </a:pathLst>
            </a:custGeom>
            <a:solidFill>
              <a:srgbClr val="C2DCFF">
                <a:alpha val="35686"/>
              </a:srgbClr>
            </a:solidFill>
          </p:spPr>
          <p:txBody>
            <a:bodyPr/>
            <a:lstStyle/>
            <a:p>
              <a:endParaRPr lang="en-US" sz="1200"/>
            </a:p>
          </p:txBody>
        </p:sp>
        <p:sp>
          <p:nvSpPr>
            <p:cNvPr id="18" name="TextBox 18">
              <a:extLst>
                <a:ext uri="{FF2B5EF4-FFF2-40B4-BE49-F238E27FC236}">
                  <a16:creationId xmlns:a16="http://schemas.microsoft.com/office/drawing/2014/main" id="{2C381EA0-0DF3-66D8-7511-9A81017B98C1}"/>
                </a:ext>
              </a:extLst>
            </p:cNvPr>
            <p:cNvSpPr txBox="1"/>
            <p:nvPr/>
          </p:nvSpPr>
          <p:spPr>
            <a:xfrm>
              <a:off x="0" y="-9525"/>
              <a:ext cx="1403249" cy="822325"/>
            </a:xfrm>
            <a:prstGeom prst="rect">
              <a:avLst/>
            </a:prstGeom>
          </p:spPr>
          <p:txBody>
            <a:bodyPr lIns="33867" tIns="33867" rIns="33867" bIns="33867" rtlCol="0" anchor="ctr"/>
            <a:lstStyle/>
            <a:p>
              <a:pPr algn="ctr">
                <a:lnSpc>
                  <a:spcPts val="2073"/>
                </a:lnSpc>
              </a:pPr>
              <a:endParaRPr sz="1200"/>
            </a:p>
          </p:txBody>
        </p:sp>
      </p:grpSp>
      <p:grpSp>
        <p:nvGrpSpPr>
          <p:cNvPr id="19" name="Group 19">
            <a:extLst>
              <a:ext uri="{FF2B5EF4-FFF2-40B4-BE49-F238E27FC236}">
                <a16:creationId xmlns:a16="http://schemas.microsoft.com/office/drawing/2014/main" id="{13F08B1C-7B87-CB25-4429-F0F78AB4ADD5}"/>
              </a:ext>
            </a:extLst>
          </p:cNvPr>
          <p:cNvGrpSpPr/>
          <p:nvPr/>
        </p:nvGrpSpPr>
        <p:grpSpPr>
          <a:xfrm>
            <a:off x="200296" y="3368475"/>
            <a:ext cx="3551973" cy="2986993"/>
            <a:chOff x="0" y="0"/>
            <a:chExt cx="1403249" cy="1180047"/>
          </a:xfrm>
        </p:grpSpPr>
        <p:sp>
          <p:nvSpPr>
            <p:cNvPr id="20" name="Freeform 20">
              <a:extLst>
                <a:ext uri="{FF2B5EF4-FFF2-40B4-BE49-F238E27FC236}">
                  <a16:creationId xmlns:a16="http://schemas.microsoft.com/office/drawing/2014/main" id="{F74A3093-7D04-8EB6-E3C8-29EB0B9E866C}"/>
                </a:ext>
              </a:extLst>
            </p:cNvPr>
            <p:cNvSpPr/>
            <p:nvPr/>
          </p:nvSpPr>
          <p:spPr>
            <a:xfrm>
              <a:off x="0" y="0"/>
              <a:ext cx="1403249" cy="1180047"/>
            </a:xfrm>
            <a:custGeom>
              <a:avLst/>
              <a:gdLst/>
              <a:ahLst/>
              <a:cxnLst/>
              <a:rect l="l" t="t" r="r" b="b"/>
              <a:pathLst>
                <a:path w="1403249" h="1180047">
                  <a:moveTo>
                    <a:pt x="18890" y="0"/>
                  </a:moveTo>
                  <a:lnTo>
                    <a:pt x="1384359" y="0"/>
                  </a:lnTo>
                  <a:cubicBezTo>
                    <a:pt x="1394791" y="0"/>
                    <a:pt x="1403249" y="8457"/>
                    <a:pt x="1403249" y="18890"/>
                  </a:cubicBezTo>
                  <a:lnTo>
                    <a:pt x="1403249" y="1161157"/>
                  </a:lnTo>
                  <a:cubicBezTo>
                    <a:pt x="1403249" y="1166167"/>
                    <a:pt x="1401258" y="1170971"/>
                    <a:pt x="1397716" y="1174514"/>
                  </a:cubicBezTo>
                  <a:cubicBezTo>
                    <a:pt x="1394173" y="1178056"/>
                    <a:pt x="1389369" y="1180047"/>
                    <a:pt x="1384359" y="1180047"/>
                  </a:cubicBezTo>
                  <a:lnTo>
                    <a:pt x="18890" y="1180047"/>
                  </a:lnTo>
                  <a:cubicBezTo>
                    <a:pt x="13880" y="1180047"/>
                    <a:pt x="9075" y="1178056"/>
                    <a:pt x="5533" y="1174514"/>
                  </a:cubicBezTo>
                  <a:cubicBezTo>
                    <a:pt x="1990" y="1170971"/>
                    <a:pt x="0" y="1166167"/>
                    <a:pt x="0" y="1161157"/>
                  </a:cubicBezTo>
                  <a:lnTo>
                    <a:pt x="0" y="18890"/>
                  </a:lnTo>
                  <a:cubicBezTo>
                    <a:pt x="0" y="13880"/>
                    <a:pt x="1990" y="9075"/>
                    <a:pt x="5533" y="5533"/>
                  </a:cubicBezTo>
                  <a:cubicBezTo>
                    <a:pt x="9075" y="1990"/>
                    <a:pt x="13880" y="0"/>
                    <a:pt x="18890" y="0"/>
                  </a:cubicBezTo>
                  <a:close/>
                </a:path>
              </a:pathLst>
            </a:custGeom>
            <a:solidFill>
              <a:srgbClr val="FFFFFF">
                <a:alpha val="35686"/>
              </a:srgbClr>
            </a:solidFill>
            <a:ln w="38100" cap="sq">
              <a:solidFill>
                <a:srgbClr val="000000">
                  <a:alpha val="35686"/>
                </a:srgbClr>
              </a:solidFill>
              <a:prstDash val="sysDot"/>
              <a:miter/>
            </a:ln>
          </p:spPr>
          <p:txBody>
            <a:bodyPr/>
            <a:lstStyle/>
            <a:p>
              <a:endParaRPr lang="en-US" sz="1200"/>
            </a:p>
          </p:txBody>
        </p:sp>
        <p:sp>
          <p:nvSpPr>
            <p:cNvPr id="21" name="TextBox 21">
              <a:extLst>
                <a:ext uri="{FF2B5EF4-FFF2-40B4-BE49-F238E27FC236}">
                  <a16:creationId xmlns:a16="http://schemas.microsoft.com/office/drawing/2014/main" id="{0F4FC45C-A97D-FD54-EDA8-119F058BFB6E}"/>
                </a:ext>
              </a:extLst>
            </p:cNvPr>
            <p:cNvSpPr txBox="1"/>
            <p:nvPr/>
          </p:nvSpPr>
          <p:spPr>
            <a:xfrm>
              <a:off x="0" y="-9525"/>
              <a:ext cx="1403249" cy="1189572"/>
            </a:xfrm>
            <a:prstGeom prst="rect">
              <a:avLst/>
            </a:prstGeom>
          </p:spPr>
          <p:txBody>
            <a:bodyPr lIns="33867" tIns="33867" rIns="33867" bIns="33867" rtlCol="0" anchor="ctr"/>
            <a:lstStyle/>
            <a:p>
              <a:pPr algn="ctr">
                <a:lnSpc>
                  <a:spcPts val="2073"/>
                </a:lnSpc>
              </a:pPr>
              <a:endParaRPr sz="1200"/>
            </a:p>
          </p:txBody>
        </p:sp>
      </p:grpSp>
      <p:grpSp>
        <p:nvGrpSpPr>
          <p:cNvPr id="22" name="Group 22">
            <a:extLst>
              <a:ext uri="{FF2B5EF4-FFF2-40B4-BE49-F238E27FC236}">
                <a16:creationId xmlns:a16="http://schemas.microsoft.com/office/drawing/2014/main" id="{E02C46A9-A1EE-5A67-E647-35DEAB02F31D}"/>
              </a:ext>
            </a:extLst>
          </p:cNvPr>
          <p:cNvGrpSpPr/>
          <p:nvPr/>
        </p:nvGrpSpPr>
        <p:grpSpPr>
          <a:xfrm>
            <a:off x="3990522" y="3368475"/>
            <a:ext cx="4210957" cy="2986993"/>
            <a:chOff x="0" y="0"/>
            <a:chExt cx="1663588" cy="1180047"/>
          </a:xfrm>
        </p:grpSpPr>
        <p:sp>
          <p:nvSpPr>
            <p:cNvPr id="23" name="Freeform 23">
              <a:extLst>
                <a:ext uri="{FF2B5EF4-FFF2-40B4-BE49-F238E27FC236}">
                  <a16:creationId xmlns:a16="http://schemas.microsoft.com/office/drawing/2014/main" id="{0AE403AC-FE3F-D642-6BEF-03B88155E990}"/>
                </a:ext>
              </a:extLst>
            </p:cNvPr>
            <p:cNvSpPr/>
            <p:nvPr/>
          </p:nvSpPr>
          <p:spPr>
            <a:xfrm>
              <a:off x="0" y="0"/>
              <a:ext cx="1663588" cy="1180047"/>
            </a:xfrm>
            <a:custGeom>
              <a:avLst/>
              <a:gdLst/>
              <a:ahLst/>
              <a:cxnLst/>
              <a:rect l="l" t="t" r="r" b="b"/>
              <a:pathLst>
                <a:path w="1663588" h="1180047">
                  <a:moveTo>
                    <a:pt x="15934" y="0"/>
                  </a:moveTo>
                  <a:lnTo>
                    <a:pt x="1647654" y="0"/>
                  </a:lnTo>
                  <a:cubicBezTo>
                    <a:pt x="1656454" y="0"/>
                    <a:pt x="1663588" y="7134"/>
                    <a:pt x="1663588" y="15934"/>
                  </a:cubicBezTo>
                  <a:lnTo>
                    <a:pt x="1663588" y="1164113"/>
                  </a:lnTo>
                  <a:cubicBezTo>
                    <a:pt x="1663588" y="1172913"/>
                    <a:pt x="1656454" y="1180047"/>
                    <a:pt x="1647654" y="1180047"/>
                  </a:cubicBezTo>
                  <a:lnTo>
                    <a:pt x="15934" y="1180047"/>
                  </a:lnTo>
                  <a:cubicBezTo>
                    <a:pt x="7134" y="1180047"/>
                    <a:pt x="0" y="1172913"/>
                    <a:pt x="0" y="1164113"/>
                  </a:cubicBezTo>
                  <a:lnTo>
                    <a:pt x="0" y="15934"/>
                  </a:lnTo>
                  <a:cubicBezTo>
                    <a:pt x="0" y="7134"/>
                    <a:pt x="7134" y="0"/>
                    <a:pt x="15934" y="0"/>
                  </a:cubicBezTo>
                  <a:close/>
                </a:path>
              </a:pathLst>
            </a:custGeom>
            <a:solidFill>
              <a:srgbClr val="FFFFFF">
                <a:alpha val="35686"/>
              </a:srgbClr>
            </a:solidFill>
            <a:ln w="38100" cap="sq">
              <a:solidFill>
                <a:srgbClr val="000000">
                  <a:alpha val="35686"/>
                </a:srgbClr>
              </a:solidFill>
              <a:prstDash val="sysDot"/>
              <a:miter/>
            </a:ln>
          </p:spPr>
          <p:txBody>
            <a:bodyPr/>
            <a:lstStyle/>
            <a:p>
              <a:endParaRPr lang="en-US" sz="1200"/>
            </a:p>
          </p:txBody>
        </p:sp>
        <p:sp>
          <p:nvSpPr>
            <p:cNvPr id="24" name="TextBox 24">
              <a:extLst>
                <a:ext uri="{FF2B5EF4-FFF2-40B4-BE49-F238E27FC236}">
                  <a16:creationId xmlns:a16="http://schemas.microsoft.com/office/drawing/2014/main" id="{D848A2EE-DB5D-B408-E680-25482FA4443F}"/>
                </a:ext>
              </a:extLst>
            </p:cNvPr>
            <p:cNvSpPr txBox="1"/>
            <p:nvPr/>
          </p:nvSpPr>
          <p:spPr>
            <a:xfrm>
              <a:off x="0" y="-9525"/>
              <a:ext cx="1663588" cy="1189572"/>
            </a:xfrm>
            <a:prstGeom prst="rect">
              <a:avLst/>
            </a:prstGeom>
          </p:spPr>
          <p:txBody>
            <a:bodyPr lIns="33867" tIns="33867" rIns="33867" bIns="33867" rtlCol="0" anchor="ctr"/>
            <a:lstStyle/>
            <a:p>
              <a:pPr algn="ctr">
                <a:lnSpc>
                  <a:spcPts val="2073"/>
                </a:lnSpc>
              </a:pPr>
              <a:endParaRPr sz="1200"/>
            </a:p>
          </p:txBody>
        </p:sp>
      </p:grpSp>
      <p:grpSp>
        <p:nvGrpSpPr>
          <p:cNvPr id="25" name="Group 25">
            <a:extLst>
              <a:ext uri="{FF2B5EF4-FFF2-40B4-BE49-F238E27FC236}">
                <a16:creationId xmlns:a16="http://schemas.microsoft.com/office/drawing/2014/main" id="{F1106BE6-0AD0-9A98-DAA4-E7A46E0C3632}"/>
              </a:ext>
            </a:extLst>
          </p:cNvPr>
          <p:cNvGrpSpPr/>
          <p:nvPr/>
        </p:nvGrpSpPr>
        <p:grpSpPr>
          <a:xfrm>
            <a:off x="8417379" y="3343075"/>
            <a:ext cx="3551973" cy="2986993"/>
            <a:chOff x="0" y="0"/>
            <a:chExt cx="1403249" cy="1180047"/>
          </a:xfrm>
        </p:grpSpPr>
        <p:sp>
          <p:nvSpPr>
            <p:cNvPr id="26" name="Freeform 26">
              <a:extLst>
                <a:ext uri="{FF2B5EF4-FFF2-40B4-BE49-F238E27FC236}">
                  <a16:creationId xmlns:a16="http://schemas.microsoft.com/office/drawing/2014/main" id="{5204A937-2B3A-294F-649D-960799F61ABE}"/>
                </a:ext>
              </a:extLst>
            </p:cNvPr>
            <p:cNvSpPr/>
            <p:nvPr/>
          </p:nvSpPr>
          <p:spPr>
            <a:xfrm>
              <a:off x="0" y="0"/>
              <a:ext cx="1403249" cy="1180047"/>
            </a:xfrm>
            <a:custGeom>
              <a:avLst/>
              <a:gdLst/>
              <a:ahLst/>
              <a:cxnLst/>
              <a:rect l="l" t="t" r="r" b="b"/>
              <a:pathLst>
                <a:path w="1403249" h="1180047">
                  <a:moveTo>
                    <a:pt x="18890" y="0"/>
                  </a:moveTo>
                  <a:lnTo>
                    <a:pt x="1384359" y="0"/>
                  </a:lnTo>
                  <a:cubicBezTo>
                    <a:pt x="1394791" y="0"/>
                    <a:pt x="1403249" y="8457"/>
                    <a:pt x="1403249" y="18890"/>
                  </a:cubicBezTo>
                  <a:lnTo>
                    <a:pt x="1403249" y="1161157"/>
                  </a:lnTo>
                  <a:cubicBezTo>
                    <a:pt x="1403249" y="1166167"/>
                    <a:pt x="1401258" y="1170971"/>
                    <a:pt x="1397716" y="1174514"/>
                  </a:cubicBezTo>
                  <a:cubicBezTo>
                    <a:pt x="1394173" y="1178056"/>
                    <a:pt x="1389369" y="1180047"/>
                    <a:pt x="1384359" y="1180047"/>
                  </a:cubicBezTo>
                  <a:lnTo>
                    <a:pt x="18890" y="1180047"/>
                  </a:lnTo>
                  <a:cubicBezTo>
                    <a:pt x="13880" y="1180047"/>
                    <a:pt x="9075" y="1178056"/>
                    <a:pt x="5533" y="1174514"/>
                  </a:cubicBezTo>
                  <a:cubicBezTo>
                    <a:pt x="1990" y="1170971"/>
                    <a:pt x="0" y="1166167"/>
                    <a:pt x="0" y="1161157"/>
                  </a:cubicBezTo>
                  <a:lnTo>
                    <a:pt x="0" y="18890"/>
                  </a:lnTo>
                  <a:cubicBezTo>
                    <a:pt x="0" y="13880"/>
                    <a:pt x="1990" y="9075"/>
                    <a:pt x="5533" y="5533"/>
                  </a:cubicBezTo>
                  <a:cubicBezTo>
                    <a:pt x="9075" y="1990"/>
                    <a:pt x="13880" y="0"/>
                    <a:pt x="18890" y="0"/>
                  </a:cubicBezTo>
                  <a:close/>
                </a:path>
              </a:pathLst>
            </a:custGeom>
            <a:solidFill>
              <a:srgbClr val="FFFFFF">
                <a:alpha val="35686"/>
              </a:srgbClr>
            </a:solidFill>
            <a:ln w="38100" cap="sq">
              <a:solidFill>
                <a:srgbClr val="000000">
                  <a:alpha val="35686"/>
                </a:srgbClr>
              </a:solidFill>
              <a:prstDash val="sysDot"/>
              <a:miter/>
            </a:ln>
          </p:spPr>
          <p:txBody>
            <a:bodyPr/>
            <a:lstStyle/>
            <a:p>
              <a:endParaRPr lang="en-US" sz="1200"/>
            </a:p>
          </p:txBody>
        </p:sp>
        <p:sp>
          <p:nvSpPr>
            <p:cNvPr id="27" name="TextBox 27">
              <a:extLst>
                <a:ext uri="{FF2B5EF4-FFF2-40B4-BE49-F238E27FC236}">
                  <a16:creationId xmlns:a16="http://schemas.microsoft.com/office/drawing/2014/main" id="{1526B436-E573-8F52-C060-29B743E27A18}"/>
                </a:ext>
              </a:extLst>
            </p:cNvPr>
            <p:cNvSpPr txBox="1"/>
            <p:nvPr/>
          </p:nvSpPr>
          <p:spPr>
            <a:xfrm>
              <a:off x="0" y="-9525"/>
              <a:ext cx="1403249" cy="1189572"/>
            </a:xfrm>
            <a:prstGeom prst="rect">
              <a:avLst/>
            </a:prstGeom>
          </p:spPr>
          <p:txBody>
            <a:bodyPr lIns="33867" tIns="33867" rIns="33867" bIns="33867" rtlCol="0" anchor="ctr"/>
            <a:lstStyle/>
            <a:p>
              <a:pPr algn="just">
                <a:lnSpc>
                  <a:spcPts val="2073"/>
                </a:lnSpc>
              </a:pPr>
              <a:endParaRPr sz="1200"/>
            </a:p>
          </p:txBody>
        </p:sp>
      </p:grpSp>
      <p:sp>
        <p:nvSpPr>
          <p:cNvPr id="28" name="Freeform 28">
            <a:extLst>
              <a:ext uri="{FF2B5EF4-FFF2-40B4-BE49-F238E27FC236}">
                <a16:creationId xmlns:a16="http://schemas.microsoft.com/office/drawing/2014/main" id="{319548D4-B3D0-1DCB-6408-ABBD1F5BE96F}"/>
              </a:ext>
            </a:extLst>
          </p:cNvPr>
          <p:cNvSpPr/>
          <p:nvPr/>
        </p:nvSpPr>
        <p:spPr>
          <a:xfrm>
            <a:off x="9398806" y="1876346"/>
            <a:ext cx="1594536" cy="1231779"/>
          </a:xfrm>
          <a:custGeom>
            <a:avLst/>
            <a:gdLst/>
            <a:ahLst/>
            <a:cxnLst/>
            <a:rect l="l" t="t" r="r" b="b"/>
            <a:pathLst>
              <a:path w="2391804" h="1847669">
                <a:moveTo>
                  <a:pt x="0" y="0"/>
                </a:moveTo>
                <a:lnTo>
                  <a:pt x="2391804" y="0"/>
                </a:lnTo>
                <a:lnTo>
                  <a:pt x="2391804" y="1847669"/>
                </a:lnTo>
                <a:lnTo>
                  <a:pt x="0" y="184766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sz="1200"/>
          </a:p>
        </p:txBody>
      </p:sp>
      <p:sp>
        <p:nvSpPr>
          <p:cNvPr id="29" name="Freeform 29">
            <a:extLst>
              <a:ext uri="{FF2B5EF4-FFF2-40B4-BE49-F238E27FC236}">
                <a16:creationId xmlns:a16="http://schemas.microsoft.com/office/drawing/2014/main" id="{BE5653AD-95E0-B7CC-15C9-AFF4140241F9}"/>
              </a:ext>
            </a:extLst>
          </p:cNvPr>
          <p:cNvSpPr/>
          <p:nvPr/>
        </p:nvSpPr>
        <p:spPr>
          <a:xfrm>
            <a:off x="1088384" y="1962864"/>
            <a:ext cx="1775798" cy="1170661"/>
          </a:xfrm>
          <a:custGeom>
            <a:avLst/>
            <a:gdLst/>
            <a:ahLst/>
            <a:cxnLst/>
            <a:rect l="l" t="t" r="r" b="b"/>
            <a:pathLst>
              <a:path w="3008351" h="2109606">
                <a:moveTo>
                  <a:pt x="0" y="0"/>
                </a:moveTo>
                <a:lnTo>
                  <a:pt x="3008351" y="0"/>
                </a:lnTo>
                <a:lnTo>
                  <a:pt x="3008351" y="2109606"/>
                </a:lnTo>
                <a:lnTo>
                  <a:pt x="0" y="2109606"/>
                </a:lnTo>
                <a:lnTo>
                  <a:pt x="0" y="0"/>
                </a:lnTo>
                <a:close/>
              </a:path>
            </a:pathLst>
          </a:custGeom>
          <a:blipFill>
            <a:blip r:embed="rId8"/>
            <a:stretch>
              <a:fillRect/>
            </a:stretch>
          </a:blipFill>
        </p:spPr>
        <p:txBody>
          <a:bodyPr/>
          <a:lstStyle/>
          <a:p>
            <a:endParaRPr lang="en-US" sz="1200"/>
          </a:p>
        </p:txBody>
      </p:sp>
      <p:sp>
        <p:nvSpPr>
          <p:cNvPr id="30" name="TextBox 30">
            <a:extLst>
              <a:ext uri="{FF2B5EF4-FFF2-40B4-BE49-F238E27FC236}">
                <a16:creationId xmlns:a16="http://schemas.microsoft.com/office/drawing/2014/main" id="{CAAC27A1-4C70-6B97-D2A9-797B49E5CF31}"/>
              </a:ext>
            </a:extLst>
          </p:cNvPr>
          <p:cNvSpPr txBox="1"/>
          <p:nvPr/>
        </p:nvSpPr>
        <p:spPr>
          <a:xfrm>
            <a:off x="200297" y="64051"/>
            <a:ext cx="11828379" cy="348942"/>
          </a:xfrm>
          <a:prstGeom prst="rect">
            <a:avLst/>
          </a:prstGeom>
        </p:spPr>
        <p:txBody>
          <a:bodyPr lIns="0" tIns="0" rIns="0" bIns="0" rtlCol="0" anchor="t">
            <a:spAutoFit/>
          </a:bodyPr>
          <a:lstStyle/>
          <a:p>
            <a:pPr>
              <a:lnSpc>
                <a:spcPts val="2880"/>
              </a:lnSpc>
            </a:pPr>
            <a:r>
              <a:rPr lang="en-US" sz="2400" b="1">
                <a:solidFill>
                  <a:srgbClr val="119303"/>
                </a:solidFill>
                <a:latin typeface="Arial Bold"/>
                <a:ea typeface="Arial Bold"/>
                <a:cs typeface="Arial Bold"/>
                <a:sym typeface="Arial Bold"/>
              </a:rPr>
              <a:t> Nguyên tắc chung thiết lập KPIs 2026</a:t>
            </a:r>
          </a:p>
        </p:txBody>
      </p:sp>
      <p:sp>
        <p:nvSpPr>
          <p:cNvPr id="31" name="TextBox 31">
            <a:extLst>
              <a:ext uri="{FF2B5EF4-FFF2-40B4-BE49-F238E27FC236}">
                <a16:creationId xmlns:a16="http://schemas.microsoft.com/office/drawing/2014/main" id="{AF44A15F-7506-4290-C98D-293CA497B692}"/>
              </a:ext>
            </a:extLst>
          </p:cNvPr>
          <p:cNvSpPr txBox="1"/>
          <p:nvPr/>
        </p:nvSpPr>
        <p:spPr>
          <a:xfrm>
            <a:off x="200297" y="571500"/>
            <a:ext cx="11828379" cy="307777"/>
          </a:xfrm>
          <a:prstGeom prst="rect">
            <a:avLst/>
          </a:prstGeom>
        </p:spPr>
        <p:txBody>
          <a:bodyPr lIns="0" tIns="0" rIns="0" bIns="0" rtlCol="0" anchor="t">
            <a:spAutoFit/>
          </a:bodyPr>
          <a:lstStyle/>
          <a:p>
            <a:pPr>
              <a:lnSpc>
                <a:spcPts val="2400"/>
              </a:lnSpc>
            </a:pPr>
            <a:r>
              <a:rPr lang="en-US" sz="2000" b="1">
                <a:solidFill>
                  <a:srgbClr val="39618E"/>
                </a:solidFill>
                <a:latin typeface="Arial Bold"/>
                <a:ea typeface="Arial Bold"/>
                <a:cs typeface="Arial Bold"/>
                <a:sym typeface="Arial Bold"/>
              </a:rPr>
              <a:t>Nguyên tắc chung</a:t>
            </a:r>
          </a:p>
        </p:txBody>
      </p:sp>
      <p:sp>
        <p:nvSpPr>
          <p:cNvPr id="32" name="TextBox 32">
            <a:extLst>
              <a:ext uri="{FF2B5EF4-FFF2-40B4-BE49-F238E27FC236}">
                <a16:creationId xmlns:a16="http://schemas.microsoft.com/office/drawing/2014/main" id="{7C156C85-A37D-2869-3452-9E8B81A2CE3C}"/>
              </a:ext>
            </a:extLst>
          </p:cNvPr>
          <p:cNvSpPr txBox="1"/>
          <p:nvPr/>
        </p:nvSpPr>
        <p:spPr>
          <a:xfrm>
            <a:off x="4943904" y="1314371"/>
            <a:ext cx="2341165" cy="289182"/>
          </a:xfrm>
          <a:prstGeom prst="rect">
            <a:avLst/>
          </a:prstGeom>
        </p:spPr>
        <p:txBody>
          <a:bodyPr lIns="0" tIns="0" rIns="0" bIns="0" rtlCol="0" anchor="t">
            <a:spAutoFit/>
          </a:bodyPr>
          <a:lstStyle/>
          <a:p>
            <a:pPr algn="ctr">
              <a:lnSpc>
                <a:spcPts val="2399"/>
              </a:lnSpc>
            </a:pPr>
            <a:r>
              <a:rPr lang="en-US" sz="1999" b="1">
                <a:solidFill>
                  <a:srgbClr val="39618E"/>
                </a:solidFill>
                <a:latin typeface="Arial Bold"/>
                <a:ea typeface="Arial Bold"/>
                <a:cs typeface="Arial Bold"/>
                <a:sym typeface="Arial Bold"/>
              </a:rPr>
              <a:t>NGUYÊN TẮC</a:t>
            </a:r>
          </a:p>
        </p:txBody>
      </p:sp>
      <p:sp>
        <p:nvSpPr>
          <p:cNvPr id="33" name="TextBox 33">
            <a:extLst>
              <a:ext uri="{FF2B5EF4-FFF2-40B4-BE49-F238E27FC236}">
                <a16:creationId xmlns:a16="http://schemas.microsoft.com/office/drawing/2014/main" id="{E050BF0B-E50D-6C2D-D941-DB1FDDBAE32C}"/>
              </a:ext>
            </a:extLst>
          </p:cNvPr>
          <p:cNvSpPr txBox="1"/>
          <p:nvPr/>
        </p:nvSpPr>
        <p:spPr>
          <a:xfrm>
            <a:off x="9042906" y="1257241"/>
            <a:ext cx="2341165" cy="596958"/>
          </a:xfrm>
          <a:prstGeom prst="rect">
            <a:avLst/>
          </a:prstGeom>
        </p:spPr>
        <p:txBody>
          <a:bodyPr lIns="0" tIns="0" rIns="0" bIns="0" rtlCol="0" anchor="t">
            <a:spAutoFit/>
          </a:bodyPr>
          <a:lstStyle/>
          <a:p>
            <a:pPr algn="ctr">
              <a:lnSpc>
                <a:spcPts val="2399"/>
              </a:lnSpc>
            </a:pPr>
            <a:r>
              <a:rPr lang="en-US" sz="1999" b="1">
                <a:solidFill>
                  <a:srgbClr val="39618E"/>
                </a:solidFill>
                <a:latin typeface="Arial Bold"/>
                <a:ea typeface="Arial Bold"/>
                <a:cs typeface="Arial Bold"/>
                <a:sym typeface="Arial Bold"/>
              </a:rPr>
              <a:t>CAM KẾT THỰC HIỆN KPIs</a:t>
            </a:r>
          </a:p>
        </p:txBody>
      </p:sp>
      <p:sp>
        <p:nvSpPr>
          <p:cNvPr id="34" name="TextBox 34">
            <a:extLst>
              <a:ext uri="{FF2B5EF4-FFF2-40B4-BE49-F238E27FC236}">
                <a16:creationId xmlns:a16="http://schemas.microsoft.com/office/drawing/2014/main" id="{6359EE94-1415-7F8C-94D0-80447A4CA73D}"/>
              </a:ext>
            </a:extLst>
          </p:cNvPr>
          <p:cNvSpPr txBox="1"/>
          <p:nvPr/>
        </p:nvSpPr>
        <p:spPr>
          <a:xfrm>
            <a:off x="408149" y="1327703"/>
            <a:ext cx="3266765" cy="596958"/>
          </a:xfrm>
          <a:prstGeom prst="rect">
            <a:avLst/>
          </a:prstGeom>
        </p:spPr>
        <p:txBody>
          <a:bodyPr wrap="square" lIns="0" tIns="0" rIns="0" bIns="0" rtlCol="0" anchor="t">
            <a:spAutoFit/>
          </a:bodyPr>
          <a:lstStyle/>
          <a:p>
            <a:pPr algn="ctr">
              <a:lnSpc>
                <a:spcPts val="2399"/>
              </a:lnSpc>
            </a:pPr>
            <a:r>
              <a:rPr lang="en-US" sz="1999" b="1">
                <a:solidFill>
                  <a:srgbClr val="39618E"/>
                </a:solidFill>
                <a:latin typeface="Arial Bold"/>
                <a:ea typeface="Arial Bold"/>
                <a:cs typeface="Arial Bold"/>
                <a:sym typeface="Arial Bold"/>
              </a:rPr>
              <a:t>KPIs PHẢI ĐƯỢC DUYỆT ĐÚNG HẠN</a:t>
            </a:r>
          </a:p>
        </p:txBody>
      </p:sp>
      <p:sp>
        <p:nvSpPr>
          <p:cNvPr id="35" name="TextBox 35">
            <a:extLst>
              <a:ext uri="{FF2B5EF4-FFF2-40B4-BE49-F238E27FC236}">
                <a16:creationId xmlns:a16="http://schemas.microsoft.com/office/drawing/2014/main" id="{CCD6DC43-6E65-62FF-DE01-69DDD844CA5D}"/>
              </a:ext>
            </a:extLst>
          </p:cNvPr>
          <p:cNvSpPr txBox="1"/>
          <p:nvPr/>
        </p:nvSpPr>
        <p:spPr>
          <a:xfrm>
            <a:off x="8620579" y="3632149"/>
            <a:ext cx="3150991" cy="2539157"/>
          </a:xfrm>
          <a:prstGeom prst="rect">
            <a:avLst/>
          </a:prstGeom>
        </p:spPr>
        <p:txBody>
          <a:bodyPr lIns="0" tIns="0" rIns="0" bIns="0" rtlCol="0" anchor="t">
            <a:spAutoFit/>
          </a:bodyPr>
          <a:lstStyle/>
          <a:p>
            <a:pPr marL="403033" lvl="1" indent="-201517">
              <a:lnSpc>
                <a:spcPts val="2239"/>
              </a:lnSpc>
              <a:buFont typeface="Arial"/>
              <a:buChar char="•"/>
            </a:pPr>
            <a:r>
              <a:rPr lang="en-US" sz="1866">
                <a:solidFill>
                  <a:srgbClr val="2C6C98"/>
                </a:solidFill>
                <a:latin typeface="Tahoma"/>
                <a:ea typeface="Tahoma"/>
                <a:cs typeface="Tahoma"/>
                <a:sym typeface="Tahoma"/>
              </a:rPr>
              <a:t>Phải có KHHĐ trong vòng 2 tuần sau khi được duyệt KPIs và cam kết thực hiện KPI đã được duyệt.</a:t>
            </a:r>
          </a:p>
          <a:p>
            <a:pPr marL="403033" lvl="1" indent="-201517">
              <a:lnSpc>
                <a:spcPts val="2239"/>
              </a:lnSpc>
              <a:buFont typeface="Arial"/>
              <a:buChar char="•"/>
            </a:pPr>
            <a:r>
              <a:rPr lang="en-US" sz="1866">
                <a:solidFill>
                  <a:srgbClr val="2C6C98"/>
                </a:solidFill>
                <a:latin typeface="Tahoma"/>
                <a:ea typeface="Tahoma"/>
                <a:cs typeface="Tahoma"/>
                <a:sym typeface="Tahoma"/>
              </a:rPr>
              <a:t>Chỉ thay đổi khi có sự tác động lớn từ yếu tố khách quan hoặc thay đổi định hướng/ mục tiêu của DTG và được phê duyệt.</a:t>
            </a:r>
          </a:p>
        </p:txBody>
      </p:sp>
      <p:sp>
        <p:nvSpPr>
          <p:cNvPr id="36" name="TextBox 36">
            <a:extLst>
              <a:ext uri="{FF2B5EF4-FFF2-40B4-BE49-F238E27FC236}">
                <a16:creationId xmlns:a16="http://schemas.microsoft.com/office/drawing/2014/main" id="{B77A7AFB-075B-AE17-D3EC-5766258D2E19}"/>
              </a:ext>
            </a:extLst>
          </p:cNvPr>
          <p:cNvSpPr txBox="1"/>
          <p:nvPr/>
        </p:nvSpPr>
        <p:spPr>
          <a:xfrm>
            <a:off x="4148668" y="3632150"/>
            <a:ext cx="3894665" cy="2539157"/>
          </a:xfrm>
          <a:prstGeom prst="rect">
            <a:avLst/>
          </a:prstGeom>
        </p:spPr>
        <p:txBody>
          <a:bodyPr lIns="0" tIns="0" rIns="0" bIns="0" rtlCol="0" anchor="t">
            <a:spAutoFit/>
          </a:bodyPr>
          <a:lstStyle/>
          <a:p>
            <a:pPr marL="403033" lvl="1" indent="-201517">
              <a:lnSpc>
                <a:spcPts val="2239"/>
              </a:lnSpc>
              <a:buFont typeface="Arial"/>
              <a:buChar char="•"/>
            </a:pPr>
            <a:r>
              <a:rPr lang="en-US" sz="1866" b="1">
                <a:solidFill>
                  <a:srgbClr val="2C6C98"/>
                </a:solidFill>
                <a:latin typeface="Tahoma Bold"/>
                <a:ea typeface="Tahoma Bold"/>
                <a:cs typeface="Tahoma Bold"/>
                <a:sym typeface="Tahoma Bold"/>
              </a:rPr>
              <a:t>S: </a:t>
            </a:r>
            <a:r>
              <a:rPr lang="en-US" sz="1866">
                <a:solidFill>
                  <a:srgbClr val="2C6C98"/>
                </a:solidFill>
                <a:latin typeface="Tahoma"/>
                <a:ea typeface="Tahoma"/>
                <a:cs typeface="Tahoma"/>
                <a:sym typeface="Tahoma"/>
              </a:rPr>
              <a:t>KPI phải có mục tiêu rõ ràng</a:t>
            </a:r>
          </a:p>
          <a:p>
            <a:pPr marL="403033" lvl="1" indent="-201517">
              <a:lnSpc>
                <a:spcPts val="2239"/>
              </a:lnSpc>
              <a:buFont typeface="Arial"/>
              <a:buChar char="•"/>
            </a:pPr>
            <a:r>
              <a:rPr lang="en-US" sz="1866" b="1">
                <a:solidFill>
                  <a:srgbClr val="2C6C98"/>
                </a:solidFill>
                <a:latin typeface="Tahoma Bold"/>
                <a:ea typeface="Tahoma Bold"/>
                <a:cs typeface="Tahoma Bold"/>
                <a:sym typeface="Tahoma Bold"/>
              </a:rPr>
              <a:t>M: </a:t>
            </a:r>
            <a:r>
              <a:rPr lang="en-US" sz="1866">
                <a:solidFill>
                  <a:srgbClr val="2C6C98"/>
                </a:solidFill>
                <a:latin typeface="Tahoma"/>
                <a:ea typeface="Tahoma"/>
                <a:cs typeface="Tahoma"/>
                <a:sym typeface="Tahoma"/>
              </a:rPr>
              <a:t>KPI phải đo lường được, có công thức cụ thể</a:t>
            </a:r>
          </a:p>
          <a:p>
            <a:pPr marL="403033" lvl="1" indent="-201517">
              <a:lnSpc>
                <a:spcPts val="2239"/>
              </a:lnSpc>
              <a:buFont typeface="Arial"/>
              <a:buChar char="•"/>
            </a:pPr>
            <a:r>
              <a:rPr lang="en-US" sz="1866" b="1">
                <a:solidFill>
                  <a:srgbClr val="2C6C98"/>
                </a:solidFill>
                <a:latin typeface="Tahoma Bold"/>
                <a:ea typeface="Tahoma Bold"/>
                <a:cs typeface="Tahoma Bold"/>
                <a:sym typeface="Tahoma Bold"/>
              </a:rPr>
              <a:t>A:</a:t>
            </a:r>
            <a:r>
              <a:rPr lang="en-US" sz="1866">
                <a:solidFill>
                  <a:srgbClr val="2C6C98"/>
                </a:solidFill>
                <a:latin typeface="Tahoma"/>
                <a:ea typeface="Tahoma"/>
                <a:cs typeface="Tahoma"/>
                <a:sym typeface="Tahoma"/>
              </a:rPr>
              <a:t> KPI phải có khả năng thực hiện được</a:t>
            </a:r>
          </a:p>
          <a:p>
            <a:pPr marL="403033" lvl="1" indent="-201517">
              <a:lnSpc>
                <a:spcPts val="2239"/>
              </a:lnSpc>
              <a:buFont typeface="Arial"/>
              <a:buChar char="•"/>
            </a:pPr>
            <a:r>
              <a:rPr lang="en-US" sz="1866" b="1">
                <a:solidFill>
                  <a:srgbClr val="2C6C98"/>
                </a:solidFill>
                <a:latin typeface="Tahoma Bold"/>
                <a:ea typeface="Tahoma Bold"/>
                <a:cs typeface="Tahoma Bold"/>
                <a:sym typeface="Tahoma Bold"/>
              </a:rPr>
              <a:t>R:</a:t>
            </a:r>
            <a:r>
              <a:rPr lang="en-US" sz="1866">
                <a:solidFill>
                  <a:srgbClr val="2C6C98"/>
                </a:solidFill>
                <a:latin typeface="Tahoma"/>
                <a:ea typeface="Tahoma"/>
                <a:cs typeface="Tahoma"/>
                <a:sym typeface="Tahoma"/>
              </a:rPr>
              <a:t> KPI phải thực tế, liên kết với mục tiêu tổ chức</a:t>
            </a:r>
          </a:p>
          <a:p>
            <a:pPr marL="403033" lvl="1" indent="-201517">
              <a:lnSpc>
                <a:spcPts val="2239"/>
              </a:lnSpc>
              <a:buFont typeface="Arial"/>
              <a:buChar char="•"/>
            </a:pPr>
            <a:r>
              <a:rPr lang="en-US" sz="1866" b="1">
                <a:solidFill>
                  <a:srgbClr val="2C6C98"/>
                </a:solidFill>
                <a:latin typeface="Tahoma Bold"/>
                <a:ea typeface="Tahoma Bold"/>
                <a:cs typeface="Tahoma Bold"/>
                <a:sym typeface="Tahoma Bold"/>
              </a:rPr>
              <a:t>T: </a:t>
            </a:r>
            <a:r>
              <a:rPr lang="en-US" sz="1866">
                <a:solidFill>
                  <a:srgbClr val="2C6C98"/>
                </a:solidFill>
                <a:latin typeface="Tahoma"/>
                <a:ea typeface="Tahoma"/>
                <a:cs typeface="Tahoma"/>
                <a:sym typeface="Tahoma"/>
              </a:rPr>
              <a:t>KPI phải có thời gian hoàn thành cụ thể</a:t>
            </a:r>
          </a:p>
        </p:txBody>
      </p:sp>
      <p:sp>
        <p:nvSpPr>
          <p:cNvPr id="37" name="TextBox 37">
            <a:extLst>
              <a:ext uri="{FF2B5EF4-FFF2-40B4-BE49-F238E27FC236}">
                <a16:creationId xmlns:a16="http://schemas.microsoft.com/office/drawing/2014/main" id="{D7C226CC-5951-DDFD-FF09-E23A9B033F30}"/>
              </a:ext>
            </a:extLst>
          </p:cNvPr>
          <p:cNvSpPr txBox="1"/>
          <p:nvPr/>
        </p:nvSpPr>
        <p:spPr>
          <a:xfrm>
            <a:off x="464881" y="3654225"/>
            <a:ext cx="3150991" cy="2257028"/>
          </a:xfrm>
          <a:prstGeom prst="rect">
            <a:avLst/>
          </a:prstGeom>
        </p:spPr>
        <p:txBody>
          <a:bodyPr lIns="0" tIns="0" rIns="0" bIns="0" rtlCol="0" anchor="t">
            <a:spAutoFit/>
          </a:bodyPr>
          <a:lstStyle/>
          <a:p>
            <a:pPr marL="403033" lvl="1" indent="-201517">
              <a:lnSpc>
                <a:spcPts val="2239"/>
              </a:lnSpc>
              <a:buFont typeface="Arial"/>
              <a:buChar char="•"/>
            </a:pPr>
            <a:r>
              <a:rPr lang="en-US" sz="1866">
                <a:solidFill>
                  <a:srgbClr val="2C6C98"/>
                </a:solidFill>
                <a:latin typeface="Tahoma"/>
                <a:ea typeface="Tahoma"/>
                <a:cs typeface="Tahoma"/>
                <a:sym typeface="Tahoma"/>
              </a:rPr>
              <a:t>Tất cả các cá nhân, đơn vị thuộc đối tượng thiết lập KPIs phải hoàn tất thiết lập theo kế hoạch được duyệt.</a:t>
            </a:r>
          </a:p>
          <a:p>
            <a:pPr marL="403033" lvl="1" indent="-201517">
              <a:lnSpc>
                <a:spcPts val="2239"/>
              </a:lnSpc>
              <a:buFont typeface="Arial"/>
              <a:buChar char="•"/>
            </a:pPr>
            <a:r>
              <a:rPr lang="en-US" sz="1866">
                <a:solidFill>
                  <a:srgbClr val="2C6C98"/>
                </a:solidFill>
                <a:latin typeface="Tahoma"/>
                <a:ea typeface="Tahoma"/>
                <a:cs typeface="Tahoma"/>
                <a:sym typeface="Tahoma"/>
              </a:rPr>
              <a:t>KPIs của Đơn vị cũng chính là KPIs của người đứng đầu (Head).</a:t>
            </a:r>
          </a:p>
        </p:txBody>
      </p:sp>
      <p:sp>
        <p:nvSpPr>
          <p:cNvPr id="38" name="Slide Number Placeholder 37">
            <a:extLst>
              <a:ext uri="{FF2B5EF4-FFF2-40B4-BE49-F238E27FC236}">
                <a16:creationId xmlns:a16="http://schemas.microsoft.com/office/drawing/2014/main" id="{8198EF9E-3C41-45EE-D76A-95C0336896D6}"/>
              </a:ext>
            </a:extLst>
          </p:cNvPr>
          <p:cNvSpPr>
            <a:spLocks noGrp="1"/>
          </p:cNvSpPr>
          <p:nvPr>
            <p:ph type="sldNum" sz="quarter" idx="12"/>
          </p:nvPr>
        </p:nvSpPr>
        <p:spPr/>
        <p:txBody>
          <a:bodyPr/>
          <a:lstStyle/>
          <a:p>
            <a:fld id="{06D5B5F9-488F-4DD3-845F-86795626F9DE}" type="slidenum">
              <a:rPr lang="en-US" smtClean="0"/>
              <a:t>12</a:t>
            </a:fld>
            <a:endParaRPr lang="en-US"/>
          </a:p>
        </p:txBody>
      </p:sp>
    </p:spTree>
    <p:extLst>
      <p:ext uri="{BB962C8B-B14F-4D97-AF65-F5344CB8AC3E}">
        <p14:creationId xmlns:p14="http://schemas.microsoft.com/office/powerpoint/2010/main" val="30263049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500" fill="hold"/>
                                        <p:tgtEl>
                                          <p:spTgt spid="34"/>
                                        </p:tgtEl>
                                        <p:attrNameLst>
                                          <p:attrName>ppt_x</p:attrName>
                                        </p:attrNameLst>
                                      </p:cBhvr>
                                      <p:tavLst>
                                        <p:tav tm="0">
                                          <p:val>
                                            <p:strVal val="#ppt_x"/>
                                          </p:val>
                                        </p:tav>
                                        <p:tav tm="100000">
                                          <p:val>
                                            <p:strVal val="#ppt_x"/>
                                          </p:val>
                                        </p:tav>
                                      </p:tavLst>
                                    </p:anim>
                                    <p:anim calcmode="lin" valueType="num">
                                      <p:cBhvr additive="base">
                                        <p:cTn id="20" dur="500" fill="hold"/>
                                        <p:tgtEl>
                                          <p:spTgt spid="3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additive="base">
                                        <p:cTn id="23" dur="500" fill="hold"/>
                                        <p:tgtEl>
                                          <p:spTgt spid="37"/>
                                        </p:tgtEl>
                                        <p:attrNameLst>
                                          <p:attrName>ppt_x</p:attrName>
                                        </p:attrNameLst>
                                      </p:cBhvr>
                                      <p:tavLst>
                                        <p:tav tm="0">
                                          <p:val>
                                            <p:strVal val="#ppt_x"/>
                                          </p:val>
                                        </p:tav>
                                        <p:tav tm="100000">
                                          <p:val>
                                            <p:strVal val="#ppt_x"/>
                                          </p:val>
                                        </p:tav>
                                      </p:tavLst>
                                    </p:anim>
                                    <p:anim calcmode="lin" valueType="num">
                                      <p:cBhvr additive="base">
                                        <p:cTn id="2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ppt_x"/>
                                          </p:val>
                                        </p:tav>
                                        <p:tav tm="100000">
                                          <p:val>
                                            <p:strVal val="#ppt_x"/>
                                          </p:val>
                                        </p:tav>
                                      </p:tavLst>
                                    </p:anim>
                                    <p:anim calcmode="lin" valueType="num">
                                      <p:cBhvr additive="base">
                                        <p:cTn id="38" dur="500" fill="hold"/>
                                        <p:tgtEl>
                                          <p:spTgt spid="2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ppt_x"/>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 calcmode="lin" valueType="num">
                                      <p:cBhvr additive="base">
                                        <p:cTn id="45" dur="500" fill="hold"/>
                                        <p:tgtEl>
                                          <p:spTgt spid="36"/>
                                        </p:tgtEl>
                                        <p:attrNameLst>
                                          <p:attrName>ppt_x</p:attrName>
                                        </p:attrNameLst>
                                      </p:cBhvr>
                                      <p:tavLst>
                                        <p:tav tm="0">
                                          <p:val>
                                            <p:strVal val="#ppt_x"/>
                                          </p:val>
                                        </p:tav>
                                        <p:tav tm="100000">
                                          <p:val>
                                            <p:strVal val="#ppt_x"/>
                                          </p:val>
                                        </p:tav>
                                      </p:tavLst>
                                    </p:anim>
                                    <p:anim calcmode="lin" valueType="num">
                                      <p:cBhvr additive="base">
                                        <p:cTn id="4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anim calcmode="lin" valueType="num">
                                      <p:cBhvr additive="base">
                                        <p:cTn id="55" dur="500" fill="hold"/>
                                        <p:tgtEl>
                                          <p:spTgt spid="25"/>
                                        </p:tgtEl>
                                        <p:attrNameLst>
                                          <p:attrName>ppt_x</p:attrName>
                                        </p:attrNameLst>
                                      </p:cBhvr>
                                      <p:tavLst>
                                        <p:tav tm="0">
                                          <p:val>
                                            <p:strVal val="#ppt_x"/>
                                          </p:val>
                                        </p:tav>
                                        <p:tav tm="100000">
                                          <p:val>
                                            <p:strVal val="#ppt_x"/>
                                          </p:val>
                                        </p:tav>
                                      </p:tavLst>
                                    </p:anim>
                                    <p:anim calcmode="lin" valueType="num">
                                      <p:cBhvr additive="base">
                                        <p:cTn id="56" dur="500" fill="hold"/>
                                        <p:tgtEl>
                                          <p:spTgt spid="2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500" fill="hold"/>
                                        <p:tgtEl>
                                          <p:spTgt spid="28"/>
                                        </p:tgtEl>
                                        <p:attrNameLst>
                                          <p:attrName>ppt_x</p:attrName>
                                        </p:attrNameLst>
                                      </p:cBhvr>
                                      <p:tavLst>
                                        <p:tav tm="0">
                                          <p:val>
                                            <p:strVal val="#ppt_x"/>
                                          </p:val>
                                        </p:tav>
                                        <p:tav tm="100000">
                                          <p:val>
                                            <p:strVal val="#ppt_x"/>
                                          </p:val>
                                        </p:tav>
                                      </p:tavLst>
                                    </p:anim>
                                    <p:anim calcmode="lin" valueType="num">
                                      <p:cBhvr additive="base">
                                        <p:cTn id="60" dur="500" fill="hold"/>
                                        <p:tgtEl>
                                          <p:spTgt spid="28"/>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33"/>
                                        </p:tgtEl>
                                        <p:attrNameLst>
                                          <p:attrName>style.visibility</p:attrName>
                                        </p:attrNameLst>
                                      </p:cBhvr>
                                      <p:to>
                                        <p:strVal val="visible"/>
                                      </p:to>
                                    </p:set>
                                    <p:anim calcmode="lin" valueType="num">
                                      <p:cBhvr additive="base">
                                        <p:cTn id="63" dur="500" fill="hold"/>
                                        <p:tgtEl>
                                          <p:spTgt spid="33"/>
                                        </p:tgtEl>
                                        <p:attrNameLst>
                                          <p:attrName>ppt_x</p:attrName>
                                        </p:attrNameLst>
                                      </p:cBhvr>
                                      <p:tavLst>
                                        <p:tav tm="0">
                                          <p:val>
                                            <p:strVal val="#ppt_x"/>
                                          </p:val>
                                        </p:tav>
                                        <p:tav tm="100000">
                                          <p:val>
                                            <p:strVal val="#ppt_x"/>
                                          </p:val>
                                        </p:tav>
                                      </p:tavLst>
                                    </p:anim>
                                    <p:anim calcmode="lin" valueType="num">
                                      <p:cBhvr additive="base">
                                        <p:cTn id="64" dur="500" fill="hold"/>
                                        <p:tgtEl>
                                          <p:spTgt spid="33"/>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 calcmode="lin" valueType="num">
                                      <p:cBhvr additive="base">
                                        <p:cTn id="67" dur="500" fill="hold"/>
                                        <p:tgtEl>
                                          <p:spTgt spid="35"/>
                                        </p:tgtEl>
                                        <p:attrNameLst>
                                          <p:attrName>ppt_x</p:attrName>
                                        </p:attrNameLst>
                                      </p:cBhvr>
                                      <p:tavLst>
                                        <p:tav tm="0">
                                          <p:val>
                                            <p:strVal val="#ppt_x"/>
                                          </p:val>
                                        </p:tav>
                                        <p:tav tm="100000">
                                          <p:val>
                                            <p:strVal val="#ppt_x"/>
                                          </p:val>
                                        </p:tav>
                                      </p:tavLst>
                                    </p:anim>
                                    <p:anim calcmode="lin" valueType="num">
                                      <p:cBhvr additive="base">
                                        <p:cTn id="6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8" grpId="0" animBg="1"/>
      <p:bldP spid="29" grpId="0" animBg="1"/>
      <p:bldP spid="32" grpId="0"/>
      <p:bldP spid="33" grpId="0"/>
      <p:bldP spid="34" grpId="0"/>
      <p:bldP spid="35" grpId="0"/>
      <p:bldP spid="36" grpId="0"/>
      <p:bldP spid="3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1401</TotalTime>
  <Words>2917</Words>
  <Application>Microsoft Office PowerPoint</Application>
  <PresentationFormat>Widescreen</PresentationFormat>
  <Paragraphs>1263</Paragraphs>
  <Slides>12</Slides>
  <Notes>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vt:i4>
      </vt:variant>
    </vt:vector>
  </HeadingPairs>
  <TitlesOfParts>
    <vt:vector size="24" baseType="lpstr">
      <vt:lpstr>Aptos</vt:lpstr>
      <vt:lpstr>Aptos Display</vt:lpstr>
      <vt:lpstr>Arial</vt:lpstr>
      <vt:lpstr>Arial Bold</vt:lpstr>
      <vt:lpstr>Arial Italics</vt:lpstr>
      <vt:lpstr>Calibri</vt:lpstr>
      <vt:lpstr>Tahoma</vt:lpstr>
      <vt:lpstr>Tahoma Bold</vt:lpstr>
      <vt:lpstr>Times</vt:lpstr>
      <vt:lpstr>Times New Roman</vt:lpstr>
      <vt:lpstr>Wingdings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Liên, Lưu Thị Kim</dc:creator>
  <cp:lastModifiedBy>Cư, Lê Hoành</cp:lastModifiedBy>
  <cp:revision>12</cp:revision>
  <dcterms:created xsi:type="dcterms:W3CDTF">2025-12-09T04:47:38Z</dcterms:created>
  <dcterms:modified xsi:type="dcterms:W3CDTF">2025-12-23T08:57:15Z</dcterms:modified>
</cp:coreProperties>
</file>