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4"/>
  </p:notesMasterIdLst>
  <p:sldIdLst>
    <p:sldId id="981" r:id="rId5"/>
    <p:sldId id="982" r:id="rId6"/>
    <p:sldId id="983" r:id="rId7"/>
    <p:sldId id="984" r:id="rId8"/>
    <p:sldId id="985" r:id="rId9"/>
    <p:sldId id="986" r:id="rId10"/>
    <p:sldId id="992" r:id="rId11"/>
    <p:sldId id="994" r:id="rId12"/>
    <p:sldId id="998" r:id="rId13"/>
    <p:sldId id="999" r:id="rId14"/>
    <p:sldId id="1000" r:id="rId15"/>
    <p:sldId id="1001" r:id="rId16"/>
    <p:sldId id="1002" r:id="rId17"/>
    <p:sldId id="987" r:id="rId18"/>
    <p:sldId id="988" r:id="rId19"/>
    <p:sldId id="989" r:id="rId20"/>
    <p:sldId id="990" r:id="rId21"/>
    <p:sldId id="993" r:id="rId22"/>
    <p:sldId id="991" r:id="rId23"/>
    <p:sldId id="995" r:id="rId24"/>
    <p:sldId id="996" r:id="rId25"/>
    <p:sldId id="997" r:id="rId26"/>
    <p:sldId id="1004" r:id="rId27"/>
    <p:sldId id="1005" r:id="rId28"/>
    <p:sldId id="1006" r:id="rId29"/>
    <p:sldId id="1007" r:id="rId30"/>
    <p:sldId id="1008" r:id="rId31"/>
    <p:sldId id="1019" r:id="rId32"/>
    <p:sldId id="1009" r:id="rId33"/>
    <p:sldId id="1010" r:id="rId34"/>
    <p:sldId id="1011" r:id="rId35"/>
    <p:sldId id="1012" r:id="rId36"/>
    <p:sldId id="1013" r:id="rId37"/>
    <p:sldId id="1014" r:id="rId38"/>
    <p:sldId id="1015" r:id="rId39"/>
    <p:sldId id="1016" r:id="rId40"/>
    <p:sldId id="1017" r:id="rId41"/>
    <p:sldId id="1018" r:id="rId42"/>
    <p:sldId id="969"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930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3595" autoAdjust="0"/>
  </p:normalViewPr>
  <p:slideViewPr>
    <p:cSldViewPr snapToGrid="0">
      <p:cViewPr varScale="1">
        <p:scale>
          <a:sx n="74" d="100"/>
          <a:sy n="74" d="100"/>
        </p:scale>
        <p:origin x="955" y="4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30D2DE-B007-42B1-B841-00DDC4A2CF8F}" type="datetimeFigureOut">
              <a:rPr lang="en-US" smtClean="0"/>
              <a:t>3/31/2026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73254F-BF9D-4099-A3FF-DCBE34CF5EDF}" type="slidenum">
              <a:rPr lang="en-US" smtClean="0"/>
              <a:t>‹#›</a:t>
            </a:fld>
            <a:endParaRPr lang="en-US"/>
          </a:p>
        </p:txBody>
      </p:sp>
    </p:spTree>
    <p:extLst>
      <p:ext uri="{BB962C8B-B14F-4D97-AF65-F5344CB8AC3E}">
        <p14:creationId xmlns:p14="http://schemas.microsoft.com/office/powerpoint/2010/main" val="3525022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a:extLst>
            <a:ext uri="{FF2B5EF4-FFF2-40B4-BE49-F238E27FC236}">
              <a16:creationId xmlns:a16="http://schemas.microsoft.com/office/drawing/2014/main" id="{E1971DEA-C03A-D9DF-5BFE-F46FE555AA4F}"/>
            </a:ext>
          </a:extLst>
        </p:cNvPr>
        <p:cNvGrpSpPr/>
        <p:nvPr/>
      </p:nvGrpSpPr>
      <p:grpSpPr>
        <a:xfrm>
          <a:off x="0" y="0"/>
          <a:ext cx="0" cy="0"/>
          <a:chOff x="0" y="0"/>
          <a:chExt cx="0" cy="0"/>
        </a:xfrm>
      </p:grpSpPr>
      <p:sp>
        <p:nvSpPr>
          <p:cNvPr id="633" name="Google Shape;633;g229f957521d_0_635:notes">
            <a:extLst>
              <a:ext uri="{FF2B5EF4-FFF2-40B4-BE49-F238E27FC236}">
                <a16:creationId xmlns:a16="http://schemas.microsoft.com/office/drawing/2014/main" id="{2C33A789-2FC7-CE3B-EBF1-182C74FCDACA}"/>
              </a:ext>
            </a:extLst>
          </p:cNvPr>
          <p:cNvSpPr txBox="1">
            <a:spLocks noGrp="1"/>
          </p:cNvSpPr>
          <p:nvPr>
            <p:ph type="body" idx="1"/>
          </p:nvPr>
        </p:nvSpPr>
        <p:spPr>
          <a:xfrm>
            <a:off x="688817" y="4821505"/>
            <a:ext cx="5510530" cy="3945033"/>
          </a:xfrm>
          <a:prstGeom prst="rect">
            <a:avLst/>
          </a:prstGeom>
        </p:spPr>
        <p:txBody>
          <a:bodyPr spcFirstLastPara="1" wrap="square" lIns="96591" tIns="48282" rIns="96591" bIns="48282" anchor="t" anchorCtr="0">
            <a:noAutofit/>
          </a:bodyPr>
          <a:lstStyle/>
          <a:p>
            <a:pPr marL="0" indent="0"/>
            <a:endParaRPr/>
          </a:p>
        </p:txBody>
      </p:sp>
      <p:sp>
        <p:nvSpPr>
          <p:cNvPr id="634" name="Google Shape;634;g229f957521d_0_635:notes">
            <a:extLst>
              <a:ext uri="{FF2B5EF4-FFF2-40B4-BE49-F238E27FC236}">
                <a16:creationId xmlns:a16="http://schemas.microsoft.com/office/drawing/2014/main" id="{3C770A5E-223A-A3BA-CC85-CE5746936E01}"/>
              </a:ext>
            </a:extLst>
          </p:cNvPr>
          <p:cNvSpPr>
            <a:spLocks noGrp="1" noRot="1" noChangeAspect="1"/>
          </p:cNvSpPr>
          <p:nvPr>
            <p:ph type="sldImg" idx="2"/>
          </p:nvPr>
        </p:nvSpPr>
        <p:spPr>
          <a:xfrm>
            <a:off x="438150" y="1252538"/>
            <a:ext cx="6011863" cy="33813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Footer Placeholder 1">
            <a:extLst>
              <a:ext uri="{FF2B5EF4-FFF2-40B4-BE49-F238E27FC236}">
                <a16:creationId xmlns:a16="http://schemas.microsoft.com/office/drawing/2014/main" id="{17D010FD-6873-675C-6585-14177B75057A}"/>
              </a:ext>
            </a:extLst>
          </p:cNvPr>
          <p:cNvSpPr>
            <a:spLocks noGrp="1"/>
          </p:cNvSpPr>
          <p:nvPr>
            <p:ph type="ftr" idx="11"/>
          </p:nvPr>
        </p:nvSpPr>
        <p:spPr/>
        <p:txBody>
          <a:bodyPr/>
          <a:lstStyle/>
          <a:p>
            <a:r>
              <a:rPr lang="en-US"/>
              <a:t>#/6</a:t>
            </a:r>
          </a:p>
        </p:txBody>
      </p:sp>
    </p:spTree>
    <p:extLst>
      <p:ext uri="{BB962C8B-B14F-4D97-AF65-F5344CB8AC3E}">
        <p14:creationId xmlns:p14="http://schemas.microsoft.com/office/powerpoint/2010/main" val="2251033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73254F-BF9D-4099-A3FF-DCBE34CF5EDF}" type="slidenum">
              <a:rPr lang="en-US" smtClean="0"/>
              <a:t>8</a:t>
            </a:fld>
            <a:endParaRPr lang="en-US"/>
          </a:p>
        </p:txBody>
      </p:sp>
    </p:spTree>
    <p:extLst>
      <p:ext uri="{BB962C8B-B14F-4D97-AF65-F5344CB8AC3E}">
        <p14:creationId xmlns:p14="http://schemas.microsoft.com/office/powerpoint/2010/main" val="24672368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73254F-BF9D-4099-A3FF-DCBE34CF5EDF}" type="slidenum">
              <a:rPr lang="en-US" smtClean="0"/>
              <a:t>32</a:t>
            </a:fld>
            <a:endParaRPr lang="en-US"/>
          </a:p>
        </p:txBody>
      </p:sp>
    </p:spTree>
    <p:extLst>
      <p:ext uri="{BB962C8B-B14F-4D97-AF65-F5344CB8AC3E}">
        <p14:creationId xmlns:p14="http://schemas.microsoft.com/office/powerpoint/2010/main" val="761045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a:extLst>
            <a:ext uri="{FF2B5EF4-FFF2-40B4-BE49-F238E27FC236}">
              <a16:creationId xmlns:a16="http://schemas.microsoft.com/office/drawing/2014/main" id="{60B4C233-7606-72E4-AB40-392FF63A6A70}"/>
            </a:ext>
          </a:extLst>
        </p:cNvPr>
        <p:cNvGrpSpPr/>
        <p:nvPr/>
      </p:nvGrpSpPr>
      <p:grpSpPr>
        <a:xfrm>
          <a:off x="0" y="0"/>
          <a:ext cx="0" cy="0"/>
          <a:chOff x="0" y="0"/>
          <a:chExt cx="0" cy="0"/>
        </a:xfrm>
      </p:grpSpPr>
      <p:sp>
        <p:nvSpPr>
          <p:cNvPr id="633" name="Google Shape;633;g229f957521d_0_635:notes">
            <a:extLst>
              <a:ext uri="{FF2B5EF4-FFF2-40B4-BE49-F238E27FC236}">
                <a16:creationId xmlns:a16="http://schemas.microsoft.com/office/drawing/2014/main" id="{E4AFF191-94A4-3D95-192B-E46C11DF32A1}"/>
              </a:ext>
            </a:extLst>
          </p:cNvPr>
          <p:cNvSpPr txBox="1">
            <a:spLocks noGrp="1"/>
          </p:cNvSpPr>
          <p:nvPr>
            <p:ph type="body" idx="1"/>
          </p:nvPr>
        </p:nvSpPr>
        <p:spPr>
          <a:xfrm>
            <a:off x="688817" y="4821505"/>
            <a:ext cx="5510530" cy="3945033"/>
          </a:xfrm>
          <a:prstGeom prst="rect">
            <a:avLst/>
          </a:prstGeom>
        </p:spPr>
        <p:txBody>
          <a:bodyPr spcFirstLastPara="1" wrap="square" lIns="96591" tIns="48282" rIns="96591" bIns="48282" anchor="t" anchorCtr="0">
            <a:noAutofit/>
          </a:bodyPr>
          <a:lstStyle/>
          <a:p>
            <a:pPr marL="0" indent="0"/>
            <a:endParaRPr/>
          </a:p>
        </p:txBody>
      </p:sp>
      <p:sp>
        <p:nvSpPr>
          <p:cNvPr id="634" name="Google Shape;634;g229f957521d_0_635:notes">
            <a:extLst>
              <a:ext uri="{FF2B5EF4-FFF2-40B4-BE49-F238E27FC236}">
                <a16:creationId xmlns:a16="http://schemas.microsoft.com/office/drawing/2014/main" id="{1AC7D020-636B-5284-D5C8-7C27D453A77C}"/>
              </a:ext>
            </a:extLst>
          </p:cNvPr>
          <p:cNvSpPr>
            <a:spLocks noGrp="1" noRot="1" noChangeAspect="1"/>
          </p:cNvSpPr>
          <p:nvPr>
            <p:ph type="sldImg" idx="2"/>
          </p:nvPr>
        </p:nvSpPr>
        <p:spPr>
          <a:xfrm>
            <a:off x="438150" y="1252538"/>
            <a:ext cx="6011863" cy="33813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Footer Placeholder 1">
            <a:extLst>
              <a:ext uri="{FF2B5EF4-FFF2-40B4-BE49-F238E27FC236}">
                <a16:creationId xmlns:a16="http://schemas.microsoft.com/office/drawing/2014/main" id="{B0DB0B03-0F4B-D524-5AC4-3C77EF82D9C9}"/>
              </a:ext>
            </a:extLst>
          </p:cNvPr>
          <p:cNvSpPr>
            <a:spLocks noGrp="1"/>
          </p:cNvSpPr>
          <p:nvPr>
            <p:ph type="ftr" idx="11"/>
          </p:nvPr>
        </p:nvSpPr>
        <p:spPr/>
        <p:txBody>
          <a:bodyPr/>
          <a:lstStyle/>
          <a:p>
            <a:r>
              <a:rPr lang="en-US"/>
              <a:t>#/6</a:t>
            </a:r>
          </a:p>
        </p:txBody>
      </p:sp>
    </p:spTree>
    <p:extLst>
      <p:ext uri="{BB962C8B-B14F-4D97-AF65-F5344CB8AC3E}">
        <p14:creationId xmlns:p14="http://schemas.microsoft.com/office/powerpoint/2010/main" val="1240140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8F8B2-7C9F-1E2B-E80D-CE26885352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32F3651-A874-6C3D-5DF1-1AD1EE9D40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874818-CF46-DC8D-B293-FEF544D3F094}"/>
              </a:ext>
            </a:extLst>
          </p:cNvPr>
          <p:cNvSpPr>
            <a:spLocks noGrp="1"/>
          </p:cNvSpPr>
          <p:nvPr>
            <p:ph type="dt" sz="half" idx="10"/>
          </p:nvPr>
        </p:nvSpPr>
        <p:spPr/>
        <p:txBody>
          <a:bodyPr/>
          <a:lstStyle/>
          <a:p>
            <a:fld id="{6F8545CA-8FCB-4260-ADAB-B25D0B91F798}" type="datetimeFigureOut">
              <a:rPr lang="en-US" smtClean="0"/>
              <a:t>3/31/2026</a:t>
            </a:fld>
            <a:endParaRPr lang="en-US"/>
          </a:p>
        </p:txBody>
      </p:sp>
      <p:sp>
        <p:nvSpPr>
          <p:cNvPr id="5" name="Footer Placeholder 4">
            <a:extLst>
              <a:ext uri="{FF2B5EF4-FFF2-40B4-BE49-F238E27FC236}">
                <a16:creationId xmlns:a16="http://schemas.microsoft.com/office/drawing/2014/main" id="{3E8A8108-A657-9129-AF93-53662B8738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3EC491-ACCC-70FA-11B8-446A1590A683}"/>
              </a:ext>
            </a:extLst>
          </p:cNvPr>
          <p:cNvSpPr>
            <a:spLocks noGrp="1"/>
          </p:cNvSpPr>
          <p:nvPr>
            <p:ph type="sldNum" sz="quarter" idx="12"/>
          </p:nvPr>
        </p:nvSpPr>
        <p:spPr/>
        <p:txBody>
          <a:bodyPr/>
          <a:lstStyle/>
          <a:p>
            <a:fld id="{4E3F0780-E468-41E0-8DF9-9C531955316F}" type="slidenum">
              <a:rPr lang="en-US" smtClean="0"/>
              <a:t>‹#›</a:t>
            </a:fld>
            <a:endParaRPr lang="en-US"/>
          </a:p>
        </p:txBody>
      </p:sp>
    </p:spTree>
    <p:extLst>
      <p:ext uri="{BB962C8B-B14F-4D97-AF65-F5344CB8AC3E}">
        <p14:creationId xmlns:p14="http://schemas.microsoft.com/office/powerpoint/2010/main" val="32124232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D46B1-1A43-CE6B-B18F-D95DC2BCA2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14FDE4-617C-38BE-F903-68A9D42C03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ACE87A-D022-4B73-E55C-E760FC2964A1}"/>
              </a:ext>
            </a:extLst>
          </p:cNvPr>
          <p:cNvSpPr>
            <a:spLocks noGrp="1"/>
          </p:cNvSpPr>
          <p:nvPr>
            <p:ph type="dt" sz="half" idx="10"/>
          </p:nvPr>
        </p:nvSpPr>
        <p:spPr/>
        <p:txBody>
          <a:bodyPr/>
          <a:lstStyle/>
          <a:p>
            <a:fld id="{6F8545CA-8FCB-4260-ADAB-B25D0B91F798}" type="datetimeFigureOut">
              <a:rPr lang="en-US" smtClean="0"/>
              <a:t>3/31/2026</a:t>
            </a:fld>
            <a:endParaRPr lang="en-US"/>
          </a:p>
        </p:txBody>
      </p:sp>
      <p:sp>
        <p:nvSpPr>
          <p:cNvPr id="5" name="Footer Placeholder 4">
            <a:extLst>
              <a:ext uri="{FF2B5EF4-FFF2-40B4-BE49-F238E27FC236}">
                <a16:creationId xmlns:a16="http://schemas.microsoft.com/office/drawing/2014/main" id="{E6860131-A049-C01F-A37B-CD4ACA2CE1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749AE7-2931-2DDF-6973-0B9B49C222EC}"/>
              </a:ext>
            </a:extLst>
          </p:cNvPr>
          <p:cNvSpPr>
            <a:spLocks noGrp="1"/>
          </p:cNvSpPr>
          <p:nvPr>
            <p:ph type="sldNum" sz="quarter" idx="12"/>
          </p:nvPr>
        </p:nvSpPr>
        <p:spPr/>
        <p:txBody>
          <a:bodyPr/>
          <a:lstStyle/>
          <a:p>
            <a:fld id="{4E3F0780-E468-41E0-8DF9-9C531955316F}" type="slidenum">
              <a:rPr lang="en-US" smtClean="0"/>
              <a:t>‹#›</a:t>
            </a:fld>
            <a:endParaRPr lang="en-US"/>
          </a:p>
        </p:txBody>
      </p:sp>
    </p:spTree>
    <p:extLst>
      <p:ext uri="{BB962C8B-B14F-4D97-AF65-F5344CB8AC3E}">
        <p14:creationId xmlns:p14="http://schemas.microsoft.com/office/powerpoint/2010/main" val="17219313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0540B-156E-62DC-F703-6A3D919B64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E86E201-8EDF-D4D2-CEF4-C23C2B40A0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7D6AAC-A027-82FE-8342-C3F2DFCB71B5}"/>
              </a:ext>
            </a:extLst>
          </p:cNvPr>
          <p:cNvSpPr>
            <a:spLocks noGrp="1"/>
          </p:cNvSpPr>
          <p:nvPr>
            <p:ph type="dt" sz="half" idx="10"/>
          </p:nvPr>
        </p:nvSpPr>
        <p:spPr/>
        <p:txBody>
          <a:bodyPr/>
          <a:lstStyle/>
          <a:p>
            <a:fld id="{6F8545CA-8FCB-4260-ADAB-B25D0B91F798}" type="datetimeFigureOut">
              <a:rPr lang="en-US" smtClean="0"/>
              <a:t>3/31/2026</a:t>
            </a:fld>
            <a:endParaRPr lang="en-US"/>
          </a:p>
        </p:txBody>
      </p:sp>
      <p:sp>
        <p:nvSpPr>
          <p:cNvPr id="5" name="Footer Placeholder 4">
            <a:extLst>
              <a:ext uri="{FF2B5EF4-FFF2-40B4-BE49-F238E27FC236}">
                <a16:creationId xmlns:a16="http://schemas.microsoft.com/office/drawing/2014/main" id="{ED142679-4560-C395-9F35-09B3FFBEFB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0CA18D-4877-6CC5-B8EC-FCB0F3F4D813}"/>
              </a:ext>
            </a:extLst>
          </p:cNvPr>
          <p:cNvSpPr>
            <a:spLocks noGrp="1"/>
          </p:cNvSpPr>
          <p:nvPr>
            <p:ph type="sldNum" sz="quarter" idx="12"/>
          </p:nvPr>
        </p:nvSpPr>
        <p:spPr/>
        <p:txBody>
          <a:bodyPr/>
          <a:lstStyle/>
          <a:p>
            <a:fld id="{4E3F0780-E468-41E0-8DF9-9C531955316F}" type="slidenum">
              <a:rPr lang="en-US" smtClean="0"/>
              <a:t>‹#›</a:t>
            </a:fld>
            <a:endParaRPr lang="en-US"/>
          </a:p>
        </p:txBody>
      </p:sp>
    </p:spTree>
    <p:extLst>
      <p:ext uri="{BB962C8B-B14F-4D97-AF65-F5344CB8AC3E}">
        <p14:creationId xmlns:p14="http://schemas.microsoft.com/office/powerpoint/2010/main" val="15636467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FDDDE-B1A2-B024-A2C0-427D7BF089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27BFD7-ABAE-AC45-09DD-A51D2184D1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EBD28E-0453-46BC-DFA5-8B7B0C8D25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0FA353D-44FD-FD1C-F88D-EBFB9956700E}"/>
              </a:ext>
            </a:extLst>
          </p:cNvPr>
          <p:cNvSpPr>
            <a:spLocks noGrp="1"/>
          </p:cNvSpPr>
          <p:nvPr>
            <p:ph type="dt" sz="half" idx="10"/>
          </p:nvPr>
        </p:nvSpPr>
        <p:spPr/>
        <p:txBody>
          <a:bodyPr/>
          <a:lstStyle/>
          <a:p>
            <a:fld id="{6F8545CA-8FCB-4260-ADAB-B25D0B91F798}" type="datetimeFigureOut">
              <a:rPr lang="en-US" smtClean="0"/>
              <a:t>3/31/2026</a:t>
            </a:fld>
            <a:endParaRPr lang="en-US"/>
          </a:p>
        </p:txBody>
      </p:sp>
      <p:sp>
        <p:nvSpPr>
          <p:cNvPr id="6" name="Footer Placeholder 5">
            <a:extLst>
              <a:ext uri="{FF2B5EF4-FFF2-40B4-BE49-F238E27FC236}">
                <a16:creationId xmlns:a16="http://schemas.microsoft.com/office/drawing/2014/main" id="{A2B53670-EAA3-416B-93A9-F55FACDC3E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71E71D-B1B4-9A86-70C4-4C625FFB1F14}"/>
              </a:ext>
            </a:extLst>
          </p:cNvPr>
          <p:cNvSpPr>
            <a:spLocks noGrp="1"/>
          </p:cNvSpPr>
          <p:nvPr>
            <p:ph type="sldNum" sz="quarter" idx="12"/>
          </p:nvPr>
        </p:nvSpPr>
        <p:spPr/>
        <p:txBody>
          <a:bodyPr/>
          <a:lstStyle/>
          <a:p>
            <a:fld id="{4E3F0780-E468-41E0-8DF9-9C531955316F}" type="slidenum">
              <a:rPr lang="en-US" smtClean="0"/>
              <a:t>‹#›</a:t>
            </a:fld>
            <a:endParaRPr lang="en-US"/>
          </a:p>
        </p:txBody>
      </p:sp>
    </p:spTree>
    <p:extLst>
      <p:ext uri="{BB962C8B-B14F-4D97-AF65-F5344CB8AC3E}">
        <p14:creationId xmlns:p14="http://schemas.microsoft.com/office/powerpoint/2010/main" val="51922428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C0554-613F-0BF9-CF1B-1D99E8AA8F0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B1BD2B-87E3-428A-75E1-BB8F28E1D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C50D94-F41D-136E-9EBD-0F318F7A67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252165-4BD5-20A9-7031-77DD22BB80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62D912-EC47-7916-910F-4A19813550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36630D2-2AB7-0F8C-F13E-F0E3FB5F2CF0}"/>
              </a:ext>
            </a:extLst>
          </p:cNvPr>
          <p:cNvSpPr>
            <a:spLocks noGrp="1"/>
          </p:cNvSpPr>
          <p:nvPr>
            <p:ph type="dt" sz="half" idx="10"/>
          </p:nvPr>
        </p:nvSpPr>
        <p:spPr/>
        <p:txBody>
          <a:bodyPr/>
          <a:lstStyle/>
          <a:p>
            <a:fld id="{6F8545CA-8FCB-4260-ADAB-B25D0B91F798}" type="datetimeFigureOut">
              <a:rPr lang="en-US" smtClean="0"/>
              <a:t>3/31/2026</a:t>
            </a:fld>
            <a:endParaRPr lang="en-US"/>
          </a:p>
        </p:txBody>
      </p:sp>
      <p:sp>
        <p:nvSpPr>
          <p:cNvPr id="8" name="Footer Placeholder 7">
            <a:extLst>
              <a:ext uri="{FF2B5EF4-FFF2-40B4-BE49-F238E27FC236}">
                <a16:creationId xmlns:a16="http://schemas.microsoft.com/office/drawing/2014/main" id="{D4363C48-6D4A-1657-ABE9-86BA65EC4C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DF8A6D-9F9C-C11A-E3CA-5E77F22A221D}"/>
              </a:ext>
            </a:extLst>
          </p:cNvPr>
          <p:cNvSpPr>
            <a:spLocks noGrp="1"/>
          </p:cNvSpPr>
          <p:nvPr>
            <p:ph type="sldNum" sz="quarter" idx="12"/>
          </p:nvPr>
        </p:nvSpPr>
        <p:spPr/>
        <p:txBody>
          <a:bodyPr/>
          <a:lstStyle/>
          <a:p>
            <a:fld id="{4E3F0780-E468-41E0-8DF9-9C531955316F}" type="slidenum">
              <a:rPr lang="en-US" smtClean="0"/>
              <a:t>‹#›</a:t>
            </a:fld>
            <a:endParaRPr lang="en-US"/>
          </a:p>
        </p:txBody>
      </p:sp>
    </p:spTree>
    <p:extLst>
      <p:ext uri="{BB962C8B-B14F-4D97-AF65-F5344CB8AC3E}">
        <p14:creationId xmlns:p14="http://schemas.microsoft.com/office/powerpoint/2010/main" val="3879375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7B898-E38F-B5A7-CD9B-8AFED8D2FD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5FAF61-7BB3-8611-FCEA-EE0EEB37F574}"/>
              </a:ext>
            </a:extLst>
          </p:cNvPr>
          <p:cNvSpPr>
            <a:spLocks noGrp="1"/>
          </p:cNvSpPr>
          <p:nvPr>
            <p:ph type="dt" sz="half" idx="10"/>
          </p:nvPr>
        </p:nvSpPr>
        <p:spPr/>
        <p:txBody>
          <a:bodyPr/>
          <a:lstStyle/>
          <a:p>
            <a:fld id="{6F8545CA-8FCB-4260-ADAB-B25D0B91F798}" type="datetimeFigureOut">
              <a:rPr lang="en-US" smtClean="0"/>
              <a:t>3/31/2026</a:t>
            </a:fld>
            <a:endParaRPr lang="en-US"/>
          </a:p>
        </p:txBody>
      </p:sp>
      <p:sp>
        <p:nvSpPr>
          <p:cNvPr id="4" name="Footer Placeholder 3">
            <a:extLst>
              <a:ext uri="{FF2B5EF4-FFF2-40B4-BE49-F238E27FC236}">
                <a16:creationId xmlns:a16="http://schemas.microsoft.com/office/drawing/2014/main" id="{7FB26DDC-62C7-D1F5-3414-6B5A30CCD0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36DB78-A417-2196-63CE-11DF6B93FD48}"/>
              </a:ext>
            </a:extLst>
          </p:cNvPr>
          <p:cNvSpPr>
            <a:spLocks noGrp="1"/>
          </p:cNvSpPr>
          <p:nvPr>
            <p:ph type="sldNum" sz="quarter" idx="12"/>
          </p:nvPr>
        </p:nvSpPr>
        <p:spPr/>
        <p:txBody>
          <a:bodyPr/>
          <a:lstStyle/>
          <a:p>
            <a:fld id="{4E3F0780-E468-41E0-8DF9-9C531955316F}" type="slidenum">
              <a:rPr lang="en-US" smtClean="0"/>
              <a:t>‹#›</a:t>
            </a:fld>
            <a:endParaRPr lang="en-US"/>
          </a:p>
        </p:txBody>
      </p:sp>
    </p:spTree>
    <p:extLst>
      <p:ext uri="{BB962C8B-B14F-4D97-AF65-F5344CB8AC3E}">
        <p14:creationId xmlns:p14="http://schemas.microsoft.com/office/powerpoint/2010/main" val="41993460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2C3198-A38F-7981-7D99-B35A5EB25B33}"/>
              </a:ext>
            </a:extLst>
          </p:cNvPr>
          <p:cNvSpPr>
            <a:spLocks noGrp="1"/>
          </p:cNvSpPr>
          <p:nvPr>
            <p:ph type="dt" sz="half" idx="10"/>
          </p:nvPr>
        </p:nvSpPr>
        <p:spPr/>
        <p:txBody>
          <a:bodyPr/>
          <a:lstStyle/>
          <a:p>
            <a:fld id="{6F8545CA-8FCB-4260-ADAB-B25D0B91F798}" type="datetimeFigureOut">
              <a:rPr lang="en-US" smtClean="0"/>
              <a:t>3/31/2026</a:t>
            </a:fld>
            <a:endParaRPr lang="en-US"/>
          </a:p>
        </p:txBody>
      </p:sp>
      <p:sp>
        <p:nvSpPr>
          <p:cNvPr id="3" name="Footer Placeholder 2">
            <a:extLst>
              <a:ext uri="{FF2B5EF4-FFF2-40B4-BE49-F238E27FC236}">
                <a16:creationId xmlns:a16="http://schemas.microsoft.com/office/drawing/2014/main" id="{D1796144-ABAB-B005-ADC4-6B016BCD16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87DBA68-ADBE-6B3D-52EE-693A5B78E781}"/>
              </a:ext>
            </a:extLst>
          </p:cNvPr>
          <p:cNvSpPr>
            <a:spLocks noGrp="1"/>
          </p:cNvSpPr>
          <p:nvPr>
            <p:ph type="sldNum" sz="quarter" idx="12"/>
          </p:nvPr>
        </p:nvSpPr>
        <p:spPr/>
        <p:txBody>
          <a:bodyPr/>
          <a:lstStyle/>
          <a:p>
            <a:fld id="{4E3F0780-E468-41E0-8DF9-9C531955316F}" type="slidenum">
              <a:rPr lang="en-US" smtClean="0"/>
              <a:t>‹#›</a:t>
            </a:fld>
            <a:endParaRPr lang="en-US"/>
          </a:p>
        </p:txBody>
      </p:sp>
    </p:spTree>
    <p:extLst>
      <p:ext uri="{BB962C8B-B14F-4D97-AF65-F5344CB8AC3E}">
        <p14:creationId xmlns:p14="http://schemas.microsoft.com/office/powerpoint/2010/main" val="276144190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3D133-8AEB-9BBC-2536-3B233BB6DD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DC9FE4-20AC-A92A-5DC4-E7EA62820F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065E88-3213-4A9E-737E-E146875456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AF2AF-6FC4-D2DC-0B28-B400251F4DF9}"/>
              </a:ext>
            </a:extLst>
          </p:cNvPr>
          <p:cNvSpPr>
            <a:spLocks noGrp="1"/>
          </p:cNvSpPr>
          <p:nvPr>
            <p:ph type="dt" sz="half" idx="10"/>
          </p:nvPr>
        </p:nvSpPr>
        <p:spPr/>
        <p:txBody>
          <a:bodyPr/>
          <a:lstStyle/>
          <a:p>
            <a:fld id="{6F8545CA-8FCB-4260-ADAB-B25D0B91F798}" type="datetimeFigureOut">
              <a:rPr lang="en-US" smtClean="0"/>
              <a:t>3/31/2026</a:t>
            </a:fld>
            <a:endParaRPr lang="en-US"/>
          </a:p>
        </p:txBody>
      </p:sp>
      <p:sp>
        <p:nvSpPr>
          <p:cNvPr id="6" name="Footer Placeholder 5">
            <a:extLst>
              <a:ext uri="{FF2B5EF4-FFF2-40B4-BE49-F238E27FC236}">
                <a16:creationId xmlns:a16="http://schemas.microsoft.com/office/drawing/2014/main" id="{41036371-5C04-D3D1-D47E-2E0DF4B26B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215D68-6E86-90A1-DB48-0A1725CC0ECF}"/>
              </a:ext>
            </a:extLst>
          </p:cNvPr>
          <p:cNvSpPr>
            <a:spLocks noGrp="1"/>
          </p:cNvSpPr>
          <p:nvPr>
            <p:ph type="sldNum" sz="quarter" idx="12"/>
          </p:nvPr>
        </p:nvSpPr>
        <p:spPr/>
        <p:txBody>
          <a:bodyPr/>
          <a:lstStyle/>
          <a:p>
            <a:fld id="{4E3F0780-E468-41E0-8DF9-9C531955316F}" type="slidenum">
              <a:rPr lang="en-US" smtClean="0"/>
              <a:t>‹#›</a:t>
            </a:fld>
            <a:endParaRPr lang="en-US"/>
          </a:p>
        </p:txBody>
      </p:sp>
    </p:spTree>
    <p:extLst>
      <p:ext uri="{BB962C8B-B14F-4D97-AF65-F5344CB8AC3E}">
        <p14:creationId xmlns:p14="http://schemas.microsoft.com/office/powerpoint/2010/main" val="26764935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94C78-E57C-874E-71E7-534F6D02FD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A30487-4064-28FB-C38D-C1F5EAA420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BE1E94-06D0-2AD4-4EB7-1444EEEAA5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D96C82-9C38-4158-1D90-E685FDA1BD36}"/>
              </a:ext>
            </a:extLst>
          </p:cNvPr>
          <p:cNvSpPr>
            <a:spLocks noGrp="1"/>
          </p:cNvSpPr>
          <p:nvPr>
            <p:ph type="dt" sz="half" idx="10"/>
          </p:nvPr>
        </p:nvSpPr>
        <p:spPr/>
        <p:txBody>
          <a:bodyPr/>
          <a:lstStyle/>
          <a:p>
            <a:fld id="{6F8545CA-8FCB-4260-ADAB-B25D0B91F798}" type="datetimeFigureOut">
              <a:rPr lang="en-US" smtClean="0"/>
              <a:t>3/31/2026</a:t>
            </a:fld>
            <a:endParaRPr lang="en-US"/>
          </a:p>
        </p:txBody>
      </p:sp>
      <p:sp>
        <p:nvSpPr>
          <p:cNvPr id="6" name="Footer Placeholder 5">
            <a:extLst>
              <a:ext uri="{FF2B5EF4-FFF2-40B4-BE49-F238E27FC236}">
                <a16:creationId xmlns:a16="http://schemas.microsoft.com/office/drawing/2014/main" id="{D0DA70D9-E974-9689-61E4-95A67C35ED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2AEF6F-777B-5790-256E-F4D2A8B174DF}"/>
              </a:ext>
            </a:extLst>
          </p:cNvPr>
          <p:cNvSpPr>
            <a:spLocks noGrp="1"/>
          </p:cNvSpPr>
          <p:nvPr>
            <p:ph type="sldNum" sz="quarter" idx="12"/>
          </p:nvPr>
        </p:nvSpPr>
        <p:spPr/>
        <p:txBody>
          <a:bodyPr/>
          <a:lstStyle/>
          <a:p>
            <a:fld id="{4E3F0780-E468-41E0-8DF9-9C531955316F}" type="slidenum">
              <a:rPr lang="en-US" smtClean="0"/>
              <a:t>‹#›</a:t>
            </a:fld>
            <a:endParaRPr lang="en-US"/>
          </a:p>
        </p:txBody>
      </p:sp>
    </p:spTree>
    <p:extLst>
      <p:ext uri="{BB962C8B-B14F-4D97-AF65-F5344CB8AC3E}">
        <p14:creationId xmlns:p14="http://schemas.microsoft.com/office/powerpoint/2010/main" val="397721808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1AF75-B5CA-FD98-D263-C5A8EC54EE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371593-F47D-E616-93CD-44388A35F0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80586F-944D-E3FA-80D3-761BCF71F3E9}"/>
              </a:ext>
            </a:extLst>
          </p:cNvPr>
          <p:cNvSpPr>
            <a:spLocks noGrp="1"/>
          </p:cNvSpPr>
          <p:nvPr>
            <p:ph type="dt" sz="half" idx="10"/>
          </p:nvPr>
        </p:nvSpPr>
        <p:spPr/>
        <p:txBody>
          <a:bodyPr/>
          <a:lstStyle/>
          <a:p>
            <a:fld id="{6F8545CA-8FCB-4260-ADAB-B25D0B91F798}" type="datetimeFigureOut">
              <a:rPr lang="en-US" smtClean="0"/>
              <a:t>3/31/2026</a:t>
            </a:fld>
            <a:endParaRPr lang="en-US"/>
          </a:p>
        </p:txBody>
      </p:sp>
      <p:sp>
        <p:nvSpPr>
          <p:cNvPr id="5" name="Footer Placeholder 4">
            <a:extLst>
              <a:ext uri="{FF2B5EF4-FFF2-40B4-BE49-F238E27FC236}">
                <a16:creationId xmlns:a16="http://schemas.microsoft.com/office/drawing/2014/main" id="{DBBDEBCC-2A52-DCEE-3655-209E98537F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B530FD-4828-AE71-C2D7-379CE12E8D84}"/>
              </a:ext>
            </a:extLst>
          </p:cNvPr>
          <p:cNvSpPr>
            <a:spLocks noGrp="1"/>
          </p:cNvSpPr>
          <p:nvPr>
            <p:ph type="sldNum" sz="quarter" idx="12"/>
          </p:nvPr>
        </p:nvSpPr>
        <p:spPr/>
        <p:txBody>
          <a:bodyPr/>
          <a:lstStyle/>
          <a:p>
            <a:fld id="{4E3F0780-E468-41E0-8DF9-9C531955316F}" type="slidenum">
              <a:rPr lang="en-US" smtClean="0"/>
              <a:t>‹#›</a:t>
            </a:fld>
            <a:endParaRPr lang="en-US"/>
          </a:p>
        </p:txBody>
      </p:sp>
    </p:spTree>
    <p:extLst>
      <p:ext uri="{BB962C8B-B14F-4D97-AF65-F5344CB8AC3E}">
        <p14:creationId xmlns:p14="http://schemas.microsoft.com/office/powerpoint/2010/main" val="29533080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CF6585-926A-403A-4671-5C118A2841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437E8F-B084-9281-B2D8-01B580671A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7F894E-2756-0BF0-DA1C-2A9776838C74}"/>
              </a:ext>
            </a:extLst>
          </p:cNvPr>
          <p:cNvSpPr>
            <a:spLocks noGrp="1"/>
          </p:cNvSpPr>
          <p:nvPr>
            <p:ph type="dt" sz="half" idx="10"/>
          </p:nvPr>
        </p:nvSpPr>
        <p:spPr/>
        <p:txBody>
          <a:bodyPr/>
          <a:lstStyle/>
          <a:p>
            <a:fld id="{6F8545CA-8FCB-4260-ADAB-B25D0B91F798}" type="datetimeFigureOut">
              <a:rPr lang="en-US" smtClean="0"/>
              <a:t>3/31/2026</a:t>
            </a:fld>
            <a:endParaRPr lang="en-US"/>
          </a:p>
        </p:txBody>
      </p:sp>
      <p:sp>
        <p:nvSpPr>
          <p:cNvPr id="5" name="Footer Placeholder 4">
            <a:extLst>
              <a:ext uri="{FF2B5EF4-FFF2-40B4-BE49-F238E27FC236}">
                <a16:creationId xmlns:a16="http://schemas.microsoft.com/office/drawing/2014/main" id="{13497000-9144-80F6-743C-63820B42C1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4ED95F-013B-CCF6-E766-DD37616BA6EC}"/>
              </a:ext>
            </a:extLst>
          </p:cNvPr>
          <p:cNvSpPr>
            <a:spLocks noGrp="1"/>
          </p:cNvSpPr>
          <p:nvPr>
            <p:ph type="sldNum" sz="quarter" idx="12"/>
          </p:nvPr>
        </p:nvSpPr>
        <p:spPr/>
        <p:txBody>
          <a:bodyPr/>
          <a:lstStyle/>
          <a:p>
            <a:fld id="{4E3F0780-E468-41E0-8DF9-9C531955316F}" type="slidenum">
              <a:rPr lang="en-US" smtClean="0"/>
              <a:t>‹#›</a:t>
            </a:fld>
            <a:endParaRPr lang="en-US"/>
          </a:p>
        </p:txBody>
      </p:sp>
    </p:spTree>
    <p:extLst>
      <p:ext uri="{BB962C8B-B14F-4D97-AF65-F5344CB8AC3E}">
        <p14:creationId xmlns:p14="http://schemas.microsoft.com/office/powerpoint/2010/main" val="21408828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_Tile and Content">
  <p:cSld name="3_Tile and Content">
    <p:spTree>
      <p:nvGrpSpPr>
        <p:cNvPr id="1" name="Shape 12"/>
        <p:cNvGrpSpPr/>
        <p:nvPr/>
      </p:nvGrpSpPr>
      <p:grpSpPr>
        <a:xfrm>
          <a:off x="0" y="0"/>
          <a:ext cx="0" cy="0"/>
          <a:chOff x="0" y="0"/>
          <a:chExt cx="0" cy="0"/>
        </a:xfrm>
      </p:grpSpPr>
      <p:sp>
        <p:nvSpPr>
          <p:cNvPr id="14" name="Google Shape;14;p2"/>
          <p:cNvSpPr txBox="1">
            <a:spLocks noGrp="1"/>
          </p:cNvSpPr>
          <p:nvPr>
            <p:ph type="title"/>
          </p:nvPr>
        </p:nvSpPr>
        <p:spPr>
          <a:xfrm>
            <a:off x="479883" y="86096"/>
            <a:ext cx="10515130" cy="735600"/>
          </a:xfrm>
          <a:prstGeom prst="rect">
            <a:avLst/>
          </a:prstGeom>
          <a:noFill/>
          <a:ln>
            <a:noFill/>
          </a:ln>
        </p:spPr>
        <p:txBody>
          <a:bodyPr spcFirstLastPara="1" wrap="square" lIns="91450" tIns="45700" rIns="91450" bIns="45700" anchor="ctr" anchorCtr="0">
            <a:normAutofit/>
          </a:bodyPr>
          <a:lstStyle>
            <a:lvl1pPr lvl="0" algn="l">
              <a:lnSpc>
                <a:spcPct val="90000"/>
              </a:lnSpc>
              <a:spcBef>
                <a:spcPts val="0"/>
              </a:spcBef>
              <a:spcAft>
                <a:spcPts val="0"/>
              </a:spcAft>
              <a:buClr>
                <a:schemeClr val="dk2"/>
              </a:buClr>
              <a:buSzPts val="3700"/>
              <a:buFont typeface="Montserrat"/>
              <a:buNone/>
              <a:defRPr sz="3700" b="1">
                <a:solidFill>
                  <a:schemeClr val="dk2"/>
                </a:solidFill>
                <a:latin typeface="Montserrat"/>
                <a:ea typeface="Montserrat"/>
                <a:cs typeface="Montserrat"/>
                <a:sym typeface="Montserrat"/>
              </a:defRPr>
            </a:lvl1pPr>
            <a:lvl2pPr lvl="1">
              <a:spcBef>
                <a:spcPts val="0"/>
              </a:spcBef>
              <a:spcAft>
                <a:spcPts val="0"/>
              </a:spcAft>
              <a:buClr>
                <a:schemeClr val="dk2"/>
              </a:buClr>
              <a:buSzPts val="1500"/>
              <a:buNone/>
              <a:defRPr>
                <a:solidFill>
                  <a:schemeClr val="dk2"/>
                </a:solidFill>
              </a:defRPr>
            </a:lvl2pPr>
            <a:lvl3pPr lvl="2">
              <a:spcBef>
                <a:spcPts val="0"/>
              </a:spcBef>
              <a:spcAft>
                <a:spcPts val="0"/>
              </a:spcAft>
              <a:buClr>
                <a:schemeClr val="dk2"/>
              </a:buClr>
              <a:buSzPts val="1500"/>
              <a:buNone/>
              <a:defRPr>
                <a:solidFill>
                  <a:schemeClr val="dk2"/>
                </a:solidFill>
              </a:defRPr>
            </a:lvl3pPr>
            <a:lvl4pPr lvl="3">
              <a:spcBef>
                <a:spcPts val="0"/>
              </a:spcBef>
              <a:spcAft>
                <a:spcPts val="0"/>
              </a:spcAft>
              <a:buClr>
                <a:schemeClr val="dk2"/>
              </a:buClr>
              <a:buSzPts val="1500"/>
              <a:buNone/>
              <a:defRPr>
                <a:solidFill>
                  <a:schemeClr val="dk2"/>
                </a:solidFill>
              </a:defRPr>
            </a:lvl4pPr>
            <a:lvl5pPr lvl="4">
              <a:spcBef>
                <a:spcPts val="0"/>
              </a:spcBef>
              <a:spcAft>
                <a:spcPts val="0"/>
              </a:spcAft>
              <a:buClr>
                <a:schemeClr val="dk2"/>
              </a:buClr>
              <a:buSzPts val="1500"/>
              <a:buNone/>
              <a:defRPr>
                <a:solidFill>
                  <a:schemeClr val="dk2"/>
                </a:solidFill>
              </a:defRPr>
            </a:lvl5pPr>
            <a:lvl6pPr lvl="5">
              <a:spcBef>
                <a:spcPts val="0"/>
              </a:spcBef>
              <a:spcAft>
                <a:spcPts val="0"/>
              </a:spcAft>
              <a:buClr>
                <a:schemeClr val="dk2"/>
              </a:buClr>
              <a:buSzPts val="1500"/>
              <a:buNone/>
              <a:defRPr>
                <a:solidFill>
                  <a:schemeClr val="dk2"/>
                </a:solidFill>
              </a:defRPr>
            </a:lvl6pPr>
            <a:lvl7pPr lvl="6">
              <a:spcBef>
                <a:spcPts val="0"/>
              </a:spcBef>
              <a:spcAft>
                <a:spcPts val="0"/>
              </a:spcAft>
              <a:buClr>
                <a:schemeClr val="dk2"/>
              </a:buClr>
              <a:buSzPts val="1500"/>
              <a:buNone/>
              <a:defRPr>
                <a:solidFill>
                  <a:schemeClr val="dk2"/>
                </a:solidFill>
              </a:defRPr>
            </a:lvl7pPr>
            <a:lvl8pPr lvl="7">
              <a:spcBef>
                <a:spcPts val="0"/>
              </a:spcBef>
              <a:spcAft>
                <a:spcPts val="0"/>
              </a:spcAft>
              <a:buClr>
                <a:schemeClr val="dk2"/>
              </a:buClr>
              <a:buSzPts val="1500"/>
              <a:buNone/>
              <a:defRPr>
                <a:solidFill>
                  <a:schemeClr val="dk2"/>
                </a:solidFill>
              </a:defRPr>
            </a:lvl8pPr>
            <a:lvl9pPr lvl="8">
              <a:spcBef>
                <a:spcPts val="0"/>
              </a:spcBef>
              <a:spcAft>
                <a:spcPts val="0"/>
              </a:spcAft>
              <a:buClr>
                <a:schemeClr val="dk2"/>
              </a:buClr>
              <a:buSzPts val="1500"/>
              <a:buNone/>
              <a:defRPr>
                <a:solidFill>
                  <a:schemeClr val="dk2"/>
                </a:solidFill>
              </a:defRPr>
            </a:lvl9pPr>
          </a:lstStyle>
          <a:p>
            <a:endParaRPr/>
          </a:p>
        </p:txBody>
      </p:sp>
      <p:sp>
        <p:nvSpPr>
          <p:cNvPr id="15" name="Google Shape;15;p2"/>
          <p:cNvSpPr txBox="1">
            <a:spLocks noGrp="1"/>
          </p:cNvSpPr>
          <p:nvPr>
            <p:ph type="body" idx="1"/>
          </p:nvPr>
        </p:nvSpPr>
        <p:spPr>
          <a:xfrm>
            <a:off x="479882" y="1016779"/>
            <a:ext cx="11418313" cy="5259300"/>
          </a:xfrm>
          <a:prstGeom prst="rect">
            <a:avLst/>
          </a:prstGeom>
          <a:noFill/>
          <a:ln>
            <a:noFill/>
          </a:ln>
        </p:spPr>
        <p:txBody>
          <a:bodyPr spcFirstLastPara="1" wrap="square" lIns="91450" tIns="45700" rIns="91450" bIns="45700" anchor="t" anchorCtr="0">
            <a:normAutofit/>
          </a:bodyPr>
          <a:lstStyle>
            <a:lvl1pPr marL="457154" lvl="0" indent="-349215" algn="l">
              <a:lnSpc>
                <a:spcPct val="90000"/>
              </a:lnSpc>
              <a:spcBef>
                <a:spcPts val="1300"/>
              </a:spcBef>
              <a:spcAft>
                <a:spcPts val="0"/>
              </a:spcAft>
              <a:buClr>
                <a:schemeClr val="dk1"/>
              </a:buClr>
              <a:buSzPts val="1900"/>
              <a:buChar char="•"/>
              <a:defRPr/>
            </a:lvl1pPr>
            <a:lvl2pPr marL="914309" lvl="1" indent="-349215" algn="l">
              <a:lnSpc>
                <a:spcPct val="90000"/>
              </a:lnSpc>
              <a:spcBef>
                <a:spcPts val="700"/>
              </a:spcBef>
              <a:spcAft>
                <a:spcPts val="0"/>
              </a:spcAft>
              <a:buClr>
                <a:schemeClr val="dk1"/>
              </a:buClr>
              <a:buSzPts val="1900"/>
              <a:buChar char="•"/>
              <a:defRPr/>
            </a:lvl2pPr>
            <a:lvl3pPr marL="1371463" lvl="2" indent="-349215" algn="l">
              <a:lnSpc>
                <a:spcPct val="90000"/>
              </a:lnSpc>
              <a:spcBef>
                <a:spcPts val="700"/>
              </a:spcBef>
              <a:spcAft>
                <a:spcPts val="0"/>
              </a:spcAft>
              <a:buClr>
                <a:schemeClr val="dk1"/>
              </a:buClr>
              <a:buSzPts val="1900"/>
              <a:buChar char="•"/>
              <a:defRPr/>
            </a:lvl3pPr>
            <a:lvl4pPr marL="1828617" lvl="3" indent="-349215" algn="l">
              <a:lnSpc>
                <a:spcPct val="90000"/>
              </a:lnSpc>
              <a:spcBef>
                <a:spcPts val="700"/>
              </a:spcBef>
              <a:spcAft>
                <a:spcPts val="0"/>
              </a:spcAft>
              <a:buClr>
                <a:schemeClr val="dk1"/>
              </a:buClr>
              <a:buSzPts val="1900"/>
              <a:buChar char="•"/>
              <a:defRPr/>
            </a:lvl4pPr>
            <a:lvl5pPr marL="2285771" lvl="4" indent="-349215" algn="l">
              <a:lnSpc>
                <a:spcPct val="90000"/>
              </a:lnSpc>
              <a:spcBef>
                <a:spcPts val="700"/>
              </a:spcBef>
              <a:spcAft>
                <a:spcPts val="0"/>
              </a:spcAft>
              <a:buClr>
                <a:schemeClr val="dk1"/>
              </a:buClr>
              <a:buSzPts val="1900"/>
              <a:buChar char="•"/>
              <a:defRPr/>
            </a:lvl5pPr>
            <a:lvl6pPr marL="2742926" lvl="5" indent="-349215" algn="l">
              <a:lnSpc>
                <a:spcPct val="90000"/>
              </a:lnSpc>
              <a:spcBef>
                <a:spcPts val="700"/>
              </a:spcBef>
              <a:spcAft>
                <a:spcPts val="0"/>
              </a:spcAft>
              <a:buClr>
                <a:schemeClr val="dk1"/>
              </a:buClr>
              <a:buSzPts val="1900"/>
              <a:buChar char="•"/>
              <a:defRPr/>
            </a:lvl6pPr>
            <a:lvl7pPr marL="3200080" lvl="6" indent="-349215" algn="l">
              <a:lnSpc>
                <a:spcPct val="90000"/>
              </a:lnSpc>
              <a:spcBef>
                <a:spcPts val="700"/>
              </a:spcBef>
              <a:spcAft>
                <a:spcPts val="0"/>
              </a:spcAft>
              <a:buClr>
                <a:schemeClr val="dk1"/>
              </a:buClr>
              <a:buSzPts val="1900"/>
              <a:buChar char="•"/>
              <a:defRPr/>
            </a:lvl7pPr>
            <a:lvl8pPr marL="3657234" lvl="7" indent="-349215" algn="l">
              <a:lnSpc>
                <a:spcPct val="90000"/>
              </a:lnSpc>
              <a:spcBef>
                <a:spcPts val="700"/>
              </a:spcBef>
              <a:spcAft>
                <a:spcPts val="0"/>
              </a:spcAft>
              <a:buClr>
                <a:schemeClr val="dk1"/>
              </a:buClr>
              <a:buSzPts val="1900"/>
              <a:buChar char="•"/>
              <a:defRPr/>
            </a:lvl8pPr>
            <a:lvl9pPr marL="4114389" lvl="8" indent="-349215" algn="l">
              <a:lnSpc>
                <a:spcPct val="90000"/>
              </a:lnSpc>
              <a:spcBef>
                <a:spcPts val="700"/>
              </a:spcBef>
              <a:spcAft>
                <a:spcPts val="0"/>
              </a:spcAft>
              <a:buClr>
                <a:schemeClr val="dk1"/>
              </a:buClr>
              <a:buSzPts val="1900"/>
              <a:buChar char="•"/>
              <a:defRPr/>
            </a:lvl9pPr>
          </a:lstStyle>
          <a:p>
            <a:endParaRPr/>
          </a:p>
        </p:txBody>
      </p:sp>
      <p:sp>
        <p:nvSpPr>
          <p:cNvPr id="6" name="Google Shape;94;p11">
            <a:extLst>
              <a:ext uri="{FF2B5EF4-FFF2-40B4-BE49-F238E27FC236}">
                <a16:creationId xmlns:a16="http://schemas.microsoft.com/office/drawing/2014/main" id="{68443D26-AE9B-8E11-DACB-ADE13178B658}"/>
              </a:ext>
            </a:extLst>
          </p:cNvPr>
          <p:cNvSpPr txBox="1">
            <a:spLocks/>
          </p:cNvSpPr>
          <p:nvPr userDrawn="1"/>
        </p:nvSpPr>
        <p:spPr>
          <a:xfrm>
            <a:off x="11460401" y="6649377"/>
            <a:ext cx="731600" cy="182880"/>
          </a:xfrm>
          <a:prstGeom prst="rect">
            <a:avLst/>
          </a:prstGeom>
        </p:spPr>
        <p:txBody>
          <a:bodyPr spcFirstLastPara="1" vert="horz" wrap="square" lIns="91413" tIns="91413" rIns="91413" bIns="91413" rtlCol="0"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200" b="0" i="0" u="none" strike="noStrike" cap="none">
                <a:solidFill>
                  <a:schemeClr val="tx1">
                    <a:tint val="82000"/>
                  </a:schemeClr>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 sz="1200" smtClean="0"/>
              <a:pPr/>
              <a:t>‹#›</a:t>
            </a:fld>
            <a:r>
              <a:rPr lang="en" sz="1200" dirty="0"/>
              <a:t>/</a:t>
            </a:r>
            <a:r>
              <a:rPr lang="en-US" sz="1200" dirty="0"/>
              <a:t>39</a:t>
            </a:r>
          </a:p>
        </p:txBody>
      </p:sp>
      <p:sp>
        <p:nvSpPr>
          <p:cNvPr id="7" name="Rectangle 6">
            <a:extLst>
              <a:ext uri="{FF2B5EF4-FFF2-40B4-BE49-F238E27FC236}">
                <a16:creationId xmlns:a16="http://schemas.microsoft.com/office/drawing/2014/main" id="{874F25CC-3830-D836-8BD4-29B64298F869}"/>
              </a:ext>
            </a:extLst>
          </p:cNvPr>
          <p:cNvSpPr/>
          <p:nvPr userDrawn="1"/>
        </p:nvSpPr>
        <p:spPr>
          <a:xfrm>
            <a:off x="1029989" y="6690018"/>
            <a:ext cx="10605659" cy="137160"/>
          </a:xfrm>
          <a:prstGeom prst="rect">
            <a:avLst/>
          </a:prstGeom>
          <a:solidFill>
            <a:srgbClr val="11930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67"/>
          </a:p>
        </p:txBody>
      </p:sp>
      <p:pic>
        <p:nvPicPr>
          <p:cNvPr id="8" name="Picture 7">
            <a:extLst>
              <a:ext uri="{FF2B5EF4-FFF2-40B4-BE49-F238E27FC236}">
                <a16:creationId xmlns:a16="http://schemas.microsoft.com/office/drawing/2014/main" id="{80340C9A-F628-C99C-B763-45D8115A2E51}"/>
              </a:ext>
            </a:extLst>
          </p:cNvPr>
          <p:cNvPicPr>
            <a:picLocks noChangeAspect="1"/>
          </p:cNvPicPr>
          <p:nvPr userDrawn="1"/>
        </p:nvPicPr>
        <p:blipFill>
          <a:blip r:embed="rId2"/>
          <a:srcRect/>
          <a:stretch/>
        </p:blipFill>
        <p:spPr>
          <a:xfrm>
            <a:off x="61746" y="6692053"/>
            <a:ext cx="894363" cy="137160"/>
          </a:xfrm>
          <a:prstGeom prst="rect">
            <a:avLst/>
          </a:prstGeom>
        </p:spPr>
      </p:pic>
    </p:spTree>
    <p:extLst>
      <p:ext uri="{BB962C8B-B14F-4D97-AF65-F5344CB8AC3E}">
        <p14:creationId xmlns:p14="http://schemas.microsoft.com/office/powerpoint/2010/main" val="34122245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2CCC69-0378-F52F-CB5E-75516030A9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006566-7690-924B-88DC-8D9DBC5346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543900-98F3-25FD-3896-1E6210BAFD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F8545CA-8FCB-4260-ADAB-B25D0B91F798}" type="datetimeFigureOut">
              <a:rPr lang="en-US" smtClean="0"/>
              <a:t>3/31/2026</a:t>
            </a:fld>
            <a:endParaRPr lang="en-US"/>
          </a:p>
        </p:txBody>
      </p:sp>
      <p:sp>
        <p:nvSpPr>
          <p:cNvPr id="5" name="Footer Placeholder 4">
            <a:extLst>
              <a:ext uri="{FF2B5EF4-FFF2-40B4-BE49-F238E27FC236}">
                <a16:creationId xmlns:a16="http://schemas.microsoft.com/office/drawing/2014/main" id="{D564A28A-E374-AC8F-1857-CA779C85C7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B693C33-3171-C5AE-B6D8-6B73094C57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3F0780-E468-41E0-8DF9-9C531955316F}" type="slidenum">
              <a:rPr lang="en-US" smtClean="0"/>
              <a:t>‹#›</a:t>
            </a:fld>
            <a:endParaRPr lang="en-US"/>
          </a:p>
        </p:txBody>
      </p:sp>
    </p:spTree>
    <p:extLst>
      <p:ext uri="{BB962C8B-B14F-4D97-AF65-F5344CB8AC3E}">
        <p14:creationId xmlns:p14="http://schemas.microsoft.com/office/powerpoint/2010/main" val="2292869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5.png"/><Relationship Id="rId1" Type="http://schemas.openxmlformats.org/officeDocument/2006/relationships/slideLayout" Target="../slideLayouts/slideLayout12.xml"/><Relationship Id="rId5" Type="http://schemas.openxmlformats.org/officeDocument/2006/relationships/image" Target="../media/image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41.png"/><Relationship Id="rId1" Type="http://schemas.openxmlformats.org/officeDocument/2006/relationships/slideLayout" Target="../slideLayouts/slideLayout12.xml"/><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2.xml"/><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2.xml"/><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2.xml"/><Relationship Id="rId4" Type="http://schemas.openxmlformats.org/officeDocument/2006/relationships/image" Target="../media/image59.png"/></Relationships>
</file>

<file path=ppt/slides/_rels/slide3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2.xml"/><Relationship Id="rId4" Type="http://schemas.openxmlformats.org/officeDocument/2006/relationships/image" Target="../media/image62.png"/></Relationships>
</file>

<file path=ppt/slides/_rels/slide3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2.xml"/><Relationship Id="rId5" Type="http://schemas.openxmlformats.org/officeDocument/2006/relationships/image" Target="../media/image66.png"/><Relationship Id="rId4" Type="http://schemas.openxmlformats.org/officeDocument/2006/relationships/image" Target="../media/image65.png"/></Relationships>
</file>

<file path=ppt/slides/_rels/slide3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33.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71.png"/><Relationship Id="rId1" Type="http://schemas.openxmlformats.org/officeDocument/2006/relationships/slideLayout" Target="../slideLayouts/slideLayout1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3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1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3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3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2.xml"/><Relationship Id="rId5" Type="http://schemas.openxmlformats.org/officeDocument/2006/relationships/image" Target="../media/image90.png"/><Relationship Id="rId4" Type="http://schemas.openxmlformats.org/officeDocument/2006/relationships/image" Target="../media/image89.png"/></Relationships>
</file>

<file path=ppt/slides/_rels/slide37.xml.rels><?xml version="1.0" encoding="UTF-8" standalone="yes"?>
<Relationships xmlns="http://schemas.openxmlformats.org/package/2006/relationships"><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image" Target="../media/image91.png"/><Relationship Id="rId1" Type="http://schemas.openxmlformats.org/officeDocument/2006/relationships/slideLayout" Target="../slideLayouts/slideLayout12.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3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5">
          <a:extLst>
            <a:ext uri="{FF2B5EF4-FFF2-40B4-BE49-F238E27FC236}">
              <a16:creationId xmlns:a16="http://schemas.microsoft.com/office/drawing/2014/main" id="{F8FA194F-0629-1E8E-ED59-4D0F4CF4697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60B7AE5-F9CA-DBD6-8CD1-B2B774152A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5160" y="853439"/>
            <a:ext cx="5821680" cy="5821680"/>
          </a:xfrm>
          <a:prstGeom prst="rect">
            <a:avLst/>
          </a:prstGeom>
        </p:spPr>
      </p:pic>
      <p:sp>
        <p:nvSpPr>
          <p:cNvPr id="3" name="Rectangle 2">
            <a:extLst>
              <a:ext uri="{FF2B5EF4-FFF2-40B4-BE49-F238E27FC236}">
                <a16:creationId xmlns:a16="http://schemas.microsoft.com/office/drawing/2014/main" id="{BAC83877-2A0F-9D50-86E5-703D79DF3000}"/>
              </a:ext>
            </a:extLst>
          </p:cNvPr>
          <p:cNvSpPr/>
          <p:nvPr/>
        </p:nvSpPr>
        <p:spPr>
          <a:xfrm>
            <a:off x="0" y="0"/>
            <a:ext cx="12192000" cy="853440"/>
          </a:xfrm>
          <a:prstGeom prst="rect">
            <a:avLst/>
          </a:prstGeom>
          <a:solidFill>
            <a:srgbClr val="119303"/>
          </a:solidFill>
          <a:ln>
            <a:solidFill>
              <a:srgbClr val="1193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HƯỚNG DẪN THỰC HÀNH KHÓA HỌC ONLINE POWER BI – DỰ ÁN CUỐI KHÓA</a:t>
            </a:r>
          </a:p>
        </p:txBody>
      </p:sp>
      <p:sp>
        <p:nvSpPr>
          <p:cNvPr id="4" name="TextBox 3">
            <a:extLst>
              <a:ext uri="{FF2B5EF4-FFF2-40B4-BE49-F238E27FC236}">
                <a16:creationId xmlns:a16="http://schemas.microsoft.com/office/drawing/2014/main" id="{33CCEF5E-1FD1-8E2E-3216-AEAB81CF454B}"/>
              </a:ext>
            </a:extLst>
          </p:cNvPr>
          <p:cNvSpPr txBox="1"/>
          <p:nvPr/>
        </p:nvSpPr>
        <p:spPr>
          <a:xfrm>
            <a:off x="9006840" y="3020282"/>
            <a:ext cx="2926080" cy="646331"/>
          </a:xfrm>
          <a:prstGeom prst="rect">
            <a:avLst/>
          </a:prstGeom>
          <a:noFill/>
        </p:spPr>
        <p:txBody>
          <a:bodyPr wrap="square" rtlCol="0">
            <a:spAutoFit/>
          </a:bodyPr>
          <a:lstStyle/>
          <a:p>
            <a:pPr algn="r"/>
            <a:r>
              <a:rPr lang="vi-VN" b="1" noProof="0" dirty="0">
                <a:latin typeface="Times New Roman" panose="02020603050405020304" pitchFamily="18" charset="0"/>
                <a:cs typeface="Times New Roman" panose="02020603050405020304" pitchFamily="18" charset="0"/>
              </a:rPr>
              <a:t>Người trình bày:</a:t>
            </a:r>
          </a:p>
          <a:p>
            <a:pPr algn="r"/>
            <a:r>
              <a:rPr lang="en-US" dirty="0">
                <a:latin typeface="Times New Roman" panose="02020603050405020304" pitchFamily="18" charset="0"/>
                <a:cs typeface="Times New Roman" panose="02020603050405020304" pitchFamily="18" charset="0"/>
              </a:rPr>
              <a:t>Phạm Thị Thùy Dương</a:t>
            </a:r>
          </a:p>
        </p:txBody>
      </p:sp>
      <p:sp>
        <p:nvSpPr>
          <p:cNvPr id="5" name="TextBox 4">
            <a:extLst>
              <a:ext uri="{FF2B5EF4-FFF2-40B4-BE49-F238E27FC236}">
                <a16:creationId xmlns:a16="http://schemas.microsoft.com/office/drawing/2014/main" id="{662E9997-94B5-60E1-FAAB-9E41CC8C0516}"/>
              </a:ext>
            </a:extLst>
          </p:cNvPr>
          <p:cNvSpPr txBox="1"/>
          <p:nvPr/>
        </p:nvSpPr>
        <p:spPr>
          <a:xfrm>
            <a:off x="9006840" y="3861945"/>
            <a:ext cx="2926080" cy="646331"/>
          </a:xfrm>
          <a:prstGeom prst="rect">
            <a:avLst/>
          </a:prstGeom>
          <a:noFill/>
        </p:spPr>
        <p:txBody>
          <a:bodyPr wrap="square" rtlCol="0">
            <a:spAutoFit/>
          </a:bodyPr>
          <a:lstStyle/>
          <a:p>
            <a:pPr algn="r"/>
            <a:r>
              <a:rPr lang="vi-VN" b="1" noProof="0" dirty="0">
                <a:latin typeface="Times New Roman" panose="02020603050405020304" pitchFamily="18" charset="0"/>
                <a:cs typeface="Times New Roman" panose="02020603050405020304" pitchFamily="18" charset="0"/>
              </a:rPr>
              <a:t>Ngày thực hiện:</a:t>
            </a:r>
          </a:p>
          <a:p>
            <a:pPr algn="r"/>
            <a:r>
              <a:rPr lang="en-US" dirty="0">
                <a:latin typeface="Times New Roman" panose="02020603050405020304" pitchFamily="18" charset="0"/>
                <a:cs typeface="Times New Roman" panose="02020603050405020304" pitchFamily="18" charset="0"/>
              </a:rPr>
              <a:t>06/03/2026</a:t>
            </a:r>
          </a:p>
        </p:txBody>
      </p:sp>
    </p:spTree>
    <p:extLst>
      <p:ext uri="{BB962C8B-B14F-4D97-AF65-F5344CB8AC3E}">
        <p14:creationId xmlns:p14="http://schemas.microsoft.com/office/powerpoint/2010/main" val="5362661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36;p53">
            <a:extLst>
              <a:ext uri="{FF2B5EF4-FFF2-40B4-BE49-F238E27FC236}">
                <a16:creationId xmlns:a16="http://schemas.microsoft.com/office/drawing/2014/main" id="{902F8EEC-7380-76E7-037A-657BFA171225}"/>
              </a:ext>
            </a:extLst>
          </p:cNvPr>
          <p:cNvSpPr txBox="1">
            <a:spLocks noGrp="1"/>
          </p:cNvSpPr>
          <p:nvPr>
            <p:ph type="title"/>
          </p:nvPr>
        </p:nvSpPr>
        <p:spPr>
          <a:xfrm>
            <a:off x="479882" y="86531"/>
            <a:ext cx="10515131" cy="735504"/>
          </a:xfrm>
          <a:prstGeom prst="rect">
            <a:avLst/>
          </a:prstGeom>
          <a:noFill/>
          <a:ln>
            <a:noFill/>
          </a:ln>
        </p:spPr>
        <p:txBody>
          <a:bodyPr spcFirstLastPara="1" vert="horz" wrap="square" lIns="91438" tIns="45694" rIns="91438" bIns="45694" rtlCol="0" anchor="ctr" anchorCtr="0">
            <a:normAutofit/>
          </a:bodyPr>
          <a:lstStyle/>
          <a:p>
            <a:pPr>
              <a:buClr>
                <a:schemeClr val="accent1"/>
              </a:buClr>
            </a:pPr>
            <a:r>
              <a:rPr lang="vi-VN" noProof="0" dirty="0">
                <a:solidFill>
                  <a:srgbClr val="119303"/>
                </a:solidFill>
                <a:latin typeface="Times New Roman" panose="02020603050405020304" pitchFamily="18" charset="0"/>
                <a:ea typeface="Cambria" panose="02040503050406030204" pitchFamily="18" charset="0"/>
                <a:cs typeface="Times New Roman" panose="02020603050405020304" pitchFamily="18" charset="0"/>
              </a:rPr>
              <a:t>Nội dung trình bày</a:t>
            </a:r>
            <a:endParaRPr lang="vi-VN" noProof="0" dirty="0">
              <a:solidFill>
                <a:schemeClr val="accent3"/>
              </a:solidFill>
              <a:latin typeface="Times New Roman" panose="02020603050405020304" pitchFamily="18" charset="0"/>
              <a:ea typeface="Cambria" panose="02040503050406030204" pitchFamily="18" charset="0"/>
              <a:cs typeface="Times New Roman" panose="02020603050405020304" pitchFamily="18" charset="0"/>
            </a:endParaRPr>
          </a:p>
        </p:txBody>
      </p:sp>
      <p:grpSp>
        <p:nvGrpSpPr>
          <p:cNvPr id="3" name="Google Shape;640;p53">
            <a:extLst>
              <a:ext uri="{FF2B5EF4-FFF2-40B4-BE49-F238E27FC236}">
                <a16:creationId xmlns:a16="http://schemas.microsoft.com/office/drawing/2014/main" id="{BB4C0D04-760A-7043-932A-66953DCDF6F3}"/>
              </a:ext>
            </a:extLst>
          </p:cNvPr>
          <p:cNvGrpSpPr/>
          <p:nvPr/>
        </p:nvGrpSpPr>
        <p:grpSpPr>
          <a:xfrm>
            <a:off x="675392" y="1339090"/>
            <a:ext cx="11424368" cy="390255"/>
            <a:chOff x="1806566" y="1179733"/>
            <a:chExt cx="11425856" cy="390306"/>
          </a:xfrm>
        </p:grpSpPr>
        <p:sp>
          <p:nvSpPr>
            <p:cNvPr id="4" name="Google Shape;641;p53">
              <a:extLst>
                <a:ext uri="{FF2B5EF4-FFF2-40B4-BE49-F238E27FC236}">
                  <a16:creationId xmlns:a16="http://schemas.microsoft.com/office/drawing/2014/main" id="{B63C9AB4-491F-55D2-6611-B12FD99C5195}"/>
                </a:ext>
              </a:extLst>
            </p:cNvPr>
            <p:cNvSpPr/>
            <p:nvPr/>
          </p:nvSpPr>
          <p:spPr>
            <a:xfrm>
              <a:off x="1806566" y="1179739"/>
              <a:ext cx="390300" cy="390300"/>
            </a:xfrm>
            <a:prstGeom prst="rect">
              <a:avLst/>
            </a:prstGeom>
            <a:solidFill>
              <a:srgbClr val="119303"/>
            </a:solidFill>
            <a:ln>
              <a:noFill/>
            </a:ln>
          </p:spPr>
          <p:txBody>
            <a:bodyPr spcFirstLastPara="1" wrap="square" lIns="91438" tIns="45694" rIns="91438" bIns="45694" anchor="ctr" anchorCtr="0">
              <a:noAutofit/>
            </a:bodyPr>
            <a:lstStyle/>
            <a:p>
              <a:pPr algn="ctr"/>
              <a:r>
                <a:rPr lang="en-US" sz="3000">
                  <a:solidFill>
                    <a:schemeClr val="lt1"/>
                  </a:solidFill>
                  <a:latin typeface="Times New Roman" panose="02020603050405020304" pitchFamily="18" charset="0"/>
                  <a:ea typeface="Cambria" panose="02040503050406030204" pitchFamily="18" charset="0"/>
                  <a:cs typeface="Times New Roman" panose="02020603050405020304" pitchFamily="18" charset="0"/>
                  <a:sym typeface="Montserrat"/>
                </a:rPr>
                <a:t>1</a:t>
              </a:r>
              <a:endParaRPr sz="3000">
                <a:solidFill>
                  <a:schemeClr val="lt1"/>
                </a:solidFill>
                <a:latin typeface="Times New Roman" panose="02020603050405020304" pitchFamily="18" charset="0"/>
                <a:ea typeface="Cambria" panose="02040503050406030204" pitchFamily="18" charset="0"/>
                <a:cs typeface="Times New Roman" panose="02020603050405020304" pitchFamily="18" charset="0"/>
                <a:sym typeface="Montserrat"/>
              </a:endParaRPr>
            </a:p>
          </p:txBody>
        </p:sp>
        <p:sp>
          <p:nvSpPr>
            <p:cNvPr id="5" name="Google Shape;642;p53">
              <a:extLst>
                <a:ext uri="{FF2B5EF4-FFF2-40B4-BE49-F238E27FC236}">
                  <a16:creationId xmlns:a16="http://schemas.microsoft.com/office/drawing/2014/main" id="{0D606302-A44A-9536-83B8-24F70A96C685}"/>
                </a:ext>
              </a:extLst>
            </p:cNvPr>
            <p:cNvSpPr txBox="1"/>
            <p:nvPr/>
          </p:nvSpPr>
          <p:spPr>
            <a:xfrm>
              <a:off x="2259622" y="1179733"/>
              <a:ext cx="10972800" cy="390300"/>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vi-VN" sz="2800" noProof="0" dirty="0">
                  <a:solidFill>
                    <a:schemeClr val="dk1"/>
                  </a:solidFill>
                  <a:latin typeface="Times New Roman" panose="02020603050405020304" pitchFamily="18" charset="0"/>
                  <a:ea typeface="Cambria" panose="02040503050406030204" pitchFamily="18" charset="0"/>
                  <a:cs typeface="Times New Roman" panose="02020603050405020304" pitchFamily="18" charset="0"/>
                  <a:sym typeface="Montserrat"/>
                </a:rPr>
                <a:t>Kết nối và xử lý dữ liệu</a:t>
              </a:r>
            </a:p>
          </p:txBody>
        </p:sp>
      </p:grpSp>
      <p:grpSp>
        <p:nvGrpSpPr>
          <p:cNvPr id="6" name="Google Shape;640;p53">
            <a:extLst>
              <a:ext uri="{FF2B5EF4-FFF2-40B4-BE49-F238E27FC236}">
                <a16:creationId xmlns:a16="http://schemas.microsoft.com/office/drawing/2014/main" id="{4499250F-5DF2-2F3B-C750-622D2258BE36}"/>
              </a:ext>
            </a:extLst>
          </p:cNvPr>
          <p:cNvGrpSpPr/>
          <p:nvPr/>
        </p:nvGrpSpPr>
        <p:grpSpPr>
          <a:xfrm>
            <a:off x="675392" y="4043712"/>
            <a:ext cx="11424368" cy="390255"/>
            <a:chOff x="1806566" y="1179733"/>
            <a:chExt cx="11425856" cy="390306"/>
          </a:xfrm>
        </p:grpSpPr>
        <p:sp>
          <p:nvSpPr>
            <p:cNvPr id="7" name="Google Shape;641;p53">
              <a:extLst>
                <a:ext uri="{FF2B5EF4-FFF2-40B4-BE49-F238E27FC236}">
                  <a16:creationId xmlns:a16="http://schemas.microsoft.com/office/drawing/2014/main" id="{2E437AF6-7917-6D8C-6EA4-B86F58261C30}"/>
                </a:ext>
              </a:extLst>
            </p:cNvPr>
            <p:cNvSpPr/>
            <p:nvPr/>
          </p:nvSpPr>
          <p:spPr>
            <a:xfrm>
              <a:off x="1806566" y="1179739"/>
              <a:ext cx="390300" cy="390300"/>
            </a:xfrm>
            <a:prstGeom prst="rect">
              <a:avLst/>
            </a:prstGeom>
            <a:solidFill>
              <a:srgbClr val="119303"/>
            </a:solidFill>
            <a:ln>
              <a:noFill/>
            </a:ln>
          </p:spPr>
          <p:txBody>
            <a:bodyPr spcFirstLastPara="1" wrap="square" lIns="91438" tIns="45694" rIns="91438" bIns="45694" anchor="ctr" anchorCtr="0">
              <a:noAutofit/>
            </a:bodyPr>
            <a:lstStyle/>
            <a:p>
              <a:pPr algn="ctr"/>
              <a:r>
                <a:rPr lang="vi-VN" sz="3000">
                  <a:solidFill>
                    <a:schemeClr val="lt1"/>
                  </a:solidFill>
                  <a:latin typeface="Times New Roman" panose="02020603050405020304" pitchFamily="18" charset="0"/>
                  <a:ea typeface="Cambria" panose="02040503050406030204" pitchFamily="18" charset="0"/>
                  <a:cs typeface="Times New Roman" panose="02020603050405020304" pitchFamily="18" charset="0"/>
                  <a:sym typeface="Montserrat"/>
                </a:rPr>
                <a:t>3</a:t>
              </a:r>
              <a:endParaRPr sz="3000">
                <a:solidFill>
                  <a:schemeClr val="lt1"/>
                </a:solidFill>
                <a:latin typeface="Times New Roman" panose="02020603050405020304" pitchFamily="18" charset="0"/>
                <a:ea typeface="Cambria" panose="02040503050406030204" pitchFamily="18" charset="0"/>
                <a:cs typeface="Times New Roman" panose="02020603050405020304" pitchFamily="18" charset="0"/>
                <a:sym typeface="Montserrat"/>
              </a:endParaRPr>
            </a:p>
          </p:txBody>
        </p:sp>
        <p:sp>
          <p:nvSpPr>
            <p:cNvPr id="8" name="Google Shape;642;p53">
              <a:extLst>
                <a:ext uri="{FF2B5EF4-FFF2-40B4-BE49-F238E27FC236}">
                  <a16:creationId xmlns:a16="http://schemas.microsoft.com/office/drawing/2014/main" id="{67523695-16FD-EA23-52D3-EF2A8FF7EB46}"/>
                </a:ext>
              </a:extLst>
            </p:cNvPr>
            <p:cNvSpPr txBox="1"/>
            <p:nvPr/>
          </p:nvSpPr>
          <p:spPr>
            <a:xfrm>
              <a:off x="2259622" y="1179733"/>
              <a:ext cx="10972800" cy="390300"/>
            </a:xfrm>
            <a:prstGeom prst="rect">
              <a:avLst/>
            </a:prstGeom>
            <a:noFill/>
            <a:ln>
              <a:noFill/>
            </a:ln>
          </p:spPr>
          <p:txBody>
            <a:bodyPr spcFirstLastPara="1" wrap="square" lIns="91438" tIns="45694" rIns="91438" bIns="45694" anchor="ctr" anchorCtr="0">
              <a:noAutofit/>
            </a:bodyPr>
            <a:lstStyle/>
            <a:p>
              <a:pPr>
                <a:lnSpc>
                  <a:spcPct val="120000"/>
                </a:lnSpc>
                <a:buClr>
                  <a:schemeClr val="dk1"/>
                </a:buClr>
                <a:buSzPts val="1400"/>
              </a:pPr>
              <a:r>
                <a:rPr lang="vi-VN" sz="2800" noProof="0" dirty="0">
                  <a:solidFill>
                    <a:schemeClr val="dk1"/>
                  </a:solidFill>
                  <a:latin typeface="Times New Roman" panose="02020603050405020304" pitchFamily="18" charset="0"/>
                  <a:ea typeface="Cambria" panose="02040503050406030204" pitchFamily="18" charset="0"/>
                  <a:cs typeface="Times New Roman" panose="02020603050405020304" pitchFamily="18" charset="0"/>
                  <a:sym typeface="Montserrat"/>
                </a:rPr>
                <a:t>Sử dụng </a:t>
              </a:r>
              <a:r>
                <a:rPr lang="en-US" sz="2800" dirty="0">
                  <a:solidFill>
                    <a:schemeClr val="dk1"/>
                  </a:solidFill>
                  <a:latin typeface="Times New Roman" panose="02020603050405020304" pitchFamily="18" charset="0"/>
                  <a:ea typeface="Cambria" panose="02040503050406030204" pitchFamily="18" charset="0"/>
                  <a:cs typeface="Times New Roman" panose="02020603050405020304" pitchFamily="18" charset="0"/>
                  <a:sym typeface="Montserrat"/>
                </a:rPr>
                <a:t>DAX</a:t>
              </a:r>
            </a:p>
          </p:txBody>
        </p:sp>
      </p:grpSp>
      <p:grpSp>
        <p:nvGrpSpPr>
          <p:cNvPr id="12" name="Google Shape;640;p53">
            <a:extLst>
              <a:ext uri="{FF2B5EF4-FFF2-40B4-BE49-F238E27FC236}">
                <a16:creationId xmlns:a16="http://schemas.microsoft.com/office/drawing/2014/main" id="{F29F0B4D-5D97-BE00-D269-502F09587BB2}"/>
              </a:ext>
            </a:extLst>
          </p:cNvPr>
          <p:cNvGrpSpPr/>
          <p:nvPr/>
        </p:nvGrpSpPr>
        <p:grpSpPr>
          <a:xfrm>
            <a:off x="675392" y="5396023"/>
            <a:ext cx="11424368" cy="390255"/>
            <a:chOff x="1806566" y="1179733"/>
            <a:chExt cx="11425856" cy="390306"/>
          </a:xfrm>
        </p:grpSpPr>
        <p:sp>
          <p:nvSpPr>
            <p:cNvPr id="13" name="Google Shape;641;p53">
              <a:extLst>
                <a:ext uri="{FF2B5EF4-FFF2-40B4-BE49-F238E27FC236}">
                  <a16:creationId xmlns:a16="http://schemas.microsoft.com/office/drawing/2014/main" id="{48B76505-F526-65AE-1930-B1D7C938DC34}"/>
                </a:ext>
              </a:extLst>
            </p:cNvPr>
            <p:cNvSpPr/>
            <p:nvPr/>
          </p:nvSpPr>
          <p:spPr>
            <a:xfrm>
              <a:off x="1806566" y="1179739"/>
              <a:ext cx="390300" cy="390300"/>
            </a:xfrm>
            <a:prstGeom prst="rect">
              <a:avLst/>
            </a:prstGeom>
            <a:solidFill>
              <a:srgbClr val="119303"/>
            </a:solidFill>
            <a:ln>
              <a:noFill/>
            </a:ln>
          </p:spPr>
          <p:txBody>
            <a:bodyPr spcFirstLastPara="1" wrap="square" lIns="91438" tIns="45694" rIns="91438" bIns="45694" anchor="ctr" anchorCtr="0">
              <a:noAutofit/>
            </a:bodyPr>
            <a:lstStyle/>
            <a:p>
              <a:pPr algn="ctr"/>
              <a:r>
                <a:rPr lang="vi-VN" sz="3000">
                  <a:solidFill>
                    <a:schemeClr val="lt1"/>
                  </a:solidFill>
                  <a:latin typeface="Times New Roman" panose="02020603050405020304" pitchFamily="18" charset="0"/>
                  <a:ea typeface="Cambria" panose="02040503050406030204" pitchFamily="18" charset="0"/>
                  <a:cs typeface="Times New Roman" panose="02020603050405020304" pitchFamily="18" charset="0"/>
                  <a:sym typeface="Montserrat"/>
                </a:rPr>
                <a:t>4</a:t>
              </a:r>
              <a:endParaRPr sz="3000">
                <a:solidFill>
                  <a:schemeClr val="lt1"/>
                </a:solidFill>
                <a:latin typeface="Times New Roman" panose="02020603050405020304" pitchFamily="18" charset="0"/>
                <a:ea typeface="Cambria" panose="02040503050406030204" pitchFamily="18" charset="0"/>
                <a:cs typeface="Times New Roman" panose="02020603050405020304" pitchFamily="18" charset="0"/>
                <a:sym typeface="Montserrat"/>
              </a:endParaRPr>
            </a:p>
          </p:txBody>
        </p:sp>
        <p:sp>
          <p:nvSpPr>
            <p:cNvPr id="14" name="Google Shape;642;p53">
              <a:extLst>
                <a:ext uri="{FF2B5EF4-FFF2-40B4-BE49-F238E27FC236}">
                  <a16:creationId xmlns:a16="http://schemas.microsoft.com/office/drawing/2014/main" id="{719C0197-A302-AEAD-9E53-AE35ED122F09}"/>
                </a:ext>
              </a:extLst>
            </p:cNvPr>
            <p:cNvSpPr txBox="1"/>
            <p:nvPr/>
          </p:nvSpPr>
          <p:spPr>
            <a:xfrm>
              <a:off x="2259622" y="1179733"/>
              <a:ext cx="10972800" cy="390300"/>
            </a:xfrm>
            <a:prstGeom prst="rect">
              <a:avLst/>
            </a:prstGeom>
            <a:noFill/>
            <a:ln>
              <a:noFill/>
            </a:ln>
          </p:spPr>
          <p:txBody>
            <a:bodyPr spcFirstLastPara="1" wrap="square" lIns="91438" tIns="45694" rIns="91438" bIns="45694" anchor="ctr" anchorCtr="0">
              <a:noAutofit/>
            </a:bodyPr>
            <a:lstStyle/>
            <a:p>
              <a:pPr>
                <a:lnSpc>
                  <a:spcPct val="120000"/>
                </a:lnSpc>
                <a:buClr>
                  <a:schemeClr val="dk1"/>
                </a:buClr>
                <a:buSzPts val="1400"/>
              </a:pPr>
              <a:r>
                <a:rPr lang="vi-VN" sz="2800" noProof="0" dirty="0">
                  <a:solidFill>
                    <a:schemeClr val="dk1"/>
                  </a:solidFill>
                  <a:latin typeface="Times New Roman" panose="02020603050405020304" pitchFamily="18" charset="0"/>
                  <a:ea typeface="Cambria" panose="02040503050406030204" pitchFamily="18" charset="0"/>
                  <a:cs typeface="Times New Roman" panose="02020603050405020304" pitchFamily="18" charset="0"/>
                  <a:sym typeface="Montserrat"/>
                </a:rPr>
                <a:t>Xây dựng và hoàn thiện Dashboard</a:t>
              </a:r>
            </a:p>
          </p:txBody>
        </p:sp>
      </p:grpSp>
      <p:grpSp>
        <p:nvGrpSpPr>
          <p:cNvPr id="15" name="Google Shape;640;p53">
            <a:extLst>
              <a:ext uri="{FF2B5EF4-FFF2-40B4-BE49-F238E27FC236}">
                <a16:creationId xmlns:a16="http://schemas.microsoft.com/office/drawing/2014/main" id="{DBFF5D54-ECF1-3727-966F-EF77FC3391BD}"/>
              </a:ext>
            </a:extLst>
          </p:cNvPr>
          <p:cNvGrpSpPr/>
          <p:nvPr/>
        </p:nvGrpSpPr>
        <p:grpSpPr>
          <a:xfrm>
            <a:off x="675392" y="2691401"/>
            <a:ext cx="11424368" cy="390255"/>
            <a:chOff x="1806566" y="1179733"/>
            <a:chExt cx="11425856" cy="390306"/>
          </a:xfrm>
        </p:grpSpPr>
        <p:sp>
          <p:nvSpPr>
            <p:cNvPr id="16" name="Google Shape;641;p53">
              <a:extLst>
                <a:ext uri="{FF2B5EF4-FFF2-40B4-BE49-F238E27FC236}">
                  <a16:creationId xmlns:a16="http://schemas.microsoft.com/office/drawing/2014/main" id="{7F8106E2-76D3-C79E-2604-B2454E94C762}"/>
                </a:ext>
              </a:extLst>
            </p:cNvPr>
            <p:cNvSpPr/>
            <p:nvPr/>
          </p:nvSpPr>
          <p:spPr>
            <a:xfrm>
              <a:off x="1806566" y="1179739"/>
              <a:ext cx="390300" cy="390300"/>
            </a:xfrm>
            <a:prstGeom prst="rect">
              <a:avLst/>
            </a:prstGeom>
            <a:solidFill>
              <a:srgbClr val="119303"/>
            </a:solidFill>
            <a:ln>
              <a:noFill/>
            </a:ln>
          </p:spPr>
          <p:txBody>
            <a:bodyPr spcFirstLastPara="1" wrap="square" lIns="91438" tIns="45694" rIns="91438" bIns="45694" anchor="ctr" anchorCtr="0">
              <a:noAutofit/>
            </a:bodyPr>
            <a:lstStyle/>
            <a:p>
              <a:pPr algn="ctr"/>
              <a:r>
                <a:rPr lang="vi-VN" sz="3000">
                  <a:solidFill>
                    <a:schemeClr val="lt1"/>
                  </a:solidFill>
                  <a:latin typeface="Times New Roman" panose="02020603050405020304" pitchFamily="18" charset="0"/>
                  <a:ea typeface="Cambria" panose="02040503050406030204" pitchFamily="18" charset="0"/>
                  <a:cs typeface="Times New Roman" panose="02020603050405020304" pitchFamily="18" charset="0"/>
                  <a:sym typeface="Montserrat"/>
                </a:rPr>
                <a:t>2</a:t>
              </a:r>
              <a:endParaRPr sz="3000">
                <a:solidFill>
                  <a:schemeClr val="lt1"/>
                </a:solidFill>
                <a:latin typeface="Times New Roman" panose="02020603050405020304" pitchFamily="18" charset="0"/>
                <a:ea typeface="Cambria" panose="02040503050406030204" pitchFamily="18" charset="0"/>
                <a:cs typeface="Times New Roman" panose="02020603050405020304" pitchFamily="18" charset="0"/>
                <a:sym typeface="Montserrat"/>
              </a:endParaRPr>
            </a:p>
          </p:txBody>
        </p:sp>
        <p:sp>
          <p:nvSpPr>
            <p:cNvPr id="17" name="Google Shape;642;p53">
              <a:extLst>
                <a:ext uri="{FF2B5EF4-FFF2-40B4-BE49-F238E27FC236}">
                  <a16:creationId xmlns:a16="http://schemas.microsoft.com/office/drawing/2014/main" id="{9607A509-0F2D-4883-5A48-ECF621621A05}"/>
                </a:ext>
              </a:extLst>
            </p:cNvPr>
            <p:cNvSpPr txBox="1"/>
            <p:nvPr/>
          </p:nvSpPr>
          <p:spPr>
            <a:xfrm>
              <a:off x="2259622" y="1179733"/>
              <a:ext cx="10972800" cy="390300"/>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vi-VN" sz="2800" noProof="0" dirty="0">
                  <a:solidFill>
                    <a:schemeClr val="dk1"/>
                  </a:solidFill>
                  <a:latin typeface="Times New Roman" panose="02020603050405020304" pitchFamily="18" charset="0"/>
                  <a:ea typeface="Cambria" panose="02040503050406030204" pitchFamily="18" charset="0"/>
                  <a:cs typeface="Times New Roman" panose="02020603050405020304" pitchFamily="18" charset="0"/>
                  <a:sym typeface="Montserrat"/>
                </a:rPr>
                <a:t>Tạo</a:t>
              </a:r>
              <a:r>
                <a:rPr lang="en-US" sz="2800" dirty="0">
                  <a:solidFill>
                    <a:schemeClr val="dk1"/>
                  </a:solidFill>
                  <a:latin typeface="Times New Roman" panose="02020603050405020304" pitchFamily="18" charset="0"/>
                  <a:ea typeface="Cambria" panose="02040503050406030204" pitchFamily="18" charset="0"/>
                  <a:cs typeface="Times New Roman" panose="02020603050405020304" pitchFamily="18" charset="0"/>
                  <a:sym typeface="Montserrat"/>
                </a:rPr>
                <a:t> Data Model</a:t>
              </a:r>
            </a:p>
          </p:txBody>
        </p:sp>
      </p:grpSp>
    </p:spTree>
    <p:extLst>
      <p:ext uri="{BB962C8B-B14F-4D97-AF65-F5344CB8AC3E}">
        <p14:creationId xmlns:p14="http://schemas.microsoft.com/office/powerpoint/2010/main" val="19458189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F66E8-DDA0-DF07-8657-201806C62593}"/>
            </a:ext>
          </a:extLst>
        </p:cNvPr>
        <p:cNvGrpSpPr/>
        <p:nvPr/>
      </p:nvGrpSpPr>
      <p:grpSpPr>
        <a:xfrm>
          <a:off x="0" y="0"/>
          <a:ext cx="0" cy="0"/>
          <a:chOff x="0" y="0"/>
          <a:chExt cx="0" cy="0"/>
        </a:xfrm>
      </p:grpSpPr>
      <p:sp>
        <p:nvSpPr>
          <p:cNvPr id="11" name="Rectangle 1">
            <a:extLst>
              <a:ext uri="{FF2B5EF4-FFF2-40B4-BE49-F238E27FC236}">
                <a16:creationId xmlns:a16="http://schemas.microsoft.com/office/drawing/2014/main" id="{4AD2FBBB-A764-098F-AC32-64FFEE5F9358}"/>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18" name="Google Shape;642;p53">
            <a:extLst>
              <a:ext uri="{FF2B5EF4-FFF2-40B4-BE49-F238E27FC236}">
                <a16:creationId xmlns:a16="http://schemas.microsoft.com/office/drawing/2014/main" id="{2A83E315-C976-24BD-D6B4-F913B82463D4}"/>
              </a:ext>
            </a:extLst>
          </p:cNvPr>
          <p:cNvSpPr txBox="1"/>
          <p:nvPr/>
        </p:nvSpPr>
        <p:spPr>
          <a:xfrm>
            <a:off x="357246" y="823008"/>
            <a:ext cx="10971371" cy="347841"/>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Giải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nén</a:t>
            </a:r>
            <a:r>
              <a:rPr lang="en-US" sz="1600" dirty="0">
                <a:latin typeface="Times New Roman" panose="02020603050405020304" pitchFamily="18" charset="0"/>
                <a:cs typeface="Times New Roman" panose="02020603050405020304" pitchFamily="18" charset="0"/>
                <a:sym typeface="Montserrat"/>
              </a:rPr>
              <a:t> folder </a:t>
            </a:r>
            <a:r>
              <a:rPr lang="en-US" sz="1600" i="1" dirty="0">
                <a:highlight>
                  <a:srgbClr val="FFFF00"/>
                </a:highlight>
                <a:latin typeface="Times New Roman" panose="02020603050405020304" pitchFamily="18" charset="0"/>
                <a:cs typeface="Times New Roman" panose="02020603050405020304" pitchFamily="18" charset="0"/>
                <a:sym typeface="Montserrat"/>
              </a:rPr>
              <a:t>4887-data-va-cau-hoi-phan-du-an-cuoi-khoazip</a:t>
            </a:r>
            <a:r>
              <a:rPr lang="en-US" sz="1600" i="1"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bắt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đầu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làm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bài</a:t>
            </a:r>
            <a:r>
              <a:rPr lang="en-US" sz="1600" dirty="0">
                <a:latin typeface="Times New Roman" panose="02020603050405020304" pitchFamily="18" charset="0"/>
                <a:cs typeface="Times New Roman" panose="02020603050405020304" pitchFamily="18" charset="0"/>
                <a:sym typeface="Montserrat"/>
              </a:rPr>
              <a:t>.</a:t>
            </a:r>
          </a:p>
        </p:txBody>
      </p:sp>
      <p:sp>
        <p:nvSpPr>
          <p:cNvPr id="19" name="Google Shape;642;p53">
            <a:extLst>
              <a:ext uri="{FF2B5EF4-FFF2-40B4-BE49-F238E27FC236}">
                <a16:creationId xmlns:a16="http://schemas.microsoft.com/office/drawing/2014/main" id="{6C355D68-4DB5-55BD-6B79-452E1FB23EFA}"/>
              </a:ext>
            </a:extLst>
          </p:cNvPr>
          <p:cNvSpPr txBox="1"/>
          <p:nvPr/>
        </p:nvSpPr>
        <p:spPr>
          <a:xfrm>
            <a:off x="357248" y="1199674"/>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pic>
        <p:nvPicPr>
          <p:cNvPr id="21" name="Picture 20">
            <a:extLst>
              <a:ext uri="{FF2B5EF4-FFF2-40B4-BE49-F238E27FC236}">
                <a16:creationId xmlns:a16="http://schemas.microsoft.com/office/drawing/2014/main" id="{A62B758C-FE29-13A7-B4DE-8D47889B5527}"/>
              </a:ext>
            </a:extLst>
          </p:cNvPr>
          <p:cNvPicPr>
            <a:picLocks noChangeAspect="1"/>
          </p:cNvPicPr>
          <p:nvPr/>
        </p:nvPicPr>
        <p:blipFill>
          <a:blip r:embed="rId2"/>
          <a:srcRect b="34456"/>
          <a:stretch>
            <a:fillRect/>
          </a:stretch>
        </p:blipFill>
        <p:spPr>
          <a:xfrm>
            <a:off x="2497164" y="1358629"/>
            <a:ext cx="7197671" cy="742350"/>
          </a:xfrm>
          <a:prstGeom prst="rect">
            <a:avLst/>
          </a:prstGeom>
        </p:spPr>
      </p:pic>
      <p:pic>
        <p:nvPicPr>
          <p:cNvPr id="23" name="Picture 22">
            <a:extLst>
              <a:ext uri="{FF2B5EF4-FFF2-40B4-BE49-F238E27FC236}">
                <a16:creationId xmlns:a16="http://schemas.microsoft.com/office/drawing/2014/main" id="{7E306267-F2FD-3745-16F2-05D438A322BE}"/>
              </a:ext>
            </a:extLst>
          </p:cNvPr>
          <p:cNvPicPr>
            <a:picLocks noChangeAspect="1"/>
          </p:cNvPicPr>
          <p:nvPr/>
        </p:nvPicPr>
        <p:blipFill>
          <a:blip r:embed="rId3"/>
          <a:stretch>
            <a:fillRect/>
          </a:stretch>
        </p:blipFill>
        <p:spPr>
          <a:xfrm>
            <a:off x="5281586" y="2211138"/>
            <a:ext cx="5591479" cy="4391022"/>
          </a:xfrm>
          <a:prstGeom prst="rect">
            <a:avLst/>
          </a:prstGeom>
        </p:spPr>
      </p:pic>
      <p:sp>
        <p:nvSpPr>
          <p:cNvPr id="26" name="Google Shape;642;p53">
            <a:extLst>
              <a:ext uri="{FF2B5EF4-FFF2-40B4-BE49-F238E27FC236}">
                <a16:creationId xmlns:a16="http://schemas.microsoft.com/office/drawing/2014/main" id="{C36C4257-5942-AA6E-17A1-6F733D43D428}"/>
              </a:ext>
            </a:extLst>
          </p:cNvPr>
          <p:cNvSpPr txBox="1"/>
          <p:nvPr/>
        </p:nvSpPr>
        <p:spPr>
          <a:xfrm>
            <a:off x="357248" y="2231452"/>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sp>
        <p:nvSpPr>
          <p:cNvPr id="27" name="Google Shape;642;p53">
            <a:extLst>
              <a:ext uri="{FF2B5EF4-FFF2-40B4-BE49-F238E27FC236}">
                <a16:creationId xmlns:a16="http://schemas.microsoft.com/office/drawing/2014/main" id="{03D3B477-F570-7EA9-99C4-24862A5BC66F}"/>
              </a:ext>
            </a:extLst>
          </p:cNvPr>
          <p:cNvSpPr txBox="1"/>
          <p:nvPr/>
        </p:nvSpPr>
        <p:spPr>
          <a:xfrm>
            <a:off x="357247" y="3244751"/>
            <a:ext cx="4489073" cy="1025150"/>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Mở</a:t>
            </a:r>
            <a:r>
              <a:rPr lang="en-US" sz="1600" dirty="0">
                <a:latin typeface="Times New Roman" panose="02020603050405020304" pitchFamily="18" charset="0"/>
                <a:cs typeface="Times New Roman" panose="02020603050405020304" pitchFamily="18" charset="0"/>
                <a:sym typeface="Montserrat"/>
              </a:rPr>
              <a:t> Power BI Desktop,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File</a:t>
            </a:r>
            <a:r>
              <a:rPr lang="en-US" sz="1600" dirty="0">
                <a:latin typeface="Times New Roman" panose="02020603050405020304" pitchFamily="18" charset="0"/>
                <a:cs typeface="Times New Roman" panose="02020603050405020304" pitchFamily="18" charset="0"/>
                <a:sym typeface="Montserrat"/>
              </a:rPr>
              <a:t> </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Options and settings </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Options</a:t>
            </a:r>
            <a:r>
              <a:rPr lang="en-US" sz="1600" dirty="0">
                <a:latin typeface="Times New Roman" panose="02020603050405020304" pitchFamily="18" charset="0"/>
                <a:cs typeface="Times New Roman" panose="02020603050405020304" pitchFamily="18" charset="0"/>
                <a:sym typeface="Wingdings" panose="05000000000000000000" pitchFamily="2" charset="2"/>
              </a:rPr>
              <a:t>  </a:t>
            </a:r>
            <a:r>
              <a:rPr lang="en-US" sz="1600" b="1" dirty="0">
                <a:latin typeface="Times New Roman" panose="02020603050405020304" pitchFamily="18" charset="0"/>
                <a:cs typeface="Times New Roman" panose="02020603050405020304" pitchFamily="18" charset="0"/>
                <a:sym typeface="Wingdings" panose="05000000000000000000" pitchFamily="2" charset="2"/>
              </a:rPr>
              <a:t>Data Load</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bỏ</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chọn</a:t>
            </a:r>
            <a:r>
              <a:rPr lang="en-US" sz="1600" dirty="0">
                <a:latin typeface="Times New Roman" panose="02020603050405020304" pitchFamily="18" charset="0"/>
                <a:cs typeface="Times New Roman" panose="02020603050405020304" pitchFamily="18" charset="0"/>
                <a:sym typeface="Wingdings" panose="05000000000000000000" pitchFamily="2" charset="2"/>
              </a:rPr>
              <a:t> “Autodetect new relationships after data is loaded”</a:t>
            </a:r>
            <a:endParaRPr lang="en-US" sz="1600" dirty="0">
              <a:latin typeface="Times New Roman" panose="02020603050405020304" pitchFamily="18" charset="0"/>
              <a:cs typeface="Times New Roman" panose="02020603050405020304" pitchFamily="18" charset="0"/>
              <a:sym typeface="Montserrat"/>
            </a:endParaRPr>
          </a:p>
        </p:txBody>
      </p:sp>
      <p:sp>
        <p:nvSpPr>
          <p:cNvPr id="2" name="Google Shape;642;p53">
            <a:extLst>
              <a:ext uri="{FF2B5EF4-FFF2-40B4-BE49-F238E27FC236}">
                <a16:creationId xmlns:a16="http://schemas.microsoft.com/office/drawing/2014/main" id="{067E866C-8D76-7980-92E4-1F04EE888A98}"/>
              </a:ext>
            </a:extLst>
          </p:cNvPr>
          <p:cNvSpPr txBox="1"/>
          <p:nvPr/>
        </p:nvSpPr>
        <p:spPr>
          <a:xfrm>
            <a:off x="357246" y="4406649"/>
            <a:ext cx="4489073" cy="1222843"/>
          </a:xfrm>
          <a:prstGeom prst="rect">
            <a:avLst/>
          </a:prstGeom>
          <a:noFill/>
          <a:ln>
            <a:noFill/>
          </a:ln>
        </p:spPr>
        <p:txBody>
          <a:bodyPr spcFirstLastPara="1" wrap="square" lIns="91438" tIns="45694" rIns="91438" bIns="45694" anchor="ctr" anchorCtr="0">
            <a:noAutofit/>
          </a:bodyPr>
          <a:lstStyle/>
          <a:p>
            <a:pPr algn="just">
              <a:lnSpc>
                <a:spcPct val="120000"/>
              </a:lnSpc>
              <a:buClr>
                <a:schemeClr val="dk1"/>
              </a:buClr>
              <a:buSzPts val="1400"/>
            </a:pPr>
            <a:r>
              <a:rPr lang="en-US" sz="1600" b="1" u="sng" dirty="0">
                <a:solidFill>
                  <a:srgbClr val="0070C0"/>
                </a:solidFill>
                <a:latin typeface="Times New Roman" panose="02020603050405020304" pitchFamily="18" charset="0"/>
                <a:cs typeface="Times New Roman" panose="02020603050405020304" pitchFamily="18" charset="0"/>
                <a:sym typeface="Montserrat"/>
              </a:rPr>
              <a:t>Lý do</a:t>
            </a:r>
            <a:r>
              <a:rPr lang="en-US" sz="1600" b="1" dirty="0">
                <a:solidFill>
                  <a:srgbClr val="0070C0"/>
                </a:solidFill>
                <a:latin typeface="Times New Roman" panose="02020603050405020304" pitchFamily="18" charset="0"/>
                <a:cs typeface="Times New Roman" panose="02020603050405020304" pitchFamily="18" charset="0"/>
                <a:sym typeface="Montserrat"/>
              </a:rPr>
              <a:t>: </a:t>
            </a:r>
            <a:r>
              <a:rPr lang="vi-VN" sz="1600" dirty="0">
                <a:solidFill>
                  <a:srgbClr val="0070C0"/>
                </a:solidFill>
                <a:latin typeface="Times New Roman" panose="02020603050405020304" pitchFamily="18" charset="0"/>
                <a:cs typeface="Times New Roman" panose="02020603050405020304" pitchFamily="18" charset="0"/>
              </a:rPr>
              <a:t>Bỏ chọn </a:t>
            </a:r>
            <a:r>
              <a:rPr lang="en-US" sz="1600" i="1" dirty="0">
                <a:solidFill>
                  <a:srgbClr val="0070C0"/>
                </a:solidFill>
                <a:latin typeface="Times New Roman" panose="02020603050405020304" pitchFamily="18" charset="0"/>
                <a:cs typeface="Times New Roman" panose="02020603050405020304" pitchFamily="18" charset="0"/>
              </a:rPr>
              <a:t>“</a:t>
            </a:r>
            <a:r>
              <a:rPr lang="vi-VN" sz="1600" i="1" dirty="0">
                <a:solidFill>
                  <a:srgbClr val="0070C0"/>
                </a:solidFill>
                <a:latin typeface="Times New Roman" panose="02020603050405020304" pitchFamily="18" charset="0"/>
                <a:cs typeface="Times New Roman" panose="02020603050405020304" pitchFamily="18" charset="0"/>
              </a:rPr>
              <a:t>Autodetect new relationships</a:t>
            </a:r>
            <a:r>
              <a:rPr lang="en-US" sz="1600" i="1" dirty="0">
                <a:solidFill>
                  <a:srgbClr val="0070C0"/>
                </a:solidFill>
                <a:latin typeface="Times New Roman" panose="02020603050405020304" pitchFamily="18" charset="0"/>
                <a:cs typeface="Times New Roman" panose="02020603050405020304" pitchFamily="18" charset="0"/>
              </a:rPr>
              <a:t>”</a:t>
            </a:r>
            <a:r>
              <a:rPr lang="vi-VN" sz="1600" i="1" dirty="0">
                <a:solidFill>
                  <a:srgbClr val="0070C0"/>
                </a:solidFill>
                <a:latin typeface="Times New Roman" panose="02020603050405020304" pitchFamily="18" charset="0"/>
                <a:cs typeface="Times New Roman" panose="02020603050405020304" pitchFamily="18" charset="0"/>
              </a:rPr>
              <a:t> </a:t>
            </a:r>
            <a:r>
              <a:rPr lang="vi-VN" sz="1600" dirty="0">
                <a:solidFill>
                  <a:srgbClr val="0070C0"/>
                </a:solidFill>
                <a:latin typeface="Times New Roman" panose="02020603050405020304" pitchFamily="18" charset="0"/>
                <a:cs typeface="Times New Roman" panose="02020603050405020304" pitchFamily="18" charset="0"/>
              </a:rPr>
              <a:t>để Power BI không tự tạo relationship, giúp người làm</a:t>
            </a:r>
            <a:r>
              <a:rPr lang="en-US" sz="1600" dirty="0">
                <a:solidFill>
                  <a:srgbClr val="0070C0"/>
                </a:solidFill>
                <a:latin typeface="Times New Roman" panose="02020603050405020304" pitchFamily="18" charset="0"/>
                <a:cs typeface="Times New Roman" panose="02020603050405020304" pitchFamily="18" charset="0"/>
              </a:rPr>
              <a:t> </a:t>
            </a:r>
            <a:r>
              <a:rPr lang="en-US" sz="1600" dirty="0" err="1">
                <a:solidFill>
                  <a:srgbClr val="0070C0"/>
                </a:solidFill>
                <a:latin typeface="Times New Roman" panose="02020603050405020304" pitchFamily="18" charset="0"/>
                <a:cs typeface="Times New Roman" panose="02020603050405020304" pitchFamily="18" charset="0"/>
              </a:rPr>
              <a:t>báo</a:t>
            </a:r>
            <a:r>
              <a:rPr lang="en-US" sz="1600" dirty="0">
                <a:solidFill>
                  <a:srgbClr val="0070C0"/>
                </a:solidFill>
                <a:latin typeface="Times New Roman" panose="02020603050405020304" pitchFamily="18" charset="0"/>
                <a:cs typeface="Times New Roman" panose="02020603050405020304" pitchFamily="18" charset="0"/>
              </a:rPr>
              <a:t> </a:t>
            </a:r>
            <a:r>
              <a:rPr lang="en-US" sz="1600" dirty="0" err="1">
                <a:solidFill>
                  <a:srgbClr val="0070C0"/>
                </a:solidFill>
                <a:latin typeface="Times New Roman" panose="02020603050405020304" pitchFamily="18" charset="0"/>
                <a:cs typeface="Times New Roman" panose="02020603050405020304" pitchFamily="18" charset="0"/>
              </a:rPr>
              <a:t>cáo</a:t>
            </a:r>
            <a:r>
              <a:rPr lang="vi-VN" sz="1600" dirty="0">
                <a:solidFill>
                  <a:srgbClr val="0070C0"/>
                </a:solidFill>
                <a:latin typeface="Times New Roman" panose="02020603050405020304" pitchFamily="18" charset="0"/>
                <a:cs typeface="Times New Roman" panose="02020603050405020304" pitchFamily="18" charset="0"/>
              </a:rPr>
              <a:t> tự kiểm soát và thiết kế data model chính xác hơn.</a:t>
            </a:r>
          </a:p>
        </p:txBody>
      </p:sp>
      <p:sp>
        <p:nvSpPr>
          <p:cNvPr id="3" name="Rectangle 1">
            <a:extLst>
              <a:ext uri="{FF2B5EF4-FFF2-40B4-BE49-F238E27FC236}">
                <a16:creationId xmlns:a16="http://schemas.microsoft.com/office/drawing/2014/main" id="{D1D6E441-13E9-026C-6756-B0241EFA572A}"/>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1. Cài </a:t>
            </a:r>
            <a:r>
              <a:rPr lang="en-US" sz="2000" b="1" dirty="0" err="1">
                <a:solidFill>
                  <a:srgbClr val="113A71"/>
                </a:solidFill>
                <a:latin typeface="Times New Roman" panose="02020603050405020304" pitchFamily="18" charset="0"/>
                <a:cs typeface="Times New Roman" panose="02020603050405020304" pitchFamily="18" charset="0"/>
              </a:rPr>
              <a:t>đặt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cấu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hình</a:t>
            </a:r>
            <a:r>
              <a:rPr lang="en-US" sz="2000" b="1" dirty="0">
                <a:solidFill>
                  <a:srgbClr val="113A71"/>
                </a:solidFill>
                <a:latin typeface="Times New Roman" panose="02020603050405020304" pitchFamily="18" charset="0"/>
                <a:cs typeface="Times New Roman" panose="02020603050405020304" pitchFamily="18" charset="0"/>
              </a:rPr>
              <a:t> Power BI</a:t>
            </a:r>
          </a:p>
        </p:txBody>
      </p:sp>
    </p:spTree>
    <p:extLst>
      <p:ext uri="{BB962C8B-B14F-4D97-AF65-F5344CB8AC3E}">
        <p14:creationId xmlns:p14="http://schemas.microsoft.com/office/powerpoint/2010/main" val="22144152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E7057-CEAF-57C0-E945-2B41B6BB5E12}"/>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7BB76546-D2C0-79EE-DECA-A50501E8D738}"/>
              </a:ext>
            </a:extLst>
          </p:cNvPr>
          <p:cNvSpPr txBox="1"/>
          <p:nvPr/>
        </p:nvSpPr>
        <p:spPr>
          <a:xfrm>
            <a:off x="357248" y="718179"/>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pic>
        <p:nvPicPr>
          <p:cNvPr id="21" name="Picture 20">
            <a:extLst>
              <a:ext uri="{FF2B5EF4-FFF2-40B4-BE49-F238E27FC236}">
                <a16:creationId xmlns:a16="http://schemas.microsoft.com/office/drawing/2014/main" id="{E093150A-6354-82F9-3D83-4BDC9551F5BC}"/>
              </a:ext>
            </a:extLst>
          </p:cNvPr>
          <p:cNvPicPr>
            <a:picLocks noChangeAspect="1"/>
          </p:cNvPicPr>
          <p:nvPr/>
        </p:nvPicPr>
        <p:blipFill>
          <a:blip r:embed="rId2"/>
          <a:srcRect t="65544"/>
          <a:stretch>
            <a:fillRect/>
          </a:stretch>
        </p:blipFill>
        <p:spPr>
          <a:xfrm>
            <a:off x="2497164" y="1102626"/>
            <a:ext cx="7197671" cy="390249"/>
          </a:xfrm>
          <a:prstGeom prst="rect">
            <a:avLst/>
          </a:prstGeom>
        </p:spPr>
      </p:pic>
      <p:pic>
        <p:nvPicPr>
          <p:cNvPr id="3" name="Picture 2">
            <a:extLst>
              <a:ext uri="{FF2B5EF4-FFF2-40B4-BE49-F238E27FC236}">
                <a16:creationId xmlns:a16="http://schemas.microsoft.com/office/drawing/2014/main" id="{07146382-09D7-3996-F103-277695B63FDD}"/>
              </a:ext>
            </a:extLst>
          </p:cNvPr>
          <p:cNvPicPr>
            <a:picLocks noChangeAspect="1"/>
          </p:cNvPicPr>
          <p:nvPr/>
        </p:nvPicPr>
        <p:blipFill>
          <a:blip r:embed="rId3"/>
          <a:stretch>
            <a:fillRect/>
          </a:stretch>
        </p:blipFill>
        <p:spPr>
          <a:xfrm>
            <a:off x="5257909" y="1799153"/>
            <a:ext cx="5877451" cy="4653575"/>
          </a:xfrm>
          <a:prstGeom prst="rect">
            <a:avLst/>
          </a:prstGeom>
        </p:spPr>
      </p:pic>
      <p:sp>
        <p:nvSpPr>
          <p:cNvPr id="4" name="Google Shape;642;p53">
            <a:extLst>
              <a:ext uri="{FF2B5EF4-FFF2-40B4-BE49-F238E27FC236}">
                <a16:creationId xmlns:a16="http://schemas.microsoft.com/office/drawing/2014/main" id="{0C145443-C435-AFC1-C4A0-7FEA2736DB0E}"/>
              </a:ext>
            </a:extLst>
          </p:cNvPr>
          <p:cNvSpPr txBox="1"/>
          <p:nvPr/>
        </p:nvSpPr>
        <p:spPr>
          <a:xfrm>
            <a:off x="357248" y="1799153"/>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sp>
        <p:nvSpPr>
          <p:cNvPr id="5" name="Google Shape;642;p53">
            <a:extLst>
              <a:ext uri="{FF2B5EF4-FFF2-40B4-BE49-F238E27FC236}">
                <a16:creationId xmlns:a16="http://schemas.microsoft.com/office/drawing/2014/main" id="{BB28EB22-ADB1-799E-A6F0-AD4952A6DF61}"/>
              </a:ext>
            </a:extLst>
          </p:cNvPr>
          <p:cNvSpPr txBox="1"/>
          <p:nvPr/>
        </p:nvSpPr>
        <p:spPr>
          <a:xfrm>
            <a:off x="357246" y="3489607"/>
            <a:ext cx="4580512" cy="1272665"/>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Mở</a:t>
            </a:r>
            <a:r>
              <a:rPr lang="en-US" sz="1600" dirty="0">
                <a:latin typeface="Times New Roman" panose="02020603050405020304" pitchFamily="18" charset="0"/>
                <a:cs typeface="Times New Roman" panose="02020603050405020304" pitchFamily="18" charset="0"/>
                <a:sym typeface="Montserrat"/>
              </a:rPr>
              <a:t> Power BI Desktop,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File</a:t>
            </a:r>
            <a:r>
              <a:rPr lang="en-US" sz="1600" dirty="0">
                <a:latin typeface="Times New Roman" panose="02020603050405020304" pitchFamily="18" charset="0"/>
                <a:cs typeface="Times New Roman" panose="02020603050405020304" pitchFamily="18" charset="0"/>
                <a:sym typeface="Montserrat"/>
              </a:rPr>
              <a:t> </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Options and settings </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Options</a:t>
            </a:r>
            <a:r>
              <a:rPr lang="en-US" sz="1600" dirty="0">
                <a:latin typeface="Times New Roman" panose="02020603050405020304" pitchFamily="18" charset="0"/>
                <a:cs typeface="Times New Roman" panose="02020603050405020304" pitchFamily="18" charset="0"/>
                <a:sym typeface="Wingdings" panose="05000000000000000000" pitchFamily="2" charset="2"/>
              </a:rPr>
              <a:t>  </a:t>
            </a:r>
            <a:r>
              <a:rPr lang="en-US" sz="1600" b="1" dirty="0">
                <a:latin typeface="Times New Roman" panose="02020603050405020304" pitchFamily="18" charset="0"/>
                <a:cs typeface="Times New Roman" panose="02020603050405020304" pitchFamily="18" charset="0"/>
                <a:sym typeface="Wingdings" panose="05000000000000000000" pitchFamily="2" charset="2"/>
              </a:rPr>
              <a:t>Regional Settings</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chọn</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ngôn</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ngữ</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i="1" dirty="0">
                <a:latin typeface="Times New Roman" panose="02020603050405020304" pitchFamily="18" charset="0"/>
                <a:cs typeface="Times New Roman" panose="02020603050405020304" pitchFamily="18" charset="0"/>
                <a:sym typeface="Wingdings" panose="05000000000000000000" pitchFamily="2" charset="2"/>
              </a:rPr>
              <a:t>English (United States) </a:t>
            </a:r>
            <a:r>
              <a:rPr lang="en-US" sz="1600" dirty="0" err="1">
                <a:latin typeface="Times New Roman" panose="02020603050405020304" pitchFamily="18" charset="0"/>
                <a:cs typeface="Times New Roman" panose="02020603050405020304" pitchFamily="18" charset="0"/>
              </a:rPr>
              <a:t>để</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đảm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định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dạng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dữ</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liệu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thống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nhất</a:t>
            </a:r>
            <a:r>
              <a:rPr lang="en-US" sz="1600"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sym typeface="Montserrat"/>
            </a:endParaRPr>
          </a:p>
        </p:txBody>
      </p:sp>
      <p:sp>
        <p:nvSpPr>
          <p:cNvPr id="7" name="Rectangle 1">
            <a:extLst>
              <a:ext uri="{FF2B5EF4-FFF2-40B4-BE49-F238E27FC236}">
                <a16:creationId xmlns:a16="http://schemas.microsoft.com/office/drawing/2014/main" id="{B5C63092-70FC-3D00-03FA-26221B714A9B}"/>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23BFE9C8-5E30-BE6E-37C4-1178BEC08AEE}"/>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1. Cài </a:t>
            </a:r>
            <a:r>
              <a:rPr lang="en-US" sz="2000" b="1" dirty="0" err="1">
                <a:solidFill>
                  <a:srgbClr val="113A71"/>
                </a:solidFill>
                <a:latin typeface="Times New Roman" panose="02020603050405020304" pitchFamily="18" charset="0"/>
                <a:cs typeface="Times New Roman" panose="02020603050405020304" pitchFamily="18" charset="0"/>
              </a:rPr>
              <a:t>đặt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cấu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hình</a:t>
            </a:r>
            <a:r>
              <a:rPr lang="en-US" sz="2000" b="1" dirty="0">
                <a:solidFill>
                  <a:srgbClr val="113A71"/>
                </a:solidFill>
                <a:latin typeface="Times New Roman" panose="02020603050405020304" pitchFamily="18" charset="0"/>
                <a:cs typeface="Times New Roman" panose="02020603050405020304" pitchFamily="18" charset="0"/>
              </a:rPr>
              <a:t> Power BI (</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680461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B84C5-4D8B-12DC-5A66-99F77701DA80}"/>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6C9BFCBD-E3F0-22A9-450B-5D08345ECB31}"/>
              </a:ext>
            </a:extLst>
          </p:cNvPr>
          <p:cNvSpPr txBox="1"/>
          <p:nvPr/>
        </p:nvSpPr>
        <p:spPr>
          <a:xfrm>
            <a:off x="357248" y="874044"/>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4" name="Google Shape;642;p53">
            <a:extLst>
              <a:ext uri="{FF2B5EF4-FFF2-40B4-BE49-F238E27FC236}">
                <a16:creationId xmlns:a16="http://schemas.microsoft.com/office/drawing/2014/main" id="{7AFB01F4-10F4-175D-83BC-6FFFA38E7A75}"/>
              </a:ext>
            </a:extLst>
          </p:cNvPr>
          <p:cNvSpPr txBox="1"/>
          <p:nvPr/>
        </p:nvSpPr>
        <p:spPr>
          <a:xfrm>
            <a:off x="357247" y="2131369"/>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sp>
        <p:nvSpPr>
          <p:cNvPr id="5" name="Google Shape;642;p53">
            <a:extLst>
              <a:ext uri="{FF2B5EF4-FFF2-40B4-BE49-F238E27FC236}">
                <a16:creationId xmlns:a16="http://schemas.microsoft.com/office/drawing/2014/main" id="{A30F942E-0347-51F2-88B2-736411804BB8}"/>
              </a:ext>
            </a:extLst>
          </p:cNvPr>
          <p:cNvSpPr txBox="1"/>
          <p:nvPr/>
        </p:nvSpPr>
        <p:spPr>
          <a:xfrm>
            <a:off x="498663" y="2450498"/>
            <a:ext cx="11194673" cy="390249"/>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Home</a:t>
            </a:r>
            <a:r>
              <a:rPr lang="en-US" sz="1600" dirty="0">
                <a:latin typeface="Times New Roman" panose="02020603050405020304" pitchFamily="18" charset="0"/>
                <a:cs typeface="Times New Roman" panose="02020603050405020304" pitchFamily="18" charset="0"/>
                <a:sym typeface="Montserrat"/>
              </a:rPr>
              <a:t> </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Montserrat"/>
              </a:rPr>
              <a:t>Transform Data </a:t>
            </a:r>
            <a:r>
              <a:rPr lang="en-US" sz="1600" dirty="0">
                <a:latin typeface="Times New Roman" panose="02020603050405020304" pitchFamily="18" charset="0"/>
                <a:cs typeface="Times New Roman" panose="02020603050405020304" pitchFamily="18" charset="0"/>
                <a:sym typeface="Wingdings" panose="05000000000000000000" pitchFamily="2" charset="2"/>
              </a:rPr>
              <a:t></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New Source</a:t>
            </a:r>
            <a:r>
              <a:rPr lang="en-US" sz="1600" b="1"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Excel Workbook: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Chọn</a:t>
            </a:r>
            <a:r>
              <a:rPr lang="en-US" sz="1600" dirty="0">
                <a:latin typeface="Times New Roman" panose="02020603050405020304" pitchFamily="18" charset="0"/>
                <a:cs typeface="Times New Roman" panose="02020603050405020304" pitchFamily="18" charset="0"/>
                <a:sym typeface="Wingdings" panose="05000000000000000000" pitchFamily="2" charset="2"/>
              </a:rPr>
              <a:t> file </a:t>
            </a:r>
            <a:r>
              <a:rPr lang="en-US" sz="1600" i="1" dirty="0" err="1">
                <a:latin typeface="Times New Roman" panose="02020603050405020304" pitchFamily="18" charset="0"/>
                <a:cs typeface="Times New Roman" panose="02020603050405020304" pitchFamily="18" charset="0"/>
                <a:sym typeface="Wingdings" panose="05000000000000000000" pitchFamily="2" charset="2"/>
              </a:rPr>
              <a:t>MavenMarket_Customers</a:t>
            </a:r>
            <a:endParaRPr lang="en-US" sz="1600" b="1" i="1" dirty="0">
              <a:latin typeface="Times New Roman" panose="02020603050405020304" pitchFamily="18" charset="0"/>
              <a:cs typeface="Times New Roman" panose="02020603050405020304" pitchFamily="18" charset="0"/>
              <a:sym typeface="Montserrat"/>
            </a:endParaRPr>
          </a:p>
        </p:txBody>
      </p:sp>
      <p:pic>
        <p:nvPicPr>
          <p:cNvPr id="6" name="Picture 5">
            <a:extLst>
              <a:ext uri="{FF2B5EF4-FFF2-40B4-BE49-F238E27FC236}">
                <a16:creationId xmlns:a16="http://schemas.microsoft.com/office/drawing/2014/main" id="{B942AFE9-FD92-9ED9-9608-848A477C0CD5}"/>
              </a:ext>
            </a:extLst>
          </p:cNvPr>
          <p:cNvPicPr>
            <a:picLocks noChangeAspect="1"/>
          </p:cNvPicPr>
          <p:nvPr/>
        </p:nvPicPr>
        <p:blipFill>
          <a:blip r:embed="rId2"/>
          <a:stretch>
            <a:fillRect/>
          </a:stretch>
        </p:blipFill>
        <p:spPr>
          <a:xfrm>
            <a:off x="1778000" y="994073"/>
            <a:ext cx="8636000" cy="1138078"/>
          </a:xfrm>
          <a:prstGeom prst="rect">
            <a:avLst/>
          </a:prstGeom>
        </p:spPr>
      </p:pic>
      <p:pic>
        <p:nvPicPr>
          <p:cNvPr id="8" name="Picture 7">
            <a:extLst>
              <a:ext uri="{FF2B5EF4-FFF2-40B4-BE49-F238E27FC236}">
                <a16:creationId xmlns:a16="http://schemas.microsoft.com/office/drawing/2014/main" id="{0AF768F9-007E-C059-A20D-BC26BE49644B}"/>
              </a:ext>
            </a:extLst>
          </p:cNvPr>
          <p:cNvPicPr>
            <a:picLocks noChangeAspect="1"/>
          </p:cNvPicPr>
          <p:nvPr/>
        </p:nvPicPr>
        <p:blipFill>
          <a:blip r:embed="rId3"/>
          <a:stretch>
            <a:fillRect/>
          </a:stretch>
        </p:blipFill>
        <p:spPr>
          <a:xfrm>
            <a:off x="1495208" y="3970796"/>
            <a:ext cx="3105583" cy="1590897"/>
          </a:xfrm>
          <a:prstGeom prst="rect">
            <a:avLst/>
          </a:prstGeom>
        </p:spPr>
      </p:pic>
      <p:pic>
        <p:nvPicPr>
          <p:cNvPr id="10" name="Picture 9">
            <a:extLst>
              <a:ext uri="{FF2B5EF4-FFF2-40B4-BE49-F238E27FC236}">
                <a16:creationId xmlns:a16="http://schemas.microsoft.com/office/drawing/2014/main" id="{EE243AD9-59C0-FDDC-A426-C85D79E20D0E}"/>
              </a:ext>
            </a:extLst>
          </p:cNvPr>
          <p:cNvPicPr>
            <a:picLocks noChangeAspect="1"/>
          </p:cNvPicPr>
          <p:nvPr/>
        </p:nvPicPr>
        <p:blipFill>
          <a:blip r:embed="rId4"/>
          <a:stretch>
            <a:fillRect/>
          </a:stretch>
        </p:blipFill>
        <p:spPr>
          <a:xfrm>
            <a:off x="8277103" y="4571294"/>
            <a:ext cx="1733792" cy="390580"/>
          </a:xfrm>
          <a:prstGeom prst="rect">
            <a:avLst/>
          </a:prstGeom>
        </p:spPr>
      </p:pic>
      <p:sp>
        <p:nvSpPr>
          <p:cNvPr id="12" name="Google Shape;642;p53">
            <a:extLst>
              <a:ext uri="{FF2B5EF4-FFF2-40B4-BE49-F238E27FC236}">
                <a16:creationId xmlns:a16="http://schemas.microsoft.com/office/drawing/2014/main" id="{CDE91BE8-0368-75B6-6DFE-8CA7A46373E0}"/>
              </a:ext>
            </a:extLst>
          </p:cNvPr>
          <p:cNvSpPr txBox="1"/>
          <p:nvPr/>
        </p:nvSpPr>
        <p:spPr>
          <a:xfrm>
            <a:off x="498662" y="2928107"/>
            <a:ext cx="11194673" cy="390249"/>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Vô</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mục</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Query Settings </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Properties</a:t>
            </a:r>
            <a:r>
              <a:rPr lang="en-US" sz="1600" dirty="0">
                <a:latin typeface="Times New Roman" panose="02020603050405020304" pitchFamily="18" charset="0"/>
                <a:cs typeface="Times New Roman" panose="02020603050405020304" pitchFamily="18" charset="0"/>
                <a:sym typeface="Wingdings" panose="05000000000000000000" pitchFamily="2" charset="2"/>
              </a:rPr>
              <a:t>  </a:t>
            </a:r>
            <a:r>
              <a:rPr lang="en-US" sz="1600" b="1" dirty="0">
                <a:latin typeface="Times New Roman" panose="02020603050405020304" pitchFamily="18" charset="0"/>
                <a:cs typeface="Times New Roman" panose="02020603050405020304" pitchFamily="18" charset="0"/>
                <a:sym typeface="Wingdings" panose="05000000000000000000" pitchFamily="2" charset="2"/>
              </a:rPr>
              <a:t>Name</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để</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đổi</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tên</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err="1">
                <a:latin typeface="Times New Roman" panose="02020603050405020304" pitchFamily="18" charset="0"/>
                <a:cs typeface="Times New Roman" panose="02020603050405020304" pitchFamily="18" charset="0"/>
                <a:sym typeface="Wingdings" panose="05000000000000000000" pitchFamily="2" charset="2"/>
              </a:rPr>
              <a:t>hoặc</a:t>
            </a:r>
            <a:r>
              <a:rPr lang="en-US" sz="1600" b="1"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err="1">
                <a:latin typeface="Times New Roman" panose="02020603050405020304" pitchFamily="18" charset="0"/>
                <a:cs typeface="Times New Roman" panose="02020603050405020304" pitchFamily="18" charset="0"/>
                <a:sym typeface="Wingdings" panose="05000000000000000000" pitchFamily="2" charset="2"/>
              </a:rPr>
              <a:t>nhấp</a:t>
            </a:r>
            <a:r>
              <a:rPr lang="en-US" sz="1600" b="1"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err="1">
                <a:latin typeface="Times New Roman" panose="02020603050405020304" pitchFamily="18" charset="0"/>
                <a:cs typeface="Times New Roman" panose="02020603050405020304" pitchFamily="18" charset="0"/>
                <a:sym typeface="Wingdings" panose="05000000000000000000" pitchFamily="2" charset="2"/>
              </a:rPr>
              <a:t>đôi</a:t>
            </a:r>
            <a:r>
              <a:rPr lang="en-US" sz="1600" b="1"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chuột</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vào</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tên</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bảng</a:t>
            </a:r>
            <a:r>
              <a:rPr lang="en-US" sz="1600" dirty="0">
                <a:latin typeface="Times New Roman" panose="02020603050405020304" pitchFamily="18" charset="0"/>
                <a:cs typeface="Times New Roman" panose="02020603050405020304" pitchFamily="18" charset="0"/>
                <a:sym typeface="Wingdings" panose="05000000000000000000" pitchFamily="2" charset="2"/>
              </a:rPr>
              <a:t> ở </a:t>
            </a:r>
            <a:r>
              <a:rPr lang="en-US" sz="1600" b="1" dirty="0" err="1">
                <a:latin typeface="Times New Roman" panose="02020603050405020304" pitchFamily="18" charset="0"/>
                <a:cs typeface="Times New Roman" panose="02020603050405020304" pitchFamily="18" charset="0"/>
                <a:sym typeface="Wingdings" panose="05000000000000000000" pitchFamily="2" charset="2"/>
              </a:rPr>
              <a:t>cột</a:t>
            </a:r>
            <a:r>
              <a:rPr lang="en-US" sz="1600" b="1" dirty="0">
                <a:latin typeface="Times New Roman" panose="02020603050405020304" pitchFamily="18" charset="0"/>
                <a:cs typeface="Times New Roman" panose="02020603050405020304" pitchFamily="18" charset="0"/>
                <a:sym typeface="Wingdings" panose="05000000000000000000" pitchFamily="2" charset="2"/>
              </a:rPr>
              <a:t> Queries </a:t>
            </a:r>
            <a:r>
              <a:rPr lang="en-US" sz="1600" b="1" dirty="0" err="1">
                <a:latin typeface="Times New Roman" panose="02020603050405020304" pitchFamily="18" charset="0"/>
                <a:cs typeface="Times New Roman" panose="02020603050405020304" pitchFamily="18" charset="0"/>
                <a:sym typeface="Wingdings" panose="05000000000000000000" pitchFamily="2" charset="2"/>
              </a:rPr>
              <a:t>bên</a:t>
            </a:r>
            <a:r>
              <a:rPr lang="en-US" sz="1600" b="1"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err="1">
                <a:latin typeface="Times New Roman" panose="02020603050405020304" pitchFamily="18" charset="0"/>
                <a:cs typeface="Times New Roman" panose="02020603050405020304" pitchFamily="18" charset="0"/>
                <a:sym typeface="Wingdings" panose="05000000000000000000" pitchFamily="2" charset="2"/>
              </a:rPr>
              <a:t>trái</a:t>
            </a:r>
            <a:r>
              <a:rPr lang="en-US" sz="1600" b="1"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để</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đổi</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tên</a:t>
            </a:r>
            <a:r>
              <a:rPr lang="en-US" sz="1600" dirty="0">
                <a:latin typeface="Times New Roman" panose="02020603050405020304" pitchFamily="18" charset="0"/>
                <a:cs typeface="Times New Roman" panose="02020603050405020304" pitchFamily="18" charset="0"/>
                <a:sym typeface="Wingdings" panose="05000000000000000000" pitchFamily="2" charset="2"/>
              </a:rPr>
              <a:t>:</a:t>
            </a:r>
            <a:endParaRPr lang="en-US" sz="1600" b="1" dirty="0">
              <a:latin typeface="Times New Roman" panose="02020603050405020304" pitchFamily="18" charset="0"/>
              <a:cs typeface="Times New Roman" panose="02020603050405020304" pitchFamily="18" charset="0"/>
              <a:sym typeface="Montserrat"/>
            </a:endParaRPr>
          </a:p>
        </p:txBody>
      </p:sp>
      <p:sp>
        <p:nvSpPr>
          <p:cNvPr id="13" name="Google Shape;642;p53">
            <a:extLst>
              <a:ext uri="{FF2B5EF4-FFF2-40B4-BE49-F238E27FC236}">
                <a16:creationId xmlns:a16="http://schemas.microsoft.com/office/drawing/2014/main" id="{1F4D8FFC-B655-3323-B3EA-B0D7E3A4F939}"/>
              </a:ext>
            </a:extLst>
          </p:cNvPr>
          <p:cNvSpPr txBox="1"/>
          <p:nvPr/>
        </p:nvSpPr>
        <p:spPr>
          <a:xfrm>
            <a:off x="0" y="3448807"/>
            <a:ext cx="6096000" cy="390249"/>
          </a:xfrm>
          <a:prstGeom prst="rect">
            <a:avLst/>
          </a:prstGeom>
          <a:noFill/>
          <a:ln>
            <a:noFill/>
          </a:ln>
        </p:spPr>
        <p:txBody>
          <a:bodyPr spcFirstLastPara="1" wrap="square" lIns="91438" tIns="45694" rIns="91438" bIns="45694" anchor="ctr" anchorCtr="0">
            <a:noAutofit/>
          </a:bodyPr>
          <a:lstStyle/>
          <a:p>
            <a:pPr lvl="0" algn="ctr">
              <a:lnSpc>
                <a:spcPct val="120000"/>
              </a:lnSpc>
              <a:buClr>
                <a:schemeClr val="dk1"/>
              </a:buClr>
              <a:buSzPts val="1400"/>
            </a:pPr>
            <a:r>
              <a:rPr lang="en-US" sz="1600" b="1" dirty="0">
                <a:latin typeface="Times New Roman" panose="02020603050405020304" pitchFamily="18" charset="0"/>
                <a:cs typeface="Times New Roman" panose="02020603050405020304" pitchFamily="18" charset="0"/>
                <a:sym typeface="Montserrat"/>
              </a:rPr>
              <a:t>Cách 1</a:t>
            </a:r>
          </a:p>
        </p:txBody>
      </p:sp>
      <p:sp>
        <p:nvSpPr>
          <p:cNvPr id="14" name="Google Shape;642;p53">
            <a:extLst>
              <a:ext uri="{FF2B5EF4-FFF2-40B4-BE49-F238E27FC236}">
                <a16:creationId xmlns:a16="http://schemas.microsoft.com/office/drawing/2014/main" id="{8F0F18B0-5E66-50FA-53D8-556F696555BB}"/>
              </a:ext>
            </a:extLst>
          </p:cNvPr>
          <p:cNvSpPr txBox="1"/>
          <p:nvPr/>
        </p:nvSpPr>
        <p:spPr>
          <a:xfrm>
            <a:off x="6095999" y="3448807"/>
            <a:ext cx="6096001" cy="390249"/>
          </a:xfrm>
          <a:prstGeom prst="rect">
            <a:avLst/>
          </a:prstGeom>
          <a:noFill/>
          <a:ln>
            <a:noFill/>
          </a:ln>
        </p:spPr>
        <p:txBody>
          <a:bodyPr spcFirstLastPara="1" wrap="square" lIns="91438" tIns="45694" rIns="91438" bIns="45694" anchor="ctr" anchorCtr="0">
            <a:noAutofit/>
          </a:bodyPr>
          <a:lstStyle/>
          <a:p>
            <a:pPr lvl="0" algn="ctr">
              <a:lnSpc>
                <a:spcPct val="120000"/>
              </a:lnSpc>
              <a:buClr>
                <a:schemeClr val="dk1"/>
              </a:buClr>
              <a:buSzPts val="1400"/>
            </a:pPr>
            <a:r>
              <a:rPr lang="en-US" sz="1600" b="1" dirty="0">
                <a:latin typeface="Times New Roman" panose="02020603050405020304" pitchFamily="18" charset="0"/>
                <a:cs typeface="Times New Roman" panose="02020603050405020304" pitchFamily="18" charset="0"/>
                <a:sym typeface="Montserrat"/>
              </a:rPr>
              <a:t>Cách 2</a:t>
            </a:r>
          </a:p>
        </p:txBody>
      </p:sp>
      <p:sp>
        <p:nvSpPr>
          <p:cNvPr id="3" name="Rectangle 1">
            <a:extLst>
              <a:ext uri="{FF2B5EF4-FFF2-40B4-BE49-F238E27FC236}">
                <a16:creationId xmlns:a16="http://schemas.microsoft.com/office/drawing/2014/main" id="{D6FBD198-E976-DDBA-BC32-1C0CC4842742}"/>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7" name="Rectangle 1">
            <a:extLst>
              <a:ext uri="{FF2B5EF4-FFF2-40B4-BE49-F238E27FC236}">
                <a16:creationId xmlns:a16="http://schemas.microsoft.com/office/drawing/2014/main" id="{6CF7C665-1C82-4760-A737-5C500056C266}"/>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2. </a:t>
            </a:r>
            <a:r>
              <a:rPr lang="en-US" sz="2000" b="1" dirty="0" err="1">
                <a:solidFill>
                  <a:srgbClr val="113A71"/>
                </a:solidFill>
                <a:latin typeface="Times New Roman" panose="02020603050405020304" pitchFamily="18" charset="0"/>
                <a:cs typeface="Times New Roman" panose="02020603050405020304" pitchFamily="18" charset="0"/>
              </a:rPr>
              <a:t>Kết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nối</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và</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định</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dạng</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endParaRPr lang="en-US" sz="2000" b="1" dirty="0">
              <a:solidFill>
                <a:srgbClr val="113A7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95387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9AF9C-3986-959F-343E-004FBA78D81A}"/>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C48206C0-CFF2-6402-1472-9418314EBB34}"/>
              </a:ext>
            </a:extLst>
          </p:cNvPr>
          <p:cNvSpPr txBox="1"/>
          <p:nvPr/>
        </p:nvSpPr>
        <p:spPr>
          <a:xfrm>
            <a:off x="357248" y="863653"/>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4" name="Google Shape;642;p53">
            <a:extLst>
              <a:ext uri="{FF2B5EF4-FFF2-40B4-BE49-F238E27FC236}">
                <a16:creationId xmlns:a16="http://schemas.microsoft.com/office/drawing/2014/main" id="{80712B96-B772-D826-16D8-34E519E8190C}"/>
              </a:ext>
            </a:extLst>
          </p:cNvPr>
          <p:cNvSpPr txBox="1"/>
          <p:nvPr/>
        </p:nvSpPr>
        <p:spPr>
          <a:xfrm>
            <a:off x="357248" y="1833199"/>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pic>
        <p:nvPicPr>
          <p:cNvPr id="3" name="Picture 2">
            <a:extLst>
              <a:ext uri="{FF2B5EF4-FFF2-40B4-BE49-F238E27FC236}">
                <a16:creationId xmlns:a16="http://schemas.microsoft.com/office/drawing/2014/main" id="{E0355BBA-3571-4288-4AD6-E6182CDD8926}"/>
              </a:ext>
            </a:extLst>
          </p:cNvPr>
          <p:cNvPicPr>
            <a:picLocks noChangeAspect="1"/>
          </p:cNvPicPr>
          <p:nvPr/>
        </p:nvPicPr>
        <p:blipFill>
          <a:blip r:embed="rId2"/>
          <a:stretch>
            <a:fillRect/>
          </a:stretch>
        </p:blipFill>
        <p:spPr>
          <a:xfrm>
            <a:off x="1864360" y="1058777"/>
            <a:ext cx="8463280" cy="768792"/>
          </a:xfrm>
          <a:prstGeom prst="rect">
            <a:avLst/>
          </a:prstGeom>
        </p:spPr>
      </p:pic>
      <p:sp>
        <p:nvSpPr>
          <p:cNvPr id="15" name="Google Shape;642;p53">
            <a:extLst>
              <a:ext uri="{FF2B5EF4-FFF2-40B4-BE49-F238E27FC236}">
                <a16:creationId xmlns:a16="http://schemas.microsoft.com/office/drawing/2014/main" id="{E518C65D-4E1D-97A1-7B8E-760B6B931BD2}"/>
              </a:ext>
            </a:extLst>
          </p:cNvPr>
          <p:cNvSpPr txBox="1"/>
          <p:nvPr/>
        </p:nvSpPr>
        <p:spPr>
          <a:xfrm>
            <a:off x="498663" y="2223448"/>
            <a:ext cx="11194673" cy="1706096"/>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Bấm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từng</a:t>
            </a:r>
            <a:r>
              <a:rPr lang="en-US" sz="1600" dirty="0">
                <a:latin typeface="Times New Roman" panose="02020603050405020304" pitchFamily="18" charset="0"/>
                <a:cs typeface="Times New Roman" panose="02020603050405020304" pitchFamily="18" charset="0"/>
                <a:sym typeface="Montserrat"/>
              </a:rPr>
              <a:t> column, ở </a:t>
            </a:r>
            <a:r>
              <a:rPr lang="en-US" sz="1600" dirty="0" err="1">
                <a:latin typeface="Times New Roman" panose="02020603050405020304" pitchFamily="18" charset="0"/>
                <a:cs typeface="Times New Roman" panose="02020603050405020304" pitchFamily="18" charset="0"/>
                <a:sym typeface="Montserrat"/>
              </a:rPr>
              <a:t>mục</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Data Type </a:t>
            </a:r>
            <a:r>
              <a:rPr lang="en-US" sz="1600" dirty="0" err="1">
                <a:latin typeface="Times New Roman" panose="02020603050405020304" pitchFamily="18" charset="0"/>
                <a:cs typeface="Times New Roman" panose="02020603050405020304" pitchFamily="18" charset="0"/>
                <a:sym typeface="Montserrat"/>
              </a:rPr>
              <a:t>kiểm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đổi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thành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dạng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dữ</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liệu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tương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ứng</a:t>
            </a:r>
            <a:r>
              <a:rPr lang="en-US" sz="1600" dirty="0">
                <a:latin typeface="Times New Roman" panose="02020603050405020304" pitchFamily="18" charset="0"/>
                <a:cs typeface="Times New Roman" panose="02020603050405020304" pitchFamily="18" charset="0"/>
                <a:sym typeface="Montserrat"/>
              </a:rPr>
              <a:t>:</a:t>
            </a: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customer_id</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total_children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num_children_at_home</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Whole numbers</a:t>
            </a: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customer_acct_num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first_name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last_name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customer_address</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customer_city</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customer_state_province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customer_postal_code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customer_country</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marital_status</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yearly_income</a:t>
            </a:r>
            <a:r>
              <a:rPr lang="en-US" sz="1600" dirty="0">
                <a:latin typeface="Times New Roman" panose="02020603050405020304" pitchFamily="18" charset="0"/>
                <a:cs typeface="Times New Roman" panose="02020603050405020304" pitchFamily="18" charset="0"/>
                <a:sym typeface="Montserrat"/>
              </a:rPr>
              <a:t>, gender, education, </a:t>
            </a:r>
            <a:r>
              <a:rPr lang="en-US" sz="1600" dirty="0" err="1">
                <a:latin typeface="Times New Roman" panose="02020603050405020304" pitchFamily="18" charset="0"/>
                <a:cs typeface="Times New Roman" panose="02020603050405020304" pitchFamily="18" charset="0"/>
                <a:sym typeface="Montserrat"/>
              </a:rPr>
              <a:t>member_card</a:t>
            </a:r>
            <a:r>
              <a:rPr lang="en-US" sz="1600" dirty="0">
                <a:latin typeface="Times New Roman" panose="02020603050405020304" pitchFamily="18" charset="0"/>
                <a:cs typeface="Times New Roman" panose="02020603050405020304" pitchFamily="18" charset="0"/>
                <a:sym typeface="Montserrat"/>
              </a:rPr>
              <a:t>, occupation, homeowner: </a:t>
            </a:r>
            <a:r>
              <a:rPr lang="en-US" sz="1600" b="1" dirty="0">
                <a:latin typeface="Times New Roman" panose="02020603050405020304" pitchFamily="18" charset="0"/>
                <a:cs typeface="Times New Roman" panose="02020603050405020304" pitchFamily="18" charset="0"/>
                <a:sym typeface="Montserrat"/>
              </a:rPr>
              <a:t>Text</a:t>
            </a:r>
          </a:p>
          <a:p>
            <a:pPr marL="285750" lvl="0" indent="-285750" algn="just">
              <a:lnSpc>
                <a:spcPct val="120000"/>
              </a:lnSpc>
              <a:buClr>
                <a:schemeClr val="dk1"/>
              </a:buClr>
              <a:buSzPts val="14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sym typeface="Montserrat"/>
              </a:rPr>
              <a:t>birthday, </a:t>
            </a:r>
            <a:r>
              <a:rPr lang="en-US" sz="1600" dirty="0" err="1">
                <a:latin typeface="Times New Roman" panose="02020603050405020304" pitchFamily="18" charset="0"/>
                <a:cs typeface="Times New Roman" panose="02020603050405020304" pitchFamily="18" charset="0"/>
                <a:sym typeface="Montserrat"/>
              </a:rPr>
              <a:t>acct_open_date</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Date</a:t>
            </a:r>
          </a:p>
        </p:txBody>
      </p:sp>
      <p:grpSp>
        <p:nvGrpSpPr>
          <p:cNvPr id="21" name="Group 20">
            <a:extLst>
              <a:ext uri="{FF2B5EF4-FFF2-40B4-BE49-F238E27FC236}">
                <a16:creationId xmlns:a16="http://schemas.microsoft.com/office/drawing/2014/main" id="{3ECF7F3A-EE8C-C7A7-277F-E05E248BA002}"/>
              </a:ext>
            </a:extLst>
          </p:cNvPr>
          <p:cNvGrpSpPr/>
          <p:nvPr/>
        </p:nvGrpSpPr>
        <p:grpSpPr>
          <a:xfrm>
            <a:off x="568959" y="3965325"/>
            <a:ext cx="11054080" cy="2087976"/>
            <a:chOff x="568959" y="3684768"/>
            <a:chExt cx="11054080" cy="2087976"/>
          </a:xfrm>
        </p:grpSpPr>
        <p:pic>
          <p:nvPicPr>
            <p:cNvPr id="9" name="Picture 8">
              <a:extLst>
                <a:ext uri="{FF2B5EF4-FFF2-40B4-BE49-F238E27FC236}">
                  <a16:creationId xmlns:a16="http://schemas.microsoft.com/office/drawing/2014/main" id="{9E404CC6-564D-DA44-C341-CD8DAD182039}"/>
                </a:ext>
              </a:extLst>
            </p:cNvPr>
            <p:cNvPicPr>
              <a:picLocks noChangeAspect="1"/>
            </p:cNvPicPr>
            <p:nvPr/>
          </p:nvPicPr>
          <p:blipFill>
            <a:blip r:embed="rId3"/>
            <a:stretch>
              <a:fillRect/>
            </a:stretch>
          </p:blipFill>
          <p:spPr>
            <a:xfrm>
              <a:off x="568959" y="3830947"/>
              <a:ext cx="11054080" cy="1575171"/>
            </a:xfrm>
            <a:prstGeom prst="rect">
              <a:avLst/>
            </a:prstGeom>
          </p:spPr>
        </p:pic>
        <p:sp>
          <p:nvSpPr>
            <p:cNvPr id="16" name="Rectangle 15">
              <a:extLst>
                <a:ext uri="{FF2B5EF4-FFF2-40B4-BE49-F238E27FC236}">
                  <a16:creationId xmlns:a16="http://schemas.microsoft.com/office/drawing/2014/main" id="{85975B24-91BA-2CCE-0E36-65DAED92B5AB}"/>
                </a:ext>
              </a:extLst>
            </p:cNvPr>
            <p:cNvSpPr/>
            <p:nvPr/>
          </p:nvSpPr>
          <p:spPr>
            <a:xfrm>
              <a:off x="2367280" y="5120640"/>
              <a:ext cx="1452880" cy="285478"/>
            </a:xfrm>
            <a:prstGeom prst="rect">
              <a:avLst/>
            </a:prstGeom>
            <a:noFill/>
            <a:ln w="19050"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7" name="Rectangle 16">
              <a:extLst>
                <a:ext uri="{FF2B5EF4-FFF2-40B4-BE49-F238E27FC236}">
                  <a16:creationId xmlns:a16="http://schemas.microsoft.com/office/drawing/2014/main" id="{2D515D22-C5EF-5C43-D102-24651DFE9341}"/>
                </a:ext>
              </a:extLst>
            </p:cNvPr>
            <p:cNvSpPr/>
            <p:nvPr/>
          </p:nvSpPr>
          <p:spPr>
            <a:xfrm>
              <a:off x="8341360" y="4030074"/>
              <a:ext cx="1320800" cy="196486"/>
            </a:xfrm>
            <a:prstGeom prst="rect">
              <a:avLst/>
            </a:prstGeom>
            <a:noFill/>
            <a:ln w="19050"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8" name="TextBox 17">
              <a:extLst>
                <a:ext uri="{FF2B5EF4-FFF2-40B4-BE49-F238E27FC236}">
                  <a16:creationId xmlns:a16="http://schemas.microsoft.com/office/drawing/2014/main" id="{5684D262-4C6B-98F0-4377-BA1566962FDB}"/>
                </a:ext>
              </a:extLst>
            </p:cNvPr>
            <p:cNvSpPr txBox="1"/>
            <p:nvPr/>
          </p:nvSpPr>
          <p:spPr>
            <a:xfrm>
              <a:off x="3512062" y="5403412"/>
              <a:ext cx="308098" cy="369332"/>
            </a:xfrm>
            <a:prstGeom prst="rect">
              <a:avLst/>
            </a:prstGeom>
            <a:noFill/>
          </p:spPr>
          <p:txBody>
            <a:bodyPr wrap="none" rtlCol="0">
              <a:spAutoFit/>
            </a:bodyPr>
            <a:lstStyle/>
            <a:p>
              <a:r>
                <a:rPr lang="en-US" dirty="0">
                  <a:solidFill>
                    <a:srgbClr val="0070C0"/>
                  </a:solidFill>
                  <a:latin typeface="Times New Roman" panose="02020603050405020304" pitchFamily="18" charset="0"/>
                  <a:cs typeface="Times New Roman" panose="02020603050405020304" pitchFamily="18" charset="0"/>
                </a:rPr>
                <a:t>1</a:t>
              </a:r>
            </a:p>
          </p:txBody>
        </p:sp>
        <p:sp>
          <p:nvSpPr>
            <p:cNvPr id="20" name="TextBox 19">
              <a:extLst>
                <a:ext uri="{FF2B5EF4-FFF2-40B4-BE49-F238E27FC236}">
                  <a16:creationId xmlns:a16="http://schemas.microsoft.com/office/drawing/2014/main" id="{BAB357EB-332C-1310-58A1-96E80C4E6673}"/>
                </a:ext>
              </a:extLst>
            </p:cNvPr>
            <p:cNvSpPr txBox="1"/>
            <p:nvPr/>
          </p:nvSpPr>
          <p:spPr>
            <a:xfrm>
              <a:off x="8847711" y="3684768"/>
              <a:ext cx="308098" cy="369332"/>
            </a:xfrm>
            <a:prstGeom prst="rect">
              <a:avLst/>
            </a:prstGeom>
            <a:noFill/>
          </p:spPr>
          <p:txBody>
            <a:bodyPr wrap="none" rtlCol="0">
              <a:spAutoFit/>
            </a:bodyPr>
            <a:lstStyle/>
            <a:p>
              <a:r>
                <a:rPr lang="en-US" dirty="0">
                  <a:solidFill>
                    <a:srgbClr val="0070C0"/>
                  </a:solidFill>
                  <a:latin typeface="Times New Roman" panose="02020603050405020304" pitchFamily="18" charset="0"/>
                  <a:cs typeface="Times New Roman" panose="02020603050405020304" pitchFamily="18" charset="0"/>
                </a:rPr>
                <a:t>2</a:t>
              </a:r>
            </a:p>
          </p:txBody>
        </p:sp>
      </p:grpSp>
      <p:sp>
        <p:nvSpPr>
          <p:cNvPr id="2" name="Rectangle 1">
            <a:extLst>
              <a:ext uri="{FF2B5EF4-FFF2-40B4-BE49-F238E27FC236}">
                <a16:creationId xmlns:a16="http://schemas.microsoft.com/office/drawing/2014/main" id="{FCEA65A5-B25C-74B4-B3D3-EA7B2A506209}"/>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443B1196-763D-52E4-461E-4746132C06BE}"/>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2. </a:t>
            </a:r>
            <a:r>
              <a:rPr lang="en-US" sz="2000" b="1" dirty="0" err="1">
                <a:solidFill>
                  <a:srgbClr val="113A71"/>
                </a:solidFill>
                <a:latin typeface="Times New Roman" panose="02020603050405020304" pitchFamily="18" charset="0"/>
                <a:cs typeface="Times New Roman" panose="02020603050405020304" pitchFamily="18" charset="0"/>
              </a:rPr>
              <a:t>Kết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nối</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và</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định</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dạng</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578215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68705-E0AD-728F-77DA-B933F08B1626}"/>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9203B0BC-56CB-067F-6EB2-01ADF969C6EA}"/>
              </a:ext>
            </a:extLst>
          </p:cNvPr>
          <p:cNvSpPr txBox="1"/>
          <p:nvPr/>
        </p:nvSpPr>
        <p:spPr>
          <a:xfrm>
            <a:off x="357248" y="832480"/>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4" name="Google Shape;642;p53">
            <a:extLst>
              <a:ext uri="{FF2B5EF4-FFF2-40B4-BE49-F238E27FC236}">
                <a16:creationId xmlns:a16="http://schemas.microsoft.com/office/drawing/2014/main" id="{26139A1A-E7F7-3713-43D7-39B311D31F61}"/>
              </a:ext>
            </a:extLst>
          </p:cNvPr>
          <p:cNvSpPr txBox="1"/>
          <p:nvPr/>
        </p:nvSpPr>
        <p:spPr>
          <a:xfrm>
            <a:off x="385849" y="1743609"/>
            <a:ext cx="8713525"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pic>
        <p:nvPicPr>
          <p:cNvPr id="9" name="Picture 8">
            <a:extLst>
              <a:ext uri="{FF2B5EF4-FFF2-40B4-BE49-F238E27FC236}">
                <a16:creationId xmlns:a16="http://schemas.microsoft.com/office/drawing/2014/main" id="{8D001804-1B45-0062-445B-3A2BA2681013}"/>
              </a:ext>
            </a:extLst>
          </p:cNvPr>
          <p:cNvPicPr>
            <a:picLocks noChangeAspect="1"/>
          </p:cNvPicPr>
          <p:nvPr/>
        </p:nvPicPr>
        <p:blipFill>
          <a:blip r:embed="rId2"/>
          <a:stretch>
            <a:fillRect/>
          </a:stretch>
        </p:blipFill>
        <p:spPr>
          <a:xfrm>
            <a:off x="1485236" y="1027604"/>
            <a:ext cx="8713525" cy="528856"/>
          </a:xfrm>
          <a:prstGeom prst="rect">
            <a:avLst/>
          </a:prstGeom>
        </p:spPr>
      </p:pic>
      <p:sp>
        <p:nvSpPr>
          <p:cNvPr id="10" name="Google Shape;642;p53">
            <a:extLst>
              <a:ext uri="{FF2B5EF4-FFF2-40B4-BE49-F238E27FC236}">
                <a16:creationId xmlns:a16="http://schemas.microsoft.com/office/drawing/2014/main" id="{C7F21F8B-5977-744E-2CC8-DC974614F496}"/>
              </a:ext>
            </a:extLst>
          </p:cNvPr>
          <p:cNvSpPr txBox="1"/>
          <p:nvPr/>
        </p:nvSpPr>
        <p:spPr>
          <a:xfrm>
            <a:off x="498663" y="2141833"/>
            <a:ext cx="8713525" cy="390249"/>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a:solidFill>
                  <a:srgbClr val="119303"/>
                </a:solidFill>
                <a:latin typeface="Times New Roman" panose="02020603050405020304" pitchFamily="18" charset="0"/>
                <a:cs typeface="Times New Roman" panose="02020603050405020304" pitchFamily="18" charset="0"/>
                <a:sym typeface="Montserrat"/>
              </a:rPr>
              <a:t>Connect </a:t>
            </a:r>
            <a:r>
              <a:rPr lang="en-US" sz="1600" dirty="0" err="1">
                <a:solidFill>
                  <a:srgbClr val="119303"/>
                </a:solidFill>
                <a:latin typeface="Times New Roman" panose="02020603050405020304" pitchFamily="18" charset="0"/>
                <a:cs typeface="Times New Roman" panose="02020603050405020304" pitchFamily="18" charset="0"/>
                <a:sym typeface="Montserrat"/>
              </a:rPr>
              <a:t>tới</a:t>
            </a:r>
            <a:r>
              <a:rPr lang="en-US" sz="1600" dirty="0">
                <a:solidFill>
                  <a:srgbClr val="119303"/>
                </a:solidFill>
                <a:latin typeface="Times New Roman" panose="02020603050405020304" pitchFamily="18" charset="0"/>
                <a:cs typeface="Times New Roman" panose="02020603050405020304" pitchFamily="18" charset="0"/>
                <a:sym typeface="Montserrat"/>
              </a:rPr>
              <a:t> file </a:t>
            </a:r>
            <a:r>
              <a:rPr lang="en-US" sz="1600" b="1" i="1" dirty="0" err="1">
                <a:solidFill>
                  <a:srgbClr val="119303"/>
                </a:solidFill>
                <a:latin typeface="Times New Roman" panose="02020603050405020304" pitchFamily="18" charset="0"/>
                <a:cs typeface="Times New Roman" panose="02020603050405020304" pitchFamily="18" charset="0"/>
                <a:sym typeface="Montserrat"/>
              </a:rPr>
              <a:t>MavenMarket_Products</a:t>
            </a:r>
            <a:r>
              <a:rPr lang="en-US" sz="1600" b="1" i="1"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và</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đổi</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tên</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bảng</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thành</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b="1" i="1" dirty="0">
                <a:solidFill>
                  <a:srgbClr val="119303"/>
                </a:solidFill>
                <a:latin typeface="Times New Roman" panose="02020603050405020304" pitchFamily="18" charset="0"/>
                <a:cs typeface="Times New Roman" panose="02020603050405020304" pitchFamily="18" charset="0"/>
                <a:sym typeface="Montserrat"/>
              </a:rPr>
              <a:t>Products</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như</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hướng</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dẫn</a:t>
            </a:r>
            <a:r>
              <a:rPr lang="en-US" sz="1600" dirty="0">
                <a:solidFill>
                  <a:srgbClr val="119303"/>
                </a:solidFill>
                <a:latin typeface="Times New Roman" panose="02020603050405020304" pitchFamily="18" charset="0"/>
                <a:cs typeface="Times New Roman" panose="02020603050405020304" pitchFamily="18" charset="0"/>
                <a:sym typeface="Montserrat"/>
              </a:rPr>
              <a:t> ở </a:t>
            </a:r>
            <a:r>
              <a:rPr lang="en-US" sz="1600" dirty="0" err="1">
                <a:solidFill>
                  <a:srgbClr val="119303"/>
                </a:solidFill>
                <a:latin typeface="Times New Roman" panose="02020603050405020304" pitchFamily="18" charset="0"/>
                <a:cs typeface="Times New Roman" panose="02020603050405020304" pitchFamily="18" charset="0"/>
                <a:sym typeface="Montserrat"/>
              </a:rPr>
              <a:t>trang</a:t>
            </a:r>
            <a:r>
              <a:rPr lang="en-US" sz="1600" dirty="0">
                <a:solidFill>
                  <a:srgbClr val="119303"/>
                </a:solidFill>
                <a:latin typeface="Times New Roman" panose="02020603050405020304" pitchFamily="18" charset="0"/>
                <a:cs typeface="Times New Roman" panose="02020603050405020304" pitchFamily="18" charset="0"/>
                <a:sym typeface="Montserrat"/>
              </a:rPr>
              <a:t> 5.</a:t>
            </a:r>
            <a:endParaRPr lang="en-US" sz="1600" b="1" dirty="0">
              <a:solidFill>
                <a:srgbClr val="119303"/>
              </a:solidFill>
              <a:latin typeface="Times New Roman" panose="02020603050405020304" pitchFamily="18" charset="0"/>
              <a:cs typeface="Times New Roman" panose="02020603050405020304" pitchFamily="18" charset="0"/>
              <a:sym typeface="Montserrat"/>
            </a:endParaRPr>
          </a:p>
        </p:txBody>
      </p:sp>
      <p:sp>
        <p:nvSpPr>
          <p:cNvPr id="12" name="Google Shape;642;p53">
            <a:extLst>
              <a:ext uri="{FF2B5EF4-FFF2-40B4-BE49-F238E27FC236}">
                <a16:creationId xmlns:a16="http://schemas.microsoft.com/office/drawing/2014/main" id="{FAF05D51-A2A2-4ADD-C2DE-F016929866A7}"/>
              </a:ext>
            </a:extLst>
          </p:cNvPr>
          <p:cNvSpPr txBox="1"/>
          <p:nvPr/>
        </p:nvSpPr>
        <p:spPr>
          <a:xfrm>
            <a:off x="498663" y="2532082"/>
            <a:ext cx="11194673" cy="1296791"/>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Bấm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từng</a:t>
            </a:r>
            <a:r>
              <a:rPr lang="en-US" sz="1600" dirty="0">
                <a:latin typeface="Times New Roman" panose="02020603050405020304" pitchFamily="18" charset="0"/>
                <a:cs typeface="Times New Roman" panose="02020603050405020304" pitchFamily="18" charset="0"/>
                <a:sym typeface="Montserrat"/>
              </a:rPr>
              <a:t> column, ở </a:t>
            </a:r>
            <a:r>
              <a:rPr lang="en-US" sz="1600" dirty="0" err="1">
                <a:latin typeface="Times New Roman" panose="02020603050405020304" pitchFamily="18" charset="0"/>
                <a:cs typeface="Times New Roman" panose="02020603050405020304" pitchFamily="18" charset="0"/>
                <a:sym typeface="Montserrat"/>
              </a:rPr>
              <a:t>mục</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Data Type </a:t>
            </a:r>
            <a:r>
              <a:rPr lang="en-US" sz="1600" dirty="0" err="1">
                <a:latin typeface="Times New Roman" panose="02020603050405020304" pitchFamily="18" charset="0"/>
                <a:cs typeface="Times New Roman" panose="02020603050405020304" pitchFamily="18" charset="0"/>
                <a:sym typeface="Montserrat"/>
              </a:rPr>
              <a:t>kiểm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đổi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thành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dạng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dữ</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liệu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tương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ứng</a:t>
            </a:r>
            <a:r>
              <a:rPr lang="en-US" sz="1600" dirty="0">
                <a:latin typeface="Times New Roman" panose="02020603050405020304" pitchFamily="18" charset="0"/>
                <a:cs typeface="Times New Roman" panose="02020603050405020304" pitchFamily="18" charset="0"/>
                <a:sym typeface="Montserrat"/>
              </a:rPr>
              <a:t>:</a:t>
            </a: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product_id</a:t>
            </a:r>
            <a:r>
              <a:rPr lang="en-US" sz="1600" dirty="0">
                <a:latin typeface="Times New Roman" panose="02020603050405020304" pitchFamily="18" charset="0"/>
                <a:cs typeface="Times New Roman" panose="02020603050405020304" pitchFamily="18" charset="0"/>
                <a:sym typeface="Montserrat"/>
              </a:rPr>
              <a:t>, recyclable, </a:t>
            </a:r>
            <a:r>
              <a:rPr lang="en-US" sz="1600" dirty="0" err="1">
                <a:latin typeface="Times New Roman" panose="02020603050405020304" pitchFamily="18" charset="0"/>
                <a:cs typeface="Times New Roman" panose="02020603050405020304" pitchFamily="18" charset="0"/>
                <a:sym typeface="Montserrat"/>
              </a:rPr>
              <a:t>low_fat</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Whole numbers</a:t>
            </a: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product_brand</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product_name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product_sku</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Text</a:t>
            </a: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product_retail_price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product_cost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product_weight</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Decimal numbers</a:t>
            </a:r>
          </a:p>
        </p:txBody>
      </p:sp>
      <p:grpSp>
        <p:nvGrpSpPr>
          <p:cNvPr id="23" name="Group 22">
            <a:extLst>
              <a:ext uri="{FF2B5EF4-FFF2-40B4-BE49-F238E27FC236}">
                <a16:creationId xmlns:a16="http://schemas.microsoft.com/office/drawing/2014/main" id="{C197BD11-FEA7-22A4-F239-19FDCB69EB65}"/>
              </a:ext>
            </a:extLst>
          </p:cNvPr>
          <p:cNvGrpSpPr/>
          <p:nvPr/>
        </p:nvGrpSpPr>
        <p:grpSpPr>
          <a:xfrm>
            <a:off x="0" y="3895076"/>
            <a:ext cx="12192000" cy="2153133"/>
            <a:chOff x="-2" y="3952431"/>
            <a:chExt cx="12192000" cy="2153133"/>
          </a:xfrm>
        </p:grpSpPr>
        <p:pic>
          <p:nvPicPr>
            <p:cNvPr id="16" name="Picture 15">
              <a:extLst>
                <a:ext uri="{FF2B5EF4-FFF2-40B4-BE49-F238E27FC236}">
                  <a16:creationId xmlns:a16="http://schemas.microsoft.com/office/drawing/2014/main" id="{E6AB848E-DB58-799D-C6FB-864A630274E4}"/>
                </a:ext>
              </a:extLst>
            </p:cNvPr>
            <p:cNvPicPr>
              <a:picLocks noChangeAspect="1"/>
            </p:cNvPicPr>
            <p:nvPr/>
          </p:nvPicPr>
          <p:blipFill>
            <a:blip r:embed="rId3"/>
            <a:stretch>
              <a:fillRect/>
            </a:stretch>
          </p:blipFill>
          <p:spPr>
            <a:xfrm>
              <a:off x="-2" y="4003184"/>
              <a:ext cx="12192000" cy="1774785"/>
            </a:xfrm>
            <a:prstGeom prst="rect">
              <a:avLst/>
            </a:prstGeom>
          </p:spPr>
        </p:pic>
        <p:sp>
          <p:nvSpPr>
            <p:cNvPr id="17" name="Rectangle 16">
              <a:extLst>
                <a:ext uri="{FF2B5EF4-FFF2-40B4-BE49-F238E27FC236}">
                  <a16:creationId xmlns:a16="http://schemas.microsoft.com/office/drawing/2014/main" id="{3A97B1E8-3EC2-4A31-A1FB-85706DE033B5}"/>
                </a:ext>
              </a:extLst>
            </p:cNvPr>
            <p:cNvSpPr/>
            <p:nvPr/>
          </p:nvSpPr>
          <p:spPr>
            <a:xfrm>
              <a:off x="2021840" y="5497831"/>
              <a:ext cx="1598905" cy="297180"/>
            </a:xfrm>
            <a:prstGeom prst="rect">
              <a:avLst/>
            </a:prstGeom>
            <a:noFill/>
            <a:ln w="1905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2F44AC0B-BBE2-B132-6B53-1F4980753329}"/>
                </a:ext>
              </a:extLst>
            </p:cNvPr>
            <p:cNvSpPr/>
            <p:nvPr/>
          </p:nvSpPr>
          <p:spPr>
            <a:xfrm>
              <a:off x="8625840" y="4271010"/>
              <a:ext cx="1375410" cy="194310"/>
            </a:xfrm>
            <a:prstGeom prst="rect">
              <a:avLst/>
            </a:prstGeom>
            <a:noFill/>
            <a:ln w="1905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21" name="TextBox 20">
              <a:extLst>
                <a:ext uri="{FF2B5EF4-FFF2-40B4-BE49-F238E27FC236}">
                  <a16:creationId xmlns:a16="http://schemas.microsoft.com/office/drawing/2014/main" id="{148724EE-7E4A-3D58-58D4-A6ED0876C4A0}"/>
                </a:ext>
              </a:extLst>
            </p:cNvPr>
            <p:cNvSpPr txBox="1"/>
            <p:nvPr/>
          </p:nvSpPr>
          <p:spPr>
            <a:xfrm>
              <a:off x="2667243" y="5736232"/>
              <a:ext cx="308098" cy="369332"/>
            </a:xfrm>
            <a:prstGeom prst="rect">
              <a:avLst/>
            </a:prstGeom>
            <a:noFill/>
          </p:spPr>
          <p:txBody>
            <a:bodyPr wrap="none" rtlCol="0">
              <a:spAutoFit/>
            </a:bodyPr>
            <a:lstStyle/>
            <a:p>
              <a:r>
                <a:rPr lang="en-US" dirty="0">
                  <a:solidFill>
                    <a:srgbClr val="00B0F0"/>
                  </a:solidFill>
                  <a:latin typeface="Times New Roman" panose="02020603050405020304" pitchFamily="18" charset="0"/>
                  <a:cs typeface="Times New Roman" panose="02020603050405020304" pitchFamily="18" charset="0"/>
                </a:rPr>
                <a:t>1</a:t>
              </a:r>
            </a:p>
          </p:txBody>
        </p:sp>
        <p:sp>
          <p:nvSpPr>
            <p:cNvPr id="22" name="TextBox 21">
              <a:extLst>
                <a:ext uri="{FF2B5EF4-FFF2-40B4-BE49-F238E27FC236}">
                  <a16:creationId xmlns:a16="http://schemas.microsoft.com/office/drawing/2014/main" id="{FE165A1F-488C-361F-C8B7-C283488BD0C9}"/>
                </a:ext>
              </a:extLst>
            </p:cNvPr>
            <p:cNvSpPr txBox="1"/>
            <p:nvPr/>
          </p:nvSpPr>
          <p:spPr>
            <a:xfrm>
              <a:off x="9058139" y="3952431"/>
              <a:ext cx="308098" cy="369332"/>
            </a:xfrm>
            <a:prstGeom prst="rect">
              <a:avLst/>
            </a:prstGeom>
            <a:noFill/>
          </p:spPr>
          <p:txBody>
            <a:bodyPr wrap="none" rtlCol="0">
              <a:spAutoFit/>
            </a:bodyPr>
            <a:lstStyle/>
            <a:p>
              <a:r>
                <a:rPr lang="en-US" dirty="0">
                  <a:solidFill>
                    <a:srgbClr val="00B0F0"/>
                  </a:solidFill>
                  <a:latin typeface="Times New Roman" panose="02020603050405020304" pitchFamily="18" charset="0"/>
                  <a:cs typeface="Times New Roman" panose="02020603050405020304" pitchFamily="18" charset="0"/>
                </a:rPr>
                <a:t>2</a:t>
              </a:r>
            </a:p>
          </p:txBody>
        </p:sp>
      </p:grpSp>
      <p:sp>
        <p:nvSpPr>
          <p:cNvPr id="5" name="Rectangle 4">
            <a:extLst>
              <a:ext uri="{FF2B5EF4-FFF2-40B4-BE49-F238E27FC236}">
                <a16:creationId xmlns:a16="http://schemas.microsoft.com/office/drawing/2014/main" id="{A2C0976E-050A-2EC1-D875-8D3BA36E4AE4}"/>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B08FED9D-9C25-6289-09F3-C6A1273128B5}"/>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2. </a:t>
            </a:r>
            <a:r>
              <a:rPr lang="en-US" sz="2000" b="1" dirty="0" err="1">
                <a:solidFill>
                  <a:srgbClr val="113A71"/>
                </a:solidFill>
                <a:latin typeface="Times New Roman" panose="02020603050405020304" pitchFamily="18" charset="0"/>
                <a:cs typeface="Times New Roman" panose="02020603050405020304" pitchFamily="18" charset="0"/>
              </a:rPr>
              <a:t>Kết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nối</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và</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định</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dạng</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658589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5EB7C-8383-CD43-06BD-5A31DE26D568}"/>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E7D63117-3050-36B8-EBB5-3048F6D32481}"/>
              </a:ext>
            </a:extLst>
          </p:cNvPr>
          <p:cNvSpPr txBox="1"/>
          <p:nvPr/>
        </p:nvSpPr>
        <p:spPr>
          <a:xfrm>
            <a:off x="357248" y="790916"/>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4" name="Google Shape;642;p53">
            <a:extLst>
              <a:ext uri="{FF2B5EF4-FFF2-40B4-BE49-F238E27FC236}">
                <a16:creationId xmlns:a16="http://schemas.microsoft.com/office/drawing/2014/main" id="{392D9EC3-A647-06D6-150B-C06EA101668B}"/>
              </a:ext>
            </a:extLst>
          </p:cNvPr>
          <p:cNvSpPr txBox="1"/>
          <p:nvPr/>
        </p:nvSpPr>
        <p:spPr>
          <a:xfrm>
            <a:off x="357248" y="1631021"/>
            <a:ext cx="8713525"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sp>
        <p:nvSpPr>
          <p:cNvPr id="3" name="Google Shape;642;p53">
            <a:extLst>
              <a:ext uri="{FF2B5EF4-FFF2-40B4-BE49-F238E27FC236}">
                <a16:creationId xmlns:a16="http://schemas.microsoft.com/office/drawing/2014/main" id="{FCAA669D-B884-65C1-7B3A-9B6C1F206D5C}"/>
              </a:ext>
            </a:extLst>
          </p:cNvPr>
          <p:cNvSpPr txBox="1"/>
          <p:nvPr/>
        </p:nvSpPr>
        <p:spPr>
          <a:xfrm>
            <a:off x="508823" y="2021270"/>
            <a:ext cx="8713525" cy="390249"/>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a:solidFill>
                  <a:srgbClr val="119303"/>
                </a:solidFill>
                <a:latin typeface="Times New Roman" panose="02020603050405020304" pitchFamily="18" charset="0"/>
                <a:cs typeface="Times New Roman" panose="02020603050405020304" pitchFamily="18" charset="0"/>
                <a:sym typeface="Montserrat"/>
              </a:rPr>
              <a:t>Connect </a:t>
            </a:r>
            <a:r>
              <a:rPr lang="en-US" sz="1600" dirty="0" err="1">
                <a:solidFill>
                  <a:srgbClr val="119303"/>
                </a:solidFill>
                <a:latin typeface="Times New Roman" panose="02020603050405020304" pitchFamily="18" charset="0"/>
                <a:cs typeface="Times New Roman" panose="02020603050405020304" pitchFamily="18" charset="0"/>
                <a:sym typeface="Montserrat"/>
              </a:rPr>
              <a:t>tới</a:t>
            </a:r>
            <a:r>
              <a:rPr lang="en-US" sz="1600" dirty="0">
                <a:solidFill>
                  <a:srgbClr val="119303"/>
                </a:solidFill>
                <a:latin typeface="Times New Roman" panose="02020603050405020304" pitchFamily="18" charset="0"/>
                <a:cs typeface="Times New Roman" panose="02020603050405020304" pitchFamily="18" charset="0"/>
                <a:sym typeface="Montserrat"/>
              </a:rPr>
              <a:t> file </a:t>
            </a:r>
            <a:r>
              <a:rPr lang="en-US" sz="1600" b="1" i="1" dirty="0" err="1">
                <a:solidFill>
                  <a:srgbClr val="119303"/>
                </a:solidFill>
                <a:latin typeface="Times New Roman" panose="02020603050405020304" pitchFamily="18" charset="0"/>
                <a:cs typeface="Times New Roman" panose="02020603050405020304" pitchFamily="18" charset="0"/>
                <a:sym typeface="Montserrat"/>
              </a:rPr>
              <a:t>MavenMarket_Stores</a:t>
            </a:r>
            <a:r>
              <a:rPr lang="en-US" sz="1600" b="1" i="1"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và</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đổi</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tên</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bảng</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thành</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b="1" i="1" dirty="0">
                <a:solidFill>
                  <a:srgbClr val="119303"/>
                </a:solidFill>
                <a:latin typeface="Times New Roman" panose="02020603050405020304" pitchFamily="18" charset="0"/>
                <a:cs typeface="Times New Roman" panose="02020603050405020304" pitchFamily="18" charset="0"/>
                <a:sym typeface="Montserrat"/>
              </a:rPr>
              <a:t>Stores</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như</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hướng</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dẫn</a:t>
            </a:r>
            <a:r>
              <a:rPr lang="en-US" sz="1600" dirty="0">
                <a:solidFill>
                  <a:srgbClr val="119303"/>
                </a:solidFill>
                <a:latin typeface="Times New Roman" panose="02020603050405020304" pitchFamily="18" charset="0"/>
                <a:cs typeface="Times New Roman" panose="02020603050405020304" pitchFamily="18" charset="0"/>
                <a:sym typeface="Montserrat"/>
              </a:rPr>
              <a:t> ở </a:t>
            </a:r>
            <a:r>
              <a:rPr lang="en-US" sz="1600" dirty="0" err="1">
                <a:solidFill>
                  <a:srgbClr val="119303"/>
                </a:solidFill>
                <a:latin typeface="Times New Roman" panose="02020603050405020304" pitchFamily="18" charset="0"/>
                <a:cs typeface="Times New Roman" panose="02020603050405020304" pitchFamily="18" charset="0"/>
                <a:sym typeface="Montserrat"/>
              </a:rPr>
              <a:t>trang</a:t>
            </a:r>
            <a:r>
              <a:rPr lang="en-US" sz="1600" dirty="0">
                <a:solidFill>
                  <a:srgbClr val="119303"/>
                </a:solidFill>
                <a:latin typeface="Times New Roman" panose="02020603050405020304" pitchFamily="18" charset="0"/>
                <a:cs typeface="Times New Roman" panose="02020603050405020304" pitchFamily="18" charset="0"/>
                <a:sym typeface="Montserrat"/>
              </a:rPr>
              <a:t> 5.</a:t>
            </a:r>
            <a:endParaRPr lang="en-US" sz="1600" b="1" dirty="0">
              <a:solidFill>
                <a:srgbClr val="119303"/>
              </a:solidFill>
              <a:latin typeface="Times New Roman" panose="02020603050405020304" pitchFamily="18" charset="0"/>
              <a:cs typeface="Times New Roman" panose="02020603050405020304" pitchFamily="18" charset="0"/>
              <a:sym typeface="Montserrat"/>
            </a:endParaRPr>
          </a:p>
        </p:txBody>
      </p:sp>
      <p:pic>
        <p:nvPicPr>
          <p:cNvPr id="6" name="Picture 5">
            <a:extLst>
              <a:ext uri="{FF2B5EF4-FFF2-40B4-BE49-F238E27FC236}">
                <a16:creationId xmlns:a16="http://schemas.microsoft.com/office/drawing/2014/main" id="{5405AA7B-F1BB-7448-C411-A573D6B2CFE6}"/>
              </a:ext>
            </a:extLst>
          </p:cNvPr>
          <p:cNvPicPr>
            <a:picLocks noChangeAspect="1"/>
          </p:cNvPicPr>
          <p:nvPr/>
        </p:nvPicPr>
        <p:blipFill>
          <a:blip r:embed="rId3"/>
          <a:stretch>
            <a:fillRect/>
          </a:stretch>
        </p:blipFill>
        <p:spPr>
          <a:xfrm>
            <a:off x="1739237" y="979966"/>
            <a:ext cx="8713526" cy="621778"/>
          </a:xfrm>
          <a:prstGeom prst="rect">
            <a:avLst/>
          </a:prstGeom>
        </p:spPr>
      </p:pic>
      <p:sp>
        <p:nvSpPr>
          <p:cNvPr id="7" name="Google Shape;642;p53">
            <a:extLst>
              <a:ext uri="{FF2B5EF4-FFF2-40B4-BE49-F238E27FC236}">
                <a16:creationId xmlns:a16="http://schemas.microsoft.com/office/drawing/2014/main" id="{8D7737B4-1C68-647A-A1C1-EE2F77C0BE8A}"/>
              </a:ext>
            </a:extLst>
          </p:cNvPr>
          <p:cNvSpPr txBox="1"/>
          <p:nvPr/>
        </p:nvSpPr>
        <p:spPr>
          <a:xfrm>
            <a:off x="488504" y="2411519"/>
            <a:ext cx="11194673" cy="1296791"/>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Bấm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từng</a:t>
            </a:r>
            <a:r>
              <a:rPr lang="en-US" sz="1600" dirty="0">
                <a:latin typeface="Times New Roman" panose="02020603050405020304" pitchFamily="18" charset="0"/>
                <a:cs typeface="Times New Roman" panose="02020603050405020304" pitchFamily="18" charset="0"/>
                <a:sym typeface="Montserrat"/>
              </a:rPr>
              <a:t> column, ở </a:t>
            </a:r>
            <a:r>
              <a:rPr lang="en-US" sz="1600" dirty="0" err="1">
                <a:latin typeface="Times New Roman" panose="02020603050405020304" pitchFamily="18" charset="0"/>
                <a:cs typeface="Times New Roman" panose="02020603050405020304" pitchFamily="18" charset="0"/>
                <a:sym typeface="Montserrat"/>
              </a:rPr>
              <a:t>mục</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Data Type </a:t>
            </a:r>
            <a:r>
              <a:rPr lang="en-US" sz="1600" dirty="0" err="1">
                <a:latin typeface="Times New Roman" panose="02020603050405020304" pitchFamily="18" charset="0"/>
                <a:cs typeface="Times New Roman" panose="02020603050405020304" pitchFamily="18" charset="0"/>
                <a:sym typeface="Montserrat"/>
              </a:rPr>
              <a:t>kiểm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đổi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thành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dạng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dữ</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liệu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tương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ứng</a:t>
            </a:r>
            <a:r>
              <a:rPr lang="en-US" sz="1600" dirty="0">
                <a:latin typeface="Times New Roman" panose="02020603050405020304" pitchFamily="18" charset="0"/>
                <a:cs typeface="Times New Roman" panose="02020603050405020304" pitchFamily="18" charset="0"/>
                <a:sym typeface="Montserrat"/>
              </a:rPr>
              <a:t>:</a:t>
            </a: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store_id</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region_id</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total_sqft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grocery_sqft</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Whole numbers</a:t>
            </a: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store_type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store_name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store_street_address</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store_city</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store_state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store_country</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store_phone</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Text</a:t>
            </a: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first_opened_date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last_remodel_date</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Date</a:t>
            </a:r>
          </a:p>
        </p:txBody>
      </p:sp>
      <p:grpSp>
        <p:nvGrpSpPr>
          <p:cNvPr id="23" name="Group 22">
            <a:extLst>
              <a:ext uri="{FF2B5EF4-FFF2-40B4-BE49-F238E27FC236}">
                <a16:creationId xmlns:a16="http://schemas.microsoft.com/office/drawing/2014/main" id="{7BF7517D-99CD-BA4A-56B6-8B64F9964883}"/>
              </a:ext>
            </a:extLst>
          </p:cNvPr>
          <p:cNvGrpSpPr/>
          <p:nvPr/>
        </p:nvGrpSpPr>
        <p:grpSpPr>
          <a:xfrm>
            <a:off x="0" y="3880855"/>
            <a:ext cx="12192000" cy="1863364"/>
            <a:chOff x="0" y="3643248"/>
            <a:chExt cx="12192000" cy="1863364"/>
          </a:xfrm>
        </p:grpSpPr>
        <p:pic>
          <p:nvPicPr>
            <p:cNvPr id="17" name="Picture 16">
              <a:extLst>
                <a:ext uri="{FF2B5EF4-FFF2-40B4-BE49-F238E27FC236}">
                  <a16:creationId xmlns:a16="http://schemas.microsoft.com/office/drawing/2014/main" id="{1C0710C1-D088-CBFB-57D0-12AA3761F93B}"/>
                </a:ext>
              </a:extLst>
            </p:cNvPr>
            <p:cNvPicPr>
              <a:picLocks noChangeAspect="1"/>
            </p:cNvPicPr>
            <p:nvPr/>
          </p:nvPicPr>
          <p:blipFill>
            <a:blip r:embed="rId4"/>
            <a:stretch>
              <a:fillRect/>
            </a:stretch>
          </p:blipFill>
          <p:spPr>
            <a:xfrm>
              <a:off x="0" y="3740573"/>
              <a:ext cx="12192000" cy="1455380"/>
            </a:xfrm>
            <a:prstGeom prst="rect">
              <a:avLst/>
            </a:prstGeom>
          </p:spPr>
        </p:pic>
        <p:sp>
          <p:nvSpPr>
            <p:cNvPr id="18" name="Rectangle 17">
              <a:extLst>
                <a:ext uri="{FF2B5EF4-FFF2-40B4-BE49-F238E27FC236}">
                  <a16:creationId xmlns:a16="http://schemas.microsoft.com/office/drawing/2014/main" id="{D12211BD-2C6C-885B-5861-B8A030FD1F0C}"/>
                </a:ext>
              </a:extLst>
            </p:cNvPr>
            <p:cNvSpPr/>
            <p:nvPr/>
          </p:nvSpPr>
          <p:spPr>
            <a:xfrm>
              <a:off x="1666243" y="4970927"/>
              <a:ext cx="1316988" cy="256393"/>
            </a:xfrm>
            <a:prstGeom prst="rect">
              <a:avLst/>
            </a:prstGeom>
            <a:noFill/>
            <a:ln w="1905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0F0AE49A-A02A-1F93-3B51-03C8DD613E9D}"/>
                </a:ext>
              </a:extLst>
            </p:cNvPr>
            <p:cNvSpPr/>
            <p:nvPr/>
          </p:nvSpPr>
          <p:spPr>
            <a:xfrm>
              <a:off x="7136130" y="3958589"/>
              <a:ext cx="1136142" cy="172233"/>
            </a:xfrm>
            <a:prstGeom prst="rect">
              <a:avLst/>
            </a:prstGeom>
            <a:noFill/>
            <a:ln w="1905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21" name="TextBox 20">
              <a:extLst>
                <a:ext uri="{FF2B5EF4-FFF2-40B4-BE49-F238E27FC236}">
                  <a16:creationId xmlns:a16="http://schemas.microsoft.com/office/drawing/2014/main" id="{66EE56BA-8B6B-C47A-C38C-BC9D13F135F3}"/>
                </a:ext>
              </a:extLst>
            </p:cNvPr>
            <p:cNvSpPr txBox="1"/>
            <p:nvPr/>
          </p:nvSpPr>
          <p:spPr>
            <a:xfrm>
              <a:off x="2170688" y="5137280"/>
              <a:ext cx="308098" cy="369332"/>
            </a:xfrm>
            <a:prstGeom prst="rect">
              <a:avLst/>
            </a:prstGeom>
            <a:noFill/>
          </p:spPr>
          <p:txBody>
            <a:bodyPr wrap="none" rtlCol="0">
              <a:spAutoFit/>
            </a:bodyPr>
            <a:lstStyle/>
            <a:p>
              <a:r>
                <a:rPr lang="en-US" dirty="0">
                  <a:solidFill>
                    <a:srgbClr val="00B0F0"/>
                  </a:solidFill>
                  <a:latin typeface="Times New Roman" panose="02020603050405020304" pitchFamily="18" charset="0"/>
                  <a:cs typeface="Times New Roman" panose="02020603050405020304" pitchFamily="18" charset="0"/>
                </a:rPr>
                <a:t>1</a:t>
              </a:r>
            </a:p>
          </p:txBody>
        </p:sp>
        <p:sp>
          <p:nvSpPr>
            <p:cNvPr id="22" name="TextBox 21">
              <a:extLst>
                <a:ext uri="{FF2B5EF4-FFF2-40B4-BE49-F238E27FC236}">
                  <a16:creationId xmlns:a16="http://schemas.microsoft.com/office/drawing/2014/main" id="{FD155153-34CD-DF19-35A4-086C732D2F38}"/>
                </a:ext>
              </a:extLst>
            </p:cNvPr>
            <p:cNvSpPr txBox="1"/>
            <p:nvPr/>
          </p:nvSpPr>
          <p:spPr>
            <a:xfrm>
              <a:off x="7554160" y="3643248"/>
              <a:ext cx="300082" cy="369332"/>
            </a:xfrm>
            <a:prstGeom prst="rect">
              <a:avLst/>
            </a:prstGeom>
            <a:noFill/>
          </p:spPr>
          <p:txBody>
            <a:bodyPr wrap="square" rtlCol="0">
              <a:spAutoFit/>
            </a:bodyPr>
            <a:lstStyle/>
            <a:p>
              <a:r>
                <a:rPr lang="en-US" dirty="0">
                  <a:solidFill>
                    <a:srgbClr val="00B0F0"/>
                  </a:solidFill>
                  <a:latin typeface="Times New Roman" panose="02020603050405020304" pitchFamily="18" charset="0"/>
                  <a:cs typeface="Times New Roman" panose="02020603050405020304" pitchFamily="18" charset="0"/>
                </a:rPr>
                <a:t>2</a:t>
              </a:r>
            </a:p>
          </p:txBody>
        </p:sp>
      </p:grpSp>
      <p:sp>
        <p:nvSpPr>
          <p:cNvPr id="2" name="Rectangle 1">
            <a:extLst>
              <a:ext uri="{FF2B5EF4-FFF2-40B4-BE49-F238E27FC236}">
                <a16:creationId xmlns:a16="http://schemas.microsoft.com/office/drawing/2014/main" id="{F32E84E6-309D-6C5C-5A85-B918C4E84631}"/>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AB7B5843-482D-4C54-89E7-2BD02C1FE6B8}"/>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2. </a:t>
            </a:r>
            <a:r>
              <a:rPr lang="en-US" sz="2000" b="1" dirty="0" err="1">
                <a:solidFill>
                  <a:srgbClr val="113A71"/>
                </a:solidFill>
                <a:latin typeface="Times New Roman" panose="02020603050405020304" pitchFamily="18" charset="0"/>
                <a:cs typeface="Times New Roman" panose="02020603050405020304" pitchFamily="18" charset="0"/>
              </a:rPr>
              <a:t>Kết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nối</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và</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định</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dạng</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512881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032B8-A238-B65F-BC36-210B5F8C0191}"/>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5DB5AD93-E0F9-38C6-C5A7-4D1FF24532AD}"/>
              </a:ext>
            </a:extLst>
          </p:cNvPr>
          <p:cNvSpPr txBox="1"/>
          <p:nvPr/>
        </p:nvSpPr>
        <p:spPr>
          <a:xfrm>
            <a:off x="357248" y="749352"/>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2" name="Google Shape;642;p53">
            <a:extLst>
              <a:ext uri="{FF2B5EF4-FFF2-40B4-BE49-F238E27FC236}">
                <a16:creationId xmlns:a16="http://schemas.microsoft.com/office/drawing/2014/main" id="{E07FF2E3-EC62-CC67-F444-11DD40688376}"/>
              </a:ext>
            </a:extLst>
          </p:cNvPr>
          <p:cNvSpPr txBox="1"/>
          <p:nvPr/>
        </p:nvSpPr>
        <p:spPr>
          <a:xfrm>
            <a:off x="357248" y="2154132"/>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pic>
        <p:nvPicPr>
          <p:cNvPr id="4" name="Picture 3">
            <a:extLst>
              <a:ext uri="{FF2B5EF4-FFF2-40B4-BE49-F238E27FC236}">
                <a16:creationId xmlns:a16="http://schemas.microsoft.com/office/drawing/2014/main" id="{3839A3CE-36F2-D980-C1A2-EDA7CF097BFD}"/>
              </a:ext>
            </a:extLst>
          </p:cNvPr>
          <p:cNvPicPr>
            <a:picLocks noChangeAspect="1"/>
          </p:cNvPicPr>
          <p:nvPr/>
        </p:nvPicPr>
        <p:blipFill>
          <a:blip r:embed="rId2"/>
          <a:stretch>
            <a:fillRect/>
          </a:stretch>
        </p:blipFill>
        <p:spPr>
          <a:xfrm>
            <a:off x="2607938" y="905565"/>
            <a:ext cx="6976124" cy="1248567"/>
          </a:xfrm>
          <a:prstGeom prst="rect">
            <a:avLst/>
          </a:prstGeom>
        </p:spPr>
      </p:pic>
      <p:sp>
        <p:nvSpPr>
          <p:cNvPr id="5" name="Google Shape;642;p53">
            <a:extLst>
              <a:ext uri="{FF2B5EF4-FFF2-40B4-BE49-F238E27FC236}">
                <a16:creationId xmlns:a16="http://schemas.microsoft.com/office/drawing/2014/main" id="{6CEE1E6B-3ED4-3B47-F2A9-35CC92A3BEBA}"/>
              </a:ext>
            </a:extLst>
          </p:cNvPr>
          <p:cNvSpPr txBox="1"/>
          <p:nvPr/>
        </p:nvSpPr>
        <p:spPr>
          <a:xfrm>
            <a:off x="508823" y="2544381"/>
            <a:ext cx="8713525" cy="390249"/>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a:solidFill>
                  <a:srgbClr val="119303"/>
                </a:solidFill>
                <a:latin typeface="Times New Roman" panose="02020603050405020304" pitchFamily="18" charset="0"/>
                <a:cs typeface="Times New Roman" panose="02020603050405020304" pitchFamily="18" charset="0"/>
                <a:sym typeface="Montserrat"/>
              </a:rPr>
              <a:t>Connect </a:t>
            </a:r>
            <a:r>
              <a:rPr lang="en-US" sz="1600" dirty="0" err="1">
                <a:solidFill>
                  <a:srgbClr val="119303"/>
                </a:solidFill>
                <a:latin typeface="Times New Roman" panose="02020603050405020304" pitchFamily="18" charset="0"/>
                <a:cs typeface="Times New Roman" panose="02020603050405020304" pitchFamily="18" charset="0"/>
                <a:sym typeface="Montserrat"/>
              </a:rPr>
              <a:t>tới</a:t>
            </a:r>
            <a:r>
              <a:rPr lang="en-US" sz="1600" dirty="0">
                <a:solidFill>
                  <a:srgbClr val="119303"/>
                </a:solidFill>
                <a:latin typeface="Times New Roman" panose="02020603050405020304" pitchFamily="18" charset="0"/>
                <a:cs typeface="Times New Roman" panose="02020603050405020304" pitchFamily="18" charset="0"/>
                <a:sym typeface="Montserrat"/>
              </a:rPr>
              <a:t> file </a:t>
            </a:r>
            <a:r>
              <a:rPr lang="en-US" sz="1600" b="1" i="1" dirty="0" err="1">
                <a:solidFill>
                  <a:srgbClr val="119303"/>
                </a:solidFill>
                <a:latin typeface="Times New Roman" panose="02020603050405020304" pitchFamily="18" charset="0"/>
                <a:cs typeface="Times New Roman" panose="02020603050405020304" pitchFamily="18" charset="0"/>
                <a:sym typeface="Montserrat"/>
              </a:rPr>
              <a:t>MavenMarket_Regions</a:t>
            </a:r>
            <a:r>
              <a:rPr lang="en-US" sz="1600" b="1" i="1"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và</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đổi</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tên</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bảng</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thành</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b="1" i="1" dirty="0">
                <a:solidFill>
                  <a:srgbClr val="119303"/>
                </a:solidFill>
                <a:latin typeface="Times New Roman" panose="02020603050405020304" pitchFamily="18" charset="0"/>
                <a:cs typeface="Times New Roman" panose="02020603050405020304" pitchFamily="18" charset="0"/>
                <a:sym typeface="Montserrat"/>
              </a:rPr>
              <a:t>Regions</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như</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hướng</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dẫn</a:t>
            </a:r>
            <a:r>
              <a:rPr lang="en-US" sz="1600" dirty="0">
                <a:solidFill>
                  <a:srgbClr val="119303"/>
                </a:solidFill>
                <a:latin typeface="Times New Roman" panose="02020603050405020304" pitchFamily="18" charset="0"/>
                <a:cs typeface="Times New Roman" panose="02020603050405020304" pitchFamily="18" charset="0"/>
                <a:sym typeface="Montserrat"/>
              </a:rPr>
              <a:t> ở </a:t>
            </a:r>
            <a:r>
              <a:rPr lang="en-US" sz="1600" dirty="0" err="1">
                <a:solidFill>
                  <a:srgbClr val="119303"/>
                </a:solidFill>
                <a:latin typeface="Times New Roman" panose="02020603050405020304" pitchFamily="18" charset="0"/>
                <a:cs typeface="Times New Roman" panose="02020603050405020304" pitchFamily="18" charset="0"/>
                <a:sym typeface="Montserrat"/>
              </a:rPr>
              <a:t>trang</a:t>
            </a:r>
            <a:r>
              <a:rPr lang="en-US" sz="1600" dirty="0">
                <a:solidFill>
                  <a:srgbClr val="119303"/>
                </a:solidFill>
                <a:latin typeface="Times New Roman" panose="02020603050405020304" pitchFamily="18" charset="0"/>
                <a:cs typeface="Times New Roman" panose="02020603050405020304" pitchFamily="18" charset="0"/>
                <a:sym typeface="Montserrat"/>
              </a:rPr>
              <a:t> 5.</a:t>
            </a:r>
            <a:endParaRPr lang="en-US" sz="1600" b="1" dirty="0">
              <a:solidFill>
                <a:srgbClr val="119303"/>
              </a:solidFill>
              <a:latin typeface="Times New Roman" panose="02020603050405020304" pitchFamily="18" charset="0"/>
              <a:cs typeface="Times New Roman" panose="02020603050405020304" pitchFamily="18" charset="0"/>
              <a:sym typeface="Montserrat"/>
            </a:endParaRPr>
          </a:p>
        </p:txBody>
      </p:sp>
      <p:sp>
        <p:nvSpPr>
          <p:cNvPr id="7" name="Google Shape;642;p53">
            <a:extLst>
              <a:ext uri="{FF2B5EF4-FFF2-40B4-BE49-F238E27FC236}">
                <a16:creationId xmlns:a16="http://schemas.microsoft.com/office/drawing/2014/main" id="{24FB1800-D8E2-AF59-2746-95B69336F09D}"/>
              </a:ext>
            </a:extLst>
          </p:cNvPr>
          <p:cNvSpPr txBox="1"/>
          <p:nvPr/>
        </p:nvSpPr>
        <p:spPr>
          <a:xfrm>
            <a:off x="488504" y="2934631"/>
            <a:ext cx="11194673" cy="858746"/>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Bấm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từng</a:t>
            </a:r>
            <a:r>
              <a:rPr lang="en-US" sz="1600" dirty="0">
                <a:latin typeface="Times New Roman" panose="02020603050405020304" pitchFamily="18" charset="0"/>
                <a:cs typeface="Times New Roman" panose="02020603050405020304" pitchFamily="18" charset="0"/>
                <a:sym typeface="Montserrat"/>
              </a:rPr>
              <a:t> column, ở </a:t>
            </a:r>
            <a:r>
              <a:rPr lang="en-US" sz="1600" dirty="0" err="1">
                <a:latin typeface="Times New Roman" panose="02020603050405020304" pitchFamily="18" charset="0"/>
                <a:cs typeface="Times New Roman" panose="02020603050405020304" pitchFamily="18" charset="0"/>
                <a:sym typeface="Montserrat"/>
              </a:rPr>
              <a:t>mục</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Data Type </a:t>
            </a:r>
            <a:r>
              <a:rPr lang="en-US" sz="1600" dirty="0" err="1">
                <a:latin typeface="Times New Roman" panose="02020603050405020304" pitchFamily="18" charset="0"/>
                <a:cs typeface="Times New Roman" panose="02020603050405020304" pitchFamily="18" charset="0"/>
                <a:sym typeface="Montserrat"/>
              </a:rPr>
              <a:t>kiểm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đổi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thành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dạng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dữ</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liệu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tương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ứng</a:t>
            </a:r>
            <a:r>
              <a:rPr lang="en-US" sz="1600" dirty="0">
                <a:latin typeface="Times New Roman" panose="02020603050405020304" pitchFamily="18" charset="0"/>
                <a:cs typeface="Times New Roman" panose="02020603050405020304" pitchFamily="18" charset="0"/>
                <a:sym typeface="Montserrat"/>
              </a:rPr>
              <a:t>:</a:t>
            </a: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region_id</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Whole numbers</a:t>
            </a: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sales_district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sales_region</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Text</a:t>
            </a:r>
          </a:p>
        </p:txBody>
      </p:sp>
      <p:grpSp>
        <p:nvGrpSpPr>
          <p:cNvPr id="27" name="Group 26">
            <a:extLst>
              <a:ext uri="{FF2B5EF4-FFF2-40B4-BE49-F238E27FC236}">
                <a16:creationId xmlns:a16="http://schemas.microsoft.com/office/drawing/2014/main" id="{1AADEB41-9A5A-8743-156C-73AB2D7A1968}"/>
              </a:ext>
            </a:extLst>
          </p:cNvPr>
          <p:cNvGrpSpPr/>
          <p:nvPr/>
        </p:nvGrpSpPr>
        <p:grpSpPr>
          <a:xfrm>
            <a:off x="0" y="4117830"/>
            <a:ext cx="12192000" cy="2263604"/>
            <a:chOff x="0" y="3951574"/>
            <a:chExt cx="12192000" cy="2263604"/>
          </a:xfrm>
        </p:grpSpPr>
        <p:pic>
          <p:nvPicPr>
            <p:cNvPr id="18" name="Picture 17">
              <a:extLst>
                <a:ext uri="{FF2B5EF4-FFF2-40B4-BE49-F238E27FC236}">
                  <a16:creationId xmlns:a16="http://schemas.microsoft.com/office/drawing/2014/main" id="{5048A821-3281-7ED2-E691-12C93B6F270D}"/>
                </a:ext>
              </a:extLst>
            </p:cNvPr>
            <p:cNvPicPr>
              <a:picLocks noChangeAspect="1"/>
            </p:cNvPicPr>
            <p:nvPr/>
          </p:nvPicPr>
          <p:blipFill>
            <a:blip r:embed="rId3"/>
            <a:stretch>
              <a:fillRect/>
            </a:stretch>
          </p:blipFill>
          <p:spPr>
            <a:xfrm>
              <a:off x="0" y="4017371"/>
              <a:ext cx="12192000" cy="1877601"/>
            </a:xfrm>
            <a:prstGeom prst="rect">
              <a:avLst/>
            </a:prstGeom>
          </p:spPr>
        </p:pic>
        <p:sp>
          <p:nvSpPr>
            <p:cNvPr id="21" name="Rectangle 20">
              <a:extLst>
                <a:ext uri="{FF2B5EF4-FFF2-40B4-BE49-F238E27FC236}">
                  <a16:creationId xmlns:a16="http://schemas.microsoft.com/office/drawing/2014/main" id="{D2A055AD-BD3E-6FC1-2E68-41510657F766}"/>
                </a:ext>
              </a:extLst>
            </p:cNvPr>
            <p:cNvSpPr/>
            <p:nvPr/>
          </p:nvSpPr>
          <p:spPr>
            <a:xfrm>
              <a:off x="2180338" y="5614195"/>
              <a:ext cx="1686557" cy="305021"/>
            </a:xfrm>
            <a:prstGeom prst="rect">
              <a:avLst/>
            </a:prstGeom>
            <a:noFill/>
            <a:ln w="1905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D5F31A02-991C-A13B-C7A9-F24920B0558E}"/>
                </a:ext>
              </a:extLst>
            </p:cNvPr>
            <p:cNvSpPr/>
            <p:nvPr/>
          </p:nvSpPr>
          <p:spPr>
            <a:xfrm>
              <a:off x="9222348" y="4255109"/>
              <a:ext cx="1499616" cy="262027"/>
            </a:xfrm>
            <a:prstGeom prst="rect">
              <a:avLst/>
            </a:prstGeom>
            <a:noFill/>
            <a:ln w="1905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23" name="TextBox 22">
              <a:extLst>
                <a:ext uri="{FF2B5EF4-FFF2-40B4-BE49-F238E27FC236}">
                  <a16:creationId xmlns:a16="http://schemas.microsoft.com/office/drawing/2014/main" id="{8A8B0FDB-93BD-CC97-756F-68AE8FCF345F}"/>
                </a:ext>
              </a:extLst>
            </p:cNvPr>
            <p:cNvSpPr txBox="1"/>
            <p:nvPr/>
          </p:nvSpPr>
          <p:spPr>
            <a:xfrm>
              <a:off x="2869567" y="5845846"/>
              <a:ext cx="308098" cy="369332"/>
            </a:xfrm>
            <a:prstGeom prst="rect">
              <a:avLst/>
            </a:prstGeom>
            <a:noFill/>
          </p:spPr>
          <p:txBody>
            <a:bodyPr wrap="none" rtlCol="0">
              <a:spAutoFit/>
            </a:bodyPr>
            <a:lstStyle/>
            <a:p>
              <a:r>
                <a:rPr lang="en-US" dirty="0">
                  <a:solidFill>
                    <a:srgbClr val="00B0F0"/>
                  </a:solidFill>
                  <a:latin typeface="Times New Roman" panose="02020603050405020304" pitchFamily="18" charset="0"/>
                  <a:cs typeface="Times New Roman" panose="02020603050405020304" pitchFamily="18" charset="0"/>
                </a:rPr>
                <a:t>1</a:t>
              </a:r>
            </a:p>
          </p:txBody>
        </p:sp>
        <p:sp>
          <p:nvSpPr>
            <p:cNvPr id="24" name="TextBox 23">
              <a:extLst>
                <a:ext uri="{FF2B5EF4-FFF2-40B4-BE49-F238E27FC236}">
                  <a16:creationId xmlns:a16="http://schemas.microsoft.com/office/drawing/2014/main" id="{8E24C137-EE2C-F310-FE5A-6CBDB5784F0F}"/>
                </a:ext>
              </a:extLst>
            </p:cNvPr>
            <p:cNvSpPr txBox="1"/>
            <p:nvPr/>
          </p:nvSpPr>
          <p:spPr>
            <a:xfrm>
              <a:off x="9822115" y="3951574"/>
              <a:ext cx="300082" cy="369332"/>
            </a:xfrm>
            <a:prstGeom prst="rect">
              <a:avLst/>
            </a:prstGeom>
            <a:noFill/>
          </p:spPr>
          <p:txBody>
            <a:bodyPr wrap="none" rtlCol="0">
              <a:spAutoFit/>
            </a:bodyPr>
            <a:lstStyle/>
            <a:p>
              <a:r>
                <a:rPr lang="en-US" dirty="0">
                  <a:solidFill>
                    <a:srgbClr val="00B0F0"/>
                  </a:solidFill>
                  <a:latin typeface="Times New Roman" panose="02020603050405020304" pitchFamily="18" charset="0"/>
                  <a:cs typeface="Times New Roman" panose="02020603050405020304" pitchFamily="18" charset="0"/>
                </a:rPr>
                <a:t>2</a:t>
              </a:r>
            </a:p>
          </p:txBody>
        </p:sp>
      </p:grpSp>
      <p:sp>
        <p:nvSpPr>
          <p:cNvPr id="3" name="Rectangle 2">
            <a:extLst>
              <a:ext uri="{FF2B5EF4-FFF2-40B4-BE49-F238E27FC236}">
                <a16:creationId xmlns:a16="http://schemas.microsoft.com/office/drawing/2014/main" id="{7492BF1C-9E47-88B0-F8CF-95B300D9E353}"/>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7D973F7A-BD5F-919D-E5E8-4DE3B69BAD82}"/>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2. </a:t>
            </a:r>
            <a:r>
              <a:rPr lang="en-US" sz="2000" b="1" dirty="0" err="1">
                <a:solidFill>
                  <a:srgbClr val="113A71"/>
                </a:solidFill>
                <a:latin typeface="Times New Roman" panose="02020603050405020304" pitchFamily="18" charset="0"/>
                <a:cs typeface="Times New Roman" panose="02020603050405020304" pitchFamily="18" charset="0"/>
              </a:rPr>
              <a:t>Kết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nối</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và</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định</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dạng</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45225657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FCA09-AD01-BC73-D83E-48298C6430C2}"/>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709558D2-4ECC-3215-E360-420FFC040747}"/>
              </a:ext>
            </a:extLst>
          </p:cNvPr>
          <p:cNvSpPr txBox="1"/>
          <p:nvPr/>
        </p:nvSpPr>
        <p:spPr>
          <a:xfrm>
            <a:off x="357248" y="700862"/>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2" name="Google Shape;642;p53">
            <a:extLst>
              <a:ext uri="{FF2B5EF4-FFF2-40B4-BE49-F238E27FC236}">
                <a16:creationId xmlns:a16="http://schemas.microsoft.com/office/drawing/2014/main" id="{943D3548-CA46-34E0-DD6C-E4C0A8911F07}"/>
              </a:ext>
            </a:extLst>
          </p:cNvPr>
          <p:cNvSpPr txBox="1"/>
          <p:nvPr/>
        </p:nvSpPr>
        <p:spPr>
          <a:xfrm>
            <a:off x="357248" y="2752028"/>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sp>
        <p:nvSpPr>
          <p:cNvPr id="5" name="Google Shape;642;p53">
            <a:extLst>
              <a:ext uri="{FF2B5EF4-FFF2-40B4-BE49-F238E27FC236}">
                <a16:creationId xmlns:a16="http://schemas.microsoft.com/office/drawing/2014/main" id="{B59E181F-843F-AD86-0EE0-DBC863391678}"/>
              </a:ext>
            </a:extLst>
          </p:cNvPr>
          <p:cNvSpPr txBox="1"/>
          <p:nvPr/>
        </p:nvSpPr>
        <p:spPr>
          <a:xfrm>
            <a:off x="488503" y="3044714"/>
            <a:ext cx="8713525" cy="390249"/>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a:solidFill>
                  <a:srgbClr val="119303"/>
                </a:solidFill>
                <a:latin typeface="Times New Roman" panose="02020603050405020304" pitchFamily="18" charset="0"/>
                <a:cs typeface="Times New Roman" panose="02020603050405020304" pitchFamily="18" charset="0"/>
                <a:sym typeface="Montserrat"/>
              </a:rPr>
              <a:t>Connect </a:t>
            </a:r>
            <a:r>
              <a:rPr lang="en-US" sz="1600" dirty="0" err="1">
                <a:solidFill>
                  <a:srgbClr val="119303"/>
                </a:solidFill>
                <a:latin typeface="Times New Roman" panose="02020603050405020304" pitchFamily="18" charset="0"/>
                <a:cs typeface="Times New Roman" panose="02020603050405020304" pitchFamily="18" charset="0"/>
                <a:sym typeface="Montserrat"/>
              </a:rPr>
              <a:t>tới</a:t>
            </a:r>
            <a:r>
              <a:rPr lang="en-US" sz="1600" dirty="0">
                <a:solidFill>
                  <a:srgbClr val="119303"/>
                </a:solidFill>
                <a:latin typeface="Times New Roman" panose="02020603050405020304" pitchFamily="18" charset="0"/>
                <a:cs typeface="Times New Roman" panose="02020603050405020304" pitchFamily="18" charset="0"/>
                <a:sym typeface="Montserrat"/>
              </a:rPr>
              <a:t> file </a:t>
            </a:r>
            <a:r>
              <a:rPr lang="en-US" sz="1600" b="1" i="1" dirty="0">
                <a:solidFill>
                  <a:srgbClr val="119303"/>
                </a:solidFill>
                <a:latin typeface="Times New Roman" panose="02020603050405020304" pitchFamily="18" charset="0"/>
                <a:cs typeface="Times New Roman" panose="02020603050405020304" pitchFamily="18" charset="0"/>
                <a:sym typeface="Montserrat"/>
              </a:rPr>
              <a:t>MavenMarket_Calendar </a:t>
            </a:r>
            <a:r>
              <a:rPr lang="en-US" sz="1600" dirty="0" err="1">
                <a:solidFill>
                  <a:srgbClr val="119303"/>
                </a:solidFill>
                <a:latin typeface="Times New Roman" panose="02020603050405020304" pitchFamily="18" charset="0"/>
                <a:cs typeface="Times New Roman" panose="02020603050405020304" pitchFamily="18" charset="0"/>
                <a:sym typeface="Montserrat"/>
              </a:rPr>
              <a:t>và</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đổi</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tên</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bảng</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thành</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b="1" i="1" dirty="0">
                <a:solidFill>
                  <a:srgbClr val="119303"/>
                </a:solidFill>
                <a:latin typeface="Times New Roman" panose="02020603050405020304" pitchFamily="18" charset="0"/>
                <a:cs typeface="Times New Roman" panose="02020603050405020304" pitchFamily="18" charset="0"/>
                <a:sym typeface="Montserrat"/>
              </a:rPr>
              <a:t>Calendar</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như</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hướng</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dẫn</a:t>
            </a:r>
            <a:r>
              <a:rPr lang="en-US" sz="1600" dirty="0">
                <a:solidFill>
                  <a:srgbClr val="119303"/>
                </a:solidFill>
                <a:latin typeface="Times New Roman" panose="02020603050405020304" pitchFamily="18" charset="0"/>
                <a:cs typeface="Times New Roman" panose="02020603050405020304" pitchFamily="18" charset="0"/>
                <a:sym typeface="Montserrat"/>
              </a:rPr>
              <a:t> ở </a:t>
            </a:r>
            <a:r>
              <a:rPr lang="en-US" sz="1600" dirty="0" err="1">
                <a:solidFill>
                  <a:srgbClr val="119303"/>
                </a:solidFill>
                <a:latin typeface="Times New Roman" panose="02020603050405020304" pitchFamily="18" charset="0"/>
                <a:cs typeface="Times New Roman" panose="02020603050405020304" pitchFamily="18" charset="0"/>
                <a:sym typeface="Montserrat"/>
              </a:rPr>
              <a:t>trang</a:t>
            </a:r>
            <a:r>
              <a:rPr lang="en-US" sz="1600" dirty="0">
                <a:solidFill>
                  <a:srgbClr val="119303"/>
                </a:solidFill>
                <a:latin typeface="Times New Roman" panose="02020603050405020304" pitchFamily="18" charset="0"/>
                <a:cs typeface="Times New Roman" panose="02020603050405020304" pitchFamily="18" charset="0"/>
                <a:sym typeface="Montserrat"/>
              </a:rPr>
              <a:t> 5.</a:t>
            </a:r>
            <a:endParaRPr lang="en-US" sz="1600" b="1" dirty="0">
              <a:solidFill>
                <a:srgbClr val="119303"/>
              </a:solidFill>
              <a:latin typeface="Times New Roman" panose="02020603050405020304" pitchFamily="18" charset="0"/>
              <a:cs typeface="Times New Roman" panose="02020603050405020304" pitchFamily="18" charset="0"/>
              <a:sym typeface="Montserrat"/>
            </a:endParaRPr>
          </a:p>
        </p:txBody>
      </p:sp>
      <p:pic>
        <p:nvPicPr>
          <p:cNvPr id="6" name="Picture 5">
            <a:extLst>
              <a:ext uri="{FF2B5EF4-FFF2-40B4-BE49-F238E27FC236}">
                <a16:creationId xmlns:a16="http://schemas.microsoft.com/office/drawing/2014/main" id="{D1E05505-2D3D-2CCF-AC4E-7BAE739A2492}"/>
              </a:ext>
            </a:extLst>
          </p:cNvPr>
          <p:cNvPicPr>
            <a:picLocks noChangeAspect="1"/>
          </p:cNvPicPr>
          <p:nvPr/>
        </p:nvPicPr>
        <p:blipFill>
          <a:blip r:embed="rId2"/>
          <a:stretch>
            <a:fillRect/>
          </a:stretch>
        </p:blipFill>
        <p:spPr>
          <a:xfrm>
            <a:off x="4105701" y="801081"/>
            <a:ext cx="3960276" cy="1930789"/>
          </a:xfrm>
          <a:prstGeom prst="rect">
            <a:avLst/>
          </a:prstGeom>
        </p:spPr>
      </p:pic>
      <p:sp>
        <p:nvSpPr>
          <p:cNvPr id="10" name="Google Shape;642;p53">
            <a:extLst>
              <a:ext uri="{FF2B5EF4-FFF2-40B4-BE49-F238E27FC236}">
                <a16:creationId xmlns:a16="http://schemas.microsoft.com/office/drawing/2014/main" id="{02FDE785-EC05-0D35-142A-D63117B0C5EC}"/>
              </a:ext>
            </a:extLst>
          </p:cNvPr>
          <p:cNvSpPr txBox="1"/>
          <p:nvPr/>
        </p:nvSpPr>
        <p:spPr>
          <a:xfrm>
            <a:off x="488502" y="3358567"/>
            <a:ext cx="11440261" cy="377939"/>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Chọn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date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sau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đó</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Add Column </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Date</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chọn</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các</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trường</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và</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thêm</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cột</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theo</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yêu</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cầu</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i="1" dirty="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a:t>
            </a:r>
            <a:r>
              <a:rPr lang="en-US" sz="1600" b="1" i="1" dirty="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Lưu ý</a:t>
            </a:r>
            <a:r>
              <a:rPr lang="en-US" sz="1600" i="1" dirty="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600" i="1" dirty="0" err="1">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cột</a:t>
            </a:r>
            <a:r>
              <a:rPr lang="en-US" sz="1600" i="1" dirty="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 date </a:t>
            </a:r>
            <a:r>
              <a:rPr lang="en-US" sz="1600" i="1" dirty="0" err="1">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phải</a:t>
            </a:r>
            <a:r>
              <a:rPr lang="en-US" sz="1600" i="1" dirty="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600" i="1" dirty="0" err="1">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đúng</a:t>
            </a:r>
            <a:r>
              <a:rPr lang="en-US" sz="1600" i="1" dirty="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600" b="1" i="1" dirty="0" err="1">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định</a:t>
            </a:r>
            <a:r>
              <a:rPr lang="en-US" sz="1600" b="1" i="1" dirty="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600" b="1" i="1" dirty="0" err="1">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dạng</a:t>
            </a:r>
            <a:r>
              <a:rPr lang="en-US" sz="1600" b="1" i="1" dirty="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 Date</a:t>
            </a:r>
            <a:r>
              <a:rPr lang="en-US" sz="1600" i="1" dirty="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a:t>
            </a:r>
            <a:endParaRPr lang="en-US" sz="1600" b="1" i="1" dirty="0">
              <a:solidFill>
                <a:srgbClr val="C00000"/>
              </a:solidFill>
              <a:latin typeface="Times New Roman" panose="02020603050405020304" pitchFamily="18" charset="0"/>
              <a:cs typeface="Times New Roman" panose="02020603050405020304" pitchFamily="18" charset="0"/>
              <a:sym typeface="Montserrat"/>
            </a:endParaRPr>
          </a:p>
        </p:txBody>
      </p:sp>
      <p:grpSp>
        <p:nvGrpSpPr>
          <p:cNvPr id="7" name="Group 6">
            <a:extLst>
              <a:ext uri="{FF2B5EF4-FFF2-40B4-BE49-F238E27FC236}">
                <a16:creationId xmlns:a16="http://schemas.microsoft.com/office/drawing/2014/main" id="{7993C1C9-79F3-36D1-AB07-FA6F2B4DE3B8}"/>
              </a:ext>
            </a:extLst>
          </p:cNvPr>
          <p:cNvGrpSpPr/>
          <p:nvPr/>
        </p:nvGrpSpPr>
        <p:grpSpPr>
          <a:xfrm>
            <a:off x="2672079" y="3727649"/>
            <a:ext cx="6819282" cy="2908223"/>
            <a:chOff x="2672079" y="3727649"/>
            <a:chExt cx="6819282" cy="2908223"/>
          </a:xfrm>
        </p:grpSpPr>
        <p:pic>
          <p:nvPicPr>
            <p:cNvPr id="9" name="Picture 8">
              <a:extLst>
                <a:ext uri="{FF2B5EF4-FFF2-40B4-BE49-F238E27FC236}">
                  <a16:creationId xmlns:a16="http://schemas.microsoft.com/office/drawing/2014/main" id="{4E57904F-0C17-F860-726B-DB058ED7711C}"/>
                </a:ext>
              </a:extLst>
            </p:cNvPr>
            <p:cNvPicPr>
              <a:picLocks noChangeAspect="1"/>
            </p:cNvPicPr>
            <p:nvPr/>
          </p:nvPicPr>
          <p:blipFill>
            <a:blip r:embed="rId3"/>
            <a:stretch>
              <a:fillRect/>
            </a:stretch>
          </p:blipFill>
          <p:spPr>
            <a:xfrm>
              <a:off x="2672079" y="3727649"/>
              <a:ext cx="6819282" cy="2908223"/>
            </a:xfrm>
            <a:prstGeom prst="rect">
              <a:avLst/>
            </a:prstGeom>
          </p:spPr>
        </p:pic>
        <p:sp>
          <p:nvSpPr>
            <p:cNvPr id="14" name="Rectangle 13">
              <a:extLst>
                <a:ext uri="{FF2B5EF4-FFF2-40B4-BE49-F238E27FC236}">
                  <a16:creationId xmlns:a16="http://schemas.microsoft.com/office/drawing/2014/main" id="{CA5E6952-FE8B-3BB0-007E-917249E177DD}"/>
                </a:ext>
              </a:extLst>
            </p:cNvPr>
            <p:cNvSpPr/>
            <p:nvPr/>
          </p:nvSpPr>
          <p:spPr>
            <a:xfrm>
              <a:off x="8156339" y="4992539"/>
              <a:ext cx="1280269" cy="853525"/>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grpSp>
      <p:sp>
        <p:nvSpPr>
          <p:cNvPr id="3" name="Rectangle 2">
            <a:extLst>
              <a:ext uri="{FF2B5EF4-FFF2-40B4-BE49-F238E27FC236}">
                <a16:creationId xmlns:a16="http://schemas.microsoft.com/office/drawing/2014/main" id="{ED417BB4-B16B-9A7C-C3F4-46B27C3FDAD2}"/>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81532ED-6970-0FAB-2CC9-E8681A244554}"/>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2. </a:t>
            </a:r>
            <a:r>
              <a:rPr lang="en-US" sz="2000" b="1" dirty="0" err="1">
                <a:solidFill>
                  <a:srgbClr val="113A71"/>
                </a:solidFill>
                <a:latin typeface="Times New Roman" panose="02020603050405020304" pitchFamily="18" charset="0"/>
                <a:cs typeface="Times New Roman" panose="02020603050405020304" pitchFamily="18" charset="0"/>
              </a:rPr>
              <a:t>Kết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nối</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và</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định</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dạng</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91458266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C5FBB-E573-48A3-84C7-EEB10167BF99}"/>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327689F9-8FFA-79D2-F2BE-F541B4F9487C}"/>
              </a:ext>
            </a:extLst>
          </p:cNvPr>
          <p:cNvSpPr txBox="1"/>
          <p:nvPr/>
        </p:nvSpPr>
        <p:spPr>
          <a:xfrm>
            <a:off x="357248" y="721644"/>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2" name="Google Shape;642;p53">
            <a:extLst>
              <a:ext uri="{FF2B5EF4-FFF2-40B4-BE49-F238E27FC236}">
                <a16:creationId xmlns:a16="http://schemas.microsoft.com/office/drawing/2014/main" id="{DAEF7A3F-107B-8F54-5CFE-1C42A4E29516}"/>
              </a:ext>
            </a:extLst>
          </p:cNvPr>
          <p:cNvSpPr txBox="1"/>
          <p:nvPr/>
        </p:nvSpPr>
        <p:spPr>
          <a:xfrm>
            <a:off x="357248" y="2548179"/>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sp>
        <p:nvSpPr>
          <p:cNvPr id="5" name="Google Shape;642;p53">
            <a:extLst>
              <a:ext uri="{FF2B5EF4-FFF2-40B4-BE49-F238E27FC236}">
                <a16:creationId xmlns:a16="http://schemas.microsoft.com/office/drawing/2014/main" id="{D465221F-E622-B9CD-6A25-4702AA428B92}"/>
              </a:ext>
            </a:extLst>
          </p:cNvPr>
          <p:cNvSpPr txBox="1"/>
          <p:nvPr/>
        </p:nvSpPr>
        <p:spPr>
          <a:xfrm>
            <a:off x="488504" y="2878848"/>
            <a:ext cx="9722297" cy="390249"/>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a:solidFill>
                  <a:srgbClr val="119303"/>
                </a:solidFill>
                <a:latin typeface="Times New Roman" panose="02020603050405020304" pitchFamily="18" charset="0"/>
                <a:cs typeface="Times New Roman" panose="02020603050405020304" pitchFamily="18" charset="0"/>
                <a:sym typeface="Montserrat"/>
              </a:rPr>
              <a:t>Connect </a:t>
            </a:r>
            <a:r>
              <a:rPr lang="en-US" sz="1600" dirty="0" err="1">
                <a:solidFill>
                  <a:srgbClr val="119303"/>
                </a:solidFill>
                <a:latin typeface="Times New Roman" panose="02020603050405020304" pitchFamily="18" charset="0"/>
                <a:cs typeface="Times New Roman" panose="02020603050405020304" pitchFamily="18" charset="0"/>
                <a:sym typeface="Montserrat"/>
              </a:rPr>
              <a:t>tới</a:t>
            </a:r>
            <a:r>
              <a:rPr lang="en-US" sz="1600" dirty="0">
                <a:solidFill>
                  <a:srgbClr val="119303"/>
                </a:solidFill>
                <a:latin typeface="Times New Roman" panose="02020603050405020304" pitchFamily="18" charset="0"/>
                <a:cs typeface="Times New Roman" panose="02020603050405020304" pitchFamily="18" charset="0"/>
                <a:sym typeface="Montserrat"/>
              </a:rPr>
              <a:t> file </a:t>
            </a:r>
            <a:r>
              <a:rPr lang="en-US" sz="1600" b="1" i="1" dirty="0">
                <a:solidFill>
                  <a:srgbClr val="119303"/>
                </a:solidFill>
                <a:latin typeface="Times New Roman" panose="02020603050405020304" pitchFamily="18" charset="0"/>
                <a:cs typeface="Times New Roman" panose="02020603050405020304" pitchFamily="18" charset="0"/>
                <a:sym typeface="Montserrat"/>
              </a:rPr>
              <a:t>MavenMarket_Returns_1997-1998 </a:t>
            </a:r>
            <a:r>
              <a:rPr lang="en-US" sz="1600" dirty="0" err="1">
                <a:solidFill>
                  <a:srgbClr val="119303"/>
                </a:solidFill>
                <a:latin typeface="Times New Roman" panose="02020603050405020304" pitchFamily="18" charset="0"/>
                <a:cs typeface="Times New Roman" panose="02020603050405020304" pitchFamily="18" charset="0"/>
                <a:sym typeface="Montserrat"/>
              </a:rPr>
              <a:t>và</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đổi</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tên</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bảng</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thành</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b="1" i="1" dirty="0" err="1">
                <a:solidFill>
                  <a:srgbClr val="119303"/>
                </a:solidFill>
                <a:latin typeface="Times New Roman" panose="02020603050405020304" pitchFamily="18" charset="0"/>
                <a:cs typeface="Times New Roman" panose="02020603050405020304" pitchFamily="18" charset="0"/>
                <a:sym typeface="Montserrat"/>
              </a:rPr>
              <a:t>Return_Data</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như</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hướng</a:t>
            </a:r>
            <a:r>
              <a:rPr lang="en-US" sz="1600" dirty="0">
                <a:solidFill>
                  <a:srgbClr val="119303"/>
                </a:solidFill>
                <a:latin typeface="Times New Roman" panose="02020603050405020304" pitchFamily="18" charset="0"/>
                <a:cs typeface="Times New Roman" panose="02020603050405020304" pitchFamily="18" charset="0"/>
                <a:sym typeface="Montserrat"/>
              </a:rPr>
              <a:t> </a:t>
            </a:r>
            <a:r>
              <a:rPr lang="en-US" sz="1600" dirty="0" err="1">
                <a:solidFill>
                  <a:srgbClr val="119303"/>
                </a:solidFill>
                <a:latin typeface="Times New Roman" panose="02020603050405020304" pitchFamily="18" charset="0"/>
                <a:cs typeface="Times New Roman" panose="02020603050405020304" pitchFamily="18" charset="0"/>
                <a:sym typeface="Montserrat"/>
              </a:rPr>
              <a:t>dẫn</a:t>
            </a:r>
            <a:r>
              <a:rPr lang="en-US" sz="1600" dirty="0">
                <a:solidFill>
                  <a:srgbClr val="119303"/>
                </a:solidFill>
                <a:latin typeface="Times New Roman" panose="02020603050405020304" pitchFamily="18" charset="0"/>
                <a:cs typeface="Times New Roman" panose="02020603050405020304" pitchFamily="18" charset="0"/>
                <a:sym typeface="Montserrat"/>
              </a:rPr>
              <a:t> ở </a:t>
            </a:r>
            <a:r>
              <a:rPr lang="en-US" sz="1600" dirty="0" err="1">
                <a:solidFill>
                  <a:srgbClr val="119303"/>
                </a:solidFill>
                <a:latin typeface="Times New Roman" panose="02020603050405020304" pitchFamily="18" charset="0"/>
                <a:cs typeface="Times New Roman" panose="02020603050405020304" pitchFamily="18" charset="0"/>
                <a:sym typeface="Montserrat"/>
              </a:rPr>
              <a:t>trang</a:t>
            </a:r>
            <a:r>
              <a:rPr lang="en-US" sz="1600" dirty="0">
                <a:solidFill>
                  <a:srgbClr val="119303"/>
                </a:solidFill>
                <a:latin typeface="Times New Roman" panose="02020603050405020304" pitchFamily="18" charset="0"/>
                <a:cs typeface="Times New Roman" panose="02020603050405020304" pitchFamily="18" charset="0"/>
                <a:sym typeface="Montserrat"/>
              </a:rPr>
              <a:t> 5.</a:t>
            </a:r>
            <a:endParaRPr lang="en-US" sz="1600" b="1" dirty="0">
              <a:solidFill>
                <a:srgbClr val="119303"/>
              </a:solidFill>
              <a:latin typeface="Times New Roman" panose="02020603050405020304" pitchFamily="18" charset="0"/>
              <a:cs typeface="Times New Roman" panose="02020603050405020304" pitchFamily="18" charset="0"/>
              <a:sym typeface="Montserrat"/>
            </a:endParaRPr>
          </a:p>
        </p:txBody>
      </p:sp>
      <p:pic>
        <p:nvPicPr>
          <p:cNvPr id="4" name="Picture 3">
            <a:extLst>
              <a:ext uri="{FF2B5EF4-FFF2-40B4-BE49-F238E27FC236}">
                <a16:creationId xmlns:a16="http://schemas.microsoft.com/office/drawing/2014/main" id="{86184B77-9570-BC6E-3F97-4667C7588AEF}"/>
              </a:ext>
            </a:extLst>
          </p:cNvPr>
          <p:cNvPicPr>
            <a:picLocks noChangeAspect="1"/>
          </p:cNvPicPr>
          <p:nvPr/>
        </p:nvPicPr>
        <p:blipFill>
          <a:blip r:embed="rId2"/>
          <a:stretch>
            <a:fillRect/>
          </a:stretch>
        </p:blipFill>
        <p:spPr>
          <a:xfrm>
            <a:off x="1720818" y="1030562"/>
            <a:ext cx="8750363" cy="1450060"/>
          </a:xfrm>
          <a:prstGeom prst="rect">
            <a:avLst/>
          </a:prstGeom>
        </p:spPr>
      </p:pic>
      <p:sp>
        <p:nvSpPr>
          <p:cNvPr id="7" name="Google Shape;642;p53">
            <a:extLst>
              <a:ext uri="{FF2B5EF4-FFF2-40B4-BE49-F238E27FC236}">
                <a16:creationId xmlns:a16="http://schemas.microsoft.com/office/drawing/2014/main" id="{2A49111E-CA07-625C-B411-9BC6D29EE558}"/>
              </a:ext>
            </a:extLst>
          </p:cNvPr>
          <p:cNvSpPr txBox="1"/>
          <p:nvPr/>
        </p:nvSpPr>
        <p:spPr>
          <a:xfrm>
            <a:off x="488504" y="3253987"/>
            <a:ext cx="11194673" cy="875187"/>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Bấm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từng</a:t>
            </a:r>
            <a:r>
              <a:rPr lang="en-US" sz="1600" dirty="0">
                <a:latin typeface="Times New Roman" panose="02020603050405020304" pitchFamily="18" charset="0"/>
                <a:cs typeface="Times New Roman" panose="02020603050405020304" pitchFamily="18" charset="0"/>
                <a:sym typeface="Montserrat"/>
              </a:rPr>
              <a:t> column, ở </a:t>
            </a:r>
            <a:r>
              <a:rPr lang="en-US" sz="1600" dirty="0" err="1">
                <a:latin typeface="Times New Roman" panose="02020603050405020304" pitchFamily="18" charset="0"/>
                <a:cs typeface="Times New Roman" panose="02020603050405020304" pitchFamily="18" charset="0"/>
                <a:sym typeface="Montserrat"/>
              </a:rPr>
              <a:t>mục</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Data Type </a:t>
            </a:r>
            <a:r>
              <a:rPr lang="en-US" sz="1600" dirty="0" err="1">
                <a:latin typeface="Times New Roman" panose="02020603050405020304" pitchFamily="18" charset="0"/>
                <a:cs typeface="Times New Roman" panose="02020603050405020304" pitchFamily="18" charset="0"/>
                <a:sym typeface="Montserrat"/>
              </a:rPr>
              <a:t>kiểm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đổi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thành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dạng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dữ</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liệu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tương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ứng</a:t>
            </a:r>
            <a:r>
              <a:rPr lang="en-US" sz="1600" dirty="0">
                <a:latin typeface="Times New Roman" panose="02020603050405020304" pitchFamily="18" charset="0"/>
                <a:cs typeface="Times New Roman" panose="02020603050405020304" pitchFamily="18" charset="0"/>
                <a:sym typeface="Montserrat"/>
              </a:rPr>
              <a:t>:</a:t>
            </a: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return_date</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Date</a:t>
            </a: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product_id</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store_id</a:t>
            </a:r>
            <a:r>
              <a:rPr lang="en-US" sz="1600" dirty="0">
                <a:latin typeface="Times New Roman" panose="02020603050405020304" pitchFamily="18" charset="0"/>
                <a:cs typeface="Times New Roman" panose="02020603050405020304" pitchFamily="18" charset="0"/>
                <a:sym typeface="Montserrat"/>
              </a:rPr>
              <a:t>, quantity: </a:t>
            </a:r>
            <a:r>
              <a:rPr lang="en-US" sz="1600" b="1" dirty="0">
                <a:latin typeface="Times New Roman" panose="02020603050405020304" pitchFamily="18" charset="0"/>
                <a:cs typeface="Times New Roman" panose="02020603050405020304" pitchFamily="18" charset="0"/>
                <a:sym typeface="Montserrat"/>
              </a:rPr>
              <a:t>Whole numbers</a:t>
            </a:r>
          </a:p>
        </p:txBody>
      </p:sp>
      <p:grpSp>
        <p:nvGrpSpPr>
          <p:cNvPr id="25" name="Group 24">
            <a:extLst>
              <a:ext uri="{FF2B5EF4-FFF2-40B4-BE49-F238E27FC236}">
                <a16:creationId xmlns:a16="http://schemas.microsoft.com/office/drawing/2014/main" id="{12FCFCC7-8782-3F6E-5E57-7714310B77D5}"/>
              </a:ext>
            </a:extLst>
          </p:cNvPr>
          <p:cNvGrpSpPr/>
          <p:nvPr/>
        </p:nvGrpSpPr>
        <p:grpSpPr>
          <a:xfrm>
            <a:off x="0" y="4374714"/>
            <a:ext cx="12192000" cy="2284979"/>
            <a:chOff x="0" y="4323192"/>
            <a:chExt cx="12192000" cy="2284979"/>
          </a:xfrm>
        </p:grpSpPr>
        <p:pic>
          <p:nvPicPr>
            <p:cNvPr id="20" name="Picture 19">
              <a:extLst>
                <a:ext uri="{FF2B5EF4-FFF2-40B4-BE49-F238E27FC236}">
                  <a16:creationId xmlns:a16="http://schemas.microsoft.com/office/drawing/2014/main" id="{34069669-0F2C-36B7-DDFA-A89726C8EB65}"/>
                </a:ext>
              </a:extLst>
            </p:cNvPr>
            <p:cNvPicPr>
              <a:picLocks noChangeAspect="1"/>
            </p:cNvPicPr>
            <p:nvPr/>
          </p:nvPicPr>
          <p:blipFill>
            <a:blip r:embed="rId3"/>
            <a:stretch>
              <a:fillRect/>
            </a:stretch>
          </p:blipFill>
          <p:spPr>
            <a:xfrm>
              <a:off x="0" y="4390749"/>
              <a:ext cx="12192000" cy="1856022"/>
            </a:xfrm>
            <a:prstGeom prst="rect">
              <a:avLst/>
            </a:prstGeom>
          </p:spPr>
        </p:pic>
        <p:sp>
          <p:nvSpPr>
            <p:cNvPr id="21" name="Rectangle 20">
              <a:extLst>
                <a:ext uri="{FF2B5EF4-FFF2-40B4-BE49-F238E27FC236}">
                  <a16:creationId xmlns:a16="http://schemas.microsoft.com/office/drawing/2014/main" id="{8AA3AC5B-A6FA-AF01-2B17-4CEB1B0A902E}"/>
                </a:ext>
              </a:extLst>
            </p:cNvPr>
            <p:cNvSpPr/>
            <p:nvPr/>
          </p:nvSpPr>
          <p:spPr>
            <a:xfrm>
              <a:off x="2180338" y="5923280"/>
              <a:ext cx="1710941" cy="365934"/>
            </a:xfrm>
            <a:prstGeom prst="rect">
              <a:avLst/>
            </a:prstGeom>
            <a:noFill/>
            <a:ln w="1905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516D23BF-6707-E88D-0E0C-BC3D35F62DBC}"/>
                </a:ext>
              </a:extLst>
            </p:cNvPr>
            <p:cNvSpPr/>
            <p:nvPr/>
          </p:nvSpPr>
          <p:spPr>
            <a:xfrm>
              <a:off x="9235440" y="4631563"/>
              <a:ext cx="975360" cy="220705"/>
            </a:xfrm>
            <a:prstGeom prst="rect">
              <a:avLst/>
            </a:prstGeom>
            <a:noFill/>
            <a:ln w="1905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23" name="TextBox 22">
              <a:extLst>
                <a:ext uri="{FF2B5EF4-FFF2-40B4-BE49-F238E27FC236}">
                  <a16:creationId xmlns:a16="http://schemas.microsoft.com/office/drawing/2014/main" id="{167BEE1D-592A-48D0-441F-F7B1AD13C70E}"/>
                </a:ext>
              </a:extLst>
            </p:cNvPr>
            <p:cNvSpPr txBox="1"/>
            <p:nvPr/>
          </p:nvSpPr>
          <p:spPr>
            <a:xfrm>
              <a:off x="2881759" y="6238839"/>
              <a:ext cx="308098" cy="369332"/>
            </a:xfrm>
            <a:prstGeom prst="rect">
              <a:avLst/>
            </a:prstGeom>
            <a:noFill/>
          </p:spPr>
          <p:txBody>
            <a:bodyPr wrap="none" rtlCol="0">
              <a:spAutoFit/>
            </a:bodyPr>
            <a:lstStyle/>
            <a:p>
              <a:r>
                <a:rPr lang="en-US" dirty="0">
                  <a:solidFill>
                    <a:srgbClr val="00B0F0"/>
                  </a:solidFill>
                  <a:latin typeface="Times New Roman" panose="02020603050405020304" pitchFamily="18" charset="0"/>
                  <a:cs typeface="Times New Roman" panose="02020603050405020304" pitchFamily="18" charset="0"/>
                </a:rPr>
                <a:t>1</a:t>
              </a:r>
            </a:p>
          </p:txBody>
        </p:sp>
        <p:sp>
          <p:nvSpPr>
            <p:cNvPr id="24" name="TextBox 23">
              <a:extLst>
                <a:ext uri="{FF2B5EF4-FFF2-40B4-BE49-F238E27FC236}">
                  <a16:creationId xmlns:a16="http://schemas.microsoft.com/office/drawing/2014/main" id="{089C7477-125F-C3D3-5AC0-2DAA3C0A92F6}"/>
                </a:ext>
              </a:extLst>
            </p:cNvPr>
            <p:cNvSpPr txBox="1"/>
            <p:nvPr/>
          </p:nvSpPr>
          <p:spPr>
            <a:xfrm>
              <a:off x="9569071" y="4323192"/>
              <a:ext cx="308098" cy="369332"/>
            </a:xfrm>
            <a:prstGeom prst="rect">
              <a:avLst/>
            </a:prstGeom>
            <a:noFill/>
          </p:spPr>
          <p:txBody>
            <a:bodyPr wrap="none" rtlCol="0">
              <a:spAutoFit/>
            </a:bodyPr>
            <a:lstStyle/>
            <a:p>
              <a:r>
                <a:rPr lang="en-US" dirty="0">
                  <a:solidFill>
                    <a:srgbClr val="00B0F0"/>
                  </a:solidFill>
                  <a:latin typeface="Times New Roman" panose="02020603050405020304" pitchFamily="18" charset="0"/>
                  <a:cs typeface="Times New Roman" panose="02020603050405020304" pitchFamily="18" charset="0"/>
                </a:rPr>
                <a:t>2</a:t>
              </a:r>
            </a:p>
          </p:txBody>
        </p:sp>
      </p:grpSp>
      <p:sp>
        <p:nvSpPr>
          <p:cNvPr id="3" name="Rectangle 2">
            <a:extLst>
              <a:ext uri="{FF2B5EF4-FFF2-40B4-BE49-F238E27FC236}">
                <a16:creationId xmlns:a16="http://schemas.microsoft.com/office/drawing/2014/main" id="{13F307E7-00D5-B55C-F778-F09D951836AD}"/>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3C78940A-4F2C-57BC-B21F-5EC1EF81ED8C}"/>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2. </a:t>
            </a:r>
            <a:r>
              <a:rPr lang="en-US" sz="2000" b="1" dirty="0" err="1">
                <a:solidFill>
                  <a:srgbClr val="113A71"/>
                </a:solidFill>
                <a:latin typeface="Times New Roman" panose="02020603050405020304" pitchFamily="18" charset="0"/>
                <a:cs typeface="Times New Roman" panose="02020603050405020304" pitchFamily="18" charset="0"/>
              </a:rPr>
              <a:t>Kết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nối</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và</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định</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dạng</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670872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1A8C6-1210-D960-F4CB-991E3989FF5F}"/>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5E73FFE5-2CB3-894A-7A0E-702B1B5568B1}"/>
              </a:ext>
            </a:extLst>
          </p:cNvPr>
          <p:cNvSpPr txBox="1"/>
          <p:nvPr/>
        </p:nvSpPr>
        <p:spPr>
          <a:xfrm>
            <a:off x="357248" y="654438"/>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2" name="Google Shape;642;p53">
            <a:extLst>
              <a:ext uri="{FF2B5EF4-FFF2-40B4-BE49-F238E27FC236}">
                <a16:creationId xmlns:a16="http://schemas.microsoft.com/office/drawing/2014/main" id="{76694441-FACF-D4CE-E676-8032650C60BA}"/>
              </a:ext>
            </a:extLst>
          </p:cNvPr>
          <p:cNvSpPr txBox="1"/>
          <p:nvPr/>
        </p:nvSpPr>
        <p:spPr>
          <a:xfrm>
            <a:off x="357248" y="2379461"/>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sp>
        <p:nvSpPr>
          <p:cNvPr id="7" name="Google Shape;642;p53">
            <a:extLst>
              <a:ext uri="{FF2B5EF4-FFF2-40B4-BE49-F238E27FC236}">
                <a16:creationId xmlns:a16="http://schemas.microsoft.com/office/drawing/2014/main" id="{937FBDA3-0C98-0ED8-F11E-9AC001BD3EB2}"/>
              </a:ext>
            </a:extLst>
          </p:cNvPr>
          <p:cNvSpPr txBox="1"/>
          <p:nvPr/>
        </p:nvSpPr>
        <p:spPr>
          <a:xfrm>
            <a:off x="498663" y="2742875"/>
            <a:ext cx="11194673" cy="589915"/>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1 folder </a:t>
            </a:r>
            <a:r>
              <a:rPr lang="en-US" sz="1600" dirty="0" err="1">
                <a:latin typeface="Times New Roman" panose="02020603050405020304" pitchFamily="18" charset="0"/>
                <a:cs typeface="Times New Roman" panose="02020603050405020304" pitchFamily="18" charset="0"/>
                <a:sym typeface="Montserrat"/>
              </a:rPr>
              <a:t>chứa</a:t>
            </a:r>
            <a:r>
              <a:rPr lang="en-US" sz="1600" dirty="0">
                <a:latin typeface="Times New Roman" panose="02020603050405020304" pitchFamily="18" charset="0"/>
                <a:cs typeface="Times New Roman" panose="02020603050405020304" pitchFamily="18" charset="0"/>
                <a:sym typeface="Montserrat"/>
              </a:rPr>
              <a:t> 2 file </a:t>
            </a:r>
            <a:r>
              <a:rPr lang="en-US" sz="1600" b="1" i="1" dirty="0">
                <a:latin typeface="Times New Roman" panose="02020603050405020304" pitchFamily="18" charset="0"/>
                <a:cs typeface="Times New Roman" panose="02020603050405020304" pitchFamily="18" charset="0"/>
                <a:sym typeface="Montserrat"/>
              </a:rPr>
              <a:t>MavenMarket_Transactions_1997</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MavenMarket_Transactions_1998</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sau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đó</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New Source </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More</a:t>
            </a:r>
            <a:r>
              <a:rPr lang="en-US" sz="1600" dirty="0">
                <a:latin typeface="Times New Roman" panose="02020603050405020304" pitchFamily="18" charset="0"/>
                <a:cs typeface="Times New Roman" panose="02020603050405020304" pitchFamily="18" charset="0"/>
                <a:sym typeface="Wingdings" panose="05000000000000000000" pitchFamily="2" charset="2"/>
              </a:rPr>
              <a:t>  </a:t>
            </a:r>
            <a:r>
              <a:rPr lang="en-US" sz="1600" b="1" dirty="0">
                <a:latin typeface="Times New Roman" panose="02020603050405020304" pitchFamily="18" charset="0"/>
                <a:cs typeface="Times New Roman" panose="02020603050405020304" pitchFamily="18" charset="0"/>
                <a:sym typeface="Wingdings" panose="05000000000000000000" pitchFamily="2" charset="2"/>
              </a:rPr>
              <a:t>Folder</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chọn</a:t>
            </a:r>
            <a:r>
              <a:rPr lang="en-US" sz="1600" dirty="0">
                <a:latin typeface="Times New Roman" panose="02020603050405020304" pitchFamily="18" charset="0"/>
                <a:cs typeface="Times New Roman" panose="02020603050405020304" pitchFamily="18" charset="0"/>
                <a:sym typeface="Wingdings" panose="05000000000000000000" pitchFamily="2" charset="2"/>
              </a:rPr>
              <a:t> folder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vừa</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tạo</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sau</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đó</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bấm</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Combine &amp; Transform Data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để</a:t>
            </a:r>
            <a:r>
              <a:rPr lang="en-US" sz="1600" dirty="0">
                <a:latin typeface="Times New Roman" panose="02020603050405020304" pitchFamily="18" charset="0"/>
                <a:cs typeface="Times New Roman" panose="02020603050405020304" pitchFamily="18" charset="0"/>
                <a:sym typeface="Wingdings" panose="05000000000000000000" pitchFamily="2" charset="2"/>
              </a:rPr>
              <a:t> Power BI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kết</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hợp</a:t>
            </a:r>
            <a:r>
              <a:rPr lang="en-US" sz="1600" dirty="0">
                <a:latin typeface="Times New Roman" panose="02020603050405020304" pitchFamily="18" charset="0"/>
                <a:cs typeface="Times New Roman" panose="02020603050405020304" pitchFamily="18" charset="0"/>
                <a:sym typeface="Wingdings" panose="05000000000000000000" pitchFamily="2" charset="2"/>
              </a:rPr>
              <a:t> 2 files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và</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kết</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nố</a:t>
            </a:r>
            <a:r>
              <a:rPr lang="en-US" sz="1600" dirty="0" err="1">
                <a:latin typeface="Times New Roman" panose="02020603050405020304" pitchFamily="18" charset="0"/>
                <a:cs typeface="Times New Roman" panose="02020603050405020304" pitchFamily="18" charset="0"/>
                <a:sym typeface="Montserrat"/>
              </a:rPr>
              <a:t>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dữ</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liệu</a:t>
            </a:r>
            <a:r>
              <a:rPr lang="en-US" sz="1600" dirty="0">
                <a:latin typeface="Times New Roman" panose="02020603050405020304" pitchFamily="18" charset="0"/>
                <a:cs typeface="Times New Roman" panose="02020603050405020304" pitchFamily="18" charset="0"/>
                <a:sym typeface="Montserrat"/>
              </a:rPr>
              <a:t>.</a:t>
            </a:r>
            <a:endParaRPr lang="en-US" sz="1600" b="1" dirty="0">
              <a:latin typeface="Times New Roman" panose="02020603050405020304" pitchFamily="18" charset="0"/>
              <a:cs typeface="Times New Roman" panose="02020603050405020304" pitchFamily="18" charset="0"/>
              <a:sym typeface="Montserrat"/>
            </a:endParaRPr>
          </a:p>
        </p:txBody>
      </p:sp>
      <p:pic>
        <p:nvPicPr>
          <p:cNvPr id="6" name="Picture 5">
            <a:extLst>
              <a:ext uri="{FF2B5EF4-FFF2-40B4-BE49-F238E27FC236}">
                <a16:creationId xmlns:a16="http://schemas.microsoft.com/office/drawing/2014/main" id="{2DA2F414-04D0-8794-21F5-282942B4F6F5}"/>
              </a:ext>
            </a:extLst>
          </p:cNvPr>
          <p:cNvPicPr>
            <a:picLocks noChangeAspect="1"/>
          </p:cNvPicPr>
          <p:nvPr/>
        </p:nvPicPr>
        <p:blipFill>
          <a:blip r:embed="rId2"/>
          <a:stretch>
            <a:fillRect/>
          </a:stretch>
        </p:blipFill>
        <p:spPr>
          <a:xfrm>
            <a:off x="2923541" y="836541"/>
            <a:ext cx="5838783" cy="1606069"/>
          </a:xfrm>
          <a:prstGeom prst="rect">
            <a:avLst/>
          </a:prstGeom>
        </p:spPr>
      </p:pic>
      <p:pic>
        <p:nvPicPr>
          <p:cNvPr id="9" name="Picture 8">
            <a:extLst>
              <a:ext uri="{FF2B5EF4-FFF2-40B4-BE49-F238E27FC236}">
                <a16:creationId xmlns:a16="http://schemas.microsoft.com/office/drawing/2014/main" id="{6F363C02-B2E8-A1EE-A2D1-535666A23C76}"/>
              </a:ext>
            </a:extLst>
          </p:cNvPr>
          <p:cNvPicPr>
            <a:picLocks noChangeAspect="1"/>
          </p:cNvPicPr>
          <p:nvPr/>
        </p:nvPicPr>
        <p:blipFill>
          <a:blip r:embed="rId3"/>
          <a:stretch>
            <a:fillRect/>
          </a:stretch>
        </p:blipFill>
        <p:spPr>
          <a:xfrm>
            <a:off x="3866599" y="3332790"/>
            <a:ext cx="4458802" cy="3292525"/>
          </a:xfrm>
          <a:prstGeom prst="rect">
            <a:avLst/>
          </a:prstGeom>
        </p:spPr>
      </p:pic>
      <p:sp>
        <p:nvSpPr>
          <p:cNvPr id="3" name="Rectangle 2">
            <a:extLst>
              <a:ext uri="{FF2B5EF4-FFF2-40B4-BE49-F238E27FC236}">
                <a16:creationId xmlns:a16="http://schemas.microsoft.com/office/drawing/2014/main" id="{449F73E4-FF4C-52C2-436A-A33EF444FF63}"/>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41E7B79A-4686-FFA1-095F-08010FF2D1CE}"/>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2. </a:t>
            </a:r>
            <a:r>
              <a:rPr lang="en-US" sz="2000" b="1" dirty="0" err="1">
                <a:solidFill>
                  <a:srgbClr val="113A71"/>
                </a:solidFill>
                <a:latin typeface="Times New Roman" panose="02020603050405020304" pitchFamily="18" charset="0"/>
                <a:cs typeface="Times New Roman" panose="02020603050405020304" pitchFamily="18" charset="0"/>
              </a:rPr>
              <a:t>Kết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nối</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và</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định</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dạng</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4933400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30452-B739-B0BD-0DF3-E0A8C8D000DB}"/>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EAE3B067-C254-AC84-28BA-CC2A8BF40D58}"/>
              </a:ext>
            </a:extLst>
          </p:cNvPr>
          <p:cNvSpPr txBox="1"/>
          <p:nvPr/>
        </p:nvSpPr>
        <p:spPr>
          <a:xfrm>
            <a:off x="357248" y="711253"/>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2" name="Google Shape;642;p53">
            <a:extLst>
              <a:ext uri="{FF2B5EF4-FFF2-40B4-BE49-F238E27FC236}">
                <a16:creationId xmlns:a16="http://schemas.microsoft.com/office/drawing/2014/main" id="{2C709BF5-5E30-6AEB-DFC9-44046B7BE3CD}"/>
              </a:ext>
            </a:extLst>
          </p:cNvPr>
          <p:cNvSpPr txBox="1"/>
          <p:nvPr/>
        </p:nvSpPr>
        <p:spPr>
          <a:xfrm>
            <a:off x="357246" y="2371109"/>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tt</a:t>
            </a:r>
            <a:r>
              <a:rPr lang="en-US" b="1" dirty="0">
                <a:latin typeface="Times New Roman" panose="02020603050405020304" pitchFamily="18" charset="0"/>
                <a:cs typeface="Times New Roman" panose="02020603050405020304" pitchFamily="18" charset="0"/>
                <a:sym typeface="Montserrat"/>
              </a:rPr>
              <a:t>):</a:t>
            </a:r>
          </a:p>
        </p:txBody>
      </p:sp>
      <p:sp>
        <p:nvSpPr>
          <p:cNvPr id="7" name="Google Shape;642;p53">
            <a:extLst>
              <a:ext uri="{FF2B5EF4-FFF2-40B4-BE49-F238E27FC236}">
                <a16:creationId xmlns:a16="http://schemas.microsoft.com/office/drawing/2014/main" id="{5979741F-9A46-B321-3147-8A16F35A7D3D}"/>
              </a:ext>
            </a:extLst>
          </p:cNvPr>
          <p:cNvSpPr txBox="1"/>
          <p:nvPr/>
        </p:nvSpPr>
        <p:spPr>
          <a:xfrm>
            <a:off x="498663" y="2795217"/>
            <a:ext cx="11194673" cy="297622"/>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a:latin typeface="Times New Roman" panose="02020603050405020304" pitchFamily="18" charset="0"/>
                <a:cs typeface="Times New Roman" panose="02020603050405020304" pitchFamily="18" charset="0"/>
                <a:sym typeface="Montserrat"/>
              </a:rPr>
              <a:t>Sau </a:t>
            </a:r>
            <a:r>
              <a:rPr lang="en-US" sz="1600" dirty="0" err="1">
                <a:latin typeface="Times New Roman" panose="02020603050405020304" pitchFamily="18" charset="0"/>
                <a:cs typeface="Times New Roman" panose="02020603050405020304" pitchFamily="18" charset="0"/>
                <a:sym typeface="Montserrat"/>
              </a:rPr>
              <a:t>khi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kết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nối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dữ</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liệu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đổi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tên</a:t>
            </a:r>
            <a:r>
              <a:rPr lang="en-US" sz="1600" dirty="0">
                <a:latin typeface="Times New Roman" panose="02020603050405020304" pitchFamily="18" charset="0"/>
                <a:cs typeface="Times New Roman" panose="02020603050405020304" pitchFamily="18" charset="0"/>
                <a:sym typeface="Montserrat"/>
              </a:rPr>
              <a:t> file </a:t>
            </a:r>
            <a:r>
              <a:rPr lang="en-US" sz="1600" dirty="0" err="1">
                <a:latin typeface="Times New Roman" panose="02020603050405020304" pitchFamily="18" charset="0"/>
                <a:cs typeface="Times New Roman" panose="02020603050405020304" pitchFamily="18" charset="0"/>
                <a:sym typeface="Montserrat"/>
              </a:rPr>
              <a:t>thành</a:t>
            </a:r>
            <a:r>
              <a:rPr lang="en-US" sz="1600" dirty="0">
                <a:latin typeface="Times New Roman" panose="02020603050405020304" pitchFamily="18" charset="0"/>
                <a:cs typeface="Times New Roman" panose="02020603050405020304" pitchFamily="18" charset="0"/>
                <a:sym typeface="Montserrat"/>
              </a:rPr>
              <a:t> </a:t>
            </a:r>
            <a:r>
              <a:rPr lang="en-US" sz="1600" b="1" i="1" dirty="0" err="1">
                <a:latin typeface="Times New Roman" panose="02020603050405020304" pitchFamily="18" charset="0"/>
                <a:cs typeface="Times New Roman" panose="02020603050405020304" pitchFamily="18" charset="0"/>
                <a:sym typeface="Montserrat"/>
              </a:rPr>
              <a:t>Transaction_Data</a:t>
            </a:r>
            <a:r>
              <a:rPr lang="en-US" sz="1600" dirty="0">
                <a:latin typeface="Times New Roman" panose="02020603050405020304" pitchFamily="18" charset="0"/>
                <a:cs typeface="Times New Roman" panose="02020603050405020304" pitchFamily="18" charset="0"/>
                <a:sym typeface="Montserrat"/>
              </a:rPr>
              <a:t>.</a:t>
            </a:r>
            <a:endParaRPr lang="en-US" sz="1600" b="1" dirty="0">
              <a:latin typeface="Times New Roman" panose="02020603050405020304" pitchFamily="18" charset="0"/>
              <a:cs typeface="Times New Roman" panose="02020603050405020304" pitchFamily="18" charset="0"/>
              <a:sym typeface="Montserrat"/>
            </a:endParaRPr>
          </a:p>
        </p:txBody>
      </p:sp>
      <p:pic>
        <p:nvPicPr>
          <p:cNvPr id="6" name="Picture 5">
            <a:extLst>
              <a:ext uri="{FF2B5EF4-FFF2-40B4-BE49-F238E27FC236}">
                <a16:creationId xmlns:a16="http://schemas.microsoft.com/office/drawing/2014/main" id="{34728534-880B-A196-A409-39AA841A7548}"/>
              </a:ext>
            </a:extLst>
          </p:cNvPr>
          <p:cNvPicPr>
            <a:picLocks noChangeAspect="1"/>
          </p:cNvPicPr>
          <p:nvPr/>
        </p:nvPicPr>
        <p:blipFill>
          <a:blip r:embed="rId2"/>
          <a:stretch>
            <a:fillRect/>
          </a:stretch>
        </p:blipFill>
        <p:spPr>
          <a:xfrm>
            <a:off x="3356607" y="830207"/>
            <a:ext cx="5478779" cy="1507043"/>
          </a:xfrm>
          <a:prstGeom prst="rect">
            <a:avLst/>
          </a:prstGeom>
        </p:spPr>
      </p:pic>
      <p:sp>
        <p:nvSpPr>
          <p:cNvPr id="8" name="Google Shape;642;p53">
            <a:extLst>
              <a:ext uri="{FF2B5EF4-FFF2-40B4-BE49-F238E27FC236}">
                <a16:creationId xmlns:a16="http://schemas.microsoft.com/office/drawing/2014/main" id="{AA6405D1-37CD-1791-53CD-3EEB6FEA7003}"/>
              </a:ext>
            </a:extLst>
          </p:cNvPr>
          <p:cNvSpPr txBox="1"/>
          <p:nvPr/>
        </p:nvSpPr>
        <p:spPr>
          <a:xfrm>
            <a:off x="498663" y="3139568"/>
            <a:ext cx="11194673" cy="943505"/>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a:latin typeface="Times New Roman" panose="02020603050405020304" pitchFamily="18" charset="0"/>
                <a:cs typeface="Times New Roman" panose="02020603050405020304" pitchFamily="18" charset="0"/>
                <a:sym typeface="Montserrat"/>
              </a:rPr>
              <a:t>Sau </a:t>
            </a:r>
            <a:r>
              <a:rPr lang="en-US" sz="1600" dirty="0" err="1">
                <a:latin typeface="Times New Roman" panose="02020603050405020304" pitchFamily="18" charset="0"/>
                <a:cs typeface="Times New Roman" panose="02020603050405020304" pitchFamily="18" charset="0"/>
                <a:sym typeface="Montserrat"/>
              </a:rPr>
              <a:t>khi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xuất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hiện</a:t>
            </a:r>
            <a:r>
              <a:rPr lang="en-US" sz="1600" dirty="0">
                <a:latin typeface="Times New Roman" panose="02020603050405020304" pitchFamily="18" charset="0"/>
                <a:cs typeface="Times New Roman" panose="02020603050405020304" pitchFamily="18" charset="0"/>
                <a:sym typeface="Montserrat"/>
              </a:rPr>
              <a:t> table, </a:t>
            </a:r>
            <a:r>
              <a:rPr lang="en-US" sz="1600" dirty="0" err="1">
                <a:latin typeface="Times New Roman" panose="02020603050405020304" pitchFamily="18" charset="0"/>
                <a:cs typeface="Times New Roman" panose="02020603050405020304" pitchFamily="18" charset="0"/>
                <a:sym typeface="Montserrat"/>
              </a:rPr>
              <a:t>đổi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các</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trường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dữ</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liệu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thành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định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dạng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phù</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hợp</a:t>
            </a:r>
            <a:r>
              <a:rPr lang="en-US" sz="1600" dirty="0">
                <a:latin typeface="Times New Roman" panose="02020603050405020304" pitchFamily="18" charset="0"/>
                <a:cs typeface="Times New Roman" panose="02020603050405020304" pitchFamily="18" charset="0"/>
                <a:sym typeface="Montserrat"/>
              </a:rPr>
              <a:t>:</a:t>
            </a: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transaction_date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stock_date</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Date</a:t>
            </a: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product_id</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customer_id</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store_id</a:t>
            </a:r>
            <a:r>
              <a:rPr lang="en-US" sz="1600" dirty="0">
                <a:latin typeface="Times New Roman" panose="02020603050405020304" pitchFamily="18" charset="0"/>
                <a:cs typeface="Times New Roman" panose="02020603050405020304" pitchFamily="18" charset="0"/>
                <a:sym typeface="Montserrat"/>
              </a:rPr>
              <a:t>, quantity: </a:t>
            </a:r>
            <a:r>
              <a:rPr lang="en-US" sz="1600" b="1" dirty="0">
                <a:latin typeface="Times New Roman" panose="02020603050405020304" pitchFamily="18" charset="0"/>
                <a:cs typeface="Times New Roman" panose="02020603050405020304" pitchFamily="18" charset="0"/>
                <a:sym typeface="Montserrat"/>
              </a:rPr>
              <a:t>Whole number</a:t>
            </a:r>
          </a:p>
        </p:txBody>
      </p:sp>
      <p:grpSp>
        <p:nvGrpSpPr>
          <p:cNvPr id="21" name="Group 20">
            <a:extLst>
              <a:ext uri="{FF2B5EF4-FFF2-40B4-BE49-F238E27FC236}">
                <a16:creationId xmlns:a16="http://schemas.microsoft.com/office/drawing/2014/main" id="{323F0A20-5BF9-D696-7E45-875FEC08B3BF}"/>
              </a:ext>
            </a:extLst>
          </p:cNvPr>
          <p:cNvGrpSpPr/>
          <p:nvPr/>
        </p:nvGrpSpPr>
        <p:grpSpPr>
          <a:xfrm>
            <a:off x="1928461" y="4083073"/>
            <a:ext cx="8335075" cy="1289848"/>
            <a:chOff x="1928457" y="5358161"/>
            <a:chExt cx="8335075" cy="1289848"/>
          </a:xfrm>
        </p:grpSpPr>
        <p:pic>
          <p:nvPicPr>
            <p:cNvPr id="12" name="Picture 11">
              <a:extLst>
                <a:ext uri="{FF2B5EF4-FFF2-40B4-BE49-F238E27FC236}">
                  <a16:creationId xmlns:a16="http://schemas.microsoft.com/office/drawing/2014/main" id="{E048919A-1ABA-BC2D-3635-6D9E2438FD9D}"/>
                </a:ext>
              </a:extLst>
            </p:cNvPr>
            <p:cNvPicPr>
              <a:picLocks noChangeAspect="1"/>
            </p:cNvPicPr>
            <p:nvPr/>
          </p:nvPicPr>
          <p:blipFill>
            <a:blip r:embed="rId3"/>
            <a:stretch>
              <a:fillRect/>
            </a:stretch>
          </p:blipFill>
          <p:spPr>
            <a:xfrm>
              <a:off x="1928457" y="5358161"/>
              <a:ext cx="8335075" cy="1266159"/>
            </a:xfrm>
            <a:prstGeom prst="rect">
              <a:avLst/>
            </a:prstGeom>
          </p:spPr>
        </p:pic>
        <p:sp>
          <p:nvSpPr>
            <p:cNvPr id="16" name="Rectangle 15">
              <a:extLst>
                <a:ext uri="{FF2B5EF4-FFF2-40B4-BE49-F238E27FC236}">
                  <a16:creationId xmlns:a16="http://schemas.microsoft.com/office/drawing/2014/main" id="{7999D1E8-C799-9B74-3ABF-E182AFCCA74D}"/>
                </a:ext>
              </a:extLst>
            </p:cNvPr>
            <p:cNvSpPr/>
            <p:nvPr/>
          </p:nvSpPr>
          <p:spPr>
            <a:xfrm>
              <a:off x="3402326" y="6427304"/>
              <a:ext cx="1188723" cy="220705"/>
            </a:xfrm>
            <a:prstGeom prst="rect">
              <a:avLst/>
            </a:prstGeom>
            <a:noFill/>
            <a:ln w="1905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ACABF5BF-AB06-2898-5906-70355973AC54}"/>
                </a:ext>
              </a:extLst>
            </p:cNvPr>
            <p:cNvSpPr/>
            <p:nvPr/>
          </p:nvSpPr>
          <p:spPr>
            <a:xfrm>
              <a:off x="8280399" y="5561675"/>
              <a:ext cx="632461" cy="130465"/>
            </a:xfrm>
            <a:prstGeom prst="rect">
              <a:avLst/>
            </a:prstGeom>
            <a:noFill/>
            <a:ln w="1905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18" name="TextBox 17">
              <a:extLst>
                <a:ext uri="{FF2B5EF4-FFF2-40B4-BE49-F238E27FC236}">
                  <a16:creationId xmlns:a16="http://schemas.microsoft.com/office/drawing/2014/main" id="{FCA0D050-6F2F-E1E6-864C-0BFE79AD933F}"/>
                </a:ext>
              </a:extLst>
            </p:cNvPr>
            <p:cNvSpPr txBox="1"/>
            <p:nvPr/>
          </p:nvSpPr>
          <p:spPr>
            <a:xfrm>
              <a:off x="3882330" y="6174499"/>
              <a:ext cx="274434" cy="307777"/>
            </a:xfrm>
            <a:prstGeom prst="rect">
              <a:avLst/>
            </a:prstGeom>
            <a:noFill/>
          </p:spPr>
          <p:txBody>
            <a:bodyPr wrap="none" rtlCol="0">
              <a:spAutoFit/>
            </a:bodyPr>
            <a:lstStyle/>
            <a:p>
              <a:r>
                <a:rPr lang="en-US" sz="1400" dirty="0">
                  <a:solidFill>
                    <a:srgbClr val="00B0F0"/>
                  </a:solidFill>
                  <a:latin typeface="Times New Roman" panose="02020603050405020304" pitchFamily="18" charset="0"/>
                  <a:cs typeface="Times New Roman" panose="02020603050405020304" pitchFamily="18" charset="0"/>
                </a:rPr>
                <a:t>1</a:t>
              </a:r>
            </a:p>
          </p:txBody>
        </p:sp>
        <p:sp>
          <p:nvSpPr>
            <p:cNvPr id="20" name="TextBox 19">
              <a:extLst>
                <a:ext uri="{FF2B5EF4-FFF2-40B4-BE49-F238E27FC236}">
                  <a16:creationId xmlns:a16="http://schemas.microsoft.com/office/drawing/2014/main" id="{4A9BBA53-0490-54C8-819C-D18AFDED326C}"/>
                </a:ext>
              </a:extLst>
            </p:cNvPr>
            <p:cNvSpPr txBox="1"/>
            <p:nvPr/>
          </p:nvSpPr>
          <p:spPr>
            <a:xfrm>
              <a:off x="8882265" y="5473018"/>
              <a:ext cx="274434" cy="307777"/>
            </a:xfrm>
            <a:prstGeom prst="rect">
              <a:avLst/>
            </a:prstGeom>
            <a:noFill/>
          </p:spPr>
          <p:txBody>
            <a:bodyPr wrap="none" rtlCol="0">
              <a:spAutoFit/>
            </a:bodyPr>
            <a:lstStyle/>
            <a:p>
              <a:r>
                <a:rPr lang="en-US" sz="1400" dirty="0">
                  <a:solidFill>
                    <a:srgbClr val="00B0F0"/>
                  </a:solidFill>
                  <a:latin typeface="Times New Roman" panose="02020603050405020304" pitchFamily="18" charset="0"/>
                  <a:cs typeface="Times New Roman" panose="02020603050405020304" pitchFamily="18" charset="0"/>
                </a:rPr>
                <a:t>2</a:t>
              </a:r>
            </a:p>
          </p:txBody>
        </p:sp>
      </p:grpSp>
      <p:sp>
        <p:nvSpPr>
          <p:cNvPr id="3" name="Rectangle 2">
            <a:extLst>
              <a:ext uri="{FF2B5EF4-FFF2-40B4-BE49-F238E27FC236}">
                <a16:creationId xmlns:a16="http://schemas.microsoft.com/office/drawing/2014/main" id="{81538F0C-3AD1-B819-7A28-0FCD23865A1B}"/>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9" name="Rectangle 1">
            <a:extLst>
              <a:ext uri="{FF2B5EF4-FFF2-40B4-BE49-F238E27FC236}">
                <a16:creationId xmlns:a16="http://schemas.microsoft.com/office/drawing/2014/main" id="{0A0F08EA-A8F7-B47D-CF3A-A5434498E701}"/>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2. </a:t>
            </a:r>
            <a:r>
              <a:rPr lang="en-US" sz="2000" b="1" dirty="0" err="1">
                <a:solidFill>
                  <a:srgbClr val="113A71"/>
                </a:solidFill>
                <a:latin typeface="Times New Roman" panose="02020603050405020304" pitchFamily="18" charset="0"/>
                <a:cs typeface="Times New Roman" panose="02020603050405020304" pitchFamily="18" charset="0"/>
              </a:rPr>
              <a:t>Kết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nối</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và</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định</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dạng</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6882166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581D4-7EFA-CA3E-7D77-B3B72DE408E9}"/>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1342F220-B07C-5D93-B59E-5944508AF88D}"/>
              </a:ext>
            </a:extLst>
          </p:cNvPr>
          <p:cNvSpPr txBox="1"/>
          <p:nvPr/>
        </p:nvSpPr>
        <p:spPr>
          <a:xfrm>
            <a:off x="357248" y="863653"/>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4" name="Google Shape;642;p53">
            <a:extLst>
              <a:ext uri="{FF2B5EF4-FFF2-40B4-BE49-F238E27FC236}">
                <a16:creationId xmlns:a16="http://schemas.microsoft.com/office/drawing/2014/main" id="{EDC87FB7-5904-999D-ED9D-27F1119983AC}"/>
              </a:ext>
            </a:extLst>
          </p:cNvPr>
          <p:cNvSpPr txBox="1"/>
          <p:nvPr/>
        </p:nvSpPr>
        <p:spPr>
          <a:xfrm>
            <a:off x="357248" y="1644150"/>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1:</a:t>
            </a:r>
          </a:p>
        </p:txBody>
      </p:sp>
      <p:pic>
        <p:nvPicPr>
          <p:cNvPr id="5" name="Picture 4">
            <a:extLst>
              <a:ext uri="{FF2B5EF4-FFF2-40B4-BE49-F238E27FC236}">
                <a16:creationId xmlns:a16="http://schemas.microsoft.com/office/drawing/2014/main" id="{D9A91CEE-5647-8206-ED43-95AC5848650C}"/>
              </a:ext>
            </a:extLst>
          </p:cNvPr>
          <p:cNvPicPr>
            <a:picLocks noChangeAspect="1"/>
          </p:cNvPicPr>
          <p:nvPr/>
        </p:nvPicPr>
        <p:blipFill>
          <a:blip r:embed="rId2"/>
          <a:stretch>
            <a:fillRect/>
          </a:stretch>
        </p:blipFill>
        <p:spPr>
          <a:xfrm>
            <a:off x="1330493" y="942139"/>
            <a:ext cx="9531013" cy="623525"/>
          </a:xfrm>
          <a:prstGeom prst="rect">
            <a:avLst/>
          </a:prstGeom>
        </p:spPr>
      </p:pic>
      <p:pic>
        <p:nvPicPr>
          <p:cNvPr id="22" name="Picture 21">
            <a:extLst>
              <a:ext uri="{FF2B5EF4-FFF2-40B4-BE49-F238E27FC236}">
                <a16:creationId xmlns:a16="http://schemas.microsoft.com/office/drawing/2014/main" id="{87BB4F4C-D12A-7E65-3752-414C21B4216E}"/>
              </a:ext>
            </a:extLst>
          </p:cNvPr>
          <p:cNvPicPr>
            <a:picLocks noChangeAspect="1"/>
          </p:cNvPicPr>
          <p:nvPr/>
        </p:nvPicPr>
        <p:blipFill>
          <a:blip r:embed="rId3"/>
          <a:stretch>
            <a:fillRect/>
          </a:stretch>
        </p:blipFill>
        <p:spPr>
          <a:xfrm>
            <a:off x="2023493" y="3214768"/>
            <a:ext cx="8145012" cy="3105583"/>
          </a:xfrm>
          <a:prstGeom prst="rect">
            <a:avLst/>
          </a:prstGeom>
        </p:spPr>
      </p:pic>
      <p:sp>
        <p:nvSpPr>
          <p:cNvPr id="23" name="Google Shape;642;p53">
            <a:extLst>
              <a:ext uri="{FF2B5EF4-FFF2-40B4-BE49-F238E27FC236}">
                <a16:creationId xmlns:a16="http://schemas.microsoft.com/office/drawing/2014/main" id="{2BE0B3AC-7BA1-7765-039C-8C231A7C6735}"/>
              </a:ext>
            </a:extLst>
          </p:cNvPr>
          <p:cNvSpPr txBox="1"/>
          <p:nvPr/>
        </p:nvSpPr>
        <p:spPr>
          <a:xfrm>
            <a:off x="519202" y="2034399"/>
            <a:ext cx="9477414" cy="921032"/>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Bấm</a:t>
            </a:r>
            <a:r>
              <a:rPr lang="en-US" sz="1600" dirty="0">
                <a:latin typeface="Times New Roman" panose="02020603050405020304" pitchFamily="18" charset="0"/>
                <a:cs typeface="Times New Roman" panose="02020603050405020304" pitchFamily="18" charset="0"/>
                <a:sym typeface="Montserrat"/>
              </a:rPr>
              <a:t> </a:t>
            </a:r>
            <a:r>
              <a:rPr lang="en-US" sz="1600" b="1" dirty="0" err="1">
                <a:latin typeface="Times New Roman" panose="02020603050405020304" pitchFamily="18" charset="0"/>
                <a:cs typeface="Times New Roman" panose="02020603050405020304" pitchFamily="18" charset="0"/>
                <a:sym typeface="Montserrat"/>
              </a:rPr>
              <a:t>phím</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Ctrl</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chọn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b="1" dirty="0" err="1">
                <a:latin typeface="Times New Roman" panose="02020603050405020304" pitchFamily="18" charset="0"/>
                <a:cs typeface="Times New Roman" panose="02020603050405020304" pitchFamily="18" charset="0"/>
                <a:sym typeface="Montserrat"/>
              </a:rPr>
              <a:t>first_name</a:t>
            </a:r>
            <a:r>
              <a:rPr lang="en-US" sz="1600" b="1"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a:t>
            </a:r>
            <a:r>
              <a:rPr lang="en-US" sz="1600" dirty="0">
                <a:latin typeface="Times New Roman" panose="02020603050405020304" pitchFamily="18" charset="0"/>
                <a:cs typeface="Times New Roman" panose="02020603050405020304" pitchFamily="18" charset="0"/>
                <a:sym typeface="Montserrat"/>
              </a:rPr>
              <a:t> </a:t>
            </a:r>
            <a:r>
              <a:rPr lang="en-US" sz="1600" b="1" dirty="0" err="1">
                <a:latin typeface="Times New Roman" panose="02020603050405020304" pitchFamily="18" charset="0"/>
                <a:cs typeface="Times New Roman" panose="02020603050405020304" pitchFamily="18" charset="0"/>
                <a:sym typeface="Montserrat"/>
              </a:rPr>
              <a:t>last_name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sau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đó</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Add Column </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Merge Columns</a:t>
            </a:r>
            <a:endParaRPr lang="en-US" sz="1600" b="1" dirty="0">
              <a:latin typeface="Times New Roman" panose="02020603050405020304" pitchFamily="18" charset="0"/>
              <a:cs typeface="Times New Roman" panose="02020603050405020304" pitchFamily="18" charset="0"/>
              <a:sym typeface="Montserrat"/>
            </a:endParaRP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Mục</a:t>
            </a:r>
            <a:r>
              <a:rPr lang="en-US" sz="1600" dirty="0">
                <a:latin typeface="Times New Roman" panose="02020603050405020304" pitchFamily="18" charset="0"/>
                <a:cs typeface="Times New Roman" panose="02020603050405020304" pitchFamily="18" charset="0"/>
                <a:sym typeface="Montserrat"/>
              </a:rPr>
              <a:t> </a:t>
            </a:r>
            <a:r>
              <a:rPr lang="en-US" sz="1600" b="1" dirty="0" err="1">
                <a:latin typeface="Times New Roman" panose="02020603050405020304" pitchFamily="18" charset="0"/>
                <a:cs typeface="Times New Roman" panose="02020603050405020304" pitchFamily="18" charset="0"/>
                <a:sym typeface="Montserrat"/>
              </a:rPr>
              <a:t>Seperator</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chọn</a:t>
            </a:r>
            <a:r>
              <a:rPr lang="en-US" sz="1600" dirty="0">
                <a:latin typeface="Times New Roman" panose="02020603050405020304" pitchFamily="18" charset="0"/>
                <a:cs typeface="Times New Roman" panose="02020603050405020304" pitchFamily="18" charset="0"/>
                <a:sym typeface="Montserrat"/>
              </a:rPr>
              <a:t> </a:t>
            </a:r>
            <a:r>
              <a:rPr lang="en-US" sz="1600" i="1" dirty="0">
                <a:latin typeface="Times New Roman" panose="02020603050405020304" pitchFamily="18" charset="0"/>
                <a:cs typeface="Times New Roman" panose="02020603050405020304" pitchFamily="18" charset="0"/>
                <a:sym typeface="Montserrat"/>
              </a:rPr>
              <a:t>Space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có</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khoảng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cách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giữa</a:t>
            </a:r>
            <a:r>
              <a:rPr lang="en-US" sz="1600" dirty="0">
                <a:latin typeface="Times New Roman" panose="02020603050405020304" pitchFamily="18" charset="0"/>
                <a:cs typeface="Times New Roman" panose="02020603050405020304" pitchFamily="18" charset="0"/>
                <a:sym typeface="Montserrat"/>
              </a:rPr>
              <a:t> 2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khi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gộp</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lại</a:t>
            </a:r>
            <a:r>
              <a:rPr lang="en-US" sz="1600" dirty="0">
                <a:latin typeface="Times New Roman" panose="02020603050405020304" pitchFamily="18" charset="0"/>
                <a:cs typeface="Times New Roman" panose="02020603050405020304" pitchFamily="18" charset="0"/>
                <a:sym typeface="Montserrat"/>
              </a:rPr>
              <a:t>.</a:t>
            </a: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Mục</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New column name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Đặt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tên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mới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là</a:t>
            </a:r>
            <a:r>
              <a:rPr lang="en-US" sz="1600" dirty="0">
                <a:latin typeface="Times New Roman" panose="02020603050405020304" pitchFamily="18" charset="0"/>
                <a:cs typeface="Times New Roman" panose="02020603050405020304" pitchFamily="18" charset="0"/>
                <a:sym typeface="Montserrat"/>
              </a:rPr>
              <a:t> </a:t>
            </a:r>
            <a:r>
              <a:rPr lang="en-US" sz="1600" i="1" dirty="0" err="1">
                <a:latin typeface="Times New Roman" panose="02020603050405020304" pitchFamily="18" charset="0"/>
                <a:cs typeface="Times New Roman" panose="02020603050405020304" pitchFamily="18" charset="0"/>
                <a:sym typeface="Montserrat"/>
              </a:rPr>
              <a:t>full_name</a:t>
            </a:r>
            <a:r>
              <a:rPr lang="en-US" sz="1600" dirty="0">
                <a:latin typeface="Times New Roman" panose="02020603050405020304" pitchFamily="18" charset="0"/>
                <a:cs typeface="Times New Roman" panose="02020603050405020304" pitchFamily="18" charset="0"/>
                <a:sym typeface="Montserrat"/>
              </a:rPr>
              <a:t>.</a:t>
            </a:r>
            <a:endParaRPr lang="en-US" sz="1600" i="1" dirty="0">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2" name="Rectangle 1">
            <a:extLst>
              <a:ext uri="{FF2B5EF4-FFF2-40B4-BE49-F238E27FC236}">
                <a16:creationId xmlns:a16="http://schemas.microsoft.com/office/drawing/2014/main" id="{523302D8-B8FB-CA4F-3078-EDC4F95762C1}"/>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377FD06F-7E5E-C976-021E-815391E664FB}"/>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3. </a:t>
            </a:r>
            <a:r>
              <a:rPr lang="en-US" sz="2000" b="1" dirty="0" err="1">
                <a:solidFill>
                  <a:srgbClr val="113A71"/>
                </a:solidFill>
                <a:latin typeface="Times New Roman" panose="02020603050405020304" pitchFamily="18" charset="0"/>
                <a:cs typeface="Times New Roman" panose="02020603050405020304" pitchFamily="18" charset="0"/>
              </a:rPr>
              <a:t>Thêm</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cột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i="1" dirty="0">
                <a:solidFill>
                  <a:srgbClr val="113A71"/>
                </a:solidFill>
                <a:latin typeface="Times New Roman" panose="02020603050405020304" pitchFamily="18" charset="0"/>
                <a:cs typeface="Times New Roman" panose="02020603050405020304" pitchFamily="18" charset="0"/>
              </a:rPr>
              <a:t>– </a:t>
            </a:r>
            <a:r>
              <a:rPr lang="en-US" sz="2000" b="1" i="1" dirty="0" err="1">
                <a:solidFill>
                  <a:srgbClr val="113A71"/>
                </a:solidFill>
                <a:latin typeface="Times New Roman" panose="02020603050405020304" pitchFamily="18" charset="0"/>
                <a:cs typeface="Times New Roman" panose="02020603050405020304" pitchFamily="18" charset="0"/>
              </a:rPr>
              <a:t>Bảng</a:t>
            </a:r>
            <a:r>
              <a:rPr lang="en-US" sz="2000" b="1" i="1" dirty="0">
                <a:solidFill>
                  <a:srgbClr val="113A71"/>
                </a:solidFill>
                <a:latin typeface="Times New Roman" panose="02020603050405020304" pitchFamily="18" charset="0"/>
                <a:cs typeface="Times New Roman" panose="02020603050405020304" pitchFamily="18" charset="0"/>
              </a:rPr>
              <a:t> Customers</a:t>
            </a:r>
          </a:p>
        </p:txBody>
      </p:sp>
    </p:spTree>
    <p:extLst>
      <p:ext uri="{BB962C8B-B14F-4D97-AF65-F5344CB8AC3E}">
        <p14:creationId xmlns:p14="http://schemas.microsoft.com/office/powerpoint/2010/main" val="250800658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2F466-9A46-1EC6-301C-C5951270F2BF}"/>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D391DDD0-4578-83FE-1572-BD7F56BD881F}"/>
              </a:ext>
            </a:extLst>
          </p:cNvPr>
          <p:cNvSpPr txBox="1"/>
          <p:nvPr/>
        </p:nvSpPr>
        <p:spPr>
          <a:xfrm>
            <a:off x="357248" y="735161"/>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4" name="Google Shape;642;p53">
            <a:extLst>
              <a:ext uri="{FF2B5EF4-FFF2-40B4-BE49-F238E27FC236}">
                <a16:creationId xmlns:a16="http://schemas.microsoft.com/office/drawing/2014/main" id="{32874533-E09B-B348-0072-5F4E706C64F7}"/>
              </a:ext>
            </a:extLst>
          </p:cNvPr>
          <p:cNvSpPr txBox="1"/>
          <p:nvPr/>
        </p:nvSpPr>
        <p:spPr>
          <a:xfrm>
            <a:off x="357248" y="1515658"/>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2 </a:t>
            </a:r>
            <a:r>
              <a:rPr lang="en-US" b="1" i="1" dirty="0">
                <a:latin typeface="Times New Roman" panose="02020603050405020304" pitchFamily="18" charset="0"/>
                <a:cs typeface="Times New Roman" panose="02020603050405020304" pitchFamily="18" charset="0"/>
                <a:sym typeface="Montserrat"/>
              </a:rPr>
              <a:t>(</a:t>
            </a:r>
            <a:r>
              <a:rPr lang="en-US" b="1" i="1" dirty="0" err="1">
                <a:latin typeface="Times New Roman" panose="02020603050405020304" pitchFamily="18" charset="0"/>
                <a:cs typeface="Times New Roman" panose="02020603050405020304" pitchFamily="18" charset="0"/>
                <a:sym typeface="Montserrat"/>
              </a:rPr>
              <a:t>Nâng</a:t>
            </a:r>
            <a:r>
              <a:rPr lang="en-US" b="1" i="1" dirty="0">
                <a:latin typeface="Times New Roman" panose="02020603050405020304" pitchFamily="18" charset="0"/>
                <a:cs typeface="Times New Roman" panose="02020603050405020304" pitchFamily="18" charset="0"/>
                <a:sym typeface="Montserrat"/>
              </a:rPr>
              <a:t> </a:t>
            </a:r>
            <a:r>
              <a:rPr lang="en-US" b="1" i="1" dirty="0" err="1">
                <a:latin typeface="Times New Roman" panose="02020603050405020304" pitchFamily="18" charset="0"/>
                <a:cs typeface="Times New Roman" panose="02020603050405020304" pitchFamily="18" charset="0"/>
                <a:sym typeface="Montserrat"/>
              </a:rPr>
              <a:t>cao</a:t>
            </a:r>
            <a:r>
              <a:rPr lang="en-US" b="1" i="1" dirty="0">
                <a:latin typeface="Times New Roman" panose="02020603050405020304" pitchFamily="18" charset="0"/>
                <a:cs typeface="Times New Roman" panose="02020603050405020304" pitchFamily="18" charset="0"/>
                <a:sym typeface="Montserrat"/>
              </a:rPr>
              <a:t>)</a:t>
            </a:r>
            <a:r>
              <a:rPr lang="en-US" b="1" dirty="0">
                <a:latin typeface="Times New Roman" panose="02020603050405020304" pitchFamily="18" charset="0"/>
                <a:cs typeface="Times New Roman" panose="02020603050405020304" pitchFamily="18" charset="0"/>
                <a:sym typeface="Montserrat"/>
              </a:rPr>
              <a:t>:</a:t>
            </a:r>
          </a:p>
        </p:txBody>
      </p:sp>
      <p:pic>
        <p:nvPicPr>
          <p:cNvPr id="5" name="Picture 4">
            <a:extLst>
              <a:ext uri="{FF2B5EF4-FFF2-40B4-BE49-F238E27FC236}">
                <a16:creationId xmlns:a16="http://schemas.microsoft.com/office/drawing/2014/main" id="{96533AC3-7E21-D7F9-CCAD-87D71BE10FD1}"/>
              </a:ext>
            </a:extLst>
          </p:cNvPr>
          <p:cNvPicPr>
            <a:picLocks noChangeAspect="1"/>
          </p:cNvPicPr>
          <p:nvPr/>
        </p:nvPicPr>
        <p:blipFill>
          <a:blip r:embed="rId2"/>
          <a:stretch>
            <a:fillRect/>
          </a:stretch>
        </p:blipFill>
        <p:spPr>
          <a:xfrm>
            <a:off x="1330493" y="813647"/>
            <a:ext cx="9531013" cy="623525"/>
          </a:xfrm>
          <a:prstGeom prst="rect">
            <a:avLst/>
          </a:prstGeom>
        </p:spPr>
      </p:pic>
      <p:sp>
        <p:nvSpPr>
          <p:cNvPr id="2" name="Google Shape;642;p53">
            <a:extLst>
              <a:ext uri="{FF2B5EF4-FFF2-40B4-BE49-F238E27FC236}">
                <a16:creationId xmlns:a16="http://schemas.microsoft.com/office/drawing/2014/main" id="{A65ECD44-DD31-E0BA-DCDE-A97DB5966C8F}"/>
              </a:ext>
            </a:extLst>
          </p:cNvPr>
          <p:cNvSpPr txBox="1"/>
          <p:nvPr/>
        </p:nvSpPr>
        <p:spPr>
          <a:xfrm>
            <a:off x="616236" y="1855107"/>
            <a:ext cx="10529284" cy="921032"/>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Wingdings" panose="05000000000000000000" pitchFamily="2" charset="2"/>
              </a:rPr>
              <a:t>Chọn</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Add Column </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Custom Column</a:t>
            </a:r>
            <a:r>
              <a:rPr lang="en-US" sz="1600" dirty="0">
                <a:latin typeface="Times New Roman" panose="02020603050405020304" pitchFamily="18" charset="0"/>
                <a:cs typeface="Times New Roman" panose="02020603050405020304" pitchFamily="18" charset="0"/>
                <a:sym typeface="Wingdings" panose="05000000000000000000" pitchFamily="2" charset="2"/>
              </a:rPr>
              <a:t>:</a:t>
            </a:r>
          </a:p>
          <a:p>
            <a:pPr marL="285750" lvl="0" indent="-285750" algn="just">
              <a:lnSpc>
                <a:spcPct val="120000"/>
              </a:lnSpc>
              <a:buClr>
                <a:schemeClr val="dk1"/>
              </a:buClr>
              <a:buSzPts val="14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sym typeface="Wingdings" panose="05000000000000000000" pitchFamily="2" charset="2"/>
              </a:rPr>
              <a:t>Ở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mục</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New column name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đặt</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tên</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cột</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là</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full_name</a:t>
            </a:r>
            <a:endParaRPr lang="en-US" sz="1600" dirty="0">
              <a:latin typeface="Times New Roman" panose="02020603050405020304" pitchFamily="18" charset="0"/>
              <a:cs typeface="Times New Roman" panose="02020603050405020304" pitchFamily="18" charset="0"/>
              <a:sym typeface="Wingdings" panose="05000000000000000000" pitchFamily="2" charset="2"/>
            </a:endParaRPr>
          </a:p>
          <a:p>
            <a:pPr marL="285750" lvl="0" indent="-285750" algn="just">
              <a:lnSpc>
                <a:spcPct val="120000"/>
              </a:lnSpc>
              <a:buClr>
                <a:schemeClr val="dk1"/>
              </a:buClr>
              <a:buSzPts val="14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sym typeface="Wingdings" panose="05000000000000000000" pitchFamily="2" charset="2"/>
              </a:rPr>
              <a:t>Ở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mục</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Custom column formula</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nhập</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công</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thức</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i="1" dirty="0" err="1">
                <a:latin typeface="Times New Roman" panose="02020603050405020304" pitchFamily="18" charset="0"/>
                <a:cs typeface="Times New Roman" panose="02020603050405020304" pitchFamily="18" charset="0"/>
                <a:sym typeface="Wingdings" panose="05000000000000000000" pitchFamily="2" charset="2"/>
              </a:rPr>
              <a:t>Text.Combine</a:t>
            </a:r>
            <a:r>
              <a:rPr lang="en-US" sz="1600" i="1" dirty="0">
                <a:latin typeface="Times New Roman" panose="02020603050405020304" pitchFamily="18" charset="0"/>
                <a:cs typeface="Times New Roman" panose="02020603050405020304" pitchFamily="18" charset="0"/>
                <a:sym typeface="Wingdings" panose="05000000000000000000" pitchFamily="2" charset="2"/>
              </a:rPr>
              <a:t>().</a:t>
            </a:r>
          </a:p>
        </p:txBody>
      </p:sp>
      <p:grpSp>
        <p:nvGrpSpPr>
          <p:cNvPr id="10" name="Group 9">
            <a:extLst>
              <a:ext uri="{FF2B5EF4-FFF2-40B4-BE49-F238E27FC236}">
                <a16:creationId xmlns:a16="http://schemas.microsoft.com/office/drawing/2014/main" id="{392FCDDA-C465-092B-0772-3218CC08BECC}"/>
              </a:ext>
            </a:extLst>
          </p:cNvPr>
          <p:cNvGrpSpPr/>
          <p:nvPr/>
        </p:nvGrpSpPr>
        <p:grpSpPr>
          <a:xfrm>
            <a:off x="3564081" y="3900058"/>
            <a:ext cx="4623338" cy="2726802"/>
            <a:chOff x="3550401" y="3760693"/>
            <a:chExt cx="4585064" cy="2821578"/>
          </a:xfrm>
        </p:grpSpPr>
        <p:pic>
          <p:nvPicPr>
            <p:cNvPr id="13" name="Picture 12">
              <a:extLst>
                <a:ext uri="{FF2B5EF4-FFF2-40B4-BE49-F238E27FC236}">
                  <a16:creationId xmlns:a16="http://schemas.microsoft.com/office/drawing/2014/main" id="{B2889C5C-D284-672C-8FE4-5A611842DB5F}"/>
                </a:ext>
              </a:extLst>
            </p:cNvPr>
            <p:cNvPicPr>
              <a:picLocks noChangeAspect="1"/>
            </p:cNvPicPr>
            <p:nvPr/>
          </p:nvPicPr>
          <p:blipFill>
            <a:blip r:embed="rId3"/>
            <a:stretch>
              <a:fillRect/>
            </a:stretch>
          </p:blipFill>
          <p:spPr>
            <a:xfrm>
              <a:off x="3550401" y="3760693"/>
              <a:ext cx="4585064" cy="2821578"/>
            </a:xfrm>
            <a:prstGeom prst="rect">
              <a:avLst/>
            </a:prstGeom>
          </p:spPr>
        </p:pic>
        <p:sp>
          <p:nvSpPr>
            <p:cNvPr id="8" name="Rectangle 7">
              <a:extLst>
                <a:ext uri="{FF2B5EF4-FFF2-40B4-BE49-F238E27FC236}">
                  <a16:creationId xmlns:a16="http://schemas.microsoft.com/office/drawing/2014/main" id="{002E9EA4-20C6-05BD-6144-DC5E08E442B6}"/>
                </a:ext>
              </a:extLst>
            </p:cNvPr>
            <p:cNvSpPr/>
            <p:nvPr/>
          </p:nvSpPr>
          <p:spPr>
            <a:xfrm>
              <a:off x="3652260" y="4694080"/>
              <a:ext cx="2149100" cy="284320"/>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F757DF2A-F3E9-1C84-E6A4-B2D085D7D9FD}"/>
              </a:ext>
            </a:extLst>
          </p:cNvPr>
          <p:cNvGrpSpPr/>
          <p:nvPr/>
        </p:nvGrpSpPr>
        <p:grpSpPr>
          <a:xfrm>
            <a:off x="2168641" y="2792583"/>
            <a:ext cx="7348584" cy="1123223"/>
            <a:chOff x="2168641" y="2640518"/>
            <a:chExt cx="7348584" cy="1123223"/>
          </a:xfrm>
        </p:grpSpPr>
        <p:grpSp>
          <p:nvGrpSpPr>
            <p:cNvPr id="9" name="Group 8">
              <a:extLst>
                <a:ext uri="{FF2B5EF4-FFF2-40B4-BE49-F238E27FC236}">
                  <a16:creationId xmlns:a16="http://schemas.microsoft.com/office/drawing/2014/main" id="{7EFD1CA4-088E-C996-199D-4C9FCB23A91D}"/>
                </a:ext>
              </a:extLst>
            </p:cNvPr>
            <p:cNvGrpSpPr/>
            <p:nvPr/>
          </p:nvGrpSpPr>
          <p:grpSpPr>
            <a:xfrm>
              <a:off x="2168641" y="2678384"/>
              <a:ext cx="7348584" cy="1051829"/>
              <a:chOff x="2168641" y="2708864"/>
              <a:chExt cx="7348584" cy="1051829"/>
            </a:xfrm>
          </p:grpSpPr>
          <p:pic>
            <p:nvPicPr>
              <p:cNvPr id="7" name="Picture 6">
                <a:extLst>
                  <a:ext uri="{FF2B5EF4-FFF2-40B4-BE49-F238E27FC236}">
                    <a16:creationId xmlns:a16="http://schemas.microsoft.com/office/drawing/2014/main" id="{4E5F7236-41A9-C408-3BD4-30F4C2A618CA}"/>
                  </a:ext>
                </a:extLst>
              </p:cNvPr>
              <p:cNvPicPr>
                <a:picLocks noChangeAspect="1"/>
              </p:cNvPicPr>
              <p:nvPr/>
            </p:nvPicPr>
            <p:blipFill>
              <a:blip r:embed="rId4"/>
              <a:stretch>
                <a:fillRect/>
              </a:stretch>
            </p:blipFill>
            <p:spPr>
              <a:xfrm>
                <a:off x="2168641" y="2708864"/>
                <a:ext cx="7348584" cy="1051829"/>
              </a:xfrm>
              <a:prstGeom prst="rect">
                <a:avLst/>
              </a:prstGeom>
            </p:spPr>
          </p:pic>
          <p:sp>
            <p:nvSpPr>
              <p:cNvPr id="3" name="Rectangle 2">
                <a:extLst>
                  <a:ext uri="{FF2B5EF4-FFF2-40B4-BE49-F238E27FC236}">
                    <a16:creationId xmlns:a16="http://schemas.microsoft.com/office/drawing/2014/main" id="{ABABBF6F-95BE-6423-1676-F94AE627C791}"/>
                  </a:ext>
                </a:extLst>
              </p:cNvPr>
              <p:cNvSpPr/>
              <p:nvPr/>
            </p:nvSpPr>
            <p:spPr>
              <a:xfrm>
                <a:off x="3837940" y="2726644"/>
                <a:ext cx="749300" cy="196486"/>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FF2B1513-2928-A9AD-0465-EC82A7E523AA}"/>
                  </a:ext>
                </a:extLst>
              </p:cNvPr>
              <p:cNvSpPr/>
              <p:nvPr/>
            </p:nvSpPr>
            <p:spPr>
              <a:xfrm>
                <a:off x="2801101" y="2966880"/>
                <a:ext cx="351039" cy="573880"/>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grpSp>
        <p:sp>
          <p:nvSpPr>
            <p:cNvPr id="12" name="TextBox 11">
              <a:extLst>
                <a:ext uri="{FF2B5EF4-FFF2-40B4-BE49-F238E27FC236}">
                  <a16:creationId xmlns:a16="http://schemas.microsoft.com/office/drawing/2014/main" id="{D608A3A2-3431-4CC3-95C8-72890CE59A77}"/>
                </a:ext>
              </a:extLst>
            </p:cNvPr>
            <p:cNvSpPr txBox="1"/>
            <p:nvPr/>
          </p:nvSpPr>
          <p:spPr>
            <a:xfrm>
              <a:off x="4514298" y="2640518"/>
              <a:ext cx="274434" cy="307777"/>
            </a:xfrm>
            <a:prstGeom prst="rect">
              <a:avLst/>
            </a:prstGeom>
            <a:noFill/>
          </p:spPr>
          <p:txBody>
            <a:bodyPr wrap="none" rtlCol="0">
              <a:spAutoFit/>
            </a:bodyPr>
            <a:lstStyle/>
            <a:p>
              <a:r>
                <a:rPr lang="en-US" sz="1400" dirty="0">
                  <a:solidFill>
                    <a:srgbClr val="119303"/>
                  </a:solidFill>
                  <a:latin typeface="Times New Roman" panose="02020603050405020304" pitchFamily="18" charset="0"/>
                  <a:cs typeface="Times New Roman" panose="02020603050405020304" pitchFamily="18" charset="0"/>
                </a:rPr>
                <a:t>1</a:t>
              </a:r>
            </a:p>
          </p:txBody>
        </p:sp>
        <p:sp>
          <p:nvSpPr>
            <p:cNvPr id="14" name="TextBox 13">
              <a:extLst>
                <a:ext uri="{FF2B5EF4-FFF2-40B4-BE49-F238E27FC236}">
                  <a16:creationId xmlns:a16="http://schemas.microsoft.com/office/drawing/2014/main" id="{02B185A2-7A96-7DBA-C98D-B759CA213868}"/>
                </a:ext>
              </a:extLst>
            </p:cNvPr>
            <p:cNvSpPr txBox="1"/>
            <p:nvPr/>
          </p:nvSpPr>
          <p:spPr>
            <a:xfrm>
              <a:off x="2839403" y="3455964"/>
              <a:ext cx="274434" cy="307777"/>
            </a:xfrm>
            <a:prstGeom prst="rect">
              <a:avLst/>
            </a:prstGeom>
            <a:noFill/>
          </p:spPr>
          <p:txBody>
            <a:bodyPr wrap="none" rtlCol="0">
              <a:spAutoFit/>
            </a:bodyPr>
            <a:lstStyle/>
            <a:p>
              <a:r>
                <a:rPr lang="en-US" sz="1400" dirty="0">
                  <a:solidFill>
                    <a:srgbClr val="119303"/>
                  </a:solidFill>
                  <a:latin typeface="Times New Roman" panose="02020603050405020304" pitchFamily="18" charset="0"/>
                  <a:cs typeface="Times New Roman" panose="02020603050405020304" pitchFamily="18" charset="0"/>
                </a:rPr>
                <a:t>2</a:t>
              </a:r>
            </a:p>
          </p:txBody>
        </p:sp>
      </p:grpSp>
      <p:sp>
        <p:nvSpPr>
          <p:cNvPr id="16" name="Rectangle 15">
            <a:extLst>
              <a:ext uri="{FF2B5EF4-FFF2-40B4-BE49-F238E27FC236}">
                <a16:creationId xmlns:a16="http://schemas.microsoft.com/office/drawing/2014/main" id="{ECC36642-3ED3-ECFF-67D9-565B99903421}"/>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17" name="Rectangle 1">
            <a:extLst>
              <a:ext uri="{FF2B5EF4-FFF2-40B4-BE49-F238E27FC236}">
                <a16:creationId xmlns:a16="http://schemas.microsoft.com/office/drawing/2014/main" id="{684E5A0D-69B2-086C-1D8F-9B6347F34DD7}"/>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3. </a:t>
            </a:r>
            <a:r>
              <a:rPr lang="en-US" sz="2000" b="1" dirty="0" err="1">
                <a:solidFill>
                  <a:srgbClr val="113A71"/>
                </a:solidFill>
                <a:latin typeface="Times New Roman" panose="02020603050405020304" pitchFamily="18" charset="0"/>
                <a:cs typeface="Times New Roman" panose="02020603050405020304" pitchFamily="18" charset="0"/>
              </a:rPr>
              <a:t>Thêm</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cột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i="1" dirty="0">
                <a:solidFill>
                  <a:srgbClr val="113A71"/>
                </a:solidFill>
                <a:latin typeface="Times New Roman" panose="02020603050405020304" pitchFamily="18" charset="0"/>
                <a:cs typeface="Times New Roman" panose="02020603050405020304" pitchFamily="18" charset="0"/>
              </a:rPr>
              <a:t>– </a:t>
            </a:r>
            <a:r>
              <a:rPr lang="en-US" sz="2000" b="1" i="1" dirty="0" err="1">
                <a:solidFill>
                  <a:srgbClr val="113A71"/>
                </a:solidFill>
                <a:latin typeface="Times New Roman" panose="02020603050405020304" pitchFamily="18" charset="0"/>
                <a:cs typeface="Times New Roman" panose="02020603050405020304" pitchFamily="18" charset="0"/>
              </a:rPr>
              <a:t>Bảng</a:t>
            </a:r>
            <a:r>
              <a:rPr lang="en-US" sz="2000" b="1" i="1" dirty="0">
                <a:solidFill>
                  <a:srgbClr val="113A71"/>
                </a:solidFill>
                <a:latin typeface="Times New Roman" panose="02020603050405020304" pitchFamily="18" charset="0"/>
                <a:cs typeface="Times New Roman" panose="02020603050405020304" pitchFamily="18" charset="0"/>
              </a:rPr>
              <a:t> Customers </a:t>
            </a:r>
            <a:r>
              <a:rPr lang="en-US" sz="2000" b="1" dirty="0">
                <a:solidFill>
                  <a:srgbClr val="113A71"/>
                </a:solidFill>
                <a:latin typeface="Times New Roman" panose="02020603050405020304" pitchFamily="18" charset="0"/>
                <a:cs typeface="Times New Roman" panose="02020603050405020304" pitchFamily="18" charset="0"/>
              </a:rPr>
              <a:t>(</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sp>
        <p:nvSpPr>
          <p:cNvPr id="18" name="Rectangle 17">
            <a:extLst>
              <a:ext uri="{FF2B5EF4-FFF2-40B4-BE49-F238E27FC236}">
                <a16:creationId xmlns:a16="http://schemas.microsoft.com/office/drawing/2014/main" id="{13ADFD65-8A7F-B898-E7BC-F0C577DC2B69}"/>
              </a:ext>
            </a:extLst>
          </p:cNvPr>
          <p:cNvSpPr/>
          <p:nvPr/>
        </p:nvSpPr>
        <p:spPr>
          <a:xfrm>
            <a:off x="3666790" y="4475368"/>
            <a:ext cx="2167040" cy="274770"/>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59237701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0643C-6C81-1B39-8458-3D85CC96995C}"/>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E8AF736B-5CE7-831F-AC02-B4F8215499B5}"/>
              </a:ext>
            </a:extLst>
          </p:cNvPr>
          <p:cNvSpPr txBox="1"/>
          <p:nvPr/>
        </p:nvSpPr>
        <p:spPr>
          <a:xfrm>
            <a:off x="357248" y="749352"/>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4" name="Google Shape;642;p53">
            <a:extLst>
              <a:ext uri="{FF2B5EF4-FFF2-40B4-BE49-F238E27FC236}">
                <a16:creationId xmlns:a16="http://schemas.microsoft.com/office/drawing/2014/main" id="{323B1452-3B76-D955-0419-DFAA38A18653}"/>
              </a:ext>
            </a:extLst>
          </p:cNvPr>
          <p:cNvSpPr txBox="1"/>
          <p:nvPr/>
        </p:nvSpPr>
        <p:spPr>
          <a:xfrm>
            <a:off x="357248" y="1529849"/>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pic>
        <p:nvPicPr>
          <p:cNvPr id="17" name="Picture 16">
            <a:extLst>
              <a:ext uri="{FF2B5EF4-FFF2-40B4-BE49-F238E27FC236}">
                <a16:creationId xmlns:a16="http://schemas.microsoft.com/office/drawing/2014/main" id="{75EC0DD6-1F3C-70DF-8AB2-E7021D2994B4}"/>
              </a:ext>
            </a:extLst>
          </p:cNvPr>
          <p:cNvPicPr>
            <a:picLocks noChangeAspect="1"/>
          </p:cNvPicPr>
          <p:nvPr/>
        </p:nvPicPr>
        <p:blipFill>
          <a:blip r:embed="rId2"/>
          <a:stretch>
            <a:fillRect/>
          </a:stretch>
        </p:blipFill>
        <p:spPr>
          <a:xfrm>
            <a:off x="1838153" y="831905"/>
            <a:ext cx="8515693" cy="615392"/>
          </a:xfrm>
          <a:prstGeom prst="rect">
            <a:avLst/>
          </a:prstGeom>
        </p:spPr>
      </p:pic>
      <p:sp>
        <p:nvSpPr>
          <p:cNvPr id="18" name="Google Shape;642;p53">
            <a:extLst>
              <a:ext uri="{FF2B5EF4-FFF2-40B4-BE49-F238E27FC236}">
                <a16:creationId xmlns:a16="http://schemas.microsoft.com/office/drawing/2014/main" id="{8789B734-4B6A-5461-C0A0-F9C200BCEE89}"/>
              </a:ext>
            </a:extLst>
          </p:cNvPr>
          <p:cNvSpPr txBox="1"/>
          <p:nvPr/>
        </p:nvSpPr>
        <p:spPr>
          <a:xfrm>
            <a:off x="519202" y="1920098"/>
            <a:ext cx="9477414" cy="390248"/>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Chọn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birthdate, </a:t>
            </a:r>
            <a:r>
              <a:rPr lang="en-US" sz="1600" dirty="0" err="1">
                <a:latin typeface="Times New Roman" panose="02020603050405020304" pitchFamily="18" charset="0"/>
                <a:cs typeface="Times New Roman" panose="02020603050405020304" pitchFamily="18" charset="0"/>
                <a:sym typeface="Montserrat"/>
              </a:rPr>
              <a:t>sau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đó</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Add Column </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Date</a:t>
            </a:r>
            <a:r>
              <a:rPr lang="en-US" sz="1600" dirty="0">
                <a:latin typeface="Times New Roman" panose="02020603050405020304" pitchFamily="18" charset="0"/>
                <a:cs typeface="Times New Roman" panose="02020603050405020304" pitchFamily="18" charset="0"/>
                <a:sym typeface="Wingdings" panose="05000000000000000000" pitchFamily="2" charset="2"/>
              </a:rPr>
              <a:t>  </a:t>
            </a:r>
            <a:r>
              <a:rPr lang="en-US" sz="1600" b="1" dirty="0">
                <a:latin typeface="Times New Roman" panose="02020603050405020304" pitchFamily="18" charset="0"/>
                <a:cs typeface="Times New Roman" panose="02020603050405020304" pitchFamily="18" charset="0"/>
                <a:sym typeface="Wingdings" panose="05000000000000000000" pitchFamily="2" charset="2"/>
              </a:rPr>
              <a:t>Year</a:t>
            </a:r>
            <a:r>
              <a:rPr lang="en-US" sz="1600" dirty="0">
                <a:latin typeface="Times New Roman" panose="02020603050405020304" pitchFamily="18" charset="0"/>
                <a:cs typeface="Times New Roman" panose="02020603050405020304" pitchFamily="18" charset="0"/>
                <a:sym typeface="Wingdings" panose="05000000000000000000" pitchFamily="2" charset="2"/>
              </a:rPr>
              <a:t>  </a:t>
            </a:r>
            <a:r>
              <a:rPr lang="en-US" sz="1600" b="1" dirty="0">
                <a:latin typeface="Times New Roman" panose="02020603050405020304" pitchFamily="18" charset="0"/>
                <a:cs typeface="Times New Roman" panose="02020603050405020304" pitchFamily="18" charset="0"/>
                <a:sym typeface="Wingdings" panose="05000000000000000000" pitchFamily="2" charset="2"/>
              </a:rPr>
              <a:t>Year</a:t>
            </a:r>
            <a:endParaRPr lang="en-US" sz="1600" b="1" i="1" dirty="0">
              <a:latin typeface="Times New Roman" panose="02020603050405020304" pitchFamily="18" charset="0"/>
              <a:cs typeface="Times New Roman" panose="02020603050405020304" pitchFamily="18" charset="0"/>
              <a:sym typeface="Wingdings" panose="05000000000000000000" pitchFamily="2" charset="2"/>
            </a:endParaRPr>
          </a:p>
        </p:txBody>
      </p:sp>
      <p:grpSp>
        <p:nvGrpSpPr>
          <p:cNvPr id="30" name="Group 29">
            <a:extLst>
              <a:ext uri="{FF2B5EF4-FFF2-40B4-BE49-F238E27FC236}">
                <a16:creationId xmlns:a16="http://schemas.microsoft.com/office/drawing/2014/main" id="{E504C741-BFDF-B600-73AB-CA235D090C3F}"/>
              </a:ext>
            </a:extLst>
          </p:cNvPr>
          <p:cNvGrpSpPr/>
          <p:nvPr/>
        </p:nvGrpSpPr>
        <p:grpSpPr>
          <a:xfrm>
            <a:off x="1433990" y="2310346"/>
            <a:ext cx="9324018" cy="2214550"/>
            <a:chOff x="1433990" y="2144090"/>
            <a:chExt cx="9324018" cy="2214550"/>
          </a:xfrm>
        </p:grpSpPr>
        <p:pic>
          <p:nvPicPr>
            <p:cNvPr id="21" name="Picture 20">
              <a:extLst>
                <a:ext uri="{FF2B5EF4-FFF2-40B4-BE49-F238E27FC236}">
                  <a16:creationId xmlns:a16="http://schemas.microsoft.com/office/drawing/2014/main" id="{25D75F75-4FFB-34E7-1E34-0F5FA7E19CA5}"/>
                </a:ext>
              </a:extLst>
            </p:cNvPr>
            <p:cNvPicPr>
              <a:picLocks noChangeAspect="1"/>
            </p:cNvPicPr>
            <p:nvPr/>
          </p:nvPicPr>
          <p:blipFill>
            <a:blip r:embed="rId3"/>
            <a:stretch>
              <a:fillRect/>
            </a:stretch>
          </p:blipFill>
          <p:spPr>
            <a:xfrm>
              <a:off x="1433990" y="2144090"/>
              <a:ext cx="9324018" cy="2214550"/>
            </a:xfrm>
            <a:prstGeom prst="rect">
              <a:avLst/>
            </a:prstGeom>
          </p:spPr>
        </p:pic>
        <p:sp>
          <p:nvSpPr>
            <p:cNvPr id="22" name="Rectangle 21">
              <a:extLst>
                <a:ext uri="{FF2B5EF4-FFF2-40B4-BE49-F238E27FC236}">
                  <a16:creationId xmlns:a16="http://schemas.microsoft.com/office/drawing/2014/main" id="{DDB13944-A406-B030-CF54-9F0DA11A4D7D}"/>
                </a:ext>
              </a:extLst>
            </p:cNvPr>
            <p:cNvSpPr/>
            <p:nvPr/>
          </p:nvSpPr>
          <p:spPr>
            <a:xfrm>
              <a:off x="7122160" y="3627280"/>
              <a:ext cx="985520" cy="324960"/>
            </a:xfrm>
            <a:prstGeom prst="rect">
              <a:avLst/>
            </a:prstGeom>
            <a:noFill/>
            <a:ln w="1905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 </a:t>
              </a:r>
            </a:p>
          </p:txBody>
        </p:sp>
        <p:sp>
          <p:nvSpPr>
            <p:cNvPr id="23" name="Rectangle 22">
              <a:extLst>
                <a:ext uri="{FF2B5EF4-FFF2-40B4-BE49-F238E27FC236}">
                  <a16:creationId xmlns:a16="http://schemas.microsoft.com/office/drawing/2014/main" id="{3960C0C9-F83A-BA1F-248C-DF7342CF774F}"/>
                </a:ext>
              </a:extLst>
            </p:cNvPr>
            <p:cNvSpPr/>
            <p:nvPr/>
          </p:nvSpPr>
          <p:spPr>
            <a:xfrm>
              <a:off x="8072120" y="2431510"/>
              <a:ext cx="386080" cy="626650"/>
            </a:xfrm>
            <a:prstGeom prst="rect">
              <a:avLst/>
            </a:prstGeom>
            <a:noFill/>
            <a:ln w="1905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16D594BA-DC43-76AA-5846-38433CC01394}"/>
                </a:ext>
              </a:extLst>
            </p:cNvPr>
            <p:cNvSpPr/>
            <p:nvPr/>
          </p:nvSpPr>
          <p:spPr>
            <a:xfrm>
              <a:off x="8143240" y="3703320"/>
              <a:ext cx="1524000" cy="198120"/>
            </a:xfrm>
            <a:prstGeom prst="rect">
              <a:avLst/>
            </a:prstGeom>
            <a:noFill/>
            <a:ln w="1905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D924B944-67AE-63C9-4C13-3A8A2021172A}"/>
                </a:ext>
              </a:extLst>
            </p:cNvPr>
            <p:cNvSpPr/>
            <p:nvPr/>
          </p:nvSpPr>
          <p:spPr>
            <a:xfrm>
              <a:off x="9702800" y="3713480"/>
              <a:ext cx="1055208" cy="198120"/>
            </a:xfrm>
            <a:prstGeom prst="rect">
              <a:avLst/>
            </a:prstGeom>
            <a:noFill/>
            <a:ln w="1905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6" name="TextBox 25">
              <a:extLst>
                <a:ext uri="{FF2B5EF4-FFF2-40B4-BE49-F238E27FC236}">
                  <a16:creationId xmlns:a16="http://schemas.microsoft.com/office/drawing/2014/main" id="{D94E74B6-4285-77E4-C5D7-E3A840F605F6}"/>
                </a:ext>
              </a:extLst>
            </p:cNvPr>
            <p:cNvSpPr txBox="1"/>
            <p:nvPr/>
          </p:nvSpPr>
          <p:spPr>
            <a:xfrm>
              <a:off x="7460871" y="3901440"/>
              <a:ext cx="274434" cy="307777"/>
            </a:xfrm>
            <a:prstGeom prst="rect">
              <a:avLst/>
            </a:prstGeom>
            <a:noFill/>
          </p:spPr>
          <p:txBody>
            <a:bodyPr wrap="none" rtlCol="0">
              <a:spAutoFit/>
            </a:bodyPr>
            <a:lstStyle/>
            <a:p>
              <a:r>
                <a:rPr lang="en-US" sz="1400" dirty="0">
                  <a:solidFill>
                    <a:srgbClr val="00B0F0"/>
                  </a:solidFill>
                  <a:latin typeface="Times New Roman" panose="02020603050405020304" pitchFamily="18" charset="0"/>
                  <a:cs typeface="Times New Roman" panose="02020603050405020304" pitchFamily="18" charset="0"/>
                </a:rPr>
                <a:t>1</a:t>
              </a:r>
            </a:p>
          </p:txBody>
        </p:sp>
        <p:sp>
          <p:nvSpPr>
            <p:cNvPr id="27" name="TextBox 26">
              <a:extLst>
                <a:ext uri="{FF2B5EF4-FFF2-40B4-BE49-F238E27FC236}">
                  <a16:creationId xmlns:a16="http://schemas.microsoft.com/office/drawing/2014/main" id="{1614D824-3E4E-1BA8-1D97-144C3DC76D71}"/>
                </a:ext>
              </a:extLst>
            </p:cNvPr>
            <p:cNvSpPr txBox="1"/>
            <p:nvPr/>
          </p:nvSpPr>
          <p:spPr>
            <a:xfrm>
              <a:off x="8111111" y="2144090"/>
              <a:ext cx="274434" cy="307777"/>
            </a:xfrm>
            <a:prstGeom prst="rect">
              <a:avLst/>
            </a:prstGeom>
            <a:noFill/>
          </p:spPr>
          <p:txBody>
            <a:bodyPr wrap="none" rtlCol="0">
              <a:spAutoFit/>
            </a:bodyPr>
            <a:lstStyle/>
            <a:p>
              <a:r>
                <a:rPr lang="en-US" sz="1400" dirty="0">
                  <a:solidFill>
                    <a:srgbClr val="00B0F0"/>
                  </a:solidFill>
                  <a:latin typeface="Times New Roman" panose="02020603050405020304" pitchFamily="18" charset="0"/>
                  <a:cs typeface="Times New Roman" panose="02020603050405020304" pitchFamily="18" charset="0"/>
                </a:rPr>
                <a:t>2</a:t>
              </a:r>
            </a:p>
          </p:txBody>
        </p:sp>
        <p:sp>
          <p:nvSpPr>
            <p:cNvPr id="28" name="TextBox 27">
              <a:extLst>
                <a:ext uri="{FF2B5EF4-FFF2-40B4-BE49-F238E27FC236}">
                  <a16:creationId xmlns:a16="http://schemas.microsoft.com/office/drawing/2014/main" id="{76A9BCBF-B81C-F080-D39A-4211A5D79987}"/>
                </a:ext>
              </a:extLst>
            </p:cNvPr>
            <p:cNvSpPr txBox="1"/>
            <p:nvPr/>
          </p:nvSpPr>
          <p:spPr>
            <a:xfrm>
              <a:off x="8933035" y="3633302"/>
              <a:ext cx="274434" cy="307777"/>
            </a:xfrm>
            <a:prstGeom prst="rect">
              <a:avLst/>
            </a:prstGeom>
            <a:noFill/>
          </p:spPr>
          <p:txBody>
            <a:bodyPr wrap="none" rtlCol="0">
              <a:spAutoFit/>
            </a:bodyPr>
            <a:lstStyle/>
            <a:p>
              <a:r>
                <a:rPr lang="en-US" sz="1400" dirty="0">
                  <a:solidFill>
                    <a:srgbClr val="00B0F0"/>
                  </a:solidFill>
                  <a:latin typeface="Times New Roman" panose="02020603050405020304" pitchFamily="18" charset="0"/>
                  <a:cs typeface="Times New Roman" panose="02020603050405020304" pitchFamily="18" charset="0"/>
                </a:rPr>
                <a:t>3</a:t>
              </a:r>
            </a:p>
          </p:txBody>
        </p:sp>
        <p:sp>
          <p:nvSpPr>
            <p:cNvPr id="29" name="TextBox 28">
              <a:extLst>
                <a:ext uri="{FF2B5EF4-FFF2-40B4-BE49-F238E27FC236}">
                  <a16:creationId xmlns:a16="http://schemas.microsoft.com/office/drawing/2014/main" id="{C904BD0B-4E1E-7DD1-6ED5-D08FD56EC0A0}"/>
                </a:ext>
              </a:extLst>
            </p:cNvPr>
            <p:cNvSpPr txBox="1"/>
            <p:nvPr/>
          </p:nvSpPr>
          <p:spPr>
            <a:xfrm>
              <a:off x="10307594" y="3648062"/>
              <a:ext cx="274434" cy="307777"/>
            </a:xfrm>
            <a:prstGeom prst="rect">
              <a:avLst/>
            </a:prstGeom>
            <a:noFill/>
          </p:spPr>
          <p:txBody>
            <a:bodyPr wrap="none" rtlCol="0">
              <a:spAutoFit/>
            </a:bodyPr>
            <a:lstStyle/>
            <a:p>
              <a:r>
                <a:rPr lang="en-US" sz="1400" dirty="0">
                  <a:solidFill>
                    <a:srgbClr val="00B0F0"/>
                  </a:solidFill>
                  <a:latin typeface="Times New Roman" panose="02020603050405020304" pitchFamily="18" charset="0"/>
                  <a:cs typeface="Times New Roman" panose="02020603050405020304" pitchFamily="18" charset="0"/>
                </a:rPr>
                <a:t>4</a:t>
              </a:r>
            </a:p>
          </p:txBody>
        </p:sp>
      </p:grpSp>
      <p:pic>
        <p:nvPicPr>
          <p:cNvPr id="32" name="Picture 31">
            <a:extLst>
              <a:ext uri="{FF2B5EF4-FFF2-40B4-BE49-F238E27FC236}">
                <a16:creationId xmlns:a16="http://schemas.microsoft.com/office/drawing/2014/main" id="{E77D0AD8-E4F4-2709-47D9-BE60EEF945F5}"/>
              </a:ext>
            </a:extLst>
          </p:cNvPr>
          <p:cNvPicPr>
            <a:picLocks noChangeAspect="1"/>
          </p:cNvPicPr>
          <p:nvPr/>
        </p:nvPicPr>
        <p:blipFill>
          <a:blip r:embed="rId4"/>
          <a:stretch>
            <a:fillRect/>
          </a:stretch>
        </p:blipFill>
        <p:spPr>
          <a:xfrm>
            <a:off x="1838153" y="5641083"/>
            <a:ext cx="2010056" cy="419158"/>
          </a:xfrm>
          <a:prstGeom prst="rect">
            <a:avLst/>
          </a:prstGeom>
        </p:spPr>
      </p:pic>
      <p:sp>
        <p:nvSpPr>
          <p:cNvPr id="35" name="Google Shape;642;p53">
            <a:extLst>
              <a:ext uri="{FF2B5EF4-FFF2-40B4-BE49-F238E27FC236}">
                <a16:creationId xmlns:a16="http://schemas.microsoft.com/office/drawing/2014/main" id="{DE0BC6D9-3C0B-742C-EC53-3686B67085ED}"/>
              </a:ext>
            </a:extLst>
          </p:cNvPr>
          <p:cNvSpPr txBox="1"/>
          <p:nvPr/>
        </p:nvSpPr>
        <p:spPr>
          <a:xfrm>
            <a:off x="357248" y="4602141"/>
            <a:ext cx="9477414" cy="390248"/>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Chọn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Year</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đổi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tên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thành</a:t>
            </a:r>
            <a:r>
              <a:rPr lang="en-US" sz="1600" dirty="0">
                <a:latin typeface="Times New Roman" panose="02020603050405020304" pitchFamily="18" charset="0"/>
                <a:cs typeface="Times New Roman" panose="02020603050405020304" pitchFamily="18" charset="0"/>
                <a:sym typeface="Montserrat"/>
              </a:rPr>
              <a:t> </a:t>
            </a:r>
            <a:r>
              <a:rPr lang="en-US" sz="1600" b="1" dirty="0" err="1">
                <a:latin typeface="Times New Roman" panose="02020603050405020304" pitchFamily="18" charset="0"/>
                <a:cs typeface="Times New Roman" panose="02020603050405020304" pitchFamily="18" charset="0"/>
                <a:sym typeface="Montserrat"/>
              </a:rPr>
              <a:t>birth_year</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sau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đó</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đổi</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Data Type </a:t>
            </a:r>
            <a:r>
              <a:rPr lang="en-US" sz="1600" dirty="0" err="1">
                <a:latin typeface="Times New Roman" panose="02020603050405020304" pitchFamily="18" charset="0"/>
                <a:cs typeface="Times New Roman" panose="02020603050405020304" pitchFamily="18" charset="0"/>
                <a:sym typeface="Montserrat"/>
              </a:rPr>
              <a:t>của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này</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thành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dạng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Text</a:t>
            </a:r>
            <a:r>
              <a:rPr lang="en-US" sz="1600" dirty="0">
                <a:latin typeface="Times New Roman" panose="02020603050405020304" pitchFamily="18" charset="0"/>
                <a:cs typeface="Times New Roman" panose="02020603050405020304" pitchFamily="18" charset="0"/>
                <a:sym typeface="Montserrat"/>
              </a:rPr>
              <a:t>.</a:t>
            </a:r>
            <a:endParaRPr lang="en-US" sz="1600" b="1" i="1" dirty="0">
              <a:latin typeface="Times New Roman" panose="02020603050405020304" pitchFamily="18" charset="0"/>
              <a:cs typeface="Times New Roman" panose="02020603050405020304" pitchFamily="18" charset="0"/>
              <a:sym typeface="Wingdings" panose="05000000000000000000" pitchFamily="2" charset="2"/>
            </a:endParaRPr>
          </a:p>
        </p:txBody>
      </p:sp>
      <p:grpSp>
        <p:nvGrpSpPr>
          <p:cNvPr id="38" name="Group 37">
            <a:extLst>
              <a:ext uri="{FF2B5EF4-FFF2-40B4-BE49-F238E27FC236}">
                <a16:creationId xmlns:a16="http://schemas.microsoft.com/office/drawing/2014/main" id="{01B6CFAF-66FB-0EEB-0A24-E2CFE6D1316E}"/>
              </a:ext>
            </a:extLst>
          </p:cNvPr>
          <p:cNvGrpSpPr/>
          <p:nvPr/>
        </p:nvGrpSpPr>
        <p:grpSpPr>
          <a:xfrm>
            <a:off x="6839712" y="5069634"/>
            <a:ext cx="2800819" cy="1575003"/>
            <a:chOff x="6889788" y="4903378"/>
            <a:chExt cx="2750743" cy="1562057"/>
          </a:xfrm>
        </p:grpSpPr>
        <p:pic>
          <p:nvPicPr>
            <p:cNvPr id="34" name="Picture 33">
              <a:extLst>
                <a:ext uri="{FF2B5EF4-FFF2-40B4-BE49-F238E27FC236}">
                  <a16:creationId xmlns:a16="http://schemas.microsoft.com/office/drawing/2014/main" id="{D828B48D-85E4-A280-A5CF-4E7892F8967A}"/>
                </a:ext>
              </a:extLst>
            </p:cNvPr>
            <p:cNvPicPr>
              <a:picLocks noChangeAspect="1"/>
            </p:cNvPicPr>
            <p:nvPr/>
          </p:nvPicPr>
          <p:blipFill>
            <a:blip r:embed="rId5"/>
            <a:stretch>
              <a:fillRect/>
            </a:stretch>
          </p:blipFill>
          <p:spPr>
            <a:xfrm>
              <a:off x="6889788" y="4903378"/>
              <a:ext cx="2750743" cy="1562057"/>
            </a:xfrm>
            <a:prstGeom prst="rect">
              <a:avLst/>
            </a:prstGeom>
          </p:spPr>
        </p:pic>
        <p:sp>
          <p:nvSpPr>
            <p:cNvPr id="37" name="Rectangle 36">
              <a:extLst>
                <a:ext uri="{FF2B5EF4-FFF2-40B4-BE49-F238E27FC236}">
                  <a16:creationId xmlns:a16="http://schemas.microsoft.com/office/drawing/2014/main" id="{3D8CFCE1-066E-F81B-E596-ACB6C40DB5B4}"/>
                </a:ext>
              </a:extLst>
            </p:cNvPr>
            <p:cNvSpPr/>
            <p:nvPr/>
          </p:nvSpPr>
          <p:spPr>
            <a:xfrm>
              <a:off x="8218170" y="5015746"/>
              <a:ext cx="920750" cy="179719"/>
            </a:xfrm>
            <a:prstGeom prst="rect">
              <a:avLst/>
            </a:prstGeom>
            <a:noFill/>
            <a:ln w="1905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grpSp>
      <p:cxnSp>
        <p:nvCxnSpPr>
          <p:cNvPr id="40" name="Straight Arrow Connector 39">
            <a:extLst>
              <a:ext uri="{FF2B5EF4-FFF2-40B4-BE49-F238E27FC236}">
                <a16:creationId xmlns:a16="http://schemas.microsoft.com/office/drawing/2014/main" id="{0A3C9021-08A8-13AC-135C-5115B81A8232}"/>
              </a:ext>
            </a:extLst>
          </p:cNvPr>
          <p:cNvCxnSpPr/>
          <p:nvPr/>
        </p:nvCxnSpPr>
        <p:spPr>
          <a:xfrm>
            <a:off x="4196080" y="5815216"/>
            <a:ext cx="2245360" cy="0"/>
          </a:xfrm>
          <a:prstGeom prst="straightConnector1">
            <a:avLst/>
          </a:prstGeom>
          <a:ln>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FFA9299B-2B10-8122-7F9B-02A46748E096}"/>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3CD16EBF-B812-0ED0-35D7-51D60D0036A3}"/>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3. </a:t>
            </a:r>
            <a:r>
              <a:rPr lang="en-US" sz="2000" b="1" dirty="0" err="1">
                <a:solidFill>
                  <a:srgbClr val="113A71"/>
                </a:solidFill>
                <a:latin typeface="Times New Roman" panose="02020603050405020304" pitchFamily="18" charset="0"/>
                <a:cs typeface="Times New Roman" panose="02020603050405020304" pitchFamily="18" charset="0"/>
              </a:rPr>
              <a:t>Thêm</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cột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i="1" dirty="0">
                <a:solidFill>
                  <a:srgbClr val="113A71"/>
                </a:solidFill>
                <a:latin typeface="Times New Roman" panose="02020603050405020304" pitchFamily="18" charset="0"/>
                <a:cs typeface="Times New Roman" panose="02020603050405020304" pitchFamily="18" charset="0"/>
              </a:rPr>
              <a:t>– </a:t>
            </a:r>
            <a:r>
              <a:rPr lang="en-US" sz="2000" b="1" i="1" dirty="0" err="1">
                <a:solidFill>
                  <a:srgbClr val="113A71"/>
                </a:solidFill>
                <a:latin typeface="Times New Roman" panose="02020603050405020304" pitchFamily="18" charset="0"/>
                <a:cs typeface="Times New Roman" panose="02020603050405020304" pitchFamily="18" charset="0"/>
              </a:rPr>
              <a:t>Bảng</a:t>
            </a:r>
            <a:r>
              <a:rPr lang="en-US" sz="2000" b="1" i="1" dirty="0">
                <a:solidFill>
                  <a:srgbClr val="113A71"/>
                </a:solidFill>
                <a:latin typeface="Times New Roman" panose="02020603050405020304" pitchFamily="18" charset="0"/>
                <a:cs typeface="Times New Roman" panose="02020603050405020304" pitchFamily="18" charset="0"/>
              </a:rPr>
              <a:t> Customers </a:t>
            </a:r>
            <a:r>
              <a:rPr lang="en-US" sz="2000" b="1" dirty="0">
                <a:solidFill>
                  <a:srgbClr val="113A71"/>
                </a:solidFill>
                <a:latin typeface="Times New Roman" panose="02020603050405020304" pitchFamily="18" charset="0"/>
                <a:cs typeface="Times New Roman" panose="02020603050405020304" pitchFamily="18" charset="0"/>
              </a:rPr>
              <a:t>(</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078030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EAABE-D4AD-F139-9BE1-4B963810F44E}"/>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90EB4545-B030-EE2F-3726-6B3FE0051CB4}"/>
              </a:ext>
            </a:extLst>
          </p:cNvPr>
          <p:cNvSpPr txBox="1"/>
          <p:nvPr/>
        </p:nvSpPr>
        <p:spPr>
          <a:xfrm>
            <a:off x="357248" y="728570"/>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4" name="Google Shape;642;p53">
            <a:extLst>
              <a:ext uri="{FF2B5EF4-FFF2-40B4-BE49-F238E27FC236}">
                <a16:creationId xmlns:a16="http://schemas.microsoft.com/office/drawing/2014/main" id="{1993AE6D-063A-A330-D252-A06EB433B116}"/>
              </a:ext>
            </a:extLst>
          </p:cNvPr>
          <p:cNvSpPr txBox="1"/>
          <p:nvPr/>
        </p:nvSpPr>
        <p:spPr>
          <a:xfrm>
            <a:off x="357248" y="1509067"/>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sp>
        <p:nvSpPr>
          <p:cNvPr id="18" name="Google Shape;642;p53">
            <a:extLst>
              <a:ext uri="{FF2B5EF4-FFF2-40B4-BE49-F238E27FC236}">
                <a16:creationId xmlns:a16="http://schemas.microsoft.com/office/drawing/2014/main" id="{70CA2471-1491-72F3-1ADA-0FE49C0C12E2}"/>
              </a:ext>
            </a:extLst>
          </p:cNvPr>
          <p:cNvSpPr txBox="1"/>
          <p:nvPr/>
        </p:nvSpPr>
        <p:spPr>
          <a:xfrm>
            <a:off x="519202" y="1899316"/>
            <a:ext cx="5322798" cy="390248"/>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Add Column </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Conditional Column</a:t>
            </a:r>
            <a:endParaRPr lang="en-US" sz="1600" b="1" i="1" dirty="0">
              <a:latin typeface="Times New Roman" panose="02020603050405020304" pitchFamily="18" charset="0"/>
              <a:cs typeface="Times New Roman" panose="02020603050405020304" pitchFamily="18" charset="0"/>
              <a:sym typeface="Wingdings" panose="05000000000000000000" pitchFamily="2" charset="2"/>
            </a:endParaRPr>
          </a:p>
        </p:txBody>
      </p:sp>
      <p:pic>
        <p:nvPicPr>
          <p:cNvPr id="3" name="Picture 2">
            <a:extLst>
              <a:ext uri="{FF2B5EF4-FFF2-40B4-BE49-F238E27FC236}">
                <a16:creationId xmlns:a16="http://schemas.microsoft.com/office/drawing/2014/main" id="{5285C0F4-05D3-29FD-C998-C1575B9DB521}"/>
              </a:ext>
            </a:extLst>
          </p:cNvPr>
          <p:cNvPicPr>
            <a:picLocks noChangeAspect="1"/>
          </p:cNvPicPr>
          <p:nvPr/>
        </p:nvPicPr>
        <p:blipFill>
          <a:blip r:embed="rId2"/>
          <a:stretch>
            <a:fillRect/>
          </a:stretch>
        </p:blipFill>
        <p:spPr>
          <a:xfrm>
            <a:off x="1576827" y="932566"/>
            <a:ext cx="8532211" cy="576501"/>
          </a:xfrm>
          <a:prstGeom prst="rect">
            <a:avLst/>
          </a:prstGeom>
        </p:spPr>
      </p:pic>
      <p:pic>
        <p:nvPicPr>
          <p:cNvPr id="6" name="Picture 5">
            <a:extLst>
              <a:ext uri="{FF2B5EF4-FFF2-40B4-BE49-F238E27FC236}">
                <a16:creationId xmlns:a16="http://schemas.microsoft.com/office/drawing/2014/main" id="{BF82B2CA-5E85-AA48-908F-3D6AD2737AB2}"/>
              </a:ext>
            </a:extLst>
          </p:cNvPr>
          <p:cNvPicPr>
            <a:picLocks noChangeAspect="1"/>
          </p:cNvPicPr>
          <p:nvPr/>
        </p:nvPicPr>
        <p:blipFill>
          <a:blip r:embed="rId3"/>
          <a:stretch>
            <a:fillRect/>
          </a:stretch>
        </p:blipFill>
        <p:spPr>
          <a:xfrm>
            <a:off x="2614453" y="3545350"/>
            <a:ext cx="6963094" cy="2991232"/>
          </a:xfrm>
          <a:prstGeom prst="rect">
            <a:avLst/>
          </a:prstGeom>
        </p:spPr>
      </p:pic>
      <p:grpSp>
        <p:nvGrpSpPr>
          <p:cNvPr id="9" name="Group 8">
            <a:extLst>
              <a:ext uri="{FF2B5EF4-FFF2-40B4-BE49-F238E27FC236}">
                <a16:creationId xmlns:a16="http://schemas.microsoft.com/office/drawing/2014/main" id="{AD19D68B-1E44-AC27-E49F-0F4B0065BC40}"/>
              </a:ext>
            </a:extLst>
          </p:cNvPr>
          <p:cNvGrpSpPr/>
          <p:nvPr/>
        </p:nvGrpSpPr>
        <p:grpSpPr>
          <a:xfrm>
            <a:off x="5915229" y="1471588"/>
            <a:ext cx="1505160" cy="1390844"/>
            <a:chOff x="5977574" y="1399018"/>
            <a:chExt cx="1505160" cy="1390844"/>
          </a:xfrm>
        </p:grpSpPr>
        <p:pic>
          <p:nvPicPr>
            <p:cNvPr id="8" name="Picture 7">
              <a:extLst>
                <a:ext uri="{FF2B5EF4-FFF2-40B4-BE49-F238E27FC236}">
                  <a16:creationId xmlns:a16="http://schemas.microsoft.com/office/drawing/2014/main" id="{C72EAAF7-6268-4126-7887-CA834DD528D7}"/>
                </a:ext>
              </a:extLst>
            </p:cNvPr>
            <p:cNvPicPr>
              <a:picLocks noChangeAspect="1"/>
            </p:cNvPicPr>
            <p:nvPr/>
          </p:nvPicPr>
          <p:blipFill>
            <a:blip r:embed="rId4"/>
            <a:stretch>
              <a:fillRect/>
            </a:stretch>
          </p:blipFill>
          <p:spPr>
            <a:xfrm>
              <a:off x="5977574" y="1399018"/>
              <a:ext cx="1505160" cy="1390844"/>
            </a:xfrm>
            <a:prstGeom prst="rect">
              <a:avLst/>
            </a:prstGeom>
          </p:spPr>
        </p:pic>
        <p:sp>
          <p:nvSpPr>
            <p:cNvPr id="14" name="Rectangle 13">
              <a:extLst>
                <a:ext uri="{FF2B5EF4-FFF2-40B4-BE49-F238E27FC236}">
                  <a16:creationId xmlns:a16="http://schemas.microsoft.com/office/drawing/2014/main" id="{E4BB2E68-100A-D1A9-6ADE-10F12F7114D3}"/>
                </a:ext>
              </a:extLst>
            </p:cNvPr>
            <p:cNvSpPr/>
            <p:nvPr/>
          </p:nvSpPr>
          <p:spPr>
            <a:xfrm>
              <a:off x="5977574" y="1772088"/>
              <a:ext cx="1484311" cy="253580"/>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grpSp>
      <p:sp>
        <p:nvSpPr>
          <p:cNvPr id="15" name="Google Shape;642;p53">
            <a:extLst>
              <a:ext uri="{FF2B5EF4-FFF2-40B4-BE49-F238E27FC236}">
                <a16:creationId xmlns:a16="http://schemas.microsoft.com/office/drawing/2014/main" id="{E0003DB8-E6E1-918C-2BDE-384396D84571}"/>
              </a:ext>
            </a:extLst>
          </p:cNvPr>
          <p:cNvSpPr txBox="1"/>
          <p:nvPr/>
        </p:nvSpPr>
        <p:spPr>
          <a:xfrm>
            <a:off x="519202" y="3045052"/>
            <a:ext cx="10423118" cy="390248"/>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Đặt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tên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ở </a:t>
            </a:r>
            <a:r>
              <a:rPr lang="en-US" sz="1600" b="1" dirty="0">
                <a:latin typeface="Times New Roman" panose="02020603050405020304" pitchFamily="18" charset="0"/>
                <a:cs typeface="Times New Roman" panose="02020603050405020304" pitchFamily="18" charset="0"/>
                <a:sym typeface="Montserrat"/>
              </a:rPr>
              <a:t>New column name </a:t>
            </a:r>
            <a:r>
              <a:rPr lang="en-US" sz="1600" dirty="0" err="1">
                <a:latin typeface="Times New Roman" panose="02020603050405020304" pitchFamily="18" charset="0"/>
                <a:cs typeface="Times New Roman" panose="02020603050405020304" pitchFamily="18" charset="0"/>
                <a:sym typeface="Montserrat"/>
              </a:rPr>
              <a:t>là</a:t>
            </a:r>
            <a:r>
              <a:rPr lang="en-US" sz="1600" dirty="0">
                <a:latin typeface="Times New Roman" panose="02020603050405020304" pitchFamily="18" charset="0"/>
                <a:cs typeface="Times New Roman" panose="02020603050405020304" pitchFamily="18" charset="0"/>
                <a:sym typeface="Montserrat"/>
              </a:rPr>
              <a:t> </a:t>
            </a:r>
            <a:r>
              <a:rPr lang="en-US" sz="1600" b="1" i="1" dirty="0" err="1">
                <a:latin typeface="Times New Roman" panose="02020603050405020304" pitchFamily="18" charset="0"/>
                <a:cs typeface="Times New Roman" panose="02020603050405020304" pitchFamily="18" charset="0"/>
                <a:sym typeface="Montserrat"/>
              </a:rPr>
              <a:t>has_children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sau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đó</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đặt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điều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kiện</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If </a:t>
            </a:r>
            <a:r>
              <a:rPr lang="en-US" sz="1600" b="1" i="1" dirty="0" err="1">
                <a:latin typeface="Times New Roman" panose="02020603050405020304" pitchFamily="18" charset="0"/>
                <a:cs typeface="Times New Roman" panose="02020603050405020304" pitchFamily="18" charset="0"/>
                <a:sym typeface="Montserrat"/>
              </a:rPr>
              <a:t>total_children</a:t>
            </a:r>
            <a:r>
              <a:rPr lang="en-US" sz="1600" b="1" i="1" dirty="0">
                <a:latin typeface="Times New Roman" panose="02020603050405020304" pitchFamily="18" charset="0"/>
                <a:cs typeface="Times New Roman" panose="02020603050405020304" pitchFamily="18" charset="0"/>
                <a:sym typeface="Montserrat"/>
              </a:rPr>
              <a:t> equals 0 then N, else Y</a:t>
            </a:r>
            <a:r>
              <a:rPr lang="en-US" sz="1600" dirty="0">
                <a:latin typeface="Times New Roman" panose="02020603050405020304" pitchFamily="18" charset="0"/>
                <a:cs typeface="Times New Roman" panose="02020603050405020304" pitchFamily="18" charset="0"/>
                <a:sym typeface="Montserrat"/>
              </a:rPr>
              <a:t>.</a:t>
            </a:r>
            <a:endParaRPr lang="en-US" sz="1600" dirty="0">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2" name="Google Shape;642;p53">
            <a:extLst>
              <a:ext uri="{FF2B5EF4-FFF2-40B4-BE49-F238E27FC236}">
                <a16:creationId xmlns:a16="http://schemas.microsoft.com/office/drawing/2014/main" id="{8639577B-DC51-5EF3-77E6-4C961C163779}"/>
              </a:ext>
            </a:extLst>
          </p:cNvPr>
          <p:cNvSpPr txBox="1"/>
          <p:nvPr/>
        </p:nvSpPr>
        <p:spPr>
          <a:xfrm>
            <a:off x="519202" y="2294838"/>
            <a:ext cx="5091889" cy="558888"/>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b="1" dirty="0">
                <a:solidFill>
                  <a:srgbClr val="0070C0"/>
                </a:solidFill>
                <a:latin typeface="Times New Roman" panose="02020603050405020304" pitchFamily="18" charset="0"/>
                <a:cs typeface="Times New Roman" panose="02020603050405020304" pitchFamily="18" charset="0"/>
                <a:sym typeface="Montserrat"/>
              </a:rPr>
              <a:t>Note: Conditional Column </a:t>
            </a:r>
            <a:r>
              <a:rPr lang="en-US" sz="1600" dirty="0" err="1">
                <a:solidFill>
                  <a:srgbClr val="0070C0"/>
                </a:solidFill>
                <a:latin typeface="Times New Roman" panose="02020603050405020304" pitchFamily="18" charset="0"/>
                <a:cs typeface="Times New Roman" panose="02020603050405020304" pitchFamily="18" charset="0"/>
                <a:sym typeface="Montserrat"/>
              </a:rPr>
              <a:t>trong</a:t>
            </a:r>
            <a:r>
              <a:rPr lang="en-US" sz="1600" dirty="0">
                <a:solidFill>
                  <a:srgbClr val="0070C0"/>
                </a:solidFill>
                <a:latin typeface="Times New Roman" panose="02020603050405020304" pitchFamily="18" charset="0"/>
                <a:cs typeface="Times New Roman" panose="02020603050405020304" pitchFamily="18" charset="0"/>
                <a:sym typeface="Montserrat"/>
              </a:rPr>
              <a:t> </a:t>
            </a:r>
            <a:r>
              <a:rPr lang="en-US" sz="1600" b="1" dirty="0">
                <a:solidFill>
                  <a:srgbClr val="0070C0"/>
                </a:solidFill>
                <a:latin typeface="Times New Roman" panose="02020603050405020304" pitchFamily="18" charset="0"/>
                <a:cs typeface="Times New Roman" panose="02020603050405020304" pitchFamily="18" charset="0"/>
                <a:sym typeface="Montserrat"/>
              </a:rPr>
              <a:t>Power Query </a:t>
            </a:r>
            <a:r>
              <a:rPr lang="en-US" sz="1600" dirty="0" err="1">
                <a:solidFill>
                  <a:srgbClr val="0070C0"/>
                </a:solidFill>
                <a:latin typeface="Times New Roman" panose="02020603050405020304" pitchFamily="18" charset="0"/>
                <a:cs typeface="Times New Roman" panose="02020603050405020304" pitchFamily="18" charset="0"/>
                <a:sym typeface="Montserrat"/>
              </a:rPr>
              <a:t>hoạt</a:t>
            </a:r>
            <a:r>
              <a:rPr lang="en-US" sz="1600" dirty="0">
                <a:solidFill>
                  <a:srgbClr val="0070C0"/>
                </a:solidFill>
                <a:latin typeface="Times New Roman" panose="02020603050405020304" pitchFamily="18" charset="0"/>
                <a:cs typeface="Times New Roman" panose="02020603050405020304" pitchFamily="18" charset="0"/>
                <a:sym typeface="Montserrat"/>
              </a:rPr>
              <a:t> </a:t>
            </a:r>
            <a:r>
              <a:rPr lang="en-US" sz="1600" dirty="0" err="1">
                <a:solidFill>
                  <a:srgbClr val="0070C0"/>
                </a:solidFill>
                <a:latin typeface="Times New Roman" panose="02020603050405020304" pitchFamily="18" charset="0"/>
                <a:cs typeface="Times New Roman" panose="02020603050405020304" pitchFamily="18" charset="0"/>
                <a:sym typeface="Montserrat"/>
              </a:rPr>
              <a:t>động</a:t>
            </a:r>
            <a:r>
              <a:rPr lang="en-US" sz="1600" dirty="0">
                <a:solidFill>
                  <a:srgbClr val="0070C0"/>
                </a:solidFill>
                <a:latin typeface="Times New Roman" panose="02020603050405020304" pitchFamily="18" charset="0"/>
                <a:cs typeface="Times New Roman" panose="02020603050405020304" pitchFamily="18" charset="0"/>
                <a:sym typeface="Montserrat"/>
              </a:rPr>
              <a:t> </a:t>
            </a:r>
            <a:r>
              <a:rPr lang="en-US" sz="1600" dirty="0" err="1">
                <a:solidFill>
                  <a:srgbClr val="0070C0"/>
                </a:solidFill>
                <a:latin typeface="Times New Roman" panose="02020603050405020304" pitchFamily="18" charset="0"/>
                <a:cs typeface="Times New Roman" panose="02020603050405020304" pitchFamily="18" charset="0"/>
                <a:sym typeface="Montserrat"/>
              </a:rPr>
              <a:t>giống</a:t>
            </a:r>
            <a:r>
              <a:rPr lang="en-US" sz="1600" dirty="0">
                <a:solidFill>
                  <a:srgbClr val="0070C0"/>
                </a:solidFill>
                <a:latin typeface="Times New Roman" panose="02020603050405020304" pitchFamily="18" charset="0"/>
                <a:cs typeface="Times New Roman" panose="02020603050405020304" pitchFamily="18" charset="0"/>
                <a:sym typeface="Montserrat"/>
              </a:rPr>
              <a:t> </a:t>
            </a:r>
            <a:r>
              <a:rPr lang="en-US" sz="1600" dirty="0" err="1">
                <a:solidFill>
                  <a:srgbClr val="0070C0"/>
                </a:solidFill>
                <a:latin typeface="Times New Roman" panose="02020603050405020304" pitchFamily="18" charset="0"/>
                <a:cs typeface="Times New Roman" panose="02020603050405020304" pitchFamily="18" charset="0"/>
                <a:sym typeface="Montserrat"/>
              </a:rPr>
              <a:t>hàm</a:t>
            </a:r>
            <a:r>
              <a:rPr lang="en-US" sz="1600" dirty="0">
                <a:solidFill>
                  <a:srgbClr val="0070C0"/>
                </a:solidFill>
                <a:latin typeface="Times New Roman" panose="02020603050405020304" pitchFamily="18" charset="0"/>
                <a:cs typeface="Times New Roman" panose="02020603050405020304" pitchFamily="18" charset="0"/>
                <a:sym typeface="Montserrat"/>
              </a:rPr>
              <a:t> </a:t>
            </a:r>
            <a:r>
              <a:rPr lang="en-US" sz="1600" b="1" i="1" dirty="0">
                <a:solidFill>
                  <a:srgbClr val="0070C0"/>
                </a:solidFill>
                <a:latin typeface="Times New Roman" panose="02020603050405020304" pitchFamily="18" charset="0"/>
                <a:cs typeface="Times New Roman" panose="02020603050405020304" pitchFamily="18" charset="0"/>
                <a:sym typeface="Montserrat"/>
              </a:rPr>
              <a:t>IF()</a:t>
            </a:r>
            <a:r>
              <a:rPr lang="en-US" sz="1600" i="1" dirty="0">
                <a:solidFill>
                  <a:srgbClr val="0070C0"/>
                </a:solidFill>
                <a:latin typeface="Times New Roman" panose="02020603050405020304" pitchFamily="18" charset="0"/>
                <a:cs typeface="Times New Roman" panose="02020603050405020304" pitchFamily="18" charset="0"/>
                <a:sym typeface="Montserrat"/>
              </a:rPr>
              <a:t> </a:t>
            </a:r>
            <a:r>
              <a:rPr lang="en-US" sz="1600" dirty="0" err="1">
                <a:solidFill>
                  <a:srgbClr val="0070C0"/>
                </a:solidFill>
                <a:latin typeface="Times New Roman" panose="02020603050405020304" pitchFamily="18" charset="0"/>
                <a:cs typeface="Times New Roman" panose="02020603050405020304" pitchFamily="18" charset="0"/>
                <a:sym typeface="Montserrat"/>
              </a:rPr>
              <a:t>trong</a:t>
            </a:r>
            <a:r>
              <a:rPr lang="en-US" sz="1600" dirty="0">
                <a:solidFill>
                  <a:srgbClr val="0070C0"/>
                </a:solidFill>
                <a:latin typeface="Times New Roman" panose="02020603050405020304" pitchFamily="18" charset="0"/>
                <a:cs typeface="Times New Roman" panose="02020603050405020304" pitchFamily="18" charset="0"/>
                <a:sym typeface="Montserrat"/>
              </a:rPr>
              <a:t> Excel.</a:t>
            </a:r>
            <a:endParaRPr lang="en-US" sz="1600" dirty="0">
              <a:solidFill>
                <a:srgbClr val="0070C0"/>
              </a:solidFill>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5" name="Rectangle 4">
            <a:extLst>
              <a:ext uri="{FF2B5EF4-FFF2-40B4-BE49-F238E27FC236}">
                <a16:creationId xmlns:a16="http://schemas.microsoft.com/office/drawing/2014/main" id="{0669F019-BCBF-64C0-2044-0F1F41C179DC}"/>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7" name="Rectangle 1">
            <a:extLst>
              <a:ext uri="{FF2B5EF4-FFF2-40B4-BE49-F238E27FC236}">
                <a16:creationId xmlns:a16="http://schemas.microsoft.com/office/drawing/2014/main" id="{0EE896A5-BDBF-2BD8-AD36-2CE1C68A9FB3}"/>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3. </a:t>
            </a:r>
            <a:r>
              <a:rPr lang="en-US" sz="2000" b="1" dirty="0" err="1">
                <a:solidFill>
                  <a:srgbClr val="113A71"/>
                </a:solidFill>
                <a:latin typeface="Times New Roman" panose="02020603050405020304" pitchFamily="18" charset="0"/>
                <a:cs typeface="Times New Roman" panose="02020603050405020304" pitchFamily="18" charset="0"/>
              </a:rPr>
              <a:t>Thêm</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cột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i="1" dirty="0">
                <a:solidFill>
                  <a:srgbClr val="113A71"/>
                </a:solidFill>
                <a:latin typeface="Times New Roman" panose="02020603050405020304" pitchFamily="18" charset="0"/>
                <a:cs typeface="Times New Roman" panose="02020603050405020304" pitchFamily="18" charset="0"/>
              </a:rPr>
              <a:t>– </a:t>
            </a:r>
            <a:r>
              <a:rPr lang="en-US" sz="2000" b="1" i="1" dirty="0" err="1">
                <a:solidFill>
                  <a:srgbClr val="113A71"/>
                </a:solidFill>
                <a:latin typeface="Times New Roman" panose="02020603050405020304" pitchFamily="18" charset="0"/>
                <a:cs typeface="Times New Roman" panose="02020603050405020304" pitchFamily="18" charset="0"/>
              </a:rPr>
              <a:t>Bảng</a:t>
            </a:r>
            <a:r>
              <a:rPr lang="en-US" sz="2000" b="1" i="1" dirty="0">
                <a:solidFill>
                  <a:srgbClr val="113A71"/>
                </a:solidFill>
                <a:latin typeface="Times New Roman" panose="02020603050405020304" pitchFamily="18" charset="0"/>
                <a:cs typeface="Times New Roman" panose="02020603050405020304" pitchFamily="18" charset="0"/>
              </a:rPr>
              <a:t> Customers </a:t>
            </a:r>
            <a:r>
              <a:rPr lang="en-US" sz="2000" b="1" dirty="0">
                <a:solidFill>
                  <a:srgbClr val="113A71"/>
                </a:solidFill>
                <a:latin typeface="Times New Roman" panose="02020603050405020304" pitchFamily="18" charset="0"/>
                <a:cs typeface="Times New Roman" panose="02020603050405020304" pitchFamily="18" charset="0"/>
              </a:rPr>
              <a:t>(</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141676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B1B12-E8A0-882C-A61C-53E95EDD2B51}"/>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FF8A1218-92AA-4084-500D-EFD6DE2CC8CF}"/>
              </a:ext>
            </a:extLst>
          </p:cNvPr>
          <p:cNvSpPr txBox="1"/>
          <p:nvPr/>
        </p:nvSpPr>
        <p:spPr>
          <a:xfrm>
            <a:off x="357248" y="718179"/>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4" name="Google Shape;642;p53">
            <a:extLst>
              <a:ext uri="{FF2B5EF4-FFF2-40B4-BE49-F238E27FC236}">
                <a16:creationId xmlns:a16="http://schemas.microsoft.com/office/drawing/2014/main" id="{BF20C02D-8453-A7CF-B8BF-4D353A74958F}"/>
              </a:ext>
            </a:extLst>
          </p:cNvPr>
          <p:cNvSpPr txBox="1"/>
          <p:nvPr/>
        </p:nvSpPr>
        <p:spPr>
          <a:xfrm>
            <a:off x="385849" y="1629308"/>
            <a:ext cx="8713525"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sp>
        <p:nvSpPr>
          <p:cNvPr id="10" name="Google Shape;642;p53">
            <a:extLst>
              <a:ext uri="{FF2B5EF4-FFF2-40B4-BE49-F238E27FC236}">
                <a16:creationId xmlns:a16="http://schemas.microsoft.com/office/drawing/2014/main" id="{1420510F-2C96-FB04-36B2-00CD3EEC5F2A}"/>
              </a:ext>
            </a:extLst>
          </p:cNvPr>
          <p:cNvSpPr txBox="1"/>
          <p:nvPr/>
        </p:nvSpPr>
        <p:spPr>
          <a:xfrm>
            <a:off x="603466" y="1949859"/>
            <a:ext cx="6711734" cy="390249"/>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Chọn</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Add Column </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Custom Column:</a:t>
            </a:r>
            <a:endParaRPr lang="en-US" sz="1600" b="1" dirty="0">
              <a:latin typeface="Times New Roman" panose="02020603050405020304" pitchFamily="18" charset="0"/>
              <a:cs typeface="Times New Roman" panose="02020603050405020304" pitchFamily="18" charset="0"/>
              <a:sym typeface="Montserrat"/>
            </a:endParaRPr>
          </a:p>
        </p:txBody>
      </p:sp>
      <p:pic>
        <p:nvPicPr>
          <p:cNvPr id="25" name="Picture 24">
            <a:extLst>
              <a:ext uri="{FF2B5EF4-FFF2-40B4-BE49-F238E27FC236}">
                <a16:creationId xmlns:a16="http://schemas.microsoft.com/office/drawing/2014/main" id="{E9A73686-D033-00D6-C178-31933E3AB39D}"/>
              </a:ext>
            </a:extLst>
          </p:cNvPr>
          <p:cNvPicPr>
            <a:picLocks noChangeAspect="1"/>
          </p:cNvPicPr>
          <p:nvPr/>
        </p:nvPicPr>
        <p:blipFill>
          <a:blip r:embed="rId2"/>
          <a:stretch>
            <a:fillRect/>
          </a:stretch>
        </p:blipFill>
        <p:spPr>
          <a:xfrm>
            <a:off x="2175650" y="806314"/>
            <a:ext cx="7840698" cy="849539"/>
          </a:xfrm>
          <a:prstGeom prst="rect">
            <a:avLst/>
          </a:prstGeom>
        </p:spPr>
      </p:pic>
      <p:sp>
        <p:nvSpPr>
          <p:cNvPr id="28" name="Google Shape;642;p53">
            <a:extLst>
              <a:ext uri="{FF2B5EF4-FFF2-40B4-BE49-F238E27FC236}">
                <a16:creationId xmlns:a16="http://schemas.microsoft.com/office/drawing/2014/main" id="{F642FFCC-7BE7-693E-7865-61AB7C791901}"/>
              </a:ext>
            </a:extLst>
          </p:cNvPr>
          <p:cNvSpPr txBox="1"/>
          <p:nvPr/>
        </p:nvSpPr>
        <p:spPr>
          <a:xfrm>
            <a:off x="603466" y="3589132"/>
            <a:ext cx="10338854" cy="390249"/>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Đặt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tên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là</a:t>
            </a:r>
            <a:r>
              <a:rPr lang="en-US" sz="1600" dirty="0">
                <a:latin typeface="Times New Roman" panose="02020603050405020304" pitchFamily="18" charset="0"/>
                <a:cs typeface="Times New Roman" panose="02020603050405020304" pitchFamily="18" charset="0"/>
                <a:sym typeface="Montserrat"/>
              </a:rPr>
              <a:t> </a:t>
            </a:r>
            <a:r>
              <a:rPr lang="en-US" sz="1600" i="1" dirty="0" err="1">
                <a:latin typeface="Times New Roman" panose="02020603050405020304" pitchFamily="18" charset="0"/>
                <a:cs typeface="Times New Roman" panose="02020603050405020304" pitchFamily="18" charset="0"/>
                <a:sym typeface="Montserrat"/>
              </a:rPr>
              <a:t>discount_price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sau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đó</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nhập</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công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thức</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là</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a:t>
            </a:r>
            <a:r>
              <a:rPr lang="en-US" sz="1600" b="1" i="1" dirty="0" err="1">
                <a:latin typeface="Times New Roman" panose="02020603050405020304" pitchFamily="18" charset="0"/>
                <a:cs typeface="Times New Roman" panose="02020603050405020304" pitchFamily="18" charset="0"/>
                <a:sym typeface="Montserrat"/>
              </a:rPr>
              <a:t>product_retail_price</a:t>
            </a:r>
            <a:r>
              <a:rPr lang="en-US" sz="1600" b="1" i="1" dirty="0">
                <a:latin typeface="Times New Roman" panose="02020603050405020304" pitchFamily="18" charset="0"/>
                <a:cs typeface="Times New Roman" panose="02020603050405020304" pitchFamily="18" charset="0"/>
                <a:sym typeface="Montserrat"/>
              </a:rPr>
              <a:t>] * 0.9</a:t>
            </a:r>
          </a:p>
        </p:txBody>
      </p:sp>
      <p:pic>
        <p:nvPicPr>
          <p:cNvPr id="30" name="Picture 29">
            <a:extLst>
              <a:ext uri="{FF2B5EF4-FFF2-40B4-BE49-F238E27FC236}">
                <a16:creationId xmlns:a16="http://schemas.microsoft.com/office/drawing/2014/main" id="{F7DF03EC-4A7E-469F-315C-9F3A6887980F}"/>
              </a:ext>
            </a:extLst>
          </p:cNvPr>
          <p:cNvPicPr>
            <a:picLocks noChangeAspect="1"/>
          </p:cNvPicPr>
          <p:nvPr/>
        </p:nvPicPr>
        <p:blipFill>
          <a:blip r:embed="rId3"/>
          <a:stretch>
            <a:fillRect/>
          </a:stretch>
        </p:blipFill>
        <p:spPr>
          <a:xfrm>
            <a:off x="3890052" y="3979381"/>
            <a:ext cx="4411896" cy="2697589"/>
          </a:xfrm>
          <a:prstGeom prst="rect">
            <a:avLst/>
          </a:prstGeom>
        </p:spPr>
      </p:pic>
      <p:sp>
        <p:nvSpPr>
          <p:cNvPr id="2" name="Rectangle 1">
            <a:extLst>
              <a:ext uri="{FF2B5EF4-FFF2-40B4-BE49-F238E27FC236}">
                <a16:creationId xmlns:a16="http://schemas.microsoft.com/office/drawing/2014/main" id="{5D3B5C05-A980-0AD3-0839-C47F4AF4F731}"/>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4A13491F-F365-B06B-E469-263EC3F1B5EA}"/>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4. </a:t>
            </a:r>
            <a:r>
              <a:rPr lang="en-US" sz="2000" b="1" dirty="0" err="1">
                <a:solidFill>
                  <a:srgbClr val="113A71"/>
                </a:solidFill>
                <a:latin typeface="Times New Roman" panose="02020603050405020304" pitchFamily="18" charset="0"/>
                <a:cs typeface="Times New Roman" panose="02020603050405020304" pitchFamily="18" charset="0"/>
              </a:rPr>
              <a:t>Thêm</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cột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i="1" dirty="0">
                <a:solidFill>
                  <a:srgbClr val="113A71"/>
                </a:solidFill>
                <a:latin typeface="Times New Roman" panose="02020603050405020304" pitchFamily="18" charset="0"/>
                <a:cs typeface="Times New Roman" panose="02020603050405020304" pitchFamily="18" charset="0"/>
              </a:rPr>
              <a:t>– </a:t>
            </a:r>
            <a:r>
              <a:rPr lang="en-US" sz="2000" b="1" i="1" dirty="0" err="1">
                <a:solidFill>
                  <a:srgbClr val="113A71"/>
                </a:solidFill>
                <a:latin typeface="Times New Roman" panose="02020603050405020304" pitchFamily="18" charset="0"/>
                <a:cs typeface="Times New Roman" panose="02020603050405020304" pitchFamily="18" charset="0"/>
              </a:rPr>
              <a:t>Bảng</a:t>
            </a:r>
            <a:r>
              <a:rPr lang="en-US" sz="2000" b="1" i="1" dirty="0">
                <a:solidFill>
                  <a:srgbClr val="113A71"/>
                </a:solidFill>
                <a:latin typeface="Times New Roman" panose="02020603050405020304" pitchFamily="18" charset="0"/>
                <a:cs typeface="Times New Roman" panose="02020603050405020304" pitchFamily="18" charset="0"/>
              </a:rPr>
              <a:t> Products</a:t>
            </a:r>
            <a:endParaRPr lang="en-US" sz="2000" b="1" dirty="0">
              <a:solidFill>
                <a:srgbClr val="113A71"/>
              </a:solidFill>
              <a:latin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FB51EDF9-17AE-DEF8-645F-2D379C72913E}"/>
              </a:ext>
            </a:extLst>
          </p:cNvPr>
          <p:cNvGrpSpPr/>
          <p:nvPr/>
        </p:nvGrpSpPr>
        <p:grpSpPr>
          <a:xfrm>
            <a:off x="4447586" y="2309430"/>
            <a:ext cx="3296826" cy="1289900"/>
            <a:chOff x="4447586" y="2309430"/>
            <a:chExt cx="3296826" cy="1289900"/>
          </a:xfrm>
        </p:grpSpPr>
        <p:grpSp>
          <p:nvGrpSpPr>
            <p:cNvPr id="9" name="Group 8">
              <a:extLst>
                <a:ext uri="{FF2B5EF4-FFF2-40B4-BE49-F238E27FC236}">
                  <a16:creationId xmlns:a16="http://schemas.microsoft.com/office/drawing/2014/main" id="{FB202520-4336-CCBB-9BFF-BC2572AF8CDF}"/>
                </a:ext>
              </a:extLst>
            </p:cNvPr>
            <p:cNvGrpSpPr/>
            <p:nvPr/>
          </p:nvGrpSpPr>
          <p:grpSpPr>
            <a:xfrm>
              <a:off x="4447586" y="2309430"/>
              <a:ext cx="3296826" cy="1279702"/>
              <a:chOff x="4447586" y="2309430"/>
              <a:chExt cx="3296826" cy="1279702"/>
            </a:xfrm>
          </p:grpSpPr>
          <p:pic>
            <p:nvPicPr>
              <p:cNvPr id="27" name="Picture 26">
                <a:extLst>
                  <a:ext uri="{FF2B5EF4-FFF2-40B4-BE49-F238E27FC236}">
                    <a16:creationId xmlns:a16="http://schemas.microsoft.com/office/drawing/2014/main" id="{D3CFFA58-7948-D3C9-7943-FB91930D0228}"/>
                  </a:ext>
                </a:extLst>
              </p:cNvPr>
              <p:cNvPicPr>
                <a:picLocks noChangeAspect="1"/>
              </p:cNvPicPr>
              <p:nvPr/>
            </p:nvPicPr>
            <p:blipFill>
              <a:blip r:embed="rId4"/>
              <a:stretch>
                <a:fillRect/>
              </a:stretch>
            </p:blipFill>
            <p:spPr>
              <a:xfrm>
                <a:off x="4447586" y="2338612"/>
                <a:ext cx="3296826" cy="1250520"/>
              </a:xfrm>
              <a:prstGeom prst="rect">
                <a:avLst/>
              </a:prstGeom>
            </p:spPr>
          </p:pic>
          <p:sp>
            <p:nvSpPr>
              <p:cNvPr id="5" name="Rectangle 4">
                <a:extLst>
                  <a:ext uri="{FF2B5EF4-FFF2-40B4-BE49-F238E27FC236}">
                    <a16:creationId xmlns:a16="http://schemas.microsoft.com/office/drawing/2014/main" id="{E4E352F4-A3AE-C69F-E3F6-E3BFFF8AD84B}"/>
                  </a:ext>
                </a:extLst>
              </p:cNvPr>
              <p:cNvSpPr/>
              <p:nvPr/>
            </p:nvSpPr>
            <p:spPr>
              <a:xfrm>
                <a:off x="6480049" y="2338612"/>
                <a:ext cx="932688" cy="252188"/>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6" name="Rectangle 5">
                <a:extLst>
                  <a:ext uri="{FF2B5EF4-FFF2-40B4-BE49-F238E27FC236}">
                    <a16:creationId xmlns:a16="http://schemas.microsoft.com/office/drawing/2014/main" id="{35A38A28-6A58-3F05-EF44-73C2C0A589C6}"/>
                  </a:ext>
                </a:extLst>
              </p:cNvPr>
              <p:cNvSpPr/>
              <p:nvPr/>
            </p:nvSpPr>
            <p:spPr>
              <a:xfrm>
                <a:off x="5205985" y="2634114"/>
                <a:ext cx="445007" cy="704326"/>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7" name="TextBox 6">
                <a:extLst>
                  <a:ext uri="{FF2B5EF4-FFF2-40B4-BE49-F238E27FC236}">
                    <a16:creationId xmlns:a16="http://schemas.microsoft.com/office/drawing/2014/main" id="{7D105AC6-A1ED-593D-750F-072413EAD231}"/>
                  </a:ext>
                </a:extLst>
              </p:cNvPr>
              <p:cNvSpPr txBox="1"/>
              <p:nvPr/>
            </p:nvSpPr>
            <p:spPr>
              <a:xfrm>
                <a:off x="6285822" y="2309430"/>
                <a:ext cx="274434" cy="307777"/>
              </a:xfrm>
              <a:prstGeom prst="rect">
                <a:avLst/>
              </a:prstGeom>
              <a:noFill/>
            </p:spPr>
            <p:txBody>
              <a:bodyPr wrap="none" rtlCol="0">
                <a:spAutoFit/>
              </a:bodyPr>
              <a:lstStyle/>
              <a:p>
                <a:r>
                  <a:rPr lang="en-US" sz="1400" dirty="0">
                    <a:solidFill>
                      <a:srgbClr val="119303"/>
                    </a:solidFill>
                    <a:latin typeface="Times New Roman" panose="02020603050405020304" pitchFamily="18" charset="0"/>
                    <a:cs typeface="Times New Roman" panose="02020603050405020304" pitchFamily="18" charset="0"/>
                  </a:rPr>
                  <a:t>1</a:t>
                </a:r>
              </a:p>
            </p:txBody>
          </p:sp>
        </p:grpSp>
        <p:sp>
          <p:nvSpPr>
            <p:cNvPr id="8" name="TextBox 7">
              <a:extLst>
                <a:ext uri="{FF2B5EF4-FFF2-40B4-BE49-F238E27FC236}">
                  <a16:creationId xmlns:a16="http://schemas.microsoft.com/office/drawing/2014/main" id="{3064E0B8-A6BF-D745-E5D1-655E7BF912FE}"/>
                </a:ext>
              </a:extLst>
            </p:cNvPr>
            <p:cNvSpPr txBox="1"/>
            <p:nvPr/>
          </p:nvSpPr>
          <p:spPr>
            <a:xfrm>
              <a:off x="5291271" y="3291553"/>
              <a:ext cx="274434" cy="307777"/>
            </a:xfrm>
            <a:prstGeom prst="rect">
              <a:avLst/>
            </a:prstGeom>
            <a:noFill/>
          </p:spPr>
          <p:txBody>
            <a:bodyPr wrap="none" rtlCol="0">
              <a:spAutoFit/>
            </a:bodyPr>
            <a:lstStyle/>
            <a:p>
              <a:r>
                <a:rPr lang="en-US" sz="1400" dirty="0">
                  <a:solidFill>
                    <a:srgbClr val="119303"/>
                  </a:solidFill>
                  <a:latin typeface="Times New Roman" panose="02020603050405020304" pitchFamily="18" charset="0"/>
                  <a:cs typeface="Times New Roman" panose="02020603050405020304" pitchFamily="18" charset="0"/>
                </a:rPr>
                <a:t>2</a:t>
              </a:r>
            </a:p>
          </p:txBody>
        </p:sp>
      </p:grpSp>
    </p:spTree>
    <p:extLst>
      <p:ext uri="{BB962C8B-B14F-4D97-AF65-F5344CB8AC3E}">
        <p14:creationId xmlns:p14="http://schemas.microsoft.com/office/powerpoint/2010/main" val="235393374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092FA-DB03-C01B-D214-83FE207F9721}"/>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5186E208-A5B2-014D-92B3-CCE0D9E34894}"/>
              </a:ext>
            </a:extLst>
          </p:cNvPr>
          <p:cNvSpPr txBox="1"/>
          <p:nvPr/>
        </p:nvSpPr>
        <p:spPr>
          <a:xfrm>
            <a:off x="357248" y="759743"/>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4" name="Google Shape;642;p53">
            <a:extLst>
              <a:ext uri="{FF2B5EF4-FFF2-40B4-BE49-F238E27FC236}">
                <a16:creationId xmlns:a16="http://schemas.microsoft.com/office/drawing/2014/main" id="{40BD026B-F27C-A266-D200-591D5B94AC14}"/>
              </a:ext>
            </a:extLst>
          </p:cNvPr>
          <p:cNvSpPr txBox="1"/>
          <p:nvPr/>
        </p:nvSpPr>
        <p:spPr>
          <a:xfrm>
            <a:off x="385849" y="1670872"/>
            <a:ext cx="8713525"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tt</a:t>
            </a:r>
            <a:r>
              <a:rPr lang="en-US" b="1" dirty="0">
                <a:latin typeface="Times New Roman" panose="02020603050405020304" pitchFamily="18" charset="0"/>
                <a:cs typeface="Times New Roman" panose="02020603050405020304" pitchFamily="18" charset="0"/>
                <a:sym typeface="Montserrat"/>
              </a:rPr>
              <a:t>):</a:t>
            </a:r>
          </a:p>
        </p:txBody>
      </p:sp>
      <p:sp>
        <p:nvSpPr>
          <p:cNvPr id="10" name="Google Shape;642;p53">
            <a:extLst>
              <a:ext uri="{FF2B5EF4-FFF2-40B4-BE49-F238E27FC236}">
                <a16:creationId xmlns:a16="http://schemas.microsoft.com/office/drawing/2014/main" id="{587A1E1B-981E-437E-D507-5F5992B8BE60}"/>
              </a:ext>
            </a:extLst>
          </p:cNvPr>
          <p:cNvSpPr txBox="1"/>
          <p:nvPr/>
        </p:nvSpPr>
        <p:spPr>
          <a:xfrm>
            <a:off x="603466" y="2045182"/>
            <a:ext cx="6304847" cy="390249"/>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Đảm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bảo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định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dạng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của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b="1" i="1" dirty="0" err="1">
                <a:latin typeface="Times New Roman" panose="02020603050405020304" pitchFamily="18" charset="0"/>
                <a:cs typeface="Times New Roman" panose="02020603050405020304" pitchFamily="18" charset="0"/>
                <a:sym typeface="Montserrat"/>
              </a:rPr>
              <a:t>discount_price</a:t>
            </a:r>
            <a:r>
              <a:rPr lang="en-US" sz="1600" b="1" i="1"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vừa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thêm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là</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Decimal number</a:t>
            </a:r>
            <a:r>
              <a:rPr lang="en-US" sz="1600" dirty="0">
                <a:latin typeface="Times New Roman" panose="02020603050405020304" pitchFamily="18" charset="0"/>
                <a:cs typeface="Times New Roman" panose="02020603050405020304" pitchFamily="18" charset="0"/>
                <a:sym typeface="Montserrat"/>
              </a:rPr>
              <a:t>.</a:t>
            </a:r>
          </a:p>
        </p:txBody>
      </p:sp>
      <p:pic>
        <p:nvPicPr>
          <p:cNvPr id="25" name="Picture 24">
            <a:extLst>
              <a:ext uri="{FF2B5EF4-FFF2-40B4-BE49-F238E27FC236}">
                <a16:creationId xmlns:a16="http://schemas.microsoft.com/office/drawing/2014/main" id="{04E9152D-979E-3429-EF71-3EF862B2D00D}"/>
              </a:ext>
            </a:extLst>
          </p:cNvPr>
          <p:cNvPicPr>
            <a:picLocks noChangeAspect="1"/>
          </p:cNvPicPr>
          <p:nvPr/>
        </p:nvPicPr>
        <p:blipFill>
          <a:blip r:embed="rId2"/>
          <a:stretch>
            <a:fillRect/>
          </a:stretch>
        </p:blipFill>
        <p:spPr>
          <a:xfrm>
            <a:off x="2175650" y="847878"/>
            <a:ext cx="7840698" cy="849539"/>
          </a:xfrm>
          <a:prstGeom prst="rect">
            <a:avLst/>
          </a:prstGeom>
        </p:spPr>
      </p:pic>
      <p:sp>
        <p:nvSpPr>
          <p:cNvPr id="28" name="Google Shape;642;p53">
            <a:extLst>
              <a:ext uri="{FF2B5EF4-FFF2-40B4-BE49-F238E27FC236}">
                <a16:creationId xmlns:a16="http://schemas.microsoft.com/office/drawing/2014/main" id="{99D867CD-9FA5-1D82-D2A7-FD92B9138E9D}"/>
              </a:ext>
            </a:extLst>
          </p:cNvPr>
          <p:cNvSpPr txBox="1"/>
          <p:nvPr/>
        </p:nvSpPr>
        <p:spPr>
          <a:xfrm>
            <a:off x="603466" y="4624630"/>
            <a:ext cx="7036854" cy="390249"/>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Nhập</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số</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2</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ô </a:t>
            </a:r>
            <a:r>
              <a:rPr lang="en-US" sz="1600" b="1" dirty="0">
                <a:latin typeface="Times New Roman" panose="02020603050405020304" pitchFamily="18" charset="0"/>
                <a:cs typeface="Times New Roman" panose="02020603050405020304" pitchFamily="18" charset="0"/>
                <a:sym typeface="Montserrat"/>
              </a:rPr>
              <a:t>Decimal Places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làm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tròn</a:t>
            </a:r>
            <a:r>
              <a:rPr lang="en-US" sz="1600" dirty="0">
                <a:latin typeface="Times New Roman" panose="02020603050405020304" pitchFamily="18" charset="0"/>
                <a:cs typeface="Times New Roman" panose="02020603050405020304" pitchFamily="18" charset="0"/>
                <a:sym typeface="Montserrat"/>
              </a:rPr>
              <a:t> 2 </a:t>
            </a:r>
            <a:r>
              <a:rPr lang="en-US" sz="1600" dirty="0" err="1">
                <a:latin typeface="Times New Roman" panose="02020603050405020304" pitchFamily="18" charset="0"/>
                <a:cs typeface="Times New Roman" panose="02020603050405020304" pitchFamily="18" charset="0"/>
                <a:sym typeface="Montserrat"/>
              </a:rPr>
              <a:t>chữ</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số</a:t>
            </a:r>
            <a:r>
              <a:rPr lang="en-US" sz="1600" dirty="0">
                <a:latin typeface="Times New Roman" panose="02020603050405020304" pitchFamily="18" charset="0"/>
                <a:cs typeface="Times New Roman" panose="02020603050405020304" pitchFamily="18" charset="0"/>
                <a:sym typeface="Montserrat"/>
              </a:rPr>
              <a:t> ở </a:t>
            </a:r>
            <a:r>
              <a:rPr lang="en-US" sz="1600" dirty="0" err="1">
                <a:latin typeface="Times New Roman" panose="02020603050405020304" pitchFamily="18" charset="0"/>
                <a:cs typeface="Times New Roman" panose="02020603050405020304" pitchFamily="18" charset="0"/>
                <a:sym typeface="Montserrat"/>
              </a:rPr>
              <a:t>phần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thập</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phân</a:t>
            </a:r>
            <a:r>
              <a:rPr lang="en-US" sz="1600" dirty="0">
                <a:latin typeface="Times New Roman" panose="02020603050405020304" pitchFamily="18" charset="0"/>
                <a:cs typeface="Times New Roman" panose="02020603050405020304" pitchFamily="18" charset="0"/>
                <a:sym typeface="Montserrat"/>
              </a:rPr>
              <a:t>.</a:t>
            </a:r>
          </a:p>
        </p:txBody>
      </p:sp>
      <p:pic>
        <p:nvPicPr>
          <p:cNvPr id="34" name="Picture 33">
            <a:extLst>
              <a:ext uri="{FF2B5EF4-FFF2-40B4-BE49-F238E27FC236}">
                <a16:creationId xmlns:a16="http://schemas.microsoft.com/office/drawing/2014/main" id="{83CF767F-A460-2833-3510-CA0D8D7B45B6}"/>
              </a:ext>
            </a:extLst>
          </p:cNvPr>
          <p:cNvPicPr>
            <a:picLocks noChangeAspect="1"/>
          </p:cNvPicPr>
          <p:nvPr/>
        </p:nvPicPr>
        <p:blipFill>
          <a:blip r:embed="rId3"/>
          <a:stretch>
            <a:fillRect/>
          </a:stretch>
        </p:blipFill>
        <p:spPr>
          <a:xfrm>
            <a:off x="3179611" y="4949193"/>
            <a:ext cx="5832778" cy="1721148"/>
          </a:xfrm>
          <a:prstGeom prst="rect">
            <a:avLst/>
          </a:prstGeom>
        </p:spPr>
      </p:pic>
      <p:sp>
        <p:nvSpPr>
          <p:cNvPr id="35" name="Google Shape;642;p53">
            <a:extLst>
              <a:ext uri="{FF2B5EF4-FFF2-40B4-BE49-F238E27FC236}">
                <a16:creationId xmlns:a16="http://schemas.microsoft.com/office/drawing/2014/main" id="{78334DEC-73D8-6B88-7C58-3C26B95878CE}"/>
              </a:ext>
            </a:extLst>
          </p:cNvPr>
          <p:cNvSpPr txBox="1"/>
          <p:nvPr/>
        </p:nvSpPr>
        <p:spPr>
          <a:xfrm>
            <a:off x="603466" y="2952565"/>
            <a:ext cx="9721410" cy="390249"/>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a:latin typeface="Times New Roman" panose="02020603050405020304" pitchFamily="18" charset="0"/>
                <a:cs typeface="Times New Roman" panose="02020603050405020304" pitchFamily="18" charset="0"/>
                <a:sym typeface="Montserrat"/>
              </a:rPr>
              <a:t>Sau </a:t>
            </a:r>
            <a:r>
              <a:rPr lang="en-US" sz="1600" dirty="0" err="1">
                <a:latin typeface="Times New Roman" panose="02020603050405020304" pitchFamily="18" charset="0"/>
                <a:cs typeface="Times New Roman" panose="02020603050405020304" pitchFamily="18" charset="0"/>
                <a:sym typeface="Montserrat"/>
              </a:rPr>
              <a:t>đó</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chọn</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Transform</a:t>
            </a:r>
            <a:r>
              <a:rPr lang="en-US" sz="1600" dirty="0">
                <a:latin typeface="Times New Roman" panose="02020603050405020304" pitchFamily="18" charset="0"/>
                <a:cs typeface="Times New Roman" panose="02020603050405020304" pitchFamily="18" charset="0"/>
                <a:sym typeface="Montserrat"/>
              </a:rPr>
              <a:t> </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Rounding</a:t>
            </a:r>
            <a:r>
              <a:rPr lang="en-US" sz="1600" dirty="0">
                <a:latin typeface="Times New Roman" panose="02020603050405020304" pitchFamily="18" charset="0"/>
                <a:cs typeface="Times New Roman" panose="02020603050405020304" pitchFamily="18" charset="0"/>
                <a:sym typeface="Wingdings" panose="05000000000000000000" pitchFamily="2" charset="2"/>
              </a:rPr>
              <a:t>  </a:t>
            </a:r>
            <a:r>
              <a:rPr lang="en-US" sz="1600" b="1" dirty="0">
                <a:latin typeface="Times New Roman" panose="02020603050405020304" pitchFamily="18" charset="0"/>
                <a:cs typeface="Times New Roman" panose="02020603050405020304" pitchFamily="18" charset="0"/>
                <a:sym typeface="Wingdings" panose="05000000000000000000" pitchFamily="2" charset="2"/>
              </a:rPr>
              <a:t>Round…</a:t>
            </a:r>
            <a:endParaRPr lang="en-US" sz="1600" b="1" dirty="0">
              <a:latin typeface="Times New Roman" panose="02020603050405020304" pitchFamily="18" charset="0"/>
              <a:cs typeface="Times New Roman" panose="02020603050405020304" pitchFamily="18" charset="0"/>
              <a:sym typeface="Montserrat"/>
            </a:endParaRPr>
          </a:p>
        </p:txBody>
      </p:sp>
      <p:sp>
        <p:nvSpPr>
          <p:cNvPr id="2" name="Rectangle 1">
            <a:extLst>
              <a:ext uri="{FF2B5EF4-FFF2-40B4-BE49-F238E27FC236}">
                <a16:creationId xmlns:a16="http://schemas.microsoft.com/office/drawing/2014/main" id="{E6029B76-BCE9-9D99-1BB4-8C1913BA1FD1}"/>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A06A3A01-91BB-400F-B311-50023F29D945}"/>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4. </a:t>
            </a:r>
            <a:r>
              <a:rPr lang="en-US" sz="2000" b="1" dirty="0" err="1">
                <a:solidFill>
                  <a:srgbClr val="113A71"/>
                </a:solidFill>
                <a:latin typeface="Times New Roman" panose="02020603050405020304" pitchFamily="18" charset="0"/>
                <a:cs typeface="Times New Roman" panose="02020603050405020304" pitchFamily="18" charset="0"/>
              </a:rPr>
              <a:t>Thêm</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cột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i="1" dirty="0">
                <a:solidFill>
                  <a:srgbClr val="113A71"/>
                </a:solidFill>
                <a:latin typeface="Times New Roman" panose="02020603050405020304" pitchFamily="18" charset="0"/>
                <a:cs typeface="Times New Roman" panose="02020603050405020304" pitchFamily="18" charset="0"/>
              </a:rPr>
              <a:t>– </a:t>
            </a:r>
            <a:r>
              <a:rPr lang="en-US" sz="2000" b="1" i="1" dirty="0" err="1">
                <a:solidFill>
                  <a:srgbClr val="113A71"/>
                </a:solidFill>
                <a:latin typeface="Times New Roman" panose="02020603050405020304" pitchFamily="18" charset="0"/>
                <a:cs typeface="Times New Roman" panose="02020603050405020304" pitchFamily="18" charset="0"/>
              </a:rPr>
              <a:t>Bảng</a:t>
            </a:r>
            <a:r>
              <a:rPr lang="en-US" sz="2000" b="1" i="1" dirty="0">
                <a:solidFill>
                  <a:srgbClr val="113A71"/>
                </a:solidFill>
                <a:latin typeface="Times New Roman" panose="02020603050405020304" pitchFamily="18" charset="0"/>
                <a:cs typeface="Times New Roman" panose="02020603050405020304" pitchFamily="18" charset="0"/>
              </a:rPr>
              <a:t> Products </a:t>
            </a:r>
            <a:r>
              <a:rPr lang="en-US" sz="2000" b="1" dirty="0">
                <a:solidFill>
                  <a:srgbClr val="113A71"/>
                </a:solidFill>
                <a:latin typeface="Times New Roman" panose="02020603050405020304" pitchFamily="18" charset="0"/>
                <a:cs typeface="Times New Roman" panose="02020603050405020304" pitchFamily="18" charset="0"/>
              </a:rPr>
              <a:t>(</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grpSp>
        <p:nvGrpSpPr>
          <p:cNvPr id="14" name="Group 13">
            <a:extLst>
              <a:ext uri="{FF2B5EF4-FFF2-40B4-BE49-F238E27FC236}">
                <a16:creationId xmlns:a16="http://schemas.microsoft.com/office/drawing/2014/main" id="{BA3625F6-B372-1CF2-9B98-EE3840A34822}"/>
              </a:ext>
            </a:extLst>
          </p:cNvPr>
          <p:cNvGrpSpPr/>
          <p:nvPr/>
        </p:nvGrpSpPr>
        <p:grpSpPr>
          <a:xfrm>
            <a:off x="1406807" y="3293568"/>
            <a:ext cx="9378383" cy="1331062"/>
            <a:chOff x="1406807" y="2798195"/>
            <a:chExt cx="9378383" cy="1331062"/>
          </a:xfrm>
        </p:grpSpPr>
        <p:pic>
          <p:nvPicPr>
            <p:cNvPr id="32" name="Picture 31">
              <a:extLst>
                <a:ext uri="{FF2B5EF4-FFF2-40B4-BE49-F238E27FC236}">
                  <a16:creationId xmlns:a16="http://schemas.microsoft.com/office/drawing/2014/main" id="{B7D5FE2F-F0FA-EFF7-BBB3-71063CAF4740}"/>
                </a:ext>
              </a:extLst>
            </p:cNvPr>
            <p:cNvPicPr>
              <a:picLocks noChangeAspect="1"/>
            </p:cNvPicPr>
            <p:nvPr/>
          </p:nvPicPr>
          <p:blipFill>
            <a:blip r:embed="rId4"/>
            <a:stretch>
              <a:fillRect/>
            </a:stretch>
          </p:blipFill>
          <p:spPr>
            <a:xfrm>
              <a:off x="1406807" y="2835249"/>
              <a:ext cx="9378383" cy="1273249"/>
            </a:xfrm>
            <a:prstGeom prst="rect">
              <a:avLst/>
            </a:prstGeom>
          </p:spPr>
        </p:pic>
        <p:sp>
          <p:nvSpPr>
            <p:cNvPr id="6" name="Rectangle 5">
              <a:extLst>
                <a:ext uri="{FF2B5EF4-FFF2-40B4-BE49-F238E27FC236}">
                  <a16:creationId xmlns:a16="http://schemas.microsoft.com/office/drawing/2014/main" id="{BDE8A56D-BC7D-2063-BDEB-0A7D8E2D7C3C}"/>
                </a:ext>
              </a:extLst>
            </p:cNvPr>
            <p:cNvSpPr/>
            <p:nvPr/>
          </p:nvSpPr>
          <p:spPr>
            <a:xfrm>
              <a:off x="2406813" y="2847441"/>
              <a:ext cx="689678" cy="209287"/>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7" name="TextBox 6">
              <a:extLst>
                <a:ext uri="{FF2B5EF4-FFF2-40B4-BE49-F238E27FC236}">
                  <a16:creationId xmlns:a16="http://schemas.microsoft.com/office/drawing/2014/main" id="{E830E3C4-7906-512D-106C-5D505170729D}"/>
                </a:ext>
              </a:extLst>
            </p:cNvPr>
            <p:cNvSpPr txBox="1"/>
            <p:nvPr/>
          </p:nvSpPr>
          <p:spPr>
            <a:xfrm>
              <a:off x="3042394" y="2798195"/>
              <a:ext cx="274434" cy="307777"/>
            </a:xfrm>
            <a:prstGeom prst="rect">
              <a:avLst/>
            </a:prstGeom>
            <a:noFill/>
          </p:spPr>
          <p:txBody>
            <a:bodyPr wrap="none" rtlCol="0">
              <a:spAutoFit/>
            </a:bodyPr>
            <a:lstStyle/>
            <a:p>
              <a:r>
                <a:rPr lang="en-US" sz="1400" dirty="0">
                  <a:solidFill>
                    <a:srgbClr val="119303"/>
                  </a:solidFill>
                  <a:latin typeface="Times New Roman" panose="02020603050405020304" pitchFamily="18" charset="0"/>
                  <a:cs typeface="Times New Roman" panose="02020603050405020304" pitchFamily="18" charset="0"/>
                </a:rPr>
                <a:t>1</a:t>
              </a:r>
            </a:p>
          </p:txBody>
        </p:sp>
        <p:sp>
          <p:nvSpPr>
            <p:cNvPr id="8" name="TextBox 7">
              <a:extLst>
                <a:ext uri="{FF2B5EF4-FFF2-40B4-BE49-F238E27FC236}">
                  <a16:creationId xmlns:a16="http://schemas.microsoft.com/office/drawing/2014/main" id="{B14E60DF-2EF5-06F0-8544-B56E1D057C80}"/>
                </a:ext>
              </a:extLst>
            </p:cNvPr>
            <p:cNvSpPr txBox="1"/>
            <p:nvPr/>
          </p:nvSpPr>
          <p:spPr>
            <a:xfrm>
              <a:off x="10378602" y="3221692"/>
              <a:ext cx="274434" cy="307777"/>
            </a:xfrm>
            <a:prstGeom prst="rect">
              <a:avLst/>
            </a:prstGeom>
            <a:noFill/>
          </p:spPr>
          <p:txBody>
            <a:bodyPr wrap="none" rtlCol="0">
              <a:spAutoFit/>
            </a:bodyPr>
            <a:lstStyle/>
            <a:p>
              <a:r>
                <a:rPr lang="en-US" sz="1400" dirty="0">
                  <a:solidFill>
                    <a:srgbClr val="119303"/>
                  </a:solidFill>
                  <a:latin typeface="Times New Roman" panose="02020603050405020304" pitchFamily="18" charset="0"/>
                  <a:cs typeface="Times New Roman" panose="02020603050405020304" pitchFamily="18" charset="0"/>
                </a:rPr>
                <a:t>2</a:t>
              </a:r>
            </a:p>
          </p:txBody>
        </p:sp>
        <p:sp>
          <p:nvSpPr>
            <p:cNvPr id="9" name="Rectangle 8">
              <a:extLst>
                <a:ext uri="{FF2B5EF4-FFF2-40B4-BE49-F238E27FC236}">
                  <a16:creationId xmlns:a16="http://schemas.microsoft.com/office/drawing/2014/main" id="{A392A167-4FE8-E6B3-F9D3-312576B14DF2}"/>
                </a:ext>
              </a:extLst>
            </p:cNvPr>
            <p:cNvSpPr/>
            <p:nvPr/>
          </p:nvSpPr>
          <p:spPr>
            <a:xfrm>
              <a:off x="9687560" y="3286601"/>
              <a:ext cx="700023" cy="177960"/>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A4CE41B-4F1E-A134-C86C-1B49F15A4278}"/>
                </a:ext>
              </a:extLst>
            </p:cNvPr>
            <p:cNvSpPr/>
            <p:nvPr/>
          </p:nvSpPr>
          <p:spPr>
            <a:xfrm>
              <a:off x="9710420" y="3886389"/>
              <a:ext cx="805399" cy="177960"/>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13" name="TextBox 12">
              <a:extLst>
                <a:ext uri="{FF2B5EF4-FFF2-40B4-BE49-F238E27FC236}">
                  <a16:creationId xmlns:a16="http://schemas.microsoft.com/office/drawing/2014/main" id="{720EDB3F-32BF-F6CF-6325-B923AC46574F}"/>
                </a:ext>
              </a:extLst>
            </p:cNvPr>
            <p:cNvSpPr txBox="1"/>
            <p:nvPr/>
          </p:nvSpPr>
          <p:spPr>
            <a:xfrm>
              <a:off x="10482742" y="3821480"/>
              <a:ext cx="274434" cy="307777"/>
            </a:xfrm>
            <a:prstGeom prst="rect">
              <a:avLst/>
            </a:prstGeom>
            <a:noFill/>
          </p:spPr>
          <p:txBody>
            <a:bodyPr wrap="none" rtlCol="0">
              <a:spAutoFit/>
            </a:bodyPr>
            <a:lstStyle/>
            <a:p>
              <a:r>
                <a:rPr lang="en-US" sz="1400" dirty="0">
                  <a:solidFill>
                    <a:srgbClr val="119303"/>
                  </a:solidFill>
                  <a:latin typeface="Times New Roman" panose="02020603050405020304" pitchFamily="18" charset="0"/>
                  <a:cs typeface="Times New Roman" panose="02020603050405020304" pitchFamily="18" charset="0"/>
                </a:rPr>
                <a:t>3</a:t>
              </a:r>
            </a:p>
          </p:txBody>
        </p:sp>
      </p:grpSp>
      <p:grpSp>
        <p:nvGrpSpPr>
          <p:cNvPr id="18" name="Group 17">
            <a:extLst>
              <a:ext uri="{FF2B5EF4-FFF2-40B4-BE49-F238E27FC236}">
                <a16:creationId xmlns:a16="http://schemas.microsoft.com/office/drawing/2014/main" id="{69C6A5FC-972E-1C55-4554-426DD398E1E5}"/>
              </a:ext>
            </a:extLst>
          </p:cNvPr>
          <p:cNvGrpSpPr/>
          <p:nvPr/>
        </p:nvGrpSpPr>
        <p:grpSpPr>
          <a:xfrm>
            <a:off x="6908313" y="1697417"/>
            <a:ext cx="2779247" cy="1219079"/>
            <a:chOff x="6908313" y="1697417"/>
            <a:chExt cx="2779247" cy="1219079"/>
          </a:xfrm>
        </p:grpSpPr>
        <p:pic>
          <p:nvPicPr>
            <p:cNvPr id="16" name="Picture 15">
              <a:extLst>
                <a:ext uri="{FF2B5EF4-FFF2-40B4-BE49-F238E27FC236}">
                  <a16:creationId xmlns:a16="http://schemas.microsoft.com/office/drawing/2014/main" id="{09DB876F-60DE-90D1-E2E8-270EACD3538D}"/>
                </a:ext>
              </a:extLst>
            </p:cNvPr>
            <p:cNvPicPr>
              <a:picLocks noChangeAspect="1"/>
            </p:cNvPicPr>
            <p:nvPr/>
          </p:nvPicPr>
          <p:blipFill>
            <a:blip r:embed="rId5"/>
            <a:stretch>
              <a:fillRect/>
            </a:stretch>
          </p:blipFill>
          <p:spPr>
            <a:xfrm>
              <a:off x="6908313" y="1697417"/>
              <a:ext cx="2779247" cy="1219079"/>
            </a:xfrm>
            <a:prstGeom prst="rect">
              <a:avLst/>
            </a:prstGeom>
          </p:spPr>
        </p:pic>
        <p:sp>
          <p:nvSpPr>
            <p:cNvPr id="17" name="Rectangle 16">
              <a:extLst>
                <a:ext uri="{FF2B5EF4-FFF2-40B4-BE49-F238E27FC236}">
                  <a16:creationId xmlns:a16="http://schemas.microsoft.com/office/drawing/2014/main" id="{62B349B2-D693-51ED-5760-0B93AC17F3CD}"/>
                </a:ext>
              </a:extLst>
            </p:cNvPr>
            <p:cNvSpPr/>
            <p:nvPr/>
          </p:nvSpPr>
          <p:spPr>
            <a:xfrm>
              <a:off x="6918216" y="1704123"/>
              <a:ext cx="1186693" cy="176631"/>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grpSp>
    </p:spTree>
    <p:extLst>
      <p:ext uri="{BB962C8B-B14F-4D97-AF65-F5344CB8AC3E}">
        <p14:creationId xmlns:p14="http://schemas.microsoft.com/office/powerpoint/2010/main" val="397603712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8FF02-2547-2376-0398-02E68B38C62A}"/>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6F5416B1-7D22-00CB-65F2-0F949DDA4989}"/>
              </a:ext>
            </a:extLst>
          </p:cNvPr>
          <p:cNvSpPr txBox="1"/>
          <p:nvPr/>
        </p:nvSpPr>
        <p:spPr>
          <a:xfrm>
            <a:off x="357248" y="738961"/>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pic>
        <p:nvPicPr>
          <p:cNvPr id="5" name="Picture 4">
            <a:extLst>
              <a:ext uri="{FF2B5EF4-FFF2-40B4-BE49-F238E27FC236}">
                <a16:creationId xmlns:a16="http://schemas.microsoft.com/office/drawing/2014/main" id="{0C7DC3E1-8647-A6FF-64C0-D4385F700699}"/>
              </a:ext>
            </a:extLst>
          </p:cNvPr>
          <p:cNvPicPr>
            <a:picLocks noChangeAspect="1"/>
          </p:cNvPicPr>
          <p:nvPr/>
        </p:nvPicPr>
        <p:blipFill>
          <a:blip r:embed="rId2"/>
          <a:stretch>
            <a:fillRect/>
          </a:stretch>
        </p:blipFill>
        <p:spPr>
          <a:xfrm>
            <a:off x="1470090" y="829755"/>
            <a:ext cx="9251820" cy="598910"/>
          </a:xfrm>
          <a:prstGeom prst="rect">
            <a:avLst/>
          </a:prstGeom>
        </p:spPr>
      </p:pic>
      <p:sp>
        <p:nvSpPr>
          <p:cNvPr id="12" name="Google Shape;642;p53">
            <a:extLst>
              <a:ext uri="{FF2B5EF4-FFF2-40B4-BE49-F238E27FC236}">
                <a16:creationId xmlns:a16="http://schemas.microsoft.com/office/drawing/2014/main" id="{A8E0932A-DDD9-BBE0-199E-4FB6DAF8D625}"/>
              </a:ext>
            </a:extLst>
          </p:cNvPr>
          <p:cNvSpPr txBox="1"/>
          <p:nvPr/>
        </p:nvSpPr>
        <p:spPr>
          <a:xfrm>
            <a:off x="357248" y="1519458"/>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1:</a:t>
            </a:r>
          </a:p>
        </p:txBody>
      </p:sp>
      <p:sp>
        <p:nvSpPr>
          <p:cNvPr id="14" name="Google Shape;642;p53">
            <a:extLst>
              <a:ext uri="{FF2B5EF4-FFF2-40B4-BE49-F238E27FC236}">
                <a16:creationId xmlns:a16="http://schemas.microsoft.com/office/drawing/2014/main" id="{91F017DB-E68E-927F-9C05-85C633D85B09}"/>
              </a:ext>
            </a:extLst>
          </p:cNvPr>
          <p:cNvSpPr txBox="1"/>
          <p:nvPr/>
        </p:nvSpPr>
        <p:spPr>
          <a:xfrm>
            <a:off x="519202" y="1909707"/>
            <a:ext cx="10280878" cy="921032"/>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Bấm</a:t>
            </a:r>
            <a:r>
              <a:rPr lang="en-US" sz="1600" dirty="0">
                <a:latin typeface="Times New Roman" panose="02020603050405020304" pitchFamily="18" charset="0"/>
                <a:cs typeface="Times New Roman" panose="02020603050405020304" pitchFamily="18" charset="0"/>
                <a:sym typeface="Montserrat"/>
              </a:rPr>
              <a:t> </a:t>
            </a:r>
            <a:r>
              <a:rPr lang="en-US" sz="1600" b="1" dirty="0" err="1">
                <a:latin typeface="Times New Roman" panose="02020603050405020304" pitchFamily="18" charset="0"/>
                <a:cs typeface="Times New Roman" panose="02020603050405020304" pitchFamily="18" charset="0"/>
                <a:sym typeface="Montserrat"/>
              </a:rPr>
              <a:t>phím</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Ctrl</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chọn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b="1" dirty="0" err="1">
                <a:latin typeface="Times New Roman" panose="02020603050405020304" pitchFamily="18" charset="0"/>
                <a:cs typeface="Times New Roman" panose="02020603050405020304" pitchFamily="18" charset="0"/>
                <a:sym typeface="Montserrat"/>
              </a:rPr>
              <a:t>store_city</a:t>
            </a:r>
            <a:r>
              <a:rPr lang="en-US" sz="1600" b="1" dirty="0">
                <a:latin typeface="Times New Roman" panose="02020603050405020304" pitchFamily="18" charset="0"/>
                <a:cs typeface="Times New Roman" panose="02020603050405020304" pitchFamily="18" charset="0"/>
                <a:sym typeface="Montserrat"/>
              </a:rPr>
              <a:t>, </a:t>
            </a:r>
            <a:r>
              <a:rPr lang="en-US" sz="1600" b="1" dirty="0" err="1">
                <a:latin typeface="Times New Roman" panose="02020603050405020304" pitchFamily="18" charset="0"/>
                <a:cs typeface="Times New Roman" panose="02020603050405020304" pitchFamily="18" charset="0"/>
                <a:sym typeface="Montserrat"/>
              </a:rPr>
              <a:t>store_state</a:t>
            </a:r>
            <a:r>
              <a:rPr lang="en-US" sz="1600" b="1"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a:t>
            </a:r>
            <a:r>
              <a:rPr lang="en-US" sz="1600" dirty="0">
                <a:latin typeface="Times New Roman" panose="02020603050405020304" pitchFamily="18" charset="0"/>
                <a:cs typeface="Times New Roman" panose="02020603050405020304" pitchFamily="18" charset="0"/>
                <a:sym typeface="Montserrat"/>
              </a:rPr>
              <a:t> </a:t>
            </a:r>
            <a:r>
              <a:rPr lang="en-US" sz="1600" b="1" dirty="0" err="1">
                <a:latin typeface="Times New Roman" panose="02020603050405020304" pitchFamily="18" charset="0"/>
                <a:cs typeface="Times New Roman" panose="02020603050405020304" pitchFamily="18" charset="0"/>
                <a:sym typeface="Montserrat"/>
              </a:rPr>
              <a:t>store_country</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sau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đó</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Add Column </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Merge Columns</a:t>
            </a:r>
            <a:endParaRPr lang="en-US" sz="1600" b="1" dirty="0">
              <a:latin typeface="Times New Roman" panose="02020603050405020304" pitchFamily="18" charset="0"/>
              <a:cs typeface="Times New Roman" panose="02020603050405020304" pitchFamily="18" charset="0"/>
              <a:sym typeface="Montserrat"/>
            </a:endParaRPr>
          </a:p>
          <a:p>
            <a:pPr marL="28575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Mục</a:t>
            </a:r>
            <a:r>
              <a:rPr lang="en-US" sz="1600" dirty="0">
                <a:latin typeface="Times New Roman" panose="02020603050405020304" pitchFamily="18" charset="0"/>
                <a:cs typeface="Times New Roman" panose="02020603050405020304" pitchFamily="18" charset="0"/>
                <a:sym typeface="Montserrat"/>
              </a:rPr>
              <a:t> </a:t>
            </a:r>
            <a:r>
              <a:rPr lang="en-US" sz="1600" b="1" dirty="0" err="1">
                <a:latin typeface="Times New Roman" panose="02020603050405020304" pitchFamily="18" charset="0"/>
                <a:cs typeface="Times New Roman" panose="02020603050405020304" pitchFamily="18" charset="0"/>
                <a:sym typeface="Montserrat"/>
              </a:rPr>
              <a:t>Seperator</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chọn</a:t>
            </a:r>
            <a:r>
              <a:rPr lang="en-US" sz="1600" dirty="0">
                <a:latin typeface="Times New Roman" panose="02020603050405020304" pitchFamily="18" charset="0"/>
                <a:cs typeface="Times New Roman" panose="02020603050405020304" pitchFamily="18" charset="0"/>
                <a:sym typeface="Montserrat"/>
              </a:rPr>
              <a:t> </a:t>
            </a:r>
            <a:r>
              <a:rPr lang="en-US" sz="1600" i="1" dirty="0" err="1">
                <a:latin typeface="Times New Roman" panose="02020603050405020304" pitchFamily="18" charset="0"/>
                <a:cs typeface="Times New Roman" panose="02020603050405020304" pitchFamily="18" charset="0"/>
                <a:sym typeface="Montserrat"/>
              </a:rPr>
              <a:t>Seperator</a:t>
            </a:r>
            <a:r>
              <a:rPr lang="en-US" sz="1600" b="1" dirty="0">
                <a:latin typeface="Times New Roman" panose="02020603050405020304" pitchFamily="18" charset="0"/>
                <a:cs typeface="Times New Roman" panose="02020603050405020304" pitchFamily="18" charset="0"/>
                <a:sym typeface="Montserrat"/>
              </a:rPr>
              <a:t> Custom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sau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đó</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nhập</a:t>
            </a:r>
            <a:r>
              <a:rPr lang="en-US" sz="1600" dirty="0">
                <a:latin typeface="Times New Roman" panose="02020603050405020304" pitchFamily="18" charset="0"/>
                <a:cs typeface="Times New Roman" panose="02020603050405020304" pitchFamily="18" charset="0"/>
                <a:sym typeface="Montserrat"/>
              </a:rPr>
              <a:t> “, ” (</a:t>
            </a:r>
            <a:r>
              <a:rPr lang="en-US" sz="1600" dirty="0" err="1">
                <a:latin typeface="Times New Roman" panose="02020603050405020304" pitchFamily="18" charset="0"/>
                <a:cs typeface="Times New Roman" panose="02020603050405020304" pitchFamily="18" charset="0"/>
                <a:sym typeface="Montserrat"/>
              </a:rPr>
              <a:t>Dấu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phẩy</a:t>
            </a:r>
            <a:r>
              <a:rPr lang="en-US" sz="1600" dirty="0">
                <a:latin typeface="Times New Roman" panose="02020603050405020304" pitchFamily="18" charset="0"/>
                <a:cs typeface="Times New Roman" panose="02020603050405020304" pitchFamily="18" charset="0"/>
                <a:sym typeface="Montserrat"/>
              </a:rPr>
              <a:t> + </a:t>
            </a:r>
            <a:r>
              <a:rPr lang="en-US" sz="1600" dirty="0" err="1">
                <a:latin typeface="Times New Roman" panose="02020603050405020304" pitchFamily="18" charset="0"/>
                <a:cs typeface="Times New Roman" panose="02020603050405020304" pitchFamily="18" charset="0"/>
                <a:sym typeface="Montserrat"/>
              </a:rPr>
              <a:t>dấu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cách</a:t>
            </a:r>
            <a:r>
              <a:rPr lang="en-US" sz="1600" dirty="0">
                <a:latin typeface="Times New Roman" panose="02020603050405020304" pitchFamily="18" charset="0"/>
                <a:cs typeface="Times New Roman" panose="02020603050405020304" pitchFamily="18" charset="0"/>
                <a:sym typeface="Montserrat"/>
              </a:rPr>
              <a:t>).</a:t>
            </a: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Mục</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New column name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Đặt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tên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mới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là</a:t>
            </a:r>
            <a:r>
              <a:rPr lang="en-US" sz="1600" dirty="0">
                <a:latin typeface="Times New Roman" panose="02020603050405020304" pitchFamily="18" charset="0"/>
                <a:cs typeface="Times New Roman" panose="02020603050405020304" pitchFamily="18" charset="0"/>
                <a:sym typeface="Montserrat"/>
              </a:rPr>
              <a:t> </a:t>
            </a:r>
            <a:r>
              <a:rPr lang="en-US" sz="1600" i="1" dirty="0" err="1">
                <a:latin typeface="Times New Roman" panose="02020603050405020304" pitchFamily="18" charset="0"/>
                <a:cs typeface="Times New Roman" panose="02020603050405020304" pitchFamily="18" charset="0"/>
                <a:sym typeface="Montserrat"/>
              </a:rPr>
              <a:t>full_address</a:t>
            </a:r>
            <a:r>
              <a:rPr lang="en-US" sz="1600" dirty="0">
                <a:latin typeface="Times New Roman" panose="02020603050405020304" pitchFamily="18" charset="0"/>
                <a:cs typeface="Times New Roman" panose="02020603050405020304" pitchFamily="18" charset="0"/>
                <a:sym typeface="Montserrat"/>
              </a:rPr>
              <a:t>.</a:t>
            </a:r>
            <a:endParaRPr lang="en-US" sz="1600" i="1" dirty="0">
              <a:latin typeface="Times New Roman" panose="02020603050405020304" pitchFamily="18" charset="0"/>
              <a:cs typeface="Times New Roman" panose="02020603050405020304" pitchFamily="18" charset="0"/>
              <a:sym typeface="Wingdings" panose="05000000000000000000" pitchFamily="2" charset="2"/>
            </a:endParaRPr>
          </a:p>
        </p:txBody>
      </p:sp>
      <p:pic>
        <p:nvPicPr>
          <p:cNvPr id="3" name="Picture 2">
            <a:extLst>
              <a:ext uri="{FF2B5EF4-FFF2-40B4-BE49-F238E27FC236}">
                <a16:creationId xmlns:a16="http://schemas.microsoft.com/office/drawing/2014/main" id="{9552B294-23FF-659B-67B1-4F596C0B2B24}"/>
              </a:ext>
            </a:extLst>
          </p:cNvPr>
          <p:cNvPicPr>
            <a:picLocks noChangeAspect="1"/>
          </p:cNvPicPr>
          <p:nvPr/>
        </p:nvPicPr>
        <p:blipFill>
          <a:blip r:embed="rId3"/>
          <a:stretch>
            <a:fillRect/>
          </a:stretch>
        </p:blipFill>
        <p:spPr>
          <a:xfrm>
            <a:off x="1765664" y="3023561"/>
            <a:ext cx="8154538" cy="3524742"/>
          </a:xfrm>
          <a:prstGeom prst="rect">
            <a:avLst/>
          </a:prstGeom>
        </p:spPr>
      </p:pic>
      <p:sp>
        <p:nvSpPr>
          <p:cNvPr id="2" name="Rectangle 1">
            <a:extLst>
              <a:ext uri="{FF2B5EF4-FFF2-40B4-BE49-F238E27FC236}">
                <a16:creationId xmlns:a16="http://schemas.microsoft.com/office/drawing/2014/main" id="{6F6EDBE2-9996-7894-813F-CCE6B6C230E5}"/>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DA9B3672-4648-9D4A-FA62-66A546C6FA29}"/>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5. </a:t>
            </a:r>
            <a:r>
              <a:rPr lang="en-US" sz="2000" b="1" dirty="0" err="1">
                <a:solidFill>
                  <a:srgbClr val="113A71"/>
                </a:solidFill>
                <a:latin typeface="Times New Roman" panose="02020603050405020304" pitchFamily="18" charset="0"/>
                <a:cs typeface="Times New Roman" panose="02020603050405020304" pitchFamily="18" charset="0"/>
              </a:rPr>
              <a:t>Thêm</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cột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i="1" dirty="0">
                <a:solidFill>
                  <a:srgbClr val="113A71"/>
                </a:solidFill>
                <a:latin typeface="Times New Roman" panose="02020603050405020304" pitchFamily="18" charset="0"/>
                <a:cs typeface="Times New Roman" panose="02020603050405020304" pitchFamily="18" charset="0"/>
              </a:rPr>
              <a:t>– </a:t>
            </a:r>
            <a:r>
              <a:rPr lang="en-US" sz="2000" b="1" i="1" dirty="0" err="1">
                <a:solidFill>
                  <a:srgbClr val="113A71"/>
                </a:solidFill>
                <a:latin typeface="Times New Roman" panose="02020603050405020304" pitchFamily="18" charset="0"/>
                <a:cs typeface="Times New Roman" panose="02020603050405020304" pitchFamily="18" charset="0"/>
              </a:rPr>
              <a:t>Bảng</a:t>
            </a:r>
            <a:r>
              <a:rPr lang="en-US" sz="2000" b="1" i="1" dirty="0">
                <a:solidFill>
                  <a:srgbClr val="113A71"/>
                </a:solidFill>
                <a:latin typeface="Times New Roman" panose="02020603050405020304" pitchFamily="18" charset="0"/>
                <a:cs typeface="Times New Roman" panose="02020603050405020304" pitchFamily="18" charset="0"/>
              </a:rPr>
              <a:t> Stores</a:t>
            </a:r>
            <a:endParaRPr lang="en-US" sz="2000" b="1" dirty="0">
              <a:solidFill>
                <a:srgbClr val="113A7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266885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EE2E2-E1C4-550F-D237-2B407AE73C9B}"/>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2FB8410E-E9AD-95B8-2226-4F053944F6C4}"/>
              </a:ext>
            </a:extLst>
          </p:cNvPr>
          <p:cNvSpPr txBox="1"/>
          <p:nvPr/>
        </p:nvSpPr>
        <p:spPr>
          <a:xfrm>
            <a:off x="357248" y="738961"/>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pic>
        <p:nvPicPr>
          <p:cNvPr id="5" name="Picture 4">
            <a:extLst>
              <a:ext uri="{FF2B5EF4-FFF2-40B4-BE49-F238E27FC236}">
                <a16:creationId xmlns:a16="http://schemas.microsoft.com/office/drawing/2014/main" id="{7A119591-DBD0-D9DF-A8FA-43D8DDC763DA}"/>
              </a:ext>
            </a:extLst>
          </p:cNvPr>
          <p:cNvPicPr>
            <a:picLocks noChangeAspect="1"/>
          </p:cNvPicPr>
          <p:nvPr/>
        </p:nvPicPr>
        <p:blipFill>
          <a:blip r:embed="rId2"/>
          <a:stretch>
            <a:fillRect/>
          </a:stretch>
        </p:blipFill>
        <p:spPr>
          <a:xfrm>
            <a:off x="1470090" y="829755"/>
            <a:ext cx="9251820" cy="598910"/>
          </a:xfrm>
          <a:prstGeom prst="rect">
            <a:avLst/>
          </a:prstGeom>
        </p:spPr>
      </p:pic>
      <p:sp>
        <p:nvSpPr>
          <p:cNvPr id="2" name="Google Shape;642;p53">
            <a:extLst>
              <a:ext uri="{FF2B5EF4-FFF2-40B4-BE49-F238E27FC236}">
                <a16:creationId xmlns:a16="http://schemas.microsoft.com/office/drawing/2014/main" id="{37BBCFC5-F63C-D2FA-D810-1E4572A9C9DA}"/>
              </a:ext>
            </a:extLst>
          </p:cNvPr>
          <p:cNvSpPr txBox="1"/>
          <p:nvPr/>
        </p:nvSpPr>
        <p:spPr>
          <a:xfrm>
            <a:off x="357248" y="1519458"/>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2 </a:t>
            </a:r>
            <a:r>
              <a:rPr lang="en-US" b="1" i="1" dirty="0">
                <a:latin typeface="Times New Roman" panose="02020603050405020304" pitchFamily="18" charset="0"/>
                <a:cs typeface="Times New Roman" panose="02020603050405020304" pitchFamily="18" charset="0"/>
                <a:sym typeface="Montserrat"/>
              </a:rPr>
              <a:t>(</a:t>
            </a:r>
            <a:r>
              <a:rPr lang="en-US" b="1" i="1" dirty="0" err="1">
                <a:latin typeface="Times New Roman" panose="02020603050405020304" pitchFamily="18" charset="0"/>
                <a:cs typeface="Times New Roman" panose="02020603050405020304" pitchFamily="18" charset="0"/>
                <a:sym typeface="Montserrat"/>
              </a:rPr>
              <a:t>Nâng</a:t>
            </a:r>
            <a:r>
              <a:rPr lang="en-US" b="1" i="1" dirty="0">
                <a:latin typeface="Times New Roman" panose="02020603050405020304" pitchFamily="18" charset="0"/>
                <a:cs typeface="Times New Roman" panose="02020603050405020304" pitchFamily="18" charset="0"/>
                <a:sym typeface="Montserrat"/>
              </a:rPr>
              <a:t> </a:t>
            </a:r>
            <a:r>
              <a:rPr lang="en-US" b="1" i="1" dirty="0" err="1">
                <a:latin typeface="Times New Roman" panose="02020603050405020304" pitchFamily="18" charset="0"/>
                <a:cs typeface="Times New Roman" panose="02020603050405020304" pitchFamily="18" charset="0"/>
                <a:sym typeface="Montserrat"/>
              </a:rPr>
              <a:t>cao</a:t>
            </a:r>
            <a:r>
              <a:rPr lang="en-US" b="1" i="1" dirty="0">
                <a:latin typeface="Times New Roman" panose="02020603050405020304" pitchFamily="18" charset="0"/>
                <a:cs typeface="Times New Roman" panose="02020603050405020304" pitchFamily="18" charset="0"/>
                <a:sym typeface="Montserrat"/>
              </a:rPr>
              <a:t>)</a:t>
            </a:r>
            <a:r>
              <a:rPr lang="en-US" b="1" dirty="0">
                <a:latin typeface="Times New Roman" panose="02020603050405020304" pitchFamily="18" charset="0"/>
                <a:cs typeface="Times New Roman" panose="02020603050405020304" pitchFamily="18" charset="0"/>
                <a:sym typeface="Montserrat"/>
              </a:rPr>
              <a:t>:</a:t>
            </a:r>
          </a:p>
        </p:txBody>
      </p:sp>
      <p:sp>
        <p:nvSpPr>
          <p:cNvPr id="3" name="Google Shape;642;p53">
            <a:extLst>
              <a:ext uri="{FF2B5EF4-FFF2-40B4-BE49-F238E27FC236}">
                <a16:creationId xmlns:a16="http://schemas.microsoft.com/office/drawing/2014/main" id="{C9347D74-D69A-6B3E-A75A-C4AE650EC6BB}"/>
              </a:ext>
            </a:extLst>
          </p:cNvPr>
          <p:cNvSpPr txBox="1"/>
          <p:nvPr/>
        </p:nvSpPr>
        <p:spPr>
          <a:xfrm>
            <a:off x="616235" y="1858907"/>
            <a:ext cx="10712383" cy="921032"/>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Wingdings" panose="05000000000000000000" pitchFamily="2" charset="2"/>
              </a:rPr>
              <a:t>Chọn</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Add Column </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Custom Column</a:t>
            </a:r>
            <a:r>
              <a:rPr lang="en-US" sz="1600" dirty="0">
                <a:latin typeface="Times New Roman" panose="02020603050405020304" pitchFamily="18" charset="0"/>
                <a:cs typeface="Times New Roman" panose="02020603050405020304" pitchFamily="18" charset="0"/>
                <a:sym typeface="Wingdings" panose="05000000000000000000" pitchFamily="2" charset="2"/>
              </a:rPr>
              <a:t>:</a:t>
            </a:r>
          </a:p>
          <a:p>
            <a:pPr marL="285750" lvl="0" indent="-285750" algn="just">
              <a:lnSpc>
                <a:spcPct val="120000"/>
              </a:lnSpc>
              <a:buClr>
                <a:schemeClr val="dk1"/>
              </a:buClr>
              <a:buSzPts val="14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sym typeface="Wingdings" panose="05000000000000000000" pitchFamily="2" charset="2"/>
              </a:rPr>
              <a:t>Ở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mục</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New column name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đặt</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tên</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cột</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là</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full_address</a:t>
            </a:r>
            <a:r>
              <a:rPr lang="en-US" sz="1600" dirty="0">
                <a:latin typeface="Times New Roman" panose="02020603050405020304" pitchFamily="18" charset="0"/>
                <a:cs typeface="Times New Roman" panose="02020603050405020304" pitchFamily="18" charset="0"/>
                <a:sym typeface="Wingdings" panose="05000000000000000000" pitchFamily="2" charset="2"/>
              </a:rPr>
              <a:t>.</a:t>
            </a:r>
          </a:p>
          <a:p>
            <a:pPr marL="285750" lvl="0" indent="-285750" algn="just">
              <a:lnSpc>
                <a:spcPct val="120000"/>
              </a:lnSpc>
              <a:buClr>
                <a:schemeClr val="dk1"/>
              </a:buClr>
              <a:buSzPts val="14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sym typeface="Wingdings" panose="05000000000000000000" pitchFamily="2" charset="2"/>
              </a:rPr>
              <a:t>Ở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mục</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Custom column formula</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nhập</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theo</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công</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thức</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i="1" dirty="0" err="1">
                <a:latin typeface="Times New Roman" panose="02020603050405020304" pitchFamily="18" charset="0"/>
                <a:cs typeface="Times New Roman" panose="02020603050405020304" pitchFamily="18" charset="0"/>
                <a:sym typeface="Wingdings" panose="05000000000000000000" pitchFamily="2" charset="2"/>
              </a:rPr>
              <a:t>Text.Combine</a:t>
            </a:r>
            <a:r>
              <a:rPr lang="en-US" sz="1600" i="1" dirty="0">
                <a:latin typeface="Times New Roman" panose="02020603050405020304" pitchFamily="18" charset="0"/>
                <a:cs typeface="Times New Roman" panose="02020603050405020304" pitchFamily="18" charset="0"/>
                <a:sym typeface="Wingdings" panose="05000000000000000000" pitchFamily="2" charset="2"/>
              </a:rPr>
              <a:t>()</a:t>
            </a:r>
            <a:r>
              <a:rPr lang="en-US" sz="1600" dirty="0">
                <a:latin typeface="Times New Roman" panose="02020603050405020304" pitchFamily="18" charset="0"/>
                <a:cs typeface="Times New Roman" panose="02020603050405020304" pitchFamily="18" charset="0"/>
                <a:sym typeface="Wingdings" panose="05000000000000000000" pitchFamily="2" charset="2"/>
              </a:rPr>
              <a:t>.</a:t>
            </a:r>
            <a:endParaRPr lang="en-US" sz="1600" i="1" dirty="0">
              <a:latin typeface="Times New Roman" panose="02020603050405020304" pitchFamily="18" charset="0"/>
              <a:cs typeface="Times New Roman" panose="02020603050405020304" pitchFamily="18" charset="0"/>
              <a:sym typeface="Wingdings" panose="05000000000000000000" pitchFamily="2" charset="2"/>
            </a:endParaRPr>
          </a:p>
        </p:txBody>
      </p:sp>
      <p:grpSp>
        <p:nvGrpSpPr>
          <p:cNvPr id="8" name="Group 7">
            <a:extLst>
              <a:ext uri="{FF2B5EF4-FFF2-40B4-BE49-F238E27FC236}">
                <a16:creationId xmlns:a16="http://schemas.microsoft.com/office/drawing/2014/main" id="{0500C0B4-AC3A-BA93-873B-980575D32715}"/>
              </a:ext>
            </a:extLst>
          </p:cNvPr>
          <p:cNvGrpSpPr/>
          <p:nvPr/>
        </p:nvGrpSpPr>
        <p:grpSpPr>
          <a:xfrm>
            <a:off x="2258493" y="2779940"/>
            <a:ext cx="7168880" cy="1094287"/>
            <a:chOff x="2168641" y="2609741"/>
            <a:chExt cx="7348584" cy="1149008"/>
          </a:xfrm>
        </p:grpSpPr>
        <p:grpSp>
          <p:nvGrpSpPr>
            <p:cNvPr id="9" name="Group 8">
              <a:extLst>
                <a:ext uri="{FF2B5EF4-FFF2-40B4-BE49-F238E27FC236}">
                  <a16:creationId xmlns:a16="http://schemas.microsoft.com/office/drawing/2014/main" id="{6B25E8D7-7DF4-605E-F85D-AC4F877CBC2B}"/>
                </a:ext>
              </a:extLst>
            </p:cNvPr>
            <p:cNvGrpSpPr/>
            <p:nvPr/>
          </p:nvGrpSpPr>
          <p:grpSpPr>
            <a:xfrm>
              <a:off x="2168641" y="2678384"/>
              <a:ext cx="7348584" cy="1051829"/>
              <a:chOff x="2168641" y="2708864"/>
              <a:chExt cx="7348584" cy="1051829"/>
            </a:xfrm>
          </p:grpSpPr>
          <p:pic>
            <p:nvPicPr>
              <p:cNvPr id="15" name="Picture 14">
                <a:extLst>
                  <a:ext uri="{FF2B5EF4-FFF2-40B4-BE49-F238E27FC236}">
                    <a16:creationId xmlns:a16="http://schemas.microsoft.com/office/drawing/2014/main" id="{37DA9678-A0A1-B722-AF61-10A81C3A9CB9}"/>
                  </a:ext>
                </a:extLst>
              </p:cNvPr>
              <p:cNvPicPr>
                <a:picLocks noChangeAspect="1"/>
              </p:cNvPicPr>
              <p:nvPr/>
            </p:nvPicPr>
            <p:blipFill>
              <a:blip r:embed="rId3"/>
              <a:stretch>
                <a:fillRect/>
              </a:stretch>
            </p:blipFill>
            <p:spPr>
              <a:xfrm>
                <a:off x="2168641" y="2708864"/>
                <a:ext cx="7348584" cy="1051829"/>
              </a:xfrm>
              <a:prstGeom prst="rect">
                <a:avLst/>
              </a:prstGeom>
            </p:spPr>
          </p:pic>
          <p:sp>
            <p:nvSpPr>
              <p:cNvPr id="17" name="Rectangle 16">
                <a:extLst>
                  <a:ext uri="{FF2B5EF4-FFF2-40B4-BE49-F238E27FC236}">
                    <a16:creationId xmlns:a16="http://schemas.microsoft.com/office/drawing/2014/main" id="{BF658C20-4419-B7F9-38C7-4F44E87E45F9}"/>
                  </a:ext>
                </a:extLst>
              </p:cNvPr>
              <p:cNvSpPr/>
              <p:nvPr/>
            </p:nvSpPr>
            <p:spPr>
              <a:xfrm>
                <a:off x="3837940" y="2726644"/>
                <a:ext cx="749300" cy="196486"/>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A9F401A1-1967-2251-2581-0FAB7F7765C1}"/>
                  </a:ext>
                </a:extLst>
              </p:cNvPr>
              <p:cNvSpPr/>
              <p:nvPr/>
            </p:nvSpPr>
            <p:spPr>
              <a:xfrm>
                <a:off x="2801101" y="2966880"/>
                <a:ext cx="351039" cy="573880"/>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grpSp>
        <p:sp>
          <p:nvSpPr>
            <p:cNvPr id="10" name="TextBox 9">
              <a:extLst>
                <a:ext uri="{FF2B5EF4-FFF2-40B4-BE49-F238E27FC236}">
                  <a16:creationId xmlns:a16="http://schemas.microsoft.com/office/drawing/2014/main" id="{CA258D0B-887D-1CF8-341A-D7740AECC1BF}"/>
                </a:ext>
              </a:extLst>
            </p:cNvPr>
            <p:cNvSpPr txBox="1"/>
            <p:nvPr/>
          </p:nvSpPr>
          <p:spPr>
            <a:xfrm>
              <a:off x="4513341" y="2609741"/>
              <a:ext cx="281313" cy="323168"/>
            </a:xfrm>
            <a:prstGeom prst="rect">
              <a:avLst/>
            </a:prstGeom>
            <a:noFill/>
          </p:spPr>
          <p:txBody>
            <a:bodyPr wrap="none" rtlCol="0">
              <a:spAutoFit/>
            </a:bodyPr>
            <a:lstStyle/>
            <a:p>
              <a:r>
                <a:rPr lang="en-US" sz="1400" dirty="0">
                  <a:solidFill>
                    <a:srgbClr val="119303"/>
                  </a:solidFill>
                  <a:latin typeface="Times New Roman" panose="02020603050405020304" pitchFamily="18" charset="0"/>
                  <a:cs typeface="Times New Roman" panose="02020603050405020304" pitchFamily="18" charset="0"/>
                </a:rPr>
                <a:t>1</a:t>
              </a:r>
              <a:endParaRPr lang="en-US" dirty="0">
                <a:solidFill>
                  <a:srgbClr val="119303"/>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261F8677-0E20-8989-3E04-4A207BC3B0E7}"/>
                </a:ext>
              </a:extLst>
            </p:cNvPr>
            <p:cNvSpPr txBox="1"/>
            <p:nvPr/>
          </p:nvSpPr>
          <p:spPr>
            <a:xfrm>
              <a:off x="2822571" y="3435581"/>
              <a:ext cx="281313" cy="323168"/>
            </a:xfrm>
            <a:prstGeom prst="rect">
              <a:avLst/>
            </a:prstGeom>
            <a:noFill/>
          </p:spPr>
          <p:txBody>
            <a:bodyPr wrap="none" rtlCol="0">
              <a:spAutoFit/>
            </a:bodyPr>
            <a:lstStyle/>
            <a:p>
              <a:r>
                <a:rPr lang="en-US" sz="1400" dirty="0">
                  <a:solidFill>
                    <a:srgbClr val="119303"/>
                  </a:solidFill>
                  <a:latin typeface="Times New Roman" panose="02020603050405020304" pitchFamily="18" charset="0"/>
                  <a:cs typeface="Times New Roman" panose="02020603050405020304" pitchFamily="18" charset="0"/>
                </a:rPr>
                <a:t>2</a:t>
              </a:r>
              <a:endParaRPr lang="en-US" dirty="0">
                <a:solidFill>
                  <a:srgbClr val="119303"/>
                </a:solidFill>
                <a:latin typeface="Times New Roman" panose="02020603050405020304" pitchFamily="18" charset="0"/>
                <a:cs typeface="Times New Roman" panose="02020603050405020304" pitchFamily="18" charset="0"/>
              </a:endParaRPr>
            </a:p>
          </p:txBody>
        </p:sp>
      </p:grpSp>
      <p:grpSp>
        <p:nvGrpSpPr>
          <p:cNvPr id="7" name="Group 6">
            <a:extLst>
              <a:ext uri="{FF2B5EF4-FFF2-40B4-BE49-F238E27FC236}">
                <a16:creationId xmlns:a16="http://schemas.microsoft.com/office/drawing/2014/main" id="{34E91BFA-2AD5-6616-6722-4D3AB56A51EA}"/>
              </a:ext>
            </a:extLst>
          </p:cNvPr>
          <p:cNvGrpSpPr/>
          <p:nvPr/>
        </p:nvGrpSpPr>
        <p:grpSpPr>
          <a:xfrm>
            <a:off x="3562571" y="3847049"/>
            <a:ext cx="4560723" cy="2783540"/>
            <a:chOff x="3562571" y="3847049"/>
            <a:chExt cx="4560723" cy="2783540"/>
          </a:xfrm>
        </p:grpSpPr>
        <p:pic>
          <p:nvPicPr>
            <p:cNvPr id="21" name="Picture 20">
              <a:extLst>
                <a:ext uri="{FF2B5EF4-FFF2-40B4-BE49-F238E27FC236}">
                  <a16:creationId xmlns:a16="http://schemas.microsoft.com/office/drawing/2014/main" id="{4942CFDD-AD79-1B37-47A0-917917F719C1}"/>
                </a:ext>
              </a:extLst>
            </p:cNvPr>
            <p:cNvPicPr>
              <a:picLocks noChangeAspect="1"/>
            </p:cNvPicPr>
            <p:nvPr/>
          </p:nvPicPr>
          <p:blipFill>
            <a:blip r:embed="rId4"/>
            <a:stretch>
              <a:fillRect/>
            </a:stretch>
          </p:blipFill>
          <p:spPr>
            <a:xfrm>
              <a:off x="3562571" y="3847049"/>
              <a:ext cx="4560723" cy="2783540"/>
            </a:xfrm>
            <a:prstGeom prst="rect">
              <a:avLst/>
            </a:prstGeom>
          </p:spPr>
        </p:pic>
        <p:sp>
          <p:nvSpPr>
            <p:cNvPr id="22" name="Rectangle 21">
              <a:extLst>
                <a:ext uri="{FF2B5EF4-FFF2-40B4-BE49-F238E27FC236}">
                  <a16:creationId xmlns:a16="http://schemas.microsoft.com/office/drawing/2014/main" id="{5A622602-AD67-758C-5194-A0DCDE8D3204}"/>
                </a:ext>
              </a:extLst>
            </p:cNvPr>
            <p:cNvSpPr/>
            <p:nvPr/>
          </p:nvSpPr>
          <p:spPr>
            <a:xfrm>
              <a:off x="3652520" y="4368493"/>
              <a:ext cx="2908300" cy="359717"/>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4406B4CE-83AB-C8AD-F0FA-ED8E37A24FA2}"/>
                </a:ext>
              </a:extLst>
            </p:cNvPr>
            <p:cNvSpPr/>
            <p:nvPr/>
          </p:nvSpPr>
          <p:spPr>
            <a:xfrm>
              <a:off x="3685540" y="4845668"/>
              <a:ext cx="2753360" cy="267352"/>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grpSp>
      <p:sp>
        <p:nvSpPr>
          <p:cNvPr id="4" name="Rectangle 3">
            <a:extLst>
              <a:ext uri="{FF2B5EF4-FFF2-40B4-BE49-F238E27FC236}">
                <a16:creationId xmlns:a16="http://schemas.microsoft.com/office/drawing/2014/main" id="{99C34E7A-8559-1768-26A8-E6319702AF0D}"/>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01EAAA92-E798-B02F-1B90-7B9941FED989}"/>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5. </a:t>
            </a:r>
            <a:r>
              <a:rPr lang="en-US" sz="2000" b="1" dirty="0" err="1">
                <a:solidFill>
                  <a:srgbClr val="113A71"/>
                </a:solidFill>
                <a:latin typeface="Times New Roman" panose="02020603050405020304" pitchFamily="18" charset="0"/>
                <a:cs typeface="Times New Roman" panose="02020603050405020304" pitchFamily="18" charset="0"/>
              </a:rPr>
              <a:t>Thêm</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cột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i="1" dirty="0">
                <a:solidFill>
                  <a:srgbClr val="113A71"/>
                </a:solidFill>
                <a:latin typeface="Times New Roman" panose="02020603050405020304" pitchFamily="18" charset="0"/>
                <a:cs typeface="Times New Roman" panose="02020603050405020304" pitchFamily="18" charset="0"/>
              </a:rPr>
              <a:t>– </a:t>
            </a:r>
            <a:r>
              <a:rPr lang="en-US" sz="2000" b="1" i="1" dirty="0" err="1">
                <a:solidFill>
                  <a:srgbClr val="113A71"/>
                </a:solidFill>
                <a:latin typeface="Times New Roman" panose="02020603050405020304" pitchFamily="18" charset="0"/>
                <a:cs typeface="Times New Roman" panose="02020603050405020304" pitchFamily="18" charset="0"/>
              </a:rPr>
              <a:t>Bảng</a:t>
            </a:r>
            <a:r>
              <a:rPr lang="en-US" sz="2000" b="1" i="1" dirty="0">
                <a:solidFill>
                  <a:srgbClr val="113A71"/>
                </a:solidFill>
                <a:latin typeface="Times New Roman" panose="02020603050405020304" pitchFamily="18" charset="0"/>
                <a:cs typeface="Times New Roman" panose="02020603050405020304" pitchFamily="18" charset="0"/>
              </a:rPr>
              <a:t> Stores </a:t>
            </a:r>
            <a:r>
              <a:rPr lang="en-US" sz="2000" b="1" dirty="0">
                <a:solidFill>
                  <a:srgbClr val="113A71"/>
                </a:solidFill>
                <a:latin typeface="Times New Roman" panose="02020603050405020304" pitchFamily="18" charset="0"/>
                <a:cs typeface="Times New Roman" panose="02020603050405020304" pitchFamily="18" charset="0"/>
              </a:rPr>
              <a:t>(</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1726526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BD5DC-F219-A05C-E841-79BAD5616B54}"/>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93B3240C-424E-34F7-F566-C83CBF6C52D2}"/>
              </a:ext>
            </a:extLst>
          </p:cNvPr>
          <p:cNvSpPr txBox="1"/>
          <p:nvPr/>
        </p:nvSpPr>
        <p:spPr>
          <a:xfrm>
            <a:off x="357248" y="759743"/>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2" name="Google Shape;642;p53">
            <a:extLst>
              <a:ext uri="{FF2B5EF4-FFF2-40B4-BE49-F238E27FC236}">
                <a16:creationId xmlns:a16="http://schemas.microsoft.com/office/drawing/2014/main" id="{7CA17A97-9C7C-91C4-5ADB-6371AE1CA6C0}"/>
              </a:ext>
            </a:extLst>
          </p:cNvPr>
          <p:cNvSpPr txBox="1"/>
          <p:nvPr/>
        </p:nvSpPr>
        <p:spPr>
          <a:xfrm>
            <a:off x="357248" y="1540240"/>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pic>
        <p:nvPicPr>
          <p:cNvPr id="6" name="Picture 5">
            <a:extLst>
              <a:ext uri="{FF2B5EF4-FFF2-40B4-BE49-F238E27FC236}">
                <a16:creationId xmlns:a16="http://schemas.microsoft.com/office/drawing/2014/main" id="{CA1E7AD0-7A9E-F1CD-FAEE-FE3595E7B47F}"/>
              </a:ext>
            </a:extLst>
          </p:cNvPr>
          <p:cNvPicPr>
            <a:picLocks noChangeAspect="1"/>
          </p:cNvPicPr>
          <p:nvPr/>
        </p:nvPicPr>
        <p:blipFill>
          <a:blip r:embed="rId2"/>
          <a:stretch>
            <a:fillRect/>
          </a:stretch>
        </p:blipFill>
        <p:spPr>
          <a:xfrm>
            <a:off x="1665859" y="844818"/>
            <a:ext cx="8849960" cy="695422"/>
          </a:xfrm>
          <a:prstGeom prst="rect">
            <a:avLst/>
          </a:prstGeom>
        </p:spPr>
      </p:pic>
      <p:sp>
        <p:nvSpPr>
          <p:cNvPr id="20" name="Google Shape;642;p53">
            <a:extLst>
              <a:ext uri="{FF2B5EF4-FFF2-40B4-BE49-F238E27FC236}">
                <a16:creationId xmlns:a16="http://schemas.microsoft.com/office/drawing/2014/main" id="{7DC1B962-5637-DEBB-2899-B07FFFAD36A2}"/>
              </a:ext>
            </a:extLst>
          </p:cNvPr>
          <p:cNvSpPr txBox="1"/>
          <p:nvPr/>
        </p:nvSpPr>
        <p:spPr>
          <a:xfrm>
            <a:off x="508823" y="1858017"/>
            <a:ext cx="8713525" cy="390249"/>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Chọn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store_phone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sau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đó</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Add Column </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Text Before Delimiter</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nhập</a:t>
            </a:r>
            <a:r>
              <a:rPr lang="en-US" sz="1600" dirty="0">
                <a:latin typeface="Times New Roman" panose="02020603050405020304" pitchFamily="18" charset="0"/>
                <a:cs typeface="Times New Roman" panose="02020603050405020304" pitchFamily="18" charset="0"/>
                <a:sym typeface="Wingdings" panose="05000000000000000000" pitchFamily="2" charset="2"/>
              </a:rPr>
              <a:t> Delimiter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là</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err="1">
                <a:latin typeface="Times New Roman" panose="02020603050405020304" pitchFamily="18" charset="0"/>
                <a:cs typeface="Times New Roman" panose="02020603050405020304" pitchFamily="18" charset="0"/>
                <a:sym typeface="Wingdings" panose="05000000000000000000" pitchFamily="2" charset="2"/>
              </a:rPr>
              <a:t>dấu</a:t>
            </a: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b="1" dirty="0">
                <a:latin typeface="Times New Roman" panose="02020603050405020304" pitchFamily="18" charset="0"/>
                <a:cs typeface="Times New Roman" panose="02020603050405020304" pitchFamily="18" charset="0"/>
                <a:sym typeface="Wingdings" panose="05000000000000000000" pitchFamily="2" charset="2"/>
              </a:rPr>
              <a:t>“-”</a:t>
            </a:r>
            <a:r>
              <a:rPr lang="en-US" sz="1600" dirty="0">
                <a:latin typeface="Times New Roman" panose="02020603050405020304" pitchFamily="18" charset="0"/>
                <a:cs typeface="Times New Roman" panose="02020603050405020304" pitchFamily="18" charset="0"/>
                <a:sym typeface="Wingdings" panose="05000000000000000000" pitchFamily="2" charset="2"/>
              </a:rPr>
              <a:t>.</a:t>
            </a:r>
            <a:endParaRPr lang="en-US" sz="1600" b="1" dirty="0">
              <a:latin typeface="Times New Roman" panose="02020603050405020304" pitchFamily="18" charset="0"/>
              <a:cs typeface="Times New Roman" panose="02020603050405020304" pitchFamily="18" charset="0"/>
              <a:sym typeface="Montserrat"/>
            </a:endParaRPr>
          </a:p>
        </p:txBody>
      </p:sp>
      <p:sp>
        <p:nvSpPr>
          <p:cNvPr id="25" name="Google Shape;642;p53">
            <a:extLst>
              <a:ext uri="{FF2B5EF4-FFF2-40B4-BE49-F238E27FC236}">
                <a16:creationId xmlns:a16="http://schemas.microsoft.com/office/drawing/2014/main" id="{6C31CD6D-575D-3148-A6EB-C228902877AC}"/>
              </a:ext>
            </a:extLst>
          </p:cNvPr>
          <p:cNvSpPr txBox="1"/>
          <p:nvPr/>
        </p:nvSpPr>
        <p:spPr>
          <a:xfrm>
            <a:off x="227183" y="5352007"/>
            <a:ext cx="11614350" cy="586047"/>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b="1" u="sng" dirty="0">
                <a:solidFill>
                  <a:srgbClr val="C00000"/>
                </a:solidFill>
                <a:latin typeface="Times New Roman" panose="02020603050405020304" pitchFamily="18" charset="0"/>
                <a:cs typeface="Times New Roman" panose="02020603050405020304" pitchFamily="18" charset="0"/>
                <a:sym typeface="Montserrat"/>
              </a:rPr>
              <a:t>Lưu ý</a:t>
            </a:r>
            <a:r>
              <a:rPr lang="en-US" sz="1600" b="1" dirty="0">
                <a:solidFill>
                  <a:srgbClr val="C00000"/>
                </a:solidFill>
                <a:latin typeface="Times New Roman" panose="02020603050405020304" pitchFamily="18" charset="0"/>
                <a:cs typeface="Times New Roman" panose="02020603050405020304" pitchFamily="18" charset="0"/>
                <a:sym typeface="Montserrat"/>
              </a:rPr>
              <a:t>: </a:t>
            </a:r>
            <a:r>
              <a:rPr lang="vi-VN" sz="1600" dirty="0">
                <a:solidFill>
                  <a:srgbClr val="C00000"/>
                </a:solidFill>
                <a:latin typeface="Times New Roman" panose="02020603050405020304" pitchFamily="18" charset="0"/>
                <a:cs typeface="Times New Roman" panose="02020603050405020304" pitchFamily="18" charset="0"/>
                <a:sym typeface="Montserrat"/>
              </a:rPr>
              <a:t>Do đề bài chỉ yêu cầu extract các ký tự trước dấu </a:t>
            </a:r>
            <a:r>
              <a:rPr lang="vi-VN" sz="1600" b="1" dirty="0">
                <a:solidFill>
                  <a:srgbClr val="C00000"/>
                </a:solidFill>
                <a:latin typeface="Times New Roman" panose="02020603050405020304" pitchFamily="18" charset="0"/>
                <a:cs typeface="Times New Roman" panose="02020603050405020304" pitchFamily="18" charset="0"/>
                <a:sym typeface="Montserrat"/>
              </a:rPr>
              <a:t>“-”</a:t>
            </a:r>
            <a:r>
              <a:rPr lang="vi-VN" sz="1600" dirty="0">
                <a:solidFill>
                  <a:srgbClr val="C00000"/>
                </a:solidFill>
                <a:latin typeface="Times New Roman" panose="02020603050405020304" pitchFamily="18" charset="0"/>
                <a:cs typeface="Times New Roman" panose="02020603050405020304" pitchFamily="18" charset="0"/>
                <a:sym typeface="Montserrat"/>
              </a:rPr>
              <a:t> trong trường </a:t>
            </a:r>
            <a:r>
              <a:rPr lang="vi-VN" sz="1600" i="1" dirty="0">
                <a:solidFill>
                  <a:srgbClr val="C00000"/>
                </a:solidFill>
                <a:latin typeface="Times New Roman" panose="02020603050405020304" pitchFamily="18" charset="0"/>
                <a:cs typeface="Times New Roman" panose="02020603050405020304" pitchFamily="18" charset="0"/>
                <a:sym typeface="Montserrat"/>
              </a:rPr>
              <a:t>store_phone </a:t>
            </a:r>
            <a:r>
              <a:rPr lang="vi-VN" sz="1600" dirty="0">
                <a:solidFill>
                  <a:srgbClr val="C00000"/>
                </a:solidFill>
                <a:latin typeface="Times New Roman" panose="02020603050405020304" pitchFamily="18" charset="0"/>
                <a:cs typeface="Times New Roman" panose="02020603050405020304" pitchFamily="18" charset="0"/>
                <a:sym typeface="Montserrat"/>
              </a:rPr>
              <a:t>và không chỉ rõ dấu </a:t>
            </a:r>
            <a:r>
              <a:rPr lang="vi-VN" sz="1600" b="1" dirty="0">
                <a:solidFill>
                  <a:srgbClr val="C00000"/>
                </a:solidFill>
                <a:latin typeface="Times New Roman" panose="02020603050405020304" pitchFamily="18" charset="0"/>
                <a:cs typeface="Times New Roman" panose="02020603050405020304" pitchFamily="18" charset="0"/>
                <a:sym typeface="Montserrat"/>
              </a:rPr>
              <a:t>“-”</a:t>
            </a:r>
            <a:r>
              <a:rPr lang="vi-VN" sz="1600" dirty="0">
                <a:solidFill>
                  <a:srgbClr val="C00000"/>
                </a:solidFill>
                <a:latin typeface="Times New Roman" panose="02020603050405020304" pitchFamily="18" charset="0"/>
                <a:cs typeface="Times New Roman" panose="02020603050405020304" pitchFamily="18" charset="0"/>
                <a:sym typeface="Montserrat"/>
              </a:rPr>
              <a:t> thứ mấy, nên trong bài này mã vùng </a:t>
            </a:r>
            <a:r>
              <a:rPr lang="vi-VN" sz="1600" i="1" dirty="0">
                <a:solidFill>
                  <a:srgbClr val="C00000"/>
                </a:solidFill>
                <a:latin typeface="Times New Roman" panose="02020603050405020304" pitchFamily="18" charset="0"/>
                <a:cs typeface="Times New Roman" panose="02020603050405020304" pitchFamily="18" charset="0"/>
                <a:sym typeface="Montserrat"/>
              </a:rPr>
              <a:t>(area_code) </a:t>
            </a:r>
            <a:r>
              <a:rPr lang="vi-VN" sz="1600" dirty="0">
                <a:solidFill>
                  <a:srgbClr val="C00000"/>
                </a:solidFill>
                <a:latin typeface="Times New Roman" panose="02020603050405020304" pitchFamily="18" charset="0"/>
                <a:cs typeface="Times New Roman" panose="02020603050405020304" pitchFamily="18" charset="0"/>
                <a:sym typeface="Montserrat"/>
              </a:rPr>
              <a:t>được xác định là phần trước dấu </a:t>
            </a:r>
            <a:r>
              <a:rPr lang="vi-VN" sz="1600" b="1" dirty="0">
                <a:solidFill>
                  <a:srgbClr val="C00000"/>
                </a:solidFill>
                <a:latin typeface="Times New Roman" panose="02020603050405020304" pitchFamily="18" charset="0"/>
                <a:cs typeface="Times New Roman" panose="02020603050405020304" pitchFamily="18" charset="0"/>
                <a:sym typeface="Montserrat"/>
              </a:rPr>
              <a:t>“-”</a:t>
            </a:r>
            <a:r>
              <a:rPr lang="vi-VN" sz="1600" dirty="0">
                <a:solidFill>
                  <a:srgbClr val="C00000"/>
                </a:solidFill>
                <a:latin typeface="Times New Roman" panose="02020603050405020304" pitchFamily="18" charset="0"/>
                <a:cs typeface="Times New Roman" panose="02020603050405020304" pitchFamily="18" charset="0"/>
                <a:sym typeface="Montserrat"/>
              </a:rPr>
              <a:t> đầu tiên trong số điện thoại.</a:t>
            </a:r>
            <a:endParaRPr lang="en-US" sz="1600" b="1" dirty="0">
              <a:solidFill>
                <a:srgbClr val="C00000"/>
              </a:solidFill>
              <a:latin typeface="Times New Roman" panose="02020603050405020304" pitchFamily="18" charset="0"/>
              <a:cs typeface="Times New Roman" panose="02020603050405020304" pitchFamily="18" charset="0"/>
              <a:sym typeface="Montserrat"/>
            </a:endParaRPr>
          </a:p>
        </p:txBody>
      </p:sp>
      <p:sp>
        <p:nvSpPr>
          <p:cNvPr id="26" name="Google Shape;642;p53">
            <a:extLst>
              <a:ext uri="{FF2B5EF4-FFF2-40B4-BE49-F238E27FC236}">
                <a16:creationId xmlns:a16="http://schemas.microsoft.com/office/drawing/2014/main" id="{FBDFEB0B-B958-04C8-3F9F-FA888046B58D}"/>
              </a:ext>
            </a:extLst>
          </p:cNvPr>
          <p:cNvSpPr txBox="1"/>
          <p:nvPr/>
        </p:nvSpPr>
        <p:spPr>
          <a:xfrm>
            <a:off x="539302" y="2220720"/>
            <a:ext cx="8713525" cy="390249"/>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a:latin typeface="Times New Roman" panose="02020603050405020304" pitchFamily="18" charset="0"/>
                <a:cs typeface="Times New Roman" panose="02020603050405020304" pitchFamily="18" charset="0"/>
                <a:sym typeface="Montserrat"/>
              </a:rPr>
              <a:t>Sau </a:t>
            </a:r>
            <a:r>
              <a:rPr lang="en-US" sz="1600" dirty="0" err="1">
                <a:latin typeface="Times New Roman" panose="02020603050405020304" pitchFamily="18" charset="0"/>
                <a:cs typeface="Times New Roman" panose="02020603050405020304" pitchFamily="18" charset="0"/>
                <a:sym typeface="Montserrat"/>
              </a:rPr>
              <a:t>khi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thêm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đổi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tên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từ</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Text Before Delimiter </a:t>
            </a:r>
            <a:r>
              <a:rPr lang="en-US" sz="1600" dirty="0" err="1">
                <a:latin typeface="Times New Roman" panose="02020603050405020304" pitchFamily="18" charset="0"/>
                <a:cs typeface="Times New Roman" panose="02020603050405020304" pitchFamily="18" charset="0"/>
                <a:sym typeface="Montserrat"/>
              </a:rPr>
              <a:t>thành</a:t>
            </a:r>
            <a:r>
              <a:rPr lang="en-US" sz="1600" dirty="0">
                <a:latin typeface="Times New Roman" panose="02020603050405020304" pitchFamily="18" charset="0"/>
                <a:cs typeface="Times New Roman" panose="02020603050405020304" pitchFamily="18" charset="0"/>
                <a:sym typeface="Montserrat"/>
              </a:rPr>
              <a:t> </a:t>
            </a:r>
            <a:r>
              <a:rPr lang="en-US" sz="1600" b="1" i="1" dirty="0" err="1">
                <a:latin typeface="Times New Roman" panose="02020603050405020304" pitchFamily="18" charset="0"/>
                <a:cs typeface="Times New Roman" panose="02020603050405020304" pitchFamily="18" charset="0"/>
                <a:sym typeface="Montserrat"/>
              </a:rPr>
              <a:t>area_code</a:t>
            </a:r>
            <a:r>
              <a:rPr lang="en-US" sz="1600" dirty="0">
                <a:latin typeface="Times New Roman" panose="02020603050405020304" pitchFamily="18" charset="0"/>
                <a:cs typeface="Times New Roman" panose="02020603050405020304" pitchFamily="18" charset="0"/>
                <a:sym typeface="Montserrat"/>
              </a:rPr>
              <a:t>.</a:t>
            </a:r>
            <a:endParaRPr lang="en-US" sz="1600" b="1" dirty="0">
              <a:latin typeface="Times New Roman" panose="02020603050405020304" pitchFamily="18" charset="0"/>
              <a:cs typeface="Times New Roman" panose="02020603050405020304" pitchFamily="18" charset="0"/>
              <a:sym typeface="Montserrat"/>
            </a:endParaRPr>
          </a:p>
        </p:txBody>
      </p:sp>
      <p:sp>
        <p:nvSpPr>
          <p:cNvPr id="3" name="Rectangle 2">
            <a:extLst>
              <a:ext uri="{FF2B5EF4-FFF2-40B4-BE49-F238E27FC236}">
                <a16:creationId xmlns:a16="http://schemas.microsoft.com/office/drawing/2014/main" id="{9EB39A49-A6C5-2E1A-DB25-3017497EAD19}"/>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06B3EB94-4796-E449-D241-B84BFA7608B7}"/>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5. </a:t>
            </a:r>
            <a:r>
              <a:rPr lang="en-US" sz="2000" b="1" dirty="0" err="1">
                <a:solidFill>
                  <a:srgbClr val="113A71"/>
                </a:solidFill>
                <a:latin typeface="Times New Roman" panose="02020603050405020304" pitchFamily="18" charset="0"/>
                <a:cs typeface="Times New Roman" panose="02020603050405020304" pitchFamily="18" charset="0"/>
              </a:rPr>
              <a:t>Thêm</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cột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i="1" dirty="0">
                <a:solidFill>
                  <a:srgbClr val="113A71"/>
                </a:solidFill>
                <a:latin typeface="Times New Roman" panose="02020603050405020304" pitchFamily="18" charset="0"/>
                <a:cs typeface="Times New Roman" panose="02020603050405020304" pitchFamily="18" charset="0"/>
              </a:rPr>
              <a:t>– </a:t>
            </a:r>
            <a:r>
              <a:rPr lang="en-US" sz="2000" b="1" i="1" dirty="0" err="1">
                <a:solidFill>
                  <a:srgbClr val="113A71"/>
                </a:solidFill>
                <a:latin typeface="Times New Roman" panose="02020603050405020304" pitchFamily="18" charset="0"/>
                <a:cs typeface="Times New Roman" panose="02020603050405020304" pitchFamily="18" charset="0"/>
              </a:rPr>
              <a:t>Bảng</a:t>
            </a:r>
            <a:r>
              <a:rPr lang="en-US" sz="2000" b="1" i="1" dirty="0">
                <a:solidFill>
                  <a:srgbClr val="113A71"/>
                </a:solidFill>
                <a:latin typeface="Times New Roman" panose="02020603050405020304" pitchFamily="18" charset="0"/>
                <a:cs typeface="Times New Roman" panose="02020603050405020304" pitchFamily="18" charset="0"/>
              </a:rPr>
              <a:t> Stores </a:t>
            </a:r>
            <a:r>
              <a:rPr lang="en-US" sz="2000" b="1" dirty="0">
                <a:solidFill>
                  <a:srgbClr val="113A71"/>
                </a:solidFill>
                <a:latin typeface="Times New Roman" panose="02020603050405020304" pitchFamily="18" charset="0"/>
                <a:cs typeface="Times New Roman" panose="02020603050405020304" pitchFamily="18" charset="0"/>
              </a:rPr>
              <a:t>(</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grpSp>
        <p:nvGrpSpPr>
          <p:cNvPr id="17" name="Group 16">
            <a:extLst>
              <a:ext uri="{FF2B5EF4-FFF2-40B4-BE49-F238E27FC236}">
                <a16:creationId xmlns:a16="http://schemas.microsoft.com/office/drawing/2014/main" id="{4B12CB8D-6732-7D1F-BED8-AF19DF986853}"/>
              </a:ext>
            </a:extLst>
          </p:cNvPr>
          <p:cNvGrpSpPr/>
          <p:nvPr/>
        </p:nvGrpSpPr>
        <p:grpSpPr>
          <a:xfrm>
            <a:off x="227183" y="2722488"/>
            <a:ext cx="11614350" cy="2444654"/>
            <a:chOff x="227183" y="2722488"/>
            <a:chExt cx="11614350" cy="2444654"/>
          </a:xfrm>
        </p:grpSpPr>
        <p:pic>
          <p:nvPicPr>
            <p:cNvPr id="12" name="Picture 11">
              <a:extLst>
                <a:ext uri="{FF2B5EF4-FFF2-40B4-BE49-F238E27FC236}">
                  <a16:creationId xmlns:a16="http://schemas.microsoft.com/office/drawing/2014/main" id="{7B29C828-D1B0-9748-B60B-504B464F0A2B}"/>
                </a:ext>
              </a:extLst>
            </p:cNvPr>
            <p:cNvPicPr>
              <a:picLocks noChangeAspect="1"/>
            </p:cNvPicPr>
            <p:nvPr/>
          </p:nvPicPr>
          <p:blipFill>
            <a:blip r:embed="rId3"/>
            <a:stretch>
              <a:fillRect/>
            </a:stretch>
          </p:blipFill>
          <p:spPr>
            <a:xfrm>
              <a:off x="227183" y="2795834"/>
              <a:ext cx="6277603" cy="2188585"/>
            </a:xfrm>
            <a:prstGeom prst="rect">
              <a:avLst/>
            </a:prstGeom>
          </p:spPr>
        </p:pic>
        <p:pic>
          <p:nvPicPr>
            <p:cNvPr id="16" name="Picture 15">
              <a:extLst>
                <a:ext uri="{FF2B5EF4-FFF2-40B4-BE49-F238E27FC236}">
                  <a16:creationId xmlns:a16="http://schemas.microsoft.com/office/drawing/2014/main" id="{D220FCD1-54D9-A8A0-3985-81E529CF597C}"/>
                </a:ext>
              </a:extLst>
            </p:cNvPr>
            <p:cNvPicPr>
              <a:picLocks noChangeAspect="1"/>
            </p:cNvPicPr>
            <p:nvPr/>
          </p:nvPicPr>
          <p:blipFill>
            <a:blip r:embed="rId4"/>
            <a:stretch>
              <a:fillRect/>
            </a:stretch>
          </p:blipFill>
          <p:spPr>
            <a:xfrm>
              <a:off x="6806362" y="2722488"/>
              <a:ext cx="5035171" cy="2444654"/>
            </a:xfrm>
            <a:prstGeom prst="rect">
              <a:avLst/>
            </a:prstGeom>
          </p:spPr>
        </p:pic>
        <p:sp>
          <p:nvSpPr>
            <p:cNvPr id="8" name="Rectangle 7">
              <a:extLst>
                <a:ext uri="{FF2B5EF4-FFF2-40B4-BE49-F238E27FC236}">
                  <a16:creationId xmlns:a16="http://schemas.microsoft.com/office/drawing/2014/main" id="{2A428D66-BB64-5E36-DC1A-7129E8C78D62}"/>
                </a:ext>
              </a:extLst>
            </p:cNvPr>
            <p:cNvSpPr/>
            <p:nvPr/>
          </p:nvSpPr>
          <p:spPr>
            <a:xfrm>
              <a:off x="1798398" y="2833038"/>
              <a:ext cx="730976" cy="187128"/>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9" name="Rectangle 8">
              <a:extLst>
                <a:ext uri="{FF2B5EF4-FFF2-40B4-BE49-F238E27FC236}">
                  <a16:creationId xmlns:a16="http://schemas.microsoft.com/office/drawing/2014/main" id="{43A92F0F-926C-AF40-6591-945629813213}"/>
                </a:ext>
              </a:extLst>
            </p:cNvPr>
            <p:cNvSpPr/>
            <p:nvPr/>
          </p:nvSpPr>
          <p:spPr>
            <a:xfrm>
              <a:off x="3179347" y="3242310"/>
              <a:ext cx="544927" cy="168237"/>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6BA9D5B-51BE-7578-BC0D-503FB03E1009}"/>
                </a:ext>
              </a:extLst>
            </p:cNvPr>
            <p:cNvSpPr/>
            <p:nvPr/>
          </p:nvSpPr>
          <p:spPr>
            <a:xfrm>
              <a:off x="3415270" y="4173543"/>
              <a:ext cx="907347" cy="191769"/>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13" name="TextBox 12">
              <a:extLst>
                <a:ext uri="{FF2B5EF4-FFF2-40B4-BE49-F238E27FC236}">
                  <a16:creationId xmlns:a16="http://schemas.microsoft.com/office/drawing/2014/main" id="{7DE5271C-F60A-82DC-3473-2830386993F1}"/>
                </a:ext>
              </a:extLst>
            </p:cNvPr>
            <p:cNvSpPr txBox="1"/>
            <p:nvPr/>
          </p:nvSpPr>
          <p:spPr>
            <a:xfrm>
              <a:off x="2467028" y="2756870"/>
              <a:ext cx="274434" cy="307777"/>
            </a:xfrm>
            <a:prstGeom prst="rect">
              <a:avLst/>
            </a:prstGeom>
            <a:noFill/>
          </p:spPr>
          <p:txBody>
            <a:bodyPr wrap="none" rtlCol="0">
              <a:spAutoFit/>
            </a:bodyPr>
            <a:lstStyle/>
            <a:p>
              <a:r>
                <a:rPr lang="en-US" sz="1400" dirty="0">
                  <a:solidFill>
                    <a:srgbClr val="119303"/>
                  </a:solidFill>
                  <a:latin typeface="Times New Roman" panose="02020603050405020304" pitchFamily="18" charset="0"/>
                  <a:cs typeface="Times New Roman" panose="02020603050405020304" pitchFamily="18" charset="0"/>
                </a:rPr>
                <a:t>1</a:t>
              </a:r>
              <a:endParaRPr lang="en-US" dirty="0">
                <a:solidFill>
                  <a:srgbClr val="119303"/>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12B9F74D-621D-5221-78F9-39417A2A078B}"/>
                </a:ext>
              </a:extLst>
            </p:cNvPr>
            <p:cNvSpPr txBox="1"/>
            <p:nvPr/>
          </p:nvSpPr>
          <p:spPr>
            <a:xfrm>
              <a:off x="3709555" y="3162072"/>
              <a:ext cx="274434" cy="307777"/>
            </a:xfrm>
            <a:prstGeom prst="rect">
              <a:avLst/>
            </a:prstGeom>
            <a:noFill/>
          </p:spPr>
          <p:txBody>
            <a:bodyPr wrap="none" rtlCol="0">
              <a:spAutoFit/>
            </a:bodyPr>
            <a:lstStyle/>
            <a:p>
              <a:r>
                <a:rPr lang="en-US" sz="1400" dirty="0">
                  <a:solidFill>
                    <a:srgbClr val="119303"/>
                  </a:solidFill>
                  <a:latin typeface="Times New Roman" panose="02020603050405020304" pitchFamily="18" charset="0"/>
                  <a:cs typeface="Times New Roman" panose="02020603050405020304" pitchFamily="18" charset="0"/>
                </a:rPr>
                <a:t>2</a:t>
              </a:r>
              <a:endParaRPr lang="en-US" dirty="0">
                <a:solidFill>
                  <a:srgbClr val="119303"/>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B743321-CCED-7686-34D9-272BDEFB6AF9}"/>
                </a:ext>
              </a:extLst>
            </p:cNvPr>
            <p:cNvSpPr txBox="1"/>
            <p:nvPr/>
          </p:nvSpPr>
          <p:spPr>
            <a:xfrm>
              <a:off x="4322617" y="4115538"/>
              <a:ext cx="274434" cy="307777"/>
            </a:xfrm>
            <a:prstGeom prst="rect">
              <a:avLst/>
            </a:prstGeom>
            <a:noFill/>
          </p:spPr>
          <p:txBody>
            <a:bodyPr wrap="none" rtlCol="0">
              <a:spAutoFit/>
            </a:bodyPr>
            <a:lstStyle/>
            <a:p>
              <a:r>
                <a:rPr lang="en-US" sz="1400" dirty="0">
                  <a:solidFill>
                    <a:srgbClr val="119303"/>
                  </a:solidFill>
                  <a:latin typeface="Times New Roman" panose="02020603050405020304" pitchFamily="18" charset="0"/>
                  <a:cs typeface="Times New Roman" panose="02020603050405020304" pitchFamily="18" charset="0"/>
                </a:rPr>
                <a:t>3</a:t>
              </a:r>
              <a:endParaRPr lang="en-US" dirty="0">
                <a:solidFill>
                  <a:srgbClr val="119303"/>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35693719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D7EF8-1ECD-8E86-7487-262B1AFE055C}"/>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AD62FAAD-C45E-1E63-7931-7CCF4FB5B6CB}"/>
              </a:ext>
            </a:extLst>
          </p:cNvPr>
          <p:cNvSpPr txBox="1"/>
          <p:nvPr/>
        </p:nvSpPr>
        <p:spPr>
          <a:xfrm>
            <a:off x="357253" y="713947"/>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2" name="Google Shape;642;p53">
            <a:extLst>
              <a:ext uri="{FF2B5EF4-FFF2-40B4-BE49-F238E27FC236}">
                <a16:creationId xmlns:a16="http://schemas.microsoft.com/office/drawing/2014/main" id="{D01901C8-37BB-1D97-2FE0-62C34871BF6B}"/>
              </a:ext>
            </a:extLst>
          </p:cNvPr>
          <p:cNvSpPr txBox="1"/>
          <p:nvPr/>
        </p:nvSpPr>
        <p:spPr>
          <a:xfrm>
            <a:off x="357248" y="2066095"/>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sp>
        <p:nvSpPr>
          <p:cNvPr id="7" name="Google Shape;642;p53">
            <a:extLst>
              <a:ext uri="{FF2B5EF4-FFF2-40B4-BE49-F238E27FC236}">
                <a16:creationId xmlns:a16="http://schemas.microsoft.com/office/drawing/2014/main" id="{B36E1417-87C3-AE10-FE84-3D18077B9E20}"/>
              </a:ext>
            </a:extLst>
          </p:cNvPr>
          <p:cNvSpPr txBox="1"/>
          <p:nvPr/>
        </p:nvSpPr>
        <p:spPr>
          <a:xfrm>
            <a:off x="498657" y="5647227"/>
            <a:ext cx="11194673" cy="618994"/>
          </a:xfrm>
          <a:prstGeom prst="rect">
            <a:avLst/>
          </a:prstGeom>
          <a:noFill/>
          <a:ln>
            <a:noFill/>
          </a:ln>
        </p:spPr>
        <p:txBody>
          <a:bodyPr spcFirstLastPara="1" wrap="square" lIns="91438" tIns="45694" rIns="91438" bIns="45694" anchor="ctr" anchorCtr="0">
            <a:noAutofit/>
          </a:bodyPr>
          <a:lstStyle/>
          <a:p>
            <a:pPr marL="285750" lvl="0" indent="-285750" algn="just">
              <a:lnSpc>
                <a:spcPct val="120000"/>
              </a:lnSpc>
              <a:buClr>
                <a:schemeClr val="dk1"/>
              </a:buClr>
              <a:buSzPts val="14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sym typeface="Montserrat"/>
              </a:rPr>
              <a:t>Lookup table (Dimension tables): Customers, Products, Stores, Regions, Calendar</a:t>
            </a:r>
          </a:p>
          <a:p>
            <a:pPr marL="285750" lvl="0" indent="-285750" algn="just">
              <a:lnSpc>
                <a:spcPct val="120000"/>
              </a:lnSpc>
              <a:buClr>
                <a:schemeClr val="dk1"/>
              </a:buClr>
              <a:buSzPts val="14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sym typeface="Montserrat"/>
              </a:rPr>
              <a:t>Data tables (Fact tables): </a:t>
            </a:r>
            <a:r>
              <a:rPr lang="en-US" sz="1600" dirty="0" err="1">
                <a:latin typeface="Times New Roman" panose="02020603050405020304" pitchFamily="18" charset="0"/>
                <a:cs typeface="Times New Roman" panose="02020603050405020304" pitchFamily="18" charset="0"/>
                <a:sym typeface="Montserrat"/>
              </a:rPr>
              <a:t>Return_Data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Transaction_Data</a:t>
            </a:r>
            <a:r>
              <a:rPr lang="en-US" sz="1600" dirty="0">
                <a:latin typeface="Times New Roman" panose="02020603050405020304" pitchFamily="18" charset="0"/>
                <a:cs typeface="Times New Roman" panose="02020603050405020304" pitchFamily="18" charset="0"/>
                <a:sym typeface="Montserrat"/>
              </a:rPr>
              <a:t> </a:t>
            </a:r>
          </a:p>
        </p:txBody>
      </p:sp>
      <p:pic>
        <p:nvPicPr>
          <p:cNvPr id="9" name="Picture 8">
            <a:extLst>
              <a:ext uri="{FF2B5EF4-FFF2-40B4-BE49-F238E27FC236}">
                <a16:creationId xmlns:a16="http://schemas.microsoft.com/office/drawing/2014/main" id="{CAECEC83-345B-A8D2-6E90-55824C312E75}"/>
              </a:ext>
            </a:extLst>
          </p:cNvPr>
          <p:cNvPicPr>
            <a:picLocks noChangeAspect="1"/>
          </p:cNvPicPr>
          <p:nvPr/>
        </p:nvPicPr>
        <p:blipFill>
          <a:blip r:embed="rId2"/>
          <a:stretch>
            <a:fillRect/>
          </a:stretch>
        </p:blipFill>
        <p:spPr>
          <a:xfrm>
            <a:off x="2420369" y="720655"/>
            <a:ext cx="6845127" cy="1470232"/>
          </a:xfrm>
          <a:prstGeom prst="rect">
            <a:avLst/>
          </a:prstGeom>
        </p:spPr>
      </p:pic>
      <p:sp>
        <p:nvSpPr>
          <p:cNvPr id="14" name="Google Shape;642;p53">
            <a:extLst>
              <a:ext uri="{FF2B5EF4-FFF2-40B4-BE49-F238E27FC236}">
                <a16:creationId xmlns:a16="http://schemas.microsoft.com/office/drawing/2014/main" id="{D8D2D70D-54B0-6F7A-42F9-6EE388519E47}"/>
              </a:ext>
            </a:extLst>
          </p:cNvPr>
          <p:cNvSpPr txBox="1"/>
          <p:nvPr/>
        </p:nvSpPr>
        <p:spPr>
          <a:xfrm>
            <a:off x="498657" y="2456344"/>
            <a:ext cx="11194673" cy="618994"/>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a:latin typeface="Times New Roman" panose="02020603050405020304" pitchFamily="18" charset="0"/>
                <a:cs typeface="Times New Roman" panose="02020603050405020304" pitchFamily="18" charset="0"/>
                <a:sym typeface="Montserrat"/>
              </a:rPr>
              <a:t>Trong </a:t>
            </a:r>
            <a:r>
              <a:rPr lang="en-US" sz="1600" dirty="0" err="1">
                <a:latin typeface="Times New Roman" panose="02020603050405020304" pitchFamily="18" charset="0"/>
                <a:cs typeface="Times New Roman" panose="02020603050405020304" pitchFamily="18" charset="0"/>
                <a:sym typeface="Montserrat"/>
              </a:rPr>
              <a:t>phần</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Other Queries</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chuột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phải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bảng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sẽ</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hiện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tính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năng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Include in report refresh”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bỏ</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chọn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tính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năng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này</a:t>
            </a:r>
            <a:r>
              <a:rPr lang="en-US" sz="1600" dirty="0">
                <a:latin typeface="Times New Roman" panose="02020603050405020304" pitchFamily="18" charset="0"/>
                <a:cs typeface="Times New Roman" panose="02020603050405020304" pitchFamily="18" charset="0"/>
                <a:sym typeface="Montserrat"/>
              </a:rPr>
              <a:t> ở </a:t>
            </a:r>
            <a:r>
              <a:rPr lang="en-US" sz="1600" dirty="0" err="1">
                <a:latin typeface="Times New Roman" panose="02020603050405020304" pitchFamily="18" charset="0"/>
                <a:cs typeface="Times New Roman" panose="02020603050405020304" pitchFamily="18" charset="0"/>
                <a:sym typeface="Montserrat"/>
              </a:rPr>
              <a:t>các</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bảng</a:t>
            </a:r>
            <a:r>
              <a:rPr lang="en-US" sz="1600" dirty="0">
                <a:latin typeface="Times New Roman" panose="02020603050405020304" pitchFamily="18" charset="0"/>
                <a:cs typeface="Times New Roman" panose="02020603050405020304" pitchFamily="18" charset="0"/>
                <a:sym typeface="Montserrat"/>
              </a:rPr>
              <a:t> </a:t>
            </a:r>
            <a:r>
              <a:rPr lang="en-US" sz="1600" i="1" dirty="0">
                <a:latin typeface="Times New Roman" panose="02020603050405020304" pitchFamily="18" charset="0"/>
                <a:cs typeface="Times New Roman" panose="02020603050405020304" pitchFamily="18" charset="0"/>
                <a:sym typeface="Montserrat"/>
              </a:rPr>
              <a:t>Lookup (Dimension). </a:t>
            </a:r>
            <a:r>
              <a:rPr lang="vi-VN" sz="1600" dirty="0">
                <a:solidFill>
                  <a:srgbClr val="0070C0"/>
                </a:solidFill>
                <a:latin typeface="Times New Roman" panose="02020603050405020304" pitchFamily="18" charset="0"/>
                <a:cs typeface="Times New Roman" panose="02020603050405020304" pitchFamily="18" charset="0"/>
                <a:sym typeface="Montserrat"/>
              </a:rPr>
              <a:t>Bước này nhằm đảm bảo khi thực hiện Refresh, các bảng </a:t>
            </a:r>
            <a:r>
              <a:rPr lang="en-US" sz="1600" dirty="0" err="1">
                <a:solidFill>
                  <a:srgbClr val="0070C0"/>
                </a:solidFill>
                <a:latin typeface="Times New Roman" panose="02020603050405020304" pitchFamily="18" charset="0"/>
                <a:cs typeface="Times New Roman" panose="02020603050405020304" pitchFamily="18" charset="0"/>
                <a:sym typeface="Montserrat"/>
              </a:rPr>
              <a:t>này</a:t>
            </a:r>
            <a:r>
              <a:rPr lang="en-US" sz="1600" dirty="0">
                <a:solidFill>
                  <a:srgbClr val="0070C0"/>
                </a:solidFill>
                <a:latin typeface="Times New Roman" panose="02020603050405020304" pitchFamily="18" charset="0"/>
                <a:cs typeface="Times New Roman" panose="02020603050405020304" pitchFamily="18" charset="0"/>
                <a:sym typeface="Montserrat"/>
              </a:rPr>
              <a:t> </a:t>
            </a:r>
            <a:r>
              <a:rPr lang="vi-VN" sz="1600" dirty="0">
                <a:solidFill>
                  <a:srgbClr val="0070C0"/>
                </a:solidFill>
                <a:latin typeface="Times New Roman" panose="02020603050405020304" pitchFamily="18" charset="0"/>
                <a:cs typeface="Times New Roman" panose="02020603050405020304" pitchFamily="18" charset="0"/>
                <a:sym typeface="Montserrat"/>
              </a:rPr>
              <a:t>sẽ </a:t>
            </a:r>
            <a:r>
              <a:rPr lang="vi-VN" sz="1600" b="1" dirty="0">
                <a:solidFill>
                  <a:srgbClr val="0070C0"/>
                </a:solidFill>
                <a:latin typeface="Times New Roman" panose="02020603050405020304" pitchFamily="18" charset="0"/>
                <a:cs typeface="Times New Roman" panose="02020603050405020304" pitchFamily="18" charset="0"/>
                <a:sym typeface="Montserrat"/>
              </a:rPr>
              <a:t>không được refresh lại dữ liệu</a:t>
            </a:r>
            <a:r>
              <a:rPr lang="vi-VN" sz="1600" dirty="0">
                <a:solidFill>
                  <a:srgbClr val="0070C0"/>
                </a:solidFill>
                <a:latin typeface="Times New Roman" panose="02020603050405020304" pitchFamily="18" charset="0"/>
                <a:cs typeface="Times New Roman" panose="02020603050405020304" pitchFamily="18" charset="0"/>
                <a:sym typeface="Montserrat"/>
              </a:rPr>
              <a:t>.</a:t>
            </a:r>
            <a:endParaRPr lang="en-US" sz="1600" i="1" dirty="0">
              <a:solidFill>
                <a:srgbClr val="0070C0"/>
              </a:solidFill>
              <a:latin typeface="Times New Roman" panose="02020603050405020304" pitchFamily="18" charset="0"/>
              <a:cs typeface="Times New Roman" panose="02020603050405020304" pitchFamily="18" charset="0"/>
              <a:sym typeface="Montserrat"/>
            </a:endParaRPr>
          </a:p>
        </p:txBody>
      </p:sp>
      <p:sp>
        <p:nvSpPr>
          <p:cNvPr id="15" name="Google Shape;642;p53">
            <a:extLst>
              <a:ext uri="{FF2B5EF4-FFF2-40B4-BE49-F238E27FC236}">
                <a16:creationId xmlns:a16="http://schemas.microsoft.com/office/drawing/2014/main" id="{68FA7DCF-0734-B96E-6D69-7AD04AC073E0}"/>
              </a:ext>
            </a:extLst>
          </p:cNvPr>
          <p:cNvSpPr txBox="1"/>
          <p:nvPr/>
        </p:nvSpPr>
        <p:spPr>
          <a:xfrm>
            <a:off x="498657" y="6266221"/>
            <a:ext cx="11357370" cy="390249"/>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a:latin typeface="Times New Roman" panose="02020603050405020304" pitchFamily="18" charset="0"/>
                <a:cs typeface="Times New Roman" panose="02020603050405020304" pitchFamily="18" charset="0"/>
                <a:sym typeface="Montserrat"/>
              </a:rPr>
              <a:t>Sau </a:t>
            </a:r>
            <a:r>
              <a:rPr lang="en-US" sz="1600" dirty="0" err="1">
                <a:latin typeface="Times New Roman" panose="02020603050405020304" pitchFamily="18" charset="0"/>
                <a:cs typeface="Times New Roman" panose="02020603050405020304" pitchFamily="18" charset="0"/>
                <a:sym typeface="Montserrat"/>
              </a:rPr>
              <a:t>khi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hoàn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thành</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Close &amp; Apply </a:t>
            </a:r>
            <a:r>
              <a:rPr lang="en-US" sz="1600" dirty="0" err="1">
                <a:latin typeface="Times New Roman" panose="02020603050405020304" pitchFamily="18" charset="0"/>
                <a:cs typeface="Times New Roman" panose="02020603050405020304" pitchFamily="18" charset="0"/>
                <a:sym typeface="Montserrat"/>
              </a:rPr>
              <a:t>và</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lưu</a:t>
            </a:r>
            <a:r>
              <a:rPr lang="en-US" sz="1600" dirty="0">
                <a:latin typeface="Times New Roman" panose="02020603050405020304" pitchFamily="18" charset="0"/>
                <a:cs typeface="Times New Roman" panose="02020603050405020304" pitchFamily="18" charset="0"/>
                <a:sym typeface="Montserrat"/>
              </a:rPr>
              <a:t> file </a:t>
            </a:r>
            <a:r>
              <a:rPr lang="en-US" sz="1600" i="1" dirty="0">
                <a:latin typeface="Times New Roman" panose="02020603050405020304" pitchFamily="18" charset="0"/>
                <a:cs typeface="Times New Roman" panose="02020603050405020304" pitchFamily="18" charset="0"/>
                <a:sym typeface="Montserrat"/>
              </a:rPr>
              <a:t>.</a:t>
            </a:r>
            <a:r>
              <a:rPr lang="en-US" sz="1600" i="1" dirty="0" err="1">
                <a:latin typeface="Times New Roman" panose="02020603050405020304" pitchFamily="18" charset="0"/>
                <a:cs typeface="Times New Roman" panose="02020603050405020304" pitchFamily="18" charset="0"/>
                <a:sym typeface="Montserrat"/>
              </a:rPr>
              <a:t>pbix</a:t>
            </a:r>
            <a:r>
              <a:rPr lang="en-US" sz="1600" i="1"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với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tên</a:t>
            </a:r>
            <a:r>
              <a:rPr lang="en-US" sz="1600" dirty="0">
                <a:latin typeface="Times New Roman" panose="02020603050405020304" pitchFamily="18" charset="0"/>
                <a:cs typeface="Times New Roman" panose="02020603050405020304" pitchFamily="18" charset="0"/>
                <a:sym typeface="Montserrat"/>
              </a:rPr>
              <a:t> “</a:t>
            </a:r>
            <a:r>
              <a:rPr lang="en-US" sz="1600" b="1" dirty="0" err="1">
                <a:latin typeface="Times New Roman" panose="02020603050405020304" pitchFamily="18" charset="0"/>
                <a:cs typeface="Times New Roman" panose="02020603050405020304" pitchFamily="18" charset="0"/>
                <a:sym typeface="Montserrat"/>
              </a:rPr>
              <a:t>MavenMarket_Report</a:t>
            </a:r>
            <a:r>
              <a:rPr lang="en-US" sz="1600" dirty="0">
                <a:latin typeface="Times New Roman" panose="02020603050405020304" pitchFamily="18" charset="0"/>
                <a:cs typeface="Times New Roman" panose="02020603050405020304" pitchFamily="18" charset="0"/>
                <a:sym typeface="Montserrat"/>
              </a:rPr>
              <a:t>”. Lưu ý </a:t>
            </a:r>
            <a:r>
              <a:rPr lang="en-US" sz="1600" dirty="0" err="1">
                <a:latin typeface="Times New Roman" panose="02020603050405020304" pitchFamily="18" charset="0"/>
                <a:cs typeface="Times New Roman" panose="02020603050405020304" pitchFamily="18" charset="0"/>
                <a:sym typeface="Montserrat"/>
              </a:rPr>
              <a:t>kiểm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mục</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Data view </a:t>
            </a:r>
            <a:r>
              <a:rPr lang="en-US" sz="1600" dirty="0" err="1">
                <a:latin typeface="Times New Roman" panose="02020603050405020304" pitchFamily="18" charset="0"/>
                <a:cs typeface="Times New Roman" panose="02020603050405020304" pitchFamily="18" charset="0"/>
                <a:sym typeface="Montserrat"/>
              </a:rPr>
              <a:t>và</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Model view</a:t>
            </a:r>
            <a:r>
              <a:rPr lang="en-US" sz="1600" dirty="0">
                <a:latin typeface="Times New Roman" panose="02020603050405020304" pitchFamily="18" charset="0"/>
                <a:cs typeface="Times New Roman" panose="02020603050405020304" pitchFamily="18" charset="0"/>
                <a:sym typeface="Montserrat"/>
              </a:rPr>
              <a:t>.</a:t>
            </a:r>
            <a:endParaRPr lang="en-US" sz="1600" i="1" dirty="0">
              <a:latin typeface="Times New Roman" panose="02020603050405020304" pitchFamily="18" charset="0"/>
              <a:cs typeface="Times New Roman" panose="02020603050405020304" pitchFamily="18" charset="0"/>
              <a:sym typeface="Montserrat"/>
            </a:endParaRPr>
          </a:p>
        </p:txBody>
      </p:sp>
      <p:grpSp>
        <p:nvGrpSpPr>
          <p:cNvPr id="5" name="Group 4">
            <a:extLst>
              <a:ext uri="{FF2B5EF4-FFF2-40B4-BE49-F238E27FC236}">
                <a16:creationId xmlns:a16="http://schemas.microsoft.com/office/drawing/2014/main" id="{07EBCE3E-2514-E5B8-94A0-62A511C2D621}"/>
              </a:ext>
            </a:extLst>
          </p:cNvPr>
          <p:cNvGrpSpPr/>
          <p:nvPr/>
        </p:nvGrpSpPr>
        <p:grpSpPr>
          <a:xfrm>
            <a:off x="3823351" y="3218123"/>
            <a:ext cx="4039164" cy="2286319"/>
            <a:chOff x="3823351" y="3218123"/>
            <a:chExt cx="4039164" cy="2286319"/>
          </a:xfrm>
        </p:grpSpPr>
        <p:pic>
          <p:nvPicPr>
            <p:cNvPr id="13" name="Picture 12">
              <a:extLst>
                <a:ext uri="{FF2B5EF4-FFF2-40B4-BE49-F238E27FC236}">
                  <a16:creationId xmlns:a16="http://schemas.microsoft.com/office/drawing/2014/main" id="{239378B4-D028-D7E7-78CE-873EBB24933A}"/>
                </a:ext>
              </a:extLst>
            </p:cNvPr>
            <p:cNvPicPr>
              <a:picLocks noChangeAspect="1"/>
            </p:cNvPicPr>
            <p:nvPr/>
          </p:nvPicPr>
          <p:blipFill>
            <a:blip r:embed="rId3"/>
            <a:stretch>
              <a:fillRect/>
            </a:stretch>
          </p:blipFill>
          <p:spPr>
            <a:xfrm>
              <a:off x="3823351" y="3218123"/>
              <a:ext cx="4039164" cy="2286319"/>
            </a:xfrm>
            <a:prstGeom prst="rect">
              <a:avLst/>
            </a:prstGeom>
          </p:spPr>
        </p:pic>
        <p:sp>
          <p:nvSpPr>
            <p:cNvPr id="23" name="Rectangle 22">
              <a:extLst>
                <a:ext uri="{FF2B5EF4-FFF2-40B4-BE49-F238E27FC236}">
                  <a16:creationId xmlns:a16="http://schemas.microsoft.com/office/drawing/2014/main" id="{95B5EE49-AB27-228D-DE80-52650B5E798F}"/>
                </a:ext>
              </a:extLst>
            </p:cNvPr>
            <p:cNvSpPr/>
            <p:nvPr/>
          </p:nvSpPr>
          <p:spPr>
            <a:xfrm>
              <a:off x="5582980" y="4638000"/>
              <a:ext cx="2023165" cy="235336"/>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grpSp>
      <p:sp>
        <p:nvSpPr>
          <p:cNvPr id="3" name="Rectangle 2">
            <a:extLst>
              <a:ext uri="{FF2B5EF4-FFF2-40B4-BE49-F238E27FC236}">
                <a16:creationId xmlns:a16="http://schemas.microsoft.com/office/drawing/2014/main" id="{A0991745-D171-BCE1-4E13-895F4C2BB12E}"/>
              </a:ext>
            </a:extLst>
          </p:cNvPr>
          <p:cNvSpPr>
            <a:spLocks noChangeArrowheads="1"/>
          </p:cNvSpPr>
          <p:nvPr/>
        </p:nvSpPr>
        <p:spPr bwMode="auto">
          <a:xfrm>
            <a:off x="0" y="448"/>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lnSpcReduction="10000"/>
          </a:bodyPr>
          <a:lstStyle/>
          <a:p>
            <a:r>
              <a:rPr lang="vi-VN" sz="2400" b="1" dirty="0">
                <a:solidFill>
                  <a:srgbClr val="113A71"/>
                </a:solidFill>
                <a:latin typeface="Times New Roman" panose="02020603050405020304" pitchFamily="18" charset="0"/>
                <a:cs typeface="Times New Roman" panose="02020603050405020304" pitchFamily="18" charset="0"/>
              </a:rPr>
              <a:t>1. </a:t>
            </a:r>
            <a:r>
              <a:rPr lang="en-US" sz="2400" b="1" dirty="0" err="1">
                <a:solidFill>
                  <a:srgbClr val="113A71"/>
                </a:solidFill>
                <a:latin typeface="Times New Roman" panose="02020603050405020304" pitchFamily="18" charset="0"/>
                <a:cs typeface="Times New Roman" panose="02020603050405020304" pitchFamily="18" charset="0"/>
              </a:rPr>
              <a:t>Kết</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nối</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lý</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dữ</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liệu</a:t>
            </a:r>
            <a:endParaRPr lang="en-US" sz="2400" b="1" dirty="0">
              <a:solidFill>
                <a:srgbClr val="113A71"/>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B0A35A74-E58A-6229-01DC-0EDB8C91A073}"/>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vi-VN" sz="2000" b="1" dirty="0">
                <a:solidFill>
                  <a:srgbClr val="113A71"/>
                </a:solidFill>
                <a:latin typeface="Times New Roman" panose="02020603050405020304" pitchFamily="18" charset="0"/>
                <a:cs typeface="Times New Roman" panose="02020603050405020304" pitchFamily="18" charset="0"/>
              </a:rPr>
              <a:t>1.</a:t>
            </a:r>
            <a:r>
              <a:rPr lang="en-US" sz="2000" b="1" dirty="0">
                <a:solidFill>
                  <a:srgbClr val="113A71"/>
                </a:solidFill>
                <a:latin typeface="Times New Roman" panose="02020603050405020304" pitchFamily="18" charset="0"/>
                <a:cs typeface="Times New Roman" panose="02020603050405020304" pitchFamily="18" charset="0"/>
              </a:rPr>
              <a:t>6. </a:t>
            </a:r>
            <a:r>
              <a:rPr lang="en-US" sz="2000" b="1" dirty="0" err="1">
                <a:solidFill>
                  <a:srgbClr val="113A71"/>
                </a:solidFill>
                <a:latin typeface="Times New Roman" panose="02020603050405020304" pitchFamily="18" charset="0"/>
                <a:cs typeface="Times New Roman" panose="02020603050405020304" pitchFamily="18" charset="0"/>
              </a:rPr>
              <a:t>Thiết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lập</a:t>
            </a:r>
            <a:r>
              <a:rPr lang="en-US" sz="2000" b="1" dirty="0">
                <a:solidFill>
                  <a:srgbClr val="113A71"/>
                </a:solidFill>
                <a:latin typeface="Times New Roman" panose="02020603050405020304" pitchFamily="18" charset="0"/>
                <a:cs typeface="Times New Roman" panose="02020603050405020304" pitchFamily="18" charset="0"/>
              </a:rPr>
              <a:t> Dimension </a:t>
            </a:r>
            <a:r>
              <a:rPr lang="en-US" sz="2000" b="1" dirty="0" err="1">
                <a:solidFill>
                  <a:srgbClr val="113A71"/>
                </a:solidFill>
                <a:latin typeface="Times New Roman" panose="02020603050405020304" pitchFamily="18" charset="0"/>
                <a:cs typeface="Times New Roman" panose="02020603050405020304" pitchFamily="18" charset="0"/>
              </a:rPr>
              <a:t>và</a:t>
            </a:r>
            <a:r>
              <a:rPr lang="en-US" sz="2000" b="1" dirty="0">
                <a:solidFill>
                  <a:srgbClr val="113A71"/>
                </a:solidFill>
                <a:latin typeface="Times New Roman" panose="02020603050405020304" pitchFamily="18" charset="0"/>
                <a:cs typeface="Times New Roman" panose="02020603050405020304" pitchFamily="18" charset="0"/>
              </a:rPr>
              <a:t> Fact Tables</a:t>
            </a:r>
          </a:p>
        </p:txBody>
      </p:sp>
    </p:spTree>
    <p:extLst>
      <p:ext uri="{BB962C8B-B14F-4D97-AF65-F5344CB8AC3E}">
        <p14:creationId xmlns:p14="http://schemas.microsoft.com/office/powerpoint/2010/main" val="1273109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0ACE8-F309-4EE1-AD52-0BAC6CCE6C10}"/>
            </a:ext>
          </a:extLst>
        </p:cNvPr>
        <p:cNvGrpSpPr/>
        <p:nvPr/>
      </p:nvGrpSpPr>
      <p:grpSpPr>
        <a:xfrm>
          <a:off x="0" y="0"/>
          <a:ext cx="0" cy="0"/>
          <a:chOff x="0" y="0"/>
          <a:chExt cx="0" cy="0"/>
        </a:xfrm>
      </p:grpSpPr>
      <p:sp>
        <p:nvSpPr>
          <p:cNvPr id="11" name="Rectangle 1">
            <a:extLst>
              <a:ext uri="{FF2B5EF4-FFF2-40B4-BE49-F238E27FC236}">
                <a16:creationId xmlns:a16="http://schemas.microsoft.com/office/drawing/2014/main" id="{33214595-A466-3004-C29E-2DBD651FDC36}"/>
              </a:ext>
            </a:extLst>
          </p:cNvPr>
          <p:cNvSpPr>
            <a:spLocks noChangeArrowheads="1"/>
          </p:cNvSpPr>
          <p:nvPr/>
        </p:nvSpPr>
        <p:spPr bwMode="auto">
          <a:xfrm>
            <a:off x="0" y="447"/>
            <a:ext cx="10515819" cy="5492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400" b="1" dirty="0">
                <a:solidFill>
                  <a:srgbClr val="113A71"/>
                </a:solidFill>
                <a:latin typeface="Times New Roman" panose="02020603050405020304" pitchFamily="18" charset="0"/>
                <a:cs typeface="Times New Roman" panose="02020603050405020304" pitchFamily="18" charset="0"/>
              </a:rPr>
              <a:t>2</a:t>
            </a:r>
            <a:r>
              <a:rPr lang="vi-VN"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Tạo</a:t>
            </a:r>
            <a:r>
              <a:rPr lang="en-US" sz="2400" b="1" dirty="0">
                <a:solidFill>
                  <a:srgbClr val="113A71"/>
                </a:solidFill>
                <a:latin typeface="Times New Roman" panose="02020603050405020304" pitchFamily="18" charset="0"/>
                <a:cs typeface="Times New Roman" panose="02020603050405020304" pitchFamily="18" charset="0"/>
              </a:rPr>
              <a:t> Data Model</a:t>
            </a:r>
          </a:p>
        </p:txBody>
      </p:sp>
      <p:sp>
        <p:nvSpPr>
          <p:cNvPr id="19" name="Google Shape;642;p53">
            <a:extLst>
              <a:ext uri="{FF2B5EF4-FFF2-40B4-BE49-F238E27FC236}">
                <a16:creationId xmlns:a16="http://schemas.microsoft.com/office/drawing/2014/main" id="{F4E5E377-B0EA-FE6F-B6E0-C65CB8161EA6}"/>
              </a:ext>
            </a:extLst>
          </p:cNvPr>
          <p:cNvSpPr txBox="1"/>
          <p:nvPr/>
        </p:nvSpPr>
        <p:spPr>
          <a:xfrm>
            <a:off x="357247" y="763200"/>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2" name="Google Shape;642;p53">
            <a:extLst>
              <a:ext uri="{FF2B5EF4-FFF2-40B4-BE49-F238E27FC236}">
                <a16:creationId xmlns:a16="http://schemas.microsoft.com/office/drawing/2014/main" id="{2B468201-F4D2-8CC2-5908-840313D456F4}"/>
              </a:ext>
            </a:extLst>
          </p:cNvPr>
          <p:cNvSpPr txBox="1"/>
          <p:nvPr/>
        </p:nvSpPr>
        <p:spPr>
          <a:xfrm>
            <a:off x="357246" y="4983545"/>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pic>
        <p:nvPicPr>
          <p:cNvPr id="4" name="Picture 3">
            <a:extLst>
              <a:ext uri="{FF2B5EF4-FFF2-40B4-BE49-F238E27FC236}">
                <a16:creationId xmlns:a16="http://schemas.microsoft.com/office/drawing/2014/main" id="{6DA14087-1F88-8A0B-6A5B-B3E3766147DD}"/>
              </a:ext>
            </a:extLst>
          </p:cNvPr>
          <p:cNvPicPr>
            <a:picLocks noChangeAspect="1"/>
          </p:cNvPicPr>
          <p:nvPr/>
        </p:nvPicPr>
        <p:blipFill>
          <a:blip r:embed="rId2"/>
          <a:stretch>
            <a:fillRect/>
          </a:stretch>
        </p:blipFill>
        <p:spPr>
          <a:xfrm>
            <a:off x="3224136" y="1082635"/>
            <a:ext cx="5743724" cy="3826961"/>
          </a:xfrm>
          <a:prstGeom prst="rect">
            <a:avLst/>
          </a:prstGeom>
        </p:spPr>
      </p:pic>
      <p:sp>
        <p:nvSpPr>
          <p:cNvPr id="5" name="Google Shape;642;p53">
            <a:extLst>
              <a:ext uri="{FF2B5EF4-FFF2-40B4-BE49-F238E27FC236}">
                <a16:creationId xmlns:a16="http://schemas.microsoft.com/office/drawing/2014/main" id="{C4AE6490-7EEC-D5EA-8F67-A678180635E6}"/>
              </a:ext>
            </a:extLst>
          </p:cNvPr>
          <p:cNvSpPr txBox="1"/>
          <p:nvPr/>
        </p:nvSpPr>
        <p:spPr>
          <a:xfrm>
            <a:off x="498662" y="5373794"/>
            <a:ext cx="11194673" cy="390249"/>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vi-VN" sz="1600" dirty="0">
                <a:latin typeface="Times New Roman" panose="02020603050405020304" pitchFamily="18" charset="0"/>
                <a:cs typeface="Times New Roman" panose="02020603050405020304" pitchFamily="18" charset="0"/>
                <a:sym typeface="Montserrat"/>
              </a:rPr>
              <a:t>Kết nối các bảng theo yêu cầu đề bài, sử dụng các khóa chính </a:t>
            </a:r>
            <a:r>
              <a:rPr lang="vi-VN" sz="1600" i="1" dirty="0">
                <a:latin typeface="Times New Roman" panose="02020603050405020304" pitchFamily="18" charset="0"/>
                <a:cs typeface="Times New Roman" panose="02020603050405020304" pitchFamily="18" charset="0"/>
                <a:sym typeface="Montserrat"/>
              </a:rPr>
              <a:t>(</a:t>
            </a:r>
            <a:r>
              <a:rPr lang="en-US" sz="1600" i="1" dirty="0">
                <a:latin typeface="Times New Roman" panose="02020603050405020304" pitchFamily="18" charset="0"/>
                <a:cs typeface="Times New Roman" panose="02020603050405020304" pitchFamily="18" charset="0"/>
                <a:sym typeface="Montserrat"/>
              </a:rPr>
              <a:t>P</a:t>
            </a:r>
            <a:r>
              <a:rPr lang="vi-VN" sz="1600" i="1" dirty="0">
                <a:latin typeface="Times New Roman" panose="02020603050405020304" pitchFamily="18" charset="0"/>
                <a:cs typeface="Times New Roman" panose="02020603050405020304" pitchFamily="18" charset="0"/>
                <a:sym typeface="Montserrat"/>
              </a:rPr>
              <a:t>rimary key) </a:t>
            </a:r>
            <a:r>
              <a:rPr lang="vi-VN" sz="1600" dirty="0">
                <a:latin typeface="Times New Roman" panose="02020603050405020304" pitchFamily="18" charset="0"/>
                <a:cs typeface="Times New Roman" panose="02020603050405020304" pitchFamily="18" charset="0"/>
                <a:sym typeface="Montserrat"/>
              </a:rPr>
              <a:t>và khóa ngoại </a:t>
            </a:r>
            <a:r>
              <a:rPr lang="vi-VN" sz="1600" i="1" dirty="0">
                <a:latin typeface="Times New Roman" panose="02020603050405020304" pitchFamily="18" charset="0"/>
                <a:cs typeface="Times New Roman" panose="02020603050405020304" pitchFamily="18" charset="0"/>
                <a:sym typeface="Montserrat"/>
              </a:rPr>
              <a:t>(</a:t>
            </a:r>
            <a:r>
              <a:rPr lang="en-US" sz="1600" i="1" dirty="0">
                <a:latin typeface="Times New Roman" panose="02020603050405020304" pitchFamily="18" charset="0"/>
                <a:cs typeface="Times New Roman" panose="02020603050405020304" pitchFamily="18" charset="0"/>
                <a:sym typeface="Montserrat"/>
              </a:rPr>
              <a:t>F</a:t>
            </a:r>
            <a:r>
              <a:rPr lang="vi-VN" sz="1600" i="1" dirty="0">
                <a:latin typeface="Times New Roman" panose="02020603050405020304" pitchFamily="18" charset="0"/>
                <a:cs typeface="Times New Roman" panose="02020603050405020304" pitchFamily="18" charset="0"/>
                <a:sym typeface="Montserrat"/>
              </a:rPr>
              <a:t>oreign key) </a:t>
            </a:r>
            <a:r>
              <a:rPr lang="vi-VN" sz="1600" dirty="0">
                <a:latin typeface="Times New Roman" panose="02020603050405020304" pitchFamily="18" charset="0"/>
                <a:cs typeface="Times New Roman" panose="02020603050405020304" pitchFamily="18" charset="0"/>
                <a:sym typeface="Montserrat"/>
              </a:rPr>
              <a:t>tương ứng giữa các bảng.</a:t>
            </a:r>
            <a:endParaRPr lang="en-US" sz="1600" dirty="0">
              <a:latin typeface="Times New Roman" panose="02020603050405020304" pitchFamily="18" charset="0"/>
              <a:cs typeface="Times New Roman" panose="02020603050405020304" pitchFamily="18" charset="0"/>
              <a:sym typeface="Montserrat"/>
            </a:endParaRPr>
          </a:p>
        </p:txBody>
      </p:sp>
      <p:sp>
        <p:nvSpPr>
          <p:cNvPr id="3" name="Rectangle 1">
            <a:extLst>
              <a:ext uri="{FF2B5EF4-FFF2-40B4-BE49-F238E27FC236}">
                <a16:creationId xmlns:a16="http://schemas.microsoft.com/office/drawing/2014/main" id="{460BDDC7-3338-58E9-74E9-4967253DB253}"/>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000" b="1" dirty="0">
                <a:solidFill>
                  <a:srgbClr val="113A71"/>
                </a:solidFill>
                <a:latin typeface="Times New Roman" panose="02020603050405020304" pitchFamily="18" charset="0"/>
                <a:cs typeface="Times New Roman" panose="02020603050405020304" pitchFamily="18" charset="0"/>
              </a:rPr>
              <a:t>2.1. </a:t>
            </a:r>
            <a:r>
              <a:rPr lang="en-US" sz="2000" b="1" dirty="0" err="1">
                <a:solidFill>
                  <a:srgbClr val="113A71"/>
                </a:solidFill>
                <a:latin typeface="Times New Roman" panose="02020603050405020304" pitchFamily="18" charset="0"/>
                <a:cs typeface="Times New Roman" panose="02020603050405020304" pitchFamily="18" charset="0"/>
              </a:rPr>
              <a:t>Thiết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lập</a:t>
            </a:r>
            <a:r>
              <a:rPr lang="en-US" sz="2000" b="1" dirty="0">
                <a:solidFill>
                  <a:srgbClr val="113A71"/>
                </a:solidFill>
                <a:latin typeface="Times New Roman" panose="02020603050405020304" pitchFamily="18" charset="0"/>
                <a:cs typeface="Times New Roman" panose="02020603050405020304" pitchFamily="18" charset="0"/>
              </a:rPr>
              <a:t> Relationships </a:t>
            </a:r>
            <a:r>
              <a:rPr lang="en-US" sz="2000" b="1" dirty="0" err="1">
                <a:solidFill>
                  <a:srgbClr val="113A71"/>
                </a:solidFill>
                <a:latin typeface="Times New Roman" panose="02020603050405020304" pitchFamily="18" charset="0"/>
                <a:cs typeface="Times New Roman" panose="02020603050405020304" pitchFamily="18" charset="0"/>
              </a:rPr>
              <a:t>trong</a:t>
            </a:r>
            <a:r>
              <a:rPr lang="en-US" sz="2000" b="1" dirty="0">
                <a:solidFill>
                  <a:srgbClr val="113A71"/>
                </a:solidFill>
                <a:latin typeface="Times New Roman" panose="02020603050405020304" pitchFamily="18" charset="0"/>
                <a:cs typeface="Times New Roman" panose="02020603050405020304" pitchFamily="18" charset="0"/>
              </a:rPr>
              <a:t> Data Model</a:t>
            </a:r>
          </a:p>
        </p:txBody>
      </p:sp>
    </p:spTree>
    <p:extLst>
      <p:ext uri="{BB962C8B-B14F-4D97-AF65-F5344CB8AC3E}">
        <p14:creationId xmlns:p14="http://schemas.microsoft.com/office/powerpoint/2010/main" val="8063607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45102-120D-5F8A-48EB-29A206AF6A0D}"/>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A8A2C462-171F-3FAD-EE88-9DB11145A1DE}"/>
              </a:ext>
            </a:extLst>
          </p:cNvPr>
          <p:cNvSpPr txBox="1"/>
          <p:nvPr/>
        </p:nvSpPr>
        <p:spPr>
          <a:xfrm>
            <a:off x="357248" y="742426"/>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2" name="Google Shape;642;p53">
            <a:extLst>
              <a:ext uri="{FF2B5EF4-FFF2-40B4-BE49-F238E27FC236}">
                <a16:creationId xmlns:a16="http://schemas.microsoft.com/office/drawing/2014/main" id="{BE30857A-5945-C33B-594C-036F96C4637B}"/>
              </a:ext>
            </a:extLst>
          </p:cNvPr>
          <p:cNvSpPr txBox="1"/>
          <p:nvPr/>
        </p:nvSpPr>
        <p:spPr>
          <a:xfrm>
            <a:off x="357248" y="2094324"/>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pic>
        <p:nvPicPr>
          <p:cNvPr id="6" name="Picture 5">
            <a:extLst>
              <a:ext uri="{FF2B5EF4-FFF2-40B4-BE49-F238E27FC236}">
                <a16:creationId xmlns:a16="http://schemas.microsoft.com/office/drawing/2014/main" id="{13205933-F48F-AB62-0146-1FC65D1384E1}"/>
              </a:ext>
            </a:extLst>
          </p:cNvPr>
          <p:cNvPicPr>
            <a:picLocks noChangeAspect="1"/>
          </p:cNvPicPr>
          <p:nvPr/>
        </p:nvPicPr>
        <p:blipFill>
          <a:blip r:embed="rId2"/>
          <a:stretch>
            <a:fillRect/>
          </a:stretch>
        </p:blipFill>
        <p:spPr>
          <a:xfrm>
            <a:off x="3110857" y="856363"/>
            <a:ext cx="5970285" cy="1251602"/>
          </a:xfrm>
          <a:prstGeom prst="rect">
            <a:avLst/>
          </a:prstGeom>
        </p:spPr>
      </p:pic>
      <p:pic>
        <p:nvPicPr>
          <p:cNvPr id="8" name="Picture 7">
            <a:extLst>
              <a:ext uri="{FF2B5EF4-FFF2-40B4-BE49-F238E27FC236}">
                <a16:creationId xmlns:a16="http://schemas.microsoft.com/office/drawing/2014/main" id="{E87E64BE-67DC-D42D-89BF-B7A7956D520D}"/>
              </a:ext>
            </a:extLst>
          </p:cNvPr>
          <p:cNvPicPr>
            <a:picLocks noChangeAspect="1"/>
          </p:cNvPicPr>
          <p:nvPr/>
        </p:nvPicPr>
        <p:blipFill>
          <a:blip r:embed="rId3"/>
          <a:stretch>
            <a:fillRect/>
          </a:stretch>
        </p:blipFill>
        <p:spPr>
          <a:xfrm>
            <a:off x="104676" y="3216548"/>
            <a:ext cx="5189037" cy="3210756"/>
          </a:xfrm>
          <a:prstGeom prst="rect">
            <a:avLst/>
          </a:prstGeom>
        </p:spPr>
      </p:pic>
      <p:pic>
        <p:nvPicPr>
          <p:cNvPr id="13" name="Picture 12">
            <a:extLst>
              <a:ext uri="{FF2B5EF4-FFF2-40B4-BE49-F238E27FC236}">
                <a16:creationId xmlns:a16="http://schemas.microsoft.com/office/drawing/2014/main" id="{21799685-DC4B-B49D-C848-7981AC2D9A25}"/>
              </a:ext>
            </a:extLst>
          </p:cNvPr>
          <p:cNvPicPr>
            <a:picLocks noChangeAspect="1"/>
          </p:cNvPicPr>
          <p:nvPr/>
        </p:nvPicPr>
        <p:blipFill>
          <a:blip r:embed="rId4"/>
          <a:stretch>
            <a:fillRect/>
          </a:stretch>
        </p:blipFill>
        <p:spPr>
          <a:xfrm>
            <a:off x="5534349" y="3913815"/>
            <a:ext cx="6441941" cy="1749230"/>
          </a:xfrm>
          <a:prstGeom prst="rect">
            <a:avLst/>
          </a:prstGeom>
        </p:spPr>
      </p:pic>
      <p:sp>
        <p:nvSpPr>
          <p:cNvPr id="14" name="Google Shape;642;p53">
            <a:extLst>
              <a:ext uri="{FF2B5EF4-FFF2-40B4-BE49-F238E27FC236}">
                <a16:creationId xmlns:a16="http://schemas.microsoft.com/office/drawing/2014/main" id="{03C39FB4-DF40-B44B-E123-9D4BD5D78D81}"/>
              </a:ext>
            </a:extLst>
          </p:cNvPr>
          <p:cNvSpPr txBox="1"/>
          <p:nvPr/>
        </p:nvSpPr>
        <p:spPr>
          <a:xfrm>
            <a:off x="104676" y="2544588"/>
            <a:ext cx="5189037" cy="561112"/>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Chọn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các</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dữ</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liệu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dạng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Date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sửa</a:t>
            </a:r>
            <a:r>
              <a:rPr lang="en-US" sz="1600" dirty="0">
                <a:latin typeface="Times New Roman" panose="02020603050405020304" pitchFamily="18" charset="0"/>
                <a:cs typeface="Times New Roman" panose="02020603050405020304" pitchFamily="18" charset="0"/>
                <a:sym typeface="Montserrat"/>
              </a:rPr>
              <a:t> format </a:t>
            </a:r>
            <a:r>
              <a:rPr lang="en-US" sz="1600" dirty="0" err="1">
                <a:latin typeface="Times New Roman" panose="02020603050405020304" pitchFamily="18" charset="0"/>
                <a:cs typeface="Times New Roman" panose="02020603050405020304" pitchFamily="18" charset="0"/>
                <a:sym typeface="Montserrat"/>
              </a:rPr>
              <a:t>thành</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mm/dd/</a:t>
            </a:r>
            <a:r>
              <a:rPr lang="en-US" sz="1600" b="1" dirty="0" err="1">
                <a:latin typeface="Times New Roman" panose="02020603050405020304" pitchFamily="18" charset="0"/>
                <a:cs typeface="Times New Roman" panose="02020603050405020304" pitchFamily="18" charset="0"/>
                <a:sym typeface="Montserrat"/>
              </a:rPr>
              <a:t>yyyy</a:t>
            </a:r>
            <a:r>
              <a:rPr lang="en-US" sz="1600" dirty="0">
                <a:latin typeface="Times New Roman" panose="02020603050405020304" pitchFamily="18" charset="0"/>
                <a:cs typeface="Times New Roman" panose="02020603050405020304" pitchFamily="18" charset="0"/>
                <a:sym typeface="Montserrat"/>
              </a:rPr>
              <a:t>.</a:t>
            </a:r>
          </a:p>
        </p:txBody>
      </p:sp>
      <p:sp>
        <p:nvSpPr>
          <p:cNvPr id="15" name="Google Shape;642;p53">
            <a:extLst>
              <a:ext uri="{FF2B5EF4-FFF2-40B4-BE49-F238E27FC236}">
                <a16:creationId xmlns:a16="http://schemas.microsoft.com/office/drawing/2014/main" id="{1DF955D9-4876-E393-835D-0F156739ED97}"/>
              </a:ext>
            </a:extLst>
          </p:cNvPr>
          <p:cNvSpPr txBox="1"/>
          <p:nvPr/>
        </p:nvSpPr>
        <p:spPr>
          <a:xfrm>
            <a:off x="5534349" y="2544588"/>
            <a:ext cx="6441941" cy="561112"/>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Chọn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i="1" dirty="0" err="1">
                <a:latin typeface="Times New Roman" panose="02020603050405020304" pitchFamily="18" charset="0"/>
                <a:cs typeface="Times New Roman" panose="02020603050405020304" pitchFamily="18" charset="0"/>
                <a:sym typeface="Montserrat"/>
              </a:rPr>
              <a:t>product_retail_price</a:t>
            </a:r>
            <a:r>
              <a:rPr lang="en-US" sz="1600" dirty="0">
                <a:latin typeface="Times New Roman" panose="02020603050405020304" pitchFamily="18" charset="0"/>
                <a:cs typeface="Times New Roman" panose="02020603050405020304" pitchFamily="18" charset="0"/>
                <a:sym typeface="Montserrat"/>
              </a:rPr>
              <a:t>, </a:t>
            </a:r>
            <a:r>
              <a:rPr lang="en-US" sz="1600" i="1" dirty="0" err="1">
                <a:latin typeface="Times New Roman" panose="02020603050405020304" pitchFamily="18" charset="0"/>
                <a:cs typeface="Times New Roman" panose="02020603050405020304" pitchFamily="18" charset="0"/>
                <a:sym typeface="Montserrat"/>
              </a:rPr>
              <a:t>product_cost</a:t>
            </a:r>
            <a:r>
              <a:rPr lang="en-US" sz="1600" i="1"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a:t>
            </a:r>
            <a:r>
              <a:rPr lang="en-US" sz="1600" dirty="0">
                <a:latin typeface="Times New Roman" panose="02020603050405020304" pitchFamily="18" charset="0"/>
                <a:cs typeface="Times New Roman" panose="02020603050405020304" pitchFamily="18" charset="0"/>
                <a:sym typeface="Montserrat"/>
              </a:rPr>
              <a:t> </a:t>
            </a:r>
            <a:r>
              <a:rPr lang="en-US" sz="1600" i="1" dirty="0" err="1">
                <a:latin typeface="Times New Roman" panose="02020603050405020304" pitchFamily="18" charset="0"/>
                <a:cs typeface="Times New Roman" panose="02020603050405020304" pitchFamily="18" charset="0"/>
                <a:sym typeface="Montserrat"/>
              </a:rPr>
              <a:t>discount_price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sửa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các</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này</a:t>
            </a:r>
            <a:r>
              <a:rPr lang="en-US" sz="1600" dirty="0">
                <a:latin typeface="Times New Roman" panose="02020603050405020304" pitchFamily="18" charset="0"/>
                <a:cs typeface="Times New Roman" panose="02020603050405020304" pitchFamily="18" charset="0"/>
                <a:sym typeface="Montserrat"/>
              </a:rPr>
              <a:t> sang </a:t>
            </a:r>
            <a:r>
              <a:rPr lang="en-US" sz="1600" dirty="0" err="1">
                <a:latin typeface="Times New Roman" panose="02020603050405020304" pitchFamily="18" charset="0"/>
                <a:cs typeface="Times New Roman" panose="02020603050405020304" pitchFamily="18" charset="0"/>
                <a:sym typeface="Montserrat"/>
              </a:rPr>
              <a:t>định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dạng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Currency ($ English).</a:t>
            </a:r>
          </a:p>
        </p:txBody>
      </p:sp>
      <p:sp>
        <p:nvSpPr>
          <p:cNvPr id="16" name="Rectangle 15">
            <a:extLst>
              <a:ext uri="{FF2B5EF4-FFF2-40B4-BE49-F238E27FC236}">
                <a16:creationId xmlns:a16="http://schemas.microsoft.com/office/drawing/2014/main" id="{D8B85A6B-15DF-1706-A7ED-9553A5CAEC4D}"/>
              </a:ext>
            </a:extLst>
          </p:cNvPr>
          <p:cNvSpPr/>
          <p:nvPr/>
        </p:nvSpPr>
        <p:spPr>
          <a:xfrm>
            <a:off x="2621571" y="6217920"/>
            <a:ext cx="1929647" cy="209384"/>
          </a:xfrm>
          <a:prstGeom prst="rect">
            <a:avLst/>
          </a:prstGeom>
          <a:noFill/>
          <a:ln w="19050"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A23D7F01-1F92-0919-E3EB-A1BF7438B43D}"/>
              </a:ext>
            </a:extLst>
          </p:cNvPr>
          <p:cNvSpPr/>
          <p:nvPr/>
        </p:nvSpPr>
        <p:spPr>
          <a:xfrm>
            <a:off x="7671957" y="5417036"/>
            <a:ext cx="1929647" cy="209384"/>
          </a:xfrm>
          <a:prstGeom prst="rect">
            <a:avLst/>
          </a:prstGeom>
          <a:noFill/>
          <a:ln w="19050"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FC37DBF3-800A-1A97-B9CE-95074D57AA3D}"/>
              </a:ext>
            </a:extLst>
          </p:cNvPr>
          <p:cNvSpPr/>
          <p:nvPr/>
        </p:nvSpPr>
        <p:spPr>
          <a:xfrm>
            <a:off x="7614285" y="4568357"/>
            <a:ext cx="276226" cy="209383"/>
          </a:xfrm>
          <a:prstGeom prst="rect">
            <a:avLst/>
          </a:prstGeom>
          <a:noFill/>
          <a:ln w="19050"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cxnSp>
        <p:nvCxnSpPr>
          <p:cNvPr id="21" name="Straight Connector 20">
            <a:extLst>
              <a:ext uri="{FF2B5EF4-FFF2-40B4-BE49-F238E27FC236}">
                <a16:creationId xmlns:a16="http://schemas.microsoft.com/office/drawing/2014/main" id="{6D9A9562-CC86-96FD-A34E-25A020735852}"/>
              </a:ext>
            </a:extLst>
          </p:cNvPr>
          <p:cNvCxnSpPr/>
          <p:nvPr/>
        </p:nvCxnSpPr>
        <p:spPr>
          <a:xfrm>
            <a:off x="5403273" y="2265218"/>
            <a:ext cx="0" cy="4374573"/>
          </a:xfrm>
          <a:prstGeom prst="line">
            <a:avLst/>
          </a:prstGeom>
        </p:spPr>
        <p:style>
          <a:lnRef idx="2">
            <a:schemeClr val="dk1"/>
          </a:lnRef>
          <a:fillRef idx="0">
            <a:schemeClr val="dk1"/>
          </a:fillRef>
          <a:effectRef idx="1">
            <a:schemeClr val="dk1"/>
          </a:effectRef>
          <a:fontRef idx="minor">
            <a:schemeClr val="tx1"/>
          </a:fontRef>
        </p:style>
      </p:cxnSp>
      <p:sp>
        <p:nvSpPr>
          <p:cNvPr id="3" name="Rectangle 1">
            <a:extLst>
              <a:ext uri="{FF2B5EF4-FFF2-40B4-BE49-F238E27FC236}">
                <a16:creationId xmlns:a16="http://schemas.microsoft.com/office/drawing/2014/main" id="{DCF7691D-6FEF-7C30-6DF7-BDF377A346FF}"/>
              </a:ext>
            </a:extLst>
          </p:cNvPr>
          <p:cNvSpPr>
            <a:spLocks noChangeArrowheads="1"/>
          </p:cNvSpPr>
          <p:nvPr/>
        </p:nvSpPr>
        <p:spPr bwMode="auto">
          <a:xfrm>
            <a:off x="0" y="447"/>
            <a:ext cx="10515819" cy="5492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400" b="1" dirty="0">
                <a:solidFill>
                  <a:srgbClr val="113A71"/>
                </a:solidFill>
                <a:latin typeface="Times New Roman" panose="02020603050405020304" pitchFamily="18" charset="0"/>
                <a:cs typeface="Times New Roman" panose="02020603050405020304" pitchFamily="18" charset="0"/>
              </a:rPr>
              <a:t>2</a:t>
            </a:r>
            <a:r>
              <a:rPr lang="vi-VN"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Tạo</a:t>
            </a:r>
            <a:r>
              <a:rPr lang="en-US" sz="2400" b="1" dirty="0">
                <a:solidFill>
                  <a:srgbClr val="113A71"/>
                </a:solidFill>
                <a:latin typeface="Times New Roman" panose="02020603050405020304" pitchFamily="18" charset="0"/>
                <a:cs typeface="Times New Roman" panose="02020603050405020304" pitchFamily="18" charset="0"/>
              </a:rPr>
              <a:t> Data Model</a:t>
            </a:r>
          </a:p>
        </p:txBody>
      </p:sp>
      <p:sp>
        <p:nvSpPr>
          <p:cNvPr id="4" name="Rectangle 1">
            <a:extLst>
              <a:ext uri="{FF2B5EF4-FFF2-40B4-BE49-F238E27FC236}">
                <a16:creationId xmlns:a16="http://schemas.microsoft.com/office/drawing/2014/main" id="{2E31F313-452C-CF85-AB73-968551701409}"/>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000" b="1" dirty="0">
                <a:solidFill>
                  <a:srgbClr val="113A71"/>
                </a:solidFill>
                <a:latin typeface="Times New Roman" panose="02020603050405020304" pitchFamily="18" charset="0"/>
                <a:cs typeface="Times New Roman" panose="02020603050405020304" pitchFamily="18" charset="0"/>
              </a:rPr>
              <a:t>2.2. </a:t>
            </a:r>
            <a:r>
              <a:rPr lang="en-US" sz="2000" b="1" dirty="0" err="1">
                <a:solidFill>
                  <a:srgbClr val="113A71"/>
                </a:solidFill>
                <a:latin typeface="Times New Roman" panose="02020603050405020304" pitchFamily="18" charset="0"/>
                <a:cs typeface="Times New Roman" panose="02020603050405020304" pitchFamily="18" charset="0"/>
              </a:rPr>
              <a:t>Chuẩn</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hóa</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định</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dạng</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trong</a:t>
            </a:r>
            <a:r>
              <a:rPr lang="en-US" sz="2000" b="1" dirty="0">
                <a:solidFill>
                  <a:srgbClr val="113A71"/>
                </a:solidFill>
                <a:latin typeface="Times New Roman" panose="02020603050405020304" pitchFamily="18" charset="0"/>
                <a:cs typeface="Times New Roman" panose="02020603050405020304" pitchFamily="18" charset="0"/>
              </a:rPr>
              <a:t> Data View</a:t>
            </a:r>
          </a:p>
        </p:txBody>
      </p:sp>
    </p:spTree>
    <p:extLst>
      <p:ext uri="{BB962C8B-B14F-4D97-AF65-F5344CB8AC3E}">
        <p14:creationId xmlns:p14="http://schemas.microsoft.com/office/powerpoint/2010/main" val="239314540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BD5DC-E6B2-2865-7F57-A54FE1B25B81}"/>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4A5F63E2-8CCB-B419-8CF5-7E84A7C0268B}"/>
              </a:ext>
            </a:extLst>
          </p:cNvPr>
          <p:cNvSpPr txBox="1"/>
          <p:nvPr/>
        </p:nvSpPr>
        <p:spPr>
          <a:xfrm>
            <a:off x="357248" y="773599"/>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2" name="Google Shape;642;p53">
            <a:extLst>
              <a:ext uri="{FF2B5EF4-FFF2-40B4-BE49-F238E27FC236}">
                <a16:creationId xmlns:a16="http://schemas.microsoft.com/office/drawing/2014/main" id="{28C9D9B5-CEFD-32A1-5B50-513DDFC5F030}"/>
              </a:ext>
            </a:extLst>
          </p:cNvPr>
          <p:cNvSpPr txBox="1"/>
          <p:nvPr/>
        </p:nvSpPr>
        <p:spPr>
          <a:xfrm>
            <a:off x="357248" y="2546712"/>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pic>
        <p:nvPicPr>
          <p:cNvPr id="4" name="Picture 3">
            <a:extLst>
              <a:ext uri="{FF2B5EF4-FFF2-40B4-BE49-F238E27FC236}">
                <a16:creationId xmlns:a16="http://schemas.microsoft.com/office/drawing/2014/main" id="{83D995F2-B2DD-70A9-7897-3B7733BD0FB0}"/>
              </a:ext>
            </a:extLst>
          </p:cNvPr>
          <p:cNvPicPr>
            <a:picLocks noChangeAspect="1"/>
          </p:cNvPicPr>
          <p:nvPr/>
        </p:nvPicPr>
        <p:blipFill>
          <a:blip r:embed="rId2"/>
          <a:stretch>
            <a:fillRect/>
          </a:stretch>
        </p:blipFill>
        <p:spPr>
          <a:xfrm>
            <a:off x="2369938" y="968723"/>
            <a:ext cx="7452123" cy="1577989"/>
          </a:xfrm>
          <a:prstGeom prst="rect">
            <a:avLst/>
          </a:prstGeom>
        </p:spPr>
      </p:pic>
      <p:sp>
        <p:nvSpPr>
          <p:cNvPr id="9" name="Google Shape;642;p53">
            <a:extLst>
              <a:ext uri="{FF2B5EF4-FFF2-40B4-BE49-F238E27FC236}">
                <a16:creationId xmlns:a16="http://schemas.microsoft.com/office/drawing/2014/main" id="{69F485C0-73DA-62E5-5121-3E624BD9AF49}"/>
              </a:ext>
            </a:extLst>
          </p:cNvPr>
          <p:cNvSpPr txBox="1"/>
          <p:nvPr/>
        </p:nvSpPr>
        <p:spPr>
          <a:xfrm>
            <a:off x="489284" y="2872155"/>
            <a:ext cx="10839335" cy="702317"/>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phần</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Table view</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chọn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bảng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theo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yêu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cầu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đề</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bài</a:t>
            </a:r>
            <a:r>
              <a:rPr lang="en-US" sz="1600" dirty="0">
                <a:latin typeface="Times New Roman" panose="02020603050405020304" pitchFamily="18" charset="0"/>
                <a:cs typeface="Times New Roman" panose="02020603050405020304" pitchFamily="18" charset="0"/>
                <a:sym typeface="Montserrat"/>
              </a:rPr>
              <a:t>, ở </a:t>
            </a:r>
            <a:r>
              <a:rPr lang="en-US" sz="1600" dirty="0" err="1">
                <a:latin typeface="Times New Roman" panose="02020603050405020304" pitchFamily="18" charset="0"/>
                <a:cs typeface="Times New Roman" panose="02020603050405020304" pitchFamily="18" charset="0"/>
                <a:sym typeface="Montserrat"/>
              </a:rPr>
              <a:t>mục</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Column tools </a:t>
            </a:r>
            <a:r>
              <a:rPr lang="en-US" sz="1600" dirty="0" err="1">
                <a:latin typeface="Times New Roman" panose="02020603050405020304" pitchFamily="18" charset="0"/>
                <a:cs typeface="Times New Roman" panose="02020603050405020304" pitchFamily="18" charset="0"/>
                <a:sym typeface="Montserrat"/>
              </a:rPr>
              <a:t>đổi</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Data Category </a:t>
            </a:r>
            <a:r>
              <a:rPr lang="en-US" sz="1600" dirty="0" err="1">
                <a:latin typeface="Times New Roman" panose="02020603050405020304" pitchFamily="18" charset="0"/>
                <a:cs typeface="Times New Roman" panose="02020603050405020304" pitchFamily="18" charset="0"/>
                <a:sym typeface="Montserrat"/>
              </a:rPr>
              <a:t>theo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yêu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cầu</a:t>
            </a:r>
            <a:endParaRPr lang="en-US" sz="1600" dirty="0">
              <a:latin typeface="Times New Roman" panose="02020603050405020304" pitchFamily="18" charset="0"/>
              <a:cs typeface="Times New Roman" panose="02020603050405020304" pitchFamily="18" charset="0"/>
              <a:sym typeface="Montserrat"/>
            </a:endParaRPr>
          </a:p>
          <a:p>
            <a:pPr lvl="0" algn="just">
              <a:lnSpc>
                <a:spcPct val="120000"/>
              </a:lnSpc>
              <a:buClr>
                <a:schemeClr val="dk1"/>
              </a:buClr>
              <a:buSzPts val="1400"/>
            </a:pPr>
            <a:r>
              <a:rPr lang="en-US" sz="1600" u="sng" dirty="0" err="1">
                <a:latin typeface="Times New Roman" panose="02020603050405020304" pitchFamily="18" charset="0"/>
                <a:cs typeface="Times New Roman" panose="02020603050405020304" pitchFamily="18" charset="0"/>
                <a:sym typeface="Montserrat"/>
              </a:rPr>
              <a:t>Ví</a:t>
            </a:r>
            <a:r>
              <a:rPr lang="en-US" sz="1600" u="sng" dirty="0">
                <a:latin typeface="Times New Roman" panose="02020603050405020304" pitchFamily="18" charset="0"/>
                <a:cs typeface="Times New Roman" panose="02020603050405020304" pitchFamily="18" charset="0"/>
                <a:sym typeface="Montserrat"/>
              </a:rPr>
              <a:t> </a:t>
            </a:r>
            <a:r>
              <a:rPr lang="en-US" sz="1600" u="sng" dirty="0" err="1">
                <a:latin typeface="Times New Roman" panose="02020603050405020304" pitchFamily="18" charset="0"/>
                <a:cs typeface="Times New Roman" panose="02020603050405020304" pitchFamily="18" charset="0"/>
                <a:sym typeface="Montserrat"/>
              </a:rPr>
              <a:t>dụ</a:t>
            </a:r>
            <a:r>
              <a:rPr lang="en-US" sz="1600" dirty="0">
                <a:latin typeface="Times New Roman" panose="02020603050405020304" pitchFamily="18" charset="0"/>
                <a:cs typeface="Times New Roman" panose="02020603050405020304" pitchFamily="18" charset="0"/>
                <a:sym typeface="Montserrat"/>
              </a:rPr>
              <a:t>: </a:t>
            </a:r>
            <a:r>
              <a:rPr lang="en-US" sz="1600" b="1" i="1" dirty="0" err="1">
                <a:latin typeface="Times New Roman" panose="02020603050405020304" pitchFamily="18" charset="0"/>
                <a:cs typeface="Times New Roman" panose="02020603050405020304" pitchFamily="18" charset="0"/>
                <a:sym typeface="Montserrat"/>
              </a:rPr>
              <a:t>customer_city</a:t>
            </a:r>
            <a:r>
              <a:rPr lang="en-US" sz="1600" b="1" i="1"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trong</a:t>
            </a:r>
            <a:r>
              <a:rPr lang="en-US" sz="1600" dirty="0">
                <a:latin typeface="Times New Roman" panose="02020603050405020304" pitchFamily="18" charset="0"/>
                <a:cs typeface="Times New Roman" panose="02020603050405020304" pitchFamily="18" charset="0"/>
                <a:sym typeface="Montserrat"/>
              </a:rPr>
              <a:t> </a:t>
            </a:r>
            <a:r>
              <a:rPr lang="en-US" sz="1600" b="1" dirty="0" err="1">
                <a:latin typeface="Times New Roman" panose="02020603050405020304" pitchFamily="18" charset="0"/>
                <a:cs typeface="Times New Roman" panose="02020603050405020304" pitchFamily="18" charset="0"/>
                <a:sym typeface="Montserrat"/>
              </a:rPr>
              <a:t>bảng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Customer</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đổi</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Data Category </a:t>
            </a:r>
            <a:r>
              <a:rPr lang="en-US" sz="1600" dirty="0" err="1">
                <a:latin typeface="Times New Roman" panose="02020603050405020304" pitchFamily="18" charset="0"/>
                <a:cs typeface="Times New Roman" panose="02020603050405020304" pitchFamily="18" charset="0"/>
                <a:sym typeface="Montserrat"/>
              </a:rPr>
              <a:t>thành</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City</a:t>
            </a:r>
            <a:r>
              <a:rPr lang="en-US" sz="1600" dirty="0">
                <a:latin typeface="Times New Roman" panose="02020603050405020304" pitchFamily="18" charset="0"/>
                <a:cs typeface="Times New Roman" panose="02020603050405020304" pitchFamily="18" charset="0"/>
                <a:sym typeface="Montserrat"/>
              </a:rPr>
              <a:t>.</a:t>
            </a:r>
          </a:p>
        </p:txBody>
      </p:sp>
      <p:grpSp>
        <p:nvGrpSpPr>
          <p:cNvPr id="22" name="Group 21">
            <a:extLst>
              <a:ext uri="{FF2B5EF4-FFF2-40B4-BE49-F238E27FC236}">
                <a16:creationId xmlns:a16="http://schemas.microsoft.com/office/drawing/2014/main" id="{8CF29E4F-2F3D-DD86-5544-F8596E7B98B6}"/>
              </a:ext>
            </a:extLst>
          </p:cNvPr>
          <p:cNvGrpSpPr/>
          <p:nvPr/>
        </p:nvGrpSpPr>
        <p:grpSpPr>
          <a:xfrm>
            <a:off x="1827569" y="3758712"/>
            <a:ext cx="8536859" cy="2290583"/>
            <a:chOff x="1827569" y="3415809"/>
            <a:chExt cx="8536859" cy="2290583"/>
          </a:xfrm>
        </p:grpSpPr>
        <p:pic>
          <p:nvPicPr>
            <p:cNvPr id="7" name="Picture 6">
              <a:extLst>
                <a:ext uri="{FF2B5EF4-FFF2-40B4-BE49-F238E27FC236}">
                  <a16:creationId xmlns:a16="http://schemas.microsoft.com/office/drawing/2014/main" id="{BDA2E045-16C7-EEED-F9F9-4994ABCA6660}"/>
                </a:ext>
              </a:extLst>
            </p:cNvPr>
            <p:cNvPicPr>
              <a:picLocks noChangeAspect="1"/>
            </p:cNvPicPr>
            <p:nvPr/>
          </p:nvPicPr>
          <p:blipFill>
            <a:blip r:embed="rId3"/>
            <a:stretch>
              <a:fillRect/>
            </a:stretch>
          </p:blipFill>
          <p:spPr>
            <a:xfrm>
              <a:off x="1827569" y="3415809"/>
              <a:ext cx="8536859" cy="2290583"/>
            </a:xfrm>
            <a:prstGeom prst="rect">
              <a:avLst/>
            </a:prstGeom>
          </p:spPr>
        </p:pic>
        <p:sp>
          <p:nvSpPr>
            <p:cNvPr id="12" name="Rectangle 11">
              <a:extLst>
                <a:ext uri="{FF2B5EF4-FFF2-40B4-BE49-F238E27FC236}">
                  <a16:creationId xmlns:a16="http://schemas.microsoft.com/office/drawing/2014/main" id="{9A99053A-A35B-6086-399E-428371322987}"/>
                </a:ext>
              </a:extLst>
            </p:cNvPr>
            <p:cNvSpPr/>
            <p:nvPr/>
          </p:nvSpPr>
          <p:spPr>
            <a:xfrm>
              <a:off x="6559725" y="4170911"/>
              <a:ext cx="1150330" cy="234834"/>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rgbClr val="119303"/>
                </a:solidFill>
              </a:endParaRPr>
            </a:p>
          </p:txBody>
        </p:sp>
        <p:sp>
          <p:nvSpPr>
            <p:cNvPr id="20" name="Rectangle 19">
              <a:extLst>
                <a:ext uri="{FF2B5EF4-FFF2-40B4-BE49-F238E27FC236}">
                  <a16:creationId xmlns:a16="http://schemas.microsoft.com/office/drawing/2014/main" id="{F1973362-3C90-E530-893A-DCF9AF8D41EF}"/>
                </a:ext>
              </a:extLst>
            </p:cNvPr>
            <p:cNvSpPr/>
            <p:nvPr/>
          </p:nvSpPr>
          <p:spPr>
            <a:xfrm>
              <a:off x="7803573" y="5393575"/>
              <a:ext cx="1191490" cy="224444"/>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rgbClr val="119303"/>
                </a:solidFill>
              </a:endParaRPr>
            </a:p>
          </p:txBody>
        </p:sp>
      </p:grpSp>
      <p:sp>
        <p:nvSpPr>
          <p:cNvPr id="3" name="Rectangle 1">
            <a:extLst>
              <a:ext uri="{FF2B5EF4-FFF2-40B4-BE49-F238E27FC236}">
                <a16:creationId xmlns:a16="http://schemas.microsoft.com/office/drawing/2014/main" id="{7B30BAC8-35B2-036C-5DD9-ECE5EA5EE4CD}"/>
              </a:ext>
            </a:extLst>
          </p:cNvPr>
          <p:cNvSpPr>
            <a:spLocks noChangeArrowheads="1"/>
          </p:cNvSpPr>
          <p:nvPr/>
        </p:nvSpPr>
        <p:spPr bwMode="auto">
          <a:xfrm>
            <a:off x="0" y="447"/>
            <a:ext cx="10515819" cy="5492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400" b="1" dirty="0">
                <a:solidFill>
                  <a:srgbClr val="113A71"/>
                </a:solidFill>
                <a:latin typeface="Times New Roman" panose="02020603050405020304" pitchFamily="18" charset="0"/>
                <a:cs typeface="Times New Roman" panose="02020603050405020304" pitchFamily="18" charset="0"/>
              </a:rPr>
              <a:t>2</a:t>
            </a:r>
            <a:r>
              <a:rPr lang="vi-VN"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Tạo</a:t>
            </a:r>
            <a:r>
              <a:rPr lang="en-US" sz="2400" b="1" dirty="0">
                <a:solidFill>
                  <a:srgbClr val="113A71"/>
                </a:solidFill>
                <a:latin typeface="Times New Roman" panose="02020603050405020304" pitchFamily="18" charset="0"/>
                <a:cs typeface="Times New Roman" panose="02020603050405020304" pitchFamily="18" charset="0"/>
              </a:rPr>
              <a:t> Data Model</a:t>
            </a:r>
          </a:p>
        </p:txBody>
      </p:sp>
      <p:sp>
        <p:nvSpPr>
          <p:cNvPr id="5" name="Rectangle 1">
            <a:extLst>
              <a:ext uri="{FF2B5EF4-FFF2-40B4-BE49-F238E27FC236}">
                <a16:creationId xmlns:a16="http://schemas.microsoft.com/office/drawing/2014/main" id="{60A0EBAE-E8E1-733B-D4AA-E396479960B6}"/>
              </a:ext>
            </a:extLst>
          </p:cNvPr>
          <p:cNvSpPr>
            <a:spLocks noChangeArrowheads="1"/>
          </p:cNvSpPr>
          <p:nvPr/>
        </p:nvSpPr>
        <p:spPr bwMode="auto">
          <a:xfrm>
            <a:off x="357246" y="350292"/>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000" b="1" dirty="0">
                <a:solidFill>
                  <a:srgbClr val="113A71"/>
                </a:solidFill>
                <a:latin typeface="Times New Roman" panose="02020603050405020304" pitchFamily="18" charset="0"/>
                <a:cs typeface="Times New Roman" panose="02020603050405020304" pitchFamily="18" charset="0"/>
              </a:rPr>
              <a:t>2.2. </a:t>
            </a:r>
            <a:r>
              <a:rPr lang="en-US" sz="2000" b="1" dirty="0" err="1">
                <a:solidFill>
                  <a:srgbClr val="113A71"/>
                </a:solidFill>
                <a:latin typeface="Times New Roman" panose="02020603050405020304" pitchFamily="18" charset="0"/>
                <a:cs typeface="Times New Roman" panose="02020603050405020304" pitchFamily="18" charset="0"/>
              </a:rPr>
              <a:t>Chuẩn</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hóa</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định</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dạng</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dữ</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liệu</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trong</a:t>
            </a:r>
            <a:r>
              <a:rPr lang="en-US" sz="2000" b="1" dirty="0">
                <a:solidFill>
                  <a:srgbClr val="113A71"/>
                </a:solidFill>
                <a:latin typeface="Times New Roman" panose="02020603050405020304" pitchFamily="18" charset="0"/>
                <a:cs typeface="Times New Roman" panose="02020603050405020304" pitchFamily="18" charset="0"/>
              </a:rPr>
              <a:t> Data View (</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924275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18297-21EE-B838-2A84-424D5BBAEA5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2B0C178-5665-67C0-4BD8-4E126FDFF70D}"/>
              </a:ext>
            </a:extLst>
          </p:cNvPr>
          <p:cNvSpPr>
            <a:spLocks noChangeArrowheads="1"/>
          </p:cNvSpPr>
          <p:nvPr/>
        </p:nvSpPr>
        <p:spPr bwMode="auto">
          <a:xfrm>
            <a:off x="0" y="447"/>
            <a:ext cx="10515819" cy="5492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400" b="1" dirty="0">
                <a:solidFill>
                  <a:srgbClr val="113A71"/>
                </a:solidFill>
                <a:latin typeface="Times New Roman" panose="02020603050405020304" pitchFamily="18" charset="0"/>
                <a:cs typeface="Times New Roman" panose="02020603050405020304" pitchFamily="18" charset="0"/>
              </a:rPr>
              <a:t>2</a:t>
            </a:r>
            <a:r>
              <a:rPr lang="vi-VN"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Tạo</a:t>
            </a:r>
            <a:r>
              <a:rPr lang="en-US" sz="2400" b="1" dirty="0">
                <a:solidFill>
                  <a:srgbClr val="113A71"/>
                </a:solidFill>
                <a:latin typeface="Times New Roman" panose="02020603050405020304" pitchFamily="18" charset="0"/>
                <a:cs typeface="Times New Roman" panose="02020603050405020304" pitchFamily="18" charset="0"/>
              </a:rPr>
              <a:t> Data Model</a:t>
            </a:r>
          </a:p>
        </p:txBody>
      </p:sp>
      <p:sp>
        <p:nvSpPr>
          <p:cNvPr id="3" name="Rectangle 1">
            <a:extLst>
              <a:ext uri="{FF2B5EF4-FFF2-40B4-BE49-F238E27FC236}">
                <a16:creationId xmlns:a16="http://schemas.microsoft.com/office/drawing/2014/main" id="{64D51F3F-F578-E4E0-A537-B25BB0BE252F}"/>
              </a:ext>
            </a:extLst>
          </p:cNvPr>
          <p:cNvSpPr>
            <a:spLocks noChangeArrowheads="1"/>
          </p:cNvSpPr>
          <p:nvPr/>
        </p:nvSpPr>
        <p:spPr bwMode="auto">
          <a:xfrm>
            <a:off x="357246" y="430696"/>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000" b="1" dirty="0">
                <a:solidFill>
                  <a:srgbClr val="113A71"/>
                </a:solidFill>
                <a:latin typeface="Times New Roman" panose="02020603050405020304" pitchFamily="18" charset="0"/>
                <a:cs typeface="Times New Roman" panose="02020603050405020304" pitchFamily="18" charset="0"/>
              </a:rPr>
              <a:t>2.3. </a:t>
            </a:r>
            <a:r>
              <a:rPr lang="en-US" sz="2000" b="1" dirty="0" err="1">
                <a:solidFill>
                  <a:srgbClr val="113A71"/>
                </a:solidFill>
                <a:latin typeface="Times New Roman" panose="02020603050405020304" pitchFamily="18" charset="0"/>
                <a:cs typeface="Times New Roman" panose="02020603050405020304" pitchFamily="18" charset="0"/>
              </a:rPr>
              <a:t>Kết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quả</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tham</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khảo</a:t>
            </a:r>
            <a:endParaRPr lang="en-US" sz="2000" b="1" dirty="0">
              <a:solidFill>
                <a:srgbClr val="113A7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3CEC82A-6BAF-1417-572E-92993C82A503}"/>
              </a:ext>
            </a:extLst>
          </p:cNvPr>
          <p:cNvPicPr>
            <a:picLocks noChangeAspect="1"/>
          </p:cNvPicPr>
          <p:nvPr/>
        </p:nvPicPr>
        <p:blipFill>
          <a:blip r:embed="rId2"/>
          <a:stretch>
            <a:fillRect/>
          </a:stretch>
        </p:blipFill>
        <p:spPr>
          <a:xfrm>
            <a:off x="805047" y="876752"/>
            <a:ext cx="10581906" cy="5731866"/>
          </a:xfrm>
          <a:prstGeom prst="rect">
            <a:avLst/>
          </a:prstGeom>
        </p:spPr>
      </p:pic>
    </p:spTree>
    <p:extLst>
      <p:ext uri="{BB962C8B-B14F-4D97-AF65-F5344CB8AC3E}">
        <p14:creationId xmlns:p14="http://schemas.microsoft.com/office/powerpoint/2010/main" val="17874566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1F773-4A69-7578-844B-E6492673B95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DFB27B3-4ECC-FD47-6C06-437796DDB7E3}"/>
              </a:ext>
            </a:extLst>
          </p:cNvPr>
          <p:cNvSpPr>
            <a:spLocks noChangeArrowheads="1"/>
          </p:cNvSpPr>
          <p:nvPr/>
        </p:nvSpPr>
        <p:spPr bwMode="auto">
          <a:xfrm>
            <a:off x="0" y="447"/>
            <a:ext cx="10515819" cy="5492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400" b="1" dirty="0">
                <a:solidFill>
                  <a:srgbClr val="113A71"/>
                </a:solidFill>
                <a:latin typeface="Times New Roman" panose="02020603050405020304" pitchFamily="18" charset="0"/>
                <a:cs typeface="Times New Roman" panose="02020603050405020304" pitchFamily="18" charset="0"/>
              </a:rPr>
              <a:t>2</a:t>
            </a:r>
            <a:r>
              <a:rPr lang="vi-VN"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Tạo</a:t>
            </a:r>
            <a:r>
              <a:rPr lang="en-US" sz="2400" b="1" dirty="0">
                <a:solidFill>
                  <a:srgbClr val="113A71"/>
                </a:solidFill>
                <a:latin typeface="Times New Roman" panose="02020603050405020304" pitchFamily="18" charset="0"/>
                <a:cs typeface="Times New Roman" panose="02020603050405020304" pitchFamily="18" charset="0"/>
              </a:rPr>
              <a:t> Data Model</a:t>
            </a:r>
          </a:p>
        </p:txBody>
      </p:sp>
      <p:sp>
        <p:nvSpPr>
          <p:cNvPr id="6" name="Rectangle 1">
            <a:extLst>
              <a:ext uri="{FF2B5EF4-FFF2-40B4-BE49-F238E27FC236}">
                <a16:creationId xmlns:a16="http://schemas.microsoft.com/office/drawing/2014/main" id="{44FBED55-FE96-8C04-BC24-14A7B1B8B62E}"/>
              </a:ext>
            </a:extLst>
          </p:cNvPr>
          <p:cNvSpPr>
            <a:spLocks noChangeArrowheads="1"/>
          </p:cNvSpPr>
          <p:nvPr/>
        </p:nvSpPr>
        <p:spPr bwMode="auto">
          <a:xfrm>
            <a:off x="357246" y="430696"/>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000" b="1" dirty="0">
                <a:solidFill>
                  <a:srgbClr val="113A71"/>
                </a:solidFill>
                <a:latin typeface="Times New Roman" panose="02020603050405020304" pitchFamily="18" charset="0"/>
                <a:cs typeface="Times New Roman" panose="02020603050405020304" pitchFamily="18" charset="0"/>
              </a:rPr>
              <a:t>2.3. </a:t>
            </a:r>
            <a:r>
              <a:rPr lang="en-US" sz="2000" b="1" dirty="0" err="1">
                <a:solidFill>
                  <a:srgbClr val="113A71"/>
                </a:solidFill>
                <a:latin typeface="Times New Roman" panose="02020603050405020304" pitchFamily="18" charset="0"/>
                <a:cs typeface="Times New Roman" panose="02020603050405020304" pitchFamily="18" charset="0"/>
              </a:rPr>
              <a:t>Kết</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quả</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tham</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khảo</a:t>
            </a:r>
            <a:r>
              <a:rPr lang="en-US" sz="2000" b="1" dirty="0">
                <a:solidFill>
                  <a:srgbClr val="113A71"/>
                </a:solidFill>
                <a:latin typeface="Times New Roman" panose="02020603050405020304" pitchFamily="18" charset="0"/>
                <a:cs typeface="Times New Roman" panose="02020603050405020304" pitchFamily="18" charset="0"/>
              </a:rPr>
              <a:t> (</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0D77FC08-F255-D10E-E808-C0246748A82A}"/>
              </a:ext>
            </a:extLst>
          </p:cNvPr>
          <p:cNvPicPr>
            <a:picLocks noChangeAspect="1"/>
          </p:cNvPicPr>
          <p:nvPr/>
        </p:nvPicPr>
        <p:blipFill>
          <a:blip r:embed="rId2"/>
          <a:stretch>
            <a:fillRect/>
          </a:stretch>
        </p:blipFill>
        <p:spPr>
          <a:xfrm>
            <a:off x="2811324" y="876752"/>
            <a:ext cx="6569351" cy="5772496"/>
          </a:xfrm>
          <a:prstGeom prst="rect">
            <a:avLst/>
          </a:prstGeom>
        </p:spPr>
      </p:pic>
    </p:spTree>
    <p:extLst>
      <p:ext uri="{BB962C8B-B14F-4D97-AF65-F5344CB8AC3E}">
        <p14:creationId xmlns:p14="http://schemas.microsoft.com/office/powerpoint/2010/main" val="21380242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D7EAB-033C-F39E-A6B2-0C6DC615B4AD}"/>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E4C24469-DED2-93F0-F748-B74BCB70ACB1}"/>
              </a:ext>
            </a:extLst>
          </p:cNvPr>
          <p:cNvSpPr txBox="1"/>
          <p:nvPr/>
        </p:nvSpPr>
        <p:spPr>
          <a:xfrm>
            <a:off x="346857" y="809425"/>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pic>
        <p:nvPicPr>
          <p:cNvPr id="3" name="Picture 2">
            <a:extLst>
              <a:ext uri="{FF2B5EF4-FFF2-40B4-BE49-F238E27FC236}">
                <a16:creationId xmlns:a16="http://schemas.microsoft.com/office/drawing/2014/main" id="{BCFC6AAE-1178-27C6-F7F6-57F826EC7499}"/>
              </a:ext>
            </a:extLst>
          </p:cNvPr>
          <p:cNvPicPr>
            <a:picLocks noChangeAspect="1"/>
          </p:cNvPicPr>
          <p:nvPr/>
        </p:nvPicPr>
        <p:blipFill>
          <a:blip r:embed="rId2"/>
          <a:stretch>
            <a:fillRect/>
          </a:stretch>
        </p:blipFill>
        <p:spPr>
          <a:xfrm>
            <a:off x="3201360" y="1004549"/>
            <a:ext cx="5789280" cy="1637202"/>
          </a:xfrm>
          <a:prstGeom prst="rect">
            <a:avLst/>
          </a:prstGeom>
        </p:spPr>
      </p:pic>
      <p:sp>
        <p:nvSpPr>
          <p:cNvPr id="4" name="Google Shape;642;p53">
            <a:extLst>
              <a:ext uri="{FF2B5EF4-FFF2-40B4-BE49-F238E27FC236}">
                <a16:creationId xmlns:a16="http://schemas.microsoft.com/office/drawing/2014/main" id="{9C3FCB4D-80C6-3EC6-AC60-51EBC2385029}"/>
              </a:ext>
            </a:extLst>
          </p:cNvPr>
          <p:cNvSpPr txBox="1"/>
          <p:nvPr/>
        </p:nvSpPr>
        <p:spPr>
          <a:xfrm>
            <a:off x="346857" y="2641751"/>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sp>
        <p:nvSpPr>
          <p:cNvPr id="8" name="Google Shape;642;p53">
            <a:extLst>
              <a:ext uri="{FF2B5EF4-FFF2-40B4-BE49-F238E27FC236}">
                <a16:creationId xmlns:a16="http://schemas.microsoft.com/office/drawing/2014/main" id="{5472888A-D1CF-AA50-1414-4B86EC3A80A0}"/>
              </a:ext>
            </a:extLst>
          </p:cNvPr>
          <p:cNvSpPr txBox="1"/>
          <p:nvPr/>
        </p:nvSpPr>
        <p:spPr>
          <a:xfrm>
            <a:off x="676331" y="3032000"/>
            <a:ext cx="10839335" cy="362001"/>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Chọn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bảng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Calendar</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chọn</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New column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Weekend</a:t>
            </a:r>
            <a:r>
              <a:rPr lang="en-US" sz="1600" dirty="0">
                <a:latin typeface="Times New Roman" panose="02020603050405020304" pitchFamily="18" charset="0"/>
                <a:cs typeface="Times New Roman" panose="02020603050405020304" pitchFamily="18" charset="0"/>
                <a:sym typeface="Montserrat"/>
              </a:rPr>
              <a:t>:</a:t>
            </a:r>
          </a:p>
        </p:txBody>
      </p:sp>
      <p:sp>
        <p:nvSpPr>
          <p:cNvPr id="9" name="Google Shape;642;p53">
            <a:extLst>
              <a:ext uri="{FF2B5EF4-FFF2-40B4-BE49-F238E27FC236}">
                <a16:creationId xmlns:a16="http://schemas.microsoft.com/office/drawing/2014/main" id="{1A35553A-77A3-CFD5-AAFC-3CA72498C90E}"/>
              </a:ext>
            </a:extLst>
          </p:cNvPr>
          <p:cNvSpPr txBox="1"/>
          <p:nvPr/>
        </p:nvSpPr>
        <p:spPr>
          <a:xfrm>
            <a:off x="676327" y="4443422"/>
            <a:ext cx="10839335" cy="362001"/>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Chọn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bảng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Calendar</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chọn</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New column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End of Month</a:t>
            </a:r>
            <a:r>
              <a:rPr lang="en-US" sz="1600" dirty="0">
                <a:latin typeface="Times New Roman" panose="02020603050405020304" pitchFamily="18" charset="0"/>
                <a:cs typeface="Times New Roman" panose="02020603050405020304" pitchFamily="18" charset="0"/>
                <a:sym typeface="Montserrat"/>
              </a:rPr>
              <a:t>:</a:t>
            </a:r>
          </a:p>
        </p:txBody>
      </p:sp>
      <p:pic>
        <p:nvPicPr>
          <p:cNvPr id="12" name="Picture 11">
            <a:extLst>
              <a:ext uri="{FF2B5EF4-FFF2-40B4-BE49-F238E27FC236}">
                <a16:creationId xmlns:a16="http://schemas.microsoft.com/office/drawing/2014/main" id="{CCF274FD-2B04-A9B9-4E14-440327ADF415}"/>
              </a:ext>
            </a:extLst>
          </p:cNvPr>
          <p:cNvPicPr>
            <a:picLocks noChangeAspect="1"/>
          </p:cNvPicPr>
          <p:nvPr/>
        </p:nvPicPr>
        <p:blipFill>
          <a:blip r:embed="rId3"/>
          <a:stretch>
            <a:fillRect/>
          </a:stretch>
        </p:blipFill>
        <p:spPr>
          <a:xfrm>
            <a:off x="4266938" y="4919196"/>
            <a:ext cx="3658111" cy="352474"/>
          </a:xfrm>
          <a:prstGeom prst="rect">
            <a:avLst/>
          </a:prstGeom>
        </p:spPr>
      </p:pic>
      <p:sp>
        <p:nvSpPr>
          <p:cNvPr id="13" name="Google Shape;642;p53">
            <a:extLst>
              <a:ext uri="{FF2B5EF4-FFF2-40B4-BE49-F238E27FC236}">
                <a16:creationId xmlns:a16="http://schemas.microsoft.com/office/drawing/2014/main" id="{8570495A-4EAB-070C-7957-B5873E4CDCEA}"/>
              </a:ext>
            </a:extLst>
          </p:cNvPr>
          <p:cNvSpPr txBox="1"/>
          <p:nvPr/>
        </p:nvSpPr>
        <p:spPr>
          <a:xfrm>
            <a:off x="676328" y="3884520"/>
            <a:ext cx="10839335" cy="551772"/>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b="1" dirty="0">
                <a:solidFill>
                  <a:srgbClr val="0070C0"/>
                </a:solidFill>
                <a:latin typeface="Times New Roman" panose="02020603050405020304" pitchFamily="18" charset="0"/>
                <a:cs typeface="Times New Roman" panose="02020603050405020304" pitchFamily="18" charset="0"/>
                <a:sym typeface="Montserrat"/>
              </a:rPr>
              <a:t>Note:</a:t>
            </a:r>
            <a:r>
              <a:rPr lang="en-US" sz="1600" dirty="0">
                <a:solidFill>
                  <a:srgbClr val="0070C0"/>
                </a:solidFill>
                <a:latin typeface="Times New Roman" panose="02020603050405020304" pitchFamily="18" charset="0"/>
                <a:cs typeface="Times New Roman" panose="02020603050405020304" pitchFamily="18" charset="0"/>
                <a:sym typeface="Montserrat"/>
              </a:rPr>
              <a:t> </a:t>
            </a:r>
            <a:r>
              <a:rPr lang="en-US" sz="1600" dirty="0" err="1">
                <a:solidFill>
                  <a:srgbClr val="0070C0"/>
                </a:solidFill>
                <a:latin typeface="Times New Roman" panose="02020603050405020304" pitchFamily="18" charset="0"/>
                <a:cs typeface="Times New Roman" panose="02020603050405020304" pitchFamily="18" charset="0"/>
                <a:sym typeface="Montserrat"/>
              </a:rPr>
              <a:t>Hàm</a:t>
            </a:r>
            <a:r>
              <a:rPr lang="en-US" sz="1600" dirty="0">
                <a:solidFill>
                  <a:srgbClr val="0070C0"/>
                </a:solidFill>
                <a:latin typeface="Times New Roman" panose="02020603050405020304" pitchFamily="18" charset="0"/>
                <a:cs typeface="Times New Roman" panose="02020603050405020304" pitchFamily="18" charset="0"/>
                <a:sym typeface="Montserrat"/>
              </a:rPr>
              <a:t> </a:t>
            </a:r>
            <a:r>
              <a:rPr lang="en-US" sz="1600" b="1" i="1" dirty="0">
                <a:solidFill>
                  <a:srgbClr val="0070C0"/>
                </a:solidFill>
                <a:latin typeface="Times New Roman" panose="02020603050405020304" pitchFamily="18" charset="0"/>
                <a:cs typeface="Times New Roman" panose="02020603050405020304" pitchFamily="18" charset="0"/>
                <a:sym typeface="Montserrat"/>
              </a:rPr>
              <a:t>WEEKDAY() </a:t>
            </a:r>
            <a:r>
              <a:rPr lang="en-US" sz="1600" dirty="0" err="1">
                <a:solidFill>
                  <a:srgbClr val="0070C0"/>
                </a:solidFill>
                <a:latin typeface="Times New Roman" panose="02020603050405020304" pitchFamily="18" charset="0"/>
                <a:cs typeface="Times New Roman" panose="02020603050405020304" pitchFamily="18" charset="0"/>
                <a:sym typeface="Montserrat"/>
              </a:rPr>
              <a:t>sẽ</a:t>
            </a:r>
            <a:r>
              <a:rPr lang="en-US" sz="1600" dirty="0">
                <a:solidFill>
                  <a:srgbClr val="0070C0"/>
                </a:solidFill>
                <a:latin typeface="Times New Roman" panose="02020603050405020304" pitchFamily="18" charset="0"/>
                <a:cs typeface="Times New Roman" panose="02020603050405020304" pitchFamily="18" charset="0"/>
                <a:sym typeface="Montserrat"/>
              </a:rPr>
              <a:t> </a:t>
            </a:r>
            <a:r>
              <a:rPr lang="vi-VN" sz="1600" dirty="0">
                <a:solidFill>
                  <a:srgbClr val="0070C0"/>
                </a:solidFill>
                <a:latin typeface="Times New Roman" panose="02020603050405020304" pitchFamily="18" charset="0"/>
                <a:cs typeface="Times New Roman" panose="02020603050405020304" pitchFamily="18" charset="0"/>
                <a:sym typeface="Montserrat"/>
              </a:rPr>
              <a:t>trả về một số từ 1 đến 7 tương ứng với các ngày trong tuần. Theo mặc định, hàm </a:t>
            </a:r>
            <a:r>
              <a:rPr lang="vi-VN" sz="1600" b="1" i="1" dirty="0">
                <a:solidFill>
                  <a:srgbClr val="0070C0"/>
                </a:solidFill>
                <a:latin typeface="Times New Roman" panose="02020603050405020304" pitchFamily="18" charset="0"/>
                <a:cs typeface="Times New Roman" panose="02020603050405020304" pitchFamily="18" charset="0"/>
                <a:sym typeface="Montserrat"/>
              </a:rPr>
              <a:t>WEEKDAY() </a:t>
            </a:r>
            <a:r>
              <a:rPr lang="vi-VN" sz="1600" dirty="0">
                <a:solidFill>
                  <a:srgbClr val="0070C0"/>
                </a:solidFill>
                <a:latin typeface="Times New Roman" panose="02020603050405020304" pitchFamily="18" charset="0"/>
                <a:cs typeface="Times New Roman" panose="02020603050405020304" pitchFamily="18" charset="0"/>
                <a:sym typeface="Montserrat"/>
              </a:rPr>
              <a:t>quy ước 1 là </a:t>
            </a:r>
            <a:r>
              <a:rPr lang="en-US" sz="1600" dirty="0">
                <a:solidFill>
                  <a:srgbClr val="0070C0"/>
                </a:solidFill>
                <a:latin typeface="Times New Roman" panose="02020603050405020304" pitchFamily="18" charset="0"/>
                <a:cs typeface="Times New Roman" panose="02020603050405020304" pitchFamily="18" charset="0"/>
                <a:sym typeface="Montserrat"/>
              </a:rPr>
              <a:t>Sundays </a:t>
            </a:r>
            <a:r>
              <a:rPr lang="en-US" sz="1600" i="1" dirty="0">
                <a:solidFill>
                  <a:srgbClr val="0070C0"/>
                </a:solidFill>
                <a:latin typeface="Times New Roman" panose="02020603050405020304" pitchFamily="18" charset="0"/>
                <a:cs typeface="Times New Roman" panose="02020603050405020304" pitchFamily="18" charset="0"/>
                <a:sym typeface="Montserrat"/>
              </a:rPr>
              <a:t>(</a:t>
            </a:r>
            <a:r>
              <a:rPr lang="vi-VN" sz="1600" i="1" dirty="0">
                <a:solidFill>
                  <a:srgbClr val="0070C0"/>
                </a:solidFill>
                <a:latin typeface="Times New Roman" panose="02020603050405020304" pitchFamily="18" charset="0"/>
                <a:cs typeface="Times New Roman" panose="02020603050405020304" pitchFamily="18" charset="0"/>
                <a:sym typeface="Montserrat"/>
              </a:rPr>
              <a:t>Chủ nhật</a:t>
            </a:r>
            <a:r>
              <a:rPr lang="en-US" sz="1600" i="1" dirty="0">
                <a:solidFill>
                  <a:srgbClr val="0070C0"/>
                </a:solidFill>
                <a:latin typeface="Times New Roman" panose="02020603050405020304" pitchFamily="18" charset="0"/>
                <a:cs typeface="Times New Roman" panose="02020603050405020304" pitchFamily="18" charset="0"/>
                <a:sym typeface="Montserrat"/>
              </a:rPr>
              <a:t>)</a:t>
            </a:r>
            <a:r>
              <a:rPr lang="vi-VN" sz="1600" dirty="0">
                <a:solidFill>
                  <a:srgbClr val="0070C0"/>
                </a:solidFill>
                <a:latin typeface="Times New Roman" panose="02020603050405020304" pitchFamily="18" charset="0"/>
                <a:cs typeface="Times New Roman" panose="02020603050405020304" pitchFamily="18" charset="0"/>
                <a:sym typeface="Montserrat"/>
              </a:rPr>
              <a:t> và 7 là </a:t>
            </a:r>
            <a:r>
              <a:rPr lang="en-US" sz="1600" dirty="0">
                <a:solidFill>
                  <a:srgbClr val="0070C0"/>
                </a:solidFill>
                <a:latin typeface="Times New Roman" panose="02020603050405020304" pitchFamily="18" charset="0"/>
                <a:cs typeface="Times New Roman" panose="02020603050405020304" pitchFamily="18" charset="0"/>
                <a:sym typeface="Montserrat"/>
              </a:rPr>
              <a:t>Saturdays </a:t>
            </a:r>
            <a:r>
              <a:rPr lang="en-US" sz="1600" i="1" dirty="0">
                <a:solidFill>
                  <a:srgbClr val="0070C0"/>
                </a:solidFill>
                <a:latin typeface="Times New Roman" panose="02020603050405020304" pitchFamily="18" charset="0"/>
                <a:cs typeface="Times New Roman" panose="02020603050405020304" pitchFamily="18" charset="0"/>
                <a:sym typeface="Montserrat"/>
              </a:rPr>
              <a:t>(</a:t>
            </a:r>
            <a:r>
              <a:rPr lang="en-US" sz="1600" i="1" dirty="0" err="1">
                <a:solidFill>
                  <a:srgbClr val="0070C0"/>
                </a:solidFill>
                <a:latin typeface="Times New Roman" panose="02020603050405020304" pitchFamily="18" charset="0"/>
                <a:cs typeface="Times New Roman" panose="02020603050405020304" pitchFamily="18" charset="0"/>
                <a:sym typeface="Montserrat"/>
              </a:rPr>
              <a:t>Thứ</a:t>
            </a:r>
            <a:r>
              <a:rPr lang="en-US" sz="1600" i="1" dirty="0">
                <a:solidFill>
                  <a:srgbClr val="0070C0"/>
                </a:solidFill>
                <a:latin typeface="Times New Roman" panose="02020603050405020304" pitchFamily="18" charset="0"/>
                <a:cs typeface="Times New Roman" panose="02020603050405020304" pitchFamily="18" charset="0"/>
                <a:sym typeface="Montserrat"/>
              </a:rPr>
              <a:t> </a:t>
            </a:r>
            <a:r>
              <a:rPr lang="en-US" sz="1600" i="1" dirty="0" err="1">
                <a:solidFill>
                  <a:srgbClr val="0070C0"/>
                </a:solidFill>
                <a:latin typeface="Times New Roman" panose="02020603050405020304" pitchFamily="18" charset="0"/>
                <a:cs typeface="Times New Roman" panose="02020603050405020304" pitchFamily="18" charset="0"/>
                <a:sym typeface="Montserrat"/>
              </a:rPr>
              <a:t>bảy</a:t>
            </a:r>
            <a:r>
              <a:rPr lang="en-US" sz="1600" i="1" dirty="0">
                <a:solidFill>
                  <a:srgbClr val="0070C0"/>
                </a:solidFill>
                <a:latin typeface="Times New Roman" panose="02020603050405020304" pitchFamily="18" charset="0"/>
                <a:cs typeface="Times New Roman" panose="02020603050405020304" pitchFamily="18" charset="0"/>
                <a:sym typeface="Montserrat"/>
              </a:rPr>
              <a:t>)</a:t>
            </a:r>
            <a:r>
              <a:rPr lang="vi-VN" sz="1600" dirty="0">
                <a:solidFill>
                  <a:srgbClr val="0070C0"/>
                </a:solidFill>
                <a:latin typeface="Times New Roman" panose="02020603050405020304" pitchFamily="18" charset="0"/>
                <a:cs typeface="Times New Roman" panose="02020603050405020304" pitchFamily="18" charset="0"/>
                <a:sym typeface="Montserrat"/>
              </a:rPr>
              <a:t>.</a:t>
            </a:r>
            <a:endParaRPr lang="en-US" sz="1600" dirty="0">
              <a:solidFill>
                <a:srgbClr val="0070C0"/>
              </a:solidFill>
              <a:latin typeface="Times New Roman" panose="02020603050405020304" pitchFamily="18" charset="0"/>
              <a:cs typeface="Times New Roman" panose="02020603050405020304" pitchFamily="18" charset="0"/>
              <a:sym typeface="Montserrat"/>
            </a:endParaRPr>
          </a:p>
        </p:txBody>
      </p:sp>
      <p:sp>
        <p:nvSpPr>
          <p:cNvPr id="14" name="Google Shape;642;p53">
            <a:extLst>
              <a:ext uri="{FF2B5EF4-FFF2-40B4-BE49-F238E27FC236}">
                <a16:creationId xmlns:a16="http://schemas.microsoft.com/office/drawing/2014/main" id="{17EDC0D1-528D-4C52-D2F0-7FCA42668B0D}"/>
              </a:ext>
            </a:extLst>
          </p:cNvPr>
          <p:cNvSpPr txBox="1"/>
          <p:nvPr/>
        </p:nvSpPr>
        <p:spPr>
          <a:xfrm>
            <a:off x="676325" y="5271670"/>
            <a:ext cx="10839335" cy="1305778"/>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EOMONTH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sẽ</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có</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dạng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công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thức</a:t>
            </a:r>
            <a:r>
              <a:rPr lang="en-US" sz="1600" dirty="0">
                <a:latin typeface="Times New Roman" panose="02020603050405020304" pitchFamily="18" charset="0"/>
                <a:cs typeface="Times New Roman" panose="02020603050405020304" pitchFamily="18" charset="0"/>
                <a:sym typeface="Montserrat"/>
              </a:rPr>
              <a:t> </a:t>
            </a:r>
            <a:r>
              <a:rPr lang="en-US" sz="1600" i="1" dirty="0">
                <a:latin typeface="Times New Roman" panose="02020603050405020304" pitchFamily="18" charset="0"/>
                <a:cs typeface="Times New Roman" panose="02020603050405020304" pitchFamily="18" charset="0"/>
                <a:sym typeface="Montserrat"/>
              </a:rPr>
              <a:t>(</a:t>
            </a:r>
            <a:r>
              <a:rPr lang="en-US" sz="1600" i="1" dirty="0" err="1">
                <a:latin typeface="Times New Roman" panose="02020603050405020304" pitchFamily="18" charset="0"/>
                <a:cs typeface="Times New Roman" panose="02020603050405020304" pitchFamily="18" charset="0"/>
                <a:sym typeface="Montserrat"/>
              </a:rPr>
              <a:t>start_date</a:t>
            </a:r>
            <a:r>
              <a:rPr lang="en-US" sz="1600" i="1" dirty="0">
                <a:latin typeface="Times New Roman" panose="02020603050405020304" pitchFamily="18" charset="0"/>
                <a:cs typeface="Times New Roman" panose="02020603050405020304" pitchFamily="18" charset="0"/>
                <a:sym typeface="Montserrat"/>
              </a:rPr>
              <a:t>, months).</a:t>
            </a:r>
          </a:p>
          <a:p>
            <a:pPr lvl="0" algn="just">
              <a:lnSpc>
                <a:spcPct val="120000"/>
              </a:lnSpc>
              <a:buClr>
                <a:schemeClr val="dk1"/>
              </a:buClr>
              <a:buSzPts val="1400"/>
            </a:pPr>
            <a:r>
              <a:rPr lang="en-US" sz="1600" b="1" dirty="0">
                <a:latin typeface="Times New Roman" panose="02020603050405020304" pitchFamily="18" charset="0"/>
                <a:cs typeface="Times New Roman" panose="02020603050405020304" pitchFamily="18" charset="0"/>
                <a:sym typeface="Montserrat"/>
              </a:rPr>
              <a:t>Trong </a:t>
            </a:r>
            <a:r>
              <a:rPr lang="en-US" sz="1600" b="1" dirty="0" err="1">
                <a:latin typeface="Times New Roman" panose="02020603050405020304" pitchFamily="18" charset="0"/>
                <a:cs typeface="Times New Roman" panose="02020603050405020304" pitchFamily="18" charset="0"/>
                <a:sym typeface="Montserrat"/>
              </a:rPr>
              <a:t>đó</a:t>
            </a:r>
            <a:r>
              <a:rPr lang="en-US" sz="1600" b="1" dirty="0">
                <a:latin typeface="Times New Roman" panose="02020603050405020304" pitchFamily="18" charset="0"/>
                <a:cs typeface="Times New Roman" panose="02020603050405020304" pitchFamily="18" charset="0"/>
                <a:sym typeface="Montserrat"/>
              </a:rPr>
              <a:t>:</a:t>
            </a: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start_date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ngày</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làm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gốc</a:t>
            </a:r>
            <a:endParaRPr lang="en-US" sz="1600" dirty="0">
              <a:latin typeface="Times New Roman" panose="02020603050405020304" pitchFamily="18" charset="0"/>
              <a:cs typeface="Times New Roman" panose="02020603050405020304" pitchFamily="18" charset="0"/>
              <a:sym typeface="Montserrat"/>
            </a:endParaRPr>
          </a:p>
          <a:p>
            <a:pPr marL="285750" lvl="0" indent="-285750" algn="just">
              <a:lnSpc>
                <a:spcPct val="120000"/>
              </a:lnSpc>
              <a:buClr>
                <a:schemeClr val="dk1"/>
              </a:buClr>
              <a:buSzPts val="14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sym typeface="Montserrat"/>
              </a:rPr>
              <a:t>months: </a:t>
            </a:r>
            <a:r>
              <a:rPr lang="en-US" sz="1600" dirty="0" err="1">
                <a:latin typeface="Times New Roman" panose="02020603050405020304" pitchFamily="18" charset="0"/>
                <a:cs typeface="Times New Roman" panose="02020603050405020304" pitchFamily="18" charset="0"/>
                <a:sym typeface="Montserrat"/>
              </a:rPr>
              <a:t>dịch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chuyển</a:t>
            </a:r>
            <a:r>
              <a:rPr lang="en-US" sz="1600" dirty="0">
                <a:latin typeface="Times New Roman" panose="02020603050405020304" pitchFamily="18" charset="0"/>
                <a:cs typeface="Times New Roman" panose="02020603050405020304" pitchFamily="18" charset="0"/>
                <a:sym typeface="Montserrat"/>
              </a:rPr>
              <a:t> bao </a:t>
            </a:r>
            <a:r>
              <a:rPr lang="en-US" sz="1600" dirty="0" err="1">
                <a:latin typeface="Times New Roman" panose="02020603050405020304" pitchFamily="18" charset="0"/>
                <a:cs typeface="Times New Roman" panose="02020603050405020304" pitchFamily="18" charset="0"/>
                <a:sym typeface="Montserrat"/>
              </a:rPr>
              <a:t>nhiêu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tháng</a:t>
            </a:r>
            <a:endParaRPr lang="en-US" sz="1600" dirty="0">
              <a:latin typeface="Times New Roman" panose="02020603050405020304" pitchFamily="18" charset="0"/>
              <a:cs typeface="Times New Roman" panose="02020603050405020304" pitchFamily="18" charset="0"/>
              <a:sym typeface="Montserrat"/>
            </a:endParaRPr>
          </a:p>
        </p:txBody>
      </p:sp>
      <p:sp>
        <p:nvSpPr>
          <p:cNvPr id="2" name="Rectangle 1">
            <a:extLst>
              <a:ext uri="{FF2B5EF4-FFF2-40B4-BE49-F238E27FC236}">
                <a16:creationId xmlns:a16="http://schemas.microsoft.com/office/drawing/2014/main" id="{C8246CAB-E692-DA20-7050-727596A57111}"/>
              </a:ext>
            </a:extLst>
          </p:cNvPr>
          <p:cNvSpPr>
            <a:spLocks noChangeArrowheads="1"/>
          </p:cNvSpPr>
          <p:nvPr/>
        </p:nvSpPr>
        <p:spPr bwMode="auto">
          <a:xfrm>
            <a:off x="0" y="447"/>
            <a:ext cx="10515819" cy="5492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400" b="1" dirty="0">
                <a:solidFill>
                  <a:srgbClr val="113A71"/>
                </a:solidFill>
                <a:latin typeface="Times New Roman" panose="02020603050405020304" pitchFamily="18" charset="0"/>
                <a:cs typeface="Times New Roman" panose="02020603050405020304" pitchFamily="18" charset="0"/>
              </a:rPr>
              <a:t>3</a:t>
            </a:r>
            <a:r>
              <a:rPr lang="vi-VN"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Sử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dụng</a:t>
            </a:r>
            <a:r>
              <a:rPr lang="en-US" sz="2400" b="1" dirty="0">
                <a:solidFill>
                  <a:srgbClr val="113A71"/>
                </a:solidFill>
                <a:latin typeface="Times New Roman" panose="02020603050405020304" pitchFamily="18" charset="0"/>
                <a:cs typeface="Times New Roman" panose="02020603050405020304" pitchFamily="18" charset="0"/>
              </a:rPr>
              <a:t> DAX</a:t>
            </a:r>
          </a:p>
        </p:txBody>
      </p:sp>
      <p:sp>
        <p:nvSpPr>
          <p:cNvPr id="5" name="Rectangle 1">
            <a:extLst>
              <a:ext uri="{FF2B5EF4-FFF2-40B4-BE49-F238E27FC236}">
                <a16:creationId xmlns:a16="http://schemas.microsoft.com/office/drawing/2014/main" id="{CE54E1A6-BA5C-4349-58AB-6FEA86123648}"/>
              </a:ext>
            </a:extLst>
          </p:cNvPr>
          <p:cNvSpPr>
            <a:spLocks noChangeArrowheads="1"/>
          </p:cNvSpPr>
          <p:nvPr/>
        </p:nvSpPr>
        <p:spPr bwMode="auto">
          <a:xfrm>
            <a:off x="357246" y="430696"/>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000" b="1" dirty="0">
                <a:solidFill>
                  <a:srgbClr val="113A71"/>
                </a:solidFill>
                <a:latin typeface="Times New Roman" panose="02020603050405020304" pitchFamily="18" charset="0"/>
                <a:cs typeface="Times New Roman" panose="02020603050405020304" pitchFamily="18" charset="0"/>
              </a:rPr>
              <a:t>3.1. </a:t>
            </a:r>
            <a:r>
              <a:rPr lang="en-US" sz="2000" b="1" dirty="0" err="1">
                <a:solidFill>
                  <a:srgbClr val="113A71"/>
                </a:solidFill>
                <a:latin typeface="Times New Roman" panose="02020603050405020304" pitchFamily="18" charset="0"/>
                <a:cs typeface="Times New Roman" panose="02020603050405020304" pitchFamily="18" charset="0"/>
              </a:rPr>
              <a:t>Tạo</a:t>
            </a:r>
            <a:r>
              <a:rPr lang="en-US" sz="2000" b="1" dirty="0">
                <a:solidFill>
                  <a:srgbClr val="113A71"/>
                </a:solidFill>
                <a:latin typeface="Times New Roman" panose="02020603050405020304" pitchFamily="18" charset="0"/>
                <a:cs typeface="Times New Roman" panose="02020603050405020304" pitchFamily="18" charset="0"/>
              </a:rPr>
              <a:t> Calculated Columns</a:t>
            </a:r>
          </a:p>
        </p:txBody>
      </p:sp>
      <p:pic>
        <p:nvPicPr>
          <p:cNvPr id="10" name="Picture 9">
            <a:extLst>
              <a:ext uri="{FF2B5EF4-FFF2-40B4-BE49-F238E27FC236}">
                <a16:creationId xmlns:a16="http://schemas.microsoft.com/office/drawing/2014/main" id="{5CB1202D-6538-D46A-4134-19B9131CAF57}"/>
              </a:ext>
            </a:extLst>
          </p:cNvPr>
          <p:cNvPicPr>
            <a:picLocks noChangeAspect="1"/>
          </p:cNvPicPr>
          <p:nvPr/>
        </p:nvPicPr>
        <p:blipFill>
          <a:blip r:embed="rId4"/>
          <a:stretch>
            <a:fillRect/>
          </a:stretch>
        </p:blipFill>
        <p:spPr>
          <a:xfrm>
            <a:off x="3681067" y="3450859"/>
            <a:ext cx="4829849" cy="314369"/>
          </a:xfrm>
          <a:prstGeom prst="rect">
            <a:avLst/>
          </a:prstGeom>
        </p:spPr>
      </p:pic>
    </p:spTree>
    <p:extLst>
      <p:ext uri="{BB962C8B-B14F-4D97-AF65-F5344CB8AC3E}">
        <p14:creationId xmlns:p14="http://schemas.microsoft.com/office/powerpoint/2010/main" val="417861314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97BEE-0F72-C671-8FF5-D7AF6FE4314E}"/>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B2781F92-DE5B-5795-E136-6C8BB8F014BD}"/>
              </a:ext>
            </a:extLst>
          </p:cNvPr>
          <p:cNvSpPr txBox="1"/>
          <p:nvPr/>
        </p:nvSpPr>
        <p:spPr>
          <a:xfrm>
            <a:off x="346857" y="923726"/>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4" name="Google Shape;642;p53">
            <a:extLst>
              <a:ext uri="{FF2B5EF4-FFF2-40B4-BE49-F238E27FC236}">
                <a16:creationId xmlns:a16="http://schemas.microsoft.com/office/drawing/2014/main" id="{0D25C815-11FD-DC23-5451-BE9EA092FC45}"/>
              </a:ext>
            </a:extLst>
          </p:cNvPr>
          <p:cNvSpPr txBox="1"/>
          <p:nvPr/>
        </p:nvSpPr>
        <p:spPr>
          <a:xfrm>
            <a:off x="346856" y="2462393"/>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pic>
        <p:nvPicPr>
          <p:cNvPr id="5" name="Picture 4">
            <a:extLst>
              <a:ext uri="{FF2B5EF4-FFF2-40B4-BE49-F238E27FC236}">
                <a16:creationId xmlns:a16="http://schemas.microsoft.com/office/drawing/2014/main" id="{97E1B5D0-FC31-DD94-F347-53E2587481C2}"/>
              </a:ext>
            </a:extLst>
          </p:cNvPr>
          <p:cNvPicPr>
            <a:picLocks noChangeAspect="1"/>
          </p:cNvPicPr>
          <p:nvPr/>
        </p:nvPicPr>
        <p:blipFill>
          <a:blip r:embed="rId2"/>
          <a:stretch>
            <a:fillRect/>
          </a:stretch>
        </p:blipFill>
        <p:spPr>
          <a:xfrm>
            <a:off x="2457823" y="1087678"/>
            <a:ext cx="7276354" cy="1374715"/>
          </a:xfrm>
          <a:prstGeom prst="rect">
            <a:avLst/>
          </a:prstGeom>
        </p:spPr>
      </p:pic>
      <p:pic>
        <p:nvPicPr>
          <p:cNvPr id="10" name="Picture 9">
            <a:extLst>
              <a:ext uri="{FF2B5EF4-FFF2-40B4-BE49-F238E27FC236}">
                <a16:creationId xmlns:a16="http://schemas.microsoft.com/office/drawing/2014/main" id="{BEC0BD33-3C08-4004-2870-8A0C52A8FA6C}"/>
              </a:ext>
            </a:extLst>
          </p:cNvPr>
          <p:cNvPicPr>
            <a:picLocks noChangeAspect="1"/>
          </p:cNvPicPr>
          <p:nvPr/>
        </p:nvPicPr>
        <p:blipFill>
          <a:blip r:embed="rId3"/>
          <a:stretch>
            <a:fillRect/>
          </a:stretch>
        </p:blipFill>
        <p:spPr>
          <a:xfrm>
            <a:off x="3195232" y="4194135"/>
            <a:ext cx="5801535" cy="362001"/>
          </a:xfrm>
          <a:prstGeom prst="rect">
            <a:avLst/>
          </a:prstGeom>
        </p:spPr>
      </p:pic>
      <p:sp>
        <p:nvSpPr>
          <p:cNvPr id="15" name="Google Shape;642;p53">
            <a:extLst>
              <a:ext uri="{FF2B5EF4-FFF2-40B4-BE49-F238E27FC236}">
                <a16:creationId xmlns:a16="http://schemas.microsoft.com/office/drawing/2014/main" id="{FA1FA546-8566-E338-CDFC-C194FBF9F1E1}"/>
              </a:ext>
            </a:extLst>
          </p:cNvPr>
          <p:cNvSpPr txBox="1"/>
          <p:nvPr/>
        </p:nvSpPr>
        <p:spPr>
          <a:xfrm>
            <a:off x="478903" y="2852642"/>
            <a:ext cx="10839335" cy="1152717"/>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b="1" u="sng" dirty="0">
                <a:solidFill>
                  <a:srgbClr val="C00000"/>
                </a:solidFill>
                <a:latin typeface="Times New Roman" panose="02020603050405020304" pitchFamily="18" charset="0"/>
                <a:cs typeface="Times New Roman" panose="02020603050405020304" pitchFamily="18" charset="0"/>
                <a:sym typeface="Montserrat"/>
              </a:rPr>
              <a:t>Lưu ý</a:t>
            </a:r>
            <a:r>
              <a:rPr lang="en-US" sz="1600" b="1" dirty="0">
                <a:solidFill>
                  <a:srgbClr val="C00000"/>
                </a:solidFill>
                <a:latin typeface="Times New Roman" panose="02020603050405020304" pitchFamily="18" charset="0"/>
                <a:cs typeface="Times New Roman" panose="02020603050405020304" pitchFamily="18" charset="0"/>
                <a:sym typeface="Montserrat"/>
              </a:rPr>
              <a:t>:</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vi-VN" sz="1600" dirty="0">
                <a:solidFill>
                  <a:srgbClr val="C00000"/>
                </a:solidFill>
                <a:latin typeface="Times New Roman" panose="02020603050405020304" pitchFamily="18" charset="0"/>
                <a:cs typeface="Times New Roman" panose="02020603050405020304" pitchFamily="18" charset="0"/>
                <a:sym typeface="Montserrat"/>
              </a:rPr>
              <a:t>Đề bài yêu cầu sử dụng hàm </a:t>
            </a:r>
            <a:r>
              <a:rPr lang="vi-VN" sz="1600" b="1" i="1" dirty="0">
                <a:solidFill>
                  <a:srgbClr val="C00000"/>
                </a:solidFill>
                <a:latin typeface="Times New Roman" panose="02020603050405020304" pitchFamily="18" charset="0"/>
                <a:cs typeface="Times New Roman" panose="02020603050405020304" pitchFamily="18" charset="0"/>
                <a:sym typeface="Montserrat"/>
              </a:rPr>
              <a:t>TODAY() </a:t>
            </a:r>
            <a:r>
              <a:rPr lang="vi-VN" sz="1600" dirty="0">
                <a:solidFill>
                  <a:srgbClr val="C00000"/>
                </a:solidFill>
                <a:latin typeface="Times New Roman" panose="02020603050405020304" pitchFamily="18" charset="0"/>
                <a:cs typeface="Times New Roman" panose="02020603050405020304" pitchFamily="18" charset="0"/>
                <a:sym typeface="Montserrat"/>
              </a:rPr>
              <a:t>để lấy năm hiện tại khi tính </a:t>
            </a:r>
            <a:r>
              <a:rPr lang="vi-VN" sz="1600" b="1" dirty="0">
                <a:solidFill>
                  <a:srgbClr val="C00000"/>
                </a:solidFill>
                <a:latin typeface="Times New Roman" panose="02020603050405020304" pitchFamily="18" charset="0"/>
                <a:cs typeface="Times New Roman" panose="02020603050405020304" pitchFamily="18" charset="0"/>
                <a:sym typeface="Montserrat"/>
              </a:rPr>
              <a:t>Current Age</a:t>
            </a:r>
            <a:r>
              <a:rPr lang="vi-VN" sz="1600" dirty="0">
                <a:solidFill>
                  <a:srgbClr val="C00000"/>
                </a:solidFill>
                <a:latin typeface="Times New Roman" panose="02020603050405020304" pitchFamily="18" charset="0"/>
                <a:cs typeface="Times New Roman" panose="02020603050405020304" pitchFamily="18" charset="0"/>
                <a:sym typeface="Montserrat"/>
              </a:rPr>
              <a:t>. Tuy nhiên, trong bộ dữ liệu này các giao dịch chỉ xuất hiện đến </a:t>
            </a:r>
            <a:r>
              <a:rPr lang="vi-VN" sz="1600" b="1" dirty="0">
                <a:solidFill>
                  <a:srgbClr val="C00000"/>
                </a:solidFill>
                <a:latin typeface="Times New Roman" panose="02020603050405020304" pitchFamily="18" charset="0"/>
                <a:cs typeface="Times New Roman" panose="02020603050405020304" pitchFamily="18" charset="0"/>
                <a:sym typeface="Montserrat"/>
              </a:rPr>
              <a:t>năm 1998</a:t>
            </a:r>
            <a:r>
              <a:rPr lang="vi-VN" sz="1600" dirty="0">
                <a:solidFill>
                  <a:srgbClr val="C00000"/>
                </a:solidFill>
                <a:latin typeface="Times New Roman" panose="02020603050405020304" pitchFamily="18" charset="0"/>
                <a:cs typeface="Times New Roman" panose="02020603050405020304" pitchFamily="18" charset="0"/>
                <a:sym typeface="Montserrat"/>
              </a:rPr>
              <a:t>, nếu sử dụng năm hiện tại có thể khiến kết quả tuổi không phản ánh đúng bối cảnh của dữ liệu đang được phân tích. Vì vậy, trong bài này khuyến nghị sử dụng </a:t>
            </a:r>
            <a:r>
              <a:rPr lang="vi-VN" sz="1600" b="1" dirty="0">
                <a:solidFill>
                  <a:srgbClr val="C00000"/>
                </a:solidFill>
                <a:latin typeface="Times New Roman" panose="02020603050405020304" pitchFamily="18" charset="0"/>
                <a:cs typeface="Times New Roman" panose="02020603050405020304" pitchFamily="18" charset="0"/>
                <a:sym typeface="Montserrat"/>
              </a:rPr>
              <a:t>năm 1998 </a:t>
            </a:r>
            <a:r>
              <a:rPr lang="vi-VN" sz="1600" i="1" dirty="0">
                <a:solidFill>
                  <a:srgbClr val="C00000"/>
                </a:solidFill>
                <a:latin typeface="Times New Roman" panose="02020603050405020304" pitchFamily="18" charset="0"/>
                <a:cs typeface="Times New Roman" panose="02020603050405020304" pitchFamily="18" charset="0"/>
                <a:sym typeface="Montserrat"/>
              </a:rPr>
              <a:t>(năm cuối cùng xuất hiện trong dữ liệu giao dịch)</a:t>
            </a:r>
            <a:r>
              <a:rPr lang="vi-VN" sz="1600" dirty="0">
                <a:solidFill>
                  <a:srgbClr val="C00000"/>
                </a:solidFill>
                <a:latin typeface="Times New Roman" panose="02020603050405020304" pitchFamily="18" charset="0"/>
                <a:cs typeface="Times New Roman" panose="02020603050405020304" pitchFamily="18" charset="0"/>
                <a:sym typeface="Montserrat"/>
              </a:rPr>
              <a:t> làm mốc tính tuổi để đảm bảo kết quả phù hợp với thời điểm của bộ dữ liệu.</a:t>
            </a:r>
            <a:endParaRPr lang="en-US" sz="1600" b="1" dirty="0">
              <a:solidFill>
                <a:srgbClr val="C00000"/>
              </a:solidFill>
              <a:latin typeface="Times New Roman" panose="02020603050405020304" pitchFamily="18" charset="0"/>
              <a:cs typeface="Times New Roman" panose="02020603050405020304" pitchFamily="18" charset="0"/>
              <a:sym typeface="Montserrat"/>
            </a:endParaRPr>
          </a:p>
        </p:txBody>
      </p:sp>
      <p:pic>
        <p:nvPicPr>
          <p:cNvPr id="17" name="Picture 16">
            <a:extLst>
              <a:ext uri="{FF2B5EF4-FFF2-40B4-BE49-F238E27FC236}">
                <a16:creationId xmlns:a16="http://schemas.microsoft.com/office/drawing/2014/main" id="{86B30C39-6E4C-5BC4-8C4B-260870C15B06}"/>
              </a:ext>
            </a:extLst>
          </p:cNvPr>
          <p:cNvPicPr>
            <a:picLocks noChangeAspect="1"/>
          </p:cNvPicPr>
          <p:nvPr/>
        </p:nvPicPr>
        <p:blipFill>
          <a:blip r:embed="rId4"/>
          <a:stretch>
            <a:fillRect/>
          </a:stretch>
        </p:blipFill>
        <p:spPr>
          <a:xfrm>
            <a:off x="1928230" y="5537946"/>
            <a:ext cx="8335538" cy="352474"/>
          </a:xfrm>
          <a:prstGeom prst="rect">
            <a:avLst/>
          </a:prstGeom>
        </p:spPr>
      </p:pic>
      <p:sp>
        <p:nvSpPr>
          <p:cNvPr id="18" name="Google Shape;642;p53">
            <a:extLst>
              <a:ext uri="{FF2B5EF4-FFF2-40B4-BE49-F238E27FC236}">
                <a16:creationId xmlns:a16="http://schemas.microsoft.com/office/drawing/2014/main" id="{357B4687-E3E9-19A6-2535-CB309BFA7626}"/>
              </a:ext>
            </a:extLst>
          </p:cNvPr>
          <p:cNvSpPr txBox="1"/>
          <p:nvPr/>
        </p:nvSpPr>
        <p:spPr>
          <a:xfrm>
            <a:off x="478903" y="4739077"/>
            <a:ext cx="10839335" cy="615928"/>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column</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Priority</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cho</a:t>
            </a:r>
            <a:r>
              <a:rPr lang="en-US" sz="1600" dirty="0">
                <a:latin typeface="Times New Roman" panose="02020603050405020304" pitchFamily="18" charset="0"/>
                <a:cs typeface="Times New Roman" panose="02020603050405020304" pitchFamily="18" charset="0"/>
                <a:sym typeface="Montserrat"/>
              </a:rPr>
              <a:t> </a:t>
            </a:r>
            <a:r>
              <a:rPr lang="en-US" sz="1600" b="1" dirty="0" err="1">
                <a:latin typeface="Times New Roman" panose="02020603050405020304" pitchFamily="18" charset="0"/>
                <a:cs typeface="Times New Roman" panose="02020603050405020304" pitchFamily="18" charset="0"/>
                <a:sym typeface="Montserrat"/>
              </a:rPr>
              <a:t>bảng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Customer</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trả</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kết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quả</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“High” </a:t>
            </a:r>
            <a:r>
              <a:rPr lang="en-US" sz="1600" dirty="0" err="1">
                <a:latin typeface="Times New Roman" panose="02020603050405020304" pitchFamily="18" charset="0"/>
                <a:cs typeface="Times New Roman" panose="02020603050405020304" pitchFamily="18" charset="0"/>
                <a:sym typeface="Montserrat"/>
              </a:rPr>
              <a:t>cho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khách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có</a:t>
            </a:r>
            <a:r>
              <a:rPr lang="en-US" sz="1600" dirty="0">
                <a:latin typeface="Times New Roman" panose="02020603050405020304" pitchFamily="18" charset="0"/>
                <a:cs typeface="Times New Roman" panose="02020603050405020304" pitchFamily="18" charset="0"/>
                <a:sym typeface="Montserrat"/>
              </a:rPr>
              <a:t> </a:t>
            </a:r>
            <a:r>
              <a:rPr lang="en-US" sz="1600" i="1" dirty="0">
                <a:latin typeface="Times New Roman" panose="02020603050405020304" pitchFamily="18" charset="0"/>
                <a:cs typeface="Times New Roman" panose="02020603050405020304" pitchFamily="18" charset="0"/>
                <a:sym typeface="Montserrat"/>
              </a:rPr>
              <a:t>[homeowner] = “Y”</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có</a:t>
            </a:r>
            <a:r>
              <a:rPr lang="en-US" sz="1600" dirty="0">
                <a:latin typeface="Times New Roman" panose="02020603050405020304" pitchFamily="18" charset="0"/>
                <a:cs typeface="Times New Roman" panose="02020603050405020304" pitchFamily="18" charset="0"/>
                <a:sym typeface="Montserrat"/>
              </a:rPr>
              <a:t> </a:t>
            </a:r>
            <a:r>
              <a:rPr lang="en-US" sz="1600" i="1" dirty="0">
                <a:latin typeface="Times New Roman" panose="02020603050405020304" pitchFamily="18" charset="0"/>
                <a:cs typeface="Times New Roman" panose="02020603050405020304" pitchFamily="18" charset="0"/>
                <a:sym typeface="Montserrat"/>
              </a:rPr>
              <a:t>[</a:t>
            </a:r>
            <a:r>
              <a:rPr lang="en-US" sz="1600" i="1" dirty="0" err="1">
                <a:latin typeface="Times New Roman" panose="02020603050405020304" pitchFamily="18" charset="0"/>
                <a:cs typeface="Times New Roman" panose="02020603050405020304" pitchFamily="18" charset="0"/>
                <a:sym typeface="Montserrat"/>
              </a:rPr>
              <a:t>member_card</a:t>
            </a:r>
            <a:r>
              <a:rPr lang="en-US" sz="1600" i="1" dirty="0">
                <a:latin typeface="Times New Roman" panose="02020603050405020304" pitchFamily="18" charset="0"/>
                <a:cs typeface="Times New Roman" panose="02020603050405020304" pitchFamily="18" charset="0"/>
                <a:sym typeface="Montserrat"/>
              </a:rPr>
              <a:t>] = “Golden”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còn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lại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trả</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kết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quả</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“Standard”.</a:t>
            </a:r>
          </a:p>
        </p:txBody>
      </p:sp>
      <p:sp>
        <p:nvSpPr>
          <p:cNvPr id="2" name="Rectangle 1">
            <a:extLst>
              <a:ext uri="{FF2B5EF4-FFF2-40B4-BE49-F238E27FC236}">
                <a16:creationId xmlns:a16="http://schemas.microsoft.com/office/drawing/2014/main" id="{7AC18D1B-8D66-9F0A-57D8-5FE4FB5C702B}"/>
              </a:ext>
            </a:extLst>
          </p:cNvPr>
          <p:cNvSpPr>
            <a:spLocks noChangeArrowheads="1"/>
          </p:cNvSpPr>
          <p:nvPr/>
        </p:nvSpPr>
        <p:spPr bwMode="auto">
          <a:xfrm>
            <a:off x="0" y="447"/>
            <a:ext cx="10515819" cy="5492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400" b="1" dirty="0">
                <a:solidFill>
                  <a:srgbClr val="113A71"/>
                </a:solidFill>
                <a:latin typeface="Times New Roman" panose="02020603050405020304" pitchFamily="18" charset="0"/>
                <a:cs typeface="Times New Roman" panose="02020603050405020304" pitchFamily="18" charset="0"/>
              </a:rPr>
              <a:t>3</a:t>
            </a:r>
            <a:r>
              <a:rPr lang="vi-VN"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Sử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dụng</a:t>
            </a:r>
            <a:r>
              <a:rPr lang="en-US" sz="2400" b="1" dirty="0">
                <a:solidFill>
                  <a:srgbClr val="113A71"/>
                </a:solidFill>
                <a:latin typeface="Times New Roman" panose="02020603050405020304" pitchFamily="18" charset="0"/>
                <a:cs typeface="Times New Roman" panose="02020603050405020304" pitchFamily="18" charset="0"/>
              </a:rPr>
              <a:t> DAX</a:t>
            </a:r>
          </a:p>
        </p:txBody>
      </p:sp>
      <p:sp>
        <p:nvSpPr>
          <p:cNvPr id="3" name="Rectangle 1">
            <a:extLst>
              <a:ext uri="{FF2B5EF4-FFF2-40B4-BE49-F238E27FC236}">
                <a16:creationId xmlns:a16="http://schemas.microsoft.com/office/drawing/2014/main" id="{10A7EC3F-70C5-9F72-5507-7920ACAEE382}"/>
              </a:ext>
            </a:extLst>
          </p:cNvPr>
          <p:cNvSpPr>
            <a:spLocks noChangeArrowheads="1"/>
          </p:cNvSpPr>
          <p:nvPr/>
        </p:nvSpPr>
        <p:spPr bwMode="auto">
          <a:xfrm>
            <a:off x="357246" y="430696"/>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000" b="1" dirty="0">
                <a:solidFill>
                  <a:srgbClr val="113A71"/>
                </a:solidFill>
                <a:latin typeface="Times New Roman" panose="02020603050405020304" pitchFamily="18" charset="0"/>
                <a:cs typeface="Times New Roman" panose="02020603050405020304" pitchFamily="18" charset="0"/>
              </a:rPr>
              <a:t>3.1. </a:t>
            </a:r>
            <a:r>
              <a:rPr lang="en-US" sz="2000" b="1" dirty="0" err="1">
                <a:solidFill>
                  <a:srgbClr val="113A71"/>
                </a:solidFill>
                <a:latin typeface="Times New Roman" panose="02020603050405020304" pitchFamily="18" charset="0"/>
                <a:cs typeface="Times New Roman" panose="02020603050405020304" pitchFamily="18" charset="0"/>
              </a:rPr>
              <a:t>Tạo</a:t>
            </a:r>
            <a:r>
              <a:rPr lang="en-US" sz="2000" b="1" dirty="0">
                <a:solidFill>
                  <a:srgbClr val="113A71"/>
                </a:solidFill>
                <a:latin typeface="Times New Roman" panose="02020603050405020304" pitchFamily="18" charset="0"/>
                <a:cs typeface="Times New Roman" panose="02020603050405020304" pitchFamily="18" charset="0"/>
              </a:rPr>
              <a:t> Calculated Columns (</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693034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748CE-DECB-0162-1F6F-B7D0D901ACB1}"/>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BD2B1BC2-7020-8AC4-D365-7895EB174F85}"/>
              </a:ext>
            </a:extLst>
          </p:cNvPr>
          <p:cNvSpPr txBox="1"/>
          <p:nvPr/>
        </p:nvSpPr>
        <p:spPr>
          <a:xfrm>
            <a:off x="346857" y="850989"/>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4" name="Google Shape;642;p53">
            <a:extLst>
              <a:ext uri="{FF2B5EF4-FFF2-40B4-BE49-F238E27FC236}">
                <a16:creationId xmlns:a16="http://schemas.microsoft.com/office/drawing/2014/main" id="{23CF57E8-4413-0E8E-5801-90BFC1DA1CD9}"/>
              </a:ext>
            </a:extLst>
          </p:cNvPr>
          <p:cNvSpPr txBox="1"/>
          <p:nvPr/>
        </p:nvSpPr>
        <p:spPr>
          <a:xfrm>
            <a:off x="346856" y="2389656"/>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sp>
        <p:nvSpPr>
          <p:cNvPr id="15" name="Google Shape;642;p53">
            <a:extLst>
              <a:ext uri="{FF2B5EF4-FFF2-40B4-BE49-F238E27FC236}">
                <a16:creationId xmlns:a16="http://schemas.microsoft.com/office/drawing/2014/main" id="{1DCC2347-AA9D-B2FC-18D9-08429264DF25}"/>
              </a:ext>
            </a:extLst>
          </p:cNvPr>
          <p:cNvSpPr txBox="1"/>
          <p:nvPr/>
        </p:nvSpPr>
        <p:spPr>
          <a:xfrm>
            <a:off x="490564" y="2779904"/>
            <a:ext cx="10971371" cy="664095"/>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column </a:t>
            </a:r>
            <a:r>
              <a:rPr lang="en-US" sz="1600" b="1" dirty="0" err="1">
                <a:latin typeface="Times New Roman" panose="02020603050405020304" pitchFamily="18" charset="0"/>
                <a:cs typeface="Times New Roman" panose="02020603050405020304" pitchFamily="18" charset="0"/>
                <a:sym typeface="Montserrat"/>
              </a:rPr>
              <a:t>Short_Country</a:t>
            </a:r>
            <a:r>
              <a:rPr lang="en-US" sz="1600" b="1" dirty="0">
                <a:latin typeface="Times New Roman" panose="02020603050405020304" pitchFamily="18" charset="0"/>
                <a:cs typeface="Times New Roman" panose="02020603050405020304" pitchFamily="18" charset="0"/>
                <a:sym typeface="Montserrat"/>
              </a:rPr>
              <a:t> </a:t>
            </a:r>
            <a:r>
              <a:rPr lang="en-US" sz="1600" dirty="0">
                <a:latin typeface="Times New Roman" panose="02020603050405020304" pitchFamily="18" charset="0"/>
                <a:cs typeface="Times New Roman" panose="02020603050405020304" pitchFamily="18" charset="0"/>
                <a:sym typeface="Montserrat"/>
              </a:rPr>
              <a:t>ở </a:t>
            </a:r>
            <a:r>
              <a:rPr lang="en-US" sz="1600" dirty="0" err="1">
                <a:latin typeface="Times New Roman" panose="02020603050405020304" pitchFamily="18" charset="0"/>
                <a:cs typeface="Times New Roman" panose="02020603050405020304" pitchFamily="18" charset="0"/>
                <a:sym typeface="Montserrat"/>
              </a:rPr>
              <a:t>bảng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Customer</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dùng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LEFT()</a:t>
            </a:r>
            <a:r>
              <a:rPr lang="en-US" sz="1600" i="1"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lấy</a:t>
            </a:r>
            <a:r>
              <a:rPr lang="en-US" sz="1600" dirty="0">
                <a:latin typeface="Times New Roman" panose="02020603050405020304" pitchFamily="18" charset="0"/>
                <a:cs typeface="Times New Roman" panose="02020603050405020304" pitchFamily="18" charset="0"/>
                <a:sym typeface="Montserrat"/>
              </a:rPr>
              <a:t> 3 </a:t>
            </a:r>
            <a:r>
              <a:rPr lang="en-US" sz="1600" dirty="0" err="1">
                <a:latin typeface="Times New Roman" panose="02020603050405020304" pitchFamily="18" charset="0"/>
                <a:cs typeface="Times New Roman" panose="02020603050405020304" pitchFamily="18" charset="0"/>
                <a:sym typeface="Montserrat"/>
              </a:rPr>
              <a:t>kí</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tự</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đầu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tiên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kết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hợp</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thêm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UPPER()</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uppercase </a:t>
            </a:r>
            <a:r>
              <a:rPr lang="en-US" sz="1600" dirty="0" err="1">
                <a:latin typeface="Times New Roman" panose="02020603050405020304" pitchFamily="18" charset="0"/>
                <a:cs typeface="Times New Roman" panose="02020603050405020304" pitchFamily="18" charset="0"/>
                <a:sym typeface="Montserrat"/>
              </a:rPr>
              <a:t>dữ</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liệu</a:t>
            </a:r>
            <a:r>
              <a:rPr lang="en-US" sz="1600" dirty="0">
                <a:latin typeface="Times New Roman" panose="02020603050405020304" pitchFamily="18" charset="0"/>
                <a:cs typeface="Times New Roman" panose="02020603050405020304" pitchFamily="18" charset="0"/>
                <a:sym typeface="Montserrat"/>
              </a:rPr>
              <a:t>.</a:t>
            </a:r>
          </a:p>
        </p:txBody>
      </p:sp>
      <p:pic>
        <p:nvPicPr>
          <p:cNvPr id="3" name="Picture 2">
            <a:extLst>
              <a:ext uri="{FF2B5EF4-FFF2-40B4-BE49-F238E27FC236}">
                <a16:creationId xmlns:a16="http://schemas.microsoft.com/office/drawing/2014/main" id="{EA8ACEFB-F6F0-5570-8007-E743DE71B74B}"/>
              </a:ext>
            </a:extLst>
          </p:cNvPr>
          <p:cNvPicPr>
            <a:picLocks noChangeAspect="1"/>
          </p:cNvPicPr>
          <p:nvPr/>
        </p:nvPicPr>
        <p:blipFill>
          <a:blip r:embed="rId2"/>
          <a:stretch>
            <a:fillRect/>
          </a:stretch>
        </p:blipFill>
        <p:spPr>
          <a:xfrm>
            <a:off x="2433800" y="1018586"/>
            <a:ext cx="7324399" cy="1371070"/>
          </a:xfrm>
          <a:prstGeom prst="rect">
            <a:avLst/>
          </a:prstGeom>
        </p:spPr>
      </p:pic>
      <p:pic>
        <p:nvPicPr>
          <p:cNvPr id="7" name="Picture 6">
            <a:extLst>
              <a:ext uri="{FF2B5EF4-FFF2-40B4-BE49-F238E27FC236}">
                <a16:creationId xmlns:a16="http://schemas.microsoft.com/office/drawing/2014/main" id="{26F09425-7829-FE29-1A21-918C0CCB7F56}"/>
              </a:ext>
            </a:extLst>
          </p:cNvPr>
          <p:cNvPicPr>
            <a:picLocks noChangeAspect="1"/>
          </p:cNvPicPr>
          <p:nvPr/>
        </p:nvPicPr>
        <p:blipFill>
          <a:blip r:embed="rId3"/>
          <a:stretch>
            <a:fillRect/>
          </a:stretch>
        </p:blipFill>
        <p:spPr>
          <a:xfrm>
            <a:off x="3542942" y="3474606"/>
            <a:ext cx="5106113" cy="342948"/>
          </a:xfrm>
          <a:prstGeom prst="rect">
            <a:avLst/>
          </a:prstGeom>
        </p:spPr>
      </p:pic>
      <p:sp>
        <p:nvSpPr>
          <p:cNvPr id="8" name="Google Shape;642;p53">
            <a:extLst>
              <a:ext uri="{FF2B5EF4-FFF2-40B4-BE49-F238E27FC236}">
                <a16:creationId xmlns:a16="http://schemas.microsoft.com/office/drawing/2014/main" id="{5A207D72-3E5F-AC38-CAE4-50C244D24B71}"/>
              </a:ext>
            </a:extLst>
          </p:cNvPr>
          <p:cNvSpPr txBox="1"/>
          <p:nvPr/>
        </p:nvSpPr>
        <p:spPr>
          <a:xfrm>
            <a:off x="490563" y="4016680"/>
            <a:ext cx="10971371" cy="664095"/>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column </a:t>
            </a:r>
            <a:r>
              <a:rPr lang="en-US" sz="1600" b="1" dirty="0">
                <a:latin typeface="Times New Roman" panose="02020603050405020304" pitchFamily="18" charset="0"/>
                <a:cs typeface="Times New Roman" panose="02020603050405020304" pitchFamily="18" charset="0"/>
                <a:sym typeface="Montserrat"/>
              </a:rPr>
              <a:t>House Number </a:t>
            </a:r>
            <a:r>
              <a:rPr lang="en-US" sz="1600" dirty="0">
                <a:latin typeface="Times New Roman" panose="02020603050405020304" pitchFamily="18" charset="0"/>
                <a:cs typeface="Times New Roman" panose="02020603050405020304" pitchFamily="18" charset="0"/>
                <a:sym typeface="Montserrat"/>
              </a:rPr>
              <a:t>ở </a:t>
            </a:r>
            <a:r>
              <a:rPr lang="en-US" sz="1600" dirty="0" err="1">
                <a:latin typeface="Times New Roman" panose="02020603050405020304" pitchFamily="18" charset="0"/>
                <a:cs typeface="Times New Roman" panose="02020603050405020304" pitchFamily="18" charset="0"/>
                <a:sym typeface="Montserrat"/>
              </a:rPr>
              <a:t>bảng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Customer</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dùng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LEFT()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lấy</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các</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ký</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tự</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bên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trái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của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chuỗi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kết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hợp</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với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SEARCH()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xác</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định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vị</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trí</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dấu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cách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đầu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tiên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trong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i="1" dirty="0" err="1">
                <a:latin typeface="Times New Roman" panose="02020603050405020304" pitchFamily="18" charset="0"/>
                <a:cs typeface="Times New Roman" panose="02020603050405020304" pitchFamily="18" charset="0"/>
                <a:sym typeface="Montserrat"/>
              </a:rPr>
              <a:t>customer_address</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từ</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đó</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trích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xuất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số</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nhà</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trong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địa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chỉ</a:t>
            </a:r>
            <a:r>
              <a:rPr lang="en-US" sz="1600" dirty="0">
                <a:latin typeface="Times New Roman" panose="02020603050405020304" pitchFamily="18" charset="0"/>
                <a:cs typeface="Times New Roman" panose="02020603050405020304" pitchFamily="18" charset="0"/>
                <a:sym typeface="Montserrat"/>
              </a:rPr>
              <a:t>.</a:t>
            </a:r>
          </a:p>
        </p:txBody>
      </p:sp>
      <p:pic>
        <p:nvPicPr>
          <p:cNvPr id="12" name="Picture 11">
            <a:extLst>
              <a:ext uri="{FF2B5EF4-FFF2-40B4-BE49-F238E27FC236}">
                <a16:creationId xmlns:a16="http://schemas.microsoft.com/office/drawing/2014/main" id="{127E5F5B-3EFC-210C-EAF2-2384DFD898C1}"/>
              </a:ext>
            </a:extLst>
          </p:cNvPr>
          <p:cNvPicPr>
            <a:picLocks noChangeAspect="1"/>
          </p:cNvPicPr>
          <p:nvPr/>
        </p:nvPicPr>
        <p:blipFill>
          <a:blip r:embed="rId4"/>
          <a:stretch>
            <a:fillRect/>
          </a:stretch>
        </p:blipFill>
        <p:spPr>
          <a:xfrm>
            <a:off x="2071124" y="4720907"/>
            <a:ext cx="8049748" cy="333422"/>
          </a:xfrm>
          <a:prstGeom prst="rect">
            <a:avLst/>
          </a:prstGeom>
        </p:spPr>
      </p:pic>
      <p:sp>
        <p:nvSpPr>
          <p:cNvPr id="2" name="Google Shape;642;p53">
            <a:extLst>
              <a:ext uri="{FF2B5EF4-FFF2-40B4-BE49-F238E27FC236}">
                <a16:creationId xmlns:a16="http://schemas.microsoft.com/office/drawing/2014/main" id="{725EE687-333A-FC89-79DF-06C1F79DE368}"/>
              </a:ext>
            </a:extLst>
          </p:cNvPr>
          <p:cNvSpPr txBox="1"/>
          <p:nvPr/>
        </p:nvSpPr>
        <p:spPr>
          <a:xfrm>
            <a:off x="357246" y="5253456"/>
            <a:ext cx="9927691" cy="1151232"/>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b="1" dirty="0">
                <a:solidFill>
                  <a:srgbClr val="0070C0"/>
                </a:solidFill>
                <a:latin typeface="Times New Roman" panose="02020603050405020304" pitchFamily="18" charset="0"/>
                <a:cs typeface="Times New Roman" panose="02020603050405020304" pitchFamily="18" charset="0"/>
                <a:sym typeface="Montserrat"/>
              </a:rPr>
              <a:t>Note</a:t>
            </a:r>
            <a:r>
              <a:rPr lang="en-US" sz="1600" dirty="0">
                <a:solidFill>
                  <a:srgbClr val="0070C0"/>
                </a:solidFill>
                <a:latin typeface="Times New Roman" panose="02020603050405020304" pitchFamily="18" charset="0"/>
                <a:cs typeface="Times New Roman" panose="02020603050405020304" pitchFamily="18" charset="0"/>
                <a:sym typeface="Montserrat"/>
              </a:rPr>
              <a:t>: </a:t>
            </a:r>
            <a:r>
              <a:rPr lang="vi-VN" sz="1600" dirty="0">
                <a:solidFill>
                  <a:srgbClr val="0070C0"/>
                </a:solidFill>
                <a:latin typeface="Times New Roman" panose="02020603050405020304" pitchFamily="18" charset="0"/>
                <a:cs typeface="Times New Roman" panose="02020603050405020304" pitchFamily="18" charset="0"/>
                <a:sym typeface="Montserrat"/>
              </a:rPr>
              <a:t>Ngoài hàm </a:t>
            </a:r>
            <a:r>
              <a:rPr lang="vi-VN" sz="1600" b="1" i="1" dirty="0">
                <a:solidFill>
                  <a:srgbClr val="0070C0"/>
                </a:solidFill>
                <a:latin typeface="Times New Roman" panose="02020603050405020304" pitchFamily="18" charset="0"/>
                <a:cs typeface="Times New Roman" panose="02020603050405020304" pitchFamily="18" charset="0"/>
                <a:sym typeface="Montserrat"/>
              </a:rPr>
              <a:t>SEARCH()</a:t>
            </a:r>
            <a:r>
              <a:rPr lang="vi-VN" sz="1600" dirty="0">
                <a:solidFill>
                  <a:srgbClr val="0070C0"/>
                </a:solidFill>
                <a:latin typeface="Times New Roman" panose="02020603050405020304" pitchFamily="18" charset="0"/>
                <a:cs typeface="Times New Roman" panose="02020603050405020304" pitchFamily="18" charset="0"/>
                <a:sym typeface="Montserrat"/>
              </a:rPr>
              <a:t>, trong bài này cũng có thể sử dụng </a:t>
            </a:r>
            <a:r>
              <a:rPr lang="vi-VN" sz="1600" b="1" i="1" dirty="0">
                <a:solidFill>
                  <a:srgbClr val="0070C0"/>
                </a:solidFill>
                <a:latin typeface="Times New Roman" panose="02020603050405020304" pitchFamily="18" charset="0"/>
                <a:cs typeface="Times New Roman" panose="02020603050405020304" pitchFamily="18" charset="0"/>
                <a:sym typeface="Montserrat"/>
              </a:rPr>
              <a:t>FIND() </a:t>
            </a:r>
            <a:r>
              <a:rPr lang="vi-VN" sz="1600" dirty="0">
                <a:solidFill>
                  <a:srgbClr val="0070C0"/>
                </a:solidFill>
                <a:latin typeface="Times New Roman" panose="02020603050405020304" pitchFamily="18" charset="0"/>
                <a:cs typeface="Times New Roman" panose="02020603050405020304" pitchFamily="18" charset="0"/>
                <a:sym typeface="Montserrat"/>
              </a:rPr>
              <a:t>vì dữ liệu đang được viết cùng một kiểu chữ.</a:t>
            </a:r>
            <a:endParaRPr lang="en-US" sz="1600" dirty="0">
              <a:solidFill>
                <a:srgbClr val="0070C0"/>
              </a:solidFill>
              <a:latin typeface="Times New Roman" panose="02020603050405020304" pitchFamily="18" charset="0"/>
              <a:cs typeface="Times New Roman" panose="02020603050405020304" pitchFamily="18" charset="0"/>
              <a:sym typeface="Montserrat"/>
            </a:endParaRPr>
          </a:p>
          <a:p>
            <a:pPr lvl="0" algn="just">
              <a:lnSpc>
                <a:spcPct val="120000"/>
              </a:lnSpc>
              <a:buClr>
                <a:schemeClr val="dk1"/>
              </a:buClr>
              <a:buSzPts val="1400"/>
            </a:pPr>
            <a:endParaRPr lang="en-US" sz="1600" dirty="0">
              <a:solidFill>
                <a:srgbClr val="0070C0"/>
              </a:solidFill>
              <a:latin typeface="Times New Roman" panose="02020603050405020304" pitchFamily="18" charset="0"/>
              <a:cs typeface="Times New Roman" panose="02020603050405020304" pitchFamily="18" charset="0"/>
              <a:sym typeface="Montserrat"/>
            </a:endParaRPr>
          </a:p>
          <a:p>
            <a:pPr lvl="0" algn="just">
              <a:lnSpc>
                <a:spcPct val="120000"/>
              </a:lnSpc>
              <a:buClr>
                <a:schemeClr val="dk1"/>
              </a:buClr>
              <a:buSzPts val="1400"/>
            </a:pPr>
            <a:r>
              <a:rPr lang="vi-VN" sz="1600" dirty="0">
                <a:solidFill>
                  <a:srgbClr val="0070C0"/>
                </a:solidFill>
                <a:latin typeface="Times New Roman" panose="02020603050405020304" pitchFamily="18" charset="0"/>
                <a:cs typeface="Times New Roman" panose="02020603050405020304" pitchFamily="18" charset="0"/>
                <a:sym typeface="Montserrat"/>
              </a:rPr>
              <a:t>Tuy nhiên, cần lưu ý rằng </a:t>
            </a:r>
            <a:r>
              <a:rPr lang="vi-VN" sz="1600" b="1" i="1" dirty="0">
                <a:solidFill>
                  <a:srgbClr val="0070C0"/>
                </a:solidFill>
                <a:latin typeface="Times New Roman" panose="02020603050405020304" pitchFamily="18" charset="0"/>
                <a:cs typeface="Times New Roman" panose="02020603050405020304" pitchFamily="18" charset="0"/>
                <a:sym typeface="Montserrat"/>
              </a:rPr>
              <a:t>FIND() </a:t>
            </a:r>
            <a:r>
              <a:rPr lang="vi-VN" sz="1600" dirty="0">
                <a:solidFill>
                  <a:srgbClr val="0070C0"/>
                </a:solidFill>
                <a:latin typeface="Times New Roman" panose="02020603050405020304" pitchFamily="18" charset="0"/>
                <a:cs typeface="Times New Roman" panose="02020603050405020304" pitchFamily="18" charset="0"/>
                <a:sym typeface="Montserrat"/>
              </a:rPr>
              <a:t>phân biệt chữ hoa và chữ thường, còn </a:t>
            </a:r>
            <a:r>
              <a:rPr lang="vi-VN" sz="1600" b="1" i="1" dirty="0">
                <a:solidFill>
                  <a:srgbClr val="0070C0"/>
                </a:solidFill>
                <a:latin typeface="Times New Roman" panose="02020603050405020304" pitchFamily="18" charset="0"/>
                <a:cs typeface="Times New Roman" panose="02020603050405020304" pitchFamily="18" charset="0"/>
                <a:sym typeface="Montserrat"/>
              </a:rPr>
              <a:t>SEARCH() </a:t>
            </a:r>
            <a:r>
              <a:rPr lang="vi-VN" sz="1600" dirty="0">
                <a:solidFill>
                  <a:srgbClr val="0070C0"/>
                </a:solidFill>
                <a:latin typeface="Times New Roman" panose="02020603050405020304" pitchFamily="18" charset="0"/>
                <a:cs typeface="Times New Roman" panose="02020603050405020304" pitchFamily="18" charset="0"/>
                <a:sym typeface="Montserrat"/>
              </a:rPr>
              <a:t>thì không phân biệt nên thường linh hoạt hơn khi làm việc với dữ liệu văn bản.</a:t>
            </a:r>
            <a:endParaRPr lang="en-US" sz="1600" dirty="0">
              <a:solidFill>
                <a:srgbClr val="0070C0"/>
              </a:solidFill>
              <a:latin typeface="Times New Roman" panose="02020603050405020304" pitchFamily="18" charset="0"/>
              <a:cs typeface="Times New Roman" panose="02020603050405020304" pitchFamily="18" charset="0"/>
              <a:sym typeface="Montserrat"/>
            </a:endParaRPr>
          </a:p>
        </p:txBody>
      </p:sp>
      <p:pic>
        <p:nvPicPr>
          <p:cNvPr id="11" name="Picture 10">
            <a:extLst>
              <a:ext uri="{FF2B5EF4-FFF2-40B4-BE49-F238E27FC236}">
                <a16:creationId xmlns:a16="http://schemas.microsoft.com/office/drawing/2014/main" id="{C9332693-9082-F0DC-9350-BE8DE2F03B50}"/>
              </a:ext>
            </a:extLst>
          </p:cNvPr>
          <p:cNvPicPr>
            <a:picLocks noChangeAspect="1"/>
          </p:cNvPicPr>
          <p:nvPr/>
        </p:nvPicPr>
        <p:blipFill>
          <a:blip r:embed="rId5"/>
          <a:stretch>
            <a:fillRect/>
          </a:stretch>
        </p:blipFill>
        <p:spPr>
          <a:xfrm>
            <a:off x="10284937" y="5123334"/>
            <a:ext cx="1667108" cy="543001"/>
          </a:xfrm>
          <a:prstGeom prst="rect">
            <a:avLst/>
          </a:prstGeom>
        </p:spPr>
      </p:pic>
      <p:sp>
        <p:nvSpPr>
          <p:cNvPr id="5" name="Rectangle 4">
            <a:extLst>
              <a:ext uri="{FF2B5EF4-FFF2-40B4-BE49-F238E27FC236}">
                <a16:creationId xmlns:a16="http://schemas.microsoft.com/office/drawing/2014/main" id="{9530053B-2964-BBCA-43C7-AECA0628DB4B}"/>
              </a:ext>
            </a:extLst>
          </p:cNvPr>
          <p:cNvSpPr>
            <a:spLocks noChangeArrowheads="1"/>
          </p:cNvSpPr>
          <p:nvPr/>
        </p:nvSpPr>
        <p:spPr bwMode="auto">
          <a:xfrm>
            <a:off x="0" y="447"/>
            <a:ext cx="10515819" cy="5492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400" b="1" dirty="0">
                <a:solidFill>
                  <a:srgbClr val="113A71"/>
                </a:solidFill>
                <a:latin typeface="Times New Roman" panose="02020603050405020304" pitchFamily="18" charset="0"/>
                <a:cs typeface="Times New Roman" panose="02020603050405020304" pitchFamily="18" charset="0"/>
              </a:rPr>
              <a:t>3</a:t>
            </a:r>
            <a:r>
              <a:rPr lang="vi-VN"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Sử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dụng</a:t>
            </a:r>
            <a:r>
              <a:rPr lang="en-US" sz="2400" b="1" dirty="0">
                <a:solidFill>
                  <a:srgbClr val="113A71"/>
                </a:solidFill>
                <a:latin typeface="Times New Roman" panose="02020603050405020304" pitchFamily="18" charset="0"/>
                <a:cs typeface="Times New Roman" panose="02020603050405020304" pitchFamily="18" charset="0"/>
              </a:rPr>
              <a:t> DAX</a:t>
            </a:r>
          </a:p>
        </p:txBody>
      </p:sp>
      <p:sp>
        <p:nvSpPr>
          <p:cNvPr id="6" name="Rectangle 1">
            <a:extLst>
              <a:ext uri="{FF2B5EF4-FFF2-40B4-BE49-F238E27FC236}">
                <a16:creationId xmlns:a16="http://schemas.microsoft.com/office/drawing/2014/main" id="{99FCE549-3B80-EBB3-59FB-D4C19E332C1C}"/>
              </a:ext>
            </a:extLst>
          </p:cNvPr>
          <p:cNvSpPr>
            <a:spLocks noChangeArrowheads="1"/>
          </p:cNvSpPr>
          <p:nvPr/>
        </p:nvSpPr>
        <p:spPr bwMode="auto">
          <a:xfrm>
            <a:off x="357246" y="430696"/>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000" b="1" dirty="0">
                <a:solidFill>
                  <a:srgbClr val="113A71"/>
                </a:solidFill>
                <a:latin typeface="Times New Roman" panose="02020603050405020304" pitchFamily="18" charset="0"/>
                <a:cs typeface="Times New Roman" panose="02020603050405020304" pitchFamily="18" charset="0"/>
              </a:rPr>
              <a:t>3.1. </a:t>
            </a:r>
            <a:r>
              <a:rPr lang="en-US" sz="2000" b="1" dirty="0" err="1">
                <a:solidFill>
                  <a:srgbClr val="113A71"/>
                </a:solidFill>
                <a:latin typeface="Times New Roman" panose="02020603050405020304" pitchFamily="18" charset="0"/>
                <a:cs typeface="Times New Roman" panose="02020603050405020304" pitchFamily="18" charset="0"/>
              </a:rPr>
              <a:t>Tạo</a:t>
            </a:r>
            <a:r>
              <a:rPr lang="en-US" sz="2000" b="1" dirty="0">
                <a:solidFill>
                  <a:srgbClr val="113A71"/>
                </a:solidFill>
                <a:latin typeface="Times New Roman" panose="02020603050405020304" pitchFamily="18" charset="0"/>
                <a:cs typeface="Times New Roman" panose="02020603050405020304" pitchFamily="18" charset="0"/>
              </a:rPr>
              <a:t> Calculated Columns (</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9421225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3DCE1-58BC-7C3D-E2A8-EBCD3D3CE3D5}"/>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6C3A7680-93B3-DDCF-B7A9-F84A8E2FA134}"/>
              </a:ext>
            </a:extLst>
          </p:cNvPr>
          <p:cNvSpPr txBox="1"/>
          <p:nvPr/>
        </p:nvSpPr>
        <p:spPr>
          <a:xfrm>
            <a:off x="346857" y="809425"/>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4" name="Google Shape;642;p53">
            <a:extLst>
              <a:ext uri="{FF2B5EF4-FFF2-40B4-BE49-F238E27FC236}">
                <a16:creationId xmlns:a16="http://schemas.microsoft.com/office/drawing/2014/main" id="{F5817887-2954-5880-F05E-D781CBF625FD}"/>
              </a:ext>
            </a:extLst>
          </p:cNvPr>
          <p:cNvSpPr txBox="1"/>
          <p:nvPr/>
        </p:nvSpPr>
        <p:spPr>
          <a:xfrm>
            <a:off x="346857" y="2275040"/>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sp>
        <p:nvSpPr>
          <p:cNvPr id="15" name="Google Shape;642;p53">
            <a:extLst>
              <a:ext uri="{FF2B5EF4-FFF2-40B4-BE49-F238E27FC236}">
                <a16:creationId xmlns:a16="http://schemas.microsoft.com/office/drawing/2014/main" id="{E525260C-103C-C874-7B32-57278AE145DA}"/>
              </a:ext>
            </a:extLst>
          </p:cNvPr>
          <p:cNvSpPr txBox="1"/>
          <p:nvPr/>
        </p:nvSpPr>
        <p:spPr>
          <a:xfrm>
            <a:off x="490562" y="2665290"/>
            <a:ext cx="10971371" cy="310810"/>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column </a:t>
            </a:r>
            <a:r>
              <a:rPr lang="en-US" sz="1600" b="1" dirty="0" err="1">
                <a:latin typeface="Times New Roman" panose="02020603050405020304" pitchFamily="18" charset="0"/>
                <a:cs typeface="Times New Roman" panose="02020603050405020304" pitchFamily="18" charset="0"/>
                <a:sym typeface="Montserrat"/>
              </a:rPr>
              <a:t>Price_Tier</a:t>
            </a:r>
            <a:r>
              <a:rPr lang="en-US" sz="1600" b="1" dirty="0">
                <a:latin typeface="Times New Roman" panose="02020603050405020304" pitchFamily="18" charset="0"/>
                <a:cs typeface="Times New Roman" panose="02020603050405020304" pitchFamily="18" charset="0"/>
                <a:sym typeface="Montserrat"/>
              </a:rPr>
              <a:t> </a:t>
            </a:r>
            <a:r>
              <a:rPr lang="en-US" sz="1600" dirty="0">
                <a:latin typeface="Times New Roman" panose="02020603050405020304" pitchFamily="18" charset="0"/>
                <a:cs typeface="Times New Roman" panose="02020603050405020304" pitchFamily="18" charset="0"/>
                <a:sym typeface="Montserrat"/>
              </a:rPr>
              <a:t>ở </a:t>
            </a:r>
            <a:r>
              <a:rPr lang="en-US" sz="1600" dirty="0" err="1">
                <a:latin typeface="Times New Roman" panose="02020603050405020304" pitchFamily="18" charset="0"/>
                <a:cs typeface="Times New Roman" panose="02020603050405020304" pitchFamily="18" charset="0"/>
                <a:sym typeface="Montserrat"/>
              </a:rPr>
              <a:t>bảng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Products.</a:t>
            </a:r>
            <a:endParaRPr lang="en-US" sz="1600" dirty="0">
              <a:latin typeface="Times New Roman" panose="02020603050405020304" pitchFamily="18" charset="0"/>
              <a:cs typeface="Times New Roman" panose="02020603050405020304" pitchFamily="18" charset="0"/>
              <a:sym typeface="Montserrat"/>
            </a:endParaRPr>
          </a:p>
        </p:txBody>
      </p:sp>
      <p:pic>
        <p:nvPicPr>
          <p:cNvPr id="5" name="Picture 4">
            <a:extLst>
              <a:ext uri="{FF2B5EF4-FFF2-40B4-BE49-F238E27FC236}">
                <a16:creationId xmlns:a16="http://schemas.microsoft.com/office/drawing/2014/main" id="{E70A0049-88F6-D249-2A66-DE196600E162}"/>
              </a:ext>
            </a:extLst>
          </p:cNvPr>
          <p:cNvPicPr>
            <a:picLocks noChangeAspect="1"/>
          </p:cNvPicPr>
          <p:nvPr/>
        </p:nvPicPr>
        <p:blipFill>
          <a:blip r:embed="rId3"/>
          <a:stretch>
            <a:fillRect/>
          </a:stretch>
        </p:blipFill>
        <p:spPr>
          <a:xfrm>
            <a:off x="2649410" y="877613"/>
            <a:ext cx="6893179" cy="1402289"/>
          </a:xfrm>
          <a:prstGeom prst="rect">
            <a:avLst/>
          </a:prstGeom>
        </p:spPr>
      </p:pic>
      <p:pic>
        <p:nvPicPr>
          <p:cNvPr id="9" name="Picture 8">
            <a:extLst>
              <a:ext uri="{FF2B5EF4-FFF2-40B4-BE49-F238E27FC236}">
                <a16:creationId xmlns:a16="http://schemas.microsoft.com/office/drawing/2014/main" id="{7CFFF6A3-E8BD-13F6-1B07-59B0B28BE308}"/>
              </a:ext>
            </a:extLst>
          </p:cNvPr>
          <p:cNvPicPr>
            <a:picLocks noChangeAspect="1"/>
          </p:cNvPicPr>
          <p:nvPr/>
        </p:nvPicPr>
        <p:blipFill>
          <a:blip r:embed="rId4"/>
          <a:stretch>
            <a:fillRect/>
          </a:stretch>
        </p:blipFill>
        <p:spPr>
          <a:xfrm>
            <a:off x="3156453" y="4036893"/>
            <a:ext cx="5639587" cy="943107"/>
          </a:xfrm>
          <a:prstGeom prst="rect">
            <a:avLst/>
          </a:prstGeom>
        </p:spPr>
      </p:pic>
      <p:pic>
        <p:nvPicPr>
          <p:cNvPr id="13" name="Picture 12">
            <a:extLst>
              <a:ext uri="{FF2B5EF4-FFF2-40B4-BE49-F238E27FC236}">
                <a16:creationId xmlns:a16="http://schemas.microsoft.com/office/drawing/2014/main" id="{D529C91B-01A9-4362-8D3A-9C31594BBED2}"/>
              </a:ext>
            </a:extLst>
          </p:cNvPr>
          <p:cNvPicPr>
            <a:picLocks noChangeAspect="1"/>
          </p:cNvPicPr>
          <p:nvPr/>
        </p:nvPicPr>
        <p:blipFill>
          <a:blip r:embed="rId5"/>
          <a:stretch>
            <a:fillRect/>
          </a:stretch>
        </p:blipFill>
        <p:spPr>
          <a:xfrm>
            <a:off x="3034933" y="5752585"/>
            <a:ext cx="5595217" cy="771035"/>
          </a:xfrm>
          <a:prstGeom prst="rect">
            <a:avLst/>
          </a:prstGeom>
        </p:spPr>
      </p:pic>
      <p:sp>
        <p:nvSpPr>
          <p:cNvPr id="14" name="Google Shape;642;p53">
            <a:extLst>
              <a:ext uri="{FF2B5EF4-FFF2-40B4-BE49-F238E27FC236}">
                <a16:creationId xmlns:a16="http://schemas.microsoft.com/office/drawing/2014/main" id="{40EE673E-5FDC-E5F8-06FE-8234FD4E9EF5}"/>
              </a:ext>
            </a:extLst>
          </p:cNvPr>
          <p:cNvSpPr txBox="1"/>
          <p:nvPr/>
        </p:nvSpPr>
        <p:spPr>
          <a:xfrm>
            <a:off x="490560" y="5075613"/>
            <a:ext cx="10971371" cy="581358"/>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column </a:t>
            </a:r>
            <a:r>
              <a:rPr lang="en-US" sz="1600" b="1" dirty="0" err="1">
                <a:latin typeface="Times New Roman" panose="02020603050405020304" pitchFamily="18" charset="0"/>
                <a:cs typeface="Times New Roman" panose="02020603050405020304" pitchFamily="18" charset="0"/>
                <a:sym typeface="Montserrat"/>
              </a:rPr>
              <a:t>Year_Since_Remodel</a:t>
            </a:r>
            <a:r>
              <a:rPr lang="en-US" sz="1600" b="1" dirty="0">
                <a:latin typeface="Times New Roman" panose="02020603050405020304" pitchFamily="18" charset="0"/>
                <a:cs typeface="Times New Roman" panose="02020603050405020304" pitchFamily="18" charset="0"/>
                <a:sym typeface="Montserrat"/>
              </a:rPr>
              <a:t> </a:t>
            </a:r>
            <a:r>
              <a:rPr lang="en-US" sz="1600" dirty="0">
                <a:latin typeface="Times New Roman" panose="02020603050405020304" pitchFamily="18" charset="0"/>
                <a:cs typeface="Times New Roman" panose="02020603050405020304" pitchFamily="18" charset="0"/>
                <a:sym typeface="Montserrat"/>
              </a:rPr>
              <a:t>ở </a:t>
            </a:r>
            <a:r>
              <a:rPr lang="en-US" sz="1600" dirty="0" err="1">
                <a:latin typeface="Times New Roman" panose="02020603050405020304" pitchFamily="18" charset="0"/>
                <a:cs typeface="Times New Roman" panose="02020603050405020304" pitchFamily="18" charset="0"/>
                <a:sym typeface="Montserrat"/>
              </a:rPr>
              <a:t>bảng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Stores</a:t>
            </a:r>
            <a:r>
              <a:rPr lang="en-US" sz="1600" dirty="0">
                <a:latin typeface="Times New Roman" panose="02020603050405020304" pitchFamily="18" charset="0"/>
                <a:cs typeface="Times New Roman" panose="02020603050405020304" pitchFamily="18" charset="0"/>
                <a:sym typeface="Montserrat"/>
              </a:rPr>
              <a:t>: </a:t>
            </a:r>
            <a:r>
              <a:rPr lang="vi-VN" sz="1600" dirty="0">
                <a:latin typeface="Times New Roman" panose="02020603050405020304" pitchFamily="18" charset="0"/>
                <a:cs typeface="Times New Roman" panose="02020603050405020304" pitchFamily="18" charset="0"/>
                <a:sym typeface="Montserrat"/>
              </a:rPr>
              <a:t>Tương tự như ở bảng </a:t>
            </a:r>
            <a:r>
              <a:rPr lang="vi-VN" sz="1600" b="1" dirty="0">
                <a:latin typeface="Times New Roman" panose="02020603050405020304" pitchFamily="18" charset="0"/>
                <a:cs typeface="Times New Roman" panose="02020603050405020304" pitchFamily="18" charset="0"/>
                <a:sym typeface="Montserrat"/>
              </a:rPr>
              <a:t>Customer</a:t>
            </a:r>
            <a:r>
              <a:rPr lang="vi-VN" sz="1600" dirty="0">
                <a:latin typeface="Times New Roman" panose="02020603050405020304" pitchFamily="18" charset="0"/>
                <a:cs typeface="Times New Roman" panose="02020603050405020304" pitchFamily="18" charset="0"/>
                <a:sym typeface="Montserrat"/>
              </a:rPr>
              <a:t>, sử dụng </a:t>
            </a:r>
            <a:r>
              <a:rPr lang="vi-VN" sz="1600" b="1" dirty="0">
                <a:latin typeface="Times New Roman" panose="02020603050405020304" pitchFamily="18" charset="0"/>
                <a:cs typeface="Times New Roman" panose="02020603050405020304" pitchFamily="18" charset="0"/>
                <a:sym typeface="Montserrat"/>
              </a:rPr>
              <a:t>năm 1998 thay cho năm hiện tại </a:t>
            </a:r>
            <a:r>
              <a:rPr lang="vi-VN" sz="1600" dirty="0">
                <a:latin typeface="Times New Roman" panose="02020603050405020304" pitchFamily="18" charset="0"/>
                <a:cs typeface="Times New Roman" panose="02020603050405020304" pitchFamily="18" charset="0"/>
                <a:sym typeface="Montserrat"/>
              </a:rPr>
              <a:t>để đảm bảo tính nhất quán với thời điểm dữ liệu. Dùng hàm </a:t>
            </a:r>
            <a:r>
              <a:rPr lang="vi-VN" sz="1600" b="1" i="1" dirty="0">
                <a:latin typeface="Times New Roman" panose="02020603050405020304" pitchFamily="18" charset="0"/>
                <a:cs typeface="Times New Roman" panose="02020603050405020304" pitchFamily="18" charset="0"/>
                <a:sym typeface="Montserrat"/>
              </a:rPr>
              <a:t>DATEDIFF() </a:t>
            </a:r>
            <a:r>
              <a:rPr lang="vi-VN" sz="1600" dirty="0">
                <a:latin typeface="Times New Roman" panose="02020603050405020304" pitchFamily="18" charset="0"/>
                <a:cs typeface="Times New Roman" panose="02020603050405020304" pitchFamily="18" charset="0"/>
                <a:sym typeface="Montserrat"/>
              </a:rPr>
              <a:t>để tính số năm giữa </a:t>
            </a:r>
            <a:r>
              <a:rPr lang="vi-VN" sz="1600" i="1" dirty="0">
                <a:latin typeface="Times New Roman" panose="02020603050405020304" pitchFamily="18" charset="0"/>
                <a:cs typeface="Times New Roman" panose="02020603050405020304" pitchFamily="18" charset="0"/>
                <a:sym typeface="Montserrat"/>
              </a:rPr>
              <a:t>last_remodel_date </a:t>
            </a:r>
            <a:r>
              <a:rPr lang="vi-VN" sz="1600" dirty="0">
                <a:latin typeface="Times New Roman" panose="02020603050405020304" pitchFamily="18" charset="0"/>
                <a:cs typeface="Times New Roman" panose="02020603050405020304" pitchFamily="18" charset="0"/>
                <a:sym typeface="Montserrat"/>
              </a:rPr>
              <a:t>và năm 1998.</a:t>
            </a:r>
            <a:endParaRPr lang="en-US" sz="1600" dirty="0">
              <a:latin typeface="Times New Roman" panose="02020603050405020304" pitchFamily="18" charset="0"/>
              <a:cs typeface="Times New Roman" panose="02020603050405020304" pitchFamily="18" charset="0"/>
              <a:sym typeface="Montserrat"/>
            </a:endParaRPr>
          </a:p>
        </p:txBody>
      </p:sp>
      <p:sp>
        <p:nvSpPr>
          <p:cNvPr id="2" name="Google Shape;642;p53">
            <a:extLst>
              <a:ext uri="{FF2B5EF4-FFF2-40B4-BE49-F238E27FC236}">
                <a16:creationId xmlns:a16="http://schemas.microsoft.com/office/drawing/2014/main" id="{4B938651-6D16-EC98-3737-84D61D579434}"/>
              </a:ext>
            </a:extLst>
          </p:cNvPr>
          <p:cNvSpPr txBox="1"/>
          <p:nvPr/>
        </p:nvSpPr>
        <p:spPr>
          <a:xfrm>
            <a:off x="730067" y="2976099"/>
            <a:ext cx="6822871" cy="348448"/>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b="1" dirty="0">
                <a:latin typeface="Times New Roman" panose="02020603050405020304" pitchFamily="18" charset="0"/>
                <a:cs typeface="Times New Roman" panose="02020603050405020304" pitchFamily="18" charset="0"/>
                <a:sym typeface="Montserrat"/>
              </a:rPr>
              <a:t>Cách 1:</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dùng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IF()</a:t>
            </a:r>
            <a:r>
              <a:rPr lang="en-US" sz="1600" i="1"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phân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loại</a:t>
            </a:r>
            <a:r>
              <a:rPr lang="en-US" sz="1600" dirty="0">
                <a:latin typeface="Times New Roman" panose="02020603050405020304" pitchFamily="18" charset="0"/>
                <a:cs typeface="Times New Roman" panose="02020603050405020304" pitchFamily="18" charset="0"/>
                <a:sym typeface="Montserrat"/>
              </a:rPr>
              <a:t> price tier </a:t>
            </a:r>
            <a:r>
              <a:rPr lang="en-US" sz="1600" dirty="0" err="1">
                <a:latin typeface="Times New Roman" panose="02020603050405020304" pitchFamily="18" charset="0"/>
                <a:cs typeface="Times New Roman" panose="02020603050405020304" pitchFamily="18" charset="0"/>
                <a:sym typeface="Montserrat"/>
              </a:rPr>
              <a:t>theo</a:t>
            </a:r>
            <a:r>
              <a:rPr lang="en-US" sz="1600" dirty="0">
                <a:latin typeface="Times New Roman" panose="02020603050405020304" pitchFamily="18" charset="0"/>
                <a:cs typeface="Times New Roman" panose="02020603050405020304" pitchFamily="18" charset="0"/>
                <a:sym typeface="Montserrat"/>
              </a:rPr>
              <a:t> product retail price.</a:t>
            </a:r>
            <a:endParaRPr lang="en-US" sz="1600" dirty="0">
              <a:solidFill>
                <a:srgbClr val="C00000"/>
              </a:solidFill>
              <a:latin typeface="Times New Roman" panose="02020603050405020304" pitchFamily="18" charset="0"/>
              <a:cs typeface="Times New Roman" panose="02020603050405020304" pitchFamily="18" charset="0"/>
              <a:sym typeface="Montserrat"/>
            </a:endParaRPr>
          </a:p>
        </p:txBody>
      </p:sp>
      <p:sp>
        <p:nvSpPr>
          <p:cNvPr id="3" name="Rectangle 2">
            <a:extLst>
              <a:ext uri="{FF2B5EF4-FFF2-40B4-BE49-F238E27FC236}">
                <a16:creationId xmlns:a16="http://schemas.microsoft.com/office/drawing/2014/main" id="{4FDBEDBA-A3B2-B549-4878-796DAF4957D7}"/>
              </a:ext>
            </a:extLst>
          </p:cNvPr>
          <p:cNvSpPr>
            <a:spLocks noChangeArrowheads="1"/>
          </p:cNvSpPr>
          <p:nvPr/>
        </p:nvSpPr>
        <p:spPr bwMode="auto">
          <a:xfrm>
            <a:off x="0" y="447"/>
            <a:ext cx="10515819" cy="5492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400" b="1" dirty="0">
                <a:solidFill>
                  <a:srgbClr val="113A71"/>
                </a:solidFill>
                <a:latin typeface="Times New Roman" panose="02020603050405020304" pitchFamily="18" charset="0"/>
                <a:cs typeface="Times New Roman" panose="02020603050405020304" pitchFamily="18" charset="0"/>
              </a:rPr>
              <a:t>3</a:t>
            </a:r>
            <a:r>
              <a:rPr lang="vi-VN"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Sử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dụng</a:t>
            </a:r>
            <a:r>
              <a:rPr lang="en-US" sz="2400" b="1" dirty="0">
                <a:solidFill>
                  <a:srgbClr val="113A71"/>
                </a:solidFill>
                <a:latin typeface="Times New Roman" panose="02020603050405020304" pitchFamily="18" charset="0"/>
                <a:cs typeface="Times New Roman" panose="02020603050405020304" pitchFamily="18" charset="0"/>
              </a:rPr>
              <a:t> DAX</a:t>
            </a:r>
          </a:p>
        </p:txBody>
      </p:sp>
      <p:sp>
        <p:nvSpPr>
          <p:cNvPr id="6" name="Rectangle 1">
            <a:extLst>
              <a:ext uri="{FF2B5EF4-FFF2-40B4-BE49-F238E27FC236}">
                <a16:creationId xmlns:a16="http://schemas.microsoft.com/office/drawing/2014/main" id="{22B01787-4F8D-D678-93E4-4D79D5862461}"/>
              </a:ext>
            </a:extLst>
          </p:cNvPr>
          <p:cNvSpPr>
            <a:spLocks noChangeArrowheads="1"/>
          </p:cNvSpPr>
          <p:nvPr/>
        </p:nvSpPr>
        <p:spPr bwMode="auto">
          <a:xfrm>
            <a:off x="357246" y="430696"/>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000" b="1" dirty="0">
                <a:solidFill>
                  <a:srgbClr val="113A71"/>
                </a:solidFill>
                <a:latin typeface="Times New Roman" panose="02020603050405020304" pitchFamily="18" charset="0"/>
                <a:cs typeface="Times New Roman" panose="02020603050405020304" pitchFamily="18" charset="0"/>
              </a:rPr>
              <a:t>3.1. </a:t>
            </a:r>
            <a:r>
              <a:rPr lang="en-US" sz="2000" b="1" dirty="0" err="1">
                <a:solidFill>
                  <a:srgbClr val="113A71"/>
                </a:solidFill>
                <a:latin typeface="Times New Roman" panose="02020603050405020304" pitchFamily="18" charset="0"/>
                <a:cs typeface="Times New Roman" panose="02020603050405020304" pitchFamily="18" charset="0"/>
              </a:rPr>
              <a:t>Tạo</a:t>
            </a:r>
            <a:r>
              <a:rPr lang="en-US" sz="2000" b="1" dirty="0">
                <a:solidFill>
                  <a:srgbClr val="113A71"/>
                </a:solidFill>
                <a:latin typeface="Times New Roman" panose="02020603050405020304" pitchFamily="18" charset="0"/>
                <a:cs typeface="Times New Roman" panose="02020603050405020304" pitchFamily="18" charset="0"/>
              </a:rPr>
              <a:t> Calculated Columns (</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pic>
        <p:nvPicPr>
          <p:cNvPr id="8" name="Picture 7">
            <a:extLst>
              <a:ext uri="{FF2B5EF4-FFF2-40B4-BE49-F238E27FC236}">
                <a16:creationId xmlns:a16="http://schemas.microsoft.com/office/drawing/2014/main" id="{A7E3960A-F47E-E333-7A39-5A75C9E6A438}"/>
              </a:ext>
            </a:extLst>
          </p:cNvPr>
          <p:cNvPicPr>
            <a:picLocks noChangeAspect="1"/>
          </p:cNvPicPr>
          <p:nvPr/>
        </p:nvPicPr>
        <p:blipFill>
          <a:blip r:embed="rId6"/>
          <a:stretch>
            <a:fillRect/>
          </a:stretch>
        </p:blipFill>
        <p:spPr>
          <a:xfrm>
            <a:off x="1457136" y="3382629"/>
            <a:ext cx="9450119" cy="352474"/>
          </a:xfrm>
          <a:prstGeom prst="rect">
            <a:avLst/>
          </a:prstGeom>
        </p:spPr>
      </p:pic>
      <p:sp>
        <p:nvSpPr>
          <p:cNvPr id="10" name="Google Shape;642;p53">
            <a:extLst>
              <a:ext uri="{FF2B5EF4-FFF2-40B4-BE49-F238E27FC236}">
                <a16:creationId xmlns:a16="http://schemas.microsoft.com/office/drawing/2014/main" id="{8A5B4AD2-D851-12FA-06CF-66A604690D44}"/>
              </a:ext>
            </a:extLst>
          </p:cNvPr>
          <p:cNvSpPr txBox="1"/>
          <p:nvPr/>
        </p:nvSpPr>
        <p:spPr>
          <a:xfrm>
            <a:off x="730067" y="3699389"/>
            <a:ext cx="9640060" cy="337504"/>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b="1" dirty="0">
                <a:latin typeface="Times New Roman" panose="02020603050405020304" pitchFamily="18" charset="0"/>
                <a:cs typeface="Times New Roman" panose="02020603050405020304" pitchFamily="18" charset="0"/>
                <a:sym typeface="Montserrat"/>
              </a:rPr>
              <a:t>Cách 2:</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dùng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SWITCH() </a:t>
            </a:r>
            <a:r>
              <a:rPr lang="en-US" sz="1600" dirty="0">
                <a:solidFill>
                  <a:srgbClr val="0070C0"/>
                </a:solidFill>
                <a:latin typeface="Times New Roman" panose="02020603050405020304" pitchFamily="18" charset="0"/>
                <a:cs typeface="Times New Roman" panose="02020603050405020304" pitchFamily="18" charset="0"/>
                <a:sym typeface="Montserrat"/>
              </a:rPr>
              <a:t>–</a:t>
            </a:r>
            <a:r>
              <a:rPr lang="en-US" sz="1600" dirty="0">
                <a:latin typeface="Times New Roman" panose="02020603050405020304" pitchFamily="18" charset="0"/>
                <a:cs typeface="Times New Roman" panose="02020603050405020304" pitchFamily="18" charset="0"/>
                <a:sym typeface="Montserrat"/>
              </a:rPr>
              <a:t> </a:t>
            </a:r>
            <a:r>
              <a:rPr lang="vi-VN" sz="1600" dirty="0">
                <a:solidFill>
                  <a:srgbClr val="0070C0"/>
                </a:solidFill>
                <a:latin typeface="Times New Roman" panose="02020603050405020304" pitchFamily="18" charset="0"/>
                <a:cs typeface="Times New Roman" panose="02020603050405020304" pitchFamily="18" charset="0"/>
              </a:rPr>
              <a:t>là cách viết nâng cao hơn so với </a:t>
            </a:r>
            <a:r>
              <a:rPr lang="vi-VN" sz="1600" b="1" i="1" dirty="0">
                <a:solidFill>
                  <a:srgbClr val="0070C0"/>
                </a:solidFill>
                <a:latin typeface="Times New Roman" panose="02020603050405020304" pitchFamily="18" charset="0"/>
                <a:cs typeface="Times New Roman" panose="02020603050405020304" pitchFamily="18" charset="0"/>
              </a:rPr>
              <a:t>IF() </a:t>
            </a:r>
            <a:r>
              <a:rPr lang="vi-VN" sz="1600" dirty="0">
                <a:solidFill>
                  <a:srgbClr val="0070C0"/>
                </a:solidFill>
                <a:latin typeface="Times New Roman" panose="02020603050405020304" pitchFamily="18" charset="0"/>
                <a:cs typeface="Times New Roman" panose="02020603050405020304" pitchFamily="18" charset="0"/>
              </a:rPr>
              <a:t>lồng nhau khi có nhiều điều kiện</a:t>
            </a:r>
            <a:r>
              <a:rPr lang="en-US" sz="1600" dirty="0">
                <a:solidFill>
                  <a:srgbClr val="0070C0"/>
                </a:solidFill>
                <a:latin typeface="Times New Roman" panose="02020603050405020304" pitchFamily="18" charset="0"/>
                <a:cs typeface="Times New Roman" panose="02020603050405020304" pitchFamily="18" charset="0"/>
              </a:rPr>
              <a:t>.</a:t>
            </a:r>
            <a:endParaRPr lang="en-US" sz="1600" dirty="0">
              <a:solidFill>
                <a:srgbClr val="0070C0"/>
              </a:solidFill>
              <a:latin typeface="Times New Roman" panose="02020603050405020304" pitchFamily="18" charset="0"/>
              <a:cs typeface="Times New Roman" panose="02020603050405020304" pitchFamily="18" charset="0"/>
              <a:sym typeface="Montserrat"/>
            </a:endParaRPr>
          </a:p>
        </p:txBody>
      </p:sp>
    </p:spTree>
    <p:extLst>
      <p:ext uri="{BB962C8B-B14F-4D97-AF65-F5344CB8AC3E}">
        <p14:creationId xmlns:p14="http://schemas.microsoft.com/office/powerpoint/2010/main" val="65397126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3CFF5-0239-D0BB-9C6E-EEB6D9BB41AD}"/>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7D1AD576-F9FE-50FE-0D8D-4D69C8475B41}"/>
              </a:ext>
            </a:extLst>
          </p:cNvPr>
          <p:cNvSpPr txBox="1"/>
          <p:nvPr/>
        </p:nvSpPr>
        <p:spPr>
          <a:xfrm>
            <a:off x="346857" y="799034"/>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4" name="Google Shape;642;p53">
            <a:extLst>
              <a:ext uri="{FF2B5EF4-FFF2-40B4-BE49-F238E27FC236}">
                <a16:creationId xmlns:a16="http://schemas.microsoft.com/office/drawing/2014/main" id="{4CD9FFB3-2527-55DF-FBCE-CED7E794EC40}"/>
              </a:ext>
            </a:extLst>
          </p:cNvPr>
          <p:cNvSpPr txBox="1"/>
          <p:nvPr/>
        </p:nvSpPr>
        <p:spPr>
          <a:xfrm>
            <a:off x="346856" y="2654898"/>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sp>
        <p:nvSpPr>
          <p:cNvPr id="15" name="Google Shape;642;p53">
            <a:extLst>
              <a:ext uri="{FF2B5EF4-FFF2-40B4-BE49-F238E27FC236}">
                <a16:creationId xmlns:a16="http://schemas.microsoft.com/office/drawing/2014/main" id="{E2F7E84E-CB85-DD56-378F-C0F50B97271E}"/>
              </a:ext>
            </a:extLst>
          </p:cNvPr>
          <p:cNvSpPr txBox="1"/>
          <p:nvPr/>
        </p:nvSpPr>
        <p:spPr>
          <a:xfrm>
            <a:off x="490560" y="3014518"/>
            <a:ext cx="10971371" cy="379835"/>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measure </a:t>
            </a:r>
            <a:r>
              <a:rPr lang="en-US" sz="1600" b="1" dirty="0">
                <a:latin typeface="Times New Roman" panose="02020603050405020304" pitchFamily="18" charset="0"/>
                <a:cs typeface="Times New Roman" panose="02020603050405020304" pitchFamily="18" charset="0"/>
                <a:sym typeface="Montserrat"/>
              </a:rPr>
              <a:t>Quantity Sold </a:t>
            </a:r>
            <a:r>
              <a:rPr lang="en-US" sz="1600" dirty="0" err="1">
                <a:latin typeface="Times New Roman" panose="02020603050405020304" pitchFamily="18" charset="0"/>
                <a:cs typeface="Times New Roman" panose="02020603050405020304" pitchFamily="18" charset="0"/>
                <a:sym typeface="Montserrat"/>
              </a:rPr>
              <a:t>và</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Quantity Returned</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dùng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SUM()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tính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tổng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số</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lượng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sản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phẩm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bán</a:t>
            </a:r>
            <a:r>
              <a:rPr lang="en-US" sz="1600" dirty="0">
                <a:latin typeface="Times New Roman" panose="02020603050405020304" pitchFamily="18" charset="0"/>
                <a:cs typeface="Times New Roman" panose="02020603050405020304" pitchFamily="18" charset="0"/>
                <a:sym typeface="Montserrat"/>
              </a:rPr>
              <a:t>/</a:t>
            </a:r>
            <a:r>
              <a:rPr lang="en-US" sz="1600" dirty="0" err="1">
                <a:latin typeface="Times New Roman" panose="02020603050405020304" pitchFamily="18" charset="0"/>
                <a:cs typeface="Times New Roman" panose="02020603050405020304" pitchFamily="18" charset="0"/>
                <a:sym typeface="Montserrat"/>
              </a:rPr>
              <a:t>trả</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lại</a:t>
            </a:r>
            <a:r>
              <a:rPr lang="en-US" sz="1600" dirty="0">
                <a:latin typeface="Times New Roman" panose="02020603050405020304" pitchFamily="18" charset="0"/>
                <a:cs typeface="Times New Roman" panose="02020603050405020304" pitchFamily="18" charset="0"/>
                <a:sym typeface="Montserrat"/>
              </a:rPr>
              <a:t>.</a:t>
            </a:r>
          </a:p>
        </p:txBody>
      </p:sp>
      <p:pic>
        <p:nvPicPr>
          <p:cNvPr id="3" name="Picture 2">
            <a:extLst>
              <a:ext uri="{FF2B5EF4-FFF2-40B4-BE49-F238E27FC236}">
                <a16:creationId xmlns:a16="http://schemas.microsoft.com/office/drawing/2014/main" id="{EF0E1F34-35DE-066E-5294-CA7C2BD9FC2F}"/>
              </a:ext>
            </a:extLst>
          </p:cNvPr>
          <p:cNvPicPr>
            <a:picLocks noChangeAspect="1"/>
          </p:cNvPicPr>
          <p:nvPr/>
        </p:nvPicPr>
        <p:blipFill>
          <a:blip r:embed="rId2"/>
          <a:stretch>
            <a:fillRect/>
          </a:stretch>
        </p:blipFill>
        <p:spPr>
          <a:xfrm>
            <a:off x="2089504" y="978264"/>
            <a:ext cx="7773485" cy="1676634"/>
          </a:xfrm>
          <a:prstGeom prst="rect">
            <a:avLst/>
          </a:prstGeom>
        </p:spPr>
      </p:pic>
      <p:grpSp>
        <p:nvGrpSpPr>
          <p:cNvPr id="25" name="Group 24">
            <a:extLst>
              <a:ext uri="{FF2B5EF4-FFF2-40B4-BE49-F238E27FC236}">
                <a16:creationId xmlns:a16="http://schemas.microsoft.com/office/drawing/2014/main" id="{CB1C484C-1529-74D7-6950-A1D25EE9AB9E}"/>
              </a:ext>
            </a:extLst>
          </p:cNvPr>
          <p:cNvGrpSpPr/>
          <p:nvPr/>
        </p:nvGrpSpPr>
        <p:grpSpPr>
          <a:xfrm>
            <a:off x="1233033" y="3478812"/>
            <a:ext cx="9725933" cy="342948"/>
            <a:chOff x="1075850" y="3177230"/>
            <a:chExt cx="9725933" cy="342948"/>
          </a:xfrm>
        </p:grpSpPr>
        <p:pic>
          <p:nvPicPr>
            <p:cNvPr id="8" name="Picture 7">
              <a:extLst>
                <a:ext uri="{FF2B5EF4-FFF2-40B4-BE49-F238E27FC236}">
                  <a16:creationId xmlns:a16="http://schemas.microsoft.com/office/drawing/2014/main" id="{5ECB23E5-01C5-3C8D-F87C-284E95D3CE4F}"/>
                </a:ext>
              </a:extLst>
            </p:cNvPr>
            <p:cNvPicPr>
              <a:picLocks noChangeAspect="1"/>
            </p:cNvPicPr>
            <p:nvPr/>
          </p:nvPicPr>
          <p:blipFill>
            <a:blip r:embed="rId3"/>
            <a:stretch>
              <a:fillRect/>
            </a:stretch>
          </p:blipFill>
          <p:spPr>
            <a:xfrm>
              <a:off x="1075850" y="3223166"/>
              <a:ext cx="4182059" cy="295316"/>
            </a:xfrm>
            <a:prstGeom prst="rect">
              <a:avLst/>
            </a:prstGeom>
          </p:spPr>
        </p:pic>
        <p:pic>
          <p:nvPicPr>
            <p:cNvPr id="12" name="Picture 11">
              <a:extLst>
                <a:ext uri="{FF2B5EF4-FFF2-40B4-BE49-F238E27FC236}">
                  <a16:creationId xmlns:a16="http://schemas.microsoft.com/office/drawing/2014/main" id="{1E6FBA25-D34B-1406-190F-F562DF110FA7}"/>
                </a:ext>
              </a:extLst>
            </p:cNvPr>
            <p:cNvPicPr>
              <a:picLocks noChangeAspect="1"/>
            </p:cNvPicPr>
            <p:nvPr/>
          </p:nvPicPr>
          <p:blipFill>
            <a:blip r:embed="rId4"/>
            <a:stretch>
              <a:fillRect/>
            </a:stretch>
          </p:blipFill>
          <p:spPr>
            <a:xfrm>
              <a:off x="6934093" y="3177230"/>
              <a:ext cx="3867690" cy="342948"/>
            </a:xfrm>
            <a:prstGeom prst="rect">
              <a:avLst/>
            </a:prstGeom>
          </p:spPr>
        </p:pic>
      </p:grpSp>
      <p:grpSp>
        <p:nvGrpSpPr>
          <p:cNvPr id="26" name="Group 25">
            <a:extLst>
              <a:ext uri="{FF2B5EF4-FFF2-40B4-BE49-F238E27FC236}">
                <a16:creationId xmlns:a16="http://schemas.microsoft.com/office/drawing/2014/main" id="{5971B8D9-F12B-D74F-A2C9-94B7AFA5B9A8}"/>
              </a:ext>
            </a:extLst>
          </p:cNvPr>
          <p:cNvGrpSpPr/>
          <p:nvPr/>
        </p:nvGrpSpPr>
        <p:grpSpPr>
          <a:xfrm>
            <a:off x="1341233" y="4523522"/>
            <a:ext cx="9270024" cy="362001"/>
            <a:chOff x="1113278" y="4311356"/>
            <a:chExt cx="9270024" cy="362001"/>
          </a:xfrm>
        </p:grpSpPr>
        <p:pic>
          <p:nvPicPr>
            <p:cNvPr id="17" name="Picture 16">
              <a:extLst>
                <a:ext uri="{FF2B5EF4-FFF2-40B4-BE49-F238E27FC236}">
                  <a16:creationId xmlns:a16="http://schemas.microsoft.com/office/drawing/2014/main" id="{DF96C3DB-6BE6-BDCE-2D2B-186837209839}"/>
                </a:ext>
              </a:extLst>
            </p:cNvPr>
            <p:cNvPicPr>
              <a:picLocks noChangeAspect="1"/>
            </p:cNvPicPr>
            <p:nvPr/>
          </p:nvPicPr>
          <p:blipFill>
            <a:blip r:embed="rId5"/>
            <a:stretch>
              <a:fillRect/>
            </a:stretch>
          </p:blipFill>
          <p:spPr>
            <a:xfrm>
              <a:off x="1113278" y="4397093"/>
              <a:ext cx="4048690" cy="276264"/>
            </a:xfrm>
            <a:prstGeom prst="rect">
              <a:avLst/>
            </a:prstGeom>
          </p:spPr>
        </p:pic>
        <p:pic>
          <p:nvPicPr>
            <p:cNvPr id="20" name="Picture 19">
              <a:extLst>
                <a:ext uri="{FF2B5EF4-FFF2-40B4-BE49-F238E27FC236}">
                  <a16:creationId xmlns:a16="http://schemas.microsoft.com/office/drawing/2014/main" id="{D9B39317-D642-B564-641C-F33270E409F7}"/>
                </a:ext>
              </a:extLst>
            </p:cNvPr>
            <p:cNvPicPr>
              <a:picLocks noChangeAspect="1"/>
            </p:cNvPicPr>
            <p:nvPr/>
          </p:nvPicPr>
          <p:blipFill>
            <a:blip r:embed="rId6"/>
            <a:stretch>
              <a:fillRect/>
            </a:stretch>
          </p:blipFill>
          <p:spPr>
            <a:xfrm>
              <a:off x="7030034" y="4311356"/>
              <a:ext cx="3353268" cy="362001"/>
            </a:xfrm>
            <a:prstGeom prst="rect">
              <a:avLst/>
            </a:prstGeom>
          </p:spPr>
        </p:pic>
      </p:grpSp>
      <p:sp>
        <p:nvSpPr>
          <p:cNvPr id="21" name="Google Shape;642;p53">
            <a:extLst>
              <a:ext uri="{FF2B5EF4-FFF2-40B4-BE49-F238E27FC236}">
                <a16:creationId xmlns:a16="http://schemas.microsoft.com/office/drawing/2014/main" id="{9508E394-AE6E-8583-5316-02A0C0F64149}"/>
              </a:ext>
            </a:extLst>
          </p:cNvPr>
          <p:cNvSpPr txBox="1"/>
          <p:nvPr/>
        </p:nvSpPr>
        <p:spPr>
          <a:xfrm>
            <a:off x="490560" y="4060561"/>
            <a:ext cx="10971371" cy="379835"/>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measure </a:t>
            </a:r>
            <a:r>
              <a:rPr lang="en-US" sz="1600" b="1" dirty="0">
                <a:latin typeface="Times New Roman" panose="02020603050405020304" pitchFamily="18" charset="0"/>
                <a:cs typeface="Times New Roman" panose="02020603050405020304" pitchFamily="18" charset="0"/>
                <a:sym typeface="Montserrat"/>
              </a:rPr>
              <a:t>Total Transactions </a:t>
            </a:r>
            <a:r>
              <a:rPr lang="en-US" sz="1600" dirty="0" err="1">
                <a:latin typeface="Times New Roman" panose="02020603050405020304" pitchFamily="18" charset="0"/>
                <a:cs typeface="Times New Roman" panose="02020603050405020304" pitchFamily="18" charset="0"/>
                <a:sym typeface="Montserrat"/>
              </a:rPr>
              <a:t>và</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Total Returns</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dùng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COUNTROWS()</a:t>
            </a:r>
            <a:r>
              <a:rPr lang="en-US" sz="1600" i="1"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tính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số</a:t>
            </a:r>
            <a:r>
              <a:rPr lang="en-US" sz="1600" dirty="0">
                <a:latin typeface="Times New Roman" panose="02020603050405020304" pitchFamily="18" charset="0"/>
                <a:cs typeface="Times New Roman" panose="02020603050405020304" pitchFamily="18" charset="0"/>
                <a:sym typeface="Montserrat"/>
              </a:rPr>
              <a:t> record </a:t>
            </a:r>
            <a:r>
              <a:rPr lang="en-US" sz="1600" dirty="0" err="1">
                <a:latin typeface="Times New Roman" panose="02020603050405020304" pitchFamily="18" charset="0"/>
                <a:cs typeface="Times New Roman" panose="02020603050405020304" pitchFamily="18" charset="0"/>
                <a:sym typeface="Montserrat"/>
              </a:rPr>
              <a:t>của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các</a:t>
            </a:r>
            <a:r>
              <a:rPr lang="en-US" sz="1600" dirty="0">
                <a:latin typeface="Times New Roman" panose="02020603050405020304" pitchFamily="18" charset="0"/>
                <a:cs typeface="Times New Roman" panose="02020603050405020304" pitchFamily="18" charset="0"/>
                <a:sym typeface="Montserrat"/>
              </a:rPr>
              <a:t> data table.</a:t>
            </a:r>
          </a:p>
        </p:txBody>
      </p:sp>
      <p:sp>
        <p:nvSpPr>
          <p:cNvPr id="22" name="Google Shape;642;p53">
            <a:extLst>
              <a:ext uri="{FF2B5EF4-FFF2-40B4-BE49-F238E27FC236}">
                <a16:creationId xmlns:a16="http://schemas.microsoft.com/office/drawing/2014/main" id="{57A64BBF-CA98-3D4F-D4E7-D62DF5A15073}"/>
              </a:ext>
            </a:extLst>
          </p:cNvPr>
          <p:cNvSpPr txBox="1"/>
          <p:nvPr/>
        </p:nvSpPr>
        <p:spPr>
          <a:xfrm>
            <a:off x="490560" y="5054386"/>
            <a:ext cx="10827667" cy="508011"/>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measure </a:t>
            </a:r>
            <a:r>
              <a:rPr lang="en-US" sz="1600" b="1" dirty="0">
                <a:latin typeface="Times New Roman" panose="02020603050405020304" pitchFamily="18" charset="0"/>
                <a:cs typeface="Times New Roman" panose="02020603050405020304" pitchFamily="18" charset="0"/>
                <a:sym typeface="Montserrat"/>
              </a:rPr>
              <a:t>Return Rate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dùng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DIVIDE()</a:t>
            </a:r>
            <a:r>
              <a:rPr lang="en-US" sz="1600" i="1"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tính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tỷ</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lệ</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trả</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lại</a:t>
            </a:r>
            <a:r>
              <a:rPr lang="en-US" sz="1600" dirty="0">
                <a:latin typeface="Times New Roman" panose="02020603050405020304" pitchFamily="18" charset="0"/>
                <a:cs typeface="Times New Roman" panose="02020603050405020304" pitchFamily="18" charset="0"/>
                <a:sym typeface="Montserrat"/>
              </a:rPr>
              <a:t> so </a:t>
            </a:r>
            <a:r>
              <a:rPr lang="en-US" sz="1600" dirty="0" err="1">
                <a:latin typeface="Times New Roman" panose="02020603050405020304" pitchFamily="18" charset="0"/>
                <a:cs typeface="Times New Roman" panose="02020603050405020304" pitchFamily="18" charset="0"/>
                <a:sym typeface="Montserrat"/>
              </a:rPr>
              <a:t>với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đã</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bán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mục</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Measure tools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đổi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định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dạng</a:t>
            </a:r>
            <a:r>
              <a:rPr lang="en-US" sz="1600" dirty="0">
                <a:latin typeface="Times New Roman" panose="02020603050405020304" pitchFamily="18" charset="0"/>
                <a:cs typeface="Times New Roman" panose="02020603050405020304" pitchFamily="18" charset="0"/>
                <a:sym typeface="Montserrat"/>
              </a:rPr>
              <a:t> %.</a:t>
            </a:r>
          </a:p>
        </p:txBody>
      </p:sp>
      <p:grpSp>
        <p:nvGrpSpPr>
          <p:cNvPr id="7" name="Group 6">
            <a:extLst>
              <a:ext uri="{FF2B5EF4-FFF2-40B4-BE49-F238E27FC236}">
                <a16:creationId xmlns:a16="http://schemas.microsoft.com/office/drawing/2014/main" id="{46ACB687-FDB7-0329-DB6A-B02F3874A56C}"/>
              </a:ext>
            </a:extLst>
          </p:cNvPr>
          <p:cNvGrpSpPr/>
          <p:nvPr/>
        </p:nvGrpSpPr>
        <p:grpSpPr>
          <a:xfrm>
            <a:off x="2667768" y="5530660"/>
            <a:ext cx="6320367" cy="1056612"/>
            <a:chOff x="2792460" y="5625104"/>
            <a:chExt cx="6223866" cy="952879"/>
          </a:xfrm>
        </p:grpSpPr>
        <p:pic>
          <p:nvPicPr>
            <p:cNvPr id="24" name="Picture 23">
              <a:extLst>
                <a:ext uri="{FF2B5EF4-FFF2-40B4-BE49-F238E27FC236}">
                  <a16:creationId xmlns:a16="http://schemas.microsoft.com/office/drawing/2014/main" id="{7A4A9DE2-8373-9B46-8687-BE2E9D9746B4}"/>
                </a:ext>
              </a:extLst>
            </p:cNvPr>
            <p:cNvPicPr>
              <a:picLocks noChangeAspect="1"/>
            </p:cNvPicPr>
            <p:nvPr/>
          </p:nvPicPr>
          <p:blipFill>
            <a:blip r:embed="rId7"/>
            <a:stretch>
              <a:fillRect/>
            </a:stretch>
          </p:blipFill>
          <p:spPr>
            <a:xfrm>
              <a:off x="2792460" y="5625104"/>
              <a:ext cx="6223866" cy="952879"/>
            </a:xfrm>
            <a:prstGeom prst="rect">
              <a:avLst/>
            </a:prstGeom>
          </p:spPr>
        </p:pic>
        <p:sp>
          <p:nvSpPr>
            <p:cNvPr id="27" name="Rectangle 26">
              <a:extLst>
                <a:ext uri="{FF2B5EF4-FFF2-40B4-BE49-F238E27FC236}">
                  <a16:creationId xmlns:a16="http://schemas.microsoft.com/office/drawing/2014/main" id="{6C01B4D1-C193-5521-0287-7CA4964C7721}"/>
                </a:ext>
              </a:extLst>
            </p:cNvPr>
            <p:cNvSpPr/>
            <p:nvPr/>
          </p:nvSpPr>
          <p:spPr>
            <a:xfrm>
              <a:off x="4856365" y="5947956"/>
              <a:ext cx="193617" cy="185159"/>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grpSp>
      <p:sp>
        <p:nvSpPr>
          <p:cNvPr id="2" name="Rectangle 1">
            <a:extLst>
              <a:ext uri="{FF2B5EF4-FFF2-40B4-BE49-F238E27FC236}">
                <a16:creationId xmlns:a16="http://schemas.microsoft.com/office/drawing/2014/main" id="{BE377632-681D-49AE-23A0-521761B42C0D}"/>
              </a:ext>
            </a:extLst>
          </p:cNvPr>
          <p:cNvSpPr>
            <a:spLocks noChangeArrowheads="1"/>
          </p:cNvSpPr>
          <p:nvPr/>
        </p:nvSpPr>
        <p:spPr bwMode="auto">
          <a:xfrm>
            <a:off x="0" y="447"/>
            <a:ext cx="10515819" cy="5492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400" b="1" dirty="0">
                <a:solidFill>
                  <a:srgbClr val="113A71"/>
                </a:solidFill>
                <a:latin typeface="Times New Roman" panose="02020603050405020304" pitchFamily="18" charset="0"/>
                <a:cs typeface="Times New Roman" panose="02020603050405020304" pitchFamily="18" charset="0"/>
              </a:rPr>
              <a:t>3</a:t>
            </a:r>
            <a:r>
              <a:rPr lang="vi-VN"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Sử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dụng</a:t>
            </a:r>
            <a:r>
              <a:rPr lang="en-US" sz="2400" b="1" dirty="0">
                <a:solidFill>
                  <a:srgbClr val="113A71"/>
                </a:solidFill>
                <a:latin typeface="Times New Roman" panose="02020603050405020304" pitchFamily="18" charset="0"/>
                <a:cs typeface="Times New Roman" panose="02020603050405020304" pitchFamily="18" charset="0"/>
              </a:rPr>
              <a:t> DAX</a:t>
            </a:r>
          </a:p>
        </p:txBody>
      </p:sp>
      <p:sp>
        <p:nvSpPr>
          <p:cNvPr id="5" name="Rectangle 1">
            <a:extLst>
              <a:ext uri="{FF2B5EF4-FFF2-40B4-BE49-F238E27FC236}">
                <a16:creationId xmlns:a16="http://schemas.microsoft.com/office/drawing/2014/main" id="{0F45FD26-3009-6C5B-54C3-A2584F96C5E4}"/>
              </a:ext>
            </a:extLst>
          </p:cNvPr>
          <p:cNvSpPr>
            <a:spLocks noChangeArrowheads="1"/>
          </p:cNvSpPr>
          <p:nvPr/>
        </p:nvSpPr>
        <p:spPr bwMode="auto">
          <a:xfrm>
            <a:off x="357246" y="430696"/>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000" b="1" dirty="0">
                <a:solidFill>
                  <a:srgbClr val="113A71"/>
                </a:solidFill>
                <a:latin typeface="Times New Roman" panose="02020603050405020304" pitchFamily="18" charset="0"/>
                <a:cs typeface="Times New Roman" panose="02020603050405020304" pitchFamily="18" charset="0"/>
              </a:rPr>
              <a:t>3.2. </a:t>
            </a:r>
            <a:r>
              <a:rPr lang="en-US" sz="2000" b="1" dirty="0" err="1">
                <a:solidFill>
                  <a:srgbClr val="113A71"/>
                </a:solidFill>
                <a:latin typeface="Times New Roman" panose="02020603050405020304" pitchFamily="18" charset="0"/>
                <a:cs typeface="Times New Roman" panose="02020603050405020304" pitchFamily="18" charset="0"/>
              </a:rPr>
              <a:t>Tạo</a:t>
            </a:r>
            <a:r>
              <a:rPr lang="en-US" sz="2000" b="1" dirty="0">
                <a:solidFill>
                  <a:srgbClr val="113A71"/>
                </a:solidFill>
                <a:latin typeface="Times New Roman" panose="02020603050405020304" pitchFamily="18" charset="0"/>
                <a:cs typeface="Times New Roman" panose="02020603050405020304" pitchFamily="18" charset="0"/>
              </a:rPr>
              <a:t> Measure</a:t>
            </a:r>
          </a:p>
        </p:txBody>
      </p:sp>
    </p:spTree>
    <p:extLst>
      <p:ext uri="{BB962C8B-B14F-4D97-AF65-F5344CB8AC3E}">
        <p14:creationId xmlns:p14="http://schemas.microsoft.com/office/powerpoint/2010/main" val="21528344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56148-DC56-C747-7F71-57F72C5A7BBB}"/>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D6ED7DF1-B155-2527-362D-81DDAB52B452}"/>
              </a:ext>
            </a:extLst>
          </p:cNvPr>
          <p:cNvSpPr txBox="1"/>
          <p:nvPr/>
        </p:nvSpPr>
        <p:spPr>
          <a:xfrm>
            <a:off x="346857" y="840598"/>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4" name="Google Shape;642;p53">
            <a:extLst>
              <a:ext uri="{FF2B5EF4-FFF2-40B4-BE49-F238E27FC236}">
                <a16:creationId xmlns:a16="http://schemas.microsoft.com/office/drawing/2014/main" id="{69C1004C-497E-D055-8541-D800C63F5B0A}"/>
              </a:ext>
            </a:extLst>
          </p:cNvPr>
          <p:cNvSpPr txBox="1"/>
          <p:nvPr/>
        </p:nvSpPr>
        <p:spPr>
          <a:xfrm>
            <a:off x="346856" y="2339706"/>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sp>
        <p:nvSpPr>
          <p:cNvPr id="15" name="Google Shape;642;p53">
            <a:extLst>
              <a:ext uri="{FF2B5EF4-FFF2-40B4-BE49-F238E27FC236}">
                <a16:creationId xmlns:a16="http://schemas.microsoft.com/office/drawing/2014/main" id="{E909BB25-86C0-ED32-839D-7FB98984282D}"/>
              </a:ext>
            </a:extLst>
          </p:cNvPr>
          <p:cNvSpPr txBox="1"/>
          <p:nvPr/>
        </p:nvSpPr>
        <p:spPr>
          <a:xfrm>
            <a:off x="490560" y="2682006"/>
            <a:ext cx="10971371" cy="379835"/>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measure </a:t>
            </a:r>
            <a:r>
              <a:rPr lang="en-US" sz="1600" b="1" dirty="0">
                <a:latin typeface="Times New Roman" panose="02020603050405020304" pitchFamily="18" charset="0"/>
                <a:cs typeface="Times New Roman" panose="02020603050405020304" pitchFamily="18" charset="0"/>
                <a:sym typeface="Montserrat"/>
              </a:rPr>
              <a:t>Weekend Transaction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dùng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CALCULATE()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tính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tổng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số</a:t>
            </a:r>
            <a:r>
              <a:rPr lang="en-US" sz="1600" dirty="0">
                <a:latin typeface="Times New Roman" panose="02020603050405020304" pitchFamily="18" charset="0"/>
                <a:cs typeface="Times New Roman" panose="02020603050405020304" pitchFamily="18" charset="0"/>
                <a:sym typeface="Montserrat"/>
              </a:rPr>
              <a:t> giao </a:t>
            </a:r>
            <a:r>
              <a:rPr lang="en-US" sz="1600" dirty="0" err="1">
                <a:latin typeface="Times New Roman" panose="02020603050405020304" pitchFamily="18" charset="0"/>
                <a:cs typeface="Times New Roman" panose="02020603050405020304" pitchFamily="18" charset="0"/>
                <a:sym typeface="Montserrat"/>
              </a:rPr>
              <a:t>dịch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cuối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tuần</a:t>
            </a:r>
            <a:r>
              <a:rPr lang="en-US" sz="1600" dirty="0">
                <a:latin typeface="Times New Roman" panose="02020603050405020304" pitchFamily="18" charset="0"/>
                <a:cs typeface="Times New Roman" panose="02020603050405020304" pitchFamily="18" charset="0"/>
                <a:sym typeface="Montserrat"/>
              </a:rPr>
              <a:t>.</a:t>
            </a:r>
          </a:p>
        </p:txBody>
      </p:sp>
      <p:sp>
        <p:nvSpPr>
          <p:cNvPr id="21" name="Google Shape;642;p53">
            <a:extLst>
              <a:ext uri="{FF2B5EF4-FFF2-40B4-BE49-F238E27FC236}">
                <a16:creationId xmlns:a16="http://schemas.microsoft.com/office/drawing/2014/main" id="{DC8EF55F-7C0F-5281-2947-89B5C164CEBE}"/>
              </a:ext>
            </a:extLst>
          </p:cNvPr>
          <p:cNvSpPr txBox="1"/>
          <p:nvPr/>
        </p:nvSpPr>
        <p:spPr>
          <a:xfrm>
            <a:off x="490559" y="3591800"/>
            <a:ext cx="10971371" cy="578436"/>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measure </a:t>
            </a:r>
            <a:r>
              <a:rPr lang="en-US" sz="1600" b="1" dirty="0">
                <a:latin typeface="Times New Roman" panose="02020603050405020304" pitchFamily="18" charset="0"/>
                <a:cs typeface="Times New Roman" panose="02020603050405020304" pitchFamily="18" charset="0"/>
                <a:sym typeface="Montserrat"/>
              </a:rPr>
              <a:t>% Weekend Transactions: </a:t>
            </a:r>
            <a:r>
              <a:rPr lang="en-US" sz="1600" dirty="0" err="1">
                <a:latin typeface="Times New Roman" panose="02020603050405020304" pitchFamily="18" charset="0"/>
                <a:cs typeface="Times New Roman" panose="02020603050405020304" pitchFamily="18" charset="0"/>
                <a:sym typeface="Montserrat"/>
              </a:rPr>
              <a:t>dùng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DIVIDE()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tính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tỷ</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lệ</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tổng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số</a:t>
            </a:r>
            <a:r>
              <a:rPr lang="en-US" sz="1600" dirty="0">
                <a:latin typeface="Times New Roman" panose="02020603050405020304" pitchFamily="18" charset="0"/>
                <a:cs typeface="Times New Roman" panose="02020603050405020304" pitchFamily="18" charset="0"/>
                <a:sym typeface="Montserrat"/>
              </a:rPr>
              <a:t> giao </a:t>
            </a:r>
            <a:r>
              <a:rPr lang="en-US" sz="1600" dirty="0" err="1">
                <a:latin typeface="Times New Roman" panose="02020603050405020304" pitchFamily="18" charset="0"/>
                <a:cs typeface="Times New Roman" panose="02020603050405020304" pitchFamily="18" charset="0"/>
                <a:sym typeface="Montserrat"/>
              </a:rPr>
              <a:t>dịch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cuối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tuần</a:t>
            </a:r>
            <a:r>
              <a:rPr lang="en-US" sz="1600" dirty="0">
                <a:latin typeface="Times New Roman" panose="02020603050405020304" pitchFamily="18" charset="0"/>
                <a:cs typeface="Times New Roman" panose="02020603050405020304" pitchFamily="18" charset="0"/>
                <a:sym typeface="Montserrat"/>
              </a:rPr>
              <a:t>/</a:t>
            </a:r>
            <a:r>
              <a:rPr lang="en-US" sz="1600" dirty="0" err="1">
                <a:latin typeface="Times New Roman" panose="02020603050405020304" pitchFamily="18" charset="0"/>
                <a:cs typeface="Times New Roman" panose="02020603050405020304" pitchFamily="18" charset="0"/>
                <a:sym typeface="Montserrat"/>
              </a:rPr>
              <a:t>tổng</a:t>
            </a:r>
            <a:r>
              <a:rPr lang="en-US" sz="1600" dirty="0">
                <a:latin typeface="Times New Roman" panose="02020603050405020304" pitchFamily="18" charset="0"/>
                <a:cs typeface="Times New Roman" panose="02020603050405020304" pitchFamily="18" charset="0"/>
                <a:sym typeface="Montserrat"/>
              </a:rPr>
              <a:t> giao </a:t>
            </a:r>
            <a:r>
              <a:rPr lang="en-US" sz="1600" dirty="0" err="1">
                <a:latin typeface="Times New Roman" panose="02020603050405020304" pitchFamily="18" charset="0"/>
                <a:cs typeface="Times New Roman" panose="02020603050405020304" pitchFamily="18" charset="0"/>
                <a:sym typeface="Montserrat"/>
              </a:rPr>
              <a:t>dịch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Measure tools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đổi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định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dạng</a:t>
            </a:r>
            <a:r>
              <a:rPr lang="en-US" sz="1600" dirty="0">
                <a:latin typeface="Times New Roman" panose="02020603050405020304" pitchFamily="18" charset="0"/>
                <a:cs typeface="Times New Roman" panose="02020603050405020304" pitchFamily="18" charset="0"/>
                <a:sym typeface="Montserrat"/>
              </a:rPr>
              <a:t> %</a:t>
            </a:r>
          </a:p>
        </p:txBody>
      </p:sp>
      <p:sp>
        <p:nvSpPr>
          <p:cNvPr id="22" name="Google Shape;642;p53">
            <a:extLst>
              <a:ext uri="{FF2B5EF4-FFF2-40B4-BE49-F238E27FC236}">
                <a16:creationId xmlns:a16="http://schemas.microsoft.com/office/drawing/2014/main" id="{7EAB700F-CAC0-C117-9F23-93DA7F5D0958}"/>
              </a:ext>
            </a:extLst>
          </p:cNvPr>
          <p:cNvSpPr txBox="1"/>
          <p:nvPr/>
        </p:nvSpPr>
        <p:spPr>
          <a:xfrm>
            <a:off x="490559" y="5485487"/>
            <a:ext cx="10827667" cy="371527"/>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measure </a:t>
            </a:r>
            <a:r>
              <a:rPr lang="en-US" sz="1600" b="1" dirty="0">
                <a:latin typeface="Times New Roman" panose="02020603050405020304" pitchFamily="18" charset="0"/>
                <a:cs typeface="Times New Roman" panose="02020603050405020304" pitchFamily="18" charset="0"/>
                <a:sym typeface="Montserrat"/>
              </a:rPr>
              <a:t>All Transactions </a:t>
            </a:r>
            <a:r>
              <a:rPr lang="en-US" sz="1600" b="1" dirty="0" err="1">
                <a:latin typeface="Times New Roman" panose="02020603050405020304" pitchFamily="18" charset="0"/>
                <a:cs typeface="Times New Roman" panose="02020603050405020304" pitchFamily="18" charset="0"/>
                <a:sym typeface="Montserrat"/>
              </a:rPr>
              <a:t>và</a:t>
            </a:r>
            <a:r>
              <a:rPr lang="en-US" sz="1600" b="1" dirty="0">
                <a:latin typeface="Times New Roman" panose="02020603050405020304" pitchFamily="18" charset="0"/>
                <a:cs typeface="Times New Roman" panose="02020603050405020304" pitchFamily="18" charset="0"/>
                <a:sym typeface="Montserrat"/>
              </a:rPr>
              <a:t> All Returns</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dùng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CALCULATE()</a:t>
            </a:r>
            <a:r>
              <a:rPr lang="en-US" sz="1600" i="1"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tính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tổng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các</a:t>
            </a:r>
            <a:r>
              <a:rPr lang="en-US" sz="1600" dirty="0">
                <a:latin typeface="Times New Roman" panose="02020603050405020304" pitchFamily="18" charset="0"/>
                <a:cs typeface="Times New Roman" panose="02020603050405020304" pitchFamily="18" charset="0"/>
                <a:sym typeface="Montserrat"/>
              </a:rPr>
              <a:t> giao </a:t>
            </a:r>
            <a:r>
              <a:rPr lang="en-US" sz="1600" dirty="0" err="1">
                <a:latin typeface="Times New Roman" panose="02020603050405020304" pitchFamily="18" charset="0"/>
                <a:cs typeface="Times New Roman" panose="02020603050405020304" pitchFamily="18" charset="0"/>
                <a:sym typeface="Montserrat"/>
              </a:rPr>
              <a:t>dịch</a:t>
            </a:r>
            <a:r>
              <a:rPr lang="en-US" sz="1600" dirty="0">
                <a:latin typeface="Times New Roman" panose="02020603050405020304" pitchFamily="18" charset="0"/>
                <a:cs typeface="Times New Roman" panose="02020603050405020304" pitchFamily="18" charset="0"/>
                <a:sym typeface="Montserrat"/>
              </a:rPr>
              <a:t>/</a:t>
            </a:r>
            <a:r>
              <a:rPr lang="en-US" sz="1600" dirty="0" err="1">
                <a:latin typeface="Times New Roman" panose="02020603050405020304" pitchFamily="18" charset="0"/>
                <a:cs typeface="Times New Roman" panose="02020603050405020304" pitchFamily="18" charset="0"/>
                <a:sym typeface="Montserrat"/>
              </a:rPr>
              <a:t>trả</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hàng</a:t>
            </a:r>
            <a:r>
              <a:rPr lang="en-US" sz="1600" dirty="0">
                <a:latin typeface="Times New Roman" panose="02020603050405020304" pitchFamily="18" charset="0"/>
                <a:cs typeface="Times New Roman" panose="02020603050405020304" pitchFamily="18" charset="0"/>
                <a:sym typeface="Montserrat"/>
              </a:rPr>
              <a:t>.</a:t>
            </a:r>
            <a:endParaRPr lang="en-US" sz="1600" b="1" dirty="0">
              <a:latin typeface="Times New Roman" panose="02020603050405020304" pitchFamily="18" charset="0"/>
              <a:cs typeface="Times New Roman" panose="02020603050405020304" pitchFamily="18" charset="0"/>
              <a:sym typeface="Montserrat"/>
            </a:endParaRPr>
          </a:p>
        </p:txBody>
      </p:sp>
      <p:pic>
        <p:nvPicPr>
          <p:cNvPr id="5" name="Picture 4">
            <a:extLst>
              <a:ext uri="{FF2B5EF4-FFF2-40B4-BE49-F238E27FC236}">
                <a16:creationId xmlns:a16="http://schemas.microsoft.com/office/drawing/2014/main" id="{7D46DCB0-6A47-9AFA-4417-BDBB4CC4E6EF}"/>
              </a:ext>
            </a:extLst>
          </p:cNvPr>
          <p:cNvPicPr>
            <a:picLocks noChangeAspect="1"/>
          </p:cNvPicPr>
          <p:nvPr/>
        </p:nvPicPr>
        <p:blipFill>
          <a:blip r:embed="rId2"/>
          <a:stretch>
            <a:fillRect/>
          </a:stretch>
        </p:blipFill>
        <p:spPr>
          <a:xfrm>
            <a:off x="2165713" y="925057"/>
            <a:ext cx="7621064" cy="1428949"/>
          </a:xfrm>
          <a:prstGeom prst="rect">
            <a:avLst/>
          </a:prstGeom>
        </p:spPr>
      </p:pic>
      <p:pic>
        <p:nvPicPr>
          <p:cNvPr id="9" name="Picture 8">
            <a:extLst>
              <a:ext uri="{FF2B5EF4-FFF2-40B4-BE49-F238E27FC236}">
                <a16:creationId xmlns:a16="http://schemas.microsoft.com/office/drawing/2014/main" id="{E6045B95-4843-CA32-03D5-BD10635844E4}"/>
              </a:ext>
            </a:extLst>
          </p:cNvPr>
          <p:cNvPicPr>
            <a:picLocks noChangeAspect="1"/>
          </p:cNvPicPr>
          <p:nvPr/>
        </p:nvPicPr>
        <p:blipFill>
          <a:blip r:embed="rId3"/>
          <a:stretch>
            <a:fillRect/>
          </a:stretch>
        </p:blipFill>
        <p:spPr>
          <a:xfrm>
            <a:off x="2847521" y="3131394"/>
            <a:ext cx="6496957" cy="371527"/>
          </a:xfrm>
          <a:prstGeom prst="rect">
            <a:avLst/>
          </a:prstGeom>
        </p:spPr>
      </p:pic>
      <p:grpSp>
        <p:nvGrpSpPr>
          <p:cNvPr id="16" name="Group 15">
            <a:extLst>
              <a:ext uri="{FF2B5EF4-FFF2-40B4-BE49-F238E27FC236}">
                <a16:creationId xmlns:a16="http://schemas.microsoft.com/office/drawing/2014/main" id="{E6ABA63E-49E0-688B-4A93-3C8A7F6ADC35}"/>
              </a:ext>
            </a:extLst>
          </p:cNvPr>
          <p:cNvGrpSpPr/>
          <p:nvPr/>
        </p:nvGrpSpPr>
        <p:grpSpPr>
          <a:xfrm>
            <a:off x="2996428" y="4254270"/>
            <a:ext cx="6199144" cy="1147183"/>
            <a:chOff x="2847521" y="4072077"/>
            <a:chExt cx="6500068" cy="1222343"/>
          </a:xfrm>
        </p:grpSpPr>
        <p:pic>
          <p:nvPicPr>
            <p:cNvPr id="14" name="Picture 13">
              <a:extLst>
                <a:ext uri="{FF2B5EF4-FFF2-40B4-BE49-F238E27FC236}">
                  <a16:creationId xmlns:a16="http://schemas.microsoft.com/office/drawing/2014/main" id="{09703E0E-1EC1-F8F2-D847-FD63E8F93B31}"/>
                </a:ext>
              </a:extLst>
            </p:cNvPr>
            <p:cNvPicPr>
              <a:picLocks noChangeAspect="1"/>
            </p:cNvPicPr>
            <p:nvPr/>
          </p:nvPicPr>
          <p:blipFill>
            <a:blip r:embed="rId4"/>
            <a:stretch>
              <a:fillRect/>
            </a:stretch>
          </p:blipFill>
          <p:spPr>
            <a:xfrm>
              <a:off x="2847521" y="4072077"/>
              <a:ext cx="6500068" cy="1222343"/>
            </a:xfrm>
            <a:prstGeom prst="rect">
              <a:avLst/>
            </a:prstGeom>
          </p:spPr>
        </p:pic>
        <p:sp>
          <p:nvSpPr>
            <p:cNvPr id="27" name="Rectangle 26">
              <a:extLst>
                <a:ext uri="{FF2B5EF4-FFF2-40B4-BE49-F238E27FC236}">
                  <a16:creationId xmlns:a16="http://schemas.microsoft.com/office/drawing/2014/main" id="{6D892815-9BE1-4AFF-B1CA-F3AE9DE22FFE}"/>
                </a:ext>
              </a:extLst>
            </p:cNvPr>
            <p:cNvSpPr/>
            <p:nvPr/>
          </p:nvSpPr>
          <p:spPr>
            <a:xfrm>
              <a:off x="5050091" y="4623024"/>
              <a:ext cx="207818" cy="222019"/>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02827F54-CB84-6DE9-2FFA-EB1395D59BFA}"/>
              </a:ext>
            </a:extLst>
          </p:cNvPr>
          <p:cNvGrpSpPr/>
          <p:nvPr/>
        </p:nvGrpSpPr>
        <p:grpSpPr>
          <a:xfrm>
            <a:off x="490559" y="5890222"/>
            <a:ext cx="10971262" cy="371527"/>
            <a:chOff x="490668" y="5936823"/>
            <a:chExt cx="10971262" cy="371527"/>
          </a:xfrm>
        </p:grpSpPr>
        <p:pic>
          <p:nvPicPr>
            <p:cNvPr id="23" name="Picture 22">
              <a:extLst>
                <a:ext uri="{FF2B5EF4-FFF2-40B4-BE49-F238E27FC236}">
                  <a16:creationId xmlns:a16="http://schemas.microsoft.com/office/drawing/2014/main" id="{30830BD5-7D79-1EDB-5B74-C28E53209BE9}"/>
                </a:ext>
              </a:extLst>
            </p:cNvPr>
            <p:cNvPicPr>
              <a:picLocks noChangeAspect="1"/>
            </p:cNvPicPr>
            <p:nvPr/>
          </p:nvPicPr>
          <p:blipFill>
            <a:blip r:embed="rId5"/>
            <a:stretch>
              <a:fillRect/>
            </a:stretch>
          </p:blipFill>
          <p:spPr>
            <a:xfrm>
              <a:off x="490668" y="5936823"/>
              <a:ext cx="5992061" cy="371527"/>
            </a:xfrm>
            <a:prstGeom prst="rect">
              <a:avLst/>
            </a:prstGeom>
          </p:spPr>
        </p:pic>
        <p:pic>
          <p:nvPicPr>
            <p:cNvPr id="29" name="Picture 28">
              <a:extLst>
                <a:ext uri="{FF2B5EF4-FFF2-40B4-BE49-F238E27FC236}">
                  <a16:creationId xmlns:a16="http://schemas.microsoft.com/office/drawing/2014/main" id="{07E616D3-27CE-3E33-66E9-7D980F0AFDD3}"/>
                </a:ext>
              </a:extLst>
            </p:cNvPr>
            <p:cNvPicPr>
              <a:picLocks noChangeAspect="1"/>
            </p:cNvPicPr>
            <p:nvPr/>
          </p:nvPicPr>
          <p:blipFill>
            <a:blip r:embed="rId6"/>
            <a:stretch>
              <a:fillRect/>
            </a:stretch>
          </p:blipFill>
          <p:spPr>
            <a:xfrm>
              <a:off x="6641607" y="5979691"/>
              <a:ext cx="4820323" cy="285790"/>
            </a:xfrm>
            <a:prstGeom prst="rect">
              <a:avLst/>
            </a:prstGeom>
          </p:spPr>
        </p:pic>
      </p:grpSp>
      <p:sp>
        <p:nvSpPr>
          <p:cNvPr id="2" name="Rectangle 1">
            <a:extLst>
              <a:ext uri="{FF2B5EF4-FFF2-40B4-BE49-F238E27FC236}">
                <a16:creationId xmlns:a16="http://schemas.microsoft.com/office/drawing/2014/main" id="{5107C6F7-F20C-F674-8520-C2A1FFDE8975}"/>
              </a:ext>
            </a:extLst>
          </p:cNvPr>
          <p:cNvSpPr>
            <a:spLocks noChangeArrowheads="1"/>
          </p:cNvSpPr>
          <p:nvPr/>
        </p:nvSpPr>
        <p:spPr bwMode="auto">
          <a:xfrm>
            <a:off x="0" y="447"/>
            <a:ext cx="10515819" cy="5492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400" b="1" dirty="0">
                <a:solidFill>
                  <a:srgbClr val="113A71"/>
                </a:solidFill>
                <a:latin typeface="Times New Roman" panose="02020603050405020304" pitchFamily="18" charset="0"/>
                <a:cs typeface="Times New Roman" panose="02020603050405020304" pitchFamily="18" charset="0"/>
              </a:rPr>
              <a:t>3</a:t>
            </a:r>
            <a:r>
              <a:rPr lang="vi-VN"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Sử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dụng</a:t>
            </a:r>
            <a:r>
              <a:rPr lang="en-US" sz="2400" b="1" dirty="0">
                <a:solidFill>
                  <a:srgbClr val="113A71"/>
                </a:solidFill>
                <a:latin typeface="Times New Roman" panose="02020603050405020304" pitchFamily="18" charset="0"/>
                <a:cs typeface="Times New Roman" panose="02020603050405020304" pitchFamily="18" charset="0"/>
              </a:rPr>
              <a:t> DAX</a:t>
            </a:r>
          </a:p>
        </p:txBody>
      </p:sp>
      <p:sp>
        <p:nvSpPr>
          <p:cNvPr id="3" name="Rectangle 1">
            <a:extLst>
              <a:ext uri="{FF2B5EF4-FFF2-40B4-BE49-F238E27FC236}">
                <a16:creationId xmlns:a16="http://schemas.microsoft.com/office/drawing/2014/main" id="{937954AB-773A-FEEB-0FB0-947230FAC863}"/>
              </a:ext>
            </a:extLst>
          </p:cNvPr>
          <p:cNvSpPr>
            <a:spLocks noChangeArrowheads="1"/>
          </p:cNvSpPr>
          <p:nvPr/>
        </p:nvSpPr>
        <p:spPr bwMode="auto">
          <a:xfrm>
            <a:off x="357246" y="430696"/>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000" b="1" dirty="0">
                <a:solidFill>
                  <a:srgbClr val="113A71"/>
                </a:solidFill>
                <a:latin typeface="Times New Roman" panose="02020603050405020304" pitchFamily="18" charset="0"/>
                <a:cs typeface="Times New Roman" panose="02020603050405020304" pitchFamily="18" charset="0"/>
              </a:rPr>
              <a:t>3.2. </a:t>
            </a:r>
            <a:r>
              <a:rPr lang="en-US" sz="2000" b="1" dirty="0" err="1">
                <a:solidFill>
                  <a:srgbClr val="113A71"/>
                </a:solidFill>
                <a:latin typeface="Times New Roman" panose="02020603050405020304" pitchFamily="18" charset="0"/>
                <a:cs typeface="Times New Roman" panose="02020603050405020304" pitchFamily="18" charset="0"/>
              </a:rPr>
              <a:t>Tạo</a:t>
            </a:r>
            <a:r>
              <a:rPr lang="en-US" sz="2000" b="1" dirty="0">
                <a:solidFill>
                  <a:srgbClr val="113A71"/>
                </a:solidFill>
                <a:latin typeface="Times New Roman" panose="02020603050405020304" pitchFamily="18" charset="0"/>
                <a:cs typeface="Times New Roman" panose="02020603050405020304" pitchFamily="18" charset="0"/>
              </a:rPr>
              <a:t> Measure (</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sp>
        <p:nvSpPr>
          <p:cNvPr id="6" name="Google Shape;642;p53">
            <a:extLst>
              <a:ext uri="{FF2B5EF4-FFF2-40B4-BE49-F238E27FC236}">
                <a16:creationId xmlns:a16="http://schemas.microsoft.com/office/drawing/2014/main" id="{C6F7118E-D89F-402F-7ABD-A3125A029131}"/>
              </a:ext>
            </a:extLst>
          </p:cNvPr>
          <p:cNvSpPr txBox="1"/>
          <p:nvPr/>
        </p:nvSpPr>
        <p:spPr>
          <a:xfrm>
            <a:off x="490559" y="6294958"/>
            <a:ext cx="10971371" cy="390249"/>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ALL()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bỏ</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toàn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bộ</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điều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kiện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lọc</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đang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áp</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dụng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trên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bảng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dữ</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liệu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nhờ</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đó</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luôn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hiển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thị</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tổng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giá</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trị</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của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toàn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bộ</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bảng</a:t>
            </a:r>
            <a:r>
              <a:rPr lang="en-US" sz="1600" dirty="0">
                <a:latin typeface="Times New Roman" panose="02020603050405020304" pitchFamily="18" charset="0"/>
                <a:cs typeface="Times New Roman" panose="02020603050405020304" pitchFamily="18" charset="0"/>
                <a:sym typeface="Montserrat"/>
              </a:rPr>
              <a:t>.</a:t>
            </a:r>
          </a:p>
        </p:txBody>
      </p:sp>
    </p:spTree>
    <p:extLst>
      <p:ext uri="{BB962C8B-B14F-4D97-AF65-F5344CB8AC3E}">
        <p14:creationId xmlns:p14="http://schemas.microsoft.com/office/powerpoint/2010/main" val="27503781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7D989-3480-4DDE-512C-0FBF70881D3D}"/>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5AB37E98-B5CE-6CFE-F3B0-618200784798}"/>
              </a:ext>
            </a:extLst>
          </p:cNvPr>
          <p:cNvSpPr txBox="1"/>
          <p:nvPr/>
        </p:nvSpPr>
        <p:spPr>
          <a:xfrm>
            <a:off x="346857" y="799034"/>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4" name="Google Shape;642;p53">
            <a:extLst>
              <a:ext uri="{FF2B5EF4-FFF2-40B4-BE49-F238E27FC236}">
                <a16:creationId xmlns:a16="http://schemas.microsoft.com/office/drawing/2014/main" id="{B6AF0ACF-CD28-8E11-890B-838204A9CD95}"/>
              </a:ext>
            </a:extLst>
          </p:cNvPr>
          <p:cNvSpPr txBox="1"/>
          <p:nvPr/>
        </p:nvSpPr>
        <p:spPr>
          <a:xfrm>
            <a:off x="346857" y="2241208"/>
            <a:ext cx="10971371" cy="319050"/>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sp>
        <p:nvSpPr>
          <p:cNvPr id="15" name="Google Shape;642;p53">
            <a:extLst>
              <a:ext uri="{FF2B5EF4-FFF2-40B4-BE49-F238E27FC236}">
                <a16:creationId xmlns:a16="http://schemas.microsoft.com/office/drawing/2014/main" id="{47C07F9B-3BD9-0321-88EB-7B440A501F11}"/>
              </a:ext>
            </a:extLst>
          </p:cNvPr>
          <p:cNvSpPr txBox="1"/>
          <p:nvPr/>
        </p:nvSpPr>
        <p:spPr>
          <a:xfrm>
            <a:off x="490559" y="2597527"/>
            <a:ext cx="7965155" cy="574544"/>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measure </a:t>
            </a:r>
            <a:r>
              <a:rPr lang="en-US" sz="1600" b="1" dirty="0">
                <a:latin typeface="Times New Roman" panose="02020603050405020304" pitchFamily="18" charset="0"/>
                <a:cs typeface="Times New Roman" panose="02020603050405020304" pitchFamily="18" charset="0"/>
                <a:sym typeface="Montserrat"/>
              </a:rPr>
              <a:t>Total Revenue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dùng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SUMX()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tính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tổng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doanh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bằng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cách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nhân</a:t>
            </a:r>
            <a:r>
              <a:rPr lang="en-US" sz="1600" dirty="0">
                <a:latin typeface="Times New Roman" panose="02020603050405020304" pitchFamily="18" charset="0"/>
                <a:cs typeface="Times New Roman" panose="02020603050405020304" pitchFamily="18" charset="0"/>
                <a:sym typeface="Montserrat"/>
              </a:rPr>
              <a:t> </a:t>
            </a:r>
            <a:r>
              <a:rPr lang="en-US" sz="1600" i="1" dirty="0" err="1">
                <a:latin typeface="Times New Roman" panose="02020603050405020304" pitchFamily="18" charset="0"/>
                <a:cs typeface="Times New Roman" panose="02020603050405020304" pitchFamily="18" charset="0"/>
                <a:sym typeface="Montserrat"/>
              </a:rPr>
              <a:t>số</a:t>
            </a:r>
            <a:r>
              <a:rPr lang="en-US" sz="1600" i="1" dirty="0">
                <a:latin typeface="Times New Roman" panose="02020603050405020304" pitchFamily="18" charset="0"/>
                <a:cs typeface="Times New Roman" panose="02020603050405020304" pitchFamily="18" charset="0"/>
                <a:sym typeface="Montserrat"/>
              </a:rPr>
              <a:t> </a:t>
            </a:r>
            <a:r>
              <a:rPr lang="en-US" sz="1600" i="1" dirty="0" err="1">
                <a:latin typeface="Times New Roman" panose="02020603050405020304" pitchFamily="18" charset="0"/>
                <a:cs typeface="Times New Roman" panose="02020603050405020304" pitchFamily="18" charset="0"/>
                <a:sym typeface="Montserrat"/>
              </a:rPr>
              <a:t>lượng</a:t>
            </a:r>
            <a:r>
              <a:rPr lang="en-US" sz="1600" i="1" dirty="0">
                <a:latin typeface="Times New Roman" panose="02020603050405020304" pitchFamily="18" charset="0"/>
                <a:cs typeface="Times New Roman" panose="02020603050405020304" pitchFamily="18" charset="0"/>
                <a:sym typeface="Montserrat"/>
              </a:rPr>
              <a:t> transaction </a:t>
            </a:r>
            <a:r>
              <a:rPr lang="en-US" sz="1600" dirty="0" err="1">
                <a:latin typeface="Times New Roman" panose="02020603050405020304" pitchFamily="18" charset="0"/>
                <a:cs typeface="Times New Roman" panose="02020603050405020304" pitchFamily="18" charset="0"/>
                <a:sym typeface="Montserrat"/>
              </a:rPr>
              <a:t>trong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bảng</a:t>
            </a:r>
            <a:r>
              <a:rPr lang="en-US" sz="1600" dirty="0">
                <a:latin typeface="Times New Roman" panose="02020603050405020304" pitchFamily="18" charset="0"/>
                <a:cs typeface="Times New Roman" panose="02020603050405020304" pitchFamily="18" charset="0"/>
                <a:sym typeface="Montserrat"/>
              </a:rPr>
              <a:t> </a:t>
            </a:r>
            <a:r>
              <a:rPr lang="en-US" sz="1600" b="1" dirty="0" err="1">
                <a:latin typeface="Times New Roman" panose="02020603050405020304" pitchFamily="18" charset="0"/>
                <a:cs typeface="Times New Roman" panose="02020603050405020304" pitchFamily="18" charset="0"/>
                <a:sym typeface="Montserrat"/>
              </a:rPr>
              <a:t>Transaction_Data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với</a:t>
            </a:r>
            <a:r>
              <a:rPr lang="en-US" sz="1600" dirty="0">
                <a:latin typeface="Times New Roman" panose="02020603050405020304" pitchFamily="18" charset="0"/>
                <a:cs typeface="Times New Roman" panose="02020603050405020304" pitchFamily="18" charset="0"/>
                <a:sym typeface="Montserrat"/>
              </a:rPr>
              <a:t> </a:t>
            </a:r>
            <a:r>
              <a:rPr lang="en-US" sz="1600" i="1" dirty="0">
                <a:latin typeface="Times New Roman" panose="02020603050405020304" pitchFamily="18" charset="0"/>
                <a:cs typeface="Times New Roman" panose="02020603050405020304" pitchFamily="18" charset="0"/>
                <a:sym typeface="Montserrat"/>
              </a:rPr>
              <a:t>product retail price </a:t>
            </a:r>
            <a:r>
              <a:rPr lang="en-US" sz="1600" dirty="0" err="1">
                <a:latin typeface="Times New Roman" panose="02020603050405020304" pitchFamily="18" charset="0"/>
                <a:cs typeface="Times New Roman" panose="02020603050405020304" pitchFamily="18" charset="0"/>
                <a:sym typeface="Montserrat"/>
              </a:rPr>
              <a:t>trong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bảng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Products.</a:t>
            </a:r>
            <a:endParaRPr lang="en-US" sz="1600" i="1" dirty="0">
              <a:solidFill>
                <a:srgbClr val="0070C0"/>
              </a:solidFill>
              <a:latin typeface="Times New Roman" panose="02020603050405020304" pitchFamily="18" charset="0"/>
              <a:cs typeface="Times New Roman" panose="02020603050405020304" pitchFamily="18" charset="0"/>
              <a:sym typeface="Montserrat"/>
            </a:endParaRPr>
          </a:p>
        </p:txBody>
      </p:sp>
      <p:sp>
        <p:nvSpPr>
          <p:cNvPr id="21" name="Google Shape;642;p53">
            <a:extLst>
              <a:ext uri="{FF2B5EF4-FFF2-40B4-BE49-F238E27FC236}">
                <a16:creationId xmlns:a16="http://schemas.microsoft.com/office/drawing/2014/main" id="{00D6075D-0D3E-3D20-1CDC-73FE10F95407}"/>
              </a:ext>
            </a:extLst>
          </p:cNvPr>
          <p:cNvSpPr txBox="1"/>
          <p:nvPr/>
        </p:nvSpPr>
        <p:spPr>
          <a:xfrm>
            <a:off x="490559" y="3635935"/>
            <a:ext cx="7965155" cy="574544"/>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measure </a:t>
            </a:r>
            <a:r>
              <a:rPr lang="en-US" sz="1600" b="1" dirty="0">
                <a:latin typeface="Times New Roman" panose="02020603050405020304" pitchFamily="18" charset="0"/>
                <a:cs typeface="Times New Roman" panose="02020603050405020304" pitchFamily="18" charset="0"/>
                <a:sym typeface="Montserrat"/>
              </a:rPr>
              <a:t>Total Cost: </a:t>
            </a:r>
            <a:r>
              <a:rPr lang="en-US" sz="1600" dirty="0" err="1">
                <a:latin typeface="Times New Roman" panose="02020603050405020304" pitchFamily="18" charset="0"/>
                <a:cs typeface="Times New Roman" panose="02020603050405020304" pitchFamily="18" charset="0"/>
                <a:sym typeface="Montserrat"/>
              </a:rPr>
              <a:t>dùng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SUMX()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tính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tổng</a:t>
            </a:r>
            <a:r>
              <a:rPr lang="en-US" sz="1600" dirty="0">
                <a:latin typeface="Times New Roman" panose="02020603050405020304" pitchFamily="18" charset="0"/>
                <a:cs typeface="Times New Roman" panose="02020603050405020304" pitchFamily="18" charset="0"/>
                <a:sym typeface="Montserrat"/>
              </a:rPr>
              <a:t> chi </a:t>
            </a:r>
            <a:r>
              <a:rPr lang="en-US" sz="1600" dirty="0" err="1">
                <a:latin typeface="Times New Roman" panose="02020603050405020304" pitchFamily="18" charset="0"/>
                <a:cs typeface="Times New Roman" panose="02020603050405020304" pitchFamily="18" charset="0"/>
                <a:sym typeface="Montserrat"/>
              </a:rPr>
              <a:t>phí</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bằng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cách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nhân</a:t>
            </a:r>
            <a:r>
              <a:rPr lang="en-US" sz="1600" dirty="0">
                <a:latin typeface="Times New Roman" panose="02020603050405020304" pitchFamily="18" charset="0"/>
                <a:cs typeface="Times New Roman" panose="02020603050405020304" pitchFamily="18" charset="0"/>
                <a:sym typeface="Montserrat"/>
              </a:rPr>
              <a:t> </a:t>
            </a:r>
            <a:r>
              <a:rPr lang="en-US" sz="1600" i="1" dirty="0" err="1">
                <a:latin typeface="Times New Roman" panose="02020603050405020304" pitchFamily="18" charset="0"/>
                <a:cs typeface="Times New Roman" panose="02020603050405020304" pitchFamily="18" charset="0"/>
                <a:sym typeface="Montserrat"/>
              </a:rPr>
              <a:t>số</a:t>
            </a:r>
            <a:r>
              <a:rPr lang="en-US" sz="1600" i="1" dirty="0">
                <a:latin typeface="Times New Roman" panose="02020603050405020304" pitchFamily="18" charset="0"/>
                <a:cs typeface="Times New Roman" panose="02020603050405020304" pitchFamily="18" charset="0"/>
                <a:sym typeface="Montserrat"/>
              </a:rPr>
              <a:t> </a:t>
            </a:r>
            <a:r>
              <a:rPr lang="en-US" sz="1600" i="1" dirty="0" err="1">
                <a:latin typeface="Times New Roman" panose="02020603050405020304" pitchFamily="18" charset="0"/>
                <a:cs typeface="Times New Roman" panose="02020603050405020304" pitchFamily="18" charset="0"/>
                <a:sym typeface="Montserrat"/>
              </a:rPr>
              <a:t>lượng</a:t>
            </a:r>
            <a:r>
              <a:rPr lang="en-US" sz="1600" i="1" dirty="0">
                <a:latin typeface="Times New Roman" panose="02020603050405020304" pitchFamily="18" charset="0"/>
                <a:cs typeface="Times New Roman" panose="02020603050405020304" pitchFamily="18" charset="0"/>
                <a:sym typeface="Montserrat"/>
              </a:rPr>
              <a:t> transaction </a:t>
            </a:r>
            <a:r>
              <a:rPr lang="en-US" sz="1600" dirty="0" err="1">
                <a:latin typeface="Times New Roman" panose="02020603050405020304" pitchFamily="18" charset="0"/>
                <a:cs typeface="Times New Roman" panose="02020603050405020304" pitchFamily="18" charset="0"/>
                <a:sym typeface="Montserrat"/>
              </a:rPr>
              <a:t>trong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bảng</a:t>
            </a:r>
            <a:r>
              <a:rPr lang="en-US" sz="1600" dirty="0">
                <a:latin typeface="Times New Roman" panose="02020603050405020304" pitchFamily="18" charset="0"/>
                <a:cs typeface="Times New Roman" panose="02020603050405020304" pitchFamily="18" charset="0"/>
                <a:sym typeface="Montserrat"/>
              </a:rPr>
              <a:t> </a:t>
            </a:r>
            <a:r>
              <a:rPr lang="en-US" sz="1600" b="1" dirty="0" err="1">
                <a:latin typeface="Times New Roman" panose="02020603050405020304" pitchFamily="18" charset="0"/>
                <a:cs typeface="Times New Roman" panose="02020603050405020304" pitchFamily="18" charset="0"/>
                <a:sym typeface="Montserrat"/>
              </a:rPr>
              <a:t>Transaction_Data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với</a:t>
            </a:r>
            <a:r>
              <a:rPr lang="en-US" sz="1600" dirty="0">
                <a:latin typeface="Times New Roman" panose="02020603050405020304" pitchFamily="18" charset="0"/>
                <a:cs typeface="Times New Roman" panose="02020603050405020304" pitchFamily="18" charset="0"/>
                <a:sym typeface="Montserrat"/>
              </a:rPr>
              <a:t> </a:t>
            </a:r>
            <a:r>
              <a:rPr lang="en-US" sz="1600" i="1" dirty="0">
                <a:latin typeface="Times New Roman" panose="02020603050405020304" pitchFamily="18" charset="0"/>
                <a:cs typeface="Times New Roman" panose="02020603050405020304" pitchFamily="18" charset="0"/>
                <a:sym typeface="Montserrat"/>
              </a:rPr>
              <a:t>product cost </a:t>
            </a:r>
            <a:r>
              <a:rPr lang="en-US" sz="1600" dirty="0" err="1">
                <a:latin typeface="Times New Roman" panose="02020603050405020304" pitchFamily="18" charset="0"/>
                <a:cs typeface="Times New Roman" panose="02020603050405020304" pitchFamily="18" charset="0"/>
                <a:sym typeface="Montserrat"/>
              </a:rPr>
              <a:t>trong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bảng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Products.</a:t>
            </a:r>
            <a:endParaRPr lang="en-US" sz="1600" dirty="0">
              <a:latin typeface="Times New Roman" panose="02020603050405020304" pitchFamily="18" charset="0"/>
              <a:cs typeface="Times New Roman" panose="02020603050405020304" pitchFamily="18" charset="0"/>
              <a:sym typeface="Montserrat"/>
            </a:endParaRPr>
          </a:p>
        </p:txBody>
      </p:sp>
      <p:sp>
        <p:nvSpPr>
          <p:cNvPr id="22" name="Google Shape;642;p53">
            <a:extLst>
              <a:ext uri="{FF2B5EF4-FFF2-40B4-BE49-F238E27FC236}">
                <a16:creationId xmlns:a16="http://schemas.microsoft.com/office/drawing/2014/main" id="{B4D610C5-8966-27D0-8552-6A2E4842A253}"/>
              </a:ext>
            </a:extLst>
          </p:cNvPr>
          <p:cNvSpPr txBox="1"/>
          <p:nvPr/>
        </p:nvSpPr>
        <p:spPr>
          <a:xfrm>
            <a:off x="490558" y="4684225"/>
            <a:ext cx="10827667" cy="371527"/>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measure </a:t>
            </a:r>
            <a:r>
              <a:rPr lang="en-US" sz="1600" b="1" dirty="0">
                <a:latin typeface="Times New Roman" panose="02020603050405020304" pitchFamily="18" charset="0"/>
                <a:cs typeface="Times New Roman" panose="02020603050405020304" pitchFamily="18" charset="0"/>
                <a:sym typeface="Montserrat"/>
              </a:rPr>
              <a:t>Total Profit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lấy</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tổng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doanh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trừ</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tổng</a:t>
            </a:r>
            <a:r>
              <a:rPr lang="en-US" sz="1600" dirty="0">
                <a:latin typeface="Times New Roman" panose="02020603050405020304" pitchFamily="18" charset="0"/>
                <a:cs typeface="Times New Roman" panose="02020603050405020304" pitchFamily="18" charset="0"/>
                <a:sym typeface="Montserrat"/>
              </a:rPr>
              <a:t> chi </a:t>
            </a:r>
            <a:r>
              <a:rPr lang="en-US" sz="1600" dirty="0" err="1">
                <a:latin typeface="Times New Roman" panose="02020603050405020304" pitchFamily="18" charset="0"/>
                <a:cs typeface="Times New Roman" panose="02020603050405020304" pitchFamily="18" charset="0"/>
                <a:sym typeface="Montserrat"/>
              </a:rPr>
              <a:t>phí</a:t>
            </a:r>
            <a:endParaRPr lang="en-US" sz="1600" dirty="0">
              <a:latin typeface="Times New Roman" panose="02020603050405020304" pitchFamily="18" charset="0"/>
              <a:cs typeface="Times New Roman" panose="02020603050405020304" pitchFamily="18" charset="0"/>
              <a:sym typeface="Montserrat"/>
            </a:endParaRPr>
          </a:p>
        </p:txBody>
      </p:sp>
      <p:pic>
        <p:nvPicPr>
          <p:cNvPr id="3" name="Picture 2">
            <a:extLst>
              <a:ext uri="{FF2B5EF4-FFF2-40B4-BE49-F238E27FC236}">
                <a16:creationId xmlns:a16="http://schemas.microsoft.com/office/drawing/2014/main" id="{9300CC73-F392-F250-D043-149A4E6320C9}"/>
              </a:ext>
            </a:extLst>
          </p:cNvPr>
          <p:cNvPicPr>
            <a:picLocks noChangeAspect="1"/>
          </p:cNvPicPr>
          <p:nvPr/>
        </p:nvPicPr>
        <p:blipFill>
          <a:blip r:embed="rId2"/>
          <a:stretch>
            <a:fillRect/>
          </a:stretch>
        </p:blipFill>
        <p:spPr>
          <a:xfrm>
            <a:off x="2765560" y="887143"/>
            <a:ext cx="6660870" cy="1366542"/>
          </a:xfrm>
          <a:prstGeom prst="rect">
            <a:avLst/>
          </a:prstGeom>
        </p:spPr>
      </p:pic>
      <p:pic>
        <p:nvPicPr>
          <p:cNvPr id="8" name="Picture 7">
            <a:extLst>
              <a:ext uri="{FF2B5EF4-FFF2-40B4-BE49-F238E27FC236}">
                <a16:creationId xmlns:a16="http://schemas.microsoft.com/office/drawing/2014/main" id="{9476EAFC-99BE-D98C-3C25-F6892FF64D61}"/>
              </a:ext>
            </a:extLst>
          </p:cNvPr>
          <p:cNvPicPr>
            <a:picLocks noChangeAspect="1"/>
          </p:cNvPicPr>
          <p:nvPr/>
        </p:nvPicPr>
        <p:blipFill>
          <a:blip r:embed="rId3"/>
          <a:stretch>
            <a:fillRect/>
          </a:stretch>
        </p:blipFill>
        <p:spPr>
          <a:xfrm>
            <a:off x="556879" y="3250182"/>
            <a:ext cx="7898835" cy="324493"/>
          </a:xfrm>
          <a:prstGeom prst="rect">
            <a:avLst/>
          </a:prstGeom>
        </p:spPr>
      </p:pic>
      <p:pic>
        <p:nvPicPr>
          <p:cNvPr id="11" name="Picture 10">
            <a:extLst>
              <a:ext uri="{FF2B5EF4-FFF2-40B4-BE49-F238E27FC236}">
                <a16:creationId xmlns:a16="http://schemas.microsoft.com/office/drawing/2014/main" id="{2A61819C-2D2F-9870-10C0-DD95065AE484}"/>
              </a:ext>
            </a:extLst>
          </p:cNvPr>
          <p:cNvPicPr>
            <a:picLocks noChangeAspect="1"/>
          </p:cNvPicPr>
          <p:nvPr/>
        </p:nvPicPr>
        <p:blipFill>
          <a:blip r:embed="rId4"/>
          <a:stretch>
            <a:fillRect/>
          </a:stretch>
        </p:blipFill>
        <p:spPr>
          <a:xfrm>
            <a:off x="577440" y="4281253"/>
            <a:ext cx="7878274" cy="333422"/>
          </a:xfrm>
          <a:prstGeom prst="rect">
            <a:avLst/>
          </a:prstGeom>
        </p:spPr>
      </p:pic>
      <p:pic>
        <p:nvPicPr>
          <p:cNvPr id="13" name="Picture 12">
            <a:extLst>
              <a:ext uri="{FF2B5EF4-FFF2-40B4-BE49-F238E27FC236}">
                <a16:creationId xmlns:a16="http://schemas.microsoft.com/office/drawing/2014/main" id="{D17C2E88-8B88-9E85-1F0A-82547C3C2B7F}"/>
              </a:ext>
            </a:extLst>
          </p:cNvPr>
          <p:cNvPicPr>
            <a:picLocks noChangeAspect="1"/>
          </p:cNvPicPr>
          <p:nvPr/>
        </p:nvPicPr>
        <p:blipFill>
          <a:blip r:embed="rId5"/>
          <a:stretch>
            <a:fillRect/>
          </a:stretch>
        </p:blipFill>
        <p:spPr>
          <a:xfrm>
            <a:off x="4195494" y="5101923"/>
            <a:ext cx="3801005" cy="333422"/>
          </a:xfrm>
          <a:prstGeom prst="rect">
            <a:avLst/>
          </a:prstGeom>
        </p:spPr>
      </p:pic>
      <p:sp>
        <p:nvSpPr>
          <p:cNvPr id="20" name="Google Shape;642;p53">
            <a:extLst>
              <a:ext uri="{FF2B5EF4-FFF2-40B4-BE49-F238E27FC236}">
                <a16:creationId xmlns:a16="http://schemas.microsoft.com/office/drawing/2014/main" id="{0BE4A334-ADAA-4298-BE53-A320F70A1991}"/>
              </a:ext>
            </a:extLst>
          </p:cNvPr>
          <p:cNvSpPr txBox="1"/>
          <p:nvPr/>
        </p:nvSpPr>
        <p:spPr>
          <a:xfrm>
            <a:off x="490558" y="5435345"/>
            <a:ext cx="10827667" cy="371527"/>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Measure tools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đổi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định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dạng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cho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cả</a:t>
            </a:r>
            <a:r>
              <a:rPr lang="en-US" sz="1600" dirty="0">
                <a:latin typeface="Times New Roman" panose="02020603050405020304" pitchFamily="18" charset="0"/>
                <a:cs typeface="Times New Roman" panose="02020603050405020304" pitchFamily="18" charset="0"/>
                <a:sym typeface="Montserrat"/>
              </a:rPr>
              <a:t> 3 measure </a:t>
            </a:r>
            <a:r>
              <a:rPr lang="en-US" sz="1600" b="1" dirty="0">
                <a:latin typeface="Times New Roman" panose="02020603050405020304" pitchFamily="18" charset="0"/>
                <a:cs typeface="Times New Roman" panose="02020603050405020304" pitchFamily="18" charset="0"/>
                <a:sym typeface="Montserrat"/>
              </a:rPr>
              <a:t>Total Revenue</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Total Cost</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Total Profit</a:t>
            </a:r>
            <a:r>
              <a:rPr lang="en-US" sz="1600" dirty="0">
                <a:latin typeface="Times New Roman" panose="02020603050405020304" pitchFamily="18" charset="0"/>
                <a:cs typeface="Times New Roman" panose="02020603050405020304" pitchFamily="18" charset="0"/>
                <a:sym typeface="Montserrat"/>
              </a:rPr>
              <a:t>.</a:t>
            </a:r>
          </a:p>
        </p:txBody>
      </p:sp>
      <p:grpSp>
        <p:nvGrpSpPr>
          <p:cNvPr id="28" name="Group 27">
            <a:extLst>
              <a:ext uri="{FF2B5EF4-FFF2-40B4-BE49-F238E27FC236}">
                <a16:creationId xmlns:a16="http://schemas.microsoft.com/office/drawing/2014/main" id="{5ED9AA24-7BD3-5DDC-F4E1-9D312565D825}"/>
              </a:ext>
            </a:extLst>
          </p:cNvPr>
          <p:cNvGrpSpPr/>
          <p:nvPr/>
        </p:nvGrpSpPr>
        <p:grpSpPr>
          <a:xfrm>
            <a:off x="3119084" y="5806872"/>
            <a:ext cx="5953832" cy="853757"/>
            <a:chOff x="3119084" y="5806872"/>
            <a:chExt cx="5953832" cy="853757"/>
          </a:xfrm>
        </p:grpSpPr>
        <p:pic>
          <p:nvPicPr>
            <p:cNvPr id="18" name="Picture 17">
              <a:extLst>
                <a:ext uri="{FF2B5EF4-FFF2-40B4-BE49-F238E27FC236}">
                  <a16:creationId xmlns:a16="http://schemas.microsoft.com/office/drawing/2014/main" id="{A3E74C03-163E-6DDD-07BB-D2FACC8FC35C}"/>
                </a:ext>
              </a:extLst>
            </p:cNvPr>
            <p:cNvPicPr>
              <a:picLocks noChangeAspect="1"/>
            </p:cNvPicPr>
            <p:nvPr/>
          </p:nvPicPr>
          <p:blipFill>
            <a:blip r:embed="rId6"/>
            <a:stretch>
              <a:fillRect/>
            </a:stretch>
          </p:blipFill>
          <p:spPr>
            <a:xfrm>
              <a:off x="3119084" y="5806872"/>
              <a:ext cx="5953832" cy="853757"/>
            </a:xfrm>
            <a:prstGeom prst="rect">
              <a:avLst/>
            </a:prstGeom>
          </p:spPr>
        </p:pic>
        <p:sp>
          <p:nvSpPr>
            <p:cNvPr id="24" name="Rectangle 23">
              <a:extLst>
                <a:ext uri="{FF2B5EF4-FFF2-40B4-BE49-F238E27FC236}">
                  <a16:creationId xmlns:a16="http://schemas.microsoft.com/office/drawing/2014/main" id="{606EE9F3-CB61-BD3B-2BAE-D1B5A47A4280}"/>
                </a:ext>
              </a:extLst>
            </p:cNvPr>
            <p:cNvSpPr/>
            <p:nvPr/>
          </p:nvSpPr>
          <p:spPr>
            <a:xfrm>
              <a:off x="4858898" y="6294120"/>
              <a:ext cx="207818" cy="179937"/>
            </a:xfrm>
            <a:prstGeom prst="rect">
              <a:avLst/>
            </a:prstGeom>
            <a:noFill/>
            <a:ln w="19050" cap="flat" cmpd="sng" algn="ctr">
              <a:solidFill>
                <a:srgbClr val="119303"/>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grpSp>
      <p:sp>
        <p:nvSpPr>
          <p:cNvPr id="2" name="Rectangle 1">
            <a:extLst>
              <a:ext uri="{FF2B5EF4-FFF2-40B4-BE49-F238E27FC236}">
                <a16:creationId xmlns:a16="http://schemas.microsoft.com/office/drawing/2014/main" id="{93FCB277-AB2D-DA46-93D3-35FD07F4B4E6}"/>
              </a:ext>
            </a:extLst>
          </p:cNvPr>
          <p:cNvSpPr>
            <a:spLocks noChangeArrowheads="1"/>
          </p:cNvSpPr>
          <p:nvPr/>
        </p:nvSpPr>
        <p:spPr bwMode="auto">
          <a:xfrm>
            <a:off x="0" y="447"/>
            <a:ext cx="10515819" cy="5492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400" b="1" dirty="0">
                <a:solidFill>
                  <a:srgbClr val="113A71"/>
                </a:solidFill>
                <a:latin typeface="Times New Roman" panose="02020603050405020304" pitchFamily="18" charset="0"/>
                <a:cs typeface="Times New Roman" panose="02020603050405020304" pitchFamily="18" charset="0"/>
              </a:rPr>
              <a:t>3</a:t>
            </a:r>
            <a:r>
              <a:rPr lang="vi-VN"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Sử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dụng</a:t>
            </a:r>
            <a:r>
              <a:rPr lang="en-US" sz="2400" b="1" dirty="0">
                <a:solidFill>
                  <a:srgbClr val="113A71"/>
                </a:solidFill>
                <a:latin typeface="Times New Roman" panose="02020603050405020304" pitchFamily="18" charset="0"/>
                <a:cs typeface="Times New Roman" panose="02020603050405020304" pitchFamily="18" charset="0"/>
              </a:rPr>
              <a:t> DAX</a:t>
            </a:r>
          </a:p>
        </p:txBody>
      </p:sp>
      <p:sp>
        <p:nvSpPr>
          <p:cNvPr id="5" name="Rectangle 1">
            <a:extLst>
              <a:ext uri="{FF2B5EF4-FFF2-40B4-BE49-F238E27FC236}">
                <a16:creationId xmlns:a16="http://schemas.microsoft.com/office/drawing/2014/main" id="{C2EEFD6D-668D-FC77-F7B9-6A13E4E9F005}"/>
              </a:ext>
            </a:extLst>
          </p:cNvPr>
          <p:cNvSpPr>
            <a:spLocks noChangeArrowheads="1"/>
          </p:cNvSpPr>
          <p:nvPr/>
        </p:nvSpPr>
        <p:spPr bwMode="auto">
          <a:xfrm>
            <a:off x="357246" y="430696"/>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000" b="1" dirty="0">
                <a:solidFill>
                  <a:srgbClr val="113A71"/>
                </a:solidFill>
                <a:latin typeface="Times New Roman" panose="02020603050405020304" pitchFamily="18" charset="0"/>
                <a:cs typeface="Times New Roman" panose="02020603050405020304" pitchFamily="18" charset="0"/>
              </a:rPr>
              <a:t>3.2. </a:t>
            </a:r>
            <a:r>
              <a:rPr lang="en-US" sz="2000" b="1" dirty="0" err="1">
                <a:solidFill>
                  <a:srgbClr val="113A71"/>
                </a:solidFill>
                <a:latin typeface="Times New Roman" panose="02020603050405020304" pitchFamily="18" charset="0"/>
                <a:cs typeface="Times New Roman" panose="02020603050405020304" pitchFamily="18" charset="0"/>
              </a:rPr>
              <a:t>Tạo</a:t>
            </a:r>
            <a:r>
              <a:rPr lang="en-US" sz="2000" b="1" dirty="0">
                <a:solidFill>
                  <a:srgbClr val="113A71"/>
                </a:solidFill>
                <a:latin typeface="Times New Roman" panose="02020603050405020304" pitchFamily="18" charset="0"/>
                <a:cs typeface="Times New Roman" panose="02020603050405020304" pitchFamily="18" charset="0"/>
              </a:rPr>
              <a:t> Measure (</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sp>
        <p:nvSpPr>
          <p:cNvPr id="29" name="Google Shape;642;p53">
            <a:extLst>
              <a:ext uri="{FF2B5EF4-FFF2-40B4-BE49-F238E27FC236}">
                <a16:creationId xmlns:a16="http://schemas.microsoft.com/office/drawing/2014/main" id="{43CAEF44-ED66-608F-FCFF-C66E9FB9ADC9}"/>
              </a:ext>
            </a:extLst>
          </p:cNvPr>
          <p:cNvSpPr txBox="1"/>
          <p:nvPr/>
        </p:nvSpPr>
        <p:spPr>
          <a:xfrm>
            <a:off x="8591297" y="2400733"/>
            <a:ext cx="3253846" cy="2270329"/>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b="1" dirty="0">
                <a:solidFill>
                  <a:srgbClr val="C00000"/>
                </a:solidFill>
                <a:latin typeface="Times New Roman" panose="02020603050405020304" pitchFamily="18" charset="0"/>
                <a:cs typeface="Times New Roman" panose="02020603050405020304" pitchFamily="18" charset="0"/>
                <a:sym typeface="Montserrat"/>
              </a:rPr>
              <a:t>Lưu ý</a:t>
            </a:r>
            <a:r>
              <a:rPr lang="en-US" sz="1600" dirty="0">
                <a:solidFill>
                  <a:srgbClr val="C00000"/>
                </a:solidFill>
                <a:latin typeface="Times New Roman" panose="02020603050405020304" pitchFamily="18" charset="0"/>
                <a:cs typeface="Times New Roman" panose="02020603050405020304" pitchFamily="18" charset="0"/>
                <a:sym typeface="Montserrat"/>
              </a:rPr>
              <a:t>: </a:t>
            </a:r>
          </a:p>
          <a:p>
            <a:pPr marL="114300" lvl="0" indent="-114300" algn="just">
              <a:lnSpc>
                <a:spcPct val="120000"/>
              </a:lnSpc>
              <a:buClr>
                <a:srgbClr val="C00000"/>
              </a:buClr>
              <a:buSzPts val="1400"/>
              <a:buFont typeface="Arial" panose="020B0604020202020204" pitchFamily="34" charset="0"/>
              <a:buChar char="•"/>
            </a:pPr>
            <a:r>
              <a:rPr lang="en-US" sz="1600" b="1" i="1" dirty="0">
                <a:solidFill>
                  <a:srgbClr val="C00000"/>
                </a:solidFill>
                <a:latin typeface="Times New Roman" panose="02020603050405020304" pitchFamily="18" charset="0"/>
                <a:cs typeface="Times New Roman" panose="02020603050405020304" pitchFamily="18" charset="0"/>
                <a:sym typeface="Montserrat"/>
              </a:rPr>
              <a:t>SUMX() </a:t>
            </a:r>
            <a:r>
              <a:rPr lang="en-US" sz="1600" dirty="0" err="1">
                <a:solidFill>
                  <a:srgbClr val="C00000"/>
                </a:solidFill>
                <a:latin typeface="Times New Roman" panose="02020603050405020304" pitchFamily="18" charset="0"/>
                <a:cs typeface="Times New Roman" panose="02020603050405020304" pitchFamily="18" charset="0"/>
                <a:sym typeface="Montserrat"/>
              </a:rPr>
              <a:t>tính</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toán</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trên</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từng</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dòng</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dữ</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liệu</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u="sng" dirty="0" err="1">
                <a:solidFill>
                  <a:srgbClr val="C00000"/>
                </a:solidFill>
                <a:latin typeface="Times New Roman" panose="02020603050405020304" pitchFamily="18" charset="0"/>
                <a:cs typeface="Times New Roman" panose="02020603050405020304" pitchFamily="18" charset="0"/>
                <a:sym typeface="Montserrat"/>
              </a:rPr>
              <a:t>vd</a:t>
            </a:r>
            <a:r>
              <a:rPr lang="en-US" sz="1600" dirty="0">
                <a:solidFill>
                  <a:srgbClr val="C00000"/>
                </a:solidFill>
                <a:latin typeface="Times New Roman" panose="02020603050405020304" pitchFamily="18" charset="0"/>
                <a:cs typeface="Times New Roman" panose="02020603050405020304" pitchFamily="18" charset="0"/>
                <a:sym typeface="Montserrat"/>
              </a:rPr>
              <a:t>: quantity × price) </a:t>
            </a:r>
            <a:r>
              <a:rPr lang="en-US" sz="1600" dirty="0" err="1">
                <a:solidFill>
                  <a:srgbClr val="C00000"/>
                </a:solidFill>
                <a:latin typeface="Times New Roman" panose="02020603050405020304" pitchFamily="18" charset="0"/>
                <a:cs typeface="Times New Roman" panose="02020603050405020304" pitchFamily="18" charset="0"/>
                <a:sym typeface="Montserrat"/>
              </a:rPr>
              <a:t>rồi</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mới</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cộng</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tổng</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b="1" i="1" dirty="0">
                <a:solidFill>
                  <a:srgbClr val="C00000"/>
                </a:solidFill>
                <a:latin typeface="Times New Roman" panose="02020603050405020304" pitchFamily="18" charset="0"/>
                <a:cs typeface="Times New Roman" panose="02020603050405020304" pitchFamily="18" charset="0"/>
                <a:sym typeface="Montserrat"/>
              </a:rPr>
              <a:t>SUM() </a:t>
            </a:r>
            <a:r>
              <a:rPr lang="en-US" sz="1600" dirty="0" err="1">
                <a:solidFill>
                  <a:srgbClr val="C00000"/>
                </a:solidFill>
                <a:latin typeface="Times New Roman" panose="02020603050405020304" pitchFamily="18" charset="0"/>
                <a:cs typeface="Times New Roman" panose="02020603050405020304" pitchFamily="18" charset="0"/>
                <a:sym typeface="Montserrat"/>
              </a:rPr>
              <a:t>chỉ</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cộng</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các</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giá</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trị</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có</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sẵn</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trong</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một</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cột</a:t>
            </a:r>
            <a:r>
              <a:rPr lang="en-US" sz="1600" dirty="0">
                <a:solidFill>
                  <a:srgbClr val="C00000"/>
                </a:solidFill>
                <a:latin typeface="Times New Roman" panose="02020603050405020304" pitchFamily="18" charset="0"/>
                <a:cs typeface="Times New Roman" panose="02020603050405020304" pitchFamily="18" charset="0"/>
                <a:sym typeface="Montserrat"/>
              </a:rPr>
              <a:t>.</a:t>
            </a:r>
          </a:p>
          <a:p>
            <a:pPr marL="114300" lvl="0" indent="-114300" algn="just">
              <a:lnSpc>
                <a:spcPct val="120000"/>
              </a:lnSpc>
              <a:buClr>
                <a:srgbClr val="C00000"/>
              </a:buClr>
              <a:buSzPts val="1400"/>
              <a:buFont typeface="Arial" panose="020B0604020202020204" pitchFamily="34" charset="0"/>
              <a:buChar char="•"/>
            </a:pPr>
            <a:r>
              <a:rPr lang="en-US" sz="1600" b="1" i="1" dirty="0">
                <a:solidFill>
                  <a:srgbClr val="C00000"/>
                </a:solidFill>
                <a:latin typeface="Times New Roman" panose="02020603050405020304" pitchFamily="18" charset="0"/>
                <a:cs typeface="Times New Roman" panose="02020603050405020304" pitchFamily="18" charset="0"/>
                <a:sym typeface="Montserrat"/>
              </a:rPr>
              <a:t>RELATED() </a:t>
            </a:r>
            <a:r>
              <a:rPr lang="en-US" sz="1600" dirty="0" err="1">
                <a:solidFill>
                  <a:srgbClr val="C00000"/>
                </a:solidFill>
                <a:latin typeface="Times New Roman" panose="02020603050405020304" pitchFamily="18" charset="0"/>
                <a:cs typeface="Times New Roman" panose="02020603050405020304" pitchFamily="18" charset="0"/>
                <a:sym typeface="Montserrat"/>
              </a:rPr>
              <a:t>dùng</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để</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lấy</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giá</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trị</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từ</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bảng</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khác</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khi</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hai</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bảng</a:t>
            </a:r>
            <a:r>
              <a:rPr lang="en-US" sz="1600" dirty="0">
                <a:solidFill>
                  <a:srgbClr val="C00000"/>
                </a:solidFill>
                <a:latin typeface="Times New Roman" panose="02020603050405020304" pitchFamily="18" charset="0"/>
                <a:cs typeface="Times New Roman" panose="02020603050405020304" pitchFamily="18" charset="0"/>
                <a:sym typeface="Montserrat"/>
              </a:rPr>
              <a:t> </a:t>
            </a:r>
            <a:r>
              <a:rPr lang="en-US" sz="1600" dirty="0" err="1">
                <a:solidFill>
                  <a:srgbClr val="C00000"/>
                </a:solidFill>
                <a:latin typeface="Times New Roman" panose="02020603050405020304" pitchFamily="18" charset="0"/>
                <a:cs typeface="Times New Roman" panose="02020603050405020304" pitchFamily="18" charset="0"/>
                <a:sym typeface="Montserrat"/>
              </a:rPr>
              <a:t>có</a:t>
            </a:r>
            <a:r>
              <a:rPr lang="en-US" sz="1600" dirty="0">
                <a:solidFill>
                  <a:srgbClr val="C00000"/>
                </a:solidFill>
                <a:latin typeface="Times New Roman" panose="02020603050405020304" pitchFamily="18" charset="0"/>
                <a:cs typeface="Times New Roman" panose="02020603050405020304" pitchFamily="18" charset="0"/>
                <a:sym typeface="Montserrat"/>
              </a:rPr>
              <a:t> relationship.</a:t>
            </a:r>
          </a:p>
        </p:txBody>
      </p:sp>
    </p:spTree>
    <p:extLst>
      <p:ext uri="{BB962C8B-B14F-4D97-AF65-F5344CB8AC3E}">
        <p14:creationId xmlns:p14="http://schemas.microsoft.com/office/powerpoint/2010/main" val="18433199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6FA45-6BD3-E6A1-E11E-4E7BA82BB2C4}"/>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EF99B686-261F-C079-6285-CC3171A25B9F}"/>
              </a:ext>
            </a:extLst>
          </p:cNvPr>
          <p:cNvSpPr txBox="1"/>
          <p:nvPr/>
        </p:nvSpPr>
        <p:spPr>
          <a:xfrm>
            <a:off x="346857" y="819816"/>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4" name="Google Shape;642;p53">
            <a:extLst>
              <a:ext uri="{FF2B5EF4-FFF2-40B4-BE49-F238E27FC236}">
                <a16:creationId xmlns:a16="http://schemas.microsoft.com/office/drawing/2014/main" id="{D03482EF-2ACC-5D23-4484-85D28A7A621E}"/>
              </a:ext>
            </a:extLst>
          </p:cNvPr>
          <p:cNvSpPr txBox="1"/>
          <p:nvPr/>
        </p:nvSpPr>
        <p:spPr>
          <a:xfrm>
            <a:off x="346856" y="2422834"/>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sp>
        <p:nvSpPr>
          <p:cNvPr id="15" name="Google Shape;642;p53">
            <a:extLst>
              <a:ext uri="{FF2B5EF4-FFF2-40B4-BE49-F238E27FC236}">
                <a16:creationId xmlns:a16="http://schemas.microsoft.com/office/drawing/2014/main" id="{26EC3247-B759-E318-36FC-AA822046CC88}"/>
              </a:ext>
            </a:extLst>
          </p:cNvPr>
          <p:cNvSpPr txBox="1"/>
          <p:nvPr/>
        </p:nvSpPr>
        <p:spPr>
          <a:xfrm>
            <a:off x="490560" y="2765134"/>
            <a:ext cx="10971371" cy="573741"/>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measure </a:t>
            </a:r>
            <a:r>
              <a:rPr lang="en-US" sz="1600" b="1" dirty="0">
                <a:latin typeface="Times New Roman" panose="02020603050405020304" pitchFamily="18" charset="0"/>
                <a:cs typeface="Times New Roman" panose="02020603050405020304" pitchFamily="18" charset="0"/>
                <a:sym typeface="Montserrat"/>
              </a:rPr>
              <a:t>Profit Margin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dùng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DIVIDE()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chia </a:t>
            </a:r>
            <a:r>
              <a:rPr lang="en-US" sz="1600" dirty="0" err="1">
                <a:latin typeface="Times New Roman" panose="02020603050405020304" pitchFamily="18" charset="0"/>
                <a:cs typeface="Times New Roman" panose="02020603050405020304" pitchFamily="18" charset="0"/>
                <a:sym typeface="Montserrat"/>
              </a:rPr>
              <a:t>tổng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lợi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nhuận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cho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tổng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doanh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Measure tools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đổi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thành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định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dạng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a:t>
            </a:r>
            <a:r>
              <a:rPr lang="en-US" sz="1600" dirty="0">
                <a:latin typeface="Times New Roman" panose="02020603050405020304" pitchFamily="18" charset="0"/>
                <a:cs typeface="Times New Roman" panose="02020603050405020304" pitchFamily="18" charset="0"/>
                <a:sym typeface="Montserrat"/>
              </a:rPr>
              <a:t> </a:t>
            </a:r>
          </a:p>
        </p:txBody>
      </p:sp>
      <p:sp>
        <p:nvSpPr>
          <p:cNvPr id="21" name="Google Shape;642;p53">
            <a:extLst>
              <a:ext uri="{FF2B5EF4-FFF2-40B4-BE49-F238E27FC236}">
                <a16:creationId xmlns:a16="http://schemas.microsoft.com/office/drawing/2014/main" id="{C01690C9-B5E0-69BB-1281-62596BFD682A}"/>
              </a:ext>
            </a:extLst>
          </p:cNvPr>
          <p:cNvSpPr txBox="1"/>
          <p:nvPr/>
        </p:nvSpPr>
        <p:spPr>
          <a:xfrm>
            <a:off x="490558" y="3794486"/>
            <a:ext cx="10971371" cy="370438"/>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measure </a:t>
            </a:r>
            <a:r>
              <a:rPr lang="en-US" sz="1600" b="1" dirty="0">
                <a:latin typeface="Times New Roman" panose="02020603050405020304" pitchFamily="18" charset="0"/>
                <a:cs typeface="Times New Roman" panose="02020603050405020304" pitchFamily="18" charset="0"/>
                <a:sym typeface="Montserrat"/>
              </a:rPr>
              <a:t>Unique Products: </a:t>
            </a:r>
            <a:r>
              <a:rPr lang="en-US" sz="1600" dirty="0" err="1">
                <a:latin typeface="Times New Roman" panose="02020603050405020304" pitchFamily="18" charset="0"/>
                <a:cs typeface="Times New Roman" panose="02020603050405020304" pitchFamily="18" charset="0"/>
                <a:sym typeface="Montserrat"/>
              </a:rPr>
              <a:t>dùng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DISTINCTCOUNT()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đếm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số</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lượng</a:t>
            </a:r>
            <a:r>
              <a:rPr lang="en-US" sz="1600" dirty="0">
                <a:latin typeface="Times New Roman" panose="02020603050405020304" pitchFamily="18" charset="0"/>
                <a:cs typeface="Times New Roman" panose="02020603050405020304" pitchFamily="18" charset="0"/>
                <a:sym typeface="Montserrat"/>
              </a:rPr>
              <a:t> product names </a:t>
            </a:r>
            <a:r>
              <a:rPr lang="en-US" sz="1600" dirty="0" err="1">
                <a:latin typeface="Times New Roman" panose="02020603050405020304" pitchFamily="18" charset="0"/>
                <a:cs typeface="Times New Roman" panose="02020603050405020304" pitchFamily="18" charset="0"/>
                <a:sym typeface="Montserrat"/>
              </a:rPr>
              <a:t>có</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trong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bảng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Product</a:t>
            </a:r>
            <a:r>
              <a:rPr lang="en-US" sz="1600" dirty="0">
                <a:latin typeface="Times New Roman" panose="02020603050405020304" pitchFamily="18" charset="0"/>
                <a:cs typeface="Times New Roman" panose="02020603050405020304" pitchFamily="18" charset="0"/>
                <a:sym typeface="Montserrat"/>
              </a:rPr>
              <a:t>. </a:t>
            </a:r>
          </a:p>
        </p:txBody>
      </p:sp>
      <p:sp>
        <p:nvSpPr>
          <p:cNvPr id="22" name="Google Shape;642;p53">
            <a:extLst>
              <a:ext uri="{FF2B5EF4-FFF2-40B4-BE49-F238E27FC236}">
                <a16:creationId xmlns:a16="http://schemas.microsoft.com/office/drawing/2014/main" id="{EE897214-C8AE-1F25-DABA-9A7854671886}"/>
              </a:ext>
            </a:extLst>
          </p:cNvPr>
          <p:cNvSpPr txBox="1"/>
          <p:nvPr/>
        </p:nvSpPr>
        <p:spPr>
          <a:xfrm>
            <a:off x="562411" y="4730204"/>
            <a:ext cx="10827667" cy="524003"/>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measure </a:t>
            </a:r>
            <a:r>
              <a:rPr lang="en-US" sz="1600" b="1" dirty="0">
                <a:latin typeface="Times New Roman" panose="02020603050405020304" pitchFamily="18" charset="0"/>
                <a:cs typeface="Times New Roman" panose="02020603050405020304" pitchFamily="18" charset="0"/>
                <a:sym typeface="Montserrat"/>
              </a:rPr>
              <a:t>YTD Revenue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dùng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TOTALYTD()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tính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tổng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doanh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lũy</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kế</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năm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Measure tools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đổi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thành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định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dạng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a:t>
            </a:r>
            <a:r>
              <a:rPr lang="en-US" sz="1600" dirty="0">
                <a:latin typeface="Times New Roman" panose="02020603050405020304" pitchFamily="18" charset="0"/>
                <a:cs typeface="Times New Roman" panose="02020603050405020304" pitchFamily="18" charset="0"/>
                <a:sym typeface="Montserrat"/>
              </a:rPr>
              <a:t>.</a:t>
            </a:r>
          </a:p>
        </p:txBody>
      </p:sp>
      <p:pic>
        <p:nvPicPr>
          <p:cNvPr id="5" name="Picture 4">
            <a:extLst>
              <a:ext uri="{FF2B5EF4-FFF2-40B4-BE49-F238E27FC236}">
                <a16:creationId xmlns:a16="http://schemas.microsoft.com/office/drawing/2014/main" id="{188A6CDD-298D-79CE-6A2D-816AFC95F84B}"/>
              </a:ext>
            </a:extLst>
          </p:cNvPr>
          <p:cNvPicPr>
            <a:picLocks noChangeAspect="1"/>
          </p:cNvPicPr>
          <p:nvPr/>
        </p:nvPicPr>
        <p:blipFill>
          <a:blip r:embed="rId2"/>
          <a:stretch>
            <a:fillRect/>
          </a:stretch>
        </p:blipFill>
        <p:spPr>
          <a:xfrm>
            <a:off x="2118756" y="901204"/>
            <a:ext cx="7916380" cy="1648055"/>
          </a:xfrm>
          <a:prstGeom prst="rect">
            <a:avLst/>
          </a:prstGeom>
        </p:spPr>
      </p:pic>
      <p:pic>
        <p:nvPicPr>
          <p:cNvPr id="9" name="Picture 8">
            <a:extLst>
              <a:ext uri="{FF2B5EF4-FFF2-40B4-BE49-F238E27FC236}">
                <a16:creationId xmlns:a16="http://schemas.microsoft.com/office/drawing/2014/main" id="{E2FFB833-1B78-C058-C3FF-FE26B048D8D2}"/>
              </a:ext>
            </a:extLst>
          </p:cNvPr>
          <p:cNvPicPr>
            <a:picLocks noChangeAspect="1"/>
          </p:cNvPicPr>
          <p:nvPr/>
        </p:nvPicPr>
        <p:blipFill>
          <a:blip r:embed="rId3"/>
          <a:stretch>
            <a:fillRect/>
          </a:stretch>
        </p:blipFill>
        <p:spPr>
          <a:xfrm>
            <a:off x="3728706" y="3410260"/>
            <a:ext cx="4734586" cy="304843"/>
          </a:xfrm>
          <a:prstGeom prst="rect">
            <a:avLst/>
          </a:prstGeom>
        </p:spPr>
      </p:pic>
      <p:pic>
        <p:nvPicPr>
          <p:cNvPr id="12" name="Picture 11">
            <a:extLst>
              <a:ext uri="{FF2B5EF4-FFF2-40B4-BE49-F238E27FC236}">
                <a16:creationId xmlns:a16="http://schemas.microsoft.com/office/drawing/2014/main" id="{08CB11ED-5969-4A3A-8D05-92801903C026}"/>
              </a:ext>
            </a:extLst>
          </p:cNvPr>
          <p:cNvPicPr>
            <a:picLocks noChangeAspect="1"/>
          </p:cNvPicPr>
          <p:nvPr/>
        </p:nvPicPr>
        <p:blipFill>
          <a:blip r:embed="rId4"/>
          <a:stretch>
            <a:fillRect/>
          </a:stretch>
        </p:blipFill>
        <p:spPr>
          <a:xfrm>
            <a:off x="3800153" y="4280383"/>
            <a:ext cx="4591691" cy="333422"/>
          </a:xfrm>
          <a:prstGeom prst="rect">
            <a:avLst/>
          </a:prstGeom>
        </p:spPr>
      </p:pic>
      <p:pic>
        <p:nvPicPr>
          <p:cNvPr id="16" name="Picture 15">
            <a:extLst>
              <a:ext uri="{FF2B5EF4-FFF2-40B4-BE49-F238E27FC236}">
                <a16:creationId xmlns:a16="http://schemas.microsoft.com/office/drawing/2014/main" id="{65C3FA6A-DD33-BE71-A60E-1368E6E21F20}"/>
              </a:ext>
            </a:extLst>
          </p:cNvPr>
          <p:cNvPicPr>
            <a:picLocks noChangeAspect="1"/>
          </p:cNvPicPr>
          <p:nvPr/>
        </p:nvPicPr>
        <p:blipFill>
          <a:blip r:embed="rId5"/>
          <a:stretch>
            <a:fillRect/>
          </a:stretch>
        </p:blipFill>
        <p:spPr>
          <a:xfrm>
            <a:off x="3771575" y="5370606"/>
            <a:ext cx="4648849" cy="352474"/>
          </a:xfrm>
          <a:prstGeom prst="rect">
            <a:avLst/>
          </a:prstGeom>
        </p:spPr>
      </p:pic>
      <p:sp>
        <p:nvSpPr>
          <p:cNvPr id="23" name="TextBox 22">
            <a:extLst>
              <a:ext uri="{FF2B5EF4-FFF2-40B4-BE49-F238E27FC236}">
                <a16:creationId xmlns:a16="http://schemas.microsoft.com/office/drawing/2014/main" id="{31173E0A-8213-7BF5-B8E9-ED95BAA89009}"/>
              </a:ext>
            </a:extLst>
          </p:cNvPr>
          <p:cNvSpPr txBox="1"/>
          <p:nvPr/>
        </p:nvSpPr>
        <p:spPr>
          <a:xfrm>
            <a:off x="389016" y="5839479"/>
            <a:ext cx="11375860" cy="370438"/>
          </a:xfrm>
          <a:prstGeom prst="rect">
            <a:avLst/>
          </a:prstGeom>
          <a:noFill/>
          <a:ln>
            <a:noFill/>
          </a:ln>
        </p:spPr>
        <p:txBody>
          <a:bodyPr spcFirstLastPara="1" wrap="square" lIns="91438" tIns="45694" rIns="91438" bIns="45694" anchor="ctr" anchorCtr="0">
            <a:noAutofit/>
          </a:bodyPr>
          <a:lstStyle>
            <a:defPPr>
              <a:defRPr lang="en-US"/>
            </a:defPPr>
            <a:lvl1pPr lvl="0" algn="just">
              <a:lnSpc>
                <a:spcPct val="120000"/>
              </a:lnSpc>
              <a:buClr>
                <a:schemeClr val="dk1"/>
              </a:buClr>
              <a:buSzPts val="1400"/>
              <a:defRPr sz="1600">
                <a:latin typeface="Times New Roman" panose="02020603050405020304" pitchFamily="18" charset="0"/>
                <a:cs typeface="Times New Roman" panose="02020603050405020304" pitchFamily="18" charset="0"/>
              </a:defRPr>
            </a:lvl1pPr>
          </a:lstStyle>
          <a:p>
            <a:r>
              <a:rPr lang="en-US" dirty="0" err="1">
                <a:solidFill>
                  <a:srgbClr val="0070C0"/>
                </a:solidFill>
              </a:rPr>
              <a:t>Sử</a:t>
            </a:r>
            <a:r>
              <a:rPr lang="en-US" dirty="0">
                <a:solidFill>
                  <a:srgbClr val="0070C0"/>
                </a:solidFill>
              </a:rPr>
              <a:t> </a:t>
            </a:r>
            <a:r>
              <a:rPr lang="en-US" dirty="0" err="1">
                <a:solidFill>
                  <a:srgbClr val="0070C0"/>
                </a:solidFill>
              </a:rPr>
              <a:t>dụng</a:t>
            </a:r>
            <a:r>
              <a:rPr lang="en-US" dirty="0">
                <a:solidFill>
                  <a:srgbClr val="0070C0"/>
                </a:solidFill>
              </a:rPr>
              <a:t> </a:t>
            </a:r>
            <a:r>
              <a:rPr lang="en-US" dirty="0" err="1">
                <a:solidFill>
                  <a:srgbClr val="0070C0"/>
                </a:solidFill>
              </a:rPr>
              <a:t>hàm</a:t>
            </a:r>
            <a:r>
              <a:rPr lang="en-US" dirty="0">
                <a:solidFill>
                  <a:srgbClr val="0070C0"/>
                </a:solidFill>
              </a:rPr>
              <a:t> </a:t>
            </a:r>
            <a:r>
              <a:rPr lang="en-US" b="1" i="1" dirty="0">
                <a:solidFill>
                  <a:srgbClr val="0070C0"/>
                </a:solidFill>
              </a:rPr>
              <a:t>TOTALYTD() </a:t>
            </a:r>
            <a:r>
              <a:rPr lang="en-US" dirty="0" err="1">
                <a:solidFill>
                  <a:srgbClr val="0070C0"/>
                </a:solidFill>
              </a:rPr>
              <a:t>thay</a:t>
            </a:r>
            <a:r>
              <a:rPr lang="en-US" dirty="0">
                <a:solidFill>
                  <a:srgbClr val="0070C0"/>
                </a:solidFill>
              </a:rPr>
              <a:t> </a:t>
            </a:r>
            <a:r>
              <a:rPr lang="en-US" dirty="0" err="1">
                <a:solidFill>
                  <a:srgbClr val="0070C0"/>
                </a:solidFill>
              </a:rPr>
              <a:t>vì</a:t>
            </a:r>
            <a:r>
              <a:rPr lang="en-US" dirty="0">
                <a:solidFill>
                  <a:srgbClr val="0070C0"/>
                </a:solidFill>
              </a:rPr>
              <a:t> </a:t>
            </a:r>
            <a:r>
              <a:rPr lang="en-US" b="1" i="1" dirty="0">
                <a:solidFill>
                  <a:srgbClr val="0070C0"/>
                </a:solidFill>
              </a:rPr>
              <a:t>SUM() </a:t>
            </a:r>
            <a:r>
              <a:rPr lang="en-US" dirty="0" err="1">
                <a:solidFill>
                  <a:srgbClr val="0070C0"/>
                </a:solidFill>
              </a:rPr>
              <a:t>vì</a:t>
            </a:r>
            <a:r>
              <a:rPr lang="en-US" dirty="0">
                <a:solidFill>
                  <a:srgbClr val="0070C0"/>
                </a:solidFill>
              </a:rPr>
              <a:t> </a:t>
            </a:r>
            <a:r>
              <a:rPr lang="en-US" dirty="0" err="1">
                <a:solidFill>
                  <a:srgbClr val="0070C0"/>
                </a:solidFill>
              </a:rPr>
              <a:t>hàm</a:t>
            </a:r>
            <a:r>
              <a:rPr lang="en-US" dirty="0">
                <a:solidFill>
                  <a:srgbClr val="0070C0"/>
                </a:solidFill>
              </a:rPr>
              <a:t> </a:t>
            </a:r>
            <a:r>
              <a:rPr lang="en-US" dirty="0" err="1">
                <a:solidFill>
                  <a:srgbClr val="0070C0"/>
                </a:solidFill>
              </a:rPr>
              <a:t>này</a:t>
            </a:r>
            <a:r>
              <a:rPr lang="en-US" dirty="0">
                <a:solidFill>
                  <a:srgbClr val="0070C0"/>
                </a:solidFill>
              </a:rPr>
              <a:t> </a:t>
            </a:r>
            <a:r>
              <a:rPr lang="en-US" dirty="0" err="1">
                <a:solidFill>
                  <a:srgbClr val="0070C0"/>
                </a:solidFill>
              </a:rPr>
              <a:t>tự</a:t>
            </a:r>
            <a:r>
              <a:rPr lang="en-US" dirty="0">
                <a:solidFill>
                  <a:srgbClr val="0070C0"/>
                </a:solidFill>
              </a:rPr>
              <a:t> </a:t>
            </a:r>
            <a:r>
              <a:rPr lang="en-US" dirty="0" err="1">
                <a:solidFill>
                  <a:srgbClr val="0070C0"/>
                </a:solidFill>
              </a:rPr>
              <a:t>động</a:t>
            </a:r>
            <a:r>
              <a:rPr lang="en-US" dirty="0">
                <a:solidFill>
                  <a:srgbClr val="0070C0"/>
                </a:solidFill>
              </a:rPr>
              <a:t> </a:t>
            </a:r>
            <a:r>
              <a:rPr lang="en-US" dirty="0" err="1">
                <a:solidFill>
                  <a:srgbClr val="0070C0"/>
                </a:solidFill>
              </a:rPr>
              <a:t>tính</a:t>
            </a:r>
            <a:r>
              <a:rPr lang="en-US" dirty="0">
                <a:solidFill>
                  <a:srgbClr val="0070C0"/>
                </a:solidFill>
              </a:rPr>
              <a:t> </a:t>
            </a:r>
            <a:r>
              <a:rPr lang="en-US" dirty="0" err="1">
                <a:solidFill>
                  <a:srgbClr val="0070C0"/>
                </a:solidFill>
              </a:rPr>
              <a:t>giá</a:t>
            </a:r>
            <a:r>
              <a:rPr lang="en-US" dirty="0">
                <a:solidFill>
                  <a:srgbClr val="0070C0"/>
                </a:solidFill>
              </a:rPr>
              <a:t> </a:t>
            </a:r>
            <a:r>
              <a:rPr lang="en-US" dirty="0" err="1">
                <a:solidFill>
                  <a:srgbClr val="0070C0"/>
                </a:solidFill>
              </a:rPr>
              <a:t>trị</a:t>
            </a:r>
            <a:r>
              <a:rPr lang="en-US" dirty="0">
                <a:solidFill>
                  <a:srgbClr val="0070C0"/>
                </a:solidFill>
              </a:rPr>
              <a:t> </a:t>
            </a:r>
            <a:r>
              <a:rPr lang="en-US" dirty="0" err="1">
                <a:solidFill>
                  <a:srgbClr val="0070C0"/>
                </a:solidFill>
              </a:rPr>
              <a:t>lũy</a:t>
            </a:r>
            <a:r>
              <a:rPr lang="en-US" dirty="0">
                <a:solidFill>
                  <a:srgbClr val="0070C0"/>
                </a:solidFill>
              </a:rPr>
              <a:t> </a:t>
            </a:r>
            <a:r>
              <a:rPr lang="en-US" dirty="0" err="1">
                <a:solidFill>
                  <a:srgbClr val="0070C0"/>
                </a:solidFill>
              </a:rPr>
              <a:t>kế</a:t>
            </a:r>
            <a:r>
              <a:rPr lang="en-US" dirty="0">
                <a:solidFill>
                  <a:srgbClr val="0070C0"/>
                </a:solidFill>
              </a:rPr>
              <a:t> </a:t>
            </a:r>
            <a:r>
              <a:rPr lang="en-US" dirty="0" err="1">
                <a:solidFill>
                  <a:srgbClr val="0070C0"/>
                </a:solidFill>
              </a:rPr>
              <a:t>từ</a:t>
            </a:r>
            <a:r>
              <a:rPr lang="en-US" dirty="0">
                <a:solidFill>
                  <a:srgbClr val="0070C0"/>
                </a:solidFill>
              </a:rPr>
              <a:t> </a:t>
            </a:r>
            <a:r>
              <a:rPr lang="en-US" dirty="0" err="1">
                <a:solidFill>
                  <a:srgbClr val="0070C0"/>
                </a:solidFill>
              </a:rPr>
              <a:t>đầu</a:t>
            </a:r>
            <a:r>
              <a:rPr lang="en-US" dirty="0">
                <a:solidFill>
                  <a:srgbClr val="0070C0"/>
                </a:solidFill>
              </a:rPr>
              <a:t> </a:t>
            </a:r>
            <a:r>
              <a:rPr lang="en-US" dirty="0" err="1">
                <a:solidFill>
                  <a:srgbClr val="0070C0"/>
                </a:solidFill>
              </a:rPr>
              <a:t>năm</a:t>
            </a:r>
            <a:r>
              <a:rPr lang="en-US" dirty="0">
                <a:solidFill>
                  <a:srgbClr val="0070C0"/>
                </a:solidFill>
              </a:rPr>
              <a:t> </a:t>
            </a:r>
            <a:r>
              <a:rPr lang="en-US" dirty="0" err="1">
                <a:solidFill>
                  <a:srgbClr val="0070C0"/>
                </a:solidFill>
              </a:rPr>
              <a:t>đến</a:t>
            </a:r>
            <a:r>
              <a:rPr lang="en-US" dirty="0">
                <a:solidFill>
                  <a:srgbClr val="0070C0"/>
                </a:solidFill>
              </a:rPr>
              <a:t> </a:t>
            </a:r>
            <a:r>
              <a:rPr lang="en-US" dirty="0" err="1">
                <a:solidFill>
                  <a:srgbClr val="0070C0"/>
                </a:solidFill>
              </a:rPr>
              <a:t>thời</a:t>
            </a:r>
            <a:r>
              <a:rPr lang="en-US" dirty="0">
                <a:solidFill>
                  <a:srgbClr val="0070C0"/>
                </a:solidFill>
              </a:rPr>
              <a:t> </a:t>
            </a:r>
            <a:r>
              <a:rPr lang="en-US" dirty="0" err="1">
                <a:solidFill>
                  <a:srgbClr val="0070C0"/>
                </a:solidFill>
              </a:rPr>
              <a:t>điểm</a:t>
            </a:r>
            <a:r>
              <a:rPr lang="en-US" dirty="0">
                <a:solidFill>
                  <a:srgbClr val="0070C0"/>
                </a:solidFill>
              </a:rPr>
              <a:t> </a:t>
            </a:r>
            <a:r>
              <a:rPr lang="en-US" dirty="0" err="1">
                <a:solidFill>
                  <a:srgbClr val="0070C0"/>
                </a:solidFill>
              </a:rPr>
              <a:t>đang</a:t>
            </a:r>
            <a:r>
              <a:rPr lang="en-US" dirty="0">
                <a:solidFill>
                  <a:srgbClr val="0070C0"/>
                </a:solidFill>
              </a:rPr>
              <a:t> </a:t>
            </a:r>
            <a:r>
              <a:rPr lang="en-US" dirty="0" err="1">
                <a:solidFill>
                  <a:srgbClr val="0070C0"/>
                </a:solidFill>
              </a:rPr>
              <a:t>được</a:t>
            </a:r>
            <a:r>
              <a:rPr lang="en-US" dirty="0">
                <a:solidFill>
                  <a:srgbClr val="0070C0"/>
                </a:solidFill>
              </a:rPr>
              <a:t> </a:t>
            </a:r>
            <a:r>
              <a:rPr lang="en-US" dirty="0" err="1">
                <a:solidFill>
                  <a:srgbClr val="0070C0"/>
                </a:solidFill>
              </a:rPr>
              <a:t>lọc</a:t>
            </a:r>
            <a:r>
              <a:rPr lang="en-US" dirty="0">
                <a:solidFill>
                  <a:srgbClr val="0070C0"/>
                </a:solidFill>
              </a:rPr>
              <a:t> </a:t>
            </a:r>
            <a:r>
              <a:rPr lang="en-US" dirty="0" err="1">
                <a:solidFill>
                  <a:srgbClr val="0070C0"/>
                </a:solidFill>
              </a:rPr>
              <a:t>trong</a:t>
            </a:r>
            <a:r>
              <a:rPr lang="en-US" dirty="0">
                <a:solidFill>
                  <a:srgbClr val="0070C0"/>
                </a:solidFill>
              </a:rPr>
              <a:t> </a:t>
            </a:r>
            <a:r>
              <a:rPr lang="en-US" dirty="0" err="1">
                <a:solidFill>
                  <a:srgbClr val="0070C0"/>
                </a:solidFill>
              </a:rPr>
              <a:t>báo</a:t>
            </a:r>
            <a:r>
              <a:rPr lang="en-US" dirty="0">
                <a:solidFill>
                  <a:srgbClr val="0070C0"/>
                </a:solidFill>
              </a:rPr>
              <a:t> </a:t>
            </a:r>
            <a:r>
              <a:rPr lang="en-US" dirty="0" err="1">
                <a:solidFill>
                  <a:srgbClr val="0070C0"/>
                </a:solidFill>
              </a:rPr>
              <a:t>cáo</a:t>
            </a:r>
            <a:r>
              <a:rPr lang="en-US" dirty="0">
                <a:solidFill>
                  <a:srgbClr val="0070C0"/>
                </a:solidFill>
              </a:rPr>
              <a:t>.</a:t>
            </a:r>
          </a:p>
        </p:txBody>
      </p:sp>
      <p:sp>
        <p:nvSpPr>
          <p:cNvPr id="2" name="Rectangle 1">
            <a:extLst>
              <a:ext uri="{FF2B5EF4-FFF2-40B4-BE49-F238E27FC236}">
                <a16:creationId xmlns:a16="http://schemas.microsoft.com/office/drawing/2014/main" id="{372422E8-0972-6D3C-B930-C638CC317DAA}"/>
              </a:ext>
            </a:extLst>
          </p:cNvPr>
          <p:cNvSpPr>
            <a:spLocks noChangeArrowheads="1"/>
          </p:cNvSpPr>
          <p:nvPr/>
        </p:nvSpPr>
        <p:spPr bwMode="auto">
          <a:xfrm>
            <a:off x="0" y="447"/>
            <a:ext cx="10515819" cy="5492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400" b="1" dirty="0">
                <a:solidFill>
                  <a:srgbClr val="113A71"/>
                </a:solidFill>
                <a:latin typeface="Times New Roman" panose="02020603050405020304" pitchFamily="18" charset="0"/>
                <a:cs typeface="Times New Roman" panose="02020603050405020304" pitchFamily="18" charset="0"/>
              </a:rPr>
              <a:t>3</a:t>
            </a:r>
            <a:r>
              <a:rPr lang="vi-VN"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Sử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dụng</a:t>
            </a:r>
            <a:r>
              <a:rPr lang="en-US" sz="2400" b="1" dirty="0">
                <a:solidFill>
                  <a:srgbClr val="113A71"/>
                </a:solidFill>
                <a:latin typeface="Times New Roman" panose="02020603050405020304" pitchFamily="18" charset="0"/>
                <a:cs typeface="Times New Roman" panose="02020603050405020304" pitchFamily="18" charset="0"/>
              </a:rPr>
              <a:t> DAX</a:t>
            </a:r>
          </a:p>
        </p:txBody>
      </p:sp>
      <p:sp>
        <p:nvSpPr>
          <p:cNvPr id="3" name="Rectangle 1">
            <a:extLst>
              <a:ext uri="{FF2B5EF4-FFF2-40B4-BE49-F238E27FC236}">
                <a16:creationId xmlns:a16="http://schemas.microsoft.com/office/drawing/2014/main" id="{2AFF022E-CF3C-E16A-A6A5-5DD6F8C1DAC2}"/>
              </a:ext>
            </a:extLst>
          </p:cNvPr>
          <p:cNvSpPr>
            <a:spLocks noChangeArrowheads="1"/>
          </p:cNvSpPr>
          <p:nvPr/>
        </p:nvSpPr>
        <p:spPr bwMode="auto">
          <a:xfrm>
            <a:off x="357246" y="430696"/>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000" b="1" dirty="0">
                <a:solidFill>
                  <a:srgbClr val="113A71"/>
                </a:solidFill>
                <a:latin typeface="Times New Roman" panose="02020603050405020304" pitchFamily="18" charset="0"/>
                <a:cs typeface="Times New Roman" panose="02020603050405020304" pitchFamily="18" charset="0"/>
              </a:rPr>
              <a:t>3.2. </a:t>
            </a:r>
            <a:r>
              <a:rPr lang="en-US" sz="2000" b="1" dirty="0" err="1">
                <a:solidFill>
                  <a:srgbClr val="113A71"/>
                </a:solidFill>
                <a:latin typeface="Times New Roman" panose="02020603050405020304" pitchFamily="18" charset="0"/>
                <a:cs typeface="Times New Roman" panose="02020603050405020304" pitchFamily="18" charset="0"/>
              </a:rPr>
              <a:t>Tạo</a:t>
            </a:r>
            <a:r>
              <a:rPr lang="en-US" sz="2000" b="1" dirty="0">
                <a:solidFill>
                  <a:srgbClr val="113A71"/>
                </a:solidFill>
                <a:latin typeface="Times New Roman" panose="02020603050405020304" pitchFamily="18" charset="0"/>
                <a:cs typeface="Times New Roman" panose="02020603050405020304" pitchFamily="18" charset="0"/>
              </a:rPr>
              <a:t> Measure (</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3277159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01EE1-F68F-D77C-424E-3564E8CDB103}"/>
            </a:ext>
          </a:extLst>
        </p:cNvPr>
        <p:cNvGrpSpPr/>
        <p:nvPr/>
      </p:nvGrpSpPr>
      <p:grpSpPr>
        <a:xfrm>
          <a:off x="0" y="0"/>
          <a:ext cx="0" cy="0"/>
          <a:chOff x="0" y="0"/>
          <a:chExt cx="0" cy="0"/>
        </a:xfrm>
      </p:grpSpPr>
      <p:sp>
        <p:nvSpPr>
          <p:cNvPr id="19" name="Google Shape;642;p53">
            <a:extLst>
              <a:ext uri="{FF2B5EF4-FFF2-40B4-BE49-F238E27FC236}">
                <a16:creationId xmlns:a16="http://schemas.microsoft.com/office/drawing/2014/main" id="{313DDDE1-0360-8509-4E30-6E5151CE1DB0}"/>
              </a:ext>
            </a:extLst>
          </p:cNvPr>
          <p:cNvSpPr txBox="1"/>
          <p:nvPr/>
        </p:nvSpPr>
        <p:spPr>
          <a:xfrm>
            <a:off x="346857" y="799034"/>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err="1">
                <a:latin typeface="Times New Roman" panose="02020603050405020304" pitchFamily="18" charset="0"/>
                <a:cs typeface="Times New Roman" panose="02020603050405020304" pitchFamily="18" charset="0"/>
                <a:sym typeface="Montserrat"/>
              </a:rPr>
              <a:t>Đề</a:t>
            </a:r>
            <a:r>
              <a:rPr lang="en-US" b="1" dirty="0">
                <a:latin typeface="Times New Roman" panose="02020603050405020304" pitchFamily="18" charset="0"/>
                <a:cs typeface="Times New Roman" panose="02020603050405020304" pitchFamily="18" charset="0"/>
                <a:sym typeface="Montserrat"/>
              </a:rPr>
              <a:t> </a:t>
            </a:r>
            <a:r>
              <a:rPr lang="en-US" b="1" dirty="0" err="1">
                <a:latin typeface="Times New Roman" panose="02020603050405020304" pitchFamily="18" charset="0"/>
                <a:cs typeface="Times New Roman" panose="02020603050405020304" pitchFamily="18" charset="0"/>
                <a:sym typeface="Montserrat"/>
              </a:rPr>
              <a:t>bài</a:t>
            </a:r>
            <a:r>
              <a:rPr lang="en-US" b="1" dirty="0">
                <a:latin typeface="Times New Roman" panose="02020603050405020304" pitchFamily="18" charset="0"/>
                <a:cs typeface="Times New Roman" panose="02020603050405020304" pitchFamily="18" charset="0"/>
                <a:sym typeface="Montserrat"/>
              </a:rPr>
              <a:t>:</a:t>
            </a:r>
          </a:p>
        </p:txBody>
      </p:sp>
      <p:sp>
        <p:nvSpPr>
          <p:cNvPr id="4" name="Google Shape;642;p53">
            <a:extLst>
              <a:ext uri="{FF2B5EF4-FFF2-40B4-BE49-F238E27FC236}">
                <a16:creationId xmlns:a16="http://schemas.microsoft.com/office/drawing/2014/main" id="{2974A0F7-D8D0-5A1B-4429-9877B2A0F508}"/>
              </a:ext>
            </a:extLst>
          </p:cNvPr>
          <p:cNvSpPr txBox="1"/>
          <p:nvPr/>
        </p:nvSpPr>
        <p:spPr>
          <a:xfrm>
            <a:off x="346857" y="2384001"/>
            <a:ext cx="10971371" cy="390249"/>
          </a:xfrm>
          <a:prstGeom prst="rect">
            <a:avLst/>
          </a:prstGeom>
          <a:noFill/>
          <a:ln>
            <a:noFill/>
          </a:ln>
        </p:spPr>
        <p:txBody>
          <a:bodyPr spcFirstLastPara="1" wrap="square" lIns="91438" tIns="45694" rIns="91438" bIns="45694" anchor="ctr" anchorCtr="0">
            <a:noAutofit/>
          </a:bodyPr>
          <a:lstStyle/>
          <a:p>
            <a:pPr lvl="0">
              <a:lnSpc>
                <a:spcPct val="120000"/>
              </a:lnSpc>
              <a:buClr>
                <a:schemeClr val="dk1"/>
              </a:buClr>
              <a:buSzPts val="1400"/>
            </a:pPr>
            <a:r>
              <a:rPr lang="en-US" b="1" dirty="0">
                <a:latin typeface="Times New Roman" panose="02020603050405020304" pitchFamily="18" charset="0"/>
                <a:cs typeface="Times New Roman" panose="02020603050405020304" pitchFamily="18" charset="0"/>
                <a:sym typeface="Montserrat"/>
              </a:rPr>
              <a:t>Cách </a:t>
            </a:r>
            <a:r>
              <a:rPr lang="en-US" b="1" dirty="0" err="1">
                <a:latin typeface="Times New Roman" panose="02020603050405020304" pitchFamily="18" charset="0"/>
                <a:cs typeface="Times New Roman" panose="02020603050405020304" pitchFamily="18" charset="0"/>
                <a:sym typeface="Montserrat"/>
              </a:rPr>
              <a:t>làm</a:t>
            </a:r>
            <a:r>
              <a:rPr lang="en-US" b="1" dirty="0">
                <a:latin typeface="Times New Roman" panose="02020603050405020304" pitchFamily="18" charset="0"/>
                <a:cs typeface="Times New Roman" panose="02020603050405020304" pitchFamily="18" charset="0"/>
                <a:sym typeface="Montserrat"/>
              </a:rPr>
              <a:t>:</a:t>
            </a:r>
          </a:p>
        </p:txBody>
      </p:sp>
      <p:sp>
        <p:nvSpPr>
          <p:cNvPr id="15" name="Google Shape;642;p53">
            <a:extLst>
              <a:ext uri="{FF2B5EF4-FFF2-40B4-BE49-F238E27FC236}">
                <a16:creationId xmlns:a16="http://schemas.microsoft.com/office/drawing/2014/main" id="{28EAA7E0-F6B3-B9B5-480E-8CDCACFA70CD}"/>
              </a:ext>
            </a:extLst>
          </p:cNvPr>
          <p:cNvSpPr txBox="1"/>
          <p:nvPr/>
        </p:nvSpPr>
        <p:spPr>
          <a:xfrm>
            <a:off x="490560" y="2744352"/>
            <a:ext cx="10971371" cy="575096"/>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measure </a:t>
            </a:r>
            <a:r>
              <a:rPr lang="en-US" sz="1600" b="1" dirty="0">
                <a:latin typeface="Times New Roman" panose="02020603050405020304" pitchFamily="18" charset="0"/>
                <a:cs typeface="Times New Roman" panose="02020603050405020304" pitchFamily="18" charset="0"/>
                <a:sym typeface="Montserrat"/>
              </a:rPr>
              <a:t>60-Day Revenue</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Dùng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CALCULATE() </a:t>
            </a:r>
            <a:r>
              <a:rPr lang="en-US" sz="1600" dirty="0" err="1">
                <a:latin typeface="Times New Roman" panose="02020603050405020304" pitchFamily="18" charset="0"/>
                <a:cs typeface="Times New Roman" panose="02020603050405020304" pitchFamily="18" charset="0"/>
                <a:sym typeface="Montserrat"/>
              </a:rPr>
              <a:t>kết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hợp</a:t>
            </a:r>
            <a:r>
              <a:rPr lang="en-US" sz="1600" dirty="0">
                <a:latin typeface="Times New Roman" panose="02020603050405020304" pitchFamily="18" charset="0"/>
                <a:cs typeface="Times New Roman" panose="02020603050405020304" pitchFamily="18" charset="0"/>
                <a:sym typeface="Montserrat"/>
              </a:rPr>
              <a:t> </a:t>
            </a:r>
            <a:r>
              <a:rPr lang="en-US" sz="1600" b="1" i="1" dirty="0">
                <a:latin typeface="Times New Roman" panose="02020603050405020304" pitchFamily="18" charset="0"/>
                <a:cs typeface="Times New Roman" panose="02020603050405020304" pitchFamily="18" charset="0"/>
                <a:sym typeface="Montserrat"/>
              </a:rPr>
              <a:t>DATESINPERIOD()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tính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tổng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doanh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trong</a:t>
            </a:r>
            <a:r>
              <a:rPr lang="en-US" sz="1600" dirty="0">
                <a:latin typeface="Times New Roman" panose="02020603050405020304" pitchFamily="18" charset="0"/>
                <a:cs typeface="Times New Roman" panose="02020603050405020304" pitchFamily="18" charset="0"/>
                <a:sym typeface="Montserrat"/>
              </a:rPr>
              <a:t> 60 </a:t>
            </a:r>
            <a:r>
              <a:rPr lang="en-US" sz="1600" dirty="0" err="1">
                <a:latin typeface="Times New Roman" panose="02020603050405020304" pitchFamily="18" charset="0"/>
                <a:cs typeface="Times New Roman" panose="02020603050405020304" pitchFamily="18" charset="0"/>
                <a:sym typeface="Montserrat"/>
              </a:rPr>
              <a:t>ngày</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gần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nhất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dựa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trên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ngày</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lớn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nhất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trong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cột</a:t>
            </a:r>
            <a:r>
              <a:rPr lang="en-US" sz="1600" dirty="0">
                <a:latin typeface="Times New Roman" panose="02020603050405020304" pitchFamily="18" charset="0"/>
                <a:cs typeface="Times New Roman" panose="02020603050405020304" pitchFamily="18" charset="0"/>
                <a:sym typeface="Montserrat"/>
              </a:rPr>
              <a:t> </a:t>
            </a:r>
            <a:r>
              <a:rPr lang="en-US" sz="1600" i="1" dirty="0" err="1">
                <a:latin typeface="Times New Roman" panose="02020603050405020304" pitchFamily="18" charset="0"/>
                <a:cs typeface="Times New Roman" panose="02020603050405020304" pitchFamily="18" charset="0"/>
                <a:sym typeface="Montserrat"/>
              </a:rPr>
              <a:t>Transaction_Data</a:t>
            </a:r>
            <a:r>
              <a:rPr lang="en-US" sz="1600" i="1" dirty="0">
                <a:latin typeface="Times New Roman" panose="02020603050405020304" pitchFamily="18" charset="0"/>
                <a:cs typeface="Times New Roman" panose="02020603050405020304" pitchFamily="18" charset="0"/>
                <a:sym typeface="Montserrat"/>
              </a:rPr>
              <a:t>[</a:t>
            </a:r>
            <a:r>
              <a:rPr lang="en-US" sz="1600" i="1" dirty="0" err="1">
                <a:latin typeface="Times New Roman" panose="02020603050405020304" pitchFamily="18" charset="0"/>
                <a:cs typeface="Times New Roman" panose="02020603050405020304" pitchFamily="18" charset="0"/>
                <a:sym typeface="Montserrat"/>
              </a:rPr>
              <a:t>transaction_date</a:t>
            </a:r>
            <a:r>
              <a:rPr lang="en-US" sz="1600" i="1" dirty="0">
                <a:latin typeface="Times New Roman" panose="02020603050405020304" pitchFamily="18" charset="0"/>
                <a:cs typeface="Times New Roman" panose="02020603050405020304" pitchFamily="18" charset="0"/>
                <a:sym typeface="Montserrat"/>
              </a:rPr>
              <a:t>]</a:t>
            </a:r>
            <a:r>
              <a:rPr lang="en-US" sz="1600" dirty="0">
                <a:latin typeface="Times New Roman" panose="02020603050405020304" pitchFamily="18" charset="0"/>
                <a:cs typeface="Times New Roman" panose="02020603050405020304" pitchFamily="18" charset="0"/>
                <a:sym typeface="Montserrat"/>
              </a:rPr>
              <a:t>.</a:t>
            </a:r>
          </a:p>
        </p:txBody>
      </p:sp>
      <p:sp>
        <p:nvSpPr>
          <p:cNvPr id="21" name="Google Shape;642;p53">
            <a:extLst>
              <a:ext uri="{FF2B5EF4-FFF2-40B4-BE49-F238E27FC236}">
                <a16:creationId xmlns:a16="http://schemas.microsoft.com/office/drawing/2014/main" id="{60FA2F37-1BD6-2446-A295-03CA109CA46F}"/>
              </a:ext>
            </a:extLst>
          </p:cNvPr>
          <p:cNvSpPr txBox="1"/>
          <p:nvPr/>
        </p:nvSpPr>
        <p:spPr>
          <a:xfrm>
            <a:off x="490559" y="3787450"/>
            <a:ext cx="10971371" cy="540753"/>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measure </a:t>
            </a:r>
            <a:r>
              <a:rPr lang="en-US" sz="1600" b="1" dirty="0">
                <a:latin typeface="Times New Roman" panose="02020603050405020304" pitchFamily="18" charset="0"/>
                <a:cs typeface="Times New Roman" panose="02020603050405020304" pitchFamily="18" charset="0"/>
                <a:sym typeface="Montserrat"/>
              </a:rPr>
              <a:t>Last Month Transaction, Last Month Revenue, Last Month Profit: </a:t>
            </a:r>
            <a:r>
              <a:rPr lang="en-US" sz="1600" dirty="0" err="1">
                <a:latin typeface="Times New Roman" panose="02020603050405020304" pitchFamily="18" charset="0"/>
                <a:cs typeface="Times New Roman" panose="02020603050405020304" pitchFamily="18" charset="0"/>
                <a:sym typeface="Montserrat"/>
              </a:rPr>
              <a:t>dùng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en-US" sz="1600" dirty="0">
                <a:latin typeface="Times New Roman" panose="02020603050405020304" pitchFamily="18" charset="0"/>
                <a:cs typeface="Times New Roman" panose="02020603050405020304" pitchFamily="18" charset="0"/>
                <a:sym typeface="Montserrat"/>
              </a:rPr>
              <a:t> </a:t>
            </a:r>
            <a:r>
              <a:rPr lang="vi-VN" sz="1600" b="1" i="1" dirty="0">
                <a:latin typeface="Times New Roman" panose="02020603050405020304" pitchFamily="18" charset="0"/>
                <a:cs typeface="Times New Roman" panose="02020603050405020304" pitchFamily="18" charset="0"/>
                <a:sym typeface="Montserrat"/>
              </a:rPr>
              <a:t>DATEADD() </a:t>
            </a:r>
            <a:r>
              <a:rPr lang="vi-VN" sz="1600" dirty="0">
                <a:latin typeface="Times New Roman" panose="02020603050405020304" pitchFamily="18" charset="0"/>
                <a:cs typeface="Times New Roman" panose="02020603050405020304" pitchFamily="18" charset="0"/>
                <a:sym typeface="Montserrat"/>
              </a:rPr>
              <a:t>lùi thời gian về tháng trước, sau đó</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dùng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hàm</a:t>
            </a:r>
            <a:r>
              <a:rPr lang="vi-VN" sz="1600" dirty="0">
                <a:latin typeface="Times New Roman" panose="02020603050405020304" pitchFamily="18" charset="0"/>
                <a:cs typeface="Times New Roman" panose="02020603050405020304" pitchFamily="18" charset="0"/>
                <a:sym typeface="Montserrat"/>
              </a:rPr>
              <a:t> </a:t>
            </a:r>
            <a:r>
              <a:rPr lang="vi-VN" sz="1600" b="1" i="1" dirty="0">
                <a:latin typeface="Times New Roman" panose="02020603050405020304" pitchFamily="18" charset="0"/>
                <a:cs typeface="Times New Roman" panose="02020603050405020304" pitchFamily="18" charset="0"/>
                <a:sym typeface="Montserrat"/>
              </a:rPr>
              <a:t>CALCULATE() </a:t>
            </a:r>
            <a:r>
              <a:rPr lang="vi-VN" sz="1600" dirty="0">
                <a:latin typeface="Times New Roman" panose="02020603050405020304" pitchFamily="18" charset="0"/>
                <a:cs typeface="Times New Roman" panose="02020603050405020304" pitchFamily="18" charset="0"/>
                <a:sym typeface="Montserrat"/>
              </a:rPr>
              <a:t>tính lại giá trị trong khoảng thời gian đó.</a:t>
            </a:r>
            <a:endParaRPr lang="en-US" sz="1600" dirty="0">
              <a:latin typeface="Times New Roman" panose="02020603050405020304" pitchFamily="18" charset="0"/>
              <a:cs typeface="Times New Roman" panose="02020603050405020304" pitchFamily="18" charset="0"/>
              <a:sym typeface="Montserrat"/>
            </a:endParaRPr>
          </a:p>
        </p:txBody>
      </p:sp>
      <p:sp>
        <p:nvSpPr>
          <p:cNvPr id="22" name="Google Shape;642;p53">
            <a:extLst>
              <a:ext uri="{FF2B5EF4-FFF2-40B4-BE49-F238E27FC236}">
                <a16:creationId xmlns:a16="http://schemas.microsoft.com/office/drawing/2014/main" id="{E4368AE6-BEC7-74C9-116B-9D77BA15D4AF}"/>
              </a:ext>
            </a:extLst>
          </p:cNvPr>
          <p:cNvSpPr txBox="1"/>
          <p:nvPr/>
        </p:nvSpPr>
        <p:spPr>
          <a:xfrm>
            <a:off x="490561" y="5577375"/>
            <a:ext cx="10971369" cy="575096"/>
          </a:xfrm>
          <a:prstGeom prst="rect">
            <a:avLst/>
          </a:prstGeom>
          <a:noFill/>
          <a:ln>
            <a:noFill/>
          </a:ln>
        </p:spPr>
        <p:txBody>
          <a:bodyPr spcFirstLastPara="1" wrap="square" lIns="91438" tIns="45694" rIns="91438" bIns="45694" anchor="ctr" anchorCtr="0">
            <a:noAutofit/>
          </a:bodyPr>
          <a:lstStyle/>
          <a:p>
            <a:pPr lvl="0" algn="just">
              <a:lnSpc>
                <a:spcPct val="120000"/>
              </a:lnSpc>
              <a:buClr>
                <a:schemeClr val="dk1"/>
              </a:buClr>
              <a:buSzPts val="1400"/>
            </a:pPr>
            <a:r>
              <a:rPr lang="en-US" sz="1600" dirty="0" err="1">
                <a:latin typeface="Times New Roman" panose="02020603050405020304" pitchFamily="18" charset="0"/>
                <a:cs typeface="Times New Roman" panose="02020603050405020304" pitchFamily="18" charset="0"/>
                <a:sym typeface="Montserrat"/>
              </a:rPr>
              <a:t>Tạo</a:t>
            </a:r>
            <a:r>
              <a:rPr lang="en-US" sz="1600" dirty="0">
                <a:latin typeface="Times New Roman" panose="02020603050405020304" pitchFamily="18" charset="0"/>
                <a:cs typeface="Times New Roman" panose="02020603050405020304" pitchFamily="18" charset="0"/>
                <a:sym typeface="Montserrat"/>
              </a:rPr>
              <a:t> measure </a:t>
            </a:r>
            <a:r>
              <a:rPr lang="en-US" sz="1600" b="1" dirty="0">
                <a:latin typeface="Times New Roman" panose="02020603050405020304" pitchFamily="18" charset="0"/>
                <a:cs typeface="Times New Roman" panose="02020603050405020304" pitchFamily="18" charset="0"/>
                <a:sym typeface="Montserrat"/>
              </a:rPr>
              <a:t>Revenue Target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dùng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kết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quả</a:t>
            </a:r>
            <a:r>
              <a:rPr lang="en-US" sz="1600" dirty="0">
                <a:latin typeface="Times New Roman" panose="02020603050405020304" pitchFamily="18" charset="0"/>
                <a:cs typeface="Times New Roman" panose="02020603050405020304" pitchFamily="18" charset="0"/>
                <a:sym typeface="Montserrat"/>
              </a:rPr>
              <a:t> </a:t>
            </a:r>
            <a:r>
              <a:rPr lang="en-US" sz="1600" i="1" dirty="0">
                <a:latin typeface="Times New Roman" panose="02020603050405020304" pitchFamily="18" charset="0"/>
                <a:cs typeface="Times New Roman" panose="02020603050405020304" pitchFamily="18" charset="0"/>
                <a:sym typeface="Montserrat"/>
              </a:rPr>
              <a:t>Last Month Revenue </a:t>
            </a:r>
            <a:r>
              <a:rPr lang="en-US" sz="1600" dirty="0" err="1">
                <a:latin typeface="Times New Roman" panose="02020603050405020304" pitchFamily="18" charset="0"/>
                <a:cs typeface="Times New Roman" panose="02020603050405020304" pitchFamily="18" charset="0"/>
                <a:sym typeface="Montserrat"/>
              </a:rPr>
              <a:t>nhân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cho</a:t>
            </a:r>
            <a:r>
              <a:rPr lang="en-US" sz="1600" dirty="0">
                <a:latin typeface="Times New Roman" panose="02020603050405020304" pitchFamily="18" charset="0"/>
                <a:cs typeface="Times New Roman" panose="02020603050405020304" pitchFamily="18" charset="0"/>
                <a:sym typeface="Montserrat"/>
              </a:rPr>
              <a:t> 1.05 </a:t>
            </a:r>
            <a:r>
              <a:rPr lang="en-US" sz="1600" i="1" dirty="0">
                <a:latin typeface="Times New Roman" panose="02020603050405020304" pitchFamily="18" charset="0"/>
                <a:cs typeface="Times New Roman" panose="02020603050405020304" pitchFamily="18" charset="0"/>
                <a:sym typeface="Montserrat"/>
              </a:rPr>
              <a:t>(</a:t>
            </a:r>
            <a:r>
              <a:rPr lang="en-US" sz="1600" i="1" dirty="0" err="1">
                <a:latin typeface="Times New Roman" panose="02020603050405020304" pitchFamily="18" charset="0"/>
                <a:cs typeface="Times New Roman" panose="02020603050405020304" pitchFamily="18" charset="0"/>
                <a:sym typeface="Montserrat"/>
              </a:rPr>
              <a:t>tăng</a:t>
            </a:r>
            <a:r>
              <a:rPr lang="en-US" sz="1600" i="1" dirty="0">
                <a:latin typeface="Times New Roman" panose="02020603050405020304" pitchFamily="18" charset="0"/>
                <a:cs typeface="Times New Roman" panose="02020603050405020304" pitchFamily="18" charset="0"/>
                <a:sym typeface="Montserrat"/>
              </a:rPr>
              <a:t> 5% so </a:t>
            </a:r>
            <a:r>
              <a:rPr lang="en-US" sz="1600" i="1" dirty="0" err="1">
                <a:latin typeface="Times New Roman" panose="02020603050405020304" pitchFamily="18" charset="0"/>
                <a:cs typeface="Times New Roman" panose="02020603050405020304" pitchFamily="18" charset="0"/>
                <a:sym typeface="Montserrat"/>
              </a:rPr>
              <a:t>với</a:t>
            </a:r>
            <a:r>
              <a:rPr lang="en-US" sz="1600" i="1" dirty="0">
                <a:latin typeface="Times New Roman" panose="02020603050405020304" pitchFamily="18" charset="0"/>
                <a:cs typeface="Times New Roman" panose="02020603050405020304" pitchFamily="18" charset="0"/>
                <a:sym typeface="Montserrat"/>
              </a:rPr>
              <a:t> </a:t>
            </a:r>
            <a:r>
              <a:rPr lang="en-US" sz="1600" i="1" dirty="0" err="1">
                <a:latin typeface="Times New Roman" panose="02020603050405020304" pitchFamily="18" charset="0"/>
                <a:cs typeface="Times New Roman" panose="02020603050405020304" pitchFamily="18" charset="0"/>
                <a:sym typeface="Montserrat"/>
              </a:rPr>
              <a:t>doanh</a:t>
            </a:r>
            <a:r>
              <a:rPr lang="en-US" sz="1600" i="1" dirty="0">
                <a:latin typeface="Times New Roman" panose="02020603050405020304" pitchFamily="18" charset="0"/>
                <a:cs typeface="Times New Roman" panose="02020603050405020304" pitchFamily="18" charset="0"/>
                <a:sym typeface="Montserrat"/>
              </a:rPr>
              <a:t> </a:t>
            </a:r>
            <a:r>
              <a:rPr lang="en-US" sz="1600" i="1" dirty="0" err="1">
                <a:latin typeface="Times New Roman" panose="02020603050405020304" pitchFamily="18" charset="0"/>
                <a:cs typeface="Times New Roman" panose="02020603050405020304" pitchFamily="18" charset="0"/>
                <a:sym typeface="Montserrat"/>
              </a:rPr>
              <a:t>thu</a:t>
            </a:r>
            <a:r>
              <a:rPr lang="en-US" sz="1600" i="1" dirty="0">
                <a:latin typeface="Times New Roman" panose="02020603050405020304" pitchFamily="18" charset="0"/>
                <a:cs typeface="Times New Roman" panose="02020603050405020304" pitchFamily="18" charset="0"/>
                <a:sym typeface="Montserrat"/>
              </a:rPr>
              <a:t> </a:t>
            </a:r>
            <a:r>
              <a:rPr lang="en-US" sz="1600" i="1" dirty="0" err="1">
                <a:latin typeface="Times New Roman" panose="02020603050405020304" pitchFamily="18" charset="0"/>
                <a:cs typeface="Times New Roman" panose="02020603050405020304" pitchFamily="18" charset="0"/>
                <a:sym typeface="Montserrat"/>
              </a:rPr>
              <a:t>tháng</a:t>
            </a:r>
            <a:r>
              <a:rPr lang="en-US" sz="1600" i="1" dirty="0">
                <a:latin typeface="Times New Roman" panose="02020603050405020304" pitchFamily="18" charset="0"/>
                <a:cs typeface="Times New Roman" panose="02020603050405020304" pitchFamily="18" charset="0"/>
                <a:sym typeface="Montserrat"/>
              </a:rPr>
              <a:t> </a:t>
            </a:r>
            <a:r>
              <a:rPr lang="en-US" sz="1600" i="1" dirty="0" err="1">
                <a:latin typeface="Times New Roman" panose="02020603050405020304" pitchFamily="18" charset="0"/>
                <a:cs typeface="Times New Roman" panose="02020603050405020304" pitchFamily="18" charset="0"/>
                <a:sym typeface="Montserrat"/>
              </a:rPr>
              <a:t>trước</a:t>
            </a:r>
            <a:r>
              <a:rPr lang="en-US" sz="1600" i="1" dirty="0">
                <a:latin typeface="Times New Roman" panose="02020603050405020304" pitchFamily="18" charset="0"/>
                <a:cs typeface="Times New Roman" panose="02020603050405020304" pitchFamily="18" charset="0"/>
                <a:sym typeface="Montserrat"/>
              </a:rPr>
              <a:t>)</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vào</a:t>
            </a:r>
            <a:r>
              <a:rPr lang="en-US" sz="1600" dirty="0">
                <a:latin typeface="Times New Roman" panose="02020603050405020304" pitchFamily="18" charset="0"/>
                <a:cs typeface="Times New Roman" panose="02020603050405020304" pitchFamily="18" charset="0"/>
                <a:sym typeface="Montserrat"/>
              </a:rPr>
              <a:t> Measure tools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đổi</a:t>
            </a:r>
            <a:r>
              <a:rPr lang="en-US" sz="1600" dirty="0">
                <a:latin typeface="Times New Roman" panose="02020603050405020304" pitchFamily="18" charset="0"/>
                <a:cs typeface="Times New Roman" panose="02020603050405020304" pitchFamily="18" charset="0"/>
                <a:sym typeface="Montserrat"/>
              </a:rPr>
              <a:t> sang </a:t>
            </a:r>
            <a:r>
              <a:rPr lang="en-US" sz="1600" dirty="0" err="1">
                <a:latin typeface="Times New Roman" panose="02020603050405020304" pitchFamily="18" charset="0"/>
                <a:cs typeface="Times New Roman" panose="02020603050405020304" pitchFamily="18" charset="0"/>
                <a:sym typeface="Montserrat"/>
              </a:rPr>
              <a:t>định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dạng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a:t>
            </a:r>
            <a:r>
              <a:rPr lang="en-US" sz="1600" dirty="0">
                <a:latin typeface="Times New Roman" panose="02020603050405020304" pitchFamily="18" charset="0"/>
                <a:cs typeface="Times New Roman" panose="02020603050405020304" pitchFamily="18" charset="0"/>
                <a:sym typeface="Montserrat"/>
              </a:rPr>
              <a:t>.</a:t>
            </a:r>
          </a:p>
        </p:txBody>
      </p:sp>
      <p:pic>
        <p:nvPicPr>
          <p:cNvPr id="3" name="Picture 2">
            <a:extLst>
              <a:ext uri="{FF2B5EF4-FFF2-40B4-BE49-F238E27FC236}">
                <a16:creationId xmlns:a16="http://schemas.microsoft.com/office/drawing/2014/main" id="{6CDCE082-B6CE-CA6A-37FB-738B1C910184}"/>
              </a:ext>
            </a:extLst>
          </p:cNvPr>
          <p:cNvPicPr>
            <a:picLocks noChangeAspect="1"/>
          </p:cNvPicPr>
          <p:nvPr/>
        </p:nvPicPr>
        <p:blipFill>
          <a:blip r:embed="rId2"/>
          <a:stretch>
            <a:fillRect/>
          </a:stretch>
        </p:blipFill>
        <p:spPr>
          <a:xfrm>
            <a:off x="2666079" y="947484"/>
            <a:ext cx="6859840" cy="1444177"/>
          </a:xfrm>
          <a:prstGeom prst="rect">
            <a:avLst/>
          </a:prstGeom>
        </p:spPr>
      </p:pic>
      <p:pic>
        <p:nvPicPr>
          <p:cNvPr id="23" name="Picture 22">
            <a:extLst>
              <a:ext uri="{FF2B5EF4-FFF2-40B4-BE49-F238E27FC236}">
                <a16:creationId xmlns:a16="http://schemas.microsoft.com/office/drawing/2014/main" id="{AEE027F3-367B-8F68-229B-05AE32B709A3}"/>
              </a:ext>
            </a:extLst>
          </p:cNvPr>
          <p:cNvPicPr>
            <a:picLocks noChangeAspect="1"/>
          </p:cNvPicPr>
          <p:nvPr/>
        </p:nvPicPr>
        <p:blipFill>
          <a:blip r:embed="rId3"/>
          <a:stretch>
            <a:fillRect/>
          </a:stretch>
        </p:blipFill>
        <p:spPr>
          <a:xfrm>
            <a:off x="4075741" y="6227058"/>
            <a:ext cx="3801005" cy="333422"/>
          </a:xfrm>
          <a:prstGeom prst="rect">
            <a:avLst/>
          </a:prstGeom>
        </p:spPr>
      </p:pic>
      <p:grpSp>
        <p:nvGrpSpPr>
          <p:cNvPr id="31" name="Group 30">
            <a:extLst>
              <a:ext uri="{FF2B5EF4-FFF2-40B4-BE49-F238E27FC236}">
                <a16:creationId xmlns:a16="http://schemas.microsoft.com/office/drawing/2014/main" id="{14F3800D-BA2C-2244-CD4E-A81002EEBF17}"/>
              </a:ext>
            </a:extLst>
          </p:cNvPr>
          <p:cNvGrpSpPr/>
          <p:nvPr/>
        </p:nvGrpSpPr>
        <p:grpSpPr>
          <a:xfrm>
            <a:off x="2289365" y="4480933"/>
            <a:ext cx="7613267" cy="943711"/>
            <a:chOff x="2324719" y="3871972"/>
            <a:chExt cx="7613267" cy="943711"/>
          </a:xfrm>
        </p:grpSpPr>
        <p:pic>
          <p:nvPicPr>
            <p:cNvPr id="26" name="Picture 25">
              <a:extLst>
                <a:ext uri="{FF2B5EF4-FFF2-40B4-BE49-F238E27FC236}">
                  <a16:creationId xmlns:a16="http://schemas.microsoft.com/office/drawing/2014/main" id="{35537279-3C2D-61A1-EDD1-845244BF6BCE}"/>
                </a:ext>
              </a:extLst>
            </p:cNvPr>
            <p:cNvPicPr>
              <a:picLocks noChangeAspect="1"/>
            </p:cNvPicPr>
            <p:nvPr/>
          </p:nvPicPr>
          <p:blipFill>
            <a:blip r:embed="rId4"/>
            <a:stretch>
              <a:fillRect/>
            </a:stretch>
          </p:blipFill>
          <p:spPr>
            <a:xfrm>
              <a:off x="2324719" y="4139313"/>
              <a:ext cx="6830378" cy="371527"/>
            </a:xfrm>
            <a:prstGeom prst="rect">
              <a:avLst/>
            </a:prstGeom>
          </p:spPr>
        </p:pic>
        <p:pic>
          <p:nvPicPr>
            <p:cNvPr id="28" name="Picture 27">
              <a:extLst>
                <a:ext uri="{FF2B5EF4-FFF2-40B4-BE49-F238E27FC236}">
                  <a16:creationId xmlns:a16="http://schemas.microsoft.com/office/drawing/2014/main" id="{2CDDF396-CBBC-D76E-D360-60FB3E98E1F6}"/>
                </a:ext>
              </a:extLst>
            </p:cNvPr>
            <p:cNvPicPr>
              <a:picLocks noChangeAspect="1"/>
            </p:cNvPicPr>
            <p:nvPr/>
          </p:nvPicPr>
          <p:blipFill>
            <a:blip r:embed="rId5"/>
            <a:stretch>
              <a:fillRect/>
            </a:stretch>
          </p:blipFill>
          <p:spPr>
            <a:xfrm>
              <a:off x="2345501" y="3871972"/>
              <a:ext cx="7592485" cy="314369"/>
            </a:xfrm>
            <a:prstGeom prst="rect">
              <a:avLst/>
            </a:prstGeom>
          </p:spPr>
        </p:pic>
        <p:pic>
          <p:nvPicPr>
            <p:cNvPr id="30" name="Picture 29">
              <a:extLst>
                <a:ext uri="{FF2B5EF4-FFF2-40B4-BE49-F238E27FC236}">
                  <a16:creationId xmlns:a16="http://schemas.microsoft.com/office/drawing/2014/main" id="{F9C0F4E2-96BD-9E7C-7982-AC4ED4E46E7E}"/>
                </a:ext>
              </a:extLst>
            </p:cNvPr>
            <p:cNvPicPr>
              <a:picLocks noChangeAspect="1"/>
            </p:cNvPicPr>
            <p:nvPr/>
          </p:nvPicPr>
          <p:blipFill>
            <a:blip r:embed="rId6"/>
            <a:stretch>
              <a:fillRect/>
            </a:stretch>
          </p:blipFill>
          <p:spPr>
            <a:xfrm>
              <a:off x="2345501" y="4510840"/>
              <a:ext cx="6620799" cy="304843"/>
            </a:xfrm>
            <a:prstGeom prst="rect">
              <a:avLst/>
            </a:prstGeom>
          </p:spPr>
        </p:pic>
      </p:grpSp>
      <p:sp>
        <p:nvSpPr>
          <p:cNvPr id="2" name="Rectangle 1">
            <a:extLst>
              <a:ext uri="{FF2B5EF4-FFF2-40B4-BE49-F238E27FC236}">
                <a16:creationId xmlns:a16="http://schemas.microsoft.com/office/drawing/2014/main" id="{A3CC86F7-F5FD-3044-4BC7-0AE18D46445F}"/>
              </a:ext>
            </a:extLst>
          </p:cNvPr>
          <p:cNvSpPr>
            <a:spLocks noChangeArrowheads="1"/>
          </p:cNvSpPr>
          <p:nvPr/>
        </p:nvSpPr>
        <p:spPr bwMode="auto">
          <a:xfrm>
            <a:off x="0" y="447"/>
            <a:ext cx="10515819" cy="5492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400" b="1" dirty="0">
                <a:solidFill>
                  <a:srgbClr val="113A71"/>
                </a:solidFill>
                <a:latin typeface="Times New Roman" panose="02020603050405020304" pitchFamily="18" charset="0"/>
                <a:cs typeface="Times New Roman" panose="02020603050405020304" pitchFamily="18" charset="0"/>
              </a:rPr>
              <a:t>3</a:t>
            </a:r>
            <a:r>
              <a:rPr lang="vi-VN"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Sử</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dụng</a:t>
            </a:r>
            <a:r>
              <a:rPr lang="en-US" sz="2400" b="1" dirty="0">
                <a:solidFill>
                  <a:srgbClr val="113A71"/>
                </a:solidFill>
                <a:latin typeface="Times New Roman" panose="02020603050405020304" pitchFamily="18" charset="0"/>
                <a:cs typeface="Times New Roman" panose="02020603050405020304" pitchFamily="18" charset="0"/>
              </a:rPr>
              <a:t> DAX</a:t>
            </a:r>
          </a:p>
        </p:txBody>
      </p:sp>
      <p:sp>
        <p:nvSpPr>
          <p:cNvPr id="5" name="Rectangle 1">
            <a:extLst>
              <a:ext uri="{FF2B5EF4-FFF2-40B4-BE49-F238E27FC236}">
                <a16:creationId xmlns:a16="http://schemas.microsoft.com/office/drawing/2014/main" id="{1D88BEE3-DE6D-E042-1910-F449C29AAF4A}"/>
              </a:ext>
            </a:extLst>
          </p:cNvPr>
          <p:cNvSpPr>
            <a:spLocks noChangeArrowheads="1"/>
          </p:cNvSpPr>
          <p:nvPr/>
        </p:nvSpPr>
        <p:spPr bwMode="auto">
          <a:xfrm>
            <a:off x="357246" y="430696"/>
            <a:ext cx="10515819" cy="446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000" b="1" dirty="0">
                <a:solidFill>
                  <a:srgbClr val="113A71"/>
                </a:solidFill>
                <a:latin typeface="Times New Roman" panose="02020603050405020304" pitchFamily="18" charset="0"/>
                <a:cs typeface="Times New Roman" panose="02020603050405020304" pitchFamily="18" charset="0"/>
              </a:rPr>
              <a:t>3.2. </a:t>
            </a:r>
            <a:r>
              <a:rPr lang="en-US" sz="2000" b="1" dirty="0" err="1">
                <a:solidFill>
                  <a:srgbClr val="113A71"/>
                </a:solidFill>
                <a:latin typeface="Times New Roman" panose="02020603050405020304" pitchFamily="18" charset="0"/>
                <a:cs typeface="Times New Roman" panose="02020603050405020304" pitchFamily="18" charset="0"/>
              </a:rPr>
              <a:t>Tạo</a:t>
            </a:r>
            <a:r>
              <a:rPr lang="en-US" sz="2000" b="1" dirty="0">
                <a:solidFill>
                  <a:srgbClr val="113A71"/>
                </a:solidFill>
                <a:latin typeface="Times New Roman" panose="02020603050405020304" pitchFamily="18" charset="0"/>
                <a:cs typeface="Times New Roman" panose="02020603050405020304" pitchFamily="18" charset="0"/>
              </a:rPr>
              <a:t> Measure (</a:t>
            </a:r>
            <a:r>
              <a:rPr lang="en-US" sz="2000" b="1" dirty="0" err="1">
                <a:solidFill>
                  <a:srgbClr val="113A71"/>
                </a:solidFill>
                <a:latin typeface="Times New Roman" panose="02020603050405020304" pitchFamily="18" charset="0"/>
                <a:cs typeface="Times New Roman" panose="02020603050405020304" pitchFamily="18" charset="0"/>
              </a:rPr>
              <a:t>tt</a:t>
            </a:r>
            <a:r>
              <a:rPr lang="en-US" sz="2000" b="1" dirty="0">
                <a:solidFill>
                  <a:srgbClr val="113A71"/>
                </a:solidFill>
                <a:latin typeface="Times New Roman" panose="02020603050405020304" pitchFamily="18" charset="0"/>
                <a:cs typeface="Times New Roman" panose="02020603050405020304" pitchFamily="18" charset="0"/>
              </a:rPr>
              <a:t>)</a:t>
            </a:r>
          </a:p>
        </p:txBody>
      </p:sp>
      <p:pic>
        <p:nvPicPr>
          <p:cNvPr id="7" name="Picture 6">
            <a:extLst>
              <a:ext uri="{FF2B5EF4-FFF2-40B4-BE49-F238E27FC236}">
                <a16:creationId xmlns:a16="http://schemas.microsoft.com/office/drawing/2014/main" id="{B9996B0E-90C4-BDDB-C7C9-5DC6BA8FF754}"/>
              </a:ext>
            </a:extLst>
          </p:cNvPr>
          <p:cNvPicPr>
            <a:picLocks noChangeAspect="1"/>
          </p:cNvPicPr>
          <p:nvPr/>
        </p:nvPicPr>
        <p:blipFill>
          <a:blip r:embed="rId7"/>
          <a:stretch>
            <a:fillRect/>
          </a:stretch>
        </p:blipFill>
        <p:spPr>
          <a:xfrm>
            <a:off x="966934" y="3391287"/>
            <a:ext cx="10278909" cy="323895"/>
          </a:xfrm>
          <a:prstGeom prst="rect">
            <a:avLst/>
          </a:prstGeom>
        </p:spPr>
      </p:pic>
    </p:spTree>
    <p:extLst>
      <p:ext uri="{BB962C8B-B14F-4D97-AF65-F5344CB8AC3E}">
        <p14:creationId xmlns:p14="http://schemas.microsoft.com/office/powerpoint/2010/main" val="409528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DDAEE-0031-2BCE-2F0D-2316DC472692}"/>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22A37A0A-3520-2CD8-34B5-2A8C87E22CDA}"/>
              </a:ext>
            </a:extLst>
          </p:cNvPr>
          <p:cNvSpPr>
            <a:spLocks noChangeArrowheads="1"/>
          </p:cNvSpPr>
          <p:nvPr/>
        </p:nvSpPr>
        <p:spPr bwMode="auto">
          <a:xfrm>
            <a:off x="0" y="447"/>
            <a:ext cx="10515819" cy="5492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rmAutofit/>
          </a:bodyPr>
          <a:lstStyle/>
          <a:p>
            <a:r>
              <a:rPr lang="en-US" sz="2400" b="1" dirty="0">
                <a:solidFill>
                  <a:srgbClr val="113A71"/>
                </a:solidFill>
                <a:latin typeface="Times New Roman" panose="02020603050405020304" pitchFamily="18" charset="0"/>
                <a:cs typeface="Times New Roman" panose="02020603050405020304" pitchFamily="18" charset="0"/>
              </a:rPr>
              <a:t>4</a:t>
            </a:r>
            <a:r>
              <a:rPr lang="vi-VN"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Xây</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dựng</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và</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hoàn</a:t>
            </a:r>
            <a:r>
              <a:rPr lang="en-US" sz="2400" b="1" dirty="0">
                <a:solidFill>
                  <a:srgbClr val="113A71"/>
                </a:solidFill>
                <a:latin typeface="Times New Roman" panose="02020603050405020304" pitchFamily="18" charset="0"/>
                <a:cs typeface="Times New Roman" panose="02020603050405020304" pitchFamily="18" charset="0"/>
              </a:rPr>
              <a:t> </a:t>
            </a:r>
            <a:r>
              <a:rPr lang="en-US" sz="2400" b="1" dirty="0" err="1">
                <a:solidFill>
                  <a:srgbClr val="113A71"/>
                </a:solidFill>
                <a:latin typeface="Times New Roman" panose="02020603050405020304" pitchFamily="18" charset="0"/>
                <a:cs typeface="Times New Roman" panose="02020603050405020304" pitchFamily="18" charset="0"/>
              </a:rPr>
              <a:t>thiện</a:t>
            </a:r>
            <a:r>
              <a:rPr lang="en-US" sz="2400" b="1" dirty="0">
                <a:solidFill>
                  <a:srgbClr val="113A71"/>
                </a:solidFill>
                <a:latin typeface="Times New Roman" panose="02020603050405020304" pitchFamily="18" charset="0"/>
                <a:cs typeface="Times New Roman" panose="02020603050405020304" pitchFamily="18" charset="0"/>
              </a:rPr>
              <a:t> Dashboard</a:t>
            </a:r>
          </a:p>
        </p:txBody>
      </p:sp>
      <p:pic>
        <p:nvPicPr>
          <p:cNvPr id="5" name="Picture 4">
            <a:extLst>
              <a:ext uri="{FF2B5EF4-FFF2-40B4-BE49-F238E27FC236}">
                <a16:creationId xmlns:a16="http://schemas.microsoft.com/office/drawing/2014/main" id="{A084079F-24DE-09DC-858D-7584A13C47F9}"/>
              </a:ext>
            </a:extLst>
          </p:cNvPr>
          <p:cNvPicPr>
            <a:picLocks noChangeAspect="1"/>
          </p:cNvPicPr>
          <p:nvPr/>
        </p:nvPicPr>
        <p:blipFill>
          <a:blip r:embed="rId2"/>
          <a:stretch>
            <a:fillRect/>
          </a:stretch>
        </p:blipFill>
        <p:spPr>
          <a:xfrm>
            <a:off x="1104853" y="1662546"/>
            <a:ext cx="9982293" cy="4933597"/>
          </a:xfrm>
          <a:prstGeom prst="rect">
            <a:avLst/>
          </a:prstGeom>
        </p:spPr>
      </p:pic>
      <p:sp>
        <p:nvSpPr>
          <p:cNvPr id="7" name="Google Shape;642;p53">
            <a:extLst>
              <a:ext uri="{FF2B5EF4-FFF2-40B4-BE49-F238E27FC236}">
                <a16:creationId xmlns:a16="http://schemas.microsoft.com/office/drawing/2014/main" id="{C17778FF-863F-F288-B24C-C961927DD6B4}"/>
              </a:ext>
            </a:extLst>
          </p:cNvPr>
          <p:cNvSpPr txBox="1"/>
          <p:nvPr/>
        </p:nvSpPr>
        <p:spPr>
          <a:xfrm>
            <a:off x="407434" y="497695"/>
            <a:ext cx="10971369" cy="1092114"/>
          </a:xfrm>
          <a:prstGeom prst="rect">
            <a:avLst/>
          </a:prstGeom>
          <a:noFill/>
          <a:ln>
            <a:noFill/>
          </a:ln>
        </p:spPr>
        <p:txBody>
          <a:bodyPr spcFirstLastPara="1" wrap="square" lIns="91438" tIns="45694" rIns="91438" bIns="45694" anchor="ctr" anchorCtr="0">
            <a:noAutofit/>
          </a:bodyPr>
          <a:lstStyle/>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Dựa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vô</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các</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phần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trước</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đã</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làm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tiến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hành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hoàn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thiện</a:t>
            </a:r>
            <a:r>
              <a:rPr lang="en-US" sz="1600" dirty="0">
                <a:latin typeface="Times New Roman" panose="02020603050405020304" pitchFamily="18" charset="0"/>
                <a:cs typeface="Times New Roman" panose="02020603050405020304" pitchFamily="18" charset="0"/>
                <a:sym typeface="Montserrat"/>
              </a:rPr>
              <a:t> Dashboard.</a:t>
            </a: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Có</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thêm</a:t>
            </a:r>
            <a:r>
              <a:rPr lang="en-US" sz="1600" dirty="0">
                <a:latin typeface="Times New Roman" panose="02020603050405020304" pitchFamily="18" charset="0"/>
                <a:cs typeface="Times New Roman" panose="02020603050405020304" pitchFamily="18" charset="0"/>
                <a:sym typeface="Montserrat"/>
              </a:rPr>
              <a:t> DAX </a:t>
            </a:r>
            <a:r>
              <a:rPr lang="en-US" sz="1600" dirty="0" err="1">
                <a:latin typeface="Times New Roman" panose="02020603050405020304" pitchFamily="18" charset="0"/>
                <a:cs typeface="Times New Roman" panose="02020603050405020304" pitchFamily="18" charset="0"/>
                <a:sym typeface="Montserrat"/>
              </a:rPr>
              <a:t>nếu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cần</a:t>
            </a:r>
            <a:r>
              <a:rPr lang="en-US" sz="1600" dirty="0">
                <a:latin typeface="Times New Roman" panose="02020603050405020304" pitchFamily="18" charset="0"/>
                <a:cs typeface="Times New Roman" panose="02020603050405020304" pitchFamily="18" charset="0"/>
                <a:sym typeface="Montserrat"/>
              </a:rPr>
              <a:t> measure </a:t>
            </a:r>
            <a:r>
              <a:rPr lang="en-US" sz="1600" dirty="0" err="1">
                <a:latin typeface="Times New Roman" panose="02020603050405020304" pitchFamily="18" charset="0"/>
                <a:cs typeface="Times New Roman" panose="02020603050405020304" pitchFamily="18" charset="0"/>
                <a:sym typeface="Montserrat"/>
              </a:rPr>
              <a:t>mới</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sử</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dụng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cho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báo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cáo</a:t>
            </a:r>
            <a:r>
              <a:rPr lang="en-US" sz="1600" dirty="0">
                <a:latin typeface="Times New Roman" panose="02020603050405020304" pitchFamily="18" charset="0"/>
                <a:cs typeface="Times New Roman" panose="02020603050405020304" pitchFamily="18" charset="0"/>
                <a:sym typeface="Montserrat"/>
              </a:rPr>
              <a:t>.</a:t>
            </a:r>
          </a:p>
          <a:p>
            <a:pPr marL="285750" lvl="0" indent="-285750" algn="just">
              <a:lnSpc>
                <a:spcPct val="120000"/>
              </a:lnSpc>
              <a:buClr>
                <a:schemeClr val="dk1"/>
              </a:buClr>
              <a:buSzPts val="140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sym typeface="Montserrat"/>
              </a:rPr>
              <a:t>Nên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định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dạng</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Canvas setting </a:t>
            </a:r>
            <a:r>
              <a:rPr lang="en-US" sz="1600" dirty="0" err="1">
                <a:latin typeface="Times New Roman" panose="02020603050405020304" pitchFamily="18" charset="0"/>
                <a:cs typeface="Times New Roman" panose="02020603050405020304" pitchFamily="18" charset="0"/>
                <a:sym typeface="Montserrat"/>
              </a:rPr>
              <a:t>là</a:t>
            </a:r>
            <a:r>
              <a:rPr lang="en-US" sz="1600" dirty="0">
                <a:latin typeface="Times New Roman" panose="02020603050405020304" pitchFamily="18" charset="0"/>
                <a:cs typeface="Times New Roman" panose="02020603050405020304" pitchFamily="18" charset="0"/>
                <a:sym typeface="Montserrat"/>
              </a:rPr>
              <a:t> </a:t>
            </a:r>
            <a:r>
              <a:rPr lang="en-US" sz="1600" b="1" dirty="0">
                <a:latin typeface="Times New Roman" panose="02020603050405020304" pitchFamily="18" charset="0"/>
                <a:cs typeface="Times New Roman" panose="02020603050405020304" pitchFamily="18" charset="0"/>
                <a:sym typeface="Montserrat"/>
              </a:rPr>
              <a:t>1080x2160px</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để</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làm</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quen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với</a:t>
            </a:r>
            <a:r>
              <a:rPr lang="en-US" sz="1600" dirty="0">
                <a:latin typeface="Times New Roman" panose="02020603050405020304" pitchFamily="18" charset="0"/>
                <a:cs typeface="Times New Roman" panose="02020603050405020304" pitchFamily="18" charset="0"/>
                <a:sym typeface="Montserrat"/>
              </a:rPr>
              <a:t> template </a:t>
            </a:r>
            <a:r>
              <a:rPr lang="en-US" sz="1600" dirty="0" err="1">
                <a:latin typeface="Times New Roman" panose="02020603050405020304" pitchFamily="18" charset="0"/>
                <a:cs typeface="Times New Roman" panose="02020603050405020304" pitchFamily="18" charset="0"/>
                <a:sym typeface="Montserrat"/>
              </a:rPr>
              <a:t>báo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cáo</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của</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công</a:t>
            </a:r>
            <a:r>
              <a:rPr lang="en-US" sz="1600" dirty="0">
                <a:latin typeface="Times New Roman" panose="02020603050405020304" pitchFamily="18" charset="0"/>
                <a:cs typeface="Times New Roman" panose="02020603050405020304" pitchFamily="18" charset="0"/>
                <a:sym typeface="Montserrat"/>
              </a:rPr>
              <a:t> ty </a:t>
            </a:r>
            <a:r>
              <a:rPr lang="en-US" sz="1600" dirty="0" err="1">
                <a:latin typeface="Times New Roman" panose="02020603050405020304" pitchFamily="18" charset="0"/>
                <a:cs typeface="Times New Roman" panose="02020603050405020304" pitchFamily="18" charset="0"/>
                <a:sym typeface="Montserrat"/>
              </a:rPr>
              <a:t>sau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này</a:t>
            </a:r>
            <a:r>
              <a:rPr lang="en-US" sz="1600" dirty="0">
                <a:latin typeface="Times New Roman" panose="02020603050405020304" pitchFamily="18" charset="0"/>
                <a:cs typeface="Times New Roman" panose="02020603050405020304" pitchFamily="18" charset="0"/>
                <a:sym typeface="Montserrat"/>
              </a:rPr>
              <a:t>.</a:t>
            </a:r>
          </a:p>
          <a:p>
            <a:pPr marL="285750" lvl="0" indent="-285750" algn="just">
              <a:lnSpc>
                <a:spcPct val="120000"/>
              </a:lnSpc>
              <a:buClr>
                <a:schemeClr val="dk1"/>
              </a:buClr>
              <a:buSzPts val="14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sym typeface="Montserrat"/>
              </a:rPr>
              <a:t>Các visual </a:t>
            </a:r>
            <a:r>
              <a:rPr lang="en-US" sz="1600" dirty="0" err="1">
                <a:latin typeface="Times New Roman" panose="02020603050405020304" pitchFamily="18" charset="0"/>
                <a:cs typeface="Times New Roman" panose="02020603050405020304" pitchFamily="18" charset="0"/>
                <a:sym typeface="Montserrat"/>
              </a:rPr>
              <a:t>cần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có</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độ</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dài</a:t>
            </a:r>
            <a:r>
              <a:rPr lang="en-US" sz="1600" dirty="0">
                <a:latin typeface="Times New Roman" panose="02020603050405020304" pitchFamily="18" charset="0"/>
                <a:cs typeface="Times New Roman" panose="02020603050405020304" pitchFamily="18" charset="0"/>
                <a:sym typeface="Montserrat"/>
              </a:rPr>
              <a:t>/</a:t>
            </a:r>
            <a:r>
              <a:rPr lang="en-US" sz="1600" dirty="0" err="1">
                <a:latin typeface="Times New Roman" panose="02020603050405020304" pitchFamily="18" charset="0"/>
                <a:cs typeface="Times New Roman" panose="02020603050405020304" pitchFamily="18" charset="0"/>
                <a:sym typeface="Montserrat"/>
              </a:rPr>
              <a:t>độ</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rộng</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là</a:t>
            </a:r>
            <a:r>
              <a:rPr lang="en-US" sz="1600" dirty="0">
                <a:latin typeface="Times New Roman" panose="02020603050405020304" pitchFamily="18" charset="0"/>
                <a:cs typeface="Times New Roman" panose="02020603050405020304" pitchFamily="18" charset="0"/>
                <a:sym typeface="Montserrat"/>
              </a:rPr>
              <a:t> </a:t>
            </a:r>
            <a:r>
              <a:rPr lang="en-US" sz="1600" b="1" dirty="0" err="1">
                <a:latin typeface="Times New Roman" panose="02020603050405020304" pitchFamily="18" charset="0"/>
                <a:cs typeface="Times New Roman" panose="02020603050405020304" pitchFamily="18" charset="0"/>
                <a:sym typeface="Montserrat"/>
              </a:rPr>
              <a:t>bội</a:t>
            </a:r>
            <a:r>
              <a:rPr lang="en-US" sz="1600" b="1" dirty="0">
                <a:latin typeface="Times New Roman" panose="02020603050405020304" pitchFamily="18" charset="0"/>
                <a:cs typeface="Times New Roman" panose="02020603050405020304" pitchFamily="18" charset="0"/>
                <a:sym typeface="Montserrat"/>
              </a:rPr>
              <a:t> </a:t>
            </a:r>
            <a:r>
              <a:rPr lang="en-US" sz="1600" b="1" dirty="0" err="1">
                <a:latin typeface="Times New Roman" panose="02020603050405020304" pitchFamily="18" charset="0"/>
                <a:cs typeface="Times New Roman" panose="02020603050405020304" pitchFamily="18" charset="0"/>
                <a:sym typeface="Montserrat"/>
              </a:rPr>
              <a:t>số</a:t>
            </a:r>
            <a:r>
              <a:rPr lang="en-US" sz="1600" b="1" dirty="0">
                <a:latin typeface="Times New Roman" panose="02020603050405020304" pitchFamily="18" charset="0"/>
                <a:cs typeface="Times New Roman" panose="02020603050405020304" pitchFamily="18" charset="0"/>
                <a:sym typeface="Montserrat"/>
              </a:rPr>
              <a:t> </a:t>
            </a:r>
            <a:r>
              <a:rPr lang="en-US" sz="1600" b="1" dirty="0" err="1">
                <a:latin typeface="Times New Roman" panose="02020603050405020304" pitchFamily="18" charset="0"/>
                <a:cs typeface="Times New Roman" panose="02020603050405020304" pitchFamily="18" charset="0"/>
                <a:sym typeface="Montserrat"/>
              </a:rPr>
              <a:t>của</a:t>
            </a:r>
            <a:r>
              <a:rPr lang="en-US" sz="1600" b="1" dirty="0">
                <a:latin typeface="Times New Roman" panose="02020603050405020304" pitchFamily="18" charset="0"/>
                <a:cs typeface="Times New Roman" panose="02020603050405020304" pitchFamily="18" charset="0"/>
                <a:sym typeface="Montserrat"/>
              </a:rPr>
              <a:t> 5</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và</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mỗi</a:t>
            </a:r>
            <a:r>
              <a:rPr lang="en-US" sz="1600" dirty="0">
                <a:latin typeface="Times New Roman" panose="02020603050405020304" pitchFamily="18" charset="0"/>
                <a:cs typeface="Times New Roman" panose="02020603050405020304" pitchFamily="18" charset="0"/>
                <a:sym typeface="Montserrat"/>
              </a:rPr>
              <a:t> visual </a:t>
            </a:r>
            <a:r>
              <a:rPr lang="en-US" sz="1600" dirty="0" err="1">
                <a:latin typeface="Times New Roman" panose="02020603050405020304" pitchFamily="18" charset="0"/>
                <a:cs typeface="Times New Roman" panose="02020603050405020304" pitchFamily="18" charset="0"/>
                <a:sym typeface="Montserrat"/>
              </a:rPr>
              <a:t>nên</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cách</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nhau</a:t>
            </a:r>
            <a:r>
              <a:rPr lang="en-US" sz="1600" dirty="0">
                <a:latin typeface="Times New Roman" panose="02020603050405020304" pitchFamily="18" charset="0"/>
                <a:cs typeface="Times New Roman" panose="02020603050405020304" pitchFamily="18" charset="0"/>
                <a:sym typeface="Montserrat"/>
              </a:rPr>
              <a:t> </a:t>
            </a:r>
            <a:r>
              <a:rPr lang="en-US" sz="1600" dirty="0" err="1">
                <a:latin typeface="Times New Roman" panose="02020603050405020304" pitchFamily="18" charset="0"/>
                <a:cs typeface="Times New Roman" panose="02020603050405020304" pitchFamily="18" charset="0"/>
                <a:sym typeface="Montserrat"/>
              </a:rPr>
              <a:t>khoảng</a:t>
            </a:r>
            <a:r>
              <a:rPr lang="en-US" sz="1600" dirty="0">
                <a:latin typeface="Times New Roman" panose="02020603050405020304" pitchFamily="18" charset="0"/>
                <a:cs typeface="Times New Roman" panose="02020603050405020304" pitchFamily="18" charset="0"/>
                <a:sym typeface="Montserrat"/>
              </a:rPr>
              <a:t> 5-10px.</a:t>
            </a:r>
          </a:p>
        </p:txBody>
      </p:sp>
    </p:spTree>
    <p:extLst>
      <p:ext uri="{BB962C8B-B14F-4D97-AF65-F5344CB8AC3E}">
        <p14:creationId xmlns:p14="http://schemas.microsoft.com/office/powerpoint/2010/main" val="3080194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35">
          <a:extLst>
            <a:ext uri="{FF2B5EF4-FFF2-40B4-BE49-F238E27FC236}">
              <a16:creationId xmlns:a16="http://schemas.microsoft.com/office/drawing/2014/main" id="{953EF92D-5D2F-F041-E46D-CFB12D4F2064}"/>
            </a:ext>
          </a:extLst>
        </p:cNvPr>
        <p:cNvGrpSpPr/>
        <p:nvPr/>
      </p:nvGrpSpPr>
      <p:grpSpPr>
        <a:xfrm>
          <a:off x="0" y="0"/>
          <a:ext cx="0" cy="0"/>
          <a:chOff x="0" y="0"/>
          <a:chExt cx="0" cy="0"/>
        </a:xfrm>
      </p:grpSpPr>
      <p:sp>
        <p:nvSpPr>
          <p:cNvPr id="7" name="Rectangle 1">
            <a:extLst>
              <a:ext uri="{FF2B5EF4-FFF2-40B4-BE49-F238E27FC236}">
                <a16:creationId xmlns:a16="http://schemas.microsoft.com/office/drawing/2014/main" id="{A1281297-280E-4D0D-56B8-5EAD792D318B}"/>
              </a:ext>
            </a:extLst>
          </p:cNvPr>
          <p:cNvSpPr>
            <a:spLocks noChangeArrowheads="1"/>
          </p:cNvSpPr>
          <p:nvPr/>
        </p:nvSpPr>
        <p:spPr bwMode="auto">
          <a:xfrm>
            <a:off x="-435428" y="2351761"/>
            <a:ext cx="10515819" cy="5492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28" tIns="45714" rIns="91428" bIns="45714" numCol="1" rtlCol="0" anchor="ctr" anchorCtr="0" compatLnSpc="1">
            <a:prstTxWarp prst="textNoShape">
              <a:avLst/>
            </a:prstTxWarp>
            <a:noAutofit/>
          </a:bodyPr>
          <a:lstStyle/>
          <a:p>
            <a:pPr algn="ctr"/>
            <a:endParaRPr lang="vi-VN" sz="4800" b="1" u="sng" noProof="0" dirty="0">
              <a:solidFill>
                <a:schemeClr val="accent3"/>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0FE20EB-5434-93DC-BCBE-68CC28B1E9C2}"/>
              </a:ext>
            </a:extLst>
          </p:cNvPr>
          <p:cNvSpPr txBox="1"/>
          <p:nvPr/>
        </p:nvSpPr>
        <p:spPr>
          <a:xfrm>
            <a:off x="38100" y="2721114"/>
            <a:ext cx="12115800" cy="707886"/>
          </a:xfrm>
          <a:prstGeom prst="rect">
            <a:avLst/>
          </a:prstGeom>
          <a:noFill/>
        </p:spPr>
        <p:txBody>
          <a:bodyPr wrap="square">
            <a:spAutoFit/>
          </a:bodyPr>
          <a:lstStyle/>
          <a:p>
            <a:pPr algn="ctr"/>
            <a:r>
              <a:rPr lang="en-US" sz="4000" b="1" u="sng" noProof="0" dirty="0">
                <a:solidFill>
                  <a:schemeClr val="accent3"/>
                </a:solidFill>
                <a:latin typeface="Times New Roman" panose="02020603050405020304" pitchFamily="18" charset="0"/>
                <a:cs typeface="Times New Roman" panose="02020603050405020304" pitchFamily="18" charset="0"/>
              </a:rPr>
              <a:t>CẢM ƠN ĐÃ XEM</a:t>
            </a:r>
            <a:endParaRPr lang="vi-VN" sz="4000" b="1" u="sng" noProof="0" dirty="0">
              <a:solidFill>
                <a:schemeClr val="accent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88039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F37344B6C4214EACF3FED052856056" ma:contentTypeVersion="12" ma:contentTypeDescription="Create a new document." ma:contentTypeScope="" ma:versionID="6f1c1224f467cbfc14b447999158794d">
  <xsd:schema xmlns:xsd="http://www.w3.org/2001/XMLSchema" xmlns:xs="http://www.w3.org/2001/XMLSchema" xmlns:p="http://schemas.microsoft.com/office/2006/metadata/properties" xmlns:ns2="9de1f905-9055-4fbd-8797-7da8ccbf14b5" xmlns:ns3="6211d73e-06aa-4016-970d-0dc2af17c337" targetNamespace="http://schemas.microsoft.com/office/2006/metadata/properties" ma:root="true" ma:fieldsID="1bee8226019b8ebc28709c5ee19134ce" ns2:_="" ns3:_="">
    <xsd:import namespace="9de1f905-9055-4fbd-8797-7da8ccbf14b5"/>
    <xsd:import namespace="6211d73e-06aa-4016-970d-0dc2af17c33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ServiceDateTaken" minOccurs="0"/>
                <xsd:element ref="ns2:lcf76f155ced4ddcb4097134ff3c332f" minOccurs="0"/>
                <xsd:element ref="ns3:TaxCatchAll" minOccurs="0"/>
                <xsd:element ref="ns2:MediaServiceOCR"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e1f905-9055-4fbd-8797-7da8ccbf14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eac797d-9452-442f-b5f7-665479590df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11d73e-06aa-4016-970d-0dc2af17c337"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4b11322-b83b-4063-8fb7-177b6cf1d9af}" ma:internalName="TaxCatchAll" ma:showField="CatchAllData" ma:web="6211d73e-06aa-4016-970d-0dc2af17c33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6211d73e-06aa-4016-970d-0dc2af17c337" xsi:nil="true"/>
    <lcf76f155ced4ddcb4097134ff3c332f xmlns="9de1f905-9055-4fbd-8797-7da8ccbf14b5">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D2EB200-9DDA-483A-8E63-F4D1951A53E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e1f905-9055-4fbd-8797-7da8ccbf14b5"/>
    <ds:schemaRef ds:uri="6211d73e-06aa-4016-970d-0dc2af17c3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D4C653E-8518-4175-A088-FC4F270CB5E2}">
  <ds:schemaRefs>
    <ds:schemaRef ds:uri="http://schemas.microsoft.com/office/infopath/2007/PartnerControls"/>
    <ds:schemaRef ds:uri="http://www.w3.org/XML/1998/namespace"/>
    <ds:schemaRef ds:uri="http://purl.org/dc/term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2006/metadata/properties"/>
    <ds:schemaRef ds:uri="6211d73e-06aa-4016-970d-0dc2af17c337"/>
    <ds:schemaRef ds:uri="9de1f905-9055-4fbd-8797-7da8ccbf14b5"/>
  </ds:schemaRefs>
</ds:datastoreItem>
</file>

<file path=customXml/itemProps3.xml><?xml version="1.0" encoding="utf-8"?>
<ds:datastoreItem xmlns:ds="http://schemas.openxmlformats.org/officeDocument/2006/customXml" ds:itemID="{412A1887-95A4-45F3-B026-EC18A9CCAA8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2867</TotalTime>
  <Words>3449</Words>
  <Application>Microsoft Office PowerPoint</Application>
  <PresentationFormat>Widescreen</PresentationFormat>
  <Paragraphs>299</Paragraphs>
  <Slides>39</Slides>
  <Notes>4</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PowerPoint Presentation</vt:lpstr>
      <vt:lpstr>Nội dung trình bày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Dương, Phạm Thị Thùy</dc:creator>
  <cp:lastModifiedBy>Dương, Phạm Thị Thùy</cp:lastModifiedBy>
  <cp:revision>4</cp:revision>
  <dcterms:created xsi:type="dcterms:W3CDTF">2026-02-26T01:28:23Z</dcterms:created>
  <dcterms:modified xsi:type="dcterms:W3CDTF">2026-04-01T05:00:47Z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0x01010024F37344B6C4214EACF3FED052856056</vt:lpwstr>
  </property>
  <property fmtid="{D5CDD505-2E9C-101B-9397-08002B2CF9AE}" pid="3" name="MediaServiceImageTags">
    <vt:lpwstr/>
  </property>
</Properties>
</file>