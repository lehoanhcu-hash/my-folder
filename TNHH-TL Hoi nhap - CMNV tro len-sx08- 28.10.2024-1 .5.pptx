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sldIdLst>
    <p:sldId id="485" r:id="rId5"/>
    <p:sldId id="486" r:id="rId6"/>
    <p:sldId id="465" r:id="rId7"/>
    <p:sldId id="339" r:id="rId8"/>
    <p:sldId id="345" r:id="rId9"/>
    <p:sldId id="346" r:id="rId10"/>
  </p:sldIdLst>
  <p:sldSz cx="9144000" cy="6858000" type="screen4x3"/>
  <p:notesSz cx="6888163" cy="10020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CD4190-386E-45F3-A06F-DB2530E8905B}">
          <p14:sldIdLst/>
        </p14:section>
        <p14:section name="I. TỔNG QUAN CÔNG TY" id="{E96B3DFA-4925-4EBD-A32F-AE21288BF6A6}">
          <p14:sldIdLst>
            <p14:sldId id="485"/>
            <p14:sldId id="486"/>
          </p14:sldIdLst>
        </p14:section>
        <p14:section name="II. CÁC HỖ TRỢ CẦN THIẾT" id="{99DA3029-3475-4698-8012-4ED99C280CF8}">
          <p14:sldIdLst>
            <p14:sldId id="465"/>
            <p14:sldId id="339"/>
            <p14:sldId id="345"/>
            <p14:sldId id="346"/>
          </p14:sldIdLst>
        </p14:section>
        <p14:section name="III. CHINH SÁCH/ QUY ĐỊNH NHÂN SỰ" id="{BEBD2286-36AC-4ED7-BD90-3C1187D80CD7}">
          <p14:sldIdLst/>
        </p14:section>
        <p14:section name="IV. NỘI QUY/ CHÍNH SÁCH/ QUY ĐỊNH CHUNG" id="{14390F17-443F-43F4-89D0-03782F6FA9BF}">
          <p14:sldIdLst/>
        </p14:section>
        <p14:section name="Untitled Section" id="{1DAE9E11-6FE2-4AC3-8E7E-D1A51AA5614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nh, Dang Que" initials="TDQ" lastIdx="1" clrIdx="0">
    <p:extLst>
      <p:ext uri="{19B8F6BF-5375-455C-9EA6-DF929625EA0E}">
        <p15:presenceInfo xmlns:p15="http://schemas.microsoft.com/office/powerpoint/2012/main" userId="S-1-5-21-2515561106-4265119541-1709404006-53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C51"/>
    <a:srgbClr val="0077BA"/>
    <a:srgbClr val="3E4690"/>
    <a:srgbClr val="F63CB4"/>
    <a:srgbClr val="2D5F92"/>
    <a:srgbClr val="ABDAF4"/>
    <a:srgbClr val="7030A0"/>
    <a:srgbClr val="FFDFDF"/>
    <a:srgbClr val="006CB1"/>
    <a:srgbClr val="DF5A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87" autoAdjust="0"/>
    <p:restoredTop sz="96101" autoAdjust="0"/>
  </p:normalViewPr>
  <p:slideViewPr>
    <p:cSldViewPr snapToGrid="0">
      <p:cViewPr varScale="1">
        <p:scale>
          <a:sx n="74" d="100"/>
          <a:sy n="74" d="100"/>
        </p:scale>
        <p:origin x="36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755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6E748DCA-ED39-4BBF-93BD-0489348BBAB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52538"/>
            <a:ext cx="450691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2269"/>
            <a:ext cx="5510530" cy="3945493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7547"/>
            <a:ext cx="2984871" cy="50275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0F00BB87-A795-4E28-9EBD-07C6A3976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772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90625" y="1252538"/>
            <a:ext cx="4506913" cy="3381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6739FA-4136-4C69-B21F-2AC36EDA9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3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9D5CC00-6591-4FA1-834C-F9C893BFF732}"/>
              </a:ext>
            </a:extLst>
          </p:cNvPr>
          <p:cNvGrpSpPr/>
          <p:nvPr userDrawn="1"/>
        </p:nvGrpSpPr>
        <p:grpSpPr>
          <a:xfrm>
            <a:off x="1265795" y="122796"/>
            <a:ext cx="6612411" cy="6612411"/>
            <a:chOff x="2025751" y="882750"/>
            <a:chExt cx="5092498" cy="5092498"/>
          </a:xfrm>
        </p:grpSpPr>
        <p:sp>
          <p:nvSpPr>
            <p:cNvPr id="24" name="Block Arc 23">
              <a:extLst>
                <a:ext uri="{FF2B5EF4-FFF2-40B4-BE49-F238E27FC236}">
                  <a16:creationId xmlns:a16="http://schemas.microsoft.com/office/drawing/2014/main" id="{E458116A-36F9-46F0-9DAA-65AED22C5793}"/>
                </a:ext>
              </a:extLst>
            </p:cNvPr>
            <p:cNvSpPr/>
            <p:nvPr userDrawn="1"/>
          </p:nvSpPr>
          <p:spPr>
            <a:xfrm rot="18134033">
              <a:off x="2350685" y="1079904"/>
              <a:ext cx="4698190" cy="4698190"/>
            </a:xfrm>
            <a:prstGeom prst="blockArc">
              <a:avLst>
                <a:gd name="adj1" fmla="val 10800000"/>
                <a:gd name="adj2" fmla="val 124773"/>
                <a:gd name="adj3" fmla="val 275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1CDDEC2-FAAC-469D-80F5-1523D0162FEA}"/>
                </a:ext>
              </a:extLst>
            </p:cNvPr>
            <p:cNvGrpSpPr/>
            <p:nvPr userDrawn="1"/>
          </p:nvGrpSpPr>
          <p:grpSpPr>
            <a:xfrm>
              <a:off x="2760134" y="1561472"/>
              <a:ext cx="3623732" cy="3735056"/>
              <a:chOff x="6105322" y="3773762"/>
              <a:chExt cx="2295728" cy="2366255"/>
            </a:xfrm>
          </p:grpSpPr>
          <p:sp>
            <p:nvSpPr>
              <p:cNvPr id="22" name="Block Arc 21">
                <a:extLst>
                  <a:ext uri="{FF2B5EF4-FFF2-40B4-BE49-F238E27FC236}">
                    <a16:creationId xmlns:a16="http://schemas.microsoft.com/office/drawing/2014/main" id="{6AF32FC0-AB36-4815-B272-C8575169C315}"/>
                  </a:ext>
                </a:extLst>
              </p:cNvPr>
              <p:cNvSpPr/>
              <p:nvPr userDrawn="1"/>
            </p:nvSpPr>
            <p:spPr>
              <a:xfrm>
                <a:off x="6105322" y="3815189"/>
                <a:ext cx="2295728" cy="2295728"/>
              </a:xfrm>
              <a:prstGeom prst="blockArc">
                <a:avLst>
                  <a:gd name="adj1" fmla="val 10800000"/>
                  <a:gd name="adj2" fmla="val 0"/>
                  <a:gd name="adj3" fmla="val 12288"/>
                </a:avLst>
              </a:prstGeom>
              <a:solidFill>
                <a:srgbClr val="0077B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Block Arc 22">
                <a:extLst>
                  <a:ext uri="{FF2B5EF4-FFF2-40B4-BE49-F238E27FC236}">
                    <a16:creationId xmlns:a16="http://schemas.microsoft.com/office/drawing/2014/main" id="{F382899D-DBBD-445A-A9E4-F3CB7B29E2A5}"/>
                  </a:ext>
                </a:extLst>
              </p:cNvPr>
              <p:cNvSpPr/>
              <p:nvPr userDrawn="1"/>
            </p:nvSpPr>
            <p:spPr>
              <a:xfrm flipV="1">
                <a:off x="6105322" y="3773762"/>
                <a:ext cx="2295728" cy="2366255"/>
              </a:xfrm>
              <a:prstGeom prst="blockArc">
                <a:avLst>
                  <a:gd name="adj1" fmla="val 10800000"/>
                  <a:gd name="adj2" fmla="val 69081"/>
                  <a:gd name="adj3" fmla="val 12393"/>
                </a:avLst>
              </a:prstGeom>
              <a:solidFill>
                <a:srgbClr val="020D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538F9201-957E-4922-A091-B5D2C689D9B8}"/>
                </a:ext>
              </a:extLst>
            </p:cNvPr>
            <p:cNvSpPr/>
            <p:nvPr userDrawn="1"/>
          </p:nvSpPr>
          <p:spPr>
            <a:xfrm rot="5804327">
              <a:off x="2322529" y="1335172"/>
              <a:ext cx="4323843" cy="4323843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20D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6" name="Block Arc 35">
              <a:extLst>
                <a:ext uri="{FF2B5EF4-FFF2-40B4-BE49-F238E27FC236}">
                  <a16:creationId xmlns:a16="http://schemas.microsoft.com/office/drawing/2014/main" id="{6CB24A7F-DF7A-4C9F-BC54-B150004D098B}"/>
                </a:ext>
              </a:extLst>
            </p:cNvPr>
            <p:cNvSpPr/>
            <p:nvPr userDrawn="1"/>
          </p:nvSpPr>
          <p:spPr>
            <a:xfrm rot="11196995">
              <a:off x="2025751" y="882750"/>
              <a:ext cx="5092498" cy="5092498"/>
            </a:xfrm>
            <a:prstGeom prst="blockArc">
              <a:avLst>
                <a:gd name="adj1" fmla="val 10800000"/>
                <a:gd name="adj2" fmla="val 185252"/>
                <a:gd name="adj3" fmla="val 2770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379B12D9-5B72-43E6-BEE2-16BBB87AD786}"/>
                </a:ext>
              </a:extLst>
            </p:cNvPr>
            <p:cNvSpPr/>
            <p:nvPr userDrawn="1"/>
          </p:nvSpPr>
          <p:spPr>
            <a:xfrm>
              <a:off x="3168356" y="2037885"/>
              <a:ext cx="2801683" cy="280168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/>
            </a:p>
          </p:txBody>
        </p:sp>
      </p:grpSp>
    </p:spTree>
    <p:extLst>
      <p:ext uri="{BB962C8B-B14F-4D97-AF65-F5344CB8AC3E}">
        <p14:creationId xmlns:p14="http://schemas.microsoft.com/office/powerpoint/2010/main" val="348907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083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329446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F24B49B-4773-486D-A599-94995F595A72}"/>
              </a:ext>
            </a:extLst>
          </p:cNvPr>
          <p:cNvGrpSpPr/>
          <p:nvPr userDrawn="1"/>
        </p:nvGrpSpPr>
        <p:grpSpPr>
          <a:xfrm rot="8778386">
            <a:off x="16882063" y="-5906155"/>
            <a:ext cx="632972" cy="632971"/>
            <a:chOff x="4951378" y="2169268"/>
            <a:chExt cx="865762" cy="865761"/>
          </a:xfrm>
          <a:solidFill>
            <a:schemeClr val="bg1">
              <a:lumMod val="75000"/>
            </a:schemeClr>
          </a:solidFill>
        </p:grpSpPr>
        <p:sp>
          <p:nvSpPr>
            <p:cNvPr id="21" name="Block Arc 20">
              <a:extLst>
                <a:ext uri="{FF2B5EF4-FFF2-40B4-BE49-F238E27FC236}">
                  <a16:creationId xmlns:a16="http://schemas.microsoft.com/office/drawing/2014/main" id="{97554369-980A-4E1E-8F46-ADFC4B495B06}"/>
                </a:ext>
              </a:extLst>
            </p:cNvPr>
            <p:cNvSpPr/>
            <p:nvPr userDrawn="1"/>
          </p:nvSpPr>
          <p:spPr>
            <a:xfrm>
              <a:off x="4951379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22" name="Block Arc 21">
              <a:extLst>
                <a:ext uri="{FF2B5EF4-FFF2-40B4-BE49-F238E27FC236}">
                  <a16:creationId xmlns:a16="http://schemas.microsoft.com/office/drawing/2014/main" id="{BAE583DA-8824-4D34-8EB5-34429EB61AF2}"/>
                </a:ext>
              </a:extLst>
            </p:cNvPr>
            <p:cNvSpPr/>
            <p:nvPr userDrawn="1"/>
          </p:nvSpPr>
          <p:spPr>
            <a:xfrm rot="10800000">
              <a:off x="4951378" y="2169268"/>
              <a:ext cx="865761" cy="865761"/>
            </a:xfrm>
            <a:prstGeom prst="blockArc">
              <a:avLst>
                <a:gd name="adj1" fmla="val 10800000"/>
                <a:gd name="adj2" fmla="val 212923"/>
                <a:gd name="adj3" fmla="val 136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E9980C-4079-4217-A865-CB46E285CEA5}"/>
              </a:ext>
            </a:extLst>
          </p:cNvPr>
          <p:cNvGrpSpPr/>
          <p:nvPr userDrawn="1"/>
        </p:nvGrpSpPr>
        <p:grpSpPr>
          <a:xfrm rot="13131716">
            <a:off x="8053993" y="5785784"/>
            <a:ext cx="1779305" cy="1779305"/>
            <a:chOff x="3181372" y="1397175"/>
            <a:chExt cx="1779305" cy="177930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94FC20C-6019-4033-B1D1-7F71FF9401C4}"/>
                </a:ext>
              </a:extLst>
            </p:cNvPr>
            <p:cNvGrpSpPr/>
            <p:nvPr userDrawn="1"/>
          </p:nvGrpSpPr>
          <p:grpSpPr>
            <a:xfrm rot="17142616">
              <a:off x="3638145" y="1853948"/>
              <a:ext cx="865762" cy="865761"/>
              <a:chOff x="4951378" y="2169268"/>
              <a:chExt cx="865762" cy="865761"/>
            </a:xfrm>
          </p:grpSpPr>
          <p:sp>
            <p:nvSpPr>
              <p:cNvPr id="9" name="Block Arc 8">
                <a:extLst>
                  <a:ext uri="{FF2B5EF4-FFF2-40B4-BE49-F238E27FC236}">
                    <a16:creationId xmlns:a16="http://schemas.microsoft.com/office/drawing/2014/main" id="{6D34459E-393E-4597-BE0B-C7310C988103}"/>
                  </a:ext>
                </a:extLst>
              </p:cNvPr>
              <p:cNvSpPr/>
              <p:nvPr userDrawn="1"/>
            </p:nvSpPr>
            <p:spPr>
              <a:xfrm rot="6719147">
                <a:off x="4951379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20C5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Block Arc 9">
                <a:extLst>
                  <a:ext uri="{FF2B5EF4-FFF2-40B4-BE49-F238E27FC236}">
                    <a16:creationId xmlns:a16="http://schemas.microsoft.com/office/drawing/2014/main" id="{11159BB6-EB51-4AE8-811A-C198EC4C30C0}"/>
                  </a:ext>
                </a:extLst>
              </p:cNvPr>
              <p:cNvSpPr/>
              <p:nvPr userDrawn="1"/>
            </p:nvSpPr>
            <p:spPr>
              <a:xfrm rot="17519147">
                <a:off x="4951378" y="2169268"/>
                <a:ext cx="865761" cy="865761"/>
              </a:xfrm>
              <a:prstGeom prst="blockArc">
                <a:avLst>
                  <a:gd name="adj1" fmla="val 10800000"/>
                  <a:gd name="adj2" fmla="val 212923"/>
                  <a:gd name="adj3" fmla="val 13694"/>
                </a:avLst>
              </a:prstGeom>
              <a:solidFill>
                <a:srgbClr val="006CB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 sz="18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Block Arc 30">
              <a:extLst>
                <a:ext uri="{FF2B5EF4-FFF2-40B4-BE49-F238E27FC236}">
                  <a16:creationId xmlns:a16="http://schemas.microsoft.com/office/drawing/2014/main" id="{9DEBD1B4-4CF8-4CCE-83D6-854DEEBE3C84}"/>
                </a:ext>
              </a:extLst>
            </p:cNvPr>
            <p:cNvSpPr/>
            <p:nvPr userDrawn="1"/>
          </p:nvSpPr>
          <p:spPr>
            <a:xfrm>
              <a:off x="3486973" y="1702776"/>
              <a:ext cx="1168104" cy="1168104"/>
            </a:xfrm>
            <a:prstGeom prst="blockArc">
              <a:avLst>
                <a:gd name="adj1" fmla="val 10800000"/>
                <a:gd name="adj2" fmla="val 3"/>
                <a:gd name="adj3" fmla="val 447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3" name="Block Arc 32">
              <a:extLst>
                <a:ext uri="{FF2B5EF4-FFF2-40B4-BE49-F238E27FC236}">
                  <a16:creationId xmlns:a16="http://schemas.microsoft.com/office/drawing/2014/main" id="{384D6009-512F-4409-A774-F5FBF0F199E9}"/>
                </a:ext>
              </a:extLst>
            </p:cNvPr>
            <p:cNvSpPr/>
            <p:nvPr userDrawn="1"/>
          </p:nvSpPr>
          <p:spPr>
            <a:xfrm rot="11663335">
              <a:off x="3325750" y="1541553"/>
              <a:ext cx="1490550" cy="1490550"/>
            </a:xfrm>
            <a:prstGeom prst="blockArc">
              <a:avLst>
                <a:gd name="adj1" fmla="val 10800000"/>
                <a:gd name="adj2" fmla="val 21492586"/>
                <a:gd name="adj3" fmla="val 3197"/>
              </a:avLst>
            </a:prstGeom>
            <a:solidFill>
              <a:srgbClr val="0077B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  <p:sp>
          <p:nvSpPr>
            <p:cNvPr id="34" name="Block Arc 33">
              <a:extLst>
                <a:ext uri="{FF2B5EF4-FFF2-40B4-BE49-F238E27FC236}">
                  <a16:creationId xmlns:a16="http://schemas.microsoft.com/office/drawing/2014/main" id="{DE4B7359-7510-4A21-8D65-58DDCD1EFFC6}"/>
                </a:ext>
              </a:extLst>
            </p:cNvPr>
            <p:cNvSpPr/>
            <p:nvPr userDrawn="1"/>
          </p:nvSpPr>
          <p:spPr>
            <a:xfrm rot="3733646">
              <a:off x="3181372" y="1397175"/>
              <a:ext cx="1779305" cy="1779305"/>
            </a:xfrm>
            <a:prstGeom prst="blockArc">
              <a:avLst>
                <a:gd name="adj1" fmla="val 10800000"/>
                <a:gd name="adj2" fmla="val 86809"/>
                <a:gd name="adj3" fmla="val 3360"/>
              </a:avLst>
            </a:prstGeom>
            <a:solidFill>
              <a:srgbClr val="020C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sz="180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3769439-2F23-425D-B8C6-7AB4E8015D29}"/>
              </a:ext>
            </a:extLst>
          </p:cNvPr>
          <p:cNvSpPr/>
          <p:nvPr userDrawn="1"/>
        </p:nvSpPr>
        <p:spPr>
          <a:xfrm>
            <a:off x="2205618" y="155646"/>
            <a:ext cx="5909683" cy="466927"/>
          </a:xfrm>
          <a:prstGeom prst="roundRect">
            <a:avLst>
              <a:gd name="adj" fmla="val 50000"/>
            </a:avLst>
          </a:prstGeom>
          <a:solidFill>
            <a:srgbClr val="020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987F67C-E277-41C7-8A54-FBFD2A308B76}"/>
              </a:ext>
            </a:extLst>
          </p:cNvPr>
          <p:cNvSpPr/>
          <p:nvPr userDrawn="1"/>
        </p:nvSpPr>
        <p:spPr>
          <a:xfrm>
            <a:off x="2540000" y="637085"/>
            <a:ext cx="5181600" cy="466927"/>
          </a:xfrm>
          <a:prstGeom prst="roundRect">
            <a:avLst>
              <a:gd name="adj" fmla="val 50000"/>
            </a:avLst>
          </a:prstGeom>
          <a:solidFill>
            <a:srgbClr val="007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1800" dirty="0"/>
          </a:p>
        </p:txBody>
      </p:sp>
    </p:spTree>
    <p:extLst>
      <p:ext uri="{BB962C8B-B14F-4D97-AF65-F5344CB8AC3E}">
        <p14:creationId xmlns:p14="http://schemas.microsoft.com/office/powerpoint/2010/main" val="16921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1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9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2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2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2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16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72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30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5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0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43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22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834B6-8F31-40F5-8EF9-80D608D508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62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5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BE39-9ADC-45F2-BE78-CAE1FA8E5C0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8432B67F-FE26-4927-8535-92D62A3129D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55" y="240006"/>
            <a:ext cx="1440160" cy="25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8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4" r:id="rId3"/>
    <p:sldLayoutId id="2147483687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hyperlink" Target="https://duytan.sharepoint.com/sites/portal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064E26-F749-B14A-C23A-ABFA223E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78" y="61884"/>
            <a:ext cx="6751081" cy="10993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3C80AA-E5B6-0246-55BE-47FE35303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131" y="3581400"/>
            <a:ext cx="4601028" cy="30673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DCCDC-A03E-41E5-9904-E31B43CE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72A27-27D1-4046-8924-8563E66B2C73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CE47C-EC71-482E-BAF8-099CE6578F8F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4D969A-F66F-B4F1-8E57-93FDF66C3071}"/>
              </a:ext>
            </a:extLst>
          </p:cNvPr>
          <p:cNvSpPr txBox="1"/>
          <p:nvPr/>
        </p:nvSpPr>
        <p:spPr>
          <a:xfrm>
            <a:off x="5404514" y="1934079"/>
            <a:ext cx="412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Giáng sinh</a:t>
            </a:r>
            <a:endParaRPr lang="vi-VN" sz="2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1FFCCC7A-B062-699C-E5C7-EE8F51B1F1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ED484ECE-DA5A-5766-BBB3-17A5FB41E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970FC8-8E8E-F531-ED1D-C1A89695C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516" y="1313625"/>
            <a:ext cx="4724400" cy="3149600"/>
          </a:xfrm>
          <a:prstGeom prst="rect">
            <a:avLst/>
          </a:prstGeom>
        </p:spPr>
      </p:pic>
      <p:sp>
        <p:nvSpPr>
          <p:cNvPr id="10" name="AutoShape 6">
            <a:extLst>
              <a:ext uri="{FF2B5EF4-FFF2-40B4-BE49-F238E27FC236}">
                <a16:creationId xmlns:a16="http://schemas.microsoft.com/office/drawing/2014/main" id="{3B7AE126-D103-B2CE-00C7-F13DE42C02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67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1D590F-EE14-5D07-2430-F48B207E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078" y="61884"/>
            <a:ext cx="6751081" cy="109934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0DCCDC-A03E-41E5-9904-E31B43CE7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72A27-27D1-4046-8924-8563E66B2C73}"/>
              </a:ext>
            </a:extLst>
          </p:cNvPr>
          <p:cNvSpPr txBox="1"/>
          <p:nvPr/>
        </p:nvSpPr>
        <p:spPr>
          <a:xfrm>
            <a:off x="2235201" y="149309"/>
            <a:ext cx="5834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 TỔNG QUAN CÔNG 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CE47C-EC71-482E-BAF8-099CE6578F8F}"/>
              </a:ext>
            </a:extLst>
          </p:cNvPr>
          <p:cNvSpPr txBox="1"/>
          <p:nvPr/>
        </p:nvSpPr>
        <p:spPr>
          <a:xfrm>
            <a:off x="2235203" y="694256"/>
            <a:ext cx="5645427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675" algn="ctr">
              <a:spcBef>
                <a:spcPts val="300"/>
              </a:spcBef>
              <a:spcAft>
                <a:spcPts val="300"/>
              </a:spcAft>
            </a:pPr>
            <a:r>
              <a:rPr lang="en-US" sz="1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3F086-244F-B637-737A-AD98103A4F00}"/>
              </a:ext>
            </a:extLst>
          </p:cNvPr>
          <p:cNvSpPr txBox="1"/>
          <p:nvPr/>
        </p:nvSpPr>
        <p:spPr>
          <a:xfrm>
            <a:off x="3128390" y="1188209"/>
            <a:ext cx="4121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KIỆN TẤT NIÊN</a:t>
            </a:r>
            <a:endParaRPr lang="vi-VN" sz="2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76199C6F-6908-F04E-84DB-B8716A11D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84" y="1784022"/>
            <a:ext cx="6759891" cy="450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11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D071DA-C7EA-1AD1-D7D5-8D2D7D327459}"/>
              </a:ext>
            </a:extLst>
          </p:cNvPr>
          <p:cNvSpPr/>
          <p:nvPr/>
        </p:nvSpPr>
        <p:spPr>
          <a:xfrm>
            <a:off x="2478704" y="146215"/>
            <a:ext cx="5221904" cy="577684"/>
          </a:xfrm>
          <a:prstGeom prst="roundRect">
            <a:avLst/>
          </a:prstGeom>
          <a:solidFill>
            <a:srgbClr val="020C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65E487-4A1B-405F-A1B1-8E83AB07B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4"/>
            <a:ext cx="2057400" cy="365125"/>
          </a:xfrm>
        </p:spPr>
        <p:txBody>
          <a:bodyPr/>
          <a:lstStyle/>
          <a:p>
            <a:fld id="{330EBE39-9ADC-45F2-BE78-CAE1FA8E5C0D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834B7D-5674-42A9-A9CC-3ED75C0BA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588198"/>
              </p:ext>
            </p:extLst>
          </p:nvPr>
        </p:nvGraphicFramePr>
        <p:xfrm>
          <a:off x="304796" y="1012027"/>
          <a:ext cx="9143999" cy="613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4106">
                  <a:extLst>
                    <a:ext uri="{9D8B030D-6E8A-4147-A177-3AD203B41FA5}">
                      <a16:colId xmlns:a16="http://schemas.microsoft.com/office/drawing/2014/main" val="3671267551"/>
                    </a:ext>
                  </a:extLst>
                </a:gridCol>
                <a:gridCol w="5129893">
                  <a:extLst>
                    <a:ext uri="{9D8B030D-6E8A-4147-A177-3AD203B41FA5}">
                      <a16:colId xmlns:a16="http://schemas.microsoft.com/office/drawing/2014/main" val="1754225059"/>
                    </a:ext>
                  </a:extLst>
                </a:gridCol>
              </a:tblGrid>
              <a:tr h="5508624"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I. TỔNG QUAN CÔNG TY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chung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Tầm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nhìn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Sứ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mệnh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trị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cốt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lõi</a:t>
                      </a:r>
                      <a:endParaRPr lang="en-US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Văn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hóa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Duy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Tân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Quá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hình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Sơ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tổ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chức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Lĩnh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vực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xuất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viên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Sản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phẩm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của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chúng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ta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Khách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hệ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thống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phân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phối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nổi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bật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hoạt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sự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kiện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II. CÁC HỖ TRỢ CẦN THIẾT</a:t>
                      </a:r>
                      <a:endParaRPr lang="vi-VN" sz="1600" b="1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Các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cụ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hỗ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trợ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làm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việc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Kênh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nội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bộ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điện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thoại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536575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Email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cần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nhớ</a:t>
                      </a:r>
                      <a:r>
                        <a:rPr lang="en-US" sz="1600" b="0" kern="1200" dirty="0">
                          <a:solidFill>
                            <a:srgbClr val="020C5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endParaRPr lang="vi-VN" sz="1600" b="0" kern="1200" dirty="0">
                        <a:solidFill>
                          <a:srgbClr val="020C5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3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III. CHÍNH SÁCH/ QUY ĐỊNH NHÂN SỰ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đồng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lao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động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Lương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phụ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cấp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nghỉ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phép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thâm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niên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Phúc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lợi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Đào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tạo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phát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triển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Đánh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giá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tích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Ý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tưởng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cải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tiến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lvl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600" b="1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IV. NỘI QUY/ CHÍNH SÁCH/ QUY ĐỊNH CHUNG</a:t>
                      </a:r>
                      <a:endParaRPr lang="vi-VN" sz="1600" b="1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đạo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đức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kinh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doanh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Bảo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mật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thông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tin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Quy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định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an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ninh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Chính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sách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công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ty</a:t>
                      </a:r>
                    </a:p>
                    <a:p>
                      <a:pPr marL="623888" lvl="0" indent="-342900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AutoNum type="arabicPeriod"/>
                      </a:pP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Một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số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600" b="0" kern="1200" dirty="0" err="1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lưu</a:t>
                      </a:r>
                      <a:r>
                        <a:rPr lang="en-US" sz="1600" b="0" kern="1200" dirty="0"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ý</a:t>
                      </a:r>
                      <a:endParaRPr lang="vi-VN" sz="16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vi-VN" sz="1600" b="0" dirty="0">
                        <a:solidFill>
                          <a:srgbClr val="020C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897587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90EF75F-55EC-4DAD-9CFB-CF7103AB8901}"/>
              </a:ext>
            </a:extLst>
          </p:cNvPr>
          <p:cNvSpPr txBox="1"/>
          <p:nvPr/>
        </p:nvSpPr>
        <p:spPr>
          <a:xfrm>
            <a:off x="2233060" y="146215"/>
            <a:ext cx="5812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CH</a:t>
            </a:r>
            <a:r>
              <a:rPr lang="vi-VN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26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ƠNG TRÌNH</a:t>
            </a:r>
            <a:endParaRPr lang="vi-VN" sz="2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33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604E40-095D-B724-78AF-8EE360B60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47" y="69827"/>
            <a:ext cx="6751081" cy="1099341"/>
          </a:xfrm>
          <a:prstGeom prst="rect">
            <a:avLst/>
          </a:prstGeom>
        </p:spPr>
      </p:pic>
      <p:pic>
        <p:nvPicPr>
          <p:cNvPr id="50" name="Picture 49" descr="A picture containing vector graphics&#10;&#10;Description generated with very high confidence">
            <a:extLst>
              <a:ext uri="{FF2B5EF4-FFF2-40B4-BE49-F238E27FC236}">
                <a16:creationId xmlns:a16="http://schemas.microsoft.com/office/drawing/2014/main" id="{82E630E9-5E65-4A97-BA30-5C7A8B5E33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27" t="2000" r="10033"/>
          <a:stretch/>
        </p:blipFill>
        <p:spPr>
          <a:xfrm>
            <a:off x="2482985" y="1495353"/>
            <a:ext cx="3627880" cy="4596955"/>
          </a:xfrm>
          <a:prstGeom prst="rect">
            <a:avLst/>
          </a:prstGeom>
        </p:spPr>
      </p:pic>
      <p:sp>
        <p:nvSpPr>
          <p:cNvPr id="2" name="Rounded Rectangular Callout 1"/>
          <p:cNvSpPr/>
          <p:nvPr/>
        </p:nvSpPr>
        <p:spPr>
          <a:xfrm>
            <a:off x="6673116" y="3052394"/>
            <a:ext cx="2138870" cy="690967"/>
          </a:xfrm>
          <a:prstGeom prst="wedgeRoundRectCallout">
            <a:avLst>
              <a:gd name="adj1" fmla="val -63092"/>
              <a:gd name="adj2" fmla="val 7892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sao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đặt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họp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22" name="Rounded Rectangular Callout 21"/>
          <p:cNvSpPr/>
          <p:nvPr/>
        </p:nvSpPr>
        <p:spPr>
          <a:xfrm>
            <a:off x="6431039" y="1540547"/>
            <a:ext cx="2138870" cy="914400"/>
          </a:xfrm>
          <a:prstGeom prst="wedgeRoundRectCallout">
            <a:avLst>
              <a:gd name="adj1" fmla="val -53397"/>
              <a:gd name="adj2" fmla="val 9737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Muốn đăng ký xe hoặc vé máy bay đi công tác thì làm sao?</a:t>
            </a:r>
          </a:p>
        </p:txBody>
      </p:sp>
      <p:sp>
        <p:nvSpPr>
          <p:cNvPr id="23" name="Rounded Rectangular Callout 22"/>
          <p:cNvSpPr/>
          <p:nvPr/>
        </p:nvSpPr>
        <p:spPr>
          <a:xfrm>
            <a:off x="213609" y="3052394"/>
            <a:ext cx="1833597" cy="914400"/>
          </a:xfrm>
          <a:prstGeom prst="wedgeRoundRectCallout">
            <a:avLst>
              <a:gd name="adj1" fmla="val 51774"/>
              <a:gd name="adj2" fmla="val 118884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thoại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ban ở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đâu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  <p:sp>
        <p:nvSpPr>
          <p:cNvPr id="24" name="Rounded Rectangular Callout 23"/>
          <p:cNvSpPr/>
          <p:nvPr/>
        </p:nvSpPr>
        <p:spPr>
          <a:xfrm>
            <a:off x="559637" y="1794173"/>
            <a:ext cx="1589969" cy="914400"/>
          </a:xfrm>
          <a:prstGeom prst="wedgeRoundRectCallout">
            <a:avLst>
              <a:gd name="adj1" fmla="val 82723"/>
              <a:gd name="adj2" fmla="val 69601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sách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đâu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02" name="Rounded Rectangular Callout 101"/>
          <p:cNvSpPr/>
          <p:nvPr/>
        </p:nvSpPr>
        <p:spPr>
          <a:xfrm>
            <a:off x="6431039" y="4206659"/>
            <a:ext cx="2393647" cy="1154351"/>
          </a:xfrm>
          <a:prstGeom prst="wedgeRoundRectCallout">
            <a:avLst>
              <a:gd name="adj1" fmla="val -63093"/>
              <a:gd name="adj2" fmla="val 8470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phần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mềm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ở </a:t>
            </a:r>
            <a:r>
              <a:rPr lang="en-US" sz="1500" dirty="0" err="1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đâu</a:t>
            </a:r>
            <a:r>
              <a:rPr lang="en-US" sz="1500" dirty="0">
                <a:solidFill>
                  <a:srgbClr val="23273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7D352D-2EB2-46D2-98A6-B8A589726328}"/>
              </a:ext>
            </a:extLst>
          </p:cNvPr>
          <p:cNvSpPr txBox="1"/>
          <p:nvPr/>
        </p:nvSpPr>
        <p:spPr>
          <a:xfrm>
            <a:off x="2259226" y="175461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CÁC HỖ TRỢ CẦN THIẾT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C4659-072B-4188-8746-049B82D728FB}"/>
              </a:ext>
            </a:extLst>
          </p:cNvPr>
          <p:cNvSpPr txBox="1"/>
          <p:nvPr/>
        </p:nvSpPr>
        <p:spPr>
          <a:xfrm>
            <a:off x="2259226" y="638759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8F421-50FF-E7C4-83C1-505DFC750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632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000"/>
    </mc:Choice>
    <mc:Fallback xmlns="">
      <p:transition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E66AC-9A8D-AEFE-14DC-686FD647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648" y="89088"/>
            <a:ext cx="6751081" cy="109934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3215987" y="1333506"/>
            <a:ext cx="3832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endParaRPr lang="en-US" sz="2400" b="1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7" name="Picture 33" descr="10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66" y="1525067"/>
            <a:ext cx="1100854" cy="837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TextBox 97"/>
          <p:cNvSpPr txBox="1"/>
          <p:nvPr/>
        </p:nvSpPr>
        <p:spPr>
          <a:xfrm>
            <a:off x="1722520" y="1954081"/>
            <a:ext cx="69299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https://dtg.sharepoint.com/sites/portal</a:t>
            </a: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câu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trả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lời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C29BE-6AE0-487D-B400-47E4189065C1}"/>
              </a:ext>
            </a:extLst>
          </p:cNvPr>
          <p:cNvSpPr txBox="1"/>
          <p:nvPr/>
        </p:nvSpPr>
        <p:spPr>
          <a:xfrm>
            <a:off x="2259226" y="175461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CÁC HỖ TRỢ CẦN THIẾT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71327-8439-4711-9C8B-67AF23177177}"/>
              </a:ext>
            </a:extLst>
          </p:cNvPr>
          <p:cNvSpPr txBox="1"/>
          <p:nvPr/>
        </p:nvSpPr>
        <p:spPr>
          <a:xfrm>
            <a:off x="2259226" y="638759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74BB-39D5-716F-B0D9-BC443C418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F5E9F-0B68-2B15-0214-D5174A50DC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4123" y="2338699"/>
            <a:ext cx="5236020" cy="388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81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0000"/>
    </mc:Choice>
    <mc:Fallback xmlns="">
      <p:transition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62AD1-2158-99DA-4F73-789C8A5DC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90" y="65877"/>
            <a:ext cx="6751081" cy="1099341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655533" y="1299288"/>
            <a:ext cx="3832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endParaRPr lang="en-US" sz="2400" b="1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08844" y="1535013"/>
            <a:ext cx="1952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8844" y="1887805"/>
            <a:ext cx="8726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Tùy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theo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CBNV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cấp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laptop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để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cập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tin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bộ</a:t>
            </a:r>
            <a:endParaRPr lang="en-US" sz="1600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208845" y="2505580"/>
            <a:ext cx="63378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1600" b="1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 b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Cổng thông tin Duy Tân</a:t>
            </a:r>
            <a:endParaRPr lang="en-US" sz="1600" b="1" dirty="0">
              <a:solidFill>
                <a:srgbClr val="020C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208845" y="2872610"/>
            <a:ext cx="8726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Dưới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đây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ứng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Cổng thông tin Duy Tân 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trình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đăng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ký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vé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máy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bay,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xem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thoại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</a:t>
            </a:r>
            <a:r>
              <a:rPr lang="en-US" sz="1600" dirty="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 </a:t>
            </a:r>
            <a:r>
              <a:rPr lang="en-US" sz="1600" err="1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Địa</a:t>
            </a:r>
            <a:r>
              <a:rPr lang="en-US" sz="1600">
                <a:solidFill>
                  <a:srgbClr val="020C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chỉ: https://dtg.sharepoint.com/sites/portal </a:t>
            </a:r>
            <a:endParaRPr lang="en-US" sz="16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A9BA06-A7E5-4915-88D2-E8FA1EF366F3}"/>
              </a:ext>
            </a:extLst>
          </p:cNvPr>
          <p:cNvSpPr txBox="1"/>
          <p:nvPr/>
        </p:nvSpPr>
        <p:spPr>
          <a:xfrm>
            <a:off x="2259226" y="175461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II. CÁC HỖ TRỢ CẦN THIẾT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D56E4F-7DCB-4A74-92A8-6280AF3BADE0}"/>
              </a:ext>
            </a:extLst>
          </p:cNvPr>
          <p:cNvSpPr txBox="1"/>
          <p:nvPr/>
        </p:nvSpPr>
        <p:spPr>
          <a:xfrm>
            <a:off x="2259226" y="638759"/>
            <a:ext cx="577987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cụ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làm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việc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DB674-7513-972F-7B29-C39CA808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BE39-9ADC-45F2-BE78-CAE1FA8E5C0D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6C6CFE-D786-13A5-1202-794C99A54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32083"/>
            <a:ext cx="8133693" cy="305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9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000"/>
    </mc:Choice>
    <mc:Fallback xmlns="">
      <p:transition advTm="1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A5461D5136488EFED6F0716767A1" ma:contentTypeVersion="" ma:contentTypeDescription="Create a new document." ma:contentTypeScope="" ma:versionID="2dbc3778270c1ff7dfb6315f63e90fc2">
  <xsd:schema xmlns:xsd="http://www.w3.org/2001/XMLSchema" xmlns:xs="http://www.w3.org/2001/XMLSchema" xmlns:p="http://schemas.microsoft.com/office/2006/metadata/properties" xmlns:ns2="F04B59C5-9CBF-40FA-8244-689DA476070E" xmlns:ns3="be0067ac-558b-40e7-9138-0b9aee47b278" xmlns:ns4="f04b59c5-9cbf-40fa-8244-689da476070e" targetNamespace="http://schemas.microsoft.com/office/2006/metadata/properties" ma:root="true" ma:fieldsID="03519d00a16ec9200a6cf5151e6ff43f" ns2:_="" ns3:_="" ns4:_="">
    <xsd:import namespace="F04B59C5-9CBF-40FA-8244-689DA476070E"/>
    <xsd:import namespace="be0067ac-558b-40e7-9138-0b9aee47b278"/>
    <xsd:import namespace="f04b59c5-9cbf-40fa-8244-689da47607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3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067ac-558b-40e7-9138-0b9aee47b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62C9A0A-5D06-4385-AAC4-8FBE5A21DD63}" ma:internalName="TaxCatchAll" ma:showField="CatchAllData" ma:web="{ac963a9c-3b1b-4dfd-b0d2-aeb8a08bf505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067ac-558b-40e7-9138-0b9aee47b278" xsi:nil="true"/>
    <lcf76f155ced4ddcb4097134ff3c332f xmlns="f04b59c5-9cbf-40fa-8244-689da476070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33AE0D6-2B8F-4D6B-8795-DEFCF66AF1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59C5-9CBF-40FA-8244-689DA476070E"/>
    <ds:schemaRef ds:uri="be0067ac-558b-40e7-9138-0b9aee47b278"/>
    <ds:schemaRef ds:uri="f04b59c5-9cbf-40fa-8244-689da4760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937D11-0FED-4F3F-A8F9-EB484FBAC5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B13574-E51B-4FE1-8DD8-D38DAF979A49}">
  <ds:schemaRefs>
    <ds:schemaRef ds:uri="http://schemas.microsoft.com/office/2006/metadata/properties"/>
    <ds:schemaRef ds:uri="http://purl.org/dc/elements/1.1/"/>
    <ds:schemaRef ds:uri="F04B59C5-9CBF-40FA-8244-689DA476070E"/>
    <ds:schemaRef ds:uri="http://schemas.microsoft.com/office/2006/documentManagement/types"/>
    <ds:schemaRef ds:uri="be0067ac-558b-40e7-9138-0b9aee47b278"/>
    <ds:schemaRef ds:uri="http://www.w3.org/XML/1998/namespace"/>
    <ds:schemaRef ds:uri="f04b59c5-9cbf-40fa-8244-689da476070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5030</TotalTime>
  <Words>456</Words>
  <Application>Microsoft Office PowerPoint</Application>
  <PresentationFormat>On-screen Show (4:3)</PresentationFormat>
  <Paragraphs>65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Thanh, Dang Que</dc:creator>
  <cp:lastModifiedBy>Cư, Lê Hoành</cp:lastModifiedBy>
  <cp:revision>354</cp:revision>
  <cp:lastPrinted>2023-05-09T04:38:55Z</cp:lastPrinted>
  <dcterms:created xsi:type="dcterms:W3CDTF">2018-11-09T03:05:11Z</dcterms:created>
  <dcterms:modified xsi:type="dcterms:W3CDTF">2026-05-18T14:31:36Z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0x0101008A08A5461D5136488EFED6F0716767A1</vt:lpwstr>
  </property>
  <property fmtid="{D5CDD505-2E9C-101B-9397-08002B2CF9AE}" pid="3" name="MediaServiceImageTags">
    <vt:lpwstr/>
  </property>
</Properties>
</file>