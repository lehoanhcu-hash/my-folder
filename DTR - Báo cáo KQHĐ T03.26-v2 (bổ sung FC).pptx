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heme/themeOverride1.xml" ContentType="application/vnd.openxmlformats-officedocument.themeOverr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theme/themeOverride2.xml" ContentType="application/vnd.openxmlformats-officedocument.themeOverride+xml"/>
  <Override PartName="/ppt/notesSlides/notesSlide4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theme/themeOverride3.xml" ContentType="application/vnd.openxmlformats-officedocument.themeOverrid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theme/themeOverride4.xml" ContentType="application/vnd.openxmlformats-officedocument.themeOverr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theme/themeOverride5.xml" ContentType="application/vnd.openxmlformats-officedocument.themeOverrid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theme/themeOverride6.xml" ContentType="application/vnd.openxmlformats-officedocument.themeOverride+xml"/>
  <Override PartName="/ppt/notesSlides/notesSlide14.xml" ContentType="application/vnd.openxmlformats-officedocument.presentationml.notesSlid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theme/themeOverride7.xml" ContentType="application/vnd.openxmlformats-officedocument.themeOverrid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theme/themeOverride8.xml" ContentType="application/vnd.openxmlformats-officedocument.themeOverr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87" r:id="rId4"/>
  </p:sldMasterIdLst>
  <p:notesMasterIdLst>
    <p:notesMasterId r:id="rId26"/>
  </p:notesMasterIdLst>
  <p:sldIdLst>
    <p:sldId id="304" r:id="rId5"/>
    <p:sldId id="377" r:id="rId6"/>
    <p:sldId id="315" r:id="rId7"/>
    <p:sldId id="381" r:id="rId8"/>
    <p:sldId id="344" r:id="rId9"/>
    <p:sldId id="325" r:id="rId10"/>
    <p:sldId id="312" r:id="rId11"/>
    <p:sldId id="380" r:id="rId12"/>
    <p:sldId id="323" r:id="rId13"/>
    <p:sldId id="382" r:id="rId14"/>
    <p:sldId id="303" r:id="rId15"/>
    <p:sldId id="310" r:id="rId16"/>
    <p:sldId id="350" r:id="rId17"/>
    <p:sldId id="339" r:id="rId18"/>
    <p:sldId id="341" r:id="rId19"/>
    <p:sldId id="389" r:id="rId20"/>
    <p:sldId id="387" r:id="rId21"/>
    <p:sldId id="388" r:id="rId22"/>
    <p:sldId id="385" r:id="rId23"/>
    <p:sldId id="386" r:id="rId24"/>
    <p:sldId id="390" r:id="rId25"/>
  </p:sldIdLst>
  <p:sldSz cx="9144000" cy="5143500" type="screen16x9"/>
  <p:notesSz cx="9926638" cy="14355763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Default Section" id="{C66068FD-31DF-4505-96EA-B953B35EC922}">
          <p14:sldIdLst>
            <p14:sldId id="304"/>
            <p14:sldId id="377"/>
            <p14:sldId id="315"/>
            <p14:sldId id="381"/>
            <p14:sldId id="344"/>
            <p14:sldId id="325"/>
            <p14:sldId id="312"/>
            <p14:sldId id="380"/>
            <p14:sldId id="323"/>
            <p14:sldId id="382"/>
            <p14:sldId id="303"/>
            <p14:sldId id="310"/>
            <p14:sldId id="350"/>
            <p14:sldId id="339"/>
            <p14:sldId id="341"/>
            <p14:sldId id="389"/>
            <p14:sldId id="387"/>
            <p14:sldId id="388"/>
            <p14:sldId id="385"/>
            <p14:sldId id="386"/>
            <p14:sldId id="39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CAF6DF"/>
    <a:srgbClr val="74E9AD"/>
    <a:srgbClr val="119303"/>
    <a:srgbClr val="67F753"/>
    <a:srgbClr val="F5F5F5"/>
    <a:srgbClr val="E78BCB"/>
    <a:srgbClr val="424340"/>
    <a:srgbClr val="E2E7EE"/>
    <a:srgbClr val="29A8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05ABBAC-E2BA-4B37-BC85-AE6E4763C752}" v="54" dt="2026-04-14T15:32:10.179"/>
  </p1510:revLst>
</p1510:revInfo>
</file>

<file path=ppt/tableStyles.xml><?xml version="1.0" encoding="utf-8"?>
<a:tblStyleLst xmlns:a="http://schemas.openxmlformats.org/drawingml/2006/main" def="{6A077030-E235-474E-B3E8-3EB61F41259E}">
  <a:tblStyle styleId="{6A077030-E235-474E-B3E8-3EB61F41259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373" autoAdjust="0"/>
    <p:restoredTop sz="96247" autoAdjust="0"/>
  </p:normalViewPr>
  <p:slideViewPr>
    <p:cSldViewPr snapToGrid="0">
      <p:cViewPr varScale="1">
        <p:scale>
          <a:sx n="176" d="100"/>
          <a:sy n="176" d="100"/>
        </p:scale>
        <p:origin x="259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nh, Hoàng Duy" userId="3a448fcf-317f-4972-a161-06742a14d4c7" providerId="ADAL" clId="{CE1C8B88-0719-4E4A-B0E4-7DC533AE261F}"/>
    <pc:docChg chg="undo redo custSel addSld modSld sldOrd modSection">
      <pc:chgData name="Danh, Hoàng Duy" userId="3a448fcf-317f-4972-a161-06742a14d4c7" providerId="ADAL" clId="{CE1C8B88-0719-4E4A-B0E4-7DC533AE261F}" dt="2026-04-14T15:32:15.025" v="403" actId="1076"/>
      <pc:docMkLst>
        <pc:docMk/>
      </pc:docMkLst>
      <pc:sldChg chg="modSp mod">
        <pc:chgData name="Danh, Hoàng Duy" userId="3a448fcf-317f-4972-a161-06742a14d4c7" providerId="ADAL" clId="{CE1C8B88-0719-4E4A-B0E4-7DC533AE261F}" dt="2026-04-14T14:39:57.734" v="127" actId="1035"/>
        <pc:sldMkLst>
          <pc:docMk/>
          <pc:sldMk cId="78206668" sldId="315"/>
        </pc:sldMkLst>
        <pc:spChg chg="mod">
          <ac:chgData name="Danh, Hoàng Duy" userId="3a448fcf-317f-4972-a161-06742a14d4c7" providerId="ADAL" clId="{CE1C8B88-0719-4E4A-B0E4-7DC533AE261F}" dt="2026-04-14T14:39:57.734" v="127" actId="1035"/>
          <ac:spMkLst>
            <pc:docMk/>
            <pc:sldMk cId="78206668" sldId="315"/>
            <ac:spMk id="14" creationId="{9510EA6F-2D53-E4B7-293E-26704F295D36}"/>
          </ac:spMkLst>
        </pc:spChg>
        <pc:graphicFrameChg chg="modGraphic">
          <ac:chgData name="Danh, Hoàng Duy" userId="3a448fcf-317f-4972-a161-06742a14d4c7" providerId="ADAL" clId="{CE1C8B88-0719-4E4A-B0E4-7DC533AE261F}" dt="2026-04-14T14:39:53.460" v="112" actId="6549"/>
          <ac:graphicFrameMkLst>
            <pc:docMk/>
            <pc:sldMk cId="78206668" sldId="315"/>
            <ac:graphicFrameMk id="5" creationId="{B898A6A7-30C3-9951-E884-FBCDACD14A63}"/>
          </ac:graphicFrameMkLst>
        </pc:graphicFrameChg>
      </pc:sldChg>
      <pc:sldChg chg="modSp mod">
        <pc:chgData name="Danh, Hoàng Duy" userId="3a448fcf-317f-4972-a161-06742a14d4c7" providerId="ADAL" clId="{CE1C8B88-0719-4E4A-B0E4-7DC533AE261F}" dt="2026-04-14T14:40:24.394" v="221" actId="20577"/>
        <pc:sldMkLst>
          <pc:docMk/>
          <pc:sldMk cId="1719405591" sldId="381"/>
        </pc:sldMkLst>
        <pc:spChg chg="mod">
          <ac:chgData name="Danh, Hoàng Duy" userId="3a448fcf-317f-4972-a161-06742a14d4c7" providerId="ADAL" clId="{CE1C8B88-0719-4E4A-B0E4-7DC533AE261F}" dt="2026-04-14T14:39:30.573" v="107" actId="20577"/>
          <ac:spMkLst>
            <pc:docMk/>
            <pc:sldMk cId="1719405591" sldId="381"/>
            <ac:spMk id="6" creationId="{A42DD51F-2EB1-6F56-73EF-55033ABF68F5}"/>
          </ac:spMkLst>
        </pc:spChg>
        <pc:spChg chg="mod">
          <ac:chgData name="Danh, Hoàng Duy" userId="3a448fcf-317f-4972-a161-06742a14d4c7" providerId="ADAL" clId="{CE1C8B88-0719-4E4A-B0E4-7DC533AE261F}" dt="2026-04-14T14:40:24.394" v="221" actId="20577"/>
          <ac:spMkLst>
            <pc:docMk/>
            <pc:sldMk cId="1719405591" sldId="381"/>
            <ac:spMk id="14" creationId="{4897BFB3-082D-5455-8391-A06836253DCA}"/>
          </ac:spMkLst>
        </pc:spChg>
        <pc:graphicFrameChg chg="modGraphic">
          <ac:chgData name="Danh, Hoàng Duy" userId="3a448fcf-317f-4972-a161-06742a14d4c7" providerId="ADAL" clId="{CE1C8B88-0719-4E4A-B0E4-7DC533AE261F}" dt="2026-04-14T14:40:04.437" v="128" actId="6549"/>
          <ac:graphicFrameMkLst>
            <pc:docMk/>
            <pc:sldMk cId="1719405591" sldId="381"/>
            <ac:graphicFrameMk id="5" creationId="{6B82A03C-439F-533F-8D5E-F869F659F6EA}"/>
          </ac:graphicFrameMkLst>
        </pc:graphicFrameChg>
        <pc:graphicFrameChg chg="mod">
          <ac:chgData name="Danh, Hoàng Duy" userId="3a448fcf-317f-4972-a161-06742a14d4c7" providerId="ADAL" clId="{CE1C8B88-0719-4E4A-B0E4-7DC533AE261F}" dt="2026-04-14T14:40:08.303" v="130" actId="1076"/>
          <ac:graphicFrameMkLst>
            <pc:docMk/>
            <pc:sldMk cId="1719405591" sldId="381"/>
            <ac:graphicFrameMk id="15" creationId="{2085B7AD-86DA-B33F-93C7-F418DF64BA9A}"/>
          </ac:graphicFrameMkLst>
        </pc:graphicFrameChg>
      </pc:sldChg>
      <pc:sldChg chg="modSp mod ord">
        <pc:chgData name="Danh, Hoàng Duy" userId="3a448fcf-317f-4972-a161-06742a14d4c7" providerId="ADAL" clId="{CE1C8B88-0719-4E4A-B0E4-7DC533AE261F}" dt="2026-04-14T15:20:03.710" v="389" actId="27918"/>
        <pc:sldMkLst>
          <pc:docMk/>
          <pc:sldMk cId="2313164847" sldId="387"/>
        </pc:sldMkLst>
        <pc:spChg chg="mod">
          <ac:chgData name="Danh, Hoàng Duy" userId="3a448fcf-317f-4972-a161-06742a14d4c7" providerId="ADAL" clId="{CE1C8B88-0719-4E4A-B0E4-7DC533AE261F}" dt="2026-04-14T14:40:44.344" v="253" actId="1038"/>
          <ac:spMkLst>
            <pc:docMk/>
            <pc:sldMk cId="2313164847" sldId="387"/>
            <ac:spMk id="14" creationId="{E2DBEAF3-9514-1167-CFFA-4EDE2212564C}"/>
          </ac:spMkLst>
        </pc:spChg>
        <pc:graphicFrameChg chg="mod">
          <ac:chgData name="Danh, Hoàng Duy" userId="3a448fcf-317f-4972-a161-06742a14d4c7" providerId="ADAL" clId="{CE1C8B88-0719-4E4A-B0E4-7DC533AE261F}" dt="2026-04-14T14:37:53.860" v="60" actId="207"/>
          <ac:graphicFrameMkLst>
            <pc:docMk/>
            <pc:sldMk cId="2313164847" sldId="387"/>
            <ac:graphicFrameMk id="4" creationId="{C6BBCF59-7CD8-EB3F-0981-6D6BDF8457E2}"/>
          </ac:graphicFrameMkLst>
        </pc:graphicFrameChg>
        <pc:graphicFrameChg chg="modGraphic">
          <ac:chgData name="Danh, Hoàng Duy" userId="3a448fcf-317f-4972-a161-06742a14d4c7" providerId="ADAL" clId="{CE1C8B88-0719-4E4A-B0E4-7DC533AE261F}" dt="2026-04-14T14:40:37.746" v="225" actId="6549"/>
          <ac:graphicFrameMkLst>
            <pc:docMk/>
            <pc:sldMk cId="2313164847" sldId="387"/>
            <ac:graphicFrameMk id="5" creationId="{3402FDA6-8A34-0FB1-E022-846564AD2BF9}"/>
          </ac:graphicFrameMkLst>
        </pc:graphicFrameChg>
        <pc:graphicFrameChg chg="mod">
          <ac:chgData name="Danh, Hoàng Duy" userId="3a448fcf-317f-4972-a161-06742a14d4c7" providerId="ADAL" clId="{CE1C8B88-0719-4E4A-B0E4-7DC533AE261F}" dt="2026-04-14T14:38:48.943" v="71" actId="255"/>
          <ac:graphicFrameMkLst>
            <pc:docMk/>
            <pc:sldMk cId="2313164847" sldId="387"/>
            <ac:graphicFrameMk id="15" creationId="{B2C2BAF4-634F-CBF7-CD79-5480446A1DD0}"/>
          </ac:graphicFrameMkLst>
        </pc:graphicFrameChg>
      </pc:sldChg>
      <pc:sldChg chg="addSp delSp modSp mod ord">
        <pc:chgData name="Danh, Hoàng Duy" userId="3a448fcf-317f-4972-a161-06742a14d4c7" providerId="ADAL" clId="{CE1C8B88-0719-4E4A-B0E4-7DC533AE261F}" dt="2026-04-14T15:20:55.679" v="398" actId="27918"/>
        <pc:sldMkLst>
          <pc:docMk/>
          <pc:sldMk cId="2982775577" sldId="388"/>
        </pc:sldMkLst>
        <pc:spChg chg="mod">
          <ac:chgData name="Danh, Hoàng Duy" userId="3a448fcf-317f-4972-a161-06742a14d4c7" providerId="ADAL" clId="{CE1C8B88-0719-4E4A-B0E4-7DC533AE261F}" dt="2026-04-14T14:40:54.023" v="289" actId="20577"/>
          <ac:spMkLst>
            <pc:docMk/>
            <pc:sldMk cId="2982775577" sldId="388"/>
            <ac:spMk id="6" creationId="{1587ADB6-B556-5AC5-8965-A929F7A96685}"/>
          </ac:spMkLst>
        </pc:spChg>
        <pc:spChg chg="mod">
          <ac:chgData name="Danh, Hoàng Duy" userId="3a448fcf-317f-4972-a161-06742a14d4c7" providerId="ADAL" clId="{CE1C8B88-0719-4E4A-B0E4-7DC533AE261F}" dt="2026-04-14T14:41:17.262" v="356" actId="1038"/>
          <ac:spMkLst>
            <pc:docMk/>
            <pc:sldMk cId="2982775577" sldId="388"/>
            <ac:spMk id="14" creationId="{00CC3A14-B905-9351-4EBB-DF99F8285A72}"/>
          </ac:spMkLst>
        </pc:spChg>
        <pc:graphicFrameChg chg="mod">
          <ac:chgData name="Danh, Hoàng Duy" userId="3a448fcf-317f-4972-a161-06742a14d4c7" providerId="ADAL" clId="{CE1C8B88-0719-4E4A-B0E4-7DC533AE261F}" dt="2026-04-14T14:42:14.703" v="369" actId="207"/>
          <ac:graphicFrameMkLst>
            <pc:docMk/>
            <pc:sldMk cId="2982775577" sldId="388"/>
            <ac:graphicFrameMk id="4" creationId="{5034F646-0751-C362-0EB5-377BE789C160}"/>
          </ac:graphicFrameMkLst>
        </pc:graphicFrameChg>
        <pc:graphicFrameChg chg="modGraphic">
          <ac:chgData name="Danh, Hoàng Duy" userId="3a448fcf-317f-4972-a161-06742a14d4c7" providerId="ADAL" clId="{CE1C8B88-0719-4E4A-B0E4-7DC533AE261F}" dt="2026-04-14T14:40:57.870" v="291" actId="6549"/>
          <ac:graphicFrameMkLst>
            <pc:docMk/>
            <pc:sldMk cId="2982775577" sldId="388"/>
            <ac:graphicFrameMk id="5" creationId="{8394CFCC-0D98-9796-6CA7-F106BF69A8E6}"/>
          </ac:graphicFrameMkLst>
        </pc:graphicFrameChg>
        <pc:graphicFrameChg chg="add del mod">
          <ac:chgData name="Danh, Hoàng Duy" userId="3a448fcf-317f-4972-a161-06742a14d4c7" providerId="ADAL" clId="{CE1C8B88-0719-4E4A-B0E4-7DC533AE261F}" dt="2026-04-14T14:43:11.657" v="383"/>
          <ac:graphicFrameMkLst>
            <pc:docMk/>
            <pc:sldMk cId="2982775577" sldId="388"/>
            <ac:graphicFrameMk id="15" creationId="{4B7F97D6-450E-EC28-4EC2-25A0B041529B}"/>
          </ac:graphicFrameMkLst>
        </pc:graphicFrameChg>
      </pc:sldChg>
      <pc:sldChg chg="addSp delSp modSp mod">
        <pc:chgData name="Danh, Hoàng Duy" userId="3a448fcf-317f-4972-a161-06742a14d4c7" providerId="ADAL" clId="{CE1C8B88-0719-4E4A-B0E4-7DC533AE261F}" dt="2026-04-14T14:34:01.614" v="19" actId="120"/>
        <pc:sldMkLst>
          <pc:docMk/>
          <pc:sldMk cId="2444977604" sldId="389"/>
        </pc:sldMkLst>
        <pc:spChg chg="add mod">
          <ac:chgData name="Danh, Hoàng Duy" userId="3a448fcf-317f-4972-a161-06742a14d4c7" providerId="ADAL" clId="{CE1C8B88-0719-4E4A-B0E4-7DC533AE261F}" dt="2026-04-14T14:34:01.614" v="19" actId="120"/>
          <ac:spMkLst>
            <pc:docMk/>
            <pc:sldMk cId="2444977604" sldId="389"/>
            <ac:spMk id="2" creationId="{DFEC5418-8A64-3D2E-C59C-E98E780AE4D9}"/>
          </ac:spMkLst>
        </pc:spChg>
        <pc:spChg chg="del">
          <ac:chgData name="Danh, Hoàng Duy" userId="3a448fcf-317f-4972-a161-06742a14d4c7" providerId="ADAL" clId="{CE1C8B88-0719-4E4A-B0E4-7DC533AE261F}" dt="2026-04-14T14:33:01.009" v="0" actId="478"/>
          <ac:spMkLst>
            <pc:docMk/>
            <pc:sldMk cId="2444977604" sldId="389"/>
            <ac:spMk id="6" creationId="{5219DF25-7707-25E6-52D6-8415F7008E3D}"/>
          </ac:spMkLst>
        </pc:spChg>
      </pc:sldChg>
      <pc:sldChg chg="addSp delSp modSp new mod">
        <pc:chgData name="Danh, Hoàng Duy" userId="3a448fcf-317f-4972-a161-06742a14d4c7" providerId="ADAL" clId="{CE1C8B88-0719-4E4A-B0E4-7DC533AE261F}" dt="2026-04-14T15:32:15.025" v="403" actId="1076"/>
        <pc:sldMkLst>
          <pc:docMk/>
          <pc:sldMk cId="2397922752" sldId="390"/>
        </pc:sldMkLst>
        <pc:spChg chg="del">
          <ac:chgData name="Danh, Hoàng Duy" userId="3a448fcf-317f-4972-a161-06742a14d4c7" providerId="ADAL" clId="{CE1C8B88-0719-4E4A-B0E4-7DC533AE261F}" dt="2026-04-14T15:31:59.083" v="400" actId="478"/>
          <ac:spMkLst>
            <pc:docMk/>
            <pc:sldMk cId="2397922752" sldId="390"/>
            <ac:spMk id="2" creationId="{A5B714D5-3ED3-5931-0AA4-2B299E861EC3}"/>
          </ac:spMkLst>
        </pc:spChg>
        <pc:spChg chg="del">
          <ac:chgData name="Danh, Hoàng Duy" userId="3a448fcf-317f-4972-a161-06742a14d4c7" providerId="ADAL" clId="{CE1C8B88-0719-4E4A-B0E4-7DC533AE261F}" dt="2026-04-14T15:31:59.083" v="400" actId="478"/>
          <ac:spMkLst>
            <pc:docMk/>
            <pc:sldMk cId="2397922752" sldId="390"/>
            <ac:spMk id="3" creationId="{0C003E5D-9224-0A1E-C35F-07865FF5FBCF}"/>
          </ac:spMkLst>
        </pc:spChg>
        <pc:spChg chg="del">
          <ac:chgData name="Danh, Hoàng Duy" userId="3a448fcf-317f-4972-a161-06742a14d4c7" providerId="ADAL" clId="{CE1C8B88-0719-4E4A-B0E4-7DC533AE261F}" dt="2026-04-14T15:31:59.083" v="400" actId="478"/>
          <ac:spMkLst>
            <pc:docMk/>
            <pc:sldMk cId="2397922752" sldId="390"/>
            <ac:spMk id="4" creationId="{9B55D940-6C3C-11BE-C1B3-7DA95C81481F}"/>
          </ac:spMkLst>
        </pc:spChg>
        <pc:spChg chg="del">
          <ac:chgData name="Danh, Hoàng Duy" userId="3a448fcf-317f-4972-a161-06742a14d4c7" providerId="ADAL" clId="{CE1C8B88-0719-4E4A-B0E4-7DC533AE261F}" dt="2026-04-14T15:31:59.083" v="400" actId="478"/>
          <ac:spMkLst>
            <pc:docMk/>
            <pc:sldMk cId="2397922752" sldId="390"/>
            <ac:spMk id="5" creationId="{5ED4A079-7C6F-1B4D-2226-A68301A414C5}"/>
          </ac:spMkLst>
        </pc:spChg>
        <pc:spChg chg="add mod">
          <ac:chgData name="Danh, Hoàng Duy" userId="3a448fcf-317f-4972-a161-06742a14d4c7" providerId="ADAL" clId="{CE1C8B88-0719-4E4A-B0E4-7DC533AE261F}" dt="2026-04-14T15:32:10.179" v="402"/>
          <ac:spMkLst>
            <pc:docMk/>
            <pc:sldMk cId="2397922752" sldId="390"/>
            <ac:spMk id="8" creationId="{9B272D5F-DF6A-93D9-F62F-BBF3EC3C9CD5}"/>
          </ac:spMkLst>
        </pc:spChg>
        <pc:picChg chg="add mod">
          <ac:chgData name="Danh, Hoàng Duy" userId="3a448fcf-317f-4972-a161-06742a14d4c7" providerId="ADAL" clId="{CE1C8B88-0719-4E4A-B0E4-7DC533AE261F}" dt="2026-04-14T15:32:15.025" v="403" actId="1076"/>
          <ac:picMkLst>
            <pc:docMk/>
            <pc:sldMk cId="2397922752" sldId="390"/>
            <ac:picMk id="7" creationId="{F2D9173E-79C4-04F7-46F0-12BC1194B8CE}"/>
          </ac:picMkLst>
        </pc:pic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2.xml"/><Relationship Id="rId2" Type="http://schemas.microsoft.com/office/2011/relationships/chartColorStyle" Target="colors2.xml"/><Relationship Id="rId1" Type="http://schemas.microsoft.com/office/2011/relationships/chartStyle" Target="style2.xml"/><Relationship Id="rId4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3.xml"/><Relationship Id="rId2" Type="http://schemas.microsoft.com/office/2011/relationships/chartColorStyle" Target="colors3.xml"/><Relationship Id="rId1" Type="http://schemas.microsoft.com/office/2011/relationships/chartStyle" Target="style3.xml"/><Relationship Id="rId4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4.xml"/><Relationship Id="rId2" Type="http://schemas.microsoft.com/office/2011/relationships/chartColorStyle" Target="colors4.xml"/><Relationship Id="rId1" Type="http://schemas.microsoft.com/office/2011/relationships/chartStyle" Target="style4.xml"/><Relationship Id="rId4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5.xml"/><Relationship Id="rId2" Type="http://schemas.microsoft.com/office/2011/relationships/chartColorStyle" Target="colors5.xml"/><Relationship Id="rId1" Type="http://schemas.microsoft.com/office/2011/relationships/chartStyle" Target="style5.xml"/><Relationship Id="rId4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6.xml"/><Relationship Id="rId2" Type="http://schemas.microsoft.com/office/2011/relationships/chartColorStyle" Target="colors6.xml"/><Relationship Id="rId1" Type="http://schemas.microsoft.com/office/2011/relationships/chartStyle" Target="style6.xml"/><Relationship Id="rId4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7.xml"/><Relationship Id="rId2" Type="http://schemas.microsoft.com/office/2011/relationships/chartColorStyle" Target="colors7.xml"/><Relationship Id="rId1" Type="http://schemas.microsoft.com/office/2011/relationships/chartStyle" Target="style7.xml"/><Relationship Id="rId4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8.xml"/><Relationship Id="rId2" Type="http://schemas.microsoft.com/office/2011/relationships/chartColorStyle" Target="colors8.xml"/><Relationship Id="rId1" Type="http://schemas.microsoft.com/office/2011/relationships/chartStyle" Target="style8.xml"/><Relationship Id="rId4" Type="http://schemas.openxmlformats.org/officeDocument/2006/relationships/package" Target="../embeddings/Microsoft_Excel_Work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1.9361937535368107E-2"/>
          <c:y val="0.18563132363277546"/>
          <c:w val="0.96127612492926384"/>
          <c:h val="0.6738977408545302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'Vẽ-Phương'!$A$4</c:f>
              <c:strCache>
                <c:ptCount val="1"/>
                <c:pt idx="0">
                  <c:v>2025</c:v>
                </c:pt>
              </c:strCache>
            </c:strRef>
          </c:tx>
          <c:spPr>
            <a:solidFill>
              <a:srgbClr val="E2E7EE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-5.7650963815168285E-3"/>
                  <c:y val="0.11307773609887571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3312-499F-AD5E-049707D264C7}"/>
                </c:ext>
              </c:extLst>
            </c:dLbl>
            <c:dLbl>
              <c:idx val="3"/>
              <c:layout>
                <c:manualLayout>
                  <c:x val="-5.7650963815168285E-3"/>
                  <c:y val="-3.325815767613991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3312-499F-AD5E-049707D264C7}"/>
                </c:ext>
              </c:extLst>
            </c:dLbl>
            <c:dLbl>
              <c:idx val="5"/>
              <c:layout>
                <c:manualLayout>
                  <c:x val="-1.9216987938390133E-3"/>
                  <c:y val="5.321305228182386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F-5824-47B1-BB6A-6725878C706C}"/>
                </c:ext>
              </c:extLst>
            </c:dLbl>
            <c:dLbl>
              <c:idx val="6"/>
              <c:layout>
                <c:manualLayout>
                  <c:x val="-5.7650963815168987E-3"/>
                  <c:y val="-5.321305228182386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E-5824-47B1-BB6A-6725878C706C}"/>
                </c:ext>
              </c:extLst>
            </c:dLbl>
            <c:dLbl>
              <c:idx val="7"/>
              <c:layout>
                <c:manualLayout>
                  <c:x val="0"/>
                  <c:y val="1.330326307045596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3312-499F-AD5E-049707D264C7}"/>
                </c:ext>
              </c:extLst>
            </c:dLbl>
            <c:dLbl>
              <c:idx val="9"/>
              <c:layout>
                <c:manualLayout>
                  <c:x val="-1.9216987938390838E-3"/>
                  <c:y val="2.6606526140911933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E-C057-42EB-BE4F-B551D3AA027D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chemeClr val="bg1">
                        <a:lumMod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'Vẽ-Phương'!$B$3:$M$3</c:f>
              <c:numCache>
                <c:formatCode>General</c:formatCod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numCache>
            </c:numRef>
          </c:cat>
          <c:val>
            <c:numRef>
              <c:f>'Vẽ-Phương'!$B$4:$M$4</c:f>
              <c:numCache>
                <c:formatCode>_(* #,##0,,,_);_(* \(#,##0,,,\);_(* "-"??_);_(@_)</c:formatCode>
                <c:ptCount val="12"/>
                <c:pt idx="0">
                  <c:v>114462510402</c:v>
                </c:pt>
                <c:pt idx="1">
                  <c:v>187999461059</c:v>
                </c:pt>
                <c:pt idx="2">
                  <c:v>150253332680</c:v>
                </c:pt>
                <c:pt idx="3">
                  <c:v>125429649855</c:v>
                </c:pt>
                <c:pt idx="4">
                  <c:v>152067142852</c:v>
                </c:pt>
                <c:pt idx="5">
                  <c:v>119134672797</c:v>
                </c:pt>
                <c:pt idx="6">
                  <c:v>137991406898</c:v>
                </c:pt>
                <c:pt idx="7">
                  <c:v>168442653383</c:v>
                </c:pt>
                <c:pt idx="8">
                  <c:v>84710435067</c:v>
                </c:pt>
                <c:pt idx="9">
                  <c:v>108928556660</c:v>
                </c:pt>
                <c:pt idx="10">
                  <c:v>88347880802</c:v>
                </c:pt>
                <c:pt idx="11">
                  <c:v>99758121581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E7F-465E-B3B0-F50084385C9C}"/>
            </c:ext>
          </c:extLst>
        </c:ser>
        <c:ser>
          <c:idx val="1"/>
          <c:order val="1"/>
          <c:tx>
            <c:strRef>
              <c:f>'Vẽ-Phương'!$A$5</c:f>
              <c:strCache>
                <c:ptCount val="1"/>
                <c:pt idx="0">
                  <c:v>2026</c:v>
                </c:pt>
              </c:strCache>
            </c:strRef>
          </c:tx>
          <c:spPr>
            <a:solidFill>
              <a:srgbClr val="74E9AD"/>
            </a:solidFill>
            <a:ln>
              <a:noFill/>
            </a:ln>
            <a:effectLst/>
          </c:spPr>
          <c:invertIfNegative val="0"/>
          <c:dPt>
            <c:idx val="5"/>
            <c:invertIfNegative val="0"/>
            <c:bubble3D val="0"/>
            <c:spPr>
              <a:solidFill>
                <a:srgbClr val="74E9AD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5E0B-47D6-BAFD-C9F83DD2DA56}"/>
              </c:ext>
            </c:extLst>
          </c:dPt>
          <c:dPt>
            <c:idx val="6"/>
            <c:invertIfNegative val="0"/>
            <c:bubble3D val="0"/>
            <c:spPr>
              <a:solidFill>
                <a:srgbClr val="74E9AD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5E0B-47D6-BAFD-C9F83DD2DA56}"/>
              </c:ext>
            </c:extLst>
          </c:dPt>
          <c:dPt>
            <c:idx val="7"/>
            <c:invertIfNegative val="0"/>
            <c:bubble3D val="0"/>
            <c:spPr>
              <a:solidFill>
                <a:srgbClr val="74E9AD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5E0B-47D6-BAFD-C9F83DD2DA56}"/>
              </c:ext>
            </c:extLst>
          </c:dPt>
          <c:dPt>
            <c:idx val="8"/>
            <c:invertIfNegative val="0"/>
            <c:bubble3D val="0"/>
            <c:spPr>
              <a:solidFill>
                <a:srgbClr val="74E9AD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6-5E0B-47D6-BAFD-C9F83DD2DA56}"/>
              </c:ext>
            </c:extLst>
          </c:dPt>
          <c:dPt>
            <c:idx val="9"/>
            <c:invertIfNegative val="0"/>
            <c:bubble3D val="0"/>
            <c:spPr>
              <a:solidFill>
                <a:srgbClr val="74E9AD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5E0B-47D6-BAFD-C9F83DD2DA56}"/>
              </c:ext>
            </c:extLst>
          </c:dPt>
          <c:dPt>
            <c:idx val="10"/>
            <c:invertIfNegative val="0"/>
            <c:bubble3D val="0"/>
            <c:spPr>
              <a:solidFill>
                <a:srgbClr val="74E9AD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8-5E0B-47D6-BAFD-C9F83DD2DA56}"/>
              </c:ext>
            </c:extLst>
          </c:dPt>
          <c:dPt>
            <c:idx val="11"/>
            <c:invertIfNegative val="0"/>
            <c:bubble3D val="0"/>
            <c:spPr>
              <a:solidFill>
                <a:srgbClr val="CAF6DF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5E0B-47D6-BAFD-C9F83DD2DA56}"/>
              </c:ext>
            </c:extLst>
          </c:dPt>
          <c:dLbls>
            <c:dLbl>
              <c:idx val="0"/>
              <c:layout>
                <c:manualLayout>
                  <c:x val="-8.8076843913068113E-18"/>
                  <c:y val="-1.995489460568395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E-4CE2-4E98-888D-9609E0A6AFBE}"/>
                </c:ext>
              </c:extLst>
            </c:dLbl>
            <c:dLbl>
              <c:idx val="1"/>
              <c:layout>
                <c:manualLayout>
                  <c:x val="0"/>
                  <c:y val="1.995489460568395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F-4CE2-4E98-888D-9609E0A6AFBE}"/>
                </c:ext>
              </c:extLst>
            </c:dLbl>
            <c:dLbl>
              <c:idx val="3"/>
              <c:layout>
                <c:manualLayout>
                  <c:x val="-1.9216987938389428E-3"/>
                  <c:y val="0.11307773609887571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63A8-4656-84F3-1B87E60153DB}"/>
                </c:ext>
              </c:extLst>
            </c:dLbl>
            <c:dLbl>
              <c:idx val="4"/>
              <c:layout>
                <c:manualLayout>
                  <c:x val="0"/>
                  <c:y val="6.651631535227983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3312-499F-AD5E-049707D264C7}"/>
                </c:ext>
              </c:extLst>
            </c:dLbl>
            <c:dLbl>
              <c:idx val="6"/>
              <c:layout>
                <c:manualLayout>
                  <c:x val="0"/>
                  <c:y val="1.995489460568382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5E0B-47D6-BAFD-C9F83DD2DA56}"/>
                </c:ext>
              </c:extLst>
            </c:dLbl>
            <c:dLbl>
              <c:idx val="7"/>
              <c:layout>
                <c:manualLayout>
                  <c:x val="1.7295289144550415E-2"/>
                  <c:y val="6.6516315352280137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5E0B-47D6-BAFD-C9F83DD2DA56}"/>
                </c:ext>
              </c:extLst>
            </c:dLbl>
            <c:dLbl>
              <c:idx val="8"/>
              <c:layout>
                <c:manualLayout>
                  <c:x val="5.7650963815168285E-3"/>
                  <c:y val="1.330326307045596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5E0B-47D6-BAFD-C9F83DD2DA56}"/>
                </c:ext>
              </c:extLst>
            </c:dLbl>
            <c:dLbl>
              <c:idx val="10"/>
              <c:layout>
                <c:manualLayout>
                  <c:x val="1.9216987938389428E-3"/>
                  <c:y val="1.4818473309149965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5E0B-47D6-BAFD-C9F83DD2DA56}"/>
                </c:ext>
              </c:extLst>
            </c:dLbl>
            <c:dLbl>
              <c:idx val="11"/>
              <c:layout>
                <c:manualLayout>
                  <c:x val="-1.9216987938389428E-3"/>
                  <c:y val="0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800" b="1" i="0" u="none" strike="noStrike" kern="1200" baseline="0">
                      <a:solidFill>
                        <a:srgbClr val="119303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5E0B-47D6-BAFD-C9F83DD2DA56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rgbClr val="119303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'Vẽ-Phương'!$B$3:$M$3</c:f>
              <c:numCache>
                <c:formatCode>General</c:formatCod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numCache>
            </c:numRef>
          </c:cat>
          <c:val>
            <c:numRef>
              <c:f>'Vẽ-Phương'!$B$5:$M$5</c:f>
              <c:numCache>
                <c:formatCode>_(* #,##0,,,_);_(* \(#,##0,,,\);_(* "-"??_);_(@_)</c:formatCode>
                <c:ptCount val="12"/>
                <c:pt idx="0">
                  <c:v>126099036923</c:v>
                </c:pt>
                <c:pt idx="1">
                  <c:v>96566805360</c:v>
                </c:pt>
                <c:pt idx="2">
                  <c:v>173305822529.00003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E7F-465E-B3B0-F50084385C9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axId val="1274894383"/>
        <c:axId val="1274880463"/>
      </c:barChart>
      <c:barChart>
        <c:barDir val="col"/>
        <c:grouping val="clustered"/>
        <c:varyColors val="0"/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296630255"/>
        <c:axId val="1296632655"/>
        <c:extLst>
          <c:ext xmlns:c15="http://schemas.microsoft.com/office/drawing/2012/chart" uri="{02D57815-91ED-43cb-92C2-25804820EDAC}">
            <c15:filteredBarSeries>
              <c15:ser>
                <c:idx val="3"/>
                <c:order val="3"/>
                <c:tx>
                  <c:strRef>
                    <c:extLst>
                      <c:ext uri="{02D57815-91ED-43cb-92C2-25804820EDAC}">
                        <c15:formulaRef>
                          <c15:sqref>'Vẽ-Phương'!$A$6</c15:sqref>
                        </c15:formulaRef>
                      </c:ext>
                    </c:extLst>
                    <c:strCache>
                      <c:ptCount val="1"/>
                      <c:pt idx="0">
                        <c:v>Dự báo</c:v>
                      </c:pt>
                    </c:strCache>
                  </c:strRef>
                </c:tx>
                <c:spPr>
                  <a:solidFill>
                    <a:srgbClr val="CAF6DF"/>
                  </a:solidFill>
                  <a:ln>
                    <a:noFill/>
                  </a:ln>
                  <a:effectLst/>
                </c:spPr>
                <c:invertIfNegative val="0"/>
                <c:val>
                  <c:numRef>
                    <c:extLst>
                      <c:ext uri="{02D57815-91ED-43cb-92C2-25804820EDAC}">
                        <c15:formulaRef>
                          <c15:sqref>'Vẽ-Phương'!$B$6:$M$6</c15:sqref>
                        </c15:formulaRef>
                      </c:ext>
                    </c:extLst>
                    <c:numCache>
                      <c:formatCode>General</c:formatCode>
                      <c:ptCount val="12"/>
                    </c:numCache>
                  </c:numRef>
                </c:val>
                <c:extLst>
                  <c:ext xmlns:c16="http://schemas.microsoft.com/office/drawing/2014/chart" uri="{C3380CC4-5D6E-409C-BE32-E72D297353CC}">
                    <c16:uniqueId val="{0000000E-4565-4E12-8476-9225D9072204}"/>
                  </c:ext>
                </c:extLst>
              </c15:ser>
            </c15:filteredBarSeries>
          </c:ext>
        </c:extLst>
      </c:barChart>
      <c:lineChart>
        <c:grouping val="standard"/>
        <c:varyColors val="0"/>
        <c:ser>
          <c:idx val="2"/>
          <c:order val="2"/>
          <c:tx>
            <c:strRef>
              <c:f>'Vẽ-Phương'!$A$7</c:f>
              <c:strCache>
                <c:ptCount val="1"/>
                <c:pt idx="0">
                  <c:v>Chỉ tiêu</c:v>
                </c:pt>
              </c:strCache>
            </c:strRef>
          </c:tx>
          <c:spPr>
            <a:ln w="25400" cap="rnd">
              <a:solidFill>
                <a:srgbClr val="FF0000"/>
              </a:solidFill>
              <a:round/>
            </a:ln>
            <a:effectLst/>
          </c:spPr>
          <c:marker>
            <c:symbol val="none"/>
          </c:marker>
          <c:dLbls>
            <c:spPr>
              <a:solidFill>
                <a:sysClr val="window" lastClr="FFFFFF"/>
              </a:solidFill>
              <a:ln w="19050" cap="flat" cmpd="sng" algn="ctr">
                <a:solidFill>
                  <a:srgbClr val="FF0000"/>
                </a:solidFill>
                <a:prstDash val="solid"/>
                <a:miter lim="800000"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700" b="0" i="0" u="none" strike="noStrike" kern="1200" baseline="0">
                    <a:solidFill>
                      <a:sysClr val="windowText" lastClr="000000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'Vẽ-Phương'!$B$3:$M$3</c:f>
              <c:numCache>
                <c:formatCode>General</c:formatCod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numCache>
            </c:numRef>
          </c:cat>
          <c:val>
            <c:numRef>
              <c:f>'Vẽ-Phương'!$B$7:$M$7</c:f>
              <c:numCache>
                <c:formatCode>_(* #,##0,,,_);_(* \(#,##0,,,\);_(* "-"??_);_(@_)</c:formatCode>
                <c:ptCount val="12"/>
                <c:pt idx="0">
                  <c:v>129505341136.8568</c:v>
                </c:pt>
                <c:pt idx="1">
                  <c:v>127974441177.86678</c:v>
                </c:pt>
                <c:pt idx="2">
                  <c:v>141599491827.82724</c:v>
                </c:pt>
                <c:pt idx="3">
                  <c:v>131782266518.60179</c:v>
                </c:pt>
                <c:pt idx="4">
                  <c:v>140244307484.73703</c:v>
                </c:pt>
                <c:pt idx="5">
                  <c:v>141409300219.24362</c:v>
                </c:pt>
                <c:pt idx="6">
                  <c:v>145404057387.95999</c:v>
                </c:pt>
                <c:pt idx="7">
                  <c:v>141276361518.14462</c:v>
                </c:pt>
                <c:pt idx="8">
                  <c:v>148196499542.28259</c:v>
                </c:pt>
                <c:pt idx="9">
                  <c:v>137984481243.16364</c:v>
                </c:pt>
                <c:pt idx="10">
                  <c:v>145929060338.82693</c:v>
                </c:pt>
                <c:pt idx="11">
                  <c:v>147442013746.17145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5E7F-465E-B3B0-F50084385C9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274894383"/>
        <c:axId val="1274880463"/>
      </c:lineChart>
      <c:catAx>
        <c:axId val="127489438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74880463"/>
        <c:crosses val="autoZero"/>
        <c:auto val="1"/>
        <c:lblAlgn val="ctr"/>
        <c:lblOffset val="100"/>
        <c:noMultiLvlLbl val="0"/>
      </c:catAx>
      <c:valAx>
        <c:axId val="1274880463"/>
        <c:scaling>
          <c:orientation val="minMax"/>
        </c:scaling>
        <c:delete val="0"/>
        <c:axPos val="l"/>
        <c:numFmt formatCode="_(* #,##0,,,_);_(* \(#,##0,,,\);_(* &quot;-&quot;??_);_(@_)" sourceLinked="1"/>
        <c:majorTickMark val="none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74894383"/>
        <c:crosses val="autoZero"/>
        <c:crossBetween val="between"/>
      </c:valAx>
      <c:valAx>
        <c:axId val="1296632655"/>
        <c:scaling>
          <c:orientation val="minMax"/>
        </c:scaling>
        <c:delete val="0"/>
        <c:axPos val="r"/>
        <c:numFmt formatCode="_(* #,##0_);_(* \(#,##0\);;_(@_)" sourceLinked="1"/>
        <c:majorTickMark val="out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96630255"/>
        <c:crosses val="max"/>
        <c:crossBetween val="between"/>
      </c:valAx>
      <c:catAx>
        <c:axId val="1296630255"/>
        <c:scaling>
          <c:orientation val="minMax"/>
        </c:scaling>
        <c:delete val="1"/>
        <c:axPos val="b"/>
        <c:majorTickMark val="out"/>
        <c:minorTickMark val="none"/>
        <c:tickLblPos val="nextTo"/>
        <c:crossAx val="1296632655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1.0404410162548235E-3"/>
          <c:y val="2.7729406420351245E-2"/>
          <c:w val="0.40573673997569276"/>
          <c:h val="0.1042132586395266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8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1.44959641299032E-4"/>
          <c:y val="0.19893458670323144"/>
          <c:w val="0.99971008071740197"/>
          <c:h val="0.68054937238975821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'Vẽ-Phương'!$A$4</c:f>
              <c:strCache>
                <c:ptCount val="1"/>
                <c:pt idx="0">
                  <c:v>2025</c:v>
                </c:pt>
              </c:strCache>
            </c:strRef>
          </c:tx>
          <c:spPr>
            <a:solidFill>
              <a:srgbClr val="E2E7EE"/>
            </a:solidFill>
            <a:ln>
              <a:noFill/>
            </a:ln>
            <a:effectLst/>
          </c:spPr>
          <c:invertIfNegative val="0"/>
          <c:dLbls>
            <c:dLbl>
              <c:idx val="9"/>
              <c:layout>
                <c:manualLayout>
                  <c:x val="-3.8433975876778857E-3"/>
                  <c:y val="-5.3213052281823867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E-16F3-450D-91BD-DF8362A94D19}"/>
                </c:ext>
              </c:extLst>
            </c:dLbl>
            <c:dLbl>
              <c:idx val="10"/>
              <c:layout>
                <c:manualLayout>
                  <c:x val="-1.9216987938389569E-2"/>
                  <c:y val="-6.6516315352279864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1-F45D-488D-B99D-6C605235C9DE}"/>
                </c:ext>
              </c:extLst>
            </c:dLbl>
            <c:dLbl>
              <c:idx val="11"/>
              <c:layout>
                <c:manualLayout>
                  <c:x val="-9.6084939691948555E-3"/>
                  <c:y val="-9.3122841493191763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F-F45D-488D-B99D-6C605235C9DE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chemeClr val="bg1">
                        <a:lumMod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'Vẽ-Phương'!$B$3:$M$3</c:f>
              <c:numCache>
                <c:formatCode>General</c:formatCod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numCache>
            </c:numRef>
          </c:cat>
          <c:val>
            <c:numRef>
              <c:f>'Vẽ-Phương'!$B$4:$M$4</c:f>
              <c:numCache>
                <c:formatCode>_(* #,##0,,,_);_(* \(#,##0,,,\);_(* "-"??_);_(@_)</c:formatCode>
                <c:ptCount val="12"/>
                <c:pt idx="0">
                  <c:v>114462510402</c:v>
                </c:pt>
                <c:pt idx="1">
                  <c:v>302461971461</c:v>
                </c:pt>
                <c:pt idx="2">
                  <c:v>452715304141</c:v>
                </c:pt>
                <c:pt idx="3">
                  <c:v>578144953996</c:v>
                </c:pt>
                <c:pt idx="4">
                  <c:v>730212096848</c:v>
                </c:pt>
                <c:pt idx="5">
                  <c:v>849346769645</c:v>
                </c:pt>
                <c:pt idx="6">
                  <c:v>987338176543</c:v>
                </c:pt>
                <c:pt idx="7">
                  <c:v>1155780829926</c:v>
                </c:pt>
                <c:pt idx="8">
                  <c:v>1240491264993</c:v>
                </c:pt>
                <c:pt idx="9">
                  <c:v>1349419821653</c:v>
                </c:pt>
                <c:pt idx="10">
                  <c:v>1437767702455</c:v>
                </c:pt>
                <c:pt idx="11">
                  <c:v>1537525824036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9FC-49B1-9E2A-6F8ADAB87AD5}"/>
            </c:ext>
          </c:extLst>
        </c:ser>
        <c:ser>
          <c:idx val="1"/>
          <c:order val="1"/>
          <c:tx>
            <c:strRef>
              <c:f>'Vẽ-Phương'!$A$5</c:f>
              <c:strCache>
                <c:ptCount val="1"/>
                <c:pt idx="0">
                  <c:v>2026</c:v>
                </c:pt>
              </c:strCache>
            </c:strRef>
          </c:tx>
          <c:spPr>
            <a:solidFill>
              <a:srgbClr val="74E9AD"/>
            </a:solidFill>
            <a:ln>
              <a:noFill/>
            </a:ln>
            <a:effectLst/>
          </c:spPr>
          <c:invertIfNegative val="0"/>
          <c:dPt>
            <c:idx val="5"/>
            <c:invertIfNegative val="0"/>
            <c:bubble3D val="0"/>
            <c:spPr>
              <a:solidFill>
                <a:srgbClr val="74E9AD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0-F254-4B67-B167-FFF9E994D945}"/>
              </c:ext>
            </c:extLst>
          </c:dPt>
          <c:dPt>
            <c:idx val="6"/>
            <c:invertIfNegative val="0"/>
            <c:bubble3D val="0"/>
            <c:spPr>
              <a:solidFill>
                <a:srgbClr val="74E9AD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F254-4B67-B167-FFF9E994D945}"/>
              </c:ext>
            </c:extLst>
          </c:dPt>
          <c:dPt>
            <c:idx val="7"/>
            <c:invertIfNegative val="0"/>
            <c:bubble3D val="0"/>
            <c:spPr>
              <a:solidFill>
                <a:srgbClr val="74E9AD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2-F254-4B67-B167-FFF9E994D945}"/>
              </c:ext>
            </c:extLst>
          </c:dPt>
          <c:dPt>
            <c:idx val="8"/>
            <c:invertIfNegative val="0"/>
            <c:bubble3D val="0"/>
            <c:spPr>
              <a:solidFill>
                <a:srgbClr val="74E9AD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F254-4B67-B167-FFF9E994D945}"/>
              </c:ext>
            </c:extLst>
          </c:dPt>
          <c:dPt>
            <c:idx val="9"/>
            <c:invertIfNegative val="0"/>
            <c:bubble3D val="0"/>
            <c:spPr>
              <a:solidFill>
                <a:srgbClr val="74E9AD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F254-4B67-B167-FFF9E994D945}"/>
              </c:ext>
            </c:extLst>
          </c:dPt>
          <c:dPt>
            <c:idx val="10"/>
            <c:invertIfNegative val="0"/>
            <c:bubble3D val="0"/>
            <c:spPr>
              <a:solidFill>
                <a:srgbClr val="74E9AD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6-F254-4B67-B167-FFF9E994D945}"/>
              </c:ext>
            </c:extLst>
          </c:dPt>
          <c:dPt>
            <c:idx val="11"/>
            <c:invertIfNegative val="0"/>
            <c:bubble3D val="0"/>
            <c:spPr>
              <a:solidFill>
                <a:srgbClr val="CAF6DF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F254-4B67-B167-FFF9E994D945}"/>
              </c:ext>
            </c:extLst>
          </c:dPt>
          <c:dLbls>
            <c:dLbl>
              <c:idx val="1"/>
              <c:layout>
                <c:manualLayout>
                  <c:x val="1.9216987938389253E-3"/>
                  <c:y val="-3.325815767613991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E-F45D-488D-B99D-6C605235C9DE}"/>
                </c:ext>
              </c:extLst>
            </c:dLbl>
            <c:dLbl>
              <c:idx val="2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rgbClr val="119303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E-C5C4-46FB-8074-B097150E5CB7}"/>
                </c:ext>
              </c:extLst>
            </c:dLbl>
            <c:dLbl>
              <c:idx val="3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0">
                  <a:spAutoFit/>
                </a:bodyPr>
                <a:lstStyle/>
                <a:p>
                  <a:pPr algn="ctr" rtl="0">
                    <a:defRPr lang="en-US" sz="800" b="0" i="0" u="none" strike="noStrike" kern="1200" baseline="0">
                      <a:solidFill>
                        <a:srgbClr val="119303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0-0A93-48C0-B60B-494698818C8D}"/>
                </c:ext>
              </c:extLst>
            </c:dLbl>
            <c:dLbl>
              <c:idx val="4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0">
                  <a:spAutoFit/>
                </a:bodyPr>
                <a:lstStyle/>
                <a:p>
                  <a:pPr algn="ctr" rtl="0">
                    <a:defRPr lang="en-US" sz="800" b="0" i="0" u="none" strike="noStrike" kern="1200" baseline="0">
                      <a:solidFill>
                        <a:srgbClr val="119303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0-A47A-4EED-AEE9-4740BF362757}"/>
                </c:ext>
              </c:extLst>
            </c:dLbl>
            <c:dLbl>
              <c:idx val="6"/>
              <c:layout>
                <c:manualLayout>
                  <c:x val="1.9216987938389428E-3"/>
                  <c:y val="-1.330326307045596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F254-4B67-B167-FFF9E994D945}"/>
                </c:ext>
              </c:extLst>
            </c:dLbl>
            <c:dLbl>
              <c:idx val="7"/>
              <c:layout>
                <c:manualLayout>
                  <c:x val="-7.0461475130454491E-17"/>
                  <c:y val="-1.995489460568395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F254-4B67-B167-FFF9E994D945}"/>
                </c:ext>
              </c:extLst>
            </c:dLbl>
            <c:dLbl>
              <c:idx val="8"/>
              <c:layout>
                <c:manualLayout>
                  <c:x val="-1.1530192763033657E-2"/>
                  <c:y val="-5.321305228182386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F254-4B67-B167-FFF9E994D945}"/>
                </c:ext>
              </c:extLst>
            </c:dLbl>
            <c:dLbl>
              <c:idx val="9"/>
              <c:layout>
                <c:manualLayout>
                  <c:x val="0"/>
                  <c:y val="5.3213052281823867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0">
                  <a:spAutoFit/>
                </a:bodyPr>
                <a:lstStyle/>
                <a:p>
                  <a:pPr algn="ctr" rtl="0">
                    <a:defRPr lang="en-US" sz="800" b="0" i="0" u="none" strike="noStrike" kern="1200" baseline="0">
                      <a:solidFill>
                        <a:srgbClr val="119303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F254-4B67-B167-FFF9E994D945}"/>
                </c:ext>
              </c:extLst>
            </c:dLbl>
            <c:dLbl>
              <c:idx val="10"/>
              <c:layout>
                <c:manualLayout>
                  <c:x val="-5.7650963815169699E-3"/>
                  <c:y val="4.6561420746595826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0">
                  <a:spAutoFit/>
                </a:bodyPr>
                <a:lstStyle/>
                <a:p>
                  <a:pPr algn="ctr" rtl="0">
                    <a:defRPr lang="en-US" sz="800" b="0" i="0" u="none" strike="noStrike" kern="1200" baseline="0">
                      <a:solidFill>
                        <a:srgbClr val="119303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F254-4B67-B167-FFF9E994D945}"/>
                </c:ext>
              </c:extLst>
            </c:dLbl>
            <c:dLbl>
              <c:idx val="11"/>
              <c:layout>
                <c:manualLayout>
                  <c:x val="-1.9216987938389428E-3"/>
                  <c:y val="2.6606526140911933E-2"/>
                </c:manualLayout>
              </c:layout>
              <c:spPr>
                <a:noFill/>
                <a:ln>
                  <a:solidFill>
                    <a:srgbClr val="CAF6DF"/>
                  </a:solidFill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rgbClr val="119303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F254-4B67-B167-FFF9E994D945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rgbClr val="119303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'Vẽ-Phương'!$B$3:$M$3</c:f>
              <c:numCache>
                <c:formatCode>General</c:formatCod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numCache>
            </c:numRef>
          </c:cat>
          <c:val>
            <c:numRef>
              <c:f>'Vẽ-Phương'!$B$5:$M$5</c:f>
              <c:numCache>
                <c:formatCode>_(* #,##0,,,_);_(* \(#,##0,,,\);_(* "-"??_);_(@_)</c:formatCode>
                <c:ptCount val="12"/>
                <c:pt idx="0">
                  <c:v>126099036923</c:v>
                </c:pt>
                <c:pt idx="1">
                  <c:v>222665842283</c:v>
                </c:pt>
                <c:pt idx="2">
                  <c:v>395971664812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9FC-49B1-9E2A-6F8ADAB87AD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axId val="1274894383"/>
        <c:axId val="1274880463"/>
      </c:barChart>
      <c:barChart>
        <c:barDir val="col"/>
        <c:grouping val="clustered"/>
        <c:varyColors val="0"/>
        <c:ser>
          <c:idx val="3"/>
          <c:order val="3"/>
          <c:tx>
            <c:strRef>
              <c:f>'Vẽ-Phương'!$A$6</c:f>
              <c:strCache>
                <c:ptCount val="1"/>
                <c:pt idx="0">
                  <c:v>Dự báo</c:v>
                </c:pt>
              </c:strCache>
            </c:strRef>
          </c:tx>
          <c:spPr>
            <a:solidFill>
              <a:srgbClr val="CAF6DF"/>
            </a:solidFill>
            <a:ln>
              <a:noFill/>
            </a:ln>
            <a:effectLst/>
          </c:spPr>
          <c:invertIfNegative val="0"/>
          <c:val>
            <c:numRef>
              <c:f>'Vẽ-Phương'!$B$6:$M$6</c:f>
              <c:numCache>
                <c:formatCode>General</c:formatCode>
                <c:ptCount val="12"/>
              </c:numCache>
            </c:numRef>
          </c:val>
          <c:extLst>
            <c:ext xmlns:c16="http://schemas.microsoft.com/office/drawing/2014/chart" uri="{C3380CC4-5D6E-409C-BE32-E72D297353CC}">
              <c16:uniqueId val="{0000000E-24B5-4158-90DB-B7140E262F0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546951599"/>
        <c:axId val="1546951119"/>
      </c:barChart>
      <c:lineChart>
        <c:grouping val="standard"/>
        <c:varyColors val="0"/>
        <c:ser>
          <c:idx val="2"/>
          <c:order val="2"/>
          <c:tx>
            <c:strRef>
              <c:f>'Vẽ-Phương'!$A$7</c:f>
              <c:strCache>
                <c:ptCount val="1"/>
                <c:pt idx="0">
                  <c:v>Chỉ tiêu</c:v>
                </c:pt>
              </c:strCache>
            </c:strRef>
          </c:tx>
          <c:spPr>
            <a:ln w="25400" cap="rnd">
              <a:solidFill>
                <a:srgbClr val="FF0000"/>
              </a:solidFill>
              <a:round/>
            </a:ln>
            <a:effectLst/>
          </c:spPr>
          <c:marker>
            <c:symbol val="none"/>
          </c:marker>
          <c:dLbls>
            <c:dLbl>
              <c:idx val="11"/>
              <c:spPr>
                <a:solidFill>
                  <a:sysClr val="window" lastClr="FFFFFF"/>
                </a:solidFill>
                <a:ln w="19050" cap="flat" cmpd="sng" algn="ctr">
                  <a:solidFill>
                    <a:srgbClr val="FF0000"/>
                  </a:solidFill>
                  <a:prstDash val="solid"/>
                  <a:miter lim="800000"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1" i="0" u="none" strike="noStrike" kern="1200" baseline="0">
                      <a:solidFill>
                        <a:srgbClr val="FF0000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10-F45D-488D-B99D-6C605235C9DE}"/>
                </c:ext>
              </c:extLst>
            </c:dLbl>
            <c:spPr>
              <a:solidFill>
                <a:sysClr val="window" lastClr="FFFFFF"/>
              </a:solidFill>
              <a:ln w="19050" cap="flat" cmpd="sng" algn="ctr">
                <a:solidFill>
                  <a:srgbClr val="FF0000"/>
                </a:solidFill>
                <a:prstDash val="solid"/>
                <a:miter lim="800000"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700" b="0" i="0" u="none" strike="noStrike" kern="1200" baseline="0">
                    <a:solidFill>
                      <a:sysClr val="windowText" lastClr="000000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'Vẽ-Phương'!$B$3:$M$3</c:f>
              <c:numCache>
                <c:formatCode>General</c:formatCod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numCache>
            </c:numRef>
          </c:cat>
          <c:val>
            <c:numRef>
              <c:f>'Vẽ-Phương'!$B$7:$M$7</c:f>
              <c:numCache>
                <c:formatCode>_(* #,##0,,,_);_(* \(#,##0,,,\);_(* "-"??_);_(@_)</c:formatCode>
                <c:ptCount val="12"/>
                <c:pt idx="0">
                  <c:v>129505341136.8568</c:v>
                </c:pt>
                <c:pt idx="1">
                  <c:v>257479782314.72357</c:v>
                </c:pt>
                <c:pt idx="2">
                  <c:v>399079274142.55078</c:v>
                </c:pt>
                <c:pt idx="3">
                  <c:v>530861540661.15259</c:v>
                </c:pt>
                <c:pt idx="4">
                  <c:v>671105848145.88965</c:v>
                </c:pt>
                <c:pt idx="5">
                  <c:v>812515148365.1333</c:v>
                </c:pt>
                <c:pt idx="6">
                  <c:v>957919205753.09326</c:v>
                </c:pt>
                <c:pt idx="7">
                  <c:v>1099195567271.2379</c:v>
                </c:pt>
                <c:pt idx="8">
                  <c:v>1247392066813.5205</c:v>
                </c:pt>
                <c:pt idx="9">
                  <c:v>1385376548056.6841</c:v>
                </c:pt>
                <c:pt idx="10">
                  <c:v>1531305608395.511</c:v>
                </c:pt>
                <c:pt idx="11">
                  <c:v>1678747622141.6824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E9FC-49B1-9E2A-6F8ADAB87AD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274894383"/>
        <c:axId val="1274880463"/>
      </c:lineChart>
      <c:catAx>
        <c:axId val="127489438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74880463"/>
        <c:crosses val="autoZero"/>
        <c:auto val="1"/>
        <c:lblAlgn val="ctr"/>
        <c:lblOffset val="100"/>
        <c:noMultiLvlLbl val="0"/>
      </c:catAx>
      <c:valAx>
        <c:axId val="1274880463"/>
        <c:scaling>
          <c:orientation val="minMax"/>
        </c:scaling>
        <c:delete val="0"/>
        <c:axPos val="l"/>
        <c:numFmt formatCode="_(* #,##0,,,_);_(* \(#,##0,,,\);_(* &quot;-&quot;??_);_(@_)" sourceLinked="1"/>
        <c:majorTickMark val="none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74894383"/>
        <c:crosses val="autoZero"/>
        <c:crossBetween val="between"/>
      </c:valAx>
      <c:valAx>
        <c:axId val="1546951119"/>
        <c:scaling>
          <c:orientation val="minMax"/>
        </c:scaling>
        <c:delete val="0"/>
        <c:axPos val="r"/>
        <c:numFmt formatCode="General" sourceLinked="1"/>
        <c:majorTickMark val="out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46951599"/>
        <c:crosses val="max"/>
        <c:crossBetween val="between"/>
      </c:valAx>
      <c:catAx>
        <c:axId val="1546951599"/>
        <c:scaling>
          <c:orientation val="minMax"/>
        </c:scaling>
        <c:delete val="1"/>
        <c:axPos val="b"/>
        <c:majorTickMark val="out"/>
        <c:minorTickMark val="none"/>
        <c:tickLblPos val="nextTo"/>
        <c:crossAx val="1546951119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1.0404410162548235E-3"/>
          <c:y val="2.7729406420351245E-2"/>
          <c:w val="0.40573673997569276"/>
          <c:h val="0.1042132586395266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8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1.9361937535368107E-2"/>
          <c:y val="0.18563132363277546"/>
          <c:w val="0.96127612492926384"/>
          <c:h val="0.6738977408545302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'Vẽ-Phương'!$A$4</c:f>
              <c:strCache>
                <c:ptCount val="1"/>
                <c:pt idx="0">
                  <c:v>2025</c:v>
                </c:pt>
              </c:strCache>
            </c:strRef>
          </c:tx>
          <c:spPr>
            <a:solidFill>
              <a:srgbClr val="E2E7EE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-5.7650963815168285E-3"/>
                  <c:y val="0.11307773609887571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3312-499F-AD5E-049707D264C7}"/>
                </c:ext>
              </c:extLst>
            </c:dLbl>
            <c:dLbl>
              <c:idx val="3"/>
              <c:layout>
                <c:manualLayout>
                  <c:x val="-5.7650963815168285E-3"/>
                  <c:y val="-3.325815767613991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3312-499F-AD5E-049707D264C7}"/>
                </c:ext>
              </c:extLst>
            </c:dLbl>
            <c:dLbl>
              <c:idx val="7"/>
              <c:layout>
                <c:manualLayout>
                  <c:x val="0"/>
                  <c:y val="1.330326307045596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3312-499F-AD5E-049707D264C7}"/>
                </c:ext>
              </c:extLst>
            </c:dLbl>
            <c:dLbl>
              <c:idx val="11"/>
              <c:layout>
                <c:manualLayout>
                  <c:x val="-1.9216987938389428E-3"/>
                  <c:y val="0.1529875253102436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E-81E7-4C54-B633-2BCA976D1691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chemeClr val="bg1">
                        <a:lumMod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'Vẽ-Phương'!$B$3:$M$3</c:f>
              <c:numCache>
                <c:formatCode>General</c:formatCod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numCache>
            </c:numRef>
          </c:cat>
          <c:val>
            <c:numRef>
              <c:f>'Vẽ-Phương'!$B$4:$M$4</c:f>
              <c:numCache>
                <c:formatCode>_(* #,##0.0,,,_);_(* \(#,##0.0,,,\);_(* "-"??_);_(@_)</c:formatCode>
                <c:ptCount val="12"/>
                <c:pt idx="0">
                  <c:v>4897080552</c:v>
                </c:pt>
                <c:pt idx="1">
                  <c:v>17400796729</c:v>
                </c:pt>
                <c:pt idx="2">
                  <c:v>7098249059</c:v>
                </c:pt>
                <c:pt idx="3">
                  <c:v>3750983485</c:v>
                </c:pt>
                <c:pt idx="4">
                  <c:v>9530204304</c:v>
                </c:pt>
                <c:pt idx="5">
                  <c:v>1072500757</c:v>
                </c:pt>
                <c:pt idx="6">
                  <c:v>1039517857</c:v>
                </c:pt>
                <c:pt idx="7">
                  <c:v>93219731</c:v>
                </c:pt>
                <c:pt idx="8">
                  <c:v>-10202154651</c:v>
                </c:pt>
                <c:pt idx="9">
                  <c:v>-4684658050</c:v>
                </c:pt>
                <c:pt idx="10">
                  <c:v>-6920497847</c:v>
                </c:pt>
                <c:pt idx="11">
                  <c:v>2661513008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E7F-465E-B3B0-F50084385C9C}"/>
            </c:ext>
          </c:extLst>
        </c:ser>
        <c:ser>
          <c:idx val="1"/>
          <c:order val="1"/>
          <c:tx>
            <c:strRef>
              <c:f>'Vẽ-Phương'!$A$5</c:f>
              <c:strCache>
                <c:ptCount val="1"/>
                <c:pt idx="0">
                  <c:v>2026</c:v>
                </c:pt>
              </c:strCache>
            </c:strRef>
          </c:tx>
          <c:spPr>
            <a:solidFill>
              <a:srgbClr val="74E9AD"/>
            </a:solidFill>
            <a:ln>
              <a:noFill/>
            </a:ln>
            <a:effectLst/>
          </c:spPr>
          <c:invertIfNegative val="0"/>
          <c:dPt>
            <c:idx val="5"/>
            <c:invertIfNegative val="0"/>
            <c:bubble3D val="0"/>
            <c:spPr>
              <a:solidFill>
                <a:srgbClr val="74E9AD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5E0B-47D6-BAFD-C9F83DD2DA56}"/>
              </c:ext>
            </c:extLst>
          </c:dPt>
          <c:dPt>
            <c:idx val="6"/>
            <c:invertIfNegative val="0"/>
            <c:bubble3D val="0"/>
            <c:spPr>
              <a:solidFill>
                <a:srgbClr val="74E9AD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5E0B-47D6-BAFD-C9F83DD2DA56}"/>
              </c:ext>
            </c:extLst>
          </c:dPt>
          <c:dPt>
            <c:idx val="7"/>
            <c:invertIfNegative val="0"/>
            <c:bubble3D val="0"/>
            <c:spPr>
              <a:solidFill>
                <a:srgbClr val="74E9AD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5E0B-47D6-BAFD-C9F83DD2DA56}"/>
              </c:ext>
            </c:extLst>
          </c:dPt>
          <c:dPt>
            <c:idx val="8"/>
            <c:invertIfNegative val="0"/>
            <c:bubble3D val="0"/>
            <c:spPr>
              <a:solidFill>
                <a:srgbClr val="74E9AD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6-5E0B-47D6-BAFD-C9F83DD2DA56}"/>
              </c:ext>
            </c:extLst>
          </c:dPt>
          <c:dPt>
            <c:idx val="9"/>
            <c:invertIfNegative val="0"/>
            <c:bubble3D val="0"/>
            <c:spPr>
              <a:solidFill>
                <a:srgbClr val="74E9AD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5E0B-47D6-BAFD-C9F83DD2DA56}"/>
              </c:ext>
            </c:extLst>
          </c:dPt>
          <c:dPt>
            <c:idx val="10"/>
            <c:invertIfNegative val="0"/>
            <c:bubble3D val="0"/>
            <c:spPr>
              <a:solidFill>
                <a:srgbClr val="74E9AD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8-5E0B-47D6-BAFD-C9F83DD2DA56}"/>
              </c:ext>
            </c:extLst>
          </c:dPt>
          <c:dPt>
            <c:idx val="11"/>
            <c:invertIfNegative val="0"/>
            <c:bubble3D val="0"/>
            <c:spPr>
              <a:solidFill>
                <a:srgbClr val="CAF6DF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5E0B-47D6-BAFD-C9F83DD2DA56}"/>
              </c:ext>
            </c:extLst>
          </c:dPt>
          <c:dLbls>
            <c:dLbl>
              <c:idx val="0"/>
              <c:layout>
                <c:manualLayout>
                  <c:x val="-8.8076843913068113E-18"/>
                  <c:y val="-1.995489460568395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E-4CE2-4E98-888D-9609E0A6AFBE}"/>
                </c:ext>
              </c:extLst>
            </c:dLbl>
            <c:dLbl>
              <c:idx val="1"/>
              <c:layout>
                <c:manualLayout>
                  <c:x val="0"/>
                  <c:y val="1.995489460568395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F-4CE2-4E98-888D-9609E0A6AFBE}"/>
                </c:ext>
              </c:extLst>
            </c:dLbl>
            <c:dLbl>
              <c:idx val="3"/>
              <c:layout>
                <c:manualLayout>
                  <c:x val="-1.9216987938389428E-3"/>
                  <c:y val="0.11307773609887571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63A8-4656-84F3-1B87E60153DB}"/>
                </c:ext>
              </c:extLst>
            </c:dLbl>
            <c:dLbl>
              <c:idx val="4"/>
              <c:layout>
                <c:manualLayout>
                  <c:x val="0"/>
                  <c:y val="6.651631535227983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3312-499F-AD5E-049707D264C7}"/>
                </c:ext>
              </c:extLst>
            </c:dLbl>
            <c:dLbl>
              <c:idx val="6"/>
              <c:layout>
                <c:manualLayout>
                  <c:x val="0"/>
                  <c:y val="1.995489460568382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5E0B-47D6-BAFD-C9F83DD2DA56}"/>
                </c:ext>
              </c:extLst>
            </c:dLbl>
            <c:dLbl>
              <c:idx val="7"/>
              <c:layout>
                <c:manualLayout>
                  <c:x val="1.7295289144550415E-2"/>
                  <c:y val="6.6516315352280137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5E0B-47D6-BAFD-C9F83DD2DA56}"/>
                </c:ext>
              </c:extLst>
            </c:dLbl>
            <c:dLbl>
              <c:idx val="8"/>
              <c:layout>
                <c:manualLayout>
                  <c:x val="5.7650963815168285E-3"/>
                  <c:y val="1.330326307045596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5E0B-47D6-BAFD-C9F83DD2DA56}"/>
                </c:ext>
              </c:extLst>
            </c:dLbl>
            <c:dLbl>
              <c:idx val="10"/>
              <c:layout>
                <c:manualLayout>
                  <c:x val="1.9216987938389428E-3"/>
                  <c:y val="1.4818473309149965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5E0B-47D6-BAFD-C9F83DD2DA56}"/>
                </c:ext>
              </c:extLst>
            </c:dLbl>
            <c:dLbl>
              <c:idx val="11"/>
              <c:layout>
                <c:manualLayout>
                  <c:x val="-1.9216987938389428E-3"/>
                  <c:y val="0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800" b="1" i="0" u="none" strike="noStrike" kern="1200" baseline="0">
                      <a:solidFill>
                        <a:srgbClr val="119303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5E0B-47D6-BAFD-C9F83DD2DA56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rgbClr val="119303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'Vẽ-Phương'!$B$3:$M$3</c:f>
              <c:numCache>
                <c:formatCode>General</c:formatCod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numCache>
            </c:numRef>
          </c:cat>
          <c:val>
            <c:numRef>
              <c:f>'Vẽ-Phương'!$B$5:$M$5</c:f>
              <c:numCache>
                <c:formatCode>_(* #,##0.0,,,_);_(* \(#,##0.0,,,\);_(* "-"??_);_(@_)</c:formatCode>
                <c:ptCount val="12"/>
                <c:pt idx="0">
                  <c:v>-1693460736</c:v>
                </c:pt>
                <c:pt idx="1">
                  <c:v>-6419213738</c:v>
                </c:pt>
                <c:pt idx="2">
                  <c:v>-6665406624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E7F-465E-B3B0-F50084385C9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axId val="1274894383"/>
        <c:axId val="1274880463"/>
      </c:barChart>
      <c:barChart>
        <c:barDir val="col"/>
        <c:grouping val="clustered"/>
        <c:varyColors val="0"/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296630255"/>
        <c:axId val="1296632655"/>
        <c:extLst>
          <c:ext xmlns:c15="http://schemas.microsoft.com/office/drawing/2012/chart" uri="{02D57815-91ED-43cb-92C2-25804820EDAC}">
            <c15:filteredBarSeries>
              <c15:ser>
                <c:idx val="3"/>
                <c:order val="3"/>
                <c:tx>
                  <c:strRef>
                    <c:extLst>
                      <c:ext uri="{02D57815-91ED-43cb-92C2-25804820EDAC}">
                        <c15:formulaRef>
                          <c15:sqref>'Vẽ-Phương'!$A$6</c15:sqref>
                        </c15:formulaRef>
                      </c:ext>
                    </c:extLst>
                    <c:strCache>
                      <c:ptCount val="1"/>
                      <c:pt idx="0">
                        <c:v>Dự báo</c:v>
                      </c:pt>
                    </c:strCache>
                  </c:strRef>
                </c:tx>
                <c:spPr>
                  <a:solidFill>
                    <a:srgbClr val="CAF6DF"/>
                  </a:solidFill>
                  <a:ln>
                    <a:noFill/>
                  </a:ln>
                  <a:effectLst/>
                </c:spPr>
                <c:invertIfNegative val="0"/>
                <c:val>
                  <c:numRef>
                    <c:extLst>
                      <c:ext uri="{02D57815-91ED-43cb-92C2-25804820EDAC}">
                        <c15:formulaRef>
                          <c15:sqref>'Vẽ-Phương'!$B$6:$M$6</c15:sqref>
                        </c15:formulaRef>
                      </c:ext>
                    </c:extLst>
                    <c:numCache>
                      <c:formatCode>General</c:formatCode>
                      <c:ptCount val="12"/>
                    </c:numCache>
                  </c:numRef>
                </c:val>
                <c:extLst>
                  <c:ext xmlns:c16="http://schemas.microsoft.com/office/drawing/2014/chart" uri="{C3380CC4-5D6E-409C-BE32-E72D297353CC}">
                    <c16:uniqueId val="{0000000E-4565-4E12-8476-9225D9072204}"/>
                  </c:ext>
                </c:extLst>
              </c15:ser>
            </c15:filteredBarSeries>
          </c:ext>
        </c:extLst>
      </c:barChart>
      <c:lineChart>
        <c:grouping val="standard"/>
        <c:varyColors val="0"/>
        <c:ser>
          <c:idx val="2"/>
          <c:order val="2"/>
          <c:tx>
            <c:strRef>
              <c:f>'Vẽ-Phương'!$A$7</c:f>
              <c:strCache>
                <c:ptCount val="1"/>
                <c:pt idx="0">
                  <c:v>Chỉ tiêu</c:v>
                </c:pt>
              </c:strCache>
            </c:strRef>
          </c:tx>
          <c:spPr>
            <a:ln w="25400" cap="rnd">
              <a:solidFill>
                <a:srgbClr val="FF0000"/>
              </a:solidFill>
              <a:round/>
            </a:ln>
            <a:effectLst/>
          </c:spPr>
          <c:marker>
            <c:symbol val="none"/>
          </c:marker>
          <c:dLbls>
            <c:spPr>
              <a:solidFill>
                <a:sysClr val="window" lastClr="FFFFFF"/>
              </a:solidFill>
              <a:ln w="19050" cap="flat" cmpd="sng" algn="ctr">
                <a:solidFill>
                  <a:srgbClr val="FF0000"/>
                </a:solidFill>
                <a:prstDash val="solid"/>
                <a:miter lim="800000"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700" b="0" i="0" u="none" strike="noStrike" kern="1200" baseline="0">
                    <a:solidFill>
                      <a:sysClr val="windowText" lastClr="000000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'Vẽ-Phương'!$B$3:$M$3</c:f>
              <c:numCache>
                <c:formatCode>General</c:formatCod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numCache>
            </c:numRef>
          </c:cat>
          <c:val>
            <c:numRef>
              <c:f>'Vẽ-Phương'!$B$7:$M$7</c:f>
              <c:numCache>
                <c:formatCode>_(* #,##0.0,,,_);_(* \(#,##0.0,,,\);_(* "-"??_);_(@_)</c:formatCode>
                <c:ptCount val="12"/>
                <c:pt idx="0">
                  <c:v>1521095499.7650833</c:v>
                </c:pt>
                <c:pt idx="1">
                  <c:v>-1325103642.6497841</c:v>
                </c:pt>
                <c:pt idx="2">
                  <c:v>5063579812.0372381</c:v>
                </c:pt>
                <c:pt idx="3">
                  <c:v>2987787736.0557938</c:v>
                </c:pt>
                <c:pt idx="4">
                  <c:v>3130291883.7845182</c:v>
                </c:pt>
                <c:pt idx="5">
                  <c:v>2831772640.584938</c:v>
                </c:pt>
                <c:pt idx="6">
                  <c:v>7350302403.1835995</c:v>
                </c:pt>
                <c:pt idx="7">
                  <c:v>6722008020.0142317</c:v>
                </c:pt>
                <c:pt idx="8">
                  <c:v>6109248285.1741095</c:v>
                </c:pt>
                <c:pt idx="9">
                  <c:v>6665662779.7506676</c:v>
                </c:pt>
                <c:pt idx="10">
                  <c:v>7122677929.815712</c:v>
                </c:pt>
                <c:pt idx="11">
                  <c:v>5291449007.4755917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5E7F-465E-B3B0-F50084385C9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274894383"/>
        <c:axId val="1274880463"/>
      </c:lineChart>
      <c:catAx>
        <c:axId val="127489438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74880463"/>
        <c:crosses val="autoZero"/>
        <c:auto val="1"/>
        <c:lblAlgn val="ctr"/>
        <c:lblOffset val="100"/>
        <c:noMultiLvlLbl val="0"/>
      </c:catAx>
      <c:valAx>
        <c:axId val="1274880463"/>
        <c:scaling>
          <c:orientation val="minMax"/>
        </c:scaling>
        <c:delete val="0"/>
        <c:axPos val="l"/>
        <c:numFmt formatCode="_(* #,##0.0,,,_);_(* \(#,##0.0,,,\);_(* &quot;-&quot;??_);_(@_)" sourceLinked="1"/>
        <c:majorTickMark val="none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74894383"/>
        <c:crosses val="autoZero"/>
        <c:crossBetween val="between"/>
      </c:valAx>
      <c:valAx>
        <c:axId val="1296632655"/>
        <c:scaling>
          <c:orientation val="minMax"/>
        </c:scaling>
        <c:delete val="0"/>
        <c:axPos val="r"/>
        <c:numFmt formatCode="_(* #,##0_);_(* \(#,##0\);;_(@_)" sourceLinked="1"/>
        <c:majorTickMark val="out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96630255"/>
        <c:crosses val="max"/>
        <c:crossBetween val="between"/>
      </c:valAx>
      <c:catAx>
        <c:axId val="1296630255"/>
        <c:scaling>
          <c:orientation val="minMax"/>
        </c:scaling>
        <c:delete val="1"/>
        <c:axPos val="b"/>
        <c:majorTickMark val="out"/>
        <c:minorTickMark val="none"/>
        <c:tickLblPos val="nextTo"/>
        <c:crossAx val="1296632655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1.0404410162548235E-3"/>
          <c:y val="2.7729406420351245E-2"/>
          <c:w val="0.40573673997569276"/>
          <c:h val="0.1042132586395266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8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1.44959641299032E-4"/>
          <c:y val="0.19893458670323144"/>
          <c:w val="0.99971008071740197"/>
          <c:h val="0.68054937238975821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'Vẽ-Phương'!$A$4</c:f>
              <c:strCache>
                <c:ptCount val="1"/>
                <c:pt idx="0">
                  <c:v>2025</c:v>
                </c:pt>
              </c:strCache>
            </c:strRef>
          </c:tx>
          <c:spPr>
            <a:solidFill>
              <a:srgbClr val="E2E7EE"/>
            </a:solidFill>
            <a:ln>
              <a:noFill/>
            </a:ln>
            <a:effectLst/>
          </c:spPr>
          <c:invertIfNegative val="0"/>
          <c:dLbls>
            <c:dLbl>
              <c:idx val="10"/>
              <c:layout>
                <c:manualLayout>
                  <c:x val="-1.9216987938389569E-2"/>
                  <c:y val="-6.6516315352279864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1-F45D-488D-B99D-6C605235C9DE}"/>
                </c:ext>
              </c:extLst>
            </c:dLbl>
            <c:dLbl>
              <c:idx val="11"/>
              <c:layout>
                <c:manualLayout>
                  <c:x val="-9.6084939691948555E-3"/>
                  <c:y val="-9.3122841493191763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F-F45D-488D-B99D-6C605235C9DE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chemeClr val="bg1">
                        <a:lumMod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'Vẽ-Phương'!$B$3:$M$3</c:f>
              <c:numCache>
                <c:formatCode>General</c:formatCod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numCache>
            </c:numRef>
          </c:cat>
          <c:val>
            <c:numRef>
              <c:f>'Vẽ-Phương'!$B$4:$M$4</c:f>
              <c:numCache>
                <c:formatCode>_(* #,##0.0,,,_);_(* \(#,##0.0,,,\);_(* "-"??_);_(@_)</c:formatCode>
                <c:ptCount val="12"/>
                <c:pt idx="0">
                  <c:v>4897080552</c:v>
                </c:pt>
                <c:pt idx="1">
                  <c:v>22297877281</c:v>
                </c:pt>
                <c:pt idx="2">
                  <c:v>29396126340</c:v>
                </c:pt>
                <c:pt idx="3">
                  <c:v>33147109825</c:v>
                </c:pt>
                <c:pt idx="4">
                  <c:v>42677314129</c:v>
                </c:pt>
                <c:pt idx="5">
                  <c:v>43749814886</c:v>
                </c:pt>
                <c:pt idx="6">
                  <c:v>44789332743</c:v>
                </c:pt>
                <c:pt idx="7">
                  <c:v>44882552474</c:v>
                </c:pt>
                <c:pt idx="8">
                  <c:v>34680397823</c:v>
                </c:pt>
                <c:pt idx="9">
                  <c:v>29995739773</c:v>
                </c:pt>
                <c:pt idx="10">
                  <c:v>23075241926</c:v>
                </c:pt>
                <c:pt idx="11">
                  <c:v>25736754934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9FC-49B1-9E2A-6F8ADAB87AD5}"/>
            </c:ext>
          </c:extLst>
        </c:ser>
        <c:ser>
          <c:idx val="1"/>
          <c:order val="1"/>
          <c:tx>
            <c:strRef>
              <c:f>'Vẽ-Phương'!$A$5</c:f>
              <c:strCache>
                <c:ptCount val="1"/>
                <c:pt idx="0">
                  <c:v>2026</c:v>
                </c:pt>
              </c:strCache>
            </c:strRef>
          </c:tx>
          <c:spPr>
            <a:solidFill>
              <a:srgbClr val="74E9AD"/>
            </a:solidFill>
            <a:ln>
              <a:noFill/>
            </a:ln>
            <a:effectLst/>
          </c:spPr>
          <c:invertIfNegative val="0"/>
          <c:dPt>
            <c:idx val="5"/>
            <c:invertIfNegative val="0"/>
            <c:bubble3D val="0"/>
            <c:spPr>
              <a:solidFill>
                <a:srgbClr val="74E9AD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0-F254-4B67-B167-FFF9E994D945}"/>
              </c:ext>
            </c:extLst>
          </c:dPt>
          <c:dPt>
            <c:idx val="6"/>
            <c:invertIfNegative val="0"/>
            <c:bubble3D val="0"/>
            <c:spPr>
              <a:solidFill>
                <a:srgbClr val="74E9AD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F254-4B67-B167-FFF9E994D945}"/>
              </c:ext>
            </c:extLst>
          </c:dPt>
          <c:dPt>
            <c:idx val="7"/>
            <c:invertIfNegative val="0"/>
            <c:bubble3D val="0"/>
            <c:spPr>
              <a:solidFill>
                <a:srgbClr val="74E9AD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2-F254-4B67-B167-FFF9E994D945}"/>
              </c:ext>
            </c:extLst>
          </c:dPt>
          <c:dPt>
            <c:idx val="8"/>
            <c:invertIfNegative val="0"/>
            <c:bubble3D val="0"/>
            <c:spPr>
              <a:solidFill>
                <a:srgbClr val="74E9AD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F254-4B67-B167-FFF9E994D945}"/>
              </c:ext>
            </c:extLst>
          </c:dPt>
          <c:dPt>
            <c:idx val="9"/>
            <c:invertIfNegative val="0"/>
            <c:bubble3D val="0"/>
            <c:spPr>
              <a:solidFill>
                <a:srgbClr val="74E9AD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F254-4B67-B167-FFF9E994D945}"/>
              </c:ext>
            </c:extLst>
          </c:dPt>
          <c:dPt>
            <c:idx val="10"/>
            <c:invertIfNegative val="0"/>
            <c:bubble3D val="0"/>
            <c:spPr>
              <a:solidFill>
                <a:srgbClr val="74E9AD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6-F254-4B67-B167-FFF9E994D945}"/>
              </c:ext>
            </c:extLst>
          </c:dPt>
          <c:dPt>
            <c:idx val="11"/>
            <c:invertIfNegative val="0"/>
            <c:bubble3D val="0"/>
            <c:spPr>
              <a:solidFill>
                <a:srgbClr val="CAF6DF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F254-4B67-B167-FFF9E994D945}"/>
              </c:ext>
            </c:extLst>
          </c:dPt>
          <c:dLbls>
            <c:dLbl>
              <c:idx val="1"/>
              <c:layout>
                <c:manualLayout>
                  <c:x val="1.9216987938389253E-3"/>
                  <c:y val="-3.325815767613991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E-F45D-488D-B99D-6C605235C9DE}"/>
                </c:ext>
              </c:extLst>
            </c:dLbl>
            <c:dLbl>
              <c:idx val="2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rgbClr val="119303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E-C5C4-46FB-8074-B097150E5CB7}"/>
                </c:ext>
              </c:extLst>
            </c:dLbl>
            <c:dLbl>
              <c:idx val="3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0">
                  <a:spAutoFit/>
                </a:bodyPr>
                <a:lstStyle/>
                <a:p>
                  <a:pPr algn="ctr" rtl="0">
                    <a:defRPr lang="en-US" sz="800" b="0" i="0" u="none" strike="noStrike" kern="1200" baseline="0">
                      <a:solidFill>
                        <a:srgbClr val="119303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0-0A93-48C0-B60B-494698818C8D}"/>
                </c:ext>
              </c:extLst>
            </c:dLbl>
            <c:dLbl>
              <c:idx val="4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0">
                  <a:spAutoFit/>
                </a:bodyPr>
                <a:lstStyle/>
                <a:p>
                  <a:pPr algn="ctr" rtl="0">
                    <a:defRPr lang="en-US" sz="800" b="0" i="0" u="none" strike="noStrike" kern="1200" baseline="0">
                      <a:solidFill>
                        <a:srgbClr val="119303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0-A47A-4EED-AEE9-4740BF362757}"/>
                </c:ext>
              </c:extLst>
            </c:dLbl>
            <c:dLbl>
              <c:idx val="6"/>
              <c:layout>
                <c:manualLayout>
                  <c:x val="1.9216987938389428E-3"/>
                  <c:y val="-1.330326307045596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F254-4B67-B167-FFF9E994D945}"/>
                </c:ext>
              </c:extLst>
            </c:dLbl>
            <c:dLbl>
              <c:idx val="7"/>
              <c:layout>
                <c:manualLayout>
                  <c:x val="-7.0461475130454491E-17"/>
                  <c:y val="-1.995489460568395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F254-4B67-B167-FFF9E994D945}"/>
                </c:ext>
              </c:extLst>
            </c:dLbl>
            <c:dLbl>
              <c:idx val="8"/>
              <c:layout>
                <c:manualLayout>
                  <c:x val="-1.1530192763033657E-2"/>
                  <c:y val="-5.321305228182386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F254-4B67-B167-FFF9E994D945}"/>
                </c:ext>
              </c:extLst>
            </c:dLbl>
            <c:dLbl>
              <c:idx val="9"/>
              <c:layout>
                <c:manualLayout>
                  <c:x val="0"/>
                  <c:y val="5.3213052281823867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0">
                  <a:spAutoFit/>
                </a:bodyPr>
                <a:lstStyle/>
                <a:p>
                  <a:pPr algn="ctr" rtl="0">
                    <a:defRPr lang="en-US" sz="800" b="0" i="0" u="none" strike="noStrike" kern="1200" baseline="0">
                      <a:solidFill>
                        <a:srgbClr val="119303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F254-4B67-B167-FFF9E994D945}"/>
                </c:ext>
              </c:extLst>
            </c:dLbl>
            <c:dLbl>
              <c:idx val="10"/>
              <c:layout>
                <c:manualLayout>
                  <c:x val="-5.7650963815169699E-3"/>
                  <c:y val="4.6561420746595826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0">
                  <a:spAutoFit/>
                </a:bodyPr>
                <a:lstStyle/>
                <a:p>
                  <a:pPr algn="ctr" rtl="0">
                    <a:defRPr lang="en-US" sz="800" b="0" i="0" u="none" strike="noStrike" kern="1200" baseline="0">
                      <a:solidFill>
                        <a:srgbClr val="119303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F254-4B67-B167-FFF9E994D945}"/>
                </c:ext>
              </c:extLst>
            </c:dLbl>
            <c:dLbl>
              <c:idx val="11"/>
              <c:layout>
                <c:manualLayout>
                  <c:x val="-1.9216987938389428E-3"/>
                  <c:y val="2.6606526140911933E-2"/>
                </c:manualLayout>
              </c:layout>
              <c:spPr>
                <a:noFill/>
                <a:ln>
                  <a:solidFill>
                    <a:srgbClr val="CAF6DF"/>
                  </a:solidFill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rgbClr val="119303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F254-4B67-B167-FFF9E994D945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rgbClr val="119303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'Vẽ-Phương'!$B$3:$M$3</c:f>
              <c:numCache>
                <c:formatCode>General</c:formatCod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numCache>
            </c:numRef>
          </c:cat>
          <c:val>
            <c:numRef>
              <c:f>'Vẽ-Phương'!$B$5:$M$5</c:f>
              <c:numCache>
                <c:formatCode>_(* #,##0.0,,,_);_(* \(#,##0.0,,,\);_(* "-"??_);_(@_)</c:formatCode>
                <c:ptCount val="12"/>
                <c:pt idx="0">
                  <c:v>-1693460736</c:v>
                </c:pt>
                <c:pt idx="1">
                  <c:v>-8112674474</c:v>
                </c:pt>
                <c:pt idx="2">
                  <c:v>-14778081098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9FC-49B1-9E2A-6F8ADAB87AD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axId val="1274894383"/>
        <c:axId val="1274880463"/>
      </c:barChart>
      <c:barChart>
        <c:barDir val="col"/>
        <c:grouping val="clustered"/>
        <c:varyColors val="0"/>
        <c:ser>
          <c:idx val="3"/>
          <c:order val="3"/>
          <c:tx>
            <c:strRef>
              <c:f>'Vẽ-Phương'!$A$6</c:f>
              <c:strCache>
                <c:ptCount val="1"/>
                <c:pt idx="0">
                  <c:v>Dự báo</c:v>
                </c:pt>
              </c:strCache>
            </c:strRef>
          </c:tx>
          <c:spPr>
            <a:solidFill>
              <a:srgbClr val="CAF6DF"/>
            </a:solidFill>
            <a:ln>
              <a:noFill/>
            </a:ln>
            <a:effectLst/>
          </c:spPr>
          <c:invertIfNegative val="0"/>
          <c:val>
            <c:numRef>
              <c:f>'Vẽ-Phương'!$B$6:$M$6</c:f>
              <c:numCache>
                <c:formatCode>General</c:formatCode>
                <c:ptCount val="12"/>
              </c:numCache>
            </c:numRef>
          </c:val>
          <c:extLst>
            <c:ext xmlns:c16="http://schemas.microsoft.com/office/drawing/2014/chart" uri="{C3380CC4-5D6E-409C-BE32-E72D297353CC}">
              <c16:uniqueId val="{0000000E-24B5-4158-90DB-B7140E262F0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546951599"/>
        <c:axId val="1546951119"/>
      </c:barChart>
      <c:lineChart>
        <c:grouping val="standard"/>
        <c:varyColors val="0"/>
        <c:ser>
          <c:idx val="2"/>
          <c:order val="2"/>
          <c:tx>
            <c:strRef>
              <c:f>'Vẽ-Phương'!$A$7</c:f>
              <c:strCache>
                <c:ptCount val="1"/>
                <c:pt idx="0">
                  <c:v>Chỉ tiêu</c:v>
                </c:pt>
              </c:strCache>
            </c:strRef>
          </c:tx>
          <c:spPr>
            <a:ln w="25400" cap="rnd">
              <a:solidFill>
                <a:srgbClr val="FF0000"/>
              </a:solidFill>
              <a:round/>
            </a:ln>
            <a:effectLst/>
          </c:spPr>
          <c:marker>
            <c:symbol val="none"/>
          </c:marker>
          <c:dLbls>
            <c:dLbl>
              <c:idx val="11"/>
              <c:spPr>
                <a:solidFill>
                  <a:sysClr val="window" lastClr="FFFFFF"/>
                </a:solidFill>
                <a:ln w="19050" cap="flat" cmpd="sng" algn="ctr">
                  <a:solidFill>
                    <a:srgbClr val="FF0000"/>
                  </a:solidFill>
                  <a:prstDash val="solid"/>
                  <a:miter lim="800000"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1" i="0" u="none" strike="noStrike" kern="1200" baseline="0">
                      <a:solidFill>
                        <a:srgbClr val="FF0000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10-F45D-488D-B99D-6C605235C9DE}"/>
                </c:ext>
              </c:extLst>
            </c:dLbl>
            <c:spPr>
              <a:solidFill>
                <a:sysClr val="window" lastClr="FFFFFF"/>
              </a:solidFill>
              <a:ln w="19050" cap="flat" cmpd="sng" algn="ctr">
                <a:solidFill>
                  <a:srgbClr val="FF0000"/>
                </a:solidFill>
                <a:prstDash val="solid"/>
                <a:miter lim="800000"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700" b="0" i="0" u="none" strike="noStrike" kern="1200" baseline="0">
                    <a:solidFill>
                      <a:sysClr val="windowText" lastClr="000000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'Vẽ-Phương'!$B$3:$M$3</c:f>
              <c:numCache>
                <c:formatCode>General</c:formatCod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numCache>
            </c:numRef>
          </c:cat>
          <c:val>
            <c:numRef>
              <c:f>'Vẽ-Phương'!$B$7:$M$7</c:f>
              <c:numCache>
                <c:formatCode>_(* #,##0.0,,,_);_(* \(#,##0.0,,,\);_(* "-"??_);_(@_)</c:formatCode>
                <c:ptCount val="12"/>
                <c:pt idx="0">
                  <c:v>1521095499.7650833</c:v>
                </c:pt>
                <c:pt idx="1">
                  <c:v>195991857.11529922</c:v>
                </c:pt>
                <c:pt idx="2">
                  <c:v>5259571669.1525373</c:v>
                </c:pt>
                <c:pt idx="3">
                  <c:v>8247359405.2083311</c:v>
                </c:pt>
                <c:pt idx="4">
                  <c:v>11377651288.992849</c:v>
                </c:pt>
                <c:pt idx="5">
                  <c:v>14209423929.577787</c:v>
                </c:pt>
                <c:pt idx="6">
                  <c:v>21559726332.761387</c:v>
                </c:pt>
                <c:pt idx="7">
                  <c:v>28281734352.77562</c:v>
                </c:pt>
                <c:pt idx="8">
                  <c:v>34390982637.94973</c:v>
                </c:pt>
                <c:pt idx="9">
                  <c:v>41056645417.700394</c:v>
                </c:pt>
                <c:pt idx="10">
                  <c:v>48179323347.516106</c:v>
                </c:pt>
                <c:pt idx="11">
                  <c:v>53470772354.991699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E9FC-49B1-9E2A-6F8ADAB87AD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274894383"/>
        <c:axId val="1274880463"/>
      </c:lineChart>
      <c:catAx>
        <c:axId val="127489438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74880463"/>
        <c:crosses val="autoZero"/>
        <c:auto val="1"/>
        <c:lblAlgn val="ctr"/>
        <c:lblOffset val="100"/>
        <c:noMultiLvlLbl val="0"/>
      </c:catAx>
      <c:valAx>
        <c:axId val="1274880463"/>
        <c:scaling>
          <c:orientation val="minMax"/>
        </c:scaling>
        <c:delete val="0"/>
        <c:axPos val="l"/>
        <c:numFmt formatCode="_(* #,##0.0,,,_);_(* \(#,##0.0,,,\);_(* &quot;-&quot;??_);_(@_)" sourceLinked="1"/>
        <c:majorTickMark val="none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74894383"/>
        <c:crosses val="autoZero"/>
        <c:crossBetween val="between"/>
      </c:valAx>
      <c:valAx>
        <c:axId val="1546951119"/>
        <c:scaling>
          <c:orientation val="minMax"/>
        </c:scaling>
        <c:delete val="0"/>
        <c:axPos val="r"/>
        <c:numFmt formatCode="General" sourceLinked="1"/>
        <c:majorTickMark val="out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46951599"/>
        <c:crosses val="max"/>
        <c:crossBetween val="between"/>
      </c:valAx>
      <c:catAx>
        <c:axId val="1546951599"/>
        <c:scaling>
          <c:orientation val="minMax"/>
        </c:scaling>
        <c:delete val="1"/>
        <c:axPos val="b"/>
        <c:majorTickMark val="out"/>
        <c:minorTickMark val="none"/>
        <c:tickLblPos val="nextTo"/>
        <c:crossAx val="1546951119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1.0404410162548235E-3"/>
          <c:y val="2.7729406420351245E-2"/>
          <c:w val="0.40573673997569276"/>
          <c:h val="0.1042132586395266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8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1.9361937535368107E-2"/>
          <c:y val="0.18563132363277546"/>
          <c:w val="0.96127612492926384"/>
          <c:h val="0.6738977408545302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'Vẽ-Phương'!$A$4</c:f>
              <c:strCache>
                <c:ptCount val="1"/>
                <c:pt idx="0">
                  <c:v>2025</c:v>
                </c:pt>
              </c:strCache>
            </c:strRef>
          </c:tx>
          <c:spPr>
            <a:solidFill>
              <a:srgbClr val="E2E7EE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-5.7650963815168285E-3"/>
                  <c:y val="0.11307773609887571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3312-499F-AD5E-049707D264C7}"/>
                </c:ext>
              </c:extLst>
            </c:dLbl>
            <c:dLbl>
              <c:idx val="3"/>
              <c:layout>
                <c:manualLayout>
                  <c:x val="-5.7650963815168285E-3"/>
                  <c:y val="-3.325815767613991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3312-499F-AD5E-049707D264C7}"/>
                </c:ext>
              </c:extLst>
            </c:dLbl>
            <c:dLbl>
              <c:idx val="5"/>
              <c:layout>
                <c:manualLayout>
                  <c:x val="-1.9216987938390133E-3"/>
                  <c:y val="5.321305228182386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F-5824-47B1-BB6A-6725878C706C}"/>
                </c:ext>
              </c:extLst>
            </c:dLbl>
            <c:dLbl>
              <c:idx val="6"/>
              <c:layout>
                <c:manualLayout>
                  <c:x val="-5.7650963815168987E-3"/>
                  <c:y val="-5.321305228182386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E-5824-47B1-BB6A-6725878C706C}"/>
                </c:ext>
              </c:extLst>
            </c:dLbl>
            <c:dLbl>
              <c:idx val="7"/>
              <c:layout>
                <c:manualLayout>
                  <c:x val="0"/>
                  <c:y val="1.330326307045596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3312-499F-AD5E-049707D264C7}"/>
                </c:ext>
              </c:extLst>
            </c:dLbl>
            <c:dLbl>
              <c:idx val="9"/>
              <c:layout>
                <c:manualLayout>
                  <c:x val="-1.9216987938390838E-3"/>
                  <c:y val="2.6606526140911933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E-C057-42EB-BE4F-B551D3AA027D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chemeClr val="bg1">
                        <a:lumMod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'Vẽ-Phương'!$B$3:$M$3</c:f>
              <c:numCache>
                <c:formatCode>General</c:formatCod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numCache>
            </c:numRef>
          </c:cat>
          <c:val>
            <c:numRef>
              <c:f>'Vẽ-Phương'!$B$4:$M$4</c:f>
              <c:numCache>
                <c:formatCode>_(* #,##0,,,_);_(* \(#,##0,,,\);_(* "-"??_);_(@_)</c:formatCode>
                <c:ptCount val="12"/>
                <c:pt idx="0">
                  <c:v>114462510402</c:v>
                </c:pt>
                <c:pt idx="1">
                  <c:v>187999461059</c:v>
                </c:pt>
                <c:pt idx="2">
                  <c:v>150253332680</c:v>
                </c:pt>
                <c:pt idx="3">
                  <c:v>125429649855</c:v>
                </c:pt>
                <c:pt idx="4">
                  <c:v>152067142852</c:v>
                </c:pt>
                <c:pt idx="5">
                  <c:v>119134672797</c:v>
                </c:pt>
                <c:pt idx="6">
                  <c:v>137991406898</c:v>
                </c:pt>
                <c:pt idx="7">
                  <c:v>168442653383</c:v>
                </c:pt>
                <c:pt idx="8">
                  <c:v>84710435067</c:v>
                </c:pt>
                <c:pt idx="9">
                  <c:v>108928556660</c:v>
                </c:pt>
                <c:pt idx="10">
                  <c:v>88347880802</c:v>
                </c:pt>
                <c:pt idx="11">
                  <c:v>99758121581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E7F-465E-B3B0-F50084385C9C}"/>
            </c:ext>
          </c:extLst>
        </c:ser>
        <c:ser>
          <c:idx val="1"/>
          <c:order val="1"/>
          <c:tx>
            <c:strRef>
              <c:f>'Vẽ-Phương'!$A$5</c:f>
              <c:strCache>
                <c:ptCount val="1"/>
                <c:pt idx="0">
                  <c:v>2026</c:v>
                </c:pt>
              </c:strCache>
            </c:strRef>
          </c:tx>
          <c:spPr>
            <a:solidFill>
              <a:srgbClr val="74E9AD"/>
            </a:solidFill>
            <a:ln>
              <a:noFill/>
            </a:ln>
            <a:effectLst/>
          </c:spPr>
          <c:invertIfNegative val="0"/>
          <c:dPt>
            <c:idx val="3"/>
            <c:invertIfNegative val="0"/>
            <c:bubble3D val="0"/>
            <c:spPr>
              <a:solidFill>
                <a:srgbClr val="5B9BD5">
                  <a:lumMod val="60000"/>
                  <a:lumOff val="4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63A8-4656-84F3-1B87E60153DB}"/>
              </c:ext>
            </c:extLst>
          </c:dPt>
          <c:dPt>
            <c:idx val="4"/>
            <c:invertIfNegative val="0"/>
            <c:bubble3D val="0"/>
            <c:spPr>
              <a:solidFill>
                <a:srgbClr val="5B9BD5">
                  <a:lumMod val="60000"/>
                  <a:lumOff val="4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0-3312-499F-AD5E-049707D264C7}"/>
              </c:ext>
            </c:extLst>
          </c:dPt>
          <c:dPt>
            <c:idx val="5"/>
            <c:invertIfNegative val="0"/>
            <c:bubble3D val="0"/>
            <c:spPr>
              <a:solidFill>
                <a:srgbClr val="5B9BD5">
                  <a:lumMod val="60000"/>
                  <a:lumOff val="4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5E0B-47D6-BAFD-C9F83DD2DA56}"/>
              </c:ext>
            </c:extLst>
          </c:dPt>
          <c:dPt>
            <c:idx val="6"/>
            <c:invertIfNegative val="0"/>
            <c:bubble3D val="0"/>
            <c:spPr>
              <a:solidFill>
                <a:srgbClr val="74E9AD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5E0B-47D6-BAFD-C9F83DD2DA56}"/>
              </c:ext>
            </c:extLst>
          </c:dPt>
          <c:dPt>
            <c:idx val="7"/>
            <c:invertIfNegative val="0"/>
            <c:bubble3D val="0"/>
            <c:spPr>
              <a:solidFill>
                <a:srgbClr val="74E9AD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5E0B-47D6-BAFD-C9F83DD2DA56}"/>
              </c:ext>
            </c:extLst>
          </c:dPt>
          <c:dPt>
            <c:idx val="8"/>
            <c:invertIfNegative val="0"/>
            <c:bubble3D val="0"/>
            <c:spPr>
              <a:solidFill>
                <a:srgbClr val="74E9AD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6-5E0B-47D6-BAFD-C9F83DD2DA56}"/>
              </c:ext>
            </c:extLst>
          </c:dPt>
          <c:dPt>
            <c:idx val="9"/>
            <c:invertIfNegative val="0"/>
            <c:bubble3D val="0"/>
            <c:spPr>
              <a:solidFill>
                <a:srgbClr val="74E9AD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5E0B-47D6-BAFD-C9F83DD2DA56}"/>
              </c:ext>
            </c:extLst>
          </c:dPt>
          <c:dPt>
            <c:idx val="10"/>
            <c:invertIfNegative val="0"/>
            <c:bubble3D val="0"/>
            <c:spPr>
              <a:solidFill>
                <a:srgbClr val="74E9AD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8-5E0B-47D6-BAFD-C9F83DD2DA56}"/>
              </c:ext>
            </c:extLst>
          </c:dPt>
          <c:dPt>
            <c:idx val="11"/>
            <c:invertIfNegative val="0"/>
            <c:bubble3D val="0"/>
            <c:spPr>
              <a:solidFill>
                <a:srgbClr val="CAF6DF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5E0B-47D6-BAFD-C9F83DD2DA56}"/>
              </c:ext>
            </c:extLst>
          </c:dPt>
          <c:dLbls>
            <c:dLbl>
              <c:idx val="0"/>
              <c:layout>
                <c:manualLayout>
                  <c:x val="-8.8076843913068113E-18"/>
                  <c:y val="-1.995489460568395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E-4CE2-4E98-888D-9609E0A6AFBE}"/>
                </c:ext>
              </c:extLst>
            </c:dLbl>
            <c:dLbl>
              <c:idx val="1"/>
              <c:layout>
                <c:manualLayout>
                  <c:x val="0"/>
                  <c:y val="1.995489460568395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F-4CE2-4E98-888D-9609E0A6AFBE}"/>
                </c:ext>
              </c:extLst>
            </c:dLbl>
            <c:dLbl>
              <c:idx val="3"/>
              <c:layout>
                <c:manualLayout>
                  <c:x val="0"/>
                  <c:y val="2.6606526140911902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800" b="0" i="0" u="none" strike="noStrike" kern="1200" baseline="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63A8-4656-84F3-1B87E60153DB}"/>
                </c:ext>
              </c:extLst>
            </c:dLbl>
            <c:dLbl>
              <c:idx val="4"/>
              <c:layout>
                <c:manualLayout>
                  <c:x val="0"/>
                  <c:y val="0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800" b="0" i="0" u="none" strike="noStrike" kern="1200" baseline="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3312-499F-AD5E-049707D264C7}"/>
                </c:ext>
              </c:extLst>
            </c:dLbl>
            <c:dLbl>
              <c:idx val="5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800" b="0" i="0" u="none" strike="noStrike" kern="1200" baseline="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4-5E0B-47D6-BAFD-C9F83DD2DA56}"/>
                </c:ext>
              </c:extLst>
            </c:dLbl>
            <c:dLbl>
              <c:idx val="6"/>
              <c:layout>
                <c:manualLayout>
                  <c:x val="0"/>
                  <c:y val="1.995489460568382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5E0B-47D6-BAFD-C9F83DD2DA56}"/>
                </c:ext>
              </c:extLst>
            </c:dLbl>
            <c:dLbl>
              <c:idx val="7"/>
              <c:layout>
                <c:manualLayout>
                  <c:x val="1.7295289144550415E-2"/>
                  <c:y val="6.6516315352280137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5E0B-47D6-BAFD-C9F83DD2DA56}"/>
                </c:ext>
              </c:extLst>
            </c:dLbl>
            <c:dLbl>
              <c:idx val="8"/>
              <c:layout>
                <c:manualLayout>
                  <c:x val="5.7650963815168285E-3"/>
                  <c:y val="1.330326307045596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5E0B-47D6-BAFD-C9F83DD2DA56}"/>
                </c:ext>
              </c:extLst>
            </c:dLbl>
            <c:dLbl>
              <c:idx val="10"/>
              <c:layout>
                <c:manualLayout>
                  <c:x val="1.9216987938389428E-3"/>
                  <c:y val="1.4818473309149965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5E0B-47D6-BAFD-C9F83DD2DA56}"/>
                </c:ext>
              </c:extLst>
            </c:dLbl>
            <c:dLbl>
              <c:idx val="11"/>
              <c:layout>
                <c:manualLayout>
                  <c:x val="-1.9216987938389428E-3"/>
                  <c:y val="0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800" b="1" i="0" u="none" strike="noStrike" kern="1200" baseline="0">
                      <a:solidFill>
                        <a:srgbClr val="119303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5E0B-47D6-BAFD-C9F83DD2DA56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rgbClr val="119303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'Vẽ-Phương'!$B$3:$M$3</c:f>
              <c:numCache>
                <c:formatCode>General</c:formatCod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numCache>
            </c:numRef>
          </c:cat>
          <c:val>
            <c:numRef>
              <c:f>'Vẽ-Phương'!$B$5:$M$5</c:f>
              <c:numCache>
                <c:formatCode>_(* #,##0,,,_);_(* \(#,##0,,,\);_(* "-"??_);_(@_)</c:formatCode>
                <c:ptCount val="12"/>
                <c:pt idx="0">
                  <c:v>126099036923</c:v>
                </c:pt>
                <c:pt idx="1">
                  <c:v>96566805360</c:v>
                </c:pt>
                <c:pt idx="2">
                  <c:v>173305822529.00003</c:v>
                </c:pt>
                <c:pt idx="3">
                  <c:v>177292554723.28909</c:v>
                </c:pt>
                <c:pt idx="4">
                  <c:v>167358761471.27518</c:v>
                </c:pt>
                <c:pt idx="5">
                  <c:v>157578003735.3732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E7F-465E-B3B0-F50084385C9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axId val="1274894383"/>
        <c:axId val="1274880463"/>
      </c:barChart>
      <c:barChart>
        <c:barDir val="col"/>
        <c:grouping val="clustered"/>
        <c:varyColors val="0"/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296630255"/>
        <c:axId val="1296632655"/>
        <c:extLst>
          <c:ext xmlns:c15="http://schemas.microsoft.com/office/drawing/2012/chart" uri="{02D57815-91ED-43cb-92C2-25804820EDAC}">
            <c15:filteredBarSeries>
              <c15:ser>
                <c:idx val="3"/>
                <c:order val="3"/>
                <c:tx>
                  <c:strRef>
                    <c:extLst>
                      <c:ext uri="{02D57815-91ED-43cb-92C2-25804820EDAC}">
                        <c15:formulaRef>
                          <c15:sqref>'Vẽ-Phương'!$A$6</c15:sqref>
                        </c15:formulaRef>
                      </c:ext>
                    </c:extLst>
                    <c:strCache>
                      <c:ptCount val="1"/>
                      <c:pt idx="0">
                        <c:v>Dự báo</c:v>
                      </c:pt>
                    </c:strCache>
                  </c:strRef>
                </c:tx>
                <c:spPr>
                  <a:solidFill>
                    <a:srgbClr val="CAF6DF"/>
                  </a:solidFill>
                  <a:ln>
                    <a:noFill/>
                  </a:ln>
                  <a:effectLst/>
                </c:spPr>
                <c:invertIfNegative val="0"/>
                <c:val>
                  <c:numRef>
                    <c:extLst>
                      <c:ext uri="{02D57815-91ED-43cb-92C2-25804820EDAC}">
                        <c15:formulaRef>
                          <c15:sqref>'Vẽ-Phương'!$B$6:$M$6</c15:sqref>
                        </c15:formulaRef>
                      </c:ext>
                    </c:extLst>
                    <c:numCache>
                      <c:formatCode>_(* #,##0,,,_);_(* \(#,##0,,,\);_(* "-"??_);_(@_)</c:formatCode>
                      <c:ptCount val="12"/>
                    </c:numCache>
                  </c:numRef>
                </c:val>
                <c:extLst>
                  <c:ext xmlns:c16="http://schemas.microsoft.com/office/drawing/2014/chart" uri="{C3380CC4-5D6E-409C-BE32-E72D297353CC}">
                    <c16:uniqueId val="{0000000E-4565-4E12-8476-9225D9072204}"/>
                  </c:ext>
                </c:extLst>
              </c15:ser>
            </c15:filteredBarSeries>
          </c:ext>
        </c:extLst>
      </c:barChart>
      <c:lineChart>
        <c:grouping val="standard"/>
        <c:varyColors val="0"/>
        <c:ser>
          <c:idx val="2"/>
          <c:order val="2"/>
          <c:tx>
            <c:strRef>
              <c:f>'Vẽ-Phương'!$A$7</c:f>
              <c:strCache>
                <c:ptCount val="1"/>
                <c:pt idx="0">
                  <c:v>Chỉ tiêu</c:v>
                </c:pt>
              </c:strCache>
            </c:strRef>
          </c:tx>
          <c:spPr>
            <a:ln w="25400" cap="rnd">
              <a:solidFill>
                <a:srgbClr val="FF0000"/>
              </a:solidFill>
              <a:round/>
            </a:ln>
            <a:effectLst/>
          </c:spPr>
          <c:marker>
            <c:symbol val="none"/>
          </c:marker>
          <c:dLbls>
            <c:spPr>
              <a:solidFill>
                <a:sysClr val="window" lastClr="FFFFFF"/>
              </a:solidFill>
              <a:ln w="19050" cap="flat" cmpd="sng" algn="ctr">
                <a:solidFill>
                  <a:srgbClr val="FF0000"/>
                </a:solidFill>
                <a:prstDash val="solid"/>
                <a:miter lim="800000"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700" b="0" i="0" u="none" strike="noStrike" kern="1200" baseline="0">
                    <a:solidFill>
                      <a:sysClr val="windowText" lastClr="000000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'Vẽ-Phương'!$B$3:$M$3</c:f>
              <c:numCache>
                <c:formatCode>General</c:formatCod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numCache>
            </c:numRef>
          </c:cat>
          <c:val>
            <c:numRef>
              <c:f>'Vẽ-Phương'!$B$7:$M$7</c:f>
              <c:numCache>
                <c:formatCode>_(* #,##0,,,_);_(* \(#,##0,,,\);_(* "-"??_);_(@_)</c:formatCode>
                <c:ptCount val="12"/>
                <c:pt idx="0">
                  <c:v>129505341136.8568</c:v>
                </c:pt>
                <c:pt idx="1">
                  <c:v>127974441177.86678</c:v>
                </c:pt>
                <c:pt idx="2">
                  <c:v>141599491827.82724</c:v>
                </c:pt>
                <c:pt idx="3">
                  <c:v>131782266518.60179</c:v>
                </c:pt>
                <c:pt idx="4">
                  <c:v>140244307484.73703</c:v>
                </c:pt>
                <c:pt idx="5">
                  <c:v>141409300219.24362</c:v>
                </c:pt>
                <c:pt idx="6">
                  <c:v>145404057387.95999</c:v>
                </c:pt>
                <c:pt idx="7">
                  <c:v>141276361518.14462</c:v>
                </c:pt>
                <c:pt idx="8">
                  <c:v>148196499542.28259</c:v>
                </c:pt>
                <c:pt idx="9">
                  <c:v>137984481243.16364</c:v>
                </c:pt>
                <c:pt idx="10">
                  <c:v>145929060338.82693</c:v>
                </c:pt>
                <c:pt idx="11">
                  <c:v>147442013746.17145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5E7F-465E-B3B0-F50084385C9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274894383"/>
        <c:axId val="1274880463"/>
      </c:lineChart>
      <c:catAx>
        <c:axId val="127489438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74880463"/>
        <c:crosses val="autoZero"/>
        <c:auto val="1"/>
        <c:lblAlgn val="ctr"/>
        <c:lblOffset val="100"/>
        <c:noMultiLvlLbl val="0"/>
      </c:catAx>
      <c:valAx>
        <c:axId val="1274880463"/>
        <c:scaling>
          <c:orientation val="minMax"/>
        </c:scaling>
        <c:delete val="0"/>
        <c:axPos val="l"/>
        <c:numFmt formatCode="_(* #,##0,,,_);_(* \(#,##0,,,\);_(* &quot;-&quot;??_);_(@_)" sourceLinked="1"/>
        <c:majorTickMark val="none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74894383"/>
        <c:crosses val="autoZero"/>
        <c:crossBetween val="between"/>
      </c:valAx>
      <c:valAx>
        <c:axId val="1296632655"/>
        <c:scaling>
          <c:orientation val="minMax"/>
        </c:scaling>
        <c:delete val="0"/>
        <c:axPos val="r"/>
        <c:numFmt formatCode="_(* #,##0,,,_);_(* \(#,##0,,,\);_(* &quot;-&quot;??_);_(@_)" sourceLinked="1"/>
        <c:majorTickMark val="out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96630255"/>
        <c:crosses val="max"/>
        <c:crossBetween val="between"/>
      </c:valAx>
      <c:catAx>
        <c:axId val="1296630255"/>
        <c:scaling>
          <c:orientation val="minMax"/>
        </c:scaling>
        <c:delete val="1"/>
        <c:axPos val="b"/>
        <c:majorTickMark val="out"/>
        <c:minorTickMark val="none"/>
        <c:tickLblPos val="nextTo"/>
        <c:crossAx val="1296632655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1.0404410162548235E-3"/>
          <c:y val="2.7729406420351245E-2"/>
          <c:w val="0.40573673997569276"/>
          <c:h val="0.1042132586395266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8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1.44959641299032E-4"/>
          <c:y val="0.19893458670323144"/>
          <c:w val="0.99971008071740197"/>
          <c:h val="0.68054937238975821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'Vẽ-Phương'!$A$4</c:f>
              <c:strCache>
                <c:ptCount val="1"/>
                <c:pt idx="0">
                  <c:v>2025</c:v>
                </c:pt>
              </c:strCache>
            </c:strRef>
          </c:tx>
          <c:spPr>
            <a:solidFill>
              <a:srgbClr val="E2E7EE"/>
            </a:solidFill>
            <a:ln>
              <a:noFill/>
            </a:ln>
            <a:effectLst/>
          </c:spPr>
          <c:invertIfNegative val="0"/>
          <c:dLbls>
            <c:dLbl>
              <c:idx val="9"/>
              <c:layout>
                <c:manualLayout>
                  <c:x val="-3.8433975876778857E-3"/>
                  <c:y val="-5.3213052281823867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E-16F3-450D-91BD-DF8362A94D19}"/>
                </c:ext>
              </c:extLst>
            </c:dLbl>
            <c:dLbl>
              <c:idx val="10"/>
              <c:layout>
                <c:manualLayout>
                  <c:x val="-1.9216987938389569E-2"/>
                  <c:y val="-6.6516315352279864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1-F45D-488D-B99D-6C605235C9DE}"/>
                </c:ext>
              </c:extLst>
            </c:dLbl>
            <c:dLbl>
              <c:idx val="11"/>
              <c:layout>
                <c:manualLayout>
                  <c:x val="-9.6084939691948555E-3"/>
                  <c:y val="-9.3122841493191763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F-F45D-488D-B99D-6C605235C9DE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chemeClr val="bg1">
                        <a:lumMod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'Vẽ-Phương'!$B$3:$M$3</c:f>
              <c:numCache>
                <c:formatCode>General</c:formatCod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numCache>
            </c:numRef>
          </c:cat>
          <c:val>
            <c:numRef>
              <c:f>'Vẽ-Phương'!$B$4:$M$4</c:f>
              <c:numCache>
                <c:formatCode>_(* #,##0,,,_);_(* \(#,##0,,,\);_(* "-"??_);_(@_)</c:formatCode>
                <c:ptCount val="12"/>
                <c:pt idx="0">
                  <c:v>114462510402</c:v>
                </c:pt>
                <c:pt idx="1">
                  <c:v>302461971461</c:v>
                </c:pt>
                <c:pt idx="2">
                  <c:v>452715304141</c:v>
                </c:pt>
                <c:pt idx="3">
                  <c:v>578144953996</c:v>
                </c:pt>
                <c:pt idx="4">
                  <c:v>730212096848</c:v>
                </c:pt>
                <c:pt idx="5">
                  <c:v>849346769645</c:v>
                </c:pt>
                <c:pt idx="6">
                  <c:v>987338176543</c:v>
                </c:pt>
                <c:pt idx="7">
                  <c:v>1155780829926</c:v>
                </c:pt>
                <c:pt idx="8">
                  <c:v>1240491264993</c:v>
                </c:pt>
                <c:pt idx="9">
                  <c:v>1349419821653</c:v>
                </c:pt>
                <c:pt idx="10">
                  <c:v>1437767702455</c:v>
                </c:pt>
                <c:pt idx="11">
                  <c:v>1537525824036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9FC-49B1-9E2A-6F8ADAB87AD5}"/>
            </c:ext>
          </c:extLst>
        </c:ser>
        <c:ser>
          <c:idx val="1"/>
          <c:order val="1"/>
          <c:tx>
            <c:strRef>
              <c:f>'Vẽ-Phương'!$A$5</c:f>
              <c:strCache>
                <c:ptCount val="1"/>
                <c:pt idx="0">
                  <c:v>2026</c:v>
                </c:pt>
              </c:strCache>
            </c:strRef>
          </c:tx>
          <c:spPr>
            <a:solidFill>
              <a:srgbClr val="74E9AD"/>
            </a:solidFill>
            <a:ln>
              <a:noFill/>
            </a:ln>
            <a:effectLst/>
          </c:spPr>
          <c:invertIfNegative val="0"/>
          <c:dPt>
            <c:idx val="3"/>
            <c:invertIfNegative val="0"/>
            <c:bubble3D val="0"/>
            <c:spPr>
              <a:solidFill>
                <a:srgbClr val="5B9BD5">
                  <a:lumMod val="60000"/>
                  <a:lumOff val="4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0-0A93-48C0-B60B-494698818C8D}"/>
              </c:ext>
            </c:extLst>
          </c:dPt>
          <c:dPt>
            <c:idx val="4"/>
            <c:invertIfNegative val="0"/>
            <c:bubble3D val="0"/>
            <c:spPr>
              <a:solidFill>
                <a:srgbClr val="5B9BD5">
                  <a:lumMod val="60000"/>
                  <a:lumOff val="4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0-A47A-4EED-AEE9-4740BF362757}"/>
              </c:ext>
            </c:extLst>
          </c:dPt>
          <c:dPt>
            <c:idx val="5"/>
            <c:invertIfNegative val="0"/>
            <c:bubble3D val="0"/>
            <c:spPr>
              <a:solidFill>
                <a:srgbClr val="5B9BD5">
                  <a:lumMod val="60000"/>
                  <a:lumOff val="4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0-F254-4B67-B167-FFF9E994D945}"/>
              </c:ext>
            </c:extLst>
          </c:dPt>
          <c:dPt>
            <c:idx val="6"/>
            <c:invertIfNegative val="0"/>
            <c:bubble3D val="0"/>
            <c:spPr>
              <a:solidFill>
                <a:srgbClr val="74E9AD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F254-4B67-B167-FFF9E994D945}"/>
              </c:ext>
            </c:extLst>
          </c:dPt>
          <c:dPt>
            <c:idx val="7"/>
            <c:invertIfNegative val="0"/>
            <c:bubble3D val="0"/>
            <c:spPr>
              <a:solidFill>
                <a:srgbClr val="74E9AD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2-F254-4B67-B167-FFF9E994D945}"/>
              </c:ext>
            </c:extLst>
          </c:dPt>
          <c:dPt>
            <c:idx val="8"/>
            <c:invertIfNegative val="0"/>
            <c:bubble3D val="0"/>
            <c:spPr>
              <a:solidFill>
                <a:srgbClr val="74E9AD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F254-4B67-B167-FFF9E994D945}"/>
              </c:ext>
            </c:extLst>
          </c:dPt>
          <c:dPt>
            <c:idx val="9"/>
            <c:invertIfNegative val="0"/>
            <c:bubble3D val="0"/>
            <c:spPr>
              <a:solidFill>
                <a:srgbClr val="74E9AD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F254-4B67-B167-FFF9E994D945}"/>
              </c:ext>
            </c:extLst>
          </c:dPt>
          <c:dPt>
            <c:idx val="10"/>
            <c:invertIfNegative val="0"/>
            <c:bubble3D val="0"/>
            <c:spPr>
              <a:solidFill>
                <a:srgbClr val="74E9AD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6-F254-4B67-B167-FFF9E994D945}"/>
              </c:ext>
            </c:extLst>
          </c:dPt>
          <c:dPt>
            <c:idx val="11"/>
            <c:invertIfNegative val="0"/>
            <c:bubble3D val="0"/>
            <c:spPr>
              <a:solidFill>
                <a:srgbClr val="CAF6DF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F254-4B67-B167-FFF9E994D945}"/>
              </c:ext>
            </c:extLst>
          </c:dPt>
          <c:dLbls>
            <c:dLbl>
              <c:idx val="1"/>
              <c:layout>
                <c:manualLayout>
                  <c:x val="1.9216987938389253E-3"/>
                  <c:y val="-3.325815767613991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E-F45D-488D-B99D-6C605235C9DE}"/>
                </c:ext>
              </c:extLst>
            </c:dLbl>
            <c:dLbl>
              <c:idx val="2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rgbClr val="119303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E-C5C4-46FB-8074-B097150E5CB7}"/>
                </c:ext>
              </c:extLst>
            </c:dLbl>
            <c:dLbl>
              <c:idx val="3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0">
                  <a:spAutoFit/>
                </a:bodyPr>
                <a:lstStyle/>
                <a:p>
                  <a:pPr algn="ctr" rtl="0">
                    <a:defRPr lang="en-US" sz="800" b="0" i="0" u="none" strike="noStrike" kern="1200" baseline="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0-0A93-48C0-B60B-494698818C8D}"/>
                </c:ext>
              </c:extLst>
            </c:dLbl>
            <c:dLbl>
              <c:idx val="4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0">
                  <a:spAutoFit/>
                </a:bodyPr>
                <a:lstStyle/>
                <a:p>
                  <a:pPr algn="ctr" rtl="0">
                    <a:defRPr lang="en-US" sz="800" b="0" i="0" u="none" strike="noStrike" kern="1200" baseline="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0-A47A-4EED-AEE9-4740BF362757}"/>
                </c:ext>
              </c:extLst>
            </c:dLbl>
            <c:dLbl>
              <c:idx val="5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0-F254-4B67-B167-FFF9E994D945}"/>
                </c:ext>
              </c:extLst>
            </c:dLbl>
            <c:dLbl>
              <c:idx val="6"/>
              <c:layout>
                <c:manualLayout>
                  <c:x val="1.9216987938389428E-3"/>
                  <c:y val="-1.330326307045596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F254-4B67-B167-FFF9E994D945}"/>
                </c:ext>
              </c:extLst>
            </c:dLbl>
            <c:dLbl>
              <c:idx val="7"/>
              <c:layout>
                <c:manualLayout>
                  <c:x val="-7.0461475130454491E-17"/>
                  <c:y val="-1.995489460568395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F254-4B67-B167-FFF9E994D945}"/>
                </c:ext>
              </c:extLst>
            </c:dLbl>
            <c:dLbl>
              <c:idx val="8"/>
              <c:layout>
                <c:manualLayout>
                  <c:x val="-1.1530192763033657E-2"/>
                  <c:y val="-5.321305228182386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F254-4B67-B167-FFF9E994D945}"/>
                </c:ext>
              </c:extLst>
            </c:dLbl>
            <c:dLbl>
              <c:idx val="9"/>
              <c:layout>
                <c:manualLayout>
                  <c:x val="0"/>
                  <c:y val="5.3213052281823867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0">
                  <a:spAutoFit/>
                </a:bodyPr>
                <a:lstStyle/>
                <a:p>
                  <a:pPr algn="ctr" rtl="0">
                    <a:defRPr lang="en-US" sz="800" b="0" i="0" u="none" strike="noStrike" kern="1200" baseline="0">
                      <a:solidFill>
                        <a:srgbClr val="119303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F254-4B67-B167-FFF9E994D945}"/>
                </c:ext>
              </c:extLst>
            </c:dLbl>
            <c:dLbl>
              <c:idx val="10"/>
              <c:layout>
                <c:manualLayout>
                  <c:x val="-5.7650963815169699E-3"/>
                  <c:y val="4.6561420746595826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0">
                  <a:spAutoFit/>
                </a:bodyPr>
                <a:lstStyle/>
                <a:p>
                  <a:pPr algn="ctr" rtl="0">
                    <a:defRPr lang="en-US" sz="800" b="0" i="0" u="none" strike="noStrike" kern="1200" baseline="0">
                      <a:solidFill>
                        <a:srgbClr val="119303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F254-4B67-B167-FFF9E994D945}"/>
                </c:ext>
              </c:extLst>
            </c:dLbl>
            <c:dLbl>
              <c:idx val="11"/>
              <c:layout>
                <c:manualLayout>
                  <c:x val="-1.9216987938389428E-3"/>
                  <c:y val="2.6606526140911933E-2"/>
                </c:manualLayout>
              </c:layout>
              <c:spPr>
                <a:noFill/>
                <a:ln>
                  <a:solidFill>
                    <a:srgbClr val="CAF6DF"/>
                  </a:solidFill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rgbClr val="119303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F254-4B67-B167-FFF9E994D945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rgbClr val="119303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'Vẽ-Phương'!$B$3:$M$3</c:f>
              <c:numCache>
                <c:formatCode>General</c:formatCod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numCache>
            </c:numRef>
          </c:cat>
          <c:val>
            <c:numRef>
              <c:f>'Vẽ-Phương'!$B$5:$M$5</c:f>
              <c:numCache>
                <c:formatCode>_(* #,##0,,,_);_(* \(#,##0,,,\);_(* "-"??_);_(@_)</c:formatCode>
                <c:ptCount val="12"/>
                <c:pt idx="0">
                  <c:v>126099036923</c:v>
                </c:pt>
                <c:pt idx="1">
                  <c:v>222665842283</c:v>
                </c:pt>
                <c:pt idx="2">
                  <c:v>395971664812</c:v>
                </c:pt>
                <c:pt idx="3">
                  <c:v>573264219535.28906</c:v>
                </c:pt>
                <c:pt idx="4">
                  <c:v>740622981006.56421</c:v>
                </c:pt>
                <c:pt idx="5">
                  <c:v>898200984741.93738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9FC-49B1-9E2A-6F8ADAB87AD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axId val="1274894383"/>
        <c:axId val="1274880463"/>
      </c:barChart>
      <c:barChart>
        <c:barDir val="col"/>
        <c:grouping val="clustered"/>
        <c:varyColors val="0"/>
        <c:ser>
          <c:idx val="3"/>
          <c:order val="3"/>
          <c:tx>
            <c:strRef>
              <c:f>'Vẽ-Phương'!$A$6</c:f>
              <c:strCache>
                <c:ptCount val="1"/>
                <c:pt idx="0">
                  <c:v>Dự báo</c:v>
                </c:pt>
              </c:strCache>
            </c:strRef>
          </c:tx>
          <c:spPr>
            <a:solidFill>
              <a:srgbClr val="CAF6DF"/>
            </a:solidFill>
            <a:ln>
              <a:noFill/>
            </a:ln>
            <a:effectLst/>
          </c:spPr>
          <c:invertIfNegative val="0"/>
          <c:val>
            <c:numRef>
              <c:f>'Vẽ-Phương'!$B$6:$M$6</c:f>
              <c:numCache>
                <c:formatCode>_(* #,##0,,,_);_(* \(#,##0,,,\);_(* "-"??_);_(@_)</c:formatCode>
                <c:ptCount val="12"/>
              </c:numCache>
            </c:numRef>
          </c:val>
          <c:extLst>
            <c:ext xmlns:c16="http://schemas.microsoft.com/office/drawing/2014/chart" uri="{C3380CC4-5D6E-409C-BE32-E72D297353CC}">
              <c16:uniqueId val="{0000000E-24B5-4158-90DB-B7140E262F0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546951599"/>
        <c:axId val="1546951119"/>
      </c:barChart>
      <c:lineChart>
        <c:grouping val="standard"/>
        <c:varyColors val="0"/>
        <c:ser>
          <c:idx val="2"/>
          <c:order val="2"/>
          <c:tx>
            <c:strRef>
              <c:f>'Vẽ-Phương'!$A$7</c:f>
              <c:strCache>
                <c:ptCount val="1"/>
                <c:pt idx="0">
                  <c:v>Chỉ tiêu</c:v>
                </c:pt>
              </c:strCache>
            </c:strRef>
          </c:tx>
          <c:spPr>
            <a:ln w="25400" cap="rnd">
              <a:solidFill>
                <a:srgbClr val="FF0000"/>
              </a:solidFill>
              <a:round/>
            </a:ln>
            <a:effectLst/>
          </c:spPr>
          <c:marker>
            <c:symbol val="none"/>
          </c:marker>
          <c:dLbls>
            <c:dLbl>
              <c:idx val="11"/>
              <c:spPr>
                <a:solidFill>
                  <a:sysClr val="window" lastClr="FFFFFF"/>
                </a:solidFill>
                <a:ln w="19050" cap="flat" cmpd="sng" algn="ctr">
                  <a:solidFill>
                    <a:srgbClr val="FF0000"/>
                  </a:solidFill>
                  <a:prstDash val="solid"/>
                  <a:miter lim="800000"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1" i="0" u="none" strike="noStrike" kern="1200" baseline="0">
                      <a:solidFill>
                        <a:srgbClr val="FF0000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10-F45D-488D-B99D-6C605235C9DE}"/>
                </c:ext>
              </c:extLst>
            </c:dLbl>
            <c:spPr>
              <a:solidFill>
                <a:sysClr val="window" lastClr="FFFFFF"/>
              </a:solidFill>
              <a:ln w="19050" cap="flat" cmpd="sng" algn="ctr">
                <a:solidFill>
                  <a:srgbClr val="FF0000"/>
                </a:solidFill>
                <a:prstDash val="solid"/>
                <a:miter lim="800000"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700" b="0" i="0" u="none" strike="noStrike" kern="1200" baseline="0">
                    <a:solidFill>
                      <a:sysClr val="windowText" lastClr="000000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'Vẽ-Phương'!$B$3:$M$3</c:f>
              <c:numCache>
                <c:formatCode>General</c:formatCod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numCache>
            </c:numRef>
          </c:cat>
          <c:val>
            <c:numRef>
              <c:f>'Vẽ-Phương'!$B$7:$M$7</c:f>
              <c:numCache>
                <c:formatCode>_(* #,##0,,,_);_(* \(#,##0,,,\);_(* "-"??_);_(@_)</c:formatCode>
                <c:ptCount val="12"/>
                <c:pt idx="0">
                  <c:v>129505341136.8568</c:v>
                </c:pt>
                <c:pt idx="1">
                  <c:v>257479782314.72357</c:v>
                </c:pt>
                <c:pt idx="2">
                  <c:v>399079274142.55078</c:v>
                </c:pt>
                <c:pt idx="3">
                  <c:v>530861540661.15259</c:v>
                </c:pt>
                <c:pt idx="4">
                  <c:v>671105848145.88965</c:v>
                </c:pt>
                <c:pt idx="5">
                  <c:v>812515148365.1333</c:v>
                </c:pt>
                <c:pt idx="6">
                  <c:v>957919205753.09326</c:v>
                </c:pt>
                <c:pt idx="7">
                  <c:v>1099195567271.2379</c:v>
                </c:pt>
                <c:pt idx="8">
                  <c:v>1247392066813.5205</c:v>
                </c:pt>
                <c:pt idx="9">
                  <c:v>1385376548056.6841</c:v>
                </c:pt>
                <c:pt idx="10">
                  <c:v>1531305608395.511</c:v>
                </c:pt>
                <c:pt idx="11">
                  <c:v>1678747622141.6824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E9FC-49B1-9E2A-6F8ADAB87AD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274894383"/>
        <c:axId val="1274880463"/>
      </c:lineChart>
      <c:catAx>
        <c:axId val="127489438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74880463"/>
        <c:crosses val="autoZero"/>
        <c:auto val="1"/>
        <c:lblAlgn val="ctr"/>
        <c:lblOffset val="100"/>
        <c:noMultiLvlLbl val="0"/>
      </c:catAx>
      <c:valAx>
        <c:axId val="1274880463"/>
        <c:scaling>
          <c:orientation val="minMax"/>
        </c:scaling>
        <c:delete val="0"/>
        <c:axPos val="l"/>
        <c:numFmt formatCode="_(* #,##0,,,_);_(* \(#,##0,,,\);_(* &quot;-&quot;??_);_(@_)" sourceLinked="1"/>
        <c:majorTickMark val="none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74894383"/>
        <c:crosses val="autoZero"/>
        <c:crossBetween val="between"/>
      </c:valAx>
      <c:valAx>
        <c:axId val="1546951119"/>
        <c:scaling>
          <c:orientation val="minMax"/>
        </c:scaling>
        <c:delete val="0"/>
        <c:axPos val="r"/>
        <c:numFmt formatCode="_(* #,##0,,,_);_(* \(#,##0,,,\);_(* &quot;-&quot;??_);_(@_)" sourceLinked="1"/>
        <c:majorTickMark val="out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46951599"/>
        <c:crosses val="max"/>
        <c:crossBetween val="between"/>
      </c:valAx>
      <c:catAx>
        <c:axId val="1546951599"/>
        <c:scaling>
          <c:orientation val="minMax"/>
        </c:scaling>
        <c:delete val="1"/>
        <c:axPos val="b"/>
        <c:majorTickMark val="out"/>
        <c:minorTickMark val="none"/>
        <c:tickLblPos val="nextTo"/>
        <c:crossAx val="1546951119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1.0404410162548235E-3"/>
          <c:y val="2.7729406420351245E-2"/>
          <c:w val="0.40573673997569276"/>
          <c:h val="0.1042132586395266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8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1.9361937535368107E-2"/>
          <c:y val="0.18563132363277546"/>
          <c:w val="0.96127612492926384"/>
          <c:h val="0.6738977408545302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'Vẽ-Phương'!$A$4</c:f>
              <c:strCache>
                <c:ptCount val="1"/>
                <c:pt idx="0">
                  <c:v>2025</c:v>
                </c:pt>
              </c:strCache>
            </c:strRef>
          </c:tx>
          <c:spPr>
            <a:solidFill>
              <a:srgbClr val="E2E7EE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-5.7650963815168285E-3"/>
                  <c:y val="0.11307773609887571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3312-499F-AD5E-049707D264C7}"/>
                </c:ext>
              </c:extLst>
            </c:dLbl>
            <c:dLbl>
              <c:idx val="3"/>
              <c:layout>
                <c:manualLayout>
                  <c:x val="-5.7650963815168285E-3"/>
                  <c:y val="-3.325815767613991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3312-499F-AD5E-049707D264C7}"/>
                </c:ext>
              </c:extLst>
            </c:dLbl>
            <c:dLbl>
              <c:idx val="5"/>
              <c:layout>
                <c:manualLayout>
                  <c:x val="-5.7650963815168285E-3"/>
                  <c:y val="-3.325815767613991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E-C5A0-4B21-AB1D-21864FF8ACC7}"/>
                </c:ext>
              </c:extLst>
            </c:dLbl>
            <c:dLbl>
              <c:idx val="7"/>
              <c:layout>
                <c:manualLayout>
                  <c:x val="0"/>
                  <c:y val="1.330326307045596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3312-499F-AD5E-049707D264C7}"/>
                </c:ext>
              </c:extLst>
            </c:dLbl>
            <c:dLbl>
              <c:idx val="11"/>
              <c:layout>
                <c:manualLayout>
                  <c:x val="-1.9216987938389428E-3"/>
                  <c:y val="0.1529875253102436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E-81E7-4C54-B633-2BCA976D1691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chemeClr val="bg1">
                        <a:lumMod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'Vẽ-Phương'!$B$3:$M$3</c:f>
              <c:numCache>
                <c:formatCode>General</c:formatCod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numCache>
            </c:numRef>
          </c:cat>
          <c:val>
            <c:numRef>
              <c:f>'Vẽ-Phương'!$B$4:$M$4</c:f>
              <c:numCache>
                <c:formatCode>_(* #,##0.0,,,_);_(* \(#,##0.0,,,\);_(* "-"??_);_(@_)</c:formatCode>
                <c:ptCount val="12"/>
                <c:pt idx="0">
                  <c:v>4897080552</c:v>
                </c:pt>
                <c:pt idx="1">
                  <c:v>17400796729</c:v>
                </c:pt>
                <c:pt idx="2">
                  <c:v>7098249059</c:v>
                </c:pt>
                <c:pt idx="3">
                  <c:v>3750983485</c:v>
                </c:pt>
                <c:pt idx="4">
                  <c:v>9530204304</c:v>
                </c:pt>
                <c:pt idx="5">
                  <c:v>1072500757</c:v>
                </c:pt>
                <c:pt idx="6">
                  <c:v>1039517857</c:v>
                </c:pt>
                <c:pt idx="7">
                  <c:v>93219731</c:v>
                </c:pt>
                <c:pt idx="8">
                  <c:v>-10202154651</c:v>
                </c:pt>
                <c:pt idx="9">
                  <c:v>-4684658050</c:v>
                </c:pt>
                <c:pt idx="10">
                  <c:v>-6920497847</c:v>
                </c:pt>
                <c:pt idx="11">
                  <c:v>2661513008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E7F-465E-B3B0-F50084385C9C}"/>
            </c:ext>
          </c:extLst>
        </c:ser>
        <c:ser>
          <c:idx val="1"/>
          <c:order val="1"/>
          <c:tx>
            <c:strRef>
              <c:f>'Vẽ-Phương'!$A$5</c:f>
              <c:strCache>
                <c:ptCount val="1"/>
                <c:pt idx="0">
                  <c:v>2026</c:v>
                </c:pt>
              </c:strCache>
            </c:strRef>
          </c:tx>
          <c:spPr>
            <a:solidFill>
              <a:srgbClr val="74E9AD"/>
            </a:solidFill>
            <a:ln>
              <a:noFill/>
            </a:ln>
            <a:effectLst/>
          </c:spPr>
          <c:invertIfNegative val="0"/>
          <c:dPt>
            <c:idx val="3"/>
            <c:invertIfNegative val="0"/>
            <c:bubble3D val="0"/>
            <c:spPr>
              <a:solidFill>
                <a:srgbClr val="5B9BD5">
                  <a:lumMod val="60000"/>
                  <a:lumOff val="4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63A8-4656-84F3-1B87E60153DB}"/>
              </c:ext>
            </c:extLst>
          </c:dPt>
          <c:dPt>
            <c:idx val="4"/>
            <c:invertIfNegative val="0"/>
            <c:bubble3D val="0"/>
            <c:spPr>
              <a:solidFill>
                <a:srgbClr val="5B9BD5">
                  <a:lumMod val="60000"/>
                  <a:lumOff val="4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0-3312-499F-AD5E-049707D264C7}"/>
              </c:ext>
            </c:extLst>
          </c:dPt>
          <c:dPt>
            <c:idx val="5"/>
            <c:invertIfNegative val="0"/>
            <c:bubble3D val="0"/>
            <c:spPr>
              <a:solidFill>
                <a:srgbClr val="5B9BD5">
                  <a:lumMod val="60000"/>
                  <a:lumOff val="4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5E0B-47D6-BAFD-C9F83DD2DA56}"/>
              </c:ext>
            </c:extLst>
          </c:dPt>
          <c:dPt>
            <c:idx val="6"/>
            <c:invertIfNegative val="0"/>
            <c:bubble3D val="0"/>
            <c:spPr>
              <a:solidFill>
                <a:srgbClr val="74E9AD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5E0B-47D6-BAFD-C9F83DD2DA56}"/>
              </c:ext>
            </c:extLst>
          </c:dPt>
          <c:dPt>
            <c:idx val="7"/>
            <c:invertIfNegative val="0"/>
            <c:bubble3D val="0"/>
            <c:spPr>
              <a:solidFill>
                <a:srgbClr val="74E9AD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5E0B-47D6-BAFD-C9F83DD2DA56}"/>
              </c:ext>
            </c:extLst>
          </c:dPt>
          <c:dPt>
            <c:idx val="8"/>
            <c:invertIfNegative val="0"/>
            <c:bubble3D val="0"/>
            <c:spPr>
              <a:solidFill>
                <a:srgbClr val="74E9AD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6-5E0B-47D6-BAFD-C9F83DD2DA56}"/>
              </c:ext>
            </c:extLst>
          </c:dPt>
          <c:dPt>
            <c:idx val="9"/>
            <c:invertIfNegative val="0"/>
            <c:bubble3D val="0"/>
            <c:spPr>
              <a:solidFill>
                <a:srgbClr val="74E9AD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5E0B-47D6-BAFD-C9F83DD2DA56}"/>
              </c:ext>
            </c:extLst>
          </c:dPt>
          <c:dPt>
            <c:idx val="10"/>
            <c:invertIfNegative val="0"/>
            <c:bubble3D val="0"/>
            <c:spPr>
              <a:solidFill>
                <a:srgbClr val="74E9AD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8-5E0B-47D6-BAFD-C9F83DD2DA56}"/>
              </c:ext>
            </c:extLst>
          </c:dPt>
          <c:dPt>
            <c:idx val="11"/>
            <c:invertIfNegative val="0"/>
            <c:bubble3D val="0"/>
            <c:spPr>
              <a:solidFill>
                <a:srgbClr val="CAF6DF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5E0B-47D6-BAFD-C9F83DD2DA56}"/>
              </c:ext>
            </c:extLst>
          </c:dPt>
          <c:dLbls>
            <c:dLbl>
              <c:idx val="0"/>
              <c:layout>
                <c:manualLayout>
                  <c:x val="-8.8076843913068113E-18"/>
                  <c:y val="-1.995489460568395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E-4CE2-4E98-888D-9609E0A6AFBE}"/>
                </c:ext>
              </c:extLst>
            </c:dLbl>
            <c:dLbl>
              <c:idx val="1"/>
              <c:layout>
                <c:manualLayout>
                  <c:x val="0"/>
                  <c:y val="1.995489460568395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F-4CE2-4E98-888D-9609E0A6AFBE}"/>
                </c:ext>
              </c:extLst>
            </c:dLbl>
            <c:dLbl>
              <c:idx val="3"/>
              <c:layout>
                <c:manualLayout>
                  <c:x val="-1.9216987938389428E-3"/>
                  <c:y val="-1.9954894605683952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800" b="0" i="0" u="none" strike="noStrike" kern="1200" baseline="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63A8-4656-84F3-1B87E60153DB}"/>
                </c:ext>
              </c:extLst>
            </c:dLbl>
            <c:dLbl>
              <c:idx val="4"/>
              <c:layout>
                <c:manualLayout>
                  <c:x val="0"/>
                  <c:y val="3.3258157676139856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800" b="0" i="0" u="none" strike="noStrike" kern="1200" baseline="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3312-499F-AD5E-049707D264C7}"/>
                </c:ext>
              </c:extLst>
            </c:dLbl>
            <c:dLbl>
              <c:idx val="5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800" b="0" i="0" u="none" strike="noStrike" kern="1200" baseline="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4-5E0B-47D6-BAFD-C9F83DD2DA56}"/>
                </c:ext>
              </c:extLst>
            </c:dLbl>
            <c:dLbl>
              <c:idx val="6"/>
              <c:layout>
                <c:manualLayout>
                  <c:x val="0"/>
                  <c:y val="1.995489460568382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5E0B-47D6-BAFD-C9F83DD2DA56}"/>
                </c:ext>
              </c:extLst>
            </c:dLbl>
            <c:dLbl>
              <c:idx val="7"/>
              <c:layout>
                <c:manualLayout>
                  <c:x val="1.7295289144550415E-2"/>
                  <c:y val="6.6516315352280137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5E0B-47D6-BAFD-C9F83DD2DA56}"/>
                </c:ext>
              </c:extLst>
            </c:dLbl>
            <c:dLbl>
              <c:idx val="8"/>
              <c:layout>
                <c:manualLayout>
                  <c:x val="5.7650963815168285E-3"/>
                  <c:y val="1.330326307045596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5E0B-47D6-BAFD-C9F83DD2DA56}"/>
                </c:ext>
              </c:extLst>
            </c:dLbl>
            <c:dLbl>
              <c:idx val="10"/>
              <c:layout>
                <c:manualLayout>
                  <c:x val="1.9216987938389428E-3"/>
                  <c:y val="1.4818473309149965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5E0B-47D6-BAFD-C9F83DD2DA56}"/>
                </c:ext>
              </c:extLst>
            </c:dLbl>
            <c:dLbl>
              <c:idx val="11"/>
              <c:layout>
                <c:manualLayout>
                  <c:x val="-1.9216987938389428E-3"/>
                  <c:y val="0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800" b="1" i="0" u="none" strike="noStrike" kern="1200" baseline="0">
                      <a:solidFill>
                        <a:srgbClr val="119303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5E0B-47D6-BAFD-C9F83DD2DA56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rgbClr val="119303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'Vẽ-Phương'!$B$3:$M$3</c:f>
              <c:numCache>
                <c:formatCode>General</c:formatCod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numCache>
            </c:numRef>
          </c:cat>
          <c:val>
            <c:numRef>
              <c:f>'Vẽ-Phương'!$B$5:$M$5</c:f>
              <c:numCache>
                <c:formatCode>_(* #,##0.0,,,_);_(* \(#,##0.0,,,\);_(* "-"??_);_(@_)</c:formatCode>
                <c:ptCount val="12"/>
                <c:pt idx="0">
                  <c:v>-1693460736</c:v>
                </c:pt>
                <c:pt idx="1">
                  <c:v>-6419213738</c:v>
                </c:pt>
                <c:pt idx="2">
                  <c:v>-6665406624</c:v>
                </c:pt>
                <c:pt idx="3">
                  <c:v>3167080472.0715389</c:v>
                </c:pt>
                <c:pt idx="4">
                  <c:v>9146954426.4236336</c:v>
                </c:pt>
                <c:pt idx="5">
                  <c:v>7925453683.3344955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E7F-465E-B3B0-F50084385C9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axId val="1274894383"/>
        <c:axId val="1274880463"/>
      </c:barChart>
      <c:barChart>
        <c:barDir val="col"/>
        <c:grouping val="clustered"/>
        <c:varyColors val="0"/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296630255"/>
        <c:axId val="1296632655"/>
        <c:extLst>
          <c:ext xmlns:c15="http://schemas.microsoft.com/office/drawing/2012/chart" uri="{02D57815-91ED-43cb-92C2-25804820EDAC}">
            <c15:filteredBarSeries>
              <c15:ser>
                <c:idx val="3"/>
                <c:order val="3"/>
                <c:tx>
                  <c:strRef>
                    <c:extLst>
                      <c:ext uri="{02D57815-91ED-43cb-92C2-25804820EDAC}">
                        <c15:formulaRef>
                          <c15:sqref>'Vẽ-Phương'!$A$6</c15:sqref>
                        </c15:formulaRef>
                      </c:ext>
                    </c:extLst>
                    <c:strCache>
                      <c:ptCount val="1"/>
                      <c:pt idx="0">
                        <c:v>Dự báo</c:v>
                      </c:pt>
                    </c:strCache>
                  </c:strRef>
                </c:tx>
                <c:spPr>
                  <a:solidFill>
                    <a:srgbClr val="CAF6DF"/>
                  </a:solidFill>
                  <a:ln>
                    <a:noFill/>
                  </a:ln>
                  <a:effectLst/>
                </c:spPr>
                <c:invertIfNegative val="0"/>
                <c:val>
                  <c:numRef>
                    <c:extLst>
                      <c:ext uri="{02D57815-91ED-43cb-92C2-25804820EDAC}">
                        <c15:formulaRef>
                          <c15:sqref>'Vẽ-Phương'!$B$6:$M$6</c15:sqref>
                        </c15:formulaRef>
                      </c:ext>
                    </c:extLst>
                    <c:numCache>
                      <c:formatCode>_(* #,##0,,,_);_(* \(#,##0,,,\);_(* "-"??_);_(@_)</c:formatCode>
                      <c:ptCount val="12"/>
                    </c:numCache>
                  </c:numRef>
                </c:val>
                <c:extLst>
                  <c:ext xmlns:c16="http://schemas.microsoft.com/office/drawing/2014/chart" uri="{C3380CC4-5D6E-409C-BE32-E72D297353CC}">
                    <c16:uniqueId val="{0000000E-4565-4E12-8476-9225D9072204}"/>
                  </c:ext>
                </c:extLst>
              </c15:ser>
            </c15:filteredBarSeries>
          </c:ext>
        </c:extLst>
      </c:barChart>
      <c:lineChart>
        <c:grouping val="standard"/>
        <c:varyColors val="0"/>
        <c:ser>
          <c:idx val="2"/>
          <c:order val="2"/>
          <c:tx>
            <c:strRef>
              <c:f>'Vẽ-Phương'!$A$7</c:f>
              <c:strCache>
                <c:ptCount val="1"/>
                <c:pt idx="0">
                  <c:v>Chỉ tiêu</c:v>
                </c:pt>
              </c:strCache>
            </c:strRef>
          </c:tx>
          <c:spPr>
            <a:ln w="25400" cap="rnd">
              <a:solidFill>
                <a:srgbClr val="FF0000"/>
              </a:solidFill>
              <a:round/>
            </a:ln>
            <a:effectLst/>
          </c:spPr>
          <c:marker>
            <c:symbol val="none"/>
          </c:marker>
          <c:dLbls>
            <c:spPr>
              <a:solidFill>
                <a:sysClr val="window" lastClr="FFFFFF"/>
              </a:solidFill>
              <a:ln w="19050" cap="flat" cmpd="sng" algn="ctr">
                <a:solidFill>
                  <a:srgbClr val="FF0000"/>
                </a:solidFill>
                <a:prstDash val="solid"/>
                <a:miter lim="800000"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700" b="0" i="0" u="none" strike="noStrike" kern="1200" baseline="0">
                    <a:solidFill>
                      <a:sysClr val="windowText" lastClr="000000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'Vẽ-Phương'!$B$3:$M$3</c:f>
              <c:numCache>
                <c:formatCode>General</c:formatCod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numCache>
            </c:numRef>
          </c:cat>
          <c:val>
            <c:numRef>
              <c:f>'Vẽ-Phương'!$B$7:$M$7</c:f>
              <c:numCache>
                <c:formatCode>_(* #,##0.0,,,_);_(* \(#,##0.0,,,\);_(* "-"??_);_(@_)</c:formatCode>
                <c:ptCount val="12"/>
                <c:pt idx="0">
                  <c:v>1521095499.7650833</c:v>
                </c:pt>
                <c:pt idx="1">
                  <c:v>-1325103642.6497841</c:v>
                </c:pt>
                <c:pt idx="2">
                  <c:v>5063579812.0372381</c:v>
                </c:pt>
                <c:pt idx="3">
                  <c:v>2987787736.0557938</c:v>
                </c:pt>
                <c:pt idx="4">
                  <c:v>3130291883.7845182</c:v>
                </c:pt>
                <c:pt idx="5">
                  <c:v>2831772640.584938</c:v>
                </c:pt>
                <c:pt idx="6">
                  <c:v>7350302403.1835995</c:v>
                </c:pt>
                <c:pt idx="7">
                  <c:v>6722008020.0142317</c:v>
                </c:pt>
                <c:pt idx="8">
                  <c:v>6109248285.1741095</c:v>
                </c:pt>
                <c:pt idx="9">
                  <c:v>6665662779.7506676</c:v>
                </c:pt>
                <c:pt idx="10">
                  <c:v>7122677929.815712</c:v>
                </c:pt>
                <c:pt idx="11">
                  <c:v>5291449007.4755917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5E7F-465E-B3B0-F50084385C9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274894383"/>
        <c:axId val="1274880463"/>
      </c:lineChart>
      <c:catAx>
        <c:axId val="127489438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74880463"/>
        <c:crosses val="autoZero"/>
        <c:auto val="1"/>
        <c:lblAlgn val="ctr"/>
        <c:lblOffset val="100"/>
        <c:noMultiLvlLbl val="0"/>
      </c:catAx>
      <c:valAx>
        <c:axId val="1274880463"/>
        <c:scaling>
          <c:orientation val="minMax"/>
        </c:scaling>
        <c:delete val="0"/>
        <c:axPos val="l"/>
        <c:numFmt formatCode="_(* #,##0.0,,,_);_(* \(#,##0.0,,,\);_(* &quot;-&quot;??_);_(@_)" sourceLinked="1"/>
        <c:majorTickMark val="none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74894383"/>
        <c:crosses val="autoZero"/>
        <c:crossBetween val="between"/>
      </c:valAx>
      <c:valAx>
        <c:axId val="1296632655"/>
        <c:scaling>
          <c:orientation val="minMax"/>
        </c:scaling>
        <c:delete val="0"/>
        <c:axPos val="r"/>
        <c:numFmt formatCode="_(* #,##0_);_(* \(#,##0\);;_(@_)" sourceLinked="1"/>
        <c:majorTickMark val="out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96630255"/>
        <c:crosses val="max"/>
        <c:crossBetween val="between"/>
      </c:valAx>
      <c:catAx>
        <c:axId val="1296630255"/>
        <c:scaling>
          <c:orientation val="minMax"/>
        </c:scaling>
        <c:delete val="1"/>
        <c:axPos val="b"/>
        <c:majorTickMark val="out"/>
        <c:minorTickMark val="none"/>
        <c:tickLblPos val="nextTo"/>
        <c:crossAx val="1296632655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1.0404410162548235E-3"/>
          <c:y val="2.7729406420351245E-2"/>
          <c:w val="0.40573673997569276"/>
          <c:h val="0.1042132586395266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8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1.44959641299032E-4"/>
          <c:y val="0.19893458670323144"/>
          <c:w val="0.99971008071740197"/>
          <c:h val="0.68054937238975821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'Vẽ-Phương'!$A$4</c:f>
              <c:strCache>
                <c:ptCount val="1"/>
                <c:pt idx="0">
                  <c:v>2025</c:v>
                </c:pt>
              </c:strCache>
            </c:strRef>
          </c:tx>
          <c:spPr>
            <a:solidFill>
              <a:srgbClr val="E2E7EE"/>
            </a:solidFill>
            <a:ln>
              <a:noFill/>
            </a:ln>
            <a:effectLst/>
          </c:spPr>
          <c:invertIfNegative val="0"/>
          <c:dLbls>
            <c:dLbl>
              <c:idx val="10"/>
              <c:layout>
                <c:manualLayout>
                  <c:x val="-1.9216987938389569E-2"/>
                  <c:y val="-6.6516315352279864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1-F45D-488D-B99D-6C605235C9DE}"/>
                </c:ext>
              </c:extLst>
            </c:dLbl>
            <c:dLbl>
              <c:idx val="11"/>
              <c:layout>
                <c:manualLayout>
                  <c:x val="-9.6084939691948555E-3"/>
                  <c:y val="-9.3122841493191763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F-F45D-488D-B99D-6C605235C9DE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chemeClr val="bg1">
                        <a:lumMod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'Vẽ-Phương'!$B$3:$M$3</c:f>
              <c:numCache>
                <c:formatCode>General</c:formatCod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numCache>
            </c:numRef>
          </c:cat>
          <c:val>
            <c:numRef>
              <c:f>'Vẽ-Phương'!$B$4:$M$4</c:f>
              <c:numCache>
                <c:formatCode>_(* #,##0.0,,,_);_(* \(#,##0.0,,,\);_(* "-"??_);_(@_)</c:formatCode>
                <c:ptCount val="12"/>
                <c:pt idx="0">
                  <c:v>4897080552</c:v>
                </c:pt>
                <c:pt idx="1">
                  <c:v>22297877281</c:v>
                </c:pt>
                <c:pt idx="2">
                  <c:v>29396126340</c:v>
                </c:pt>
                <c:pt idx="3">
                  <c:v>33147109825</c:v>
                </c:pt>
                <c:pt idx="4">
                  <c:v>42677314129</c:v>
                </c:pt>
                <c:pt idx="5">
                  <c:v>43749814886</c:v>
                </c:pt>
                <c:pt idx="6">
                  <c:v>44789332743</c:v>
                </c:pt>
                <c:pt idx="7">
                  <c:v>44882552474</c:v>
                </c:pt>
                <c:pt idx="8">
                  <c:v>34680397823</c:v>
                </c:pt>
                <c:pt idx="9">
                  <c:v>29995739773</c:v>
                </c:pt>
                <c:pt idx="10">
                  <c:v>23075241926</c:v>
                </c:pt>
                <c:pt idx="11">
                  <c:v>25736754934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9FC-49B1-9E2A-6F8ADAB87AD5}"/>
            </c:ext>
          </c:extLst>
        </c:ser>
        <c:ser>
          <c:idx val="1"/>
          <c:order val="1"/>
          <c:tx>
            <c:strRef>
              <c:f>'Vẽ-Phương'!$A$5</c:f>
              <c:strCache>
                <c:ptCount val="1"/>
                <c:pt idx="0">
                  <c:v>2026</c:v>
                </c:pt>
              </c:strCache>
            </c:strRef>
          </c:tx>
          <c:spPr>
            <a:solidFill>
              <a:srgbClr val="74E9AD"/>
            </a:solidFill>
            <a:ln>
              <a:noFill/>
            </a:ln>
            <a:effectLst/>
          </c:spPr>
          <c:invertIfNegative val="0"/>
          <c:dPt>
            <c:idx val="3"/>
            <c:invertIfNegative val="0"/>
            <c:bubble3D val="0"/>
            <c:spPr>
              <a:solidFill>
                <a:srgbClr val="5B9BD5">
                  <a:lumMod val="60000"/>
                  <a:lumOff val="4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0-0A93-48C0-B60B-494698818C8D}"/>
              </c:ext>
            </c:extLst>
          </c:dPt>
          <c:dPt>
            <c:idx val="4"/>
            <c:invertIfNegative val="0"/>
            <c:bubble3D val="0"/>
            <c:spPr>
              <a:solidFill>
                <a:srgbClr val="5B9BD5">
                  <a:lumMod val="60000"/>
                  <a:lumOff val="4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0-A47A-4EED-AEE9-4740BF362757}"/>
              </c:ext>
            </c:extLst>
          </c:dPt>
          <c:dPt>
            <c:idx val="5"/>
            <c:invertIfNegative val="0"/>
            <c:bubble3D val="0"/>
            <c:spPr>
              <a:solidFill>
                <a:srgbClr val="5B9BD5">
                  <a:lumMod val="60000"/>
                  <a:lumOff val="4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0-F254-4B67-B167-FFF9E994D945}"/>
              </c:ext>
            </c:extLst>
          </c:dPt>
          <c:dPt>
            <c:idx val="6"/>
            <c:invertIfNegative val="0"/>
            <c:bubble3D val="0"/>
            <c:spPr>
              <a:solidFill>
                <a:srgbClr val="74E9AD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F254-4B67-B167-FFF9E994D945}"/>
              </c:ext>
            </c:extLst>
          </c:dPt>
          <c:dPt>
            <c:idx val="7"/>
            <c:invertIfNegative val="0"/>
            <c:bubble3D val="0"/>
            <c:spPr>
              <a:solidFill>
                <a:srgbClr val="74E9AD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2-F254-4B67-B167-FFF9E994D945}"/>
              </c:ext>
            </c:extLst>
          </c:dPt>
          <c:dPt>
            <c:idx val="8"/>
            <c:invertIfNegative val="0"/>
            <c:bubble3D val="0"/>
            <c:spPr>
              <a:solidFill>
                <a:srgbClr val="74E9AD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F254-4B67-B167-FFF9E994D945}"/>
              </c:ext>
            </c:extLst>
          </c:dPt>
          <c:dPt>
            <c:idx val="9"/>
            <c:invertIfNegative val="0"/>
            <c:bubble3D val="0"/>
            <c:spPr>
              <a:solidFill>
                <a:srgbClr val="74E9AD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F254-4B67-B167-FFF9E994D945}"/>
              </c:ext>
            </c:extLst>
          </c:dPt>
          <c:dPt>
            <c:idx val="10"/>
            <c:invertIfNegative val="0"/>
            <c:bubble3D val="0"/>
            <c:spPr>
              <a:solidFill>
                <a:srgbClr val="74E9AD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6-F254-4B67-B167-FFF9E994D945}"/>
              </c:ext>
            </c:extLst>
          </c:dPt>
          <c:dPt>
            <c:idx val="11"/>
            <c:invertIfNegative val="0"/>
            <c:bubble3D val="0"/>
            <c:spPr>
              <a:solidFill>
                <a:srgbClr val="CAF6DF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F254-4B67-B167-FFF9E994D945}"/>
              </c:ext>
            </c:extLst>
          </c:dPt>
          <c:dLbls>
            <c:dLbl>
              <c:idx val="1"/>
              <c:layout>
                <c:manualLayout>
                  <c:x val="1.9216987938389253E-3"/>
                  <c:y val="-3.325815767613991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E-F45D-488D-B99D-6C605235C9DE}"/>
                </c:ext>
              </c:extLst>
            </c:dLbl>
            <c:dLbl>
              <c:idx val="2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rgbClr val="119303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E-C5C4-46FB-8074-B097150E5CB7}"/>
                </c:ext>
              </c:extLst>
            </c:dLbl>
            <c:dLbl>
              <c:idx val="3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0">
                  <a:spAutoFit/>
                </a:bodyPr>
                <a:lstStyle/>
                <a:p>
                  <a:pPr algn="ctr" rtl="0">
                    <a:defRPr lang="en-US" sz="800" b="0" i="0" u="none" strike="noStrike" kern="1200" baseline="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0-0A93-48C0-B60B-494698818C8D}"/>
                </c:ext>
              </c:extLst>
            </c:dLbl>
            <c:dLbl>
              <c:idx val="4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0">
                  <a:spAutoFit/>
                </a:bodyPr>
                <a:lstStyle/>
                <a:p>
                  <a:pPr algn="ctr" rtl="0">
                    <a:defRPr lang="en-US" sz="800" b="0" i="0" u="none" strike="noStrike" kern="1200" baseline="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0-A47A-4EED-AEE9-4740BF362757}"/>
                </c:ext>
              </c:extLst>
            </c:dLbl>
            <c:dLbl>
              <c:idx val="5"/>
              <c:layout>
                <c:manualLayout>
                  <c:x val="1.7295289144550485E-2"/>
                  <c:y val="3.9909789211367903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F254-4B67-B167-FFF9E994D945}"/>
                </c:ext>
              </c:extLst>
            </c:dLbl>
            <c:dLbl>
              <c:idx val="6"/>
              <c:layout>
                <c:manualLayout>
                  <c:x val="1.9216987938389428E-3"/>
                  <c:y val="-1.330326307045596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F254-4B67-B167-FFF9E994D945}"/>
                </c:ext>
              </c:extLst>
            </c:dLbl>
            <c:dLbl>
              <c:idx val="7"/>
              <c:layout>
                <c:manualLayout>
                  <c:x val="-7.0461475130454491E-17"/>
                  <c:y val="-1.995489460568395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F254-4B67-B167-FFF9E994D945}"/>
                </c:ext>
              </c:extLst>
            </c:dLbl>
            <c:dLbl>
              <c:idx val="8"/>
              <c:layout>
                <c:manualLayout>
                  <c:x val="-1.1530192763033657E-2"/>
                  <c:y val="-5.321305228182386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F254-4B67-B167-FFF9E994D945}"/>
                </c:ext>
              </c:extLst>
            </c:dLbl>
            <c:dLbl>
              <c:idx val="9"/>
              <c:layout>
                <c:manualLayout>
                  <c:x val="0"/>
                  <c:y val="5.3213052281823867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0">
                  <a:spAutoFit/>
                </a:bodyPr>
                <a:lstStyle/>
                <a:p>
                  <a:pPr algn="ctr" rtl="0">
                    <a:defRPr lang="en-US" sz="800" b="0" i="0" u="none" strike="noStrike" kern="1200" baseline="0">
                      <a:solidFill>
                        <a:srgbClr val="119303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F254-4B67-B167-FFF9E994D945}"/>
                </c:ext>
              </c:extLst>
            </c:dLbl>
            <c:dLbl>
              <c:idx val="10"/>
              <c:layout>
                <c:manualLayout>
                  <c:x val="-5.7650963815169699E-3"/>
                  <c:y val="4.6561420746595826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0">
                  <a:spAutoFit/>
                </a:bodyPr>
                <a:lstStyle/>
                <a:p>
                  <a:pPr algn="ctr" rtl="0">
                    <a:defRPr lang="en-US" sz="800" b="0" i="0" u="none" strike="noStrike" kern="1200" baseline="0">
                      <a:solidFill>
                        <a:srgbClr val="119303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F254-4B67-B167-FFF9E994D945}"/>
                </c:ext>
              </c:extLst>
            </c:dLbl>
            <c:dLbl>
              <c:idx val="11"/>
              <c:layout>
                <c:manualLayout>
                  <c:x val="-1.9216987938389428E-3"/>
                  <c:y val="2.6606526140911933E-2"/>
                </c:manualLayout>
              </c:layout>
              <c:spPr>
                <a:noFill/>
                <a:ln>
                  <a:solidFill>
                    <a:srgbClr val="CAF6DF"/>
                  </a:solidFill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rgbClr val="119303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F254-4B67-B167-FFF9E994D945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rgbClr val="119303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'Vẽ-Phương'!$B$3:$M$3</c:f>
              <c:numCache>
                <c:formatCode>General</c:formatCod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numCache>
            </c:numRef>
          </c:cat>
          <c:val>
            <c:numRef>
              <c:f>'Vẽ-Phương'!$B$5:$M$5</c:f>
              <c:numCache>
                <c:formatCode>_(* #,##0.0,,,_);_(* \(#,##0.0,,,\);_(* "-"??_);_(@_)</c:formatCode>
                <c:ptCount val="12"/>
                <c:pt idx="0">
                  <c:v>-1693460736</c:v>
                </c:pt>
                <c:pt idx="1">
                  <c:v>-8112674474</c:v>
                </c:pt>
                <c:pt idx="2">
                  <c:v>-14778081098</c:v>
                </c:pt>
                <c:pt idx="3">
                  <c:v>-11611000625.928461</c:v>
                </c:pt>
                <c:pt idx="4">
                  <c:v>-2464046199.5048275</c:v>
                </c:pt>
                <c:pt idx="5">
                  <c:v>5461407483.829668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9FC-49B1-9E2A-6F8ADAB87AD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axId val="1274894383"/>
        <c:axId val="1274880463"/>
      </c:barChart>
      <c:barChart>
        <c:barDir val="col"/>
        <c:grouping val="clustered"/>
        <c:varyColors val="0"/>
        <c:ser>
          <c:idx val="3"/>
          <c:order val="3"/>
          <c:tx>
            <c:strRef>
              <c:f>'Vẽ-Phương'!$A$6</c:f>
              <c:strCache>
                <c:ptCount val="1"/>
                <c:pt idx="0">
                  <c:v>Dự báo</c:v>
                </c:pt>
              </c:strCache>
            </c:strRef>
          </c:tx>
          <c:spPr>
            <a:solidFill>
              <a:srgbClr val="CAF6DF"/>
            </a:solidFill>
            <a:ln>
              <a:noFill/>
            </a:ln>
            <a:effectLst/>
          </c:spPr>
          <c:invertIfNegative val="0"/>
          <c:val>
            <c:numRef>
              <c:f>'Vẽ-Phương'!$B$6:$M$6</c:f>
              <c:numCache>
                <c:formatCode>_(* #,##0.0,,,_);_(* \(#,##0.0,,,\);_(* "-"??_);_(@_)</c:formatCode>
                <c:ptCount val="12"/>
              </c:numCache>
            </c:numRef>
          </c:val>
          <c:extLst>
            <c:ext xmlns:c16="http://schemas.microsoft.com/office/drawing/2014/chart" uri="{C3380CC4-5D6E-409C-BE32-E72D297353CC}">
              <c16:uniqueId val="{0000000E-24B5-4158-90DB-B7140E262F0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546951599"/>
        <c:axId val="1546951119"/>
      </c:barChart>
      <c:lineChart>
        <c:grouping val="standard"/>
        <c:varyColors val="0"/>
        <c:ser>
          <c:idx val="2"/>
          <c:order val="2"/>
          <c:tx>
            <c:strRef>
              <c:f>'Vẽ-Phương'!$A$7</c:f>
              <c:strCache>
                <c:ptCount val="1"/>
                <c:pt idx="0">
                  <c:v>Chỉ tiêu</c:v>
                </c:pt>
              </c:strCache>
            </c:strRef>
          </c:tx>
          <c:spPr>
            <a:ln w="25400" cap="rnd">
              <a:solidFill>
                <a:srgbClr val="FF0000"/>
              </a:solidFill>
              <a:round/>
            </a:ln>
            <a:effectLst/>
          </c:spPr>
          <c:marker>
            <c:symbol val="none"/>
          </c:marker>
          <c:dLbls>
            <c:dLbl>
              <c:idx val="11"/>
              <c:spPr>
                <a:solidFill>
                  <a:sysClr val="window" lastClr="FFFFFF"/>
                </a:solidFill>
                <a:ln w="19050" cap="flat" cmpd="sng" algn="ctr">
                  <a:solidFill>
                    <a:srgbClr val="FF0000"/>
                  </a:solidFill>
                  <a:prstDash val="solid"/>
                  <a:miter lim="800000"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1" i="0" u="none" strike="noStrike" kern="1200" baseline="0">
                      <a:solidFill>
                        <a:srgbClr val="FF0000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10-F45D-488D-B99D-6C605235C9DE}"/>
                </c:ext>
              </c:extLst>
            </c:dLbl>
            <c:spPr>
              <a:solidFill>
                <a:sysClr val="window" lastClr="FFFFFF"/>
              </a:solidFill>
              <a:ln w="19050" cap="flat" cmpd="sng" algn="ctr">
                <a:solidFill>
                  <a:srgbClr val="FF0000"/>
                </a:solidFill>
                <a:prstDash val="solid"/>
                <a:miter lim="800000"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700" b="0" i="0" u="none" strike="noStrike" kern="1200" baseline="0">
                    <a:solidFill>
                      <a:sysClr val="windowText" lastClr="000000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'Vẽ-Phương'!$B$3:$M$3</c:f>
              <c:numCache>
                <c:formatCode>General</c:formatCod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numCache>
            </c:numRef>
          </c:cat>
          <c:val>
            <c:numRef>
              <c:f>'Vẽ-Phương'!$B$7:$M$7</c:f>
              <c:numCache>
                <c:formatCode>_(* #,##0.0,,,_);_(* \(#,##0.0,,,\);_(* "-"??_);_(@_)</c:formatCode>
                <c:ptCount val="12"/>
                <c:pt idx="0">
                  <c:v>1521095499.7650833</c:v>
                </c:pt>
                <c:pt idx="1">
                  <c:v>195991857.11529922</c:v>
                </c:pt>
                <c:pt idx="2">
                  <c:v>5259571669.1525373</c:v>
                </c:pt>
                <c:pt idx="3">
                  <c:v>8247359405.2083311</c:v>
                </c:pt>
                <c:pt idx="4">
                  <c:v>11377651288.992849</c:v>
                </c:pt>
                <c:pt idx="5">
                  <c:v>14209423929.577787</c:v>
                </c:pt>
                <c:pt idx="6">
                  <c:v>21559726332.761387</c:v>
                </c:pt>
                <c:pt idx="7">
                  <c:v>28281734352.77562</c:v>
                </c:pt>
                <c:pt idx="8">
                  <c:v>34390982637.94973</c:v>
                </c:pt>
                <c:pt idx="9">
                  <c:v>41056645417.700394</c:v>
                </c:pt>
                <c:pt idx="10">
                  <c:v>48179323347.516106</c:v>
                </c:pt>
                <c:pt idx="11">
                  <c:v>53470772354.991699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E9FC-49B1-9E2A-6F8ADAB87AD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274894383"/>
        <c:axId val="1274880463"/>
      </c:lineChart>
      <c:catAx>
        <c:axId val="127489438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74880463"/>
        <c:crosses val="autoZero"/>
        <c:auto val="1"/>
        <c:lblAlgn val="ctr"/>
        <c:lblOffset val="100"/>
        <c:noMultiLvlLbl val="0"/>
      </c:catAx>
      <c:valAx>
        <c:axId val="1274880463"/>
        <c:scaling>
          <c:orientation val="minMax"/>
        </c:scaling>
        <c:delete val="0"/>
        <c:axPos val="l"/>
        <c:numFmt formatCode="_(* #,##0.0,,,_);_(* \(#,##0.0,,,\);_(* &quot;-&quot;??_);_(@_)" sourceLinked="1"/>
        <c:majorTickMark val="none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74894383"/>
        <c:crosses val="autoZero"/>
        <c:crossBetween val="between"/>
      </c:valAx>
      <c:valAx>
        <c:axId val="1546951119"/>
        <c:scaling>
          <c:orientation val="minMax"/>
        </c:scaling>
        <c:delete val="0"/>
        <c:axPos val="r"/>
        <c:numFmt formatCode="_(* #,##0.0,,,_);_(* \(#,##0.0,,,\);_(* &quot;-&quot;??_);_(@_)" sourceLinked="1"/>
        <c:majorTickMark val="out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46951599"/>
        <c:crosses val="max"/>
        <c:crossBetween val="between"/>
      </c:valAx>
      <c:catAx>
        <c:axId val="1546951599"/>
        <c:scaling>
          <c:orientation val="minMax"/>
        </c:scaling>
        <c:delete val="1"/>
        <c:axPos val="b"/>
        <c:majorTickMark val="out"/>
        <c:minorTickMark val="none"/>
        <c:tickLblPos val="nextTo"/>
        <c:crossAx val="1546951119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79388" y="1076325"/>
            <a:ext cx="9569450" cy="53832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92664" y="6818988"/>
            <a:ext cx="7941310" cy="64600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8728" tIns="138728" rIns="138728" bIns="138728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97200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252AFB-DC0D-1EB4-DE83-50BCE528BA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B3ABDB2-50B2-A217-B635-5434492E70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B1F7EF0-5A2E-4E0F-C2F4-7962BFE65A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73762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435AF5-B230-C20C-B6F9-44410601A1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D5C77B5-DA70-7333-17C9-D4FDDB4123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6CDB07E-FBAB-E07F-9C62-6970DC39B5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454341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8270E5-8427-2274-B573-E56DEF8937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B5F7B51-B971-957A-C9E5-BCDD660ABC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F19FDF4-A7D4-8EA5-360F-DF0F33E3D3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035725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6757C8-0A45-74DD-E0DA-BFFC631A43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AF413EF-5FC9-0ED1-F6FC-BE6F2AE744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EBBD2AE-574B-8527-8FA5-7E65D27C7A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33294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DDB7FF-F0A5-0054-680D-FD83777683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5B9A455-E64F-A745-3CE2-3E63AF15FF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644FB0E-B749-1D01-6D73-BDA4A45B87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962387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50B1FE-8E05-B28A-9AE3-4C144CA1B6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BF45805-2ABD-4B32-05B9-F86BD0C553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C5984C7-F255-752E-8842-FF477CFA92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3970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779571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C9086A-C3FA-74F1-AFE5-8C14F75971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C2FA862-B527-4411-CB7C-DCE3B53A4F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9C32CFC-C4F4-54D2-F19F-DACB4BE07A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3970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291604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959993-AA81-B221-ACAB-5558EF92EC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0A9E215-7EDD-345F-05BD-8E1966D722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3D2F252-C894-D94D-4DF4-73D689CF29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234180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0A4F4E-B4E9-B27A-8B4C-C9E24A5C1F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32CB041-3F04-B1E7-DF74-EE01F91D28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710AFD9-E449-0CCE-CC09-C4AA4DDC31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518353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06FBA0-8B0E-AD00-8ED8-BAE2BAC05E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380E09B-D9E4-8BF1-BA77-72B153058F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969F8EC-CB5D-0E6C-9784-385A57888B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err="1"/>
              <a:t>Điều</a:t>
            </a:r>
            <a:r>
              <a:rPr lang="en-US"/>
              <a:t> </a:t>
            </a:r>
            <a:r>
              <a:rPr lang="en-US" err="1"/>
              <a:t>chỉnh</a:t>
            </a:r>
            <a:r>
              <a:rPr lang="en-US"/>
              <a:t> </a:t>
            </a:r>
            <a:r>
              <a:rPr lang="en-US" err="1"/>
              <a:t>trình</a:t>
            </a:r>
            <a:r>
              <a:rPr lang="en-US"/>
              <a:t> </a:t>
            </a:r>
            <a:r>
              <a:rPr lang="en-US" err="1"/>
              <a:t>bày</a:t>
            </a:r>
            <a:r>
              <a:rPr lang="en-US"/>
              <a:t> </a:t>
            </a:r>
            <a:r>
              <a:rPr lang="en-US" err="1"/>
              <a:t>phần</a:t>
            </a:r>
            <a:r>
              <a:rPr lang="en-US"/>
              <a:t> </a:t>
            </a:r>
            <a:r>
              <a:rPr lang="en-US" err="1"/>
              <a:t>khấu</a:t>
            </a:r>
            <a:r>
              <a:rPr lang="en-US"/>
              <a:t> hao &lt;-&gt; </a:t>
            </a:r>
            <a:r>
              <a:rPr lang="en-US" err="1"/>
              <a:t>thuê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941813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CB3D1C-3925-A8DC-CDC0-F48C47637B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13698C8-BC2B-0B1D-F7C9-0105E1509B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F8980AB-FD76-F002-F7AE-96FFE613F0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3970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248233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A014E9-B561-40EE-1AB2-98E251F2B9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A8CA0DE-7D5E-6969-44DF-D09C3B4370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603A10C-E6F8-80BD-C813-F23BBDAEF8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481450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C93DF9-ECE6-B7D0-9E1B-BD0BC448DE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6455018-8801-A895-F6F8-958081571E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CE6F5C7-1074-A261-9F89-0843FB2ADC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23042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1" userDrawn="1">
  <p:cSld name="TITLE_1">
    <p:bg>
      <p:bgPr>
        <a:noFill/>
        <a:effectLst/>
      </p:bgPr>
    </p:bg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1">
  <p:cSld name="TITLE_AND_BODY_1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1"/>
          <p:cNvSpPr txBox="1">
            <a:spLocks noGrp="1"/>
          </p:cNvSpPr>
          <p:nvPr>
            <p:ph type="title"/>
          </p:nvPr>
        </p:nvSpPr>
        <p:spPr>
          <a:xfrm>
            <a:off x="370483" y="445025"/>
            <a:ext cx="8460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Muli"/>
              <a:buNone/>
              <a:defRPr>
                <a:solidFill>
                  <a:srgbClr val="4E6F9B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Muli"/>
              <a:buNone/>
              <a:defRPr>
                <a:solidFill>
                  <a:srgbClr val="4E6F9B"/>
                </a:solidFill>
                <a:latin typeface="Muli"/>
                <a:ea typeface="Muli"/>
                <a:cs typeface="Muli"/>
                <a:sym typeface="Muli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Muli"/>
              <a:buNone/>
              <a:defRPr>
                <a:solidFill>
                  <a:srgbClr val="4E6F9B"/>
                </a:solidFill>
                <a:latin typeface="Muli"/>
                <a:ea typeface="Muli"/>
                <a:cs typeface="Muli"/>
                <a:sym typeface="Muli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Muli"/>
              <a:buNone/>
              <a:defRPr>
                <a:solidFill>
                  <a:srgbClr val="4E6F9B"/>
                </a:solidFill>
                <a:latin typeface="Muli"/>
                <a:ea typeface="Muli"/>
                <a:cs typeface="Muli"/>
                <a:sym typeface="Muli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Muli"/>
              <a:buNone/>
              <a:defRPr>
                <a:solidFill>
                  <a:srgbClr val="4E6F9B"/>
                </a:solidFill>
                <a:latin typeface="Muli"/>
                <a:ea typeface="Muli"/>
                <a:cs typeface="Muli"/>
                <a:sym typeface="Muli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Muli"/>
              <a:buNone/>
              <a:defRPr>
                <a:solidFill>
                  <a:srgbClr val="4E6F9B"/>
                </a:solidFill>
                <a:latin typeface="Muli"/>
                <a:ea typeface="Muli"/>
                <a:cs typeface="Muli"/>
                <a:sym typeface="Muli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Muli"/>
              <a:buNone/>
              <a:defRPr>
                <a:solidFill>
                  <a:srgbClr val="4E6F9B"/>
                </a:solidFill>
                <a:latin typeface="Muli"/>
                <a:ea typeface="Muli"/>
                <a:cs typeface="Muli"/>
                <a:sym typeface="Muli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Muli"/>
              <a:buNone/>
              <a:defRPr>
                <a:solidFill>
                  <a:srgbClr val="4E6F9B"/>
                </a:solidFill>
                <a:latin typeface="Muli"/>
                <a:ea typeface="Muli"/>
                <a:cs typeface="Muli"/>
                <a:sym typeface="Muli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Muli"/>
              <a:buNone/>
              <a:defRPr>
                <a:solidFill>
                  <a:srgbClr val="4E6F9B"/>
                </a:solidFill>
                <a:latin typeface="Muli"/>
                <a:ea typeface="Muli"/>
                <a:cs typeface="Muli"/>
                <a:sym typeface="Muli"/>
              </a:defRPr>
            </a:lvl9pPr>
          </a:lstStyle>
          <a:p>
            <a:endParaRPr/>
          </a:p>
        </p:txBody>
      </p:sp>
      <p:sp>
        <p:nvSpPr>
          <p:cNvPr id="93" name="Google Shape;93;p11"/>
          <p:cNvSpPr txBox="1">
            <a:spLocks noGrp="1"/>
          </p:cNvSpPr>
          <p:nvPr>
            <p:ph type="body" idx="1"/>
          </p:nvPr>
        </p:nvSpPr>
        <p:spPr>
          <a:xfrm>
            <a:off x="370475" y="1348400"/>
            <a:ext cx="38913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Font typeface="Muli"/>
              <a:buChar char="●"/>
              <a:defRPr>
                <a:latin typeface="Muli"/>
                <a:ea typeface="Muli"/>
                <a:cs typeface="Muli"/>
                <a:sym typeface="Muli"/>
              </a:defRPr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SzPts val="1400"/>
              <a:buFont typeface="Muli"/>
              <a:buChar char="○"/>
              <a:defRPr>
                <a:latin typeface="Muli"/>
                <a:ea typeface="Muli"/>
                <a:cs typeface="Muli"/>
                <a:sym typeface="Muli"/>
              </a:defRPr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SzPts val="1400"/>
              <a:buFont typeface="Muli"/>
              <a:buChar char="■"/>
              <a:defRPr>
                <a:latin typeface="Muli"/>
                <a:ea typeface="Muli"/>
                <a:cs typeface="Muli"/>
                <a:sym typeface="Muli"/>
              </a:defRPr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SzPts val="1400"/>
              <a:buFont typeface="Muli"/>
              <a:buChar char="●"/>
              <a:defRPr>
                <a:latin typeface="Muli"/>
                <a:ea typeface="Muli"/>
                <a:cs typeface="Muli"/>
                <a:sym typeface="Muli"/>
              </a:defRPr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SzPts val="1400"/>
              <a:buFont typeface="Muli"/>
              <a:buChar char="○"/>
              <a:defRPr>
                <a:latin typeface="Muli"/>
                <a:ea typeface="Muli"/>
                <a:cs typeface="Muli"/>
                <a:sym typeface="Muli"/>
              </a:defRPr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SzPts val="1400"/>
              <a:buFont typeface="Muli"/>
              <a:buChar char="■"/>
              <a:defRPr>
                <a:latin typeface="Muli"/>
                <a:ea typeface="Muli"/>
                <a:cs typeface="Muli"/>
                <a:sym typeface="Muli"/>
              </a:defRPr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SzPts val="1400"/>
              <a:buFont typeface="Muli"/>
              <a:buChar char="●"/>
              <a:defRPr>
                <a:latin typeface="Muli"/>
                <a:ea typeface="Muli"/>
                <a:cs typeface="Muli"/>
                <a:sym typeface="Muli"/>
              </a:defRPr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SzPts val="1400"/>
              <a:buFont typeface="Muli"/>
              <a:buChar char="○"/>
              <a:defRPr>
                <a:latin typeface="Muli"/>
                <a:ea typeface="Muli"/>
                <a:cs typeface="Muli"/>
                <a:sym typeface="Muli"/>
              </a:defRPr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SzPts val="1400"/>
              <a:buFont typeface="Muli"/>
              <a:buChar char="■"/>
              <a:defRPr>
                <a:latin typeface="Muli"/>
                <a:ea typeface="Muli"/>
                <a:cs typeface="Muli"/>
                <a:sym typeface="Muli"/>
              </a:defRPr>
            </a:lvl9pPr>
          </a:lstStyle>
          <a:p>
            <a:endParaRPr/>
          </a:p>
        </p:txBody>
      </p:sp>
      <p:sp>
        <p:nvSpPr>
          <p:cNvPr id="94" name="Google Shape;94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/>
          </a:p>
        </p:txBody>
      </p:sp>
      <p:sp>
        <p:nvSpPr>
          <p:cNvPr id="100" name="Google Shape;100;p11"/>
          <p:cNvSpPr txBox="1">
            <a:spLocks noGrp="1"/>
          </p:cNvSpPr>
          <p:nvPr>
            <p:ph type="subTitle" idx="2"/>
          </p:nvPr>
        </p:nvSpPr>
        <p:spPr>
          <a:xfrm>
            <a:off x="370483" y="941525"/>
            <a:ext cx="8460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spcBef>
                <a:spcPts val="160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11"/>
          <p:cNvSpPr txBox="1">
            <a:spLocks noGrp="1"/>
          </p:cNvSpPr>
          <p:nvPr>
            <p:ph type="body" idx="3"/>
          </p:nvPr>
        </p:nvSpPr>
        <p:spPr>
          <a:xfrm>
            <a:off x="4581150" y="1348400"/>
            <a:ext cx="38913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Font typeface="Muli"/>
              <a:buChar char="●"/>
              <a:defRPr>
                <a:latin typeface="Muli"/>
                <a:ea typeface="Muli"/>
                <a:cs typeface="Muli"/>
                <a:sym typeface="Muli"/>
              </a:defRPr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SzPts val="1400"/>
              <a:buFont typeface="Muli"/>
              <a:buChar char="○"/>
              <a:defRPr>
                <a:latin typeface="Muli"/>
                <a:ea typeface="Muli"/>
                <a:cs typeface="Muli"/>
                <a:sym typeface="Muli"/>
              </a:defRPr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SzPts val="1400"/>
              <a:buFont typeface="Muli"/>
              <a:buChar char="■"/>
              <a:defRPr>
                <a:latin typeface="Muli"/>
                <a:ea typeface="Muli"/>
                <a:cs typeface="Muli"/>
                <a:sym typeface="Muli"/>
              </a:defRPr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SzPts val="1400"/>
              <a:buFont typeface="Muli"/>
              <a:buChar char="●"/>
              <a:defRPr>
                <a:latin typeface="Muli"/>
                <a:ea typeface="Muli"/>
                <a:cs typeface="Muli"/>
                <a:sym typeface="Muli"/>
              </a:defRPr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SzPts val="1400"/>
              <a:buFont typeface="Muli"/>
              <a:buChar char="○"/>
              <a:defRPr>
                <a:latin typeface="Muli"/>
                <a:ea typeface="Muli"/>
                <a:cs typeface="Muli"/>
                <a:sym typeface="Muli"/>
              </a:defRPr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SzPts val="1400"/>
              <a:buFont typeface="Muli"/>
              <a:buChar char="■"/>
              <a:defRPr>
                <a:latin typeface="Muli"/>
                <a:ea typeface="Muli"/>
                <a:cs typeface="Muli"/>
                <a:sym typeface="Muli"/>
              </a:defRPr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SzPts val="1400"/>
              <a:buFont typeface="Muli"/>
              <a:buChar char="●"/>
              <a:defRPr>
                <a:latin typeface="Muli"/>
                <a:ea typeface="Muli"/>
                <a:cs typeface="Muli"/>
                <a:sym typeface="Muli"/>
              </a:defRPr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SzPts val="1400"/>
              <a:buFont typeface="Muli"/>
              <a:buChar char="○"/>
              <a:defRPr>
                <a:latin typeface="Muli"/>
                <a:ea typeface="Muli"/>
                <a:cs typeface="Muli"/>
                <a:sym typeface="Muli"/>
              </a:defRPr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SzPts val="1400"/>
              <a:buFont typeface="Muli"/>
              <a:buChar char="■"/>
              <a:defRPr>
                <a:latin typeface="Muli"/>
                <a:ea typeface="Muli"/>
                <a:cs typeface="Muli"/>
                <a:sym typeface="Mul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BB179A5-D0A4-9731-C600-FE4696F7F508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106280" y="4990267"/>
            <a:ext cx="614635" cy="94248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0C258937-FB5A-DD24-8D91-AB27D66988BB}"/>
              </a:ext>
            </a:extLst>
          </p:cNvPr>
          <p:cNvSpPr/>
          <p:nvPr userDrawn="1"/>
        </p:nvSpPr>
        <p:spPr>
          <a:xfrm>
            <a:off x="789947" y="4924412"/>
            <a:ext cx="8354053" cy="219088"/>
          </a:xfrm>
          <a:prstGeom prst="rect">
            <a:avLst/>
          </a:prstGeom>
          <a:solidFill>
            <a:srgbClr val="11930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95FDBB7-518F-CF9E-A68A-F9C0D8F4D028}"/>
              </a:ext>
            </a:extLst>
          </p:cNvPr>
          <p:cNvSpPr txBox="1"/>
          <p:nvPr userDrawn="1"/>
        </p:nvSpPr>
        <p:spPr>
          <a:xfrm>
            <a:off x="720914" y="4880067"/>
            <a:ext cx="842308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fld id="{D57F1E4F-1CFF-5643-939E-217C01CDF565}" type="slidenum">
              <a:rPr lang="en-US" b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algn="r"/>
              <a:t>‹#›</a:t>
            </a:fld>
            <a:r>
              <a:rPr lang="en-US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/41</a:t>
            </a: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7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5D3B4F-002D-409B-2342-EED09F17DF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70A85-2711-6FB8-2AC6-2C758E7870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7452"/>
            <a:ext cx="8738881" cy="337163"/>
          </a:xfrm>
        </p:spPr>
        <p:txBody>
          <a:bodyPr anchor="ctr"/>
          <a:lstStyle/>
          <a:p>
            <a:pPr algn="ctr"/>
            <a:r>
              <a:rPr lang="en-US" sz="2400" b="1">
                <a:solidFill>
                  <a:srgbClr val="119303"/>
                </a:solidFill>
              </a:rPr>
              <a:t>3.1. KẾT QUẢ HOẠT ĐỘNG KINH DOANH – </a:t>
            </a:r>
            <a:r>
              <a:rPr lang="en-US" sz="2400" b="1">
                <a:solidFill>
                  <a:schemeClr val="accent2">
                    <a:lumMod val="75000"/>
                  </a:schemeClr>
                </a:solidFill>
              </a:rPr>
              <a:t>LÃI LỖ THÁNG 03 – DTR</a:t>
            </a:r>
            <a:endParaRPr lang="en-US" sz="2200" b="1">
              <a:solidFill>
                <a:schemeClr val="accent2">
                  <a:lumMod val="75000"/>
                </a:schemeClr>
              </a:solidFill>
              <a:latin typeface="+mn-lt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1B8BC1F-8859-1F27-476B-02E0B26750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12759"/>
            <a:ext cx="9144000" cy="4427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45753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DC3E62-F273-018C-E333-A3985A1BEB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AEE103-BE30-6BC1-5184-EF084CD4B6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5534"/>
            <a:ext cx="9143999" cy="337163"/>
          </a:xfrm>
        </p:spPr>
        <p:txBody>
          <a:bodyPr anchor="ctr"/>
          <a:lstStyle/>
          <a:p>
            <a:pPr algn="ctr"/>
            <a:r>
              <a:rPr lang="en-US" sz="2400" b="1">
                <a:solidFill>
                  <a:srgbClr val="119303"/>
                </a:solidFill>
              </a:rPr>
              <a:t>3.1. KẾT QUẢ HOẠT ĐỘNG KINH DOANH – </a:t>
            </a:r>
            <a:r>
              <a:rPr lang="en-US" sz="2400" b="1">
                <a:solidFill>
                  <a:schemeClr val="accent2">
                    <a:lumMod val="75000"/>
                  </a:schemeClr>
                </a:solidFill>
              </a:rPr>
              <a:t>LÃI LỖ THÁNG 03 – 3 TRẠM</a:t>
            </a:r>
            <a:endParaRPr lang="en-US" sz="2200" b="1">
              <a:solidFill>
                <a:schemeClr val="accent2">
                  <a:lumMod val="75000"/>
                </a:schemeClr>
              </a:solidFill>
              <a:latin typeface="+mn-lt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AEA094E-C872-BA35-A70B-160EB0656C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19677"/>
            <a:ext cx="9144000" cy="4558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94276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EF1069-A6E7-141D-0B07-AE4A4E1C15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898A6A7-30C3-9951-E884-FBCDACD14A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8586018"/>
              </p:ext>
            </p:extLst>
          </p:nvPr>
        </p:nvGraphicFramePr>
        <p:xfrm>
          <a:off x="58194" y="588234"/>
          <a:ext cx="9085805" cy="4313478"/>
        </p:xfrm>
        <a:graphic>
          <a:graphicData uri="http://schemas.openxmlformats.org/drawingml/2006/table">
            <a:tbl>
              <a:tblPr firstRow="1" bandRow="1">
                <a:tableStyleId>{6A077030-E235-474E-B3E8-3EB61F41259E}</a:tableStyleId>
              </a:tblPr>
              <a:tblGrid>
                <a:gridCol w="6640454">
                  <a:extLst>
                    <a:ext uri="{9D8B030D-6E8A-4147-A177-3AD203B41FA5}">
                      <a16:colId xmlns:a16="http://schemas.microsoft.com/office/drawing/2014/main" val="569245144"/>
                    </a:ext>
                  </a:extLst>
                </a:gridCol>
                <a:gridCol w="2445351">
                  <a:extLst>
                    <a:ext uri="{9D8B030D-6E8A-4147-A177-3AD203B41FA5}">
                      <a16:colId xmlns:a16="http://schemas.microsoft.com/office/drawing/2014/main" val="653644736"/>
                    </a:ext>
                  </a:extLst>
                </a:gridCol>
              </a:tblGrid>
              <a:tr h="2007994"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u="sng" dirty="0"/>
                        <a:t>NGUYÊN NHÂN GỐC RỄ</a:t>
                      </a:r>
                    </a:p>
                    <a:p>
                      <a:pPr algn="ctr"/>
                      <a:endParaRPr lang="en-US" sz="1200" u="sng" dirty="0"/>
                    </a:p>
                    <a:p>
                      <a:pPr marL="0" indent="0" algn="l">
                        <a:buFontTx/>
                        <a:buNone/>
                      </a:pPr>
                      <a:r>
                        <a:rPr lang="en-US" sz="1000" u="none" dirty="0"/>
                        <a:t>Doanh </a:t>
                      </a:r>
                      <a:r>
                        <a:rPr lang="en-US" sz="1000" u="none" dirty="0" err="1"/>
                        <a:t>thu</a:t>
                      </a:r>
                      <a:r>
                        <a:rPr lang="en-US" sz="1000" u="none" dirty="0"/>
                        <a:t> </a:t>
                      </a:r>
                      <a:r>
                        <a:rPr lang="en-US" sz="1000" u="none" err="1"/>
                        <a:t>thuần</a:t>
                      </a:r>
                      <a:r>
                        <a:rPr lang="en-US" sz="1000" u="none"/>
                        <a:t> T03 </a:t>
                      </a:r>
                      <a:r>
                        <a:rPr lang="en-US" sz="1000" u="none" err="1"/>
                        <a:t>đạt</a:t>
                      </a:r>
                      <a:r>
                        <a:rPr lang="en-US" sz="1000" u="none"/>
                        <a:t> </a:t>
                      </a:r>
                      <a:r>
                        <a:rPr lang="en-US" sz="1200" b="1" u="none"/>
                        <a:t>173</a:t>
                      </a:r>
                      <a:r>
                        <a:rPr lang="en-US" sz="1000" u="none"/>
                        <a:t>/142 </a:t>
                      </a:r>
                      <a:r>
                        <a:rPr lang="en-US" sz="1000" u="none" err="1"/>
                        <a:t>tỷ</a:t>
                      </a:r>
                      <a:r>
                        <a:rPr lang="en-US" sz="1000" u="none"/>
                        <a:t> (vượt 22.4%). Vượt Ngân sách chủ yếu là do sản lượng tăng:</a:t>
                      </a:r>
                    </a:p>
                    <a:p>
                      <a:pPr marL="0" indent="0" algn="l">
                        <a:buFontTx/>
                        <a:buNone/>
                      </a:pPr>
                      <a:endParaRPr lang="en-US" sz="1000" u="none"/>
                    </a:p>
                    <a:p>
                      <a:pPr marL="0" indent="0" algn="l">
                        <a:buFontTx/>
                        <a:buNone/>
                      </a:pPr>
                      <a:r>
                        <a:rPr lang="en-US" sz="1000" u="none"/>
                        <a:t>+ </a:t>
                      </a:r>
                      <a:r>
                        <a:rPr lang="en-US" sz="1000" b="1" u="none"/>
                        <a:t>Kênh xuất khẩu</a:t>
                      </a:r>
                      <a:r>
                        <a:rPr lang="en-US" sz="1000" u="none"/>
                        <a:t>: Outeirinho lấy hàng lại (đạt 990/330 tấn iSS01G); Premium Water (đạt 220/- tấn WSS03G). </a:t>
                      </a:r>
                    </a:p>
                    <a:p>
                      <a:pPr marL="0" indent="0" algn="l">
                        <a:buFontTx/>
                        <a:buNone/>
                      </a:pPr>
                      <a:endParaRPr lang="en-US" sz="1000" u="none"/>
                    </a:p>
                    <a:p>
                      <a:pPr marL="0" indent="0" algn="l">
                        <a:buFontTx/>
                        <a:buNone/>
                      </a:pPr>
                      <a:r>
                        <a:rPr lang="en-US" sz="1000" u="none"/>
                        <a:t>+ </a:t>
                      </a:r>
                      <a:r>
                        <a:rPr lang="en-US" sz="1000" b="1" u="none"/>
                        <a:t>Kênh nội địa</a:t>
                      </a:r>
                      <a:r>
                        <a:rPr lang="en-US" sz="1000" u="none"/>
                        <a:t>: Suntory đạt 594/330 tấn (iSS1084G); Uy Kiệt 440/- tấn (WSS03G); Unilever 330/275 tấn (WSS01G)</a:t>
                      </a:r>
                      <a:endParaRPr lang="en-US" sz="1000" b="1" i="1" u="non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1659027"/>
                  </a:ext>
                </a:extLst>
              </a:tr>
              <a:tr h="2305484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9797017"/>
                  </a:ext>
                </a:extLst>
              </a:tr>
            </a:tbl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4BD14D59-E52C-4AEC-E23F-A01EDF0CB9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5534"/>
            <a:ext cx="9085805" cy="572700"/>
          </a:xfrm>
        </p:spPr>
        <p:txBody>
          <a:bodyPr/>
          <a:lstStyle/>
          <a:p>
            <a:pPr algn="ctr"/>
            <a:r>
              <a:rPr lang="en-US" sz="2000" b="1">
                <a:solidFill>
                  <a:srgbClr val="119303"/>
                </a:solidFill>
              </a:rPr>
              <a:t>3.1</a:t>
            </a:r>
            <a:r>
              <a:rPr lang="en-US" sz="2300" b="1">
                <a:solidFill>
                  <a:srgbClr val="119303"/>
                </a:solidFill>
              </a:rPr>
              <a:t>. KẾT QUẢ HOẠT ĐỘNG KINH DOANH – </a:t>
            </a:r>
            <a:r>
              <a:rPr lang="en-US" sz="2300" b="1">
                <a:solidFill>
                  <a:schemeClr val="accent2">
                    <a:lumMod val="75000"/>
                  </a:schemeClr>
                </a:solidFill>
              </a:rPr>
              <a:t>GIẢI TRÌNH DOANH THU</a:t>
            </a:r>
            <a:endParaRPr lang="en-US" sz="2300" b="1">
              <a:solidFill>
                <a:schemeClr val="tx1">
                  <a:lumMod val="65000"/>
                  <a:lumOff val="35000"/>
                </a:schemeClr>
              </a:solidFill>
              <a:latin typeface="+mn-lt"/>
            </a:endParaRPr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E130BEDC-8830-AA2C-D6CE-032D1317508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85869273"/>
              </p:ext>
            </p:extLst>
          </p:nvPr>
        </p:nvGraphicFramePr>
        <p:xfrm>
          <a:off x="58195" y="806598"/>
          <a:ext cx="6608736" cy="190930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5B237680-819E-EC6E-D41F-B19E93EC7702}"/>
              </a:ext>
            </a:extLst>
          </p:cNvPr>
          <p:cNvSpPr/>
          <p:nvPr/>
        </p:nvSpPr>
        <p:spPr>
          <a:xfrm>
            <a:off x="58195" y="588234"/>
            <a:ext cx="6608736" cy="218364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900" b="1">
                <a:solidFill>
                  <a:schemeClr val="tx1"/>
                </a:solidFill>
              </a:rPr>
              <a:t>DOANH THU THUẦN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510EA6F-2D53-E4B7-293E-26704F295D36}"/>
              </a:ext>
            </a:extLst>
          </p:cNvPr>
          <p:cNvSpPr/>
          <p:nvPr/>
        </p:nvSpPr>
        <p:spPr>
          <a:xfrm>
            <a:off x="58195" y="2699975"/>
            <a:ext cx="6608736" cy="218364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900" b="1">
                <a:solidFill>
                  <a:schemeClr val="tx1"/>
                </a:solidFill>
              </a:rPr>
              <a:t>LŨY KẾ DOANH THU THUẦN</a:t>
            </a:r>
          </a:p>
        </p:txBody>
      </p:sp>
      <p:graphicFrame>
        <p:nvGraphicFramePr>
          <p:cNvPr id="15" name="Chart 14">
            <a:extLst>
              <a:ext uri="{FF2B5EF4-FFF2-40B4-BE49-F238E27FC236}">
                <a16:creationId xmlns:a16="http://schemas.microsoft.com/office/drawing/2014/main" id="{424E2B08-E421-0097-BABF-0E47D73A24B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05423196"/>
              </p:ext>
            </p:extLst>
          </p:nvPr>
        </p:nvGraphicFramePr>
        <p:xfrm>
          <a:off x="58195" y="2913373"/>
          <a:ext cx="6608736" cy="190930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795E6761-BEB0-E07D-620F-3E30380E5176}"/>
              </a:ext>
            </a:extLst>
          </p:cNvPr>
          <p:cNvSpPr txBox="1"/>
          <p:nvPr/>
        </p:nvSpPr>
        <p:spPr>
          <a:xfrm>
            <a:off x="5896612" y="586941"/>
            <a:ext cx="665567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00" i="1" err="1"/>
              <a:t>Đvt</a:t>
            </a:r>
            <a:r>
              <a:rPr lang="en-US" sz="700" i="1"/>
              <a:t>: </a:t>
            </a:r>
            <a:r>
              <a:rPr lang="en-US" sz="700" i="1" err="1"/>
              <a:t>tỷ</a:t>
            </a:r>
            <a:r>
              <a:rPr lang="en-US" sz="700" i="1"/>
              <a:t> </a:t>
            </a:r>
            <a:r>
              <a:rPr lang="en-US" sz="700" i="1" err="1"/>
              <a:t>đồng</a:t>
            </a:r>
            <a:endParaRPr lang="en-US" sz="700" i="1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791F701-DD65-569C-8158-7E7319F27F65}"/>
              </a:ext>
            </a:extLst>
          </p:cNvPr>
          <p:cNvSpPr txBox="1"/>
          <p:nvPr/>
        </p:nvSpPr>
        <p:spPr>
          <a:xfrm>
            <a:off x="5896613" y="2704445"/>
            <a:ext cx="665567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00" i="1" err="1"/>
              <a:t>Đvt</a:t>
            </a:r>
            <a:r>
              <a:rPr lang="en-US" sz="700" i="1"/>
              <a:t>: </a:t>
            </a:r>
            <a:r>
              <a:rPr lang="en-US" sz="700" i="1" err="1"/>
              <a:t>tỷ</a:t>
            </a:r>
            <a:r>
              <a:rPr lang="en-US" sz="700" i="1"/>
              <a:t> </a:t>
            </a:r>
            <a:r>
              <a:rPr lang="en-US" sz="700" i="1" err="1"/>
              <a:t>đồng</a:t>
            </a:r>
            <a:endParaRPr lang="en-US" sz="700" i="1"/>
          </a:p>
        </p:txBody>
      </p:sp>
    </p:spTree>
    <p:extLst>
      <p:ext uri="{BB962C8B-B14F-4D97-AF65-F5344CB8AC3E}">
        <p14:creationId xmlns:p14="http://schemas.microsoft.com/office/powerpoint/2010/main" val="782066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586D3C-6B53-9E20-A567-D13417F7CB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B82A03C-439F-533F-8D5E-F869F659F6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2584863"/>
              </p:ext>
            </p:extLst>
          </p:nvPr>
        </p:nvGraphicFramePr>
        <p:xfrm>
          <a:off x="58194" y="588234"/>
          <a:ext cx="9085805" cy="4313478"/>
        </p:xfrm>
        <a:graphic>
          <a:graphicData uri="http://schemas.openxmlformats.org/drawingml/2006/table">
            <a:tbl>
              <a:tblPr firstRow="1" bandRow="1">
                <a:tableStyleId>{6A077030-E235-474E-B3E8-3EB61F41259E}</a:tableStyleId>
              </a:tblPr>
              <a:tblGrid>
                <a:gridCol w="6640454">
                  <a:extLst>
                    <a:ext uri="{9D8B030D-6E8A-4147-A177-3AD203B41FA5}">
                      <a16:colId xmlns:a16="http://schemas.microsoft.com/office/drawing/2014/main" val="569245144"/>
                    </a:ext>
                  </a:extLst>
                </a:gridCol>
                <a:gridCol w="2445351">
                  <a:extLst>
                    <a:ext uri="{9D8B030D-6E8A-4147-A177-3AD203B41FA5}">
                      <a16:colId xmlns:a16="http://schemas.microsoft.com/office/drawing/2014/main" val="653644736"/>
                    </a:ext>
                  </a:extLst>
                </a:gridCol>
              </a:tblGrid>
              <a:tr h="2007994"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u="sng" dirty="0"/>
                        <a:t>NGUYÊN NHÂN GỐC RỄ</a:t>
                      </a:r>
                    </a:p>
                    <a:p>
                      <a:pPr algn="ctr"/>
                      <a:endParaRPr lang="en-US" sz="1200" u="sng" dirty="0"/>
                    </a:p>
                    <a:p>
                      <a:pPr marL="0" indent="0" algn="l">
                        <a:buFontTx/>
                        <a:buNone/>
                      </a:pPr>
                      <a:r>
                        <a:rPr lang="en-US" sz="1000" u="none"/>
                        <a:t>Lợi nhuận sau thuế T03 </a:t>
                      </a:r>
                      <a:r>
                        <a:rPr lang="en-US" sz="1000" u="none" err="1"/>
                        <a:t>đạt</a:t>
                      </a:r>
                      <a:r>
                        <a:rPr lang="en-US" sz="1000" u="none"/>
                        <a:t> </a:t>
                      </a:r>
                      <a:r>
                        <a:rPr lang="en-US" sz="1200" b="1" u="none"/>
                        <a:t>-6.7</a:t>
                      </a:r>
                      <a:r>
                        <a:rPr lang="en-US" sz="1000" u="none"/>
                        <a:t>/128 </a:t>
                      </a:r>
                      <a:r>
                        <a:rPr lang="en-US" sz="1000" u="none" err="1"/>
                        <a:t>tỷ</a:t>
                      </a:r>
                      <a:r>
                        <a:rPr lang="en-US" sz="1000" u="none"/>
                        <a:t> Nguyên </a:t>
                      </a:r>
                      <a:r>
                        <a:rPr lang="en-US" sz="1000" u="none" dirty="0" err="1"/>
                        <a:t>nhân</a:t>
                      </a:r>
                      <a:r>
                        <a:rPr lang="en-US" sz="1000" u="none" dirty="0"/>
                        <a:t> </a:t>
                      </a:r>
                      <a:r>
                        <a:rPr lang="en-US" sz="1000" u="none" dirty="0" err="1"/>
                        <a:t>không</a:t>
                      </a:r>
                      <a:r>
                        <a:rPr lang="en-US" sz="1000" u="none" dirty="0"/>
                        <a:t> </a:t>
                      </a:r>
                      <a:r>
                        <a:rPr lang="en-US" sz="1000" u="none" dirty="0" err="1"/>
                        <a:t>đạt</a:t>
                      </a:r>
                      <a:r>
                        <a:rPr lang="en-US" sz="1000" u="none" dirty="0"/>
                        <a:t> </a:t>
                      </a:r>
                      <a:r>
                        <a:rPr lang="en-US" sz="1000" u="none" dirty="0" err="1"/>
                        <a:t>là</a:t>
                      </a:r>
                      <a:r>
                        <a:rPr lang="en-US" sz="1000" u="none" dirty="0"/>
                        <a:t> do:</a:t>
                      </a:r>
                    </a:p>
                    <a:p>
                      <a:pPr marL="0" indent="0" algn="l">
                        <a:buFontTx/>
                        <a:buNone/>
                      </a:pPr>
                      <a:endParaRPr lang="en-US" sz="1000" u="none" dirty="0"/>
                    </a:p>
                    <a:p>
                      <a:pPr marL="0" indent="0" algn="l">
                        <a:buFontTx/>
                        <a:buNone/>
                      </a:pPr>
                      <a:r>
                        <a:rPr lang="en-US" sz="1000" u="none"/>
                        <a:t>+ Nhóm ngành hàng </a:t>
                      </a:r>
                      <a:r>
                        <a:rPr lang="en-US" sz="1000" b="1" u="none"/>
                        <a:t>rHD ép lỗ</a:t>
                      </a:r>
                      <a:r>
                        <a:rPr lang="en-US" sz="1000" u="none"/>
                        <a:t>: tác động </a:t>
                      </a:r>
                      <a:r>
                        <a:rPr lang="en-US" sz="1000" b="1" u="none"/>
                        <a:t>giảm 3.3 tỷ</a:t>
                      </a:r>
                      <a:r>
                        <a:rPr lang="en-US" sz="1000" b="1" i="1" u="none"/>
                        <a:t> </a:t>
                      </a:r>
                      <a:r>
                        <a:rPr lang="en-US" sz="1000" b="0" i="1" u="none"/>
                        <a:t>(Ngân sách không lập bán nhóm hàng này);</a:t>
                      </a:r>
                      <a:endParaRPr lang="en-US" sz="1000" i="1" u="none"/>
                    </a:p>
                    <a:p>
                      <a:pPr marL="0" indent="0" algn="l">
                        <a:buFontTx/>
                        <a:buNone/>
                      </a:pPr>
                      <a:endParaRPr lang="en-US" sz="1000" b="1" i="0" u="none"/>
                    </a:p>
                    <a:p>
                      <a:pPr marL="0" indent="0" algn="l">
                        <a:buFontTx/>
                        <a:buNone/>
                      </a:pPr>
                      <a:r>
                        <a:rPr lang="en-US" sz="1000" b="0" i="0" u="none"/>
                        <a:t>+</a:t>
                      </a:r>
                      <a:r>
                        <a:rPr lang="en-US" sz="1000" b="1" i="0" u="none"/>
                        <a:t> Đẩy mạnh </a:t>
                      </a:r>
                      <a:r>
                        <a:rPr lang="en-US" sz="1000" b="0" i="0" u="none"/>
                        <a:t>bán nhóm hàng </a:t>
                      </a:r>
                      <a:r>
                        <a:rPr lang="en-US" sz="1000" b="1" i="0" u="none"/>
                        <a:t>xơ sợi </a:t>
                      </a:r>
                      <a:r>
                        <a:rPr lang="en-US" sz="1000" b="0" i="0" u="none"/>
                        <a:t>tồn kho lâu: tác động </a:t>
                      </a:r>
                      <a:r>
                        <a:rPr lang="en-US" sz="1000" b="1" i="0" u="none"/>
                        <a:t>giảm 3.4 tỷ </a:t>
                      </a:r>
                      <a:r>
                        <a:rPr lang="en-US" sz="1000" b="0" i="0" u="none"/>
                        <a:t>(</a:t>
                      </a:r>
                      <a:r>
                        <a:rPr lang="en-US" sz="1000" b="0" i="1" u="none"/>
                        <a:t>Ngân sách lập bán 86.6 tấn; thực tế bán 363.5 tấn)</a:t>
                      </a:r>
                      <a:r>
                        <a:rPr lang="en-US" sz="1000" b="0" i="0" u="none"/>
                        <a:t>;</a:t>
                      </a:r>
                    </a:p>
                    <a:p>
                      <a:pPr marL="0" indent="0" algn="l">
                        <a:buFontTx/>
                        <a:buNone/>
                      </a:pPr>
                      <a:endParaRPr lang="en-US" sz="1000" b="0" i="0" u="none"/>
                    </a:p>
                    <a:p>
                      <a:pPr marL="0" indent="0" algn="l">
                        <a:buFontTx/>
                        <a:buNone/>
                      </a:pPr>
                      <a:r>
                        <a:rPr lang="en-US" sz="1000" b="0" i="0" u="none"/>
                        <a:t>+ </a:t>
                      </a:r>
                      <a:r>
                        <a:rPr lang="en-US" sz="1000" b="1" i="0" u="none"/>
                        <a:t>Dây đai PET và bụi tank lỗ</a:t>
                      </a:r>
                      <a:r>
                        <a:rPr lang="en-US" sz="1000" b="0" i="0" u="none"/>
                        <a:t>: tác động lần lượt </a:t>
                      </a:r>
                      <a:r>
                        <a:rPr lang="en-US" sz="1000" b="1" i="0" u="none"/>
                        <a:t>giảm 0.79 tỷ và 0.6 tỷ</a:t>
                      </a:r>
                      <a:r>
                        <a:rPr lang="en-US" sz="1000" b="0" i="0" u="none"/>
                        <a:t>;</a:t>
                      </a:r>
                      <a:endParaRPr lang="en-US" sz="1000" b="1" i="0" u="none"/>
                    </a:p>
                    <a:p>
                      <a:pPr marL="0" indent="0" algn="l">
                        <a:buFontTx/>
                        <a:buNone/>
                      </a:pPr>
                      <a:endParaRPr lang="en-US" sz="1000" b="1" i="0" u="none"/>
                    </a:p>
                    <a:p>
                      <a:pPr marL="0" indent="0" algn="l">
                        <a:buFontTx/>
                        <a:buNone/>
                      </a:pPr>
                      <a:r>
                        <a:rPr lang="en-US" sz="1000" b="0" i="0" u="none"/>
                        <a:t>+ </a:t>
                      </a:r>
                      <a:r>
                        <a:rPr lang="en-US" sz="1000" b="1" i="0" u="none"/>
                        <a:t>Tỷ giá</a:t>
                      </a:r>
                      <a:r>
                        <a:rPr lang="en-US" sz="1000" b="0" i="0" u="none"/>
                        <a:t> thực tế trung bình đạt 26,209/26,500 Ngân sách: tác động </a:t>
                      </a:r>
                      <a:r>
                        <a:rPr lang="en-US" sz="1000" b="1" i="0" u="none"/>
                        <a:t>giảm 1.7 tỷ</a:t>
                      </a:r>
                    </a:p>
                    <a:p>
                      <a:pPr marL="0" indent="0" algn="l">
                        <a:buFontTx/>
                        <a:buNone/>
                      </a:pPr>
                      <a:endParaRPr lang="en-US" sz="1000" b="1" i="0" u="none"/>
                    </a:p>
                    <a:p>
                      <a:pPr marL="0" indent="0" algn="l">
                        <a:buFontTx/>
                        <a:buNone/>
                      </a:pPr>
                      <a:r>
                        <a:rPr lang="en-US" sz="1000" b="0" i="0" u="none"/>
                        <a:t>+</a:t>
                      </a:r>
                      <a:r>
                        <a:rPr lang="en-US" sz="1000" b="1" i="0" u="none"/>
                        <a:t> </a:t>
                      </a:r>
                      <a:r>
                        <a:rPr lang="en-US" sz="1000" b="0" i="0" u="none"/>
                        <a:t>Điều chỉnh thuê xưởng-thuê máy theo yêu cầu kiểm toán: tác động </a:t>
                      </a:r>
                      <a:r>
                        <a:rPr lang="en-US" sz="1000" b="1" i="0" u="none"/>
                        <a:t>giảm 1.1 tỷ</a:t>
                      </a:r>
                    </a:p>
                    <a:p>
                      <a:pPr marL="0" indent="0" algn="l">
                        <a:buFontTx/>
                        <a:buNone/>
                      </a:pPr>
                      <a:endParaRPr lang="en-US" sz="1000" b="1" i="0" u="none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Tx/>
                        <a:buNone/>
                        <a:tabLst/>
                        <a:defRPr/>
                      </a:pPr>
                      <a:endParaRPr lang="en-US" sz="1000" b="1" i="1" u="non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1659027"/>
                  </a:ext>
                </a:extLst>
              </a:tr>
              <a:tr h="2305484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9797017"/>
                  </a:ext>
                </a:extLst>
              </a:tr>
            </a:tbl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ED114226-FCD5-D76C-BE5E-85BE58C7C8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5534"/>
            <a:ext cx="9085805" cy="572700"/>
          </a:xfrm>
        </p:spPr>
        <p:txBody>
          <a:bodyPr/>
          <a:lstStyle/>
          <a:p>
            <a:pPr algn="ctr"/>
            <a:r>
              <a:rPr lang="en-US" sz="2000" b="1">
                <a:solidFill>
                  <a:srgbClr val="119303"/>
                </a:solidFill>
              </a:rPr>
              <a:t>3.1</a:t>
            </a:r>
            <a:r>
              <a:rPr lang="en-US" sz="2300" b="1">
                <a:solidFill>
                  <a:srgbClr val="119303"/>
                </a:solidFill>
              </a:rPr>
              <a:t>. </a:t>
            </a:r>
            <a:r>
              <a:rPr lang="en-US" sz="2200" b="1">
                <a:solidFill>
                  <a:srgbClr val="119303"/>
                </a:solidFill>
              </a:rPr>
              <a:t>KẾT QUẢ HOẠT ĐỘNG KINH DOANH – </a:t>
            </a:r>
            <a:r>
              <a:rPr lang="en-US" sz="2200" b="1">
                <a:solidFill>
                  <a:schemeClr val="accent2">
                    <a:lumMod val="75000"/>
                  </a:schemeClr>
                </a:solidFill>
              </a:rPr>
              <a:t>GIẢI TRÌNH LỢI NHUẬN SAU THUẾ</a:t>
            </a:r>
            <a:endParaRPr lang="en-US" sz="2200" b="1">
              <a:solidFill>
                <a:schemeClr val="tx1">
                  <a:lumMod val="65000"/>
                  <a:lumOff val="35000"/>
                </a:schemeClr>
              </a:solidFill>
              <a:latin typeface="+mn-lt"/>
            </a:endParaRPr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378D21C2-38BB-5517-6B04-B71DDE370E3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98973190"/>
              </p:ext>
            </p:extLst>
          </p:nvPr>
        </p:nvGraphicFramePr>
        <p:xfrm>
          <a:off x="58195" y="806598"/>
          <a:ext cx="6608736" cy="190930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A42DD51F-2EB1-6F56-73EF-55033ABF68F5}"/>
              </a:ext>
            </a:extLst>
          </p:cNvPr>
          <p:cNvSpPr/>
          <p:nvPr/>
        </p:nvSpPr>
        <p:spPr>
          <a:xfrm>
            <a:off x="58195" y="588234"/>
            <a:ext cx="6608736" cy="218364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900" b="1">
                <a:solidFill>
                  <a:schemeClr val="tx1"/>
                </a:solidFill>
              </a:rPr>
              <a:t>LỢI NHUẬN SAU THUẾ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897BFB3-082D-5455-8391-A06836253DCA}"/>
              </a:ext>
            </a:extLst>
          </p:cNvPr>
          <p:cNvSpPr/>
          <p:nvPr/>
        </p:nvSpPr>
        <p:spPr>
          <a:xfrm>
            <a:off x="66119" y="2710540"/>
            <a:ext cx="6608736" cy="218364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900" b="1">
                <a:solidFill>
                  <a:schemeClr val="tx1"/>
                </a:solidFill>
              </a:rPr>
              <a:t>LŨY KẾ LỢI NHUẬN SAU THUẾ</a:t>
            </a:r>
          </a:p>
        </p:txBody>
      </p:sp>
      <p:graphicFrame>
        <p:nvGraphicFramePr>
          <p:cNvPr id="15" name="Chart 14">
            <a:extLst>
              <a:ext uri="{FF2B5EF4-FFF2-40B4-BE49-F238E27FC236}">
                <a16:creationId xmlns:a16="http://schemas.microsoft.com/office/drawing/2014/main" id="{2085B7AD-86DA-B33F-93C7-F418DF64BA9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44035374"/>
              </p:ext>
            </p:extLst>
          </p:nvPr>
        </p:nvGraphicFramePr>
        <p:xfrm>
          <a:off x="58195" y="2913373"/>
          <a:ext cx="6608736" cy="190930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7A7D6023-4704-48F0-E690-4977B6468BE1}"/>
              </a:ext>
            </a:extLst>
          </p:cNvPr>
          <p:cNvSpPr txBox="1"/>
          <p:nvPr/>
        </p:nvSpPr>
        <p:spPr>
          <a:xfrm>
            <a:off x="5896612" y="586941"/>
            <a:ext cx="665567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00" i="1" err="1"/>
              <a:t>Đvt</a:t>
            </a:r>
            <a:r>
              <a:rPr lang="en-US" sz="700" i="1"/>
              <a:t>: </a:t>
            </a:r>
            <a:r>
              <a:rPr lang="en-US" sz="700" i="1" err="1"/>
              <a:t>tỷ</a:t>
            </a:r>
            <a:r>
              <a:rPr lang="en-US" sz="700" i="1"/>
              <a:t> </a:t>
            </a:r>
            <a:r>
              <a:rPr lang="en-US" sz="700" i="1" err="1"/>
              <a:t>đồng</a:t>
            </a:r>
            <a:endParaRPr lang="en-US" sz="700" i="1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DF5D8C5-F4E0-E66B-0A9A-0441E96AA25F}"/>
              </a:ext>
            </a:extLst>
          </p:cNvPr>
          <p:cNvSpPr txBox="1"/>
          <p:nvPr/>
        </p:nvSpPr>
        <p:spPr>
          <a:xfrm>
            <a:off x="5896613" y="2704445"/>
            <a:ext cx="665567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00" i="1" err="1"/>
              <a:t>Đvt</a:t>
            </a:r>
            <a:r>
              <a:rPr lang="en-US" sz="700" i="1"/>
              <a:t>: </a:t>
            </a:r>
            <a:r>
              <a:rPr lang="en-US" sz="700" i="1" err="1"/>
              <a:t>tỷ</a:t>
            </a:r>
            <a:r>
              <a:rPr lang="en-US" sz="700" i="1"/>
              <a:t> </a:t>
            </a:r>
            <a:r>
              <a:rPr lang="en-US" sz="700" i="1" err="1"/>
              <a:t>đồng</a:t>
            </a:r>
            <a:endParaRPr lang="en-US" sz="700" i="1"/>
          </a:p>
        </p:txBody>
      </p:sp>
    </p:spTree>
    <p:extLst>
      <p:ext uri="{BB962C8B-B14F-4D97-AF65-F5344CB8AC3E}">
        <p14:creationId xmlns:p14="http://schemas.microsoft.com/office/powerpoint/2010/main" val="17194055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>
            <a:extLst>
              <a:ext uri="{FF2B5EF4-FFF2-40B4-BE49-F238E27FC236}">
                <a16:creationId xmlns:a16="http://schemas.microsoft.com/office/drawing/2014/main" id="{091B2FE0-30F2-11AF-B20A-6A9FF6AC62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23691"/>
            <a:ext cx="9144000" cy="457987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22DE1A1-2B3E-8A44-EA21-6B32CBC49D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6767"/>
            <a:ext cx="9144000" cy="333440"/>
          </a:xfrm>
        </p:spPr>
        <p:txBody>
          <a:bodyPr anchor="ctr"/>
          <a:lstStyle/>
          <a:p>
            <a:pPr algn="ctr"/>
            <a:r>
              <a:rPr lang="en-US" sz="2000" b="1">
                <a:solidFill>
                  <a:srgbClr val="119303"/>
                </a:solidFill>
              </a:rPr>
              <a:t>3.1</a:t>
            </a:r>
            <a:r>
              <a:rPr lang="en-US" sz="2200" b="1">
                <a:solidFill>
                  <a:srgbClr val="119303"/>
                </a:solidFill>
              </a:rPr>
              <a:t>. KẾT QUẢ HOẠT ĐỘNG KINH DOANH – </a:t>
            </a:r>
            <a:r>
              <a:rPr lang="en-US" sz="2200" b="1">
                <a:solidFill>
                  <a:schemeClr val="accent2">
                    <a:lumMod val="75000"/>
                  </a:schemeClr>
                </a:solidFill>
              </a:rPr>
              <a:t>GIÁ BÁN</a:t>
            </a:r>
            <a:endParaRPr lang="en-US" sz="2200" b="1">
              <a:solidFill>
                <a:schemeClr val="tx1">
                  <a:lumMod val="65000"/>
                  <a:lumOff val="35000"/>
                </a:schemeClr>
              </a:solidFill>
              <a:latin typeface="+mn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AC6F4F-DCC0-F9AC-B309-0D22409660BC}"/>
              </a:ext>
            </a:extLst>
          </p:cNvPr>
          <p:cNvSpPr txBox="1"/>
          <p:nvPr/>
        </p:nvSpPr>
        <p:spPr>
          <a:xfrm>
            <a:off x="0" y="4701859"/>
            <a:ext cx="116570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i="1" u="sng" err="1">
                <a:solidFill>
                  <a:schemeClr val="bg1">
                    <a:lumMod val="75000"/>
                  </a:schemeClr>
                </a:solidFill>
              </a:rPr>
              <a:t>Ghi</a:t>
            </a:r>
            <a:r>
              <a:rPr lang="en-US" sz="800" i="1" u="sng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en-US" sz="800" i="1" u="sng" err="1">
                <a:solidFill>
                  <a:schemeClr val="bg1">
                    <a:lumMod val="75000"/>
                  </a:schemeClr>
                </a:solidFill>
              </a:rPr>
              <a:t>chú</a:t>
            </a:r>
            <a:r>
              <a:rPr lang="en-US" sz="800" i="1">
                <a:solidFill>
                  <a:schemeClr val="bg1">
                    <a:lumMod val="75000"/>
                  </a:schemeClr>
                </a:solidFill>
              </a:rPr>
              <a:t>: </a:t>
            </a:r>
            <a:r>
              <a:rPr lang="en-US" sz="800" i="1" err="1">
                <a:solidFill>
                  <a:schemeClr val="bg1">
                    <a:lumMod val="75000"/>
                  </a:schemeClr>
                </a:solidFill>
              </a:rPr>
              <a:t>lấy</a:t>
            </a:r>
            <a:r>
              <a:rPr lang="en-US" sz="800" i="1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en-US" sz="800" i="1" err="1">
                <a:solidFill>
                  <a:schemeClr val="bg1">
                    <a:lumMod val="75000"/>
                  </a:schemeClr>
                </a:solidFill>
              </a:rPr>
              <a:t>hạt</a:t>
            </a:r>
            <a:r>
              <a:rPr lang="en-US" sz="800" i="1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en-US" sz="800" i="1" err="1">
                <a:solidFill>
                  <a:schemeClr val="bg1">
                    <a:lumMod val="75000"/>
                  </a:schemeClr>
                </a:solidFill>
              </a:rPr>
              <a:t>rPET</a:t>
            </a:r>
            <a:endParaRPr lang="en-US" sz="800" i="1">
              <a:solidFill>
                <a:schemeClr val="bg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67247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300A90-5405-EB02-E8A6-C76DA193C0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58957F-5186-1C98-EE4C-9C59C2AC27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67521" cy="348975"/>
          </a:xfrm>
        </p:spPr>
        <p:txBody>
          <a:bodyPr anchor="ctr"/>
          <a:lstStyle/>
          <a:p>
            <a:pPr algn="ctr"/>
            <a:r>
              <a:rPr lang="en-US" sz="2000" b="1">
                <a:solidFill>
                  <a:srgbClr val="119303"/>
                </a:solidFill>
              </a:rPr>
              <a:t>3.1. KẾT QUẢ HOẠT ĐỘNG KINH DOANH – </a:t>
            </a:r>
            <a:r>
              <a:rPr lang="en-US" sz="2000" b="1">
                <a:solidFill>
                  <a:schemeClr val="accent2">
                    <a:lumMod val="75000"/>
                  </a:schemeClr>
                </a:solidFill>
              </a:rPr>
              <a:t>BIẾN ĐỘNG D.THU THEO YẾU TỐ</a:t>
            </a:r>
            <a:endParaRPr lang="en-US" sz="2000" b="1">
              <a:solidFill>
                <a:schemeClr val="tx1">
                  <a:lumMod val="65000"/>
                  <a:lumOff val="35000"/>
                </a:schemeClr>
              </a:solidFill>
              <a:latin typeface="+mn-lt"/>
            </a:endParaRP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100BE8B6-6083-B7AE-2EFA-0BF3D21709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2254927"/>
              </p:ext>
            </p:extLst>
          </p:nvPr>
        </p:nvGraphicFramePr>
        <p:xfrm>
          <a:off x="4648200" y="2627178"/>
          <a:ext cx="4407310" cy="2280344"/>
        </p:xfrm>
        <a:graphic>
          <a:graphicData uri="http://schemas.openxmlformats.org/drawingml/2006/table">
            <a:tbl>
              <a:tblPr firstRow="1" bandRow="1">
                <a:tableStyleId>{6A077030-E235-474E-B3E8-3EB61F41259E}</a:tableStyleId>
              </a:tblPr>
              <a:tblGrid>
                <a:gridCol w="881462">
                  <a:extLst>
                    <a:ext uri="{9D8B030D-6E8A-4147-A177-3AD203B41FA5}">
                      <a16:colId xmlns:a16="http://schemas.microsoft.com/office/drawing/2014/main" val="1717908629"/>
                    </a:ext>
                  </a:extLst>
                </a:gridCol>
                <a:gridCol w="881462">
                  <a:extLst>
                    <a:ext uri="{9D8B030D-6E8A-4147-A177-3AD203B41FA5}">
                      <a16:colId xmlns:a16="http://schemas.microsoft.com/office/drawing/2014/main" val="3559197361"/>
                    </a:ext>
                  </a:extLst>
                </a:gridCol>
                <a:gridCol w="881462">
                  <a:extLst>
                    <a:ext uri="{9D8B030D-6E8A-4147-A177-3AD203B41FA5}">
                      <a16:colId xmlns:a16="http://schemas.microsoft.com/office/drawing/2014/main" val="3363158761"/>
                    </a:ext>
                  </a:extLst>
                </a:gridCol>
                <a:gridCol w="881462">
                  <a:extLst>
                    <a:ext uri="{9D8B030D-6E8A-4147-A177-3AD203B41FA5}">
                      <a16:colId xmlns:a16="http://schemas.microsoft.com/office/drawing/2014/main" val="1671578071"/>
                    </a:ext>
                  </a:extLst>
                </a:gridCol>
                <a:gridCol w="881462">
                  <a:extLst>
                    <a:ext uri="{9D8B030D-6E8A-4147-A177-3AD203B41FA5}">
                      <a16:colId xmlns:a16="http://schemas.microsoft.com/office/drawing/2014/main" val="337286103"/>
                    </a:ext>
                  </a:extLst>
                </a:gridCol>
              </a:tblGrid>
              <a:tr h="622083">
                <a:tc>
                  <a:txBody>
                    <a:bodyPr/>
                    <a:lstStyle/>
                    <a:p>
                      <a:pPr algn="ctr"/>
                      <a:r>
                        <a:rPr lang="en-US" sz="1300" b="1" err="1">
                          <a:solidFill>
                            <a:schemeClr val="bg1"/>
                          </a:solidFill>
                          <a:latin typeface="Aptos Narrow" panose="020B0004020202020204" pitchFamily="34" charset="0"/>
                        </a:rPr>
                        <a:t>Đơn</a:t>
                      </a:r>
                      <a:r>
                        <a:rPr lang="en-US" sz="1300" b="1">
                          <a:solidFill>
                            <a:schemeClr val="bg1"/>
                          </a:solidFill>
                          <a:latin typeface="Aptos Narrow" panose="020B0004020202020204" pitchFamily="34" charset="0"/>
                        </a:rPr>
                        <a:t> </a:t>
                      </a:r>
                      <a:r>
                        <a:rPr lang="en-US" sz="1300" b="1" err="1">
                          <a:solidFill>
                            <a:schemeClr val="bg1"/>
                          </a:solidFill>
                          <a:latin typeface="Aptos Narrow" panose="020B0004020202020204" pitchFamily="34" charset="0"/>
                        </a:rPr>
                        <a:t>giá</a:t>
                      </a:r>
                      <a:r>
                        <a:rPr lang="en-US" sz="1300" b="1">
                          <a:solidFill>
                            <a:schemeClr val="bg1"/>
                          </a:solidFill>
                          <a:latin typeface="Aptos Narrow" panose="020B0004020202020204" pitchFamily="34" charset="0"/>
                        </a:rPr>
                        <a:t> EXW </a:t>
                      </a:r>
                      <a:r>
                        <a:rPr lang="en-US" sz="900" b="1" i="1">
                          <a:solidFill>
                            <a:schemeClr val="bg1"/>
                          </a:solidFill>
                          <a:latin typeface="Aptos Narrow" panose="020B0004020202020204" pitchFamily="34" charset="0"/>
                        </a:rPr>
                        <a:t>(USD/</a:t>
                      </a:r>
                      <a:r>
                        <a:rPr lang="en-US" sz="900" b="1" i="1" err="1">
                          <a:solidFill>
                            <a:schemeClr val="bg1"/>
                          </a:solidFill>
                          <a:latin typeface="Aptos Narrow" panose="020B0004020202020204" pitchFamily="34" charset="0"/>
                        </a:rPr>
                        <a:t>tấn</a:t>
                      </a:r>
                      <a:r>
                        <a:rPr lang="en-US" sz="900" b="1" i="1">
                          <a:solidFill>
                            <a:schemeClr val="bg1"/>
                          </a:solidFill>
                          <a:latin typeface="Aptos Narrow" panose="020B0004020202020204" pitchFamily="34" charset="0"/>
                        </a:rPr>
                        <a:t>)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err="1">
                          <a:solidFill>
                            <a:schemeClr val="bg1"/>
                          </a:solidFill>
                          <a:latin typeface="Aptos Narrow" panose="020B0004020202020204" pitchFamily="34" charset="0"/>
                        </a:rPr>
                        <a:t>Kế</a:t>
                      </a:r>
                      <a:r>
                        <a:rPr lang="en-US" b="1">
                          <a:solidFill>
                            <a:schemeClr val="bg1"/>
                          </a:solidFill>
                          <a:latin typeface="Aptos Narrow" panose="020B0004020202020204" pitchFamily="34" charset="0"/>
                        </a:rPr>
                        <a:t> </a:t>
                      </a:r>
                      <a:r>
                        <a:rPr lang="en-US" b="1" err="1">
                          <a:solidFill>
                            <a:schemeClr val="bg1"/>
                          </a:solidFill>
                          <a:latin typeface="Aptos Narrow" panose="020B0004020202020204" pitchFamily="34" charset="0"/>
                        </a:rPr>
                        <a:t>hoạch</a:t>
                      </a:r>
                      <a:endParaRPr lang="en-US" b="1">
                        <a:solidFill>
                          <a:schemeClr val="bg1"/>
                        </a:solidFill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err="1">
                          <a:solidFill>
                            <a:schemeClr val="bg1"/>
                          </a:solidFill>
                          <a:latin typeface="Aptos Narrow" panose="020B0004020202020204" pitchFamily="34" charset="0"/>
                        </a:rPr>
                        <a:t>Thực</a:t>
                      </a:r>
                      <a:r>
                        <a:rPr lang="en-US" b="1">
                          <a:solidFill>
                            <a:schemeClr val="bg1"/>
                          </a:solidFill>
                          <a:latin typeface="Aptos Narrow" panose="020B0004020202020204" pitchFamily="34" charset="0"/>
                        </a:rPr>
                        <a:t> </a:t>
                      </a:r>
                      <a:r>
                        <a:rPr lang="en-US" b="1" err="1">
                          <a:solidFill>
                            <a:schemeClr val="bg1"/>
                          </a:solidFill>
                          <a:latin typeface="Aptos Narrow" panose="020B0004020202020204" pitchFamily="34" charset="0"/>
                        </a:rPr>
                        <a:t>tế</a:t>
                      </a:r>
                      <a:endParaRPr lang="en-US" b="1">
                        <a:solidFill>
                          <a:schemeClr val="bg1"/>
                        </a:solidFill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chemeClr val="bg1"/>
                          </a:solidFill>
                          <a:latin typeface="Aptos Narrow" panose="020B0004020202020204" pitchFamily="34" charset="0"/>
                        </a:rPr>
                        <a:t>+/-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chemeClr val="bg1"/>
                          </a:solidFill>
                          <a:latin typeface="Aptos Narrow" panose="020B0004020202020204" pitchFamily="34" charset="0"/>
                        </a:rPr>
                        <a:t>%+/-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4691827"/>
                  </a:ext>
                </a:extLst>
              </a:tr>
              <a:tr h="291664">
                <a:tc>
                  <a:txBody>
                    <a:bodyPr/>
                    <a:lstStyle/>
                    <a:p>
                      <a:pPr algn="ctr"/>
                      <a:r>
                        <a:rPr lang="en-US" err="1">
                          <a:latin typeface="Aptos Narrow" panose="020B0004020202020204" pitchFamily="34" charset="0"/>
                        </a:rPr>
                        <a:t>rPET</a:t>
                      </a:r>
                      <a:endParaRPr lang="en-US"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>
                          <a:latin typeface="Aptos Narrow" panose="020B0004020202020204" pitchFamily="34" charset="0"/>
                        </a:rPr>
                        <a:t>$1,118</a:t>
                      </a:r>
                      <a:endParaRPr lang="en-US" dirty="0"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>
                          <a:latin typeface="Aptos Narrow" panose="020B0004020202020204" pitchFamily="34" charset="0"/>
                        </a:rPr>
                        <a:t>$1,111</a:t>
                      </a:r>
                      <a:endParaRPr lang="en-US" dirty="0"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sz="1000">
                          <a:solidFill>
                            <a:schemeClr val="tx1"/>
                          </a:solidFill>
                          <a:latin typeface="Aptos Narrow" panose="020B0004020202020204" pitchFamily="34" charset="0"/>
                        </a:rPr>
                        <a:t>-$7</a:t>
                      </a:r>
                      <a:endParaRPr lang="en-US" sz="1000" dirty="0">
                        <a:solidFill>
                          <a:schemeClr val="tx1"/>
                        </a:solidFill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sz="1000">
                          <a:solidFill>
                            <a:schemeClr val="tx1"/>
                          </a:solidFill>
                          <a:latin typeface="Aptos Narrow" panose="020B0004020202020204" pitchFamily="34" charset="0"/>
                        </a:rPr>
                        <a:t>-0.6%</a:t>
                      </a:r>
                      <a:endParaRPr lang="en-US" sz="1000" dirty="0">
                        <a:solidFill>
                          <a:schemeClr val="tx1"/>
                        </a:solidFill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53171756"/>
                  </a:ext>
                </a:extLst>
              </a:tr>
              <a:tr h="436304">
                <a:tc>
                  <a:txBody>
                    <a:bodyPr/>
                    <a:lstStyle/>
                    <a:p>
                      <a:pPr algn="ctr"/>
                      <a:r>
                        <a:rPr lang="en-US" sz="1200" err="1">
                          <a:latin typeface="Aptos Narrow" panose="020B0004020202020204" pitchFamily="34" charset="0"/>
                        </a:rPr>
                        <a:t>rHDPE</a:t>
                      </a:r>
                      <a:r>
                        <a:rPr lang="en-US" sz="1200">
                          <a:latin typeface="Aptos Narrow" panose="020B0004020202020204" pitchFamily="34" charset="0"/>
                        </a:rPr>
                        <a:t> </a:t>
                      </a:r>
                      <a:r>
                        <a:rPr lang="en-US" sz="1200" err="1">
                          <a:latin typeface="Aptos Narrow" panose="020B0004020202020204" pitchFamily="34" charset="0"/>
                        </a:rPr>
                        <a:t>thổi</a:t>
                      </a:r>
                      <a:endParaRPr lang="en-US" sz="1200"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>
                          <a:latin typeface="Aptos Narrow" panose="020B0004020202020204" pitchFamily="34" charset="0"/>
                        </a:rPr>
                        <a:t>$1,179</a:t>
                      </a:r>
                      <a:endParaRPr lang="en-US" dirty="0"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>
                          <a:latin typeface="Aptos Narrow" panose="020B0004020202020204" pitchFamily="34" charset="0"/>
                        </a:rPr>
                        <a:t>$1,179</a:t>
                      </a:r>
                      <a:endParaRPr lang="en-US" dirty="0"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sz="1000">
                          <a:solidFill>
                            <a:schemeClr val="tx1"/>
                          </a:solidFill>
                          <a:latin typeface="Aptos Narrow" panose="020B0004020202020204" pitchFamily="34" charset="0"/>
                        </a:rPr>
                        <a:t>$0</a:t>
                      </a:r>
                      <a:endParaRPr lang="en-US" sz="1000" dirty="0">
                        <a:solidFill>
                          <a:schemeClr val="tx1"/>
                        </a:solidFill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sz="1000">
                          <a:solidFill>
                            <a:schemeClr val="tx1"/>
                          </a:solidFill>
                          <a:latin typeface="Aptos Narrow" panose="020B0004020202020204" pitchFamily="34" charset="0"/>
                        </a:rPr>
                        <a:t>0.0%</a:t>
                      </a:r>
                      <a:endParaRPr lang="en-US" sz="1000" dirty="0">
                        <a:solidFill>
                          <a:schemeClr val="tx1"/>
                        </a:solidFill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27950092"/>
                  </a:ext>
                </a:extLst>
              </a:tr>
              <a:tr h="29166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200" err="1">
                          <a:latin typeface="Aptos Narrow" panose="020B0004020202020204" pitchFamily="34" charset="0"/>
                        </a:rPr>
                        <a:t>rHDPE</a:t>
                      </a:r>
                      <a:r>
                        <a:rPr lang="en-US" sz="1200">
                          <a:latin typeface="Aptos Narrow" panose="020B0004020202020204" pitchFamily="34" charset="0"/>
                        </a:rPr>
                        <a:t> </a:t>
                      </a:r>
                      <a:r>
                        <a:rPr lang="en-US" sz="1200" err="1">
                          <a:latin typeface="Aptos Narrow" panose="020B0004020202020204" pitchFamily="34" charset="0"/>
                        </a:rPr>
                        <a:t>ép</a:t>
                      </a:r>
                      <a:endParaRPr lang="en-US" sz="1200"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vi-VN">
                          <a:latin typeface="Aptos Narrow" panose="020B0004020202020204" pitchFamily="34" charset="0"/>
                        </a:rPr>
                        <a:t>-</a:t>
                      </a:r>
                      <a:endParaRPr lang="en-US" dirty="0"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vi-VN">
                          <a:latin typeface="Aptos Narrow" panose="020B0004020202020204" pitchFamily="34" charset="0"/>
                        </a:rPr>
                        <a:t>$674</a:t>
                      </a:r>
                      <a:endParaRPr lang="en-US" dirty="0"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solidFill>
                          <a:schemeClr val="tx1"/>
                        </a:solidFill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solidFill>
                          <a:schemeClr val="tx1"/>
                        </a:solidFill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07803400"/>
                  </a:ext>
                </a:extLst>
              </a:tr>
              <a:tr h="291664">
                <a:tc>
                  <a:txBody>
                    <a:bodyPr/>
                    <a:lstStyle/>
                    <a:p>
                      <a:pPr algn="ctr"/>
                      <a:r>
                        <a:rPr lang="en-US" err="1">
                          <a:latin typeface="Aptos Narrow" panose="020B0004020202020204" pitchFamily="34" charset="0"/>
                        </a:rPr>
                        <a:t>rPP</a:t>
                      </a:r>
                      <a:endParaRPr lang="en-US"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vi-VN">
                          <a:latin typeface="Aptos Narrow" panose="020B0004020202020204" pitchFamily="34" charset="0"/>
                        </a:rPr>
                        <a:t>$692</a:t>
                      </a:r>
                      <a:endParaRPr lang="en-US" dirty="0"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>
                          <a:latin typeface="Aptos Narrow" panose="020B0004020202020204" pitchFamily="34" charset="0"/>
                        </a:rPr>
                        <a:t>$665</a:t>
                      </a:r>
                      <a:endParaRPr lang="en-US" dirty="0"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sz="1000">
                          <a:solidFill>
                            <a:schemeClr val="tx1"/>
                          </a:solidFill>
                          <a:latin typeface="Aptos Narrow" panose="020B0004020202020204" pitchFamily="34" charset="0"/>
                        </a:rPr>
                        <a:t>-$27</a:t>
                      </a:r>
                      <a:endParaRPr lang="en-US" sz="1000" dirty="0">
                        <a:solidFill>
                          <a:schemeClr val="tx1"/>
                        </a:solidFill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sz="1000">
                          <a:solidFill>
                            <a:schemeClr val="tx1"/>
                          </a:solidFill>
                          <a:latin typeface="Aptos Narrow" panose="020B0004020202020204" pitchFamily="34" charset="0"/>
                        </a:rPr>
                        <a:t>-3.9%</a:t>
                      </a:r>
                      <a:endParaRPr lang="en-US" sz="1000" dirty="0">
                        <a:solidFill>
                          <a:schemeClr val="tx1"/>
                        </a:solidFill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61698325"/>
                  </a:ext>
                </a:extLst>
              </a:tr>
              <a:tr h="291664">
                <a:tc>
                  <a:txBody>
                    <a:bodyPr/>
                    <a:lstStyle/>
                    <a:p>
                      <a:pPr algn="ctr"/>
                      <a:r>
                        <a:rPr lang="en-US" dirty="0" err="1">
                          <a:latin typeface="Aptos Narrow" panose="020B0004020202020204" pitchFamily="34" charset="0"/>
                        </a:rPr>
                        <a:t>Xơ</a:t>
                      </a:r>
                      <a:r>
                        <a:rPr lang="en-US" dirty="0">
                          <a:latin typeface="Aptos Narrow" panose="020B0004020202020204" pitchFamily="34" charset="0"/>
                        </a:rPr>
                        <a:t> </a:t>
                      </a:r>
                      <a:r>
                        <a:rPr lang="en-US" dirty="0" err="1">
                          <a:latin typeface="Aptos Narrow" panose="020B0004020202020204" pitchFamily="34" charset="0"/>
                        </a:rPr>
                        <a:t>sợi</a:t>
                      </a:r>
                      <a:endParaRPr lang="en-US" dirty="0"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>
                          <a:latin typeface="Aptos Narrow" panose="020B0004020202020204" pitchFamily="34" charset="0"/>
                        </a:rPr>
                        <a:t>$619</a:t>
                      </a:r>
                      <a:endParaRPr lang="en-US" dirty="0"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>
                          <a:latin typeface="Aptos Narrow" panose="020B0004020202020204" pitchFamily="34" charset="0"/>
                        </a:rPr>
                        <a:t>$630</a:t>
                      </a:r>
                      <a:endParaRPr lang="en-US" dirty="0"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sz="1000">
                          <a:solidFill>
                            <a:schemeClr val="tx1"/>
                          </a:solidFill>
                          <a:latin typeface="Aptos Narrow" panose="020B0004020202020204" pitchFamily="34" charset="0"/>
                        </a:rPr>
                        <a:t>$11</a:t>
                      </a:r>
                      <a:endParaRPr lang="en-US" sz="1000" dirty="0">
                        <a:solidFill>
                          <a:schemeClr val="tx1"/>
                        </a:solidFill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sz="1000">
                          <a:solidFill>
                            <a:schemeClr val="tx1"/>
                          </a:solidFill>
                          <a:latin typeface="Aptos Narrow" panose="020B0004020202020204" pitchFamily="34" charset="0"/>
                        </a:rPr>
                        <a:t>1.8%</a:t>
                      </a:r>
                      <a:endParaRPr lang="en-US" sz="1000" dirty="0">
                        <a:solidFill>
                          <a:schemeClr val="tx1"/>
                        </a:solidFill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74600945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F7CCD1E7-60EB-CEB9-F6D5-4D1C0243D0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1" y="2627178"/>
            <a:ext cx="4564379" cy="227743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9BB4FE9-D201-B3B8-4A4E-A821FD87B8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10370"/>
            <a:ext cx="9144000" cy="2277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67063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A2FDD3-7510-78FD-575E-2C825D4C71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546F3F-20E5-63CB-1983-7C9780A44D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67521" cy="348975"/>
          </a:xfrm>
        </p:spPr>
        <p:txBody>
          <a:bodyPr anchor="ctr"/>
          <a:lstStyle/>
          <a:p>
            <a:pPr algn="ctr"/>
            <a:r>
              <a:rPr lang="en-US" sz="1600" b="1">
                <a:solidFill>
                  <a:srgbClr val="119303"/>
                </a:solidFill>
              </a:rPr>
              <a:t>3.1. KẾT QUẢ HOẠT ĐỘNG KINH DOANH – </a:t>
            </a:r>
            <a:r>
              <a:rPr lang="en-US" sz="1600" b="1">
                <a:solidFill>
                  <a:schemeClr val="accent2">
                    <a:lumMod val="75000"/>
                  </a:schemeClr>
                </a:solidFill>
              </a:rPr>
              <a:t>BIẾN ĐỘNG DOANH THU THEO YẾU TỐ &amp; NGÀNH</a:t>
            </a:r>
            <a:endParaRPr lang="en-US" sz="1600" b="1">
              <a:solidFill>
                <a:schemeClr val="tx1">
                  <a:lumMod val="65000"/>
                  <a:lumOff val="35000"/>
                </a:schemeClr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648C975-1F6E-4A51-7B7D-8AA3948B7BFF}"/>
              </a:ext>
            </a:extLst>
          </p:cNvPr>
          <p:cNvSpPr txBox="1"/>
          <p:nvPr/>
        </p:nvSpPr>
        <p:spPr>
          <a:xfrm>
            <a:off x="-23521" y="4769799"/>
            <a:ext cx="9167521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sz="700" b="0" i="1" u="sng" strike="noStrike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Ghi chú:</a:t>
            </a:r>
            <a:r>
              <a:rPr lang="vi-VN" sz="700" b="0" i="1" u="none" strike="noStrike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 </a:t>
            </a:r>
            <a:r>
              <a:rPr lang="en-US" sz="700" i="1">
                <a:latin typeface="Aptos Display" panose="020B0004020202020204" pitchFamily="34" charset="0"/>
              </a:rPr>
              <a:t>Tác </a:t>
            </a:r>
            <a:r>
              <a:rPr lang="en-US" sz="700" i="1" err="1">
                <a:latin typeface="Aptos Display" panose="020B0004020202020204" pitchFamily="34" charset="0"/>
              </a:rPr>
              <a:t>động</a:t>
            </a:r>
            <a:r>
              <a:rPr lang="en-US" sz="700" i="1">
                <a:latin typeface="Aptos Display" panose="020B0004020202020204" pitchFamily="34" charset="0"/>
              </a:rPr>
              <a:t> </a:t>
            </a:r>
            <a:r>
              <a:rPr lang="en-US" sz="700" i="1" err="1">
                <a:latin typeface="Aptos Display" panose="020B0004020202020204" pitchFamily="34" charset="0"/>
              </a:rPr>
              <a:t>đang</a:t>
            </a:r>
            <a:r>
              <a:rPr lang="en-US" sz="700" i="1">
                <a:latin typeface="Aptos Display" panose="020B0004020202020204" pitchFamily="34" charset="0"/>
              </a:rPr>
              <a:t> </a:t>
            </a:r>
            <a:r>
              <a:rPr lang="en-US" sz="700" i="1" err="1">
                <a:latin typeface="Aptos Display" panose="020B0004020202020204" pitchFamily="34" charset="0"/>
              </a:rPr>
              <a:t>tính</a:t>
            </a:r>
            <a:r>
              <a:rPr lang="en-US" sz="700" i="1">
                <a:latin typeface="Aptos Display" panose="020B0004020202020204" pitchFamily="34" charset="0"/>
              </a:rPr>
              <a:t> </a:t>
            </a:r>
            <a:r>
              <a:rPr lang="en-US" sz="700" i="1" err="1">
                <a:latin typeface="Aptos Display" panose="020B0004020202020204" pitchFamily="34" charset="0"/>
              </a:rPr>
              <a:t>theo</a:t>
            </a:r>
            <a:r>
              <a:rPr lang="en-US" sz="700" i="1">
                <a:latin typeface="Aptos Display" panose="020B0004020202020204" pitchFamily="34" charset="0"/>
              </a:rPr>
              <a:t> </a:t>
            </a:r>
            <a:r>
              <a:rPr lang="en-US" sz="700" i="1" err="1">
                <a:latin typeface="Aptos Display" panose="020B0004020202020204" pitchFamily="34" charset="0"/>
              </a:rPr>
              <a:t>nhóm</a:t>
            </a:r>
            <a:r>
              <a:rPr lang="en-US" sz="700" i="1">
                <a:latin typeface="Aptos Display" panose="020B0004020202020204" pitchFamily="34" charset="0"/>
              </a:rPr>
              <a:t> </a:t>
            </a:r>
            <a:r>
              <a:rPr lang="en-US" sz="700" i="1" err="1">
                <a:latin typeface="Aptos Display" panose="020B0004020202020204" pitchFamily="34" charset="0"/>
              </a:rPr>
              <a:t>sản</a:t>
            </a:r>
            <a:r>
              <a:rPr lang="en-US" sz="700" i="1">
                <a:latin typeface="Aptos Display" panose="020B0004020202020204" pitchFamily="34" charset="0"/>
              </a:rPr>
              <a:t> </a:t>
            </a:r>
            <a:r>
              <a:rPr lang="en-US" sz="700" i="1" err="1">
                <a:latin typeface="Aptos Display" panose="020B0004020202020204" pitchFamily="34" charset="0"/>
              </a:rPr>
              <a:t>phẩm</a:t>
            </a:r>
            <a:r>
              <a:rPr lang="en-US" sz="700" i="1">
                <a:latin typeface="Aptos Display" panose="020B0004020202020204" pitchFamily="34" charset="0"/>
              </a:rPr>
              <a:t>.</a:t>
            </a:r>
            <a:endParaRPr lang="en-US" sz="70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19C0234-3EBE-6D2C-0FC4-7B25E88DDE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7532"/>
            <a:ext cx="9144000" cy="4517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47939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0263B6-16A5-03EB-A670-87E4EAE679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89643C-48A3-7F34-838C-26D1E16093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5119" y="-6767"/>
            <a:ext cx="8460000" cy="333440"/>
          </a:xfrm>
        </p:spPr>
        <p:txBody>
          <a:bodyPr anchor="ctr"/>
          <a:lstStyle/>
          <a:p>
            <a:pPr algn="ctr"/>
            <a:r>
              <a:rPr lang="en-US" sz="2000" b="1">
                <a:solidFill>
                  <a:srgbClr val="119303"/>
                </a:solidFill>
              </a:rPr>
              <a:t>3.1. KẾT QUẢ HOẠT ĐỘNG KINH DOANH – </a:t>
            </a:r>
            <a:r>
              <a:rPr lang="en-US" sz="2000" b="1">
                <a:solidFill>
                  <a:schemeClr val="accent2">
                    <a:lumMod val="75000"/>
                  </a:schemeClr>
                </a:solidFill>
              </a:rPr>
              <a:t>BIẾN ĐỘNG </a:t>
            </a:r>
            <a:r>
              <a:rPr lang="vi-VN" sz="2000" b="1">
                <a:solidFill>
                  <a:schemeClr val="accent2">
                    <a:lumMod val="75000"/>
                  </a:schemeClr>
                </a:solidFill>
              </a:rPr>
              <a:t>LÃI GỘP </a:t>
            </a:r>
            <a:r>
              <a:rPr lang="en-US" sz="2000" b="1">
                <a:solidFill>
                  <a:schemeClr val="accent2">
                    <a:lumMod val="75000"/>
                  </a:schemeClr>
                </a:solidFill>
              </a:rPr>
              <a:t>THEO YẾU TỐ</a:t>
            </a:r>
            <a:endParaRPr lang="en-US" sz="2000" b="1">
              <a:solidFill>
                <a:schemeClr val="tx1">
                  <a:lumMod val="65000"/>
                  <a:lumOff val="35000"/>
                </a:schemeClr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CF92294-18AC-1B71-42FC-0DD0F529155B}"/>
              </a:ext>
            </a:extLst>
          </p:cNvPr>
          <p:cNvSpPr txBox="1"/>
          <p:nvPr/>
        </p:nvSpPr>
        <p:spPr>
          <a:xfrm>
            <a:off x="-23521" y="4770799"/>
            <a:ext cx="9167521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sz="700" b="0" i="1" u="sng" strike="noStrike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Ghi chú:</a:t>
            </a:r>
            <a:r>
              <a:rPr lang="vi-VN" sz="700" b="0" i="1" u="none" strike="noStrike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 </a:t>
            </a:r>
            <a:r>
              <a:rPr lang="en-US" sz="700" b="0" i="1" u="none" strike="noStrike" err="1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Lãi</a:t>
            </a:r>
            <a:r>
              <a:rPr lang="en-US" sz="700" b="0" i="1" u="none" strike="noStrike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 </a:t>
            </a:r>
            <a:r>
              <a:rPr lang="en-US" sz="700" b="0" i="1" u="none" strike="noStrike" err="1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gộp</a:t>
            </a:r>
            <a:r>
              <a:rPr lang="en-US" sz="700" b="0" i="1" u="none" strike="noStrike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 </a:t>
            </a:r>
            <a:r>
              <a:rPr lang="en-US" sz="700" b="0" i="1" u="none" strike="noStrike" err="1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đơn</a:t>
            </a:r>
            <a:r>
              <a:rPr lang="en-US" sz="700" b="0" i="1" u="none" strike="noStrike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 </a:t>
            </a:r>
            <a:r>
              <a:rPr lang="en-US" sz="700" b="0" i="1" u="none" strike="noStrike" err="1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vị</a:t>
            </a:r>
            <a:r>
              <a:rPr lang="en-US" sz="700" b="0" i="1" u="none" strike="noStrike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 = (Doanh </a:t>
            </a:r>
            <a:r>
              <a:rPr lang="en-US" sz="700" b="0" i="1" u="none" strike="noStrike" err="1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thu</a:t>
            </a:r>
            <a:r>
              <a:rPr lang="en-US" sz="700" b="0" i="1" u="none" strike="noStrike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 EXW </a:t>
            </a:r>
            <a:r>
              <a:rPr lang="en-US" sz="700" b="0" i="1" u="none" strike="noStrike" err="1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trừ</a:t>
            </a:r>
            <a:r>
              <a:rPr lang="en-US" sz="700" b="0" i="1" u="none" strike="noStrike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 </a:t>
            </a:r>
            <a:r>
              <a:rPr lang="en-US" sz="700" b="0" i="1" u="none" strike="noStrike" err="1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cho</a:t>
            </a:r>
            <a:r>
              <a:rPr lang="en-US" sz="700" b="0" i="1" u="none" strike="noStrike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 </a:t>
            </a:r>
            <a:r>
              <a:rPr lang="en-US" sz="700" b="0" i="1" u="none" strike="noStrike" err="1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giá</a:t>
            </a:r>
            <a:r>
              <a:rPr lang="en-US" sz="700" b="0" i="1" u="none" strike="noStrike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 </a:t>
            </a:r>
            <a:r>
              <a:rPr lang="en-US" sz="700" b="0" i="1" u="none" strike="noStrike" err="1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vốn</a:t>
            </a:r>
            <a:r>
              <a:rPr lang="en-US" sz="700" b="0" i="1" u="none" strike="noStrike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 </a:t>
            </a:r>
            <a:r>
              <a:rPr lang="en-US" sz="700" b="0" i="1" u="none" strike="noStrike" err="1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xuất</a:t>
            </a:r>
            <a:r>
              <a:rPr lang="en-US" sz="700" b="0" i="1" u="none" strike="noStrike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 </a:t>
            </a:r>
            <a:r>
              <a:rPr lang="en-US" sz="700" b="0" i="1" u="none" strike="noStrike" err="1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kho</a:t>
            </a:r>
            <a:r>
              <a:rPr lang="en-US" sz="700" i="1">
                <a:latin typeface="Aptos Display" panose="020B0004020202020204" pitchFamily="34" charset="0"/>
              </a:rPr>
              <a:t>)/</a:t>
            </a:r>
            <a:r>
              <a:rPr lang="en-US" sz="700" i="1" err="1">
                <a:latin typeface="Aptos Display" panose="020B0004020202020204" pitchFamily="34" charset="0"/>
              </a:rPr>
              <a:t>Sản</a:t>
            </a:r>
            <a:r>
              <a:rPr lang="en-US" sz="700" i="1">
                <a:latin typeface="Aptos Display" panose="020B0004020202020204" pitchFamily="34" charset="0"/>
              </a:rPr>
              <a:t> </a:t>
            </a:r>
            <a:r>
              <a:rPr lang="en-US" sz="700" i="1" err="1">
                <a:latin typeface="Aptos Display" panose="020B0004020202020204" pitchFamily="34" charset="0"/>
              </a:rPr>
              <a:t>lượng</a:t>
            </a:r>
            <a:r>
              <a:rPr lang="en-US" sz="700" i="1">
                <a:latin typeface="Aptos Display" panose="020B0004020202020204" pitchFamily="34" charset="0"/>
              </a:rPr>
              <a:t> </a:t>
            </a:r>
            <a:r>
              <a:rPr lang="en-US" sz="700" i="1" err="1">
                <a:latin typeface="Aptos Display" panose="020B0004020202020204" pitchFamily="34" charset="0"/>
              </a:rPr>
              <a:t>bán</a:t>
            </a:r>
            <a:r>
              <a:rPr lang="en-US" sz="700" i="1">
                <a:latin typeface="Aptos Display" panose="020B0004020202020204" pitchFamily="34" charset="0"/>
              </a:rPr>
              <a:t>. </a:t>
            </a:r>
            <a:r>
              <a:rPr lang="en-US" sz="700" i="1" err="1">
                <a:latin typeface="Aptos Display" panose="020B0004020202020204" pitchFamily="34" charset="0"/>
              </a:rPr>
              <a:t>Tác</a:t>
            </a:r>
            <a:r>
              <a:rPr lang="en-US" sz="700" i="1">
                <a:latin typeface="Aptos Display" panose="020B0004020202020204" pitchFamily="34" charset="0"/>
              </a:rPr>
              <a:t> </a:t>
            </a:r>
            <a:r>
              <a:rPr lang="en-US" sz="700" i="1" err="1">
                <a:latin typeface="Aptos Display" panose="020B0004020202020204" pitchFamily="34" charset="0"/>
              </a:rPr>
              <a:t>động</a:t>
            </a:r>
            <a:r>
              <a:rPr lang="en-US" sz="700" i="1">
                <a:latin typeface="Aptos Display" panose="020B0004020202020204" pitchFamily="34" charset="0"/>
              </a:rPr>
              <a:t> </a:t>
            </a:r>
            <a:r>
              <a:rPr lang="en-US" sz="700" i="1" err="1">
                <a:latin typeface="Aptos Display" panose="020B0004020202020204" pitchFamily="34" charset="0"/>
              </a:rPr>
              <a:t>đang</a:t>
            </a:r>
            <a:r>
              <a:rPr lang="en-US" sz="700" i="1">
                <a:latin typeface="Aptos Display" panose="020B0004020202020204" pitchFamily="34" charset="0"/>
              </a:rPr>
              <a:t> </a:t>
            </a:r>
            <a:r>
              <a:rPr lang="en-US" sz="700" i="1" err="1">
                <a:latin typeface="Aptos Display" panose="020B0004020202020204" pitchFamily="34" charset="0"/>
              </a:rPr>
              <a:t>tính</a:t>
            </a:r>
            <a:r>
              <a:rPr lang="en-US" sz="700" i="1">
                <a:latin typeface="Aptos Display" panose="020B0004020202020204" pitchFamily="34" charset="0"/>
              </a:rPr>
              <a:t> </a:t>
            </a:r>
            <a:r>
              <a:rPr lang="en-US" sz="700" i="1" err="1">
                <a:latin typeface="Aptos Display" panose="020B0004020202020204" pitchFamily="34" charset="0"/>
              </a:rPr>
              <a:t>theo</a:t>
            </a:r>
            <a:r>
              <a:rPr lang="en-US" sz="700" i="1">
                <a:latin typeface="Aptos Display" panose="020B0004020202020204" pitchFamily="34" charset="0"/>
              </a:rPr>
              <a:t> </a:t>
            </a:r>
            <a:r>
              <a:rPr lang="en-US" sz="700" i="1" err="1">
                <a:latin typeface="Aptos Display" panose="020B0004020202020204" pitchFamily="34" charset="0"/>
              </a:rPr>
              <a:t>nhóm</a:t>
            </a:r>
            <a:r>
              <a:rPr lang="en-US" sz="700" i="1">
                <a:latin typeface="Aptos Display" panose="020B0004020202020204" pitchFamily="34" charset="0"/>
              </a:rPr>
              <a:t> </a:t>
            </a:r>
            <a:r>
              <a:rPr lang="en-US" sz="700" i="1" err="1">
                <a:latin typeface="Aptos Display" panose="020B0004020202020204" pitchFamily="34" charset="0"/>
              </a:rPr>
              <a:t>sản</a:t>
            </a:r>
            <a:r>
              <a:rPr lang="en-US" sz="700" i="1">
                <a:latin typeface="Aptos Display" panose="020B0004020202020204" pitchFamily="34" charset="0"/>
              </a:rPr>
              <a:t> </a:t>
            </a:r>
            <a:r>
              <a:rPr lang="en-US" sz="700" i="1" err="1">
                <a:latin typeface="Aptos Display" panose="020B0004020202020204" pitchFamily="34" charset="0"/>
              </a:rPr>
              <a:t>phẩm</a:t>
            </a:r>
            <a:r>
              <a:rPr lang="en-US" sz="700" i="1">
                <a:latin typeface="Aptos Display" panose="020B0004020202020204" pitchFamily="34" charset="0"/>
              </a:rPr>
              <a:t>. </a:t>
            </a:r>
            <a:r>
              <a:rPr lang="en-US" sz="700" i="1" err="1">
                <a:latin typeface="Aptos Display" panose="020B0004020202020204" pitchFamily="34" charset="0"/>
              </a:rPr>
              <a:t>Phần</a:t>
            </a:r>
            <a:r>
              <a:rPr lang="en-US" sz="700" i="1">
                <a:latin typeface="Aptos Display" panose="020B0004020202020204" pitchFamily="34" charset="0"/>
              </a:rPr>
              <a:t> </a:t>
            </a:r>
            <a:r>
              <a:rPr lang="en-US" sz="700" i="1" err="1">
                <a:latin typeface="Aptos Display" panose="020B0004020202020204" pitchFamily="34" charset="0"/>
              </a:rPr>
              <a:t>ghi</a:t>
            </a:r>
            <a:r>
              <a:rPr lang="en-US" sz="700" i="1">
                <a:latin typeface="Aptos Display" panose="020B0004020202020204" pitchFamily="34" charset="0"/>
              </a:rPr>
              <a:t> </a:t>
            </a:r>
            <a:r>
              <a:rPr lang="en-US" sz="700" i="1" err="1">
                <a:latin typeface="Aptos Display" panose="020B0004020202020204" pitchFamily="34" charset="0"/>
              </a:rPr>
              <a:t>chú</a:t>
            </a:r>
            <a:r>
              <a:rPr lang="en-US" sz="700" i="1">
                <a:latin typeface="Aptos Display" panose="020B0004020202020204" pitchFamily="34" charset="0"/>
              </a:rPr>
              <a:t> LG EXW (</a:t>
            </a:r>
            <a:r>
              <a:rPr lang="en-US" sz="700" i="1" err="1">
                <a:latin typeface="Aptos Display" panose="020B0004020202020204" pitchFamily="34" charset="0"/>
              </a:rPr>
              <a:t>tỷ</a:t>
            </a:r>
            <a:r>
              <a:rPr lang="en-US" sz="700" i="1">
                <a:latin typeface="Aptos Display" panose="020B0004020202020204" pitchFamily="34" charset="0"/>
              </a:rPr>
              <a:t> VND) </a:t>
            </a:r>
            <a:r>
              <a:rPr lang="en-US" sz="700" i="1" u="sng" err="1">
                <a:latin typeface="Aptos Display" panose="020B0004020202020204" pitchFamily="34" charset="0"/>
              </a:rPr>
              <a:t>đã</a:t>
            </a:r>
            <a:r>
              <a:rPr lang="en-US" sz="700" i="1" u="sng">
                <a:latin typeface="Aptos Display" panose="020B0004020202020204" pitchFamily="34" charset="0"/>
              </a:rPr>
              <a:t> </a:t>
            </a:r>
            <a:r>
              <a:rPr lang="en-US" sz="700" i="1" u="sng" err="1">
                <a:latin typeface="Aptos Display" panose="020B0004020202020204" pitchFamily="34" charset="0"/>
              </a:rPr>
              <a:t>loại</a:t>
            </a:r>
            <a:r>
              <a:rPr lang="en-US" sz="700" i="1" u="sng">
                <a:latin typeface="Aptos Display" panose="020B0004020202020204" pitchFamily="34" charset="0"/>
              </a:rPr>
              <a:t> </a:t>
            </a:r>
            <a:r>
              <a:rPr lang="en-US" sz="700" i="1" u="sng" err="1">
                <a:latin typeface="Aptos Display" panose="020B0004020202020204" pitchFamily="34" charset="0"/>
              </a:rPr>
              <a:t>trừ</a:t>
            </a:r>
            <a:r>
              <a:rPr lang="en-US" sz="700" i="1" u="sng">
                <a:latin typeface="Aptos Display" panose="020B0004020202020204" pitchFamily="34" charset="0"/>
              </a:rPr>
              <a:t> </a:t>
            </a:r>
            <a:r>
              <a:rPr lang="en-US" sz="700" i="1" err="1">
                <a:latin typeface="Aptos Display" panose="020B0004020202020204" pitchFamily="34" charset="0"/>
              </a:rPr>
              <a:t>phần</a:t>
            </a:r>
            <a:r>
              <a:rPr lang="en-US" sz="700" i="1">
                <a:latin typeface="Aptos Display" panose="020B0004020202020204" pitchFamily="34" charset="0"/>
              </a:rPr>
              <a:t> </a:t>
            </a:r>
            <a:r>
              <a:rPr lang="en-US" sz="700" i="1" err="1">
                <a:latin typeface="Aptos Display" panose="020B0004020202020204" pitchFamily="34" charset="0"/>
              </a:rPr>
              <a:t>chênh</a:t>
            </a:r>
            <a:r>
              <a:rPr lang="en-US" sz="700" i="1">
                <a:latin typeface="Aptos Display" panose="020B0004020202020204" pitchFamily="34" charset="0"/>
              </a:rPr>
              <a:t> </a:t>
            </a:r>
            <a:r>
              <a:rPr lang="en-US" sz="700" i="1" err="1">
                <a:latin typeface="Aptos Display" panose="020B0004020202020204" pitchFamily="34" charset="0"/>
              </a:rPr>
              <a:t>lệch</a:t>
            </a:r>
            <a:r>
              <a:rPr lang="en-US" sz="700" i="1">
                <a:latin typeface="Aptos Display" panose="020B0004020202020204" pitchFamily="34" charset="0"/>
              </a:rPr>
              <a:t> </a:t>
            </a:r>
            <a:r>
              <a:rPr lang="en-US" sz="700" i="1" err="1">
                <a:latin typeface="Aptos Display" panose="020B0004020202020204" pitchFamily="34" charset="0"/>
              </a:rPr>
              <a:t>tỷ</a:t>
            </a:r>
            <a:r>
              <a:rPr lang="en-US" sz="700" i="1">
                <a:latin typeface="Aptos Display" panose="020B0004020202020204" pitchFamily="34" charset="0"/>
              </a:rPr>
              <a:t> </a:t>
            </a:r>
            <a:r>
              <a:rPr lang="en-US" sz="700" i="1" err="1">
                <a:latin typeface="Aptos Display" panose="020B0004020202020204" pitchFamily="34" charset="0"/>
              </a:rPr>
              <a:t>giá</a:t>
            </a:r>
            <a:r>
              <a:rPr lang="en-US" sz="700" i="1">
                <a:latin typeface="Aptos Display" panose="020B0004020202020204" pitchFamily="34" charset="0"/>
              </a:rPr>
              <a:t>.</a:t>
            </a:r>
            <a:endParaRPr lang="en-US" sz="70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38BF7FD8-C5A2-6F47-2642-7771E34F80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07143"/>
            <a:ext cx="9144000" cy="4516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00937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88AFA9-8F67-7E7E-1CC8-EA98140318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6799AB-999F-4AFF-78C8-117DA812F6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6767"/>
            <a:ext cx="9144000" cy="333440"/>
          </a:xfrm>
        </p:spPr>
        <p:txBody>
          <a:bodyPr anchor="ctr"/>
          <a:lstStyle/>
          <a:p>
            <a:pPr algn="ctr"/>
            <a:r>
              <a:rPr lang="en-US" sz="2000" b="1">
                <a:solidFill>
                  <a:srgbClr val="119303"/>
                </a:solidFill>
              </a:rPr>
              <a:t>3.1</a:t>
            </a:r>
            <a:r>
              <a:rPr lang="en-US" sz="2200" b="1">
                <a:solidFill>
                  <a:srgbClr val="119303"/>
                </a:solidFill>
              </a:rPr>
              <a:t>. KẾT QUẢ HOẠT ĐỘNG KINH DOANH – </a:t>
            </a:r>
            <a:r>
              <a:rPr lang="en-US" sz="2200" b="1">
                <a:solidFill>
                  <a:schemeClr val="accent2">
                    <a:lumMod val="75000"/>
                  </a:schemeClr>
                </a:solidFill>
              </a:rPr>
              <a:t>BIẾN ĐỘNG LỢI NHUẬN SAU THUẾ</a:t>
            </a:r>
            <a:endParaRPr lang="en-US" sz="2200" b="1">
              <a:solidFill>
                <a:schemeClr val="tx1">
                  <a:lumMod val="65000"/>
                  <a:lumOff val="35000"/>
                </a:schemeClr>
              </a:solidFill>
              <a:latin typeface="+mn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F88D789-AB75-CE1E-6AB8-BADB2A74196E}"/>
              </a:ext>
            </a:extLst>
          </p:cNvPr>
          <p:cNvSpPr txBox="1"/>
          <p:nvPr/>
        </p:nvSpPr>
        <p:spPr>
          <a:xfrm>
            <a:off x="-97350" y="4750157"/>
            <a:ext cx="9167521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sz="700" b="0" i="1" u="sng" strike="noStrike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Ghi chú:</a:t>
            </a:r>
            <a:r>
              <a:rPr lang="vi-VN" sz="700" b="0" i="1" u="none" strike="noStrike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 </a:t>
            </a:r>
            <a:r>
              <a:rPr lang="en-US" sz="700" i="1">
                <a:latin typeface="Aptos Display" panose="020B0004020202020204" pitchFamily="34" charset="0"/>
              </a:rPr>
              <a:t>LG EXW </a:t>
            </a:r>
            <a:r>
              <a:rPr lang="en-US" sz="700" b="0" i="1" u="none" strike="noStrike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= Doanh thu thuần trừ cho các biến phí bán hàng (chi </a:t>
            </a:r>
            <a:r>
              <a:rPr lang="en-US" sz="700" b="0" i="1" u="none" strike="noStrike" err="1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phí</a:t>
            </a:r>
            <a:r>
              <a:rPr lang="en-US" sz="700" b="0" i="1" u="none" strike="noStrike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 </a:t>
            </a:r>
            <a:r>
              <a:rPr lang="en-US" sz="700" b="0" i="1" u="none" strike="noStrike" err="1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xuất</a:t>
            </a:r>
            <a:r>
              <a:rPr lang="en-US" sz="700" b="0" i="1" u="none" strike="noStrike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 </a:t>
            </a:r>
            <a:r>
              <a:rPr lang="en-US" sz="700" b="0" i="1" u="none" strike="noStrike" err="1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khẩu</a:t>
            </a:r>
            <a:r>
              <a:rPr lang="en-US" sz="700" b="0" i="1" u="none" strike="noStrike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, chi </a:t>
            </a:r>
            <a:r>
              <a:rPr lang="en-US" sz="700" b="0" i="1" u="none" strike="noStrike" err="1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phí</a:t>
            </a:r>
            <a:r>
              <a:rPr lang="en-US" sz="700" b="0" i="1" u="none" strike="noStrike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 </a:t>
            </a:r>
            <a:r>
              <a:rPr lang="en-US" sz="700" b="0" i="1" u="none" strike="noStrike" err="1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thuê</a:t>
            </a:r>
            <a:r>
              <a:rPr lang="en-US" sz="700" b="0" i="1" u="none" strike="noStrike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 </a:t>
            </a:r>
            <a:r>
              <a:rPr lang="en-US" sz="700" b="0" i="1" u="none" strike="noStrike" err="1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xe</a:t>
            </a:r>
            <a:r>
              <a:rPr lang="en-US" sz="700" b="0" i="1" u="none" strike="noStrike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, </a:t>
            </a:r>
            <a:r>
              <a:rPr lang="en-US" sz="700" b="0" i="1" u="none" strike="noStrike" err="1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hoa</a:t>
            </a:r>
            <a:r>
              <a:rPr lang="en-US" sz="700" b="0" i="1" u="none" strike="noStrike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 </a:t>
            </a:r>
            <a:r>
              <a:rPr lang="en-US" sz="700" b="0" i="1" u="none" strike="noStrike" err="1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hồng</a:t>
            </a:r>
            <a:r>
              <a:rPr lang="en-US" sz="700" b="0" i="1" u="none" strike="noStrike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 </a:t>
            </a:r>
            <a:r>
              <a:rPr lang="en-US" sz="700" b="0" i="1" u="none" strike="noStrike" err="1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và</a:t>
            </a:r>
            <a:r>
              <a:rPr lang="en-US" sz="700" b="0" i="1" u="none" strike="noStrike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 pallet </a:t>
            </a:r>
            <a:r>
              <a:rPr lang="en-US" sz="700" b="0" i="1" u="none" strike="noStrike" err="1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xuất</a:t>
            </a:r>
            <a:r>
              <a:rPr lang="en-US" sz="700" b="0" i="1" u="none" strike="noStrike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 hàng) và Giá vốn hàng bán</a:t>
            </a:r>
            <a:endParaRPr lang="en-US" sz="70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B19C2F6-1096-6867-F7E3-28C3DEE3AF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21" y="321499"/>
            <a:ext cx="9144000" cy="4428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29856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C3BBCA39-C18A-1A0D-1902-AF921523AB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6767"/>
            <a:ext cx="9144000" cy="333440"/>
          </a:xfrm>
        </p:spPr>
        <p:txBody>
          <a:bodyPr anchor="ctr"/>
          <a:lstStyle/>
          <a:p>
            <a:pPr algn="ctr"/>
            <a:r>
              <a:rPr lang="en-US" sz="2000" b="1">
                <a:solidFill>
                  <a:srgbClr val="119303"/>
                </a:solidFill>
              </a:rPr>
              <a:t>3.1</a:t>
            </a:r>
            <a:r>
              <a:rPr lang="en-US" sz="2200" b="1">
                <a:solidFill>
                  <a:srgbClr val="119303"/>
                </a:solidFill>
              </a:rPr>
              <a:t>. KẾT QUẢ HOẠT ĐỘNG KINH DOANH – </a:t>
            </a:r>
            <a:r>
              <a:rPr lang="en-US" sz="2200" b="1">
                <a:solidFill>
                  <a:schemeClr val="accent2">
                    <a:lumMod val="75000"/>
                  </a:schemeClr>
                </a:solidFill>
              </a:rPr>
              <a:t>KHÁCH HÀNG-SẢN PHẨM LỖ</a:t>
            </a:r>
            <a:endParaRPr lang="en-US" sz="2200" b="1">
              <a:solidFill>
                <a:schemeClr val="tx1">
                  <a:lumMod val="65000"/>
                  <a:lumOff val="35000"/>
                </a:schemeClr>
              </a:solidFill>
              <a:latin typeface="+mn-lt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43D97C7-5394-4C49-7EB5-2456C9DFDA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26673"/>
            <a:ext cx="9144000" cy="45018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33032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F23D81-70D2-7F9F-B75C-EA1654DF0D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887BFE-815C-615F-B644-76B304CE49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59530"/>
            <a:ext cx="9126329" cy="395111"/>
          </a:xfrm>
        </p:spPr>
        <p:txBody>
          <a:bodyPr/>
          <a:lstStyle/>
          <a:p>
            <a:pPr algn="ctr"/>
            <a:r>
              <a:rPr lang="en-US" sz="1800" b="1">
                <a:solidFill>
                  <a:srgbClr val="119303"/>
                </a:solidFill>
              </a:rPr>
              <a:t>3.2. CHI PHÍ – </a:t>
            </a:r>
            <a:r>
              <a:rPr lang="en-US" sz="1800" b="1">
                <a:solidFill>
                  <a:schemeClr val="accent2">
                    <a:lumMod val="75000"/>
                  </a:schemeClr>
                </a:solidFill>
              </a:rPr>
              <a:t>TỔNG CHI PHÍ TRONG THÁNG 03 </a:t>
            </a:r>
            <a:r>
              <a:rPr lang="en-US" sz="1800" b="1" i="1">
                <a:solidFill>
                  <a:schemeClr val="accent2">
                    <a:lumMod val="75000"/>
                  </a:schemeClr>
                </a:solidFill>
              </a:rPr>
              <a:t>(</a:t>
            </a:r>
            <a:r>
              <a:rPr lang="en-US" sz="1800" b="1" i="1" err="1">
                <a:solidFill>
                  <a:schemeClr val="accent2">
                    <a:lumMod val="75000"/>
                  </a:schemeClr>
                </a:solidFill>
              </a:rPr>
              <a:t>triệu</a:t>
            </a:r>
            <a:r>
              <a:rPr lang="en-US" sz="1800" b="1" i="1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sz="1800" b="1" i="1" err="1">
                <a:solidFill>
                  <a:schemeClr val="accent2">
                    <a:lumMod val="75000"/>
                  </a:schemeClr>
                </a:solidFill>
              </a:rPr>
              <a:t>đồng</a:t>
            </a:r>
            <a:r>
              <a:rPr lang="en-US" sz="1800" b="1" i="1">
                <a:solidFill>
                  <a:schemeClr val="accent2">
                    <a:lumMod val="75000"/>
                  </a:schemeClr>
                </a:solidFill>
              </a:rPr>
              <a:t>)</a:t>
            </a:r>
            <a:endParaRPr lang="en-US" sz="1800" i="1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81E2252-842F-B8CD-C22C-65CAF6EF6E09}"/>
              </a:ext>
            </a:extLst>
          </p:cNvPr>
          <p:cNvSpPr txBox="1"/>
          <p:nvPr/>
        </p:nvSpPr>
        <p:spPr>
          <a:xfrm>
            <a:off x="-54593" y="4734539"/>
            <a:ext cx="6503159" cy="81253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900" i="1" u="sng">
              <a:latin typeface="+mn-lt"/>
            </a:endParaRPr>
          </a:p>
          <a:p>
            <a:endParaRPr lang="en-US" sz="900" b="0" i="1" u="sng" strike="noStrike">
              <a:solidFill>
                <a:srgbClr val="000000"/>
              </a:solidFill>
              <a:effectLst/>
              <a:latin typeface="+mn-lt"/>
            </a:endParaRPr>
          </a:p>
          <a:p>
            <a:endParaRPr lang="en-US" sz="900" i="1" u="sng">
              <a:latin typeface="+mn-lt"/>
            </a:endParaRPr>
          </a:p>
          <a:p>
            <a:endParaRPr lang="en-US" sz="900" b="0" i="1" u="sng" strike="noStrike">
              <a:solidFill>
                <a:srgbClr val="000000"/>
              </a:solidFill>
              <a:effectLst/>
              <a:latin typeface="+mn-lt"/>
            </a:endParaRPr>
          </a:p>
          <a:p>
            <a:endParaRPr lang="en-US" sz="900" i="1" u="sng">
              <a:latin typeface="+mn-lt"/>
            </a:endParaRPr>
          </a:p>
          <a:p>
            <a:endParaRPr lang="en-US" sz="900" b="0" i="1" u="sng" strike="noStrike">
              <a:solidFill>
                <a:srgbClr val="000000"/>
              </a:solidFill>
              <a:effectLst/>
              <a:latin typeface="+mn-lt"/>
            </a:endParaRPr>
          </a:p>
          <a:p>
            <a:endParaRPr lang="en-US" sz="900" i="1" u="sng">
              <a:latin typeface="+mn-lt"/>
            </a:endParaRPr>
          </a:p>
          <a:p>
            <a:endParaRPr lang="en-US" sz="900" b="0" i="1" u="sng" strike="noStrike">
              <a:solidFill>
                <a:srgbClr val="000000"/>
              </a:solidFill>
              <a:effectLst/>
              <a:latin typeface="+mn-lt"/>
            </a:endParaRPr>
          </a:p>
          <a:p>
            <a:endParaRPr lang="en-US" sz="900" i="1" u="sng">
              <a:latin typeface="+mn-lt"/>
            </a:endParaRPr>
          </a:p>
          <a:p>
            <a:endParaRPr lang="en-US" sz="900" b="0" i="1" u="sng" strike="noStrike">
              <a:solidFill>
                <a:srgbClr val="000000"/>
              </a:solidFill>
              <a:effectLst/>
              <a:latin typeface="+mn-lt"/>
            </a:endParaRPr>
          </a:p>
          <a:p>
            <a:endParaRPr lang="en-US" sz="900" i="1" u="sng">
              <a:latin typeface="+mn-lt"/>
            </a:endParaRPr>
          </a:p>
          <a:p>
            <a:endParaRPr lang="en-US" sz="900" b="0" i="1" u="sng" strike="noStrike">
              <a:solidFill>
                <a:srgbClr val="000000"/>
              </a:solidFill>
              <a:effectLst/>
              <a:latin typeface="+mn-lt"/>
            </a:endParaRPr>
          </a:p>
          <a:p>
            <a:endParaRPr lang="en-US" sz="900" i="1" u="sng">
              <a:latin typeface="+mn-lt"/>
            </a:endParaRPr>
          </a:p>
          <a:p>
            <a:endParaRPr lang="en-US" sz="900" b="0" i="1" u="sng" strike="noStrike">
              <a:solidFill>
                <a:srgbClr val="000000"/>
              </a:solidFill>
              <a:effectLst/>
              <a:latin typeface="+mn-lt"/>
            </a:endParaRPr>
          </a:p>
          <a:p>
            <a:endParaRPr lang="en-US" sz="900" i="1" u="sng">
              <a:latin typeface="+mn-lt"/>
            </a:endParaRPr>
          </a:p>
          <a:p>
            <a:endParaRPr lang="en-US" sz="900" b="0" i="1" u="sng" strike="noStrike">
              <a:solidFill>
                <a:srgbClr val="000000"/>
              </a:solidFill>
              <a:effectLst/>
              <a:latin typeface="+mn-lt"/>
            </a:endParaRPr>
          </a:p>
          <a:p>
            <a:endParaRPr lang="en-US" sz="900" i="1" u="sng">
              <a:latin typeface="+mn-lt"/>
            </a:endParaRPr>
          </a:p>
          <a:p>
            <a:endParaRPr lang="en-US" sz="900" b="0" i="1" u="sng" strike="noStrike">
              <a:solidFill>
                <a:srgbClr val="000000"/>
              </a:solidFill>
              <a:effectLst/>
              <a:latin typeface="+mn-lt"/>
            </a:endParaRPr>
          </a:p>
          <a:p>
            <a:endParaRPr lang="en-US" sz="900" i="1" u="sng">
              <a:latin typeface="+mn-lt"/>
            </a:endParaRPr>
          </a:p>
          <a:p>
            <a:endParaRPr lang="en-US" sz="900" b="0" i="1" u="sng" strike="noStrike">
              <a:solidFill>
                <a:srgbClr val="000000"/>
              </a:solidFill>
              <a:effectLst/>
              <a:latin typeface="+mn-lt"/>
            </a:endParaRPr>
          </a:p>
          <a:p>
            <a:endParaRPr lang="en-US" sz="900" i="1" u="sng">
              <a:latin typeface="+mn-lt"/>
            </a:endParaRPr>
          </a:p>
          <a:p>
            <a:endParaRPr lang="en-US" sz="900" b="0" i="1" u="sng" strike="noStrike">
              <a:solidFill>
                <a:srgbClr val="000000"/>
              </a:solidFill>
              <a:effectLst/>
              <a:latin typeface="+mn-lt"/>
            </a:endParaRPr>
          </a:p>
          <a:p>
            <a:endParaRPr lang="en-US" sz="900" i="1" u="sng">
              <a:latin typeface="+mn-lt"/>
            </a:endParaRPr>
          </a:p>
          <a:p>
            <a:endParaRPr lang="en-US" sz="900" b="0" i="1" u="sng" strike="noStrike">
              <a:solidFill>
                <a:srgbClr val="000000"/>
              </a:solidFill>
              <a:effectLst/>
              <a:latin typeface="+mn-lt"/>
            </a:endParaRPr>
          </a:p>
          <a:p>
            <a:endParaRPr lang="en-US" sz="900" i="1" u="sng">
              <a:latin typeface="+mn-lt"/>
            </a:endParaRPr>
          </a:p>
          <a:p>
            <a:endParaRPr lang="en-US" sz="900" b="0" i="1" u="sng" strike="noStrike">
              <a:solidFill>
                <a:srgbClr val="000000"/>
              </a:solidFill>
              <a:effectLst/>
              <a:latin typeface="+mn-lt"/>
            </a:endParaRPr>
          </a:p>
          <a:p>
            <a:endParaRPr lang="en-US" sz="900" i="1" u="sng">
              <a:latin typeface="+mn-lt"/>
            </a:endParaRPr>
          </a:p>
          <a:p>
            <a:endParaRPr lang="en-US" sz="900" b="0" i="1" u="sng" strike="noStrike">
              <a:solidFill>
                <a:srgbClr val="000000"/>
              </a:solidFill>
              <a:effectLst/>
              <a:latin typeface="+mn-lt"/>
            </a:endParaRPr>
          </a:p>
          <a:p>
            <a:endParaRPr lang="en-US" sz="900" i="1" u="sng">
              <a:latin typeface="+mn-lt"/>
            </a:endParaRPr>
          </a:p>
          <a:p>
            <a:endParaRPr lang="en-US" sz="900" b="0" i="1" u="sng" strike="noStrike">
              <a:solidFill>
                <a:srgbClr val="000000"/>
              </a:solidFill>
              <a:effectLst/>
              <a:latin typeface="+mn-lt"/>
            </a:endParaRPr>
          </a:p>
          <a:p>
            <a:endParaRPr lang="en-US" sz="900" i="1" u="sng">
              <a:latin typeface="+mn-lt"/>
            </a:endParaRPr>
          </a:p>
          <a:p>
            <a:endParaRPr lang="en-US" sz="900" b="0" i="1" u="sng" strike="noStrike">
              <a:solidFill>
                <a:srgbClr val="000000"/>
              </a:solidFill>
              <a:effectLst/>
              <a:latin typeface="+mn-lt"/>
            </a:endParaRPr>
          </a:p>
          <a:p>
            <a:endParaRPr lang="en-US" sz="900" i="1" u="sng">
              <a:latin typeface="+mn-lt"/>
            </a:endParaRPr>
          </a:p>
          <a:p>
            <a:endParaRPr lang="en-US" sz="900" b="0" i="1" u="sng" strike="noStrike">
              <a:solidFill>
                <a:srgbClr val="000000"/>
              </a:solidFill>
              <a:effectLst/>
              <a:latin typeface="+mn-lt"/>
            </a:endParaRPr>
          </a:p>
          <a:p>
            <a:endParaRPr lang="en-US" sz="900" i="1" u="sng">
              <a:latin typeface="+mn-lt"/>
            </a:endParaRPr>
          </a:p>
          <a:p>
            <a:endParaRPr lang="en-US" sz="900" b="0" i="1" u="sng" strike="noStrike">
              <a:solidFill>
                <a:srgbClr val="000000"/>
              </a:solidFill>
              <a:effectLst/>
              <a:latin typeface="+mn-lt"/>
            </a:endParaRPr>
          </a:p>
          <a:p>
            <a:endParaRPr lang="en-US" sz="900" i="1" u="sng">
              <a:latin typeface="+mn-lt"/>
            </a:endParaRPr>
          </a:p>
          <a:p>
            <a:endParaRPr lang="en-US" sz="900" b="0" i="1" u="sng" strike="noStrike">
              <a:solidFill>
                <a:srgbClr val="000000"/>
              </a:solidFill>
              <a:effectLst/>
              <a:latin typeface="+mn-lt"/>
            </a:endParaRPr>
          </a:p>
          <a:p>
            <a:endParaRPr lang="en-US" sz="900" i="1" u="sng">
              <a:latin typeface="+mn-lt"/>
            </a:endParaRPr>
          </a:p>
          <a:p>
            <a:endParaRPr lang="en-US" sz="900" b="0" i="1" u="sng" strike="noStrike">
              <a:solidFill>
                <a:srgbClr val="000000"/>
              </a:solidFill>
              <a:effectLst/>
              <a:latin typeface="+mn-lt"/>
            </a:endParaRPr>
          </a:p>
          <a:p>
            <a:endParaRPr lang="en-US" sz="900" i="1" u="sng">
              <a:latin typeface="+mn-lt"/>
            </a:endParaRPr>
          </a:p>
          <a:p>
            <a:endParaRPr lang="en-US" sz="900" b="0" i="1" u="sng" strike="noStrike">
              <a:solidFill>
                <a:srgbClr val="000000"/>
              </a:solidFill>
              <a:effectLst/>
              <a:latin typeface="+mn-lt"/>
            </a:endParaRPr>
          </a:p>
          <a:p>
            <a:endParaRPr lang="en-US" sz="900" i="1" u="sng">
              <a:latin typeface="+mn-lt"/>
            </a:endParaRPr>
          </a:p>
          <a:p>
            <a:endParaRPr lang="en-US" sz="900" b="0" i="1" u="sng" strike="noStrike">
              <a:solidFill>
                <a:srgbClr val="000000"/>
              </a:solidFill>
              <a:effectLst/>
              <a:latin typeface="+mn-lt"/>
            </a:endParaRPr>
          </a:p>
          <a:p>
            <a:endParaRPr lang="en-US" sz="900" i="1" u="sng">
              <a:latin typeface="+mn-lt"/>
            </a:endParaRPr>
          </a:p>
          <a:p>
            <a:endParaRPr lang="en-US" sz="900" b="0" i="1" u="sng" strike="noStrike">
              <a:solidFill>
                <a:srgbClr val="000000"/>
              </a:solidFill>
              <a:effectLst/>
              <a:latin typeface="+mn-lt"/>
            </a:endParaRPr>
          </a:p>
          <a:p>
            <a:endParaRPr lang="en-US" sz="900" i="1" u="sng">
              <a:latin typeface="+mn-lt"/>
            </a:endParaRPr>
          </a:p>
          <a:p>
            <a:endParaRPr lang="en-US" sz="900" b="0" i="1" u="sng" strike="noStrike">
              <a:solidFill>
                <a:srgbClr val="000000"/>
              </a:solidFill>
              <a:effectLst/>
              <a:latin typeface="+mn-lt"/>
            </a:endParaRPr>
          </a:p>
          <a:p>
            <a:endParaRPr lang="en-US" sz="900" i="1" u="sng">
              <a:latin typeface="+mn-lt"/>
            </a:endParaRPr>
          </a:p>
          <a:p>
            <a:endParaRPr lang="en-US" sz="900" b="0" i="1" u="sng" strike="noStrike">
              <a:solidFill>
                <a:srgbClr val="000000"/>
              </a:solidFill>
              <a:effectLst/>
              <a:latin typeface="+mn-lt"/>
            </a:endParaRPr>
          </a:p>
          <a:p>
            <a:endParaRPr lang="en-US" sz="900" i="1" u="sng">
              <a:latin typeface="+mn-lt"/>
            </a:endParaRPr>
          </a:p>
          <a:p>
            <a:endParaRPr lang="en-US" sz="900" b="0" i="1" u="sng" strike="noStrike">
              <a:solidFill>
                <a:srgbClr val="000000"/>
              </a:solidFill>
              <a:effectLst/>
              <a:latin typeface="+mn-lt"/>
            </a:endParaRPr>
          </a:p>
          <a:p>
            <a:endParaRPr lang="en-US" sz="900" i="1" u="sng">
              <a:latin typeface="+mn-lt"/>
            </a:endParaRPr>
          </a:p>
          <a:p>
            <a:endParaRPr lang="en-US" sz="900" b="0" i="1" u="sng" strike="noStrike">
              <a:solidFill>
                <a:srgbClr val="000000"/>
              </a:solidFill>
              <a:effectLst/>
              <a:latin typeface="+mn-lt"/>
            </a:endParaRPr>
          </a:p>
          <a:p>
            <a:endParaRPr lang="en-US" sz="900" i="1" u="sng">
              <a:latin typeface="+mn-lt"/>
            </a:endParaRPr>
          </a:p>
          <a:p>
            <a:endParaRPr lang="en-US" sz="900" b="0" i="1" u="sng" strike="noStrike">
              <a:solidFill>
                <a:srgbClr val="000000"/>
              </a:solidFill>
              <a:effectLst/>
              <a:latin typeface="+mn-lt"/>
            </a:endParaRPr>
          </a:p>
          <a:p>
            <a:endParaRPr lang="en-US" sz="900" i="1" u="sng">
              <a:latin typeface="+mn-lt"/>
            </a:endParaRPr>
          </a:p>
          <a:p>
            <a:endParaRPr lang="en-US" sz="900" b="0" i="1" u="sng" strike="noStrike">
              <a:solidFill>
                <a:srgbClr val="000000"/>
              </a:solidFill>
              <a:effectLst/>
              <a:latin typeface="+mn-lt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E4BF067-C833-EF8B-6785-23BD01D625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93236"/>
            <a:ext cx="9144000" cy="4584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60786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084431-5FCB-FAC0-41C8-6F19602E17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F65962-D058-F07F-DC04-EFA665BB7B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94596"/>
            <a:ext cx="9143999" cy="395111"/>
          </a:xfrm>
        </p:spPr>
        <p:txBody>
          <a:bodyPr/>
          <a:lstStyle/>
          <a:p>
            <a:pPr algn="ctr"/>
            <a:r>
              <a:rPr lang="en-US" sz="2000" b="1">
                <a:solidFill>
                  <a:srgbClr val="119303"/>
                </a:solidFill>
              </a:rPr>
              <a:t>3.2. CHI PHÍ – </a:t>
            </a:r>
            <a:r>
              <a:rPr lang="en-US" sz="2000" b="1">
                <a:solidFill>
                  <a:schemeClr val="accent2">
                    <a:lumMod val="75000"/>
                  </a:schemeClr>
                </a:solidFill>
              </a:rPr>
              <a:t>CHI PHÍ TRÊN TẤN </a:t>
            </a:r>
            <a:r>
              <a:rPr lang="en-US" sz="2000" b="1" i="1">
                <a:solidFill>
                  <a:schemeClr val="accent2">
                    <a:lumMod val="75000"/>
                  </a:schemeClr>
                </a:solidFill>
              </a:rPr>
              <a:t>(</a:t>
            </a:r>
            <a:r>
              <a:rPr lang="en-US" sz="2000" b="1" i="1" err="1">
                <a:solidFill>
                  <a:schemeClr val="accent2">
                    <a:lumMod val="75000"/>
                  </a:schemeClr>
                </a:solidFill>
              </a:rPr>
              <a:t>triệu</a:t>
            </a:r>
            <a:r>
              <a:rPr lang="en-US" sz="2000" b="1" i="1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sz="2000" b="1" i="1" err="1">
                <a:solidFill>
                  <a:schemeClr val="accent2">
                    <a:lumMod val="75000"/>
                  </a:schemeClr>
                </a:solidFill>
              </a:rPr>
              <a:t>đồng</a:t>
            </a:r>
            <a:r>
              <a:rPr lang="en-US" sz="2000" b="1" i="1">
                <a:solidFill>
                  <a:schemeClr val="accent2">
                    <a:lumMod val="75000"/>
                  </a:schemeClr>
                </a:solidFill>
              </a:rPr>
              <a:t>/</a:t>
            </a:r>
            <a:r>
              <a:rPr lang="en-US" sz="2000" b="1" i="1" err="1">
                <a:solidFill>
                  <a:schemeClr val="accent2">
                    <a:lumMod val="75000"/>
                  </a:schemeClr>
                </a:solidFill>
              </a:rPr>
              <a:t>tấn</a:t>
            </a:r>
            <a:r>
              <a:rPr lang="en-US" sz="2000" b="1" i="1">
                <a:solidFill>
                  <a:schemeClr val="accent2">
                    <a:lumMod val="75000"/>
                  </a:schemeClr>
                </a:solidFill>
              </a:rPr>
              <a:t>)</a:t>
            </a:r>
            <a:endParaRPr lang="en-US" sz="1500">
              <a:solidFill>
                <a:srgbClr val="00B050"/>
              </a:solidFill>
              <a:latin typeface="+mn-lt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924FE8E-FA41-50F7-B6D9-64447AE4DA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15559"/>
            <a:ext cx="9144000" cy="4553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02823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4BA4B8-CE3A-010D-D81A-D65D79E09B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B56372-A22E-C300-03BE-857E86678C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59530"/>
            <a:ext cx="9144000" cy="395111"/>
          </a:xfrm>
        </p:spPr>
        <p:txBody>
          <a:bodyPr/>
          <a:lstStyle/>
          <a:p>
            <a:pPr algn="ctr"/>
            <a:r>
              <a:rPr lang="en-US" sz="2000" b="1">
                <a:solidFill>
                  <a:srgbClr val="119303"/>
                </a:solidFill>
              </a:rPr>
              <a:t>3.2. CHI PHÍ – </a:t>
            </a:r>
            <a:r>
              <a:rPr lang="en-US" sz="2000" b="1">
                <a:solidFill>
                  <a:schemeClr val="accent2">
                    <a:lumMod val="75000"/>
                  </a:schemeClr>
                </a:solidFill>
              </a:rPr>
              <a:t>TỶ TRỌNG CHI PHÍ TRÊN TẤN</a:t>
            </a:r>
            <a:endParaRPr lang="en-US" sz="1500">
              <a:solidFill>
                <a:srgbClr val="00B050"/>
              </a:solidFill>
              <a:latin typeface="+mn-lt"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AEC911ED-7BFC-B135-4AE3-6343CA901F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72" y="326496"/>
            <a:ext cx="9035055" cy="45723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5893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5B6FAC-1F56-D86C-172B-14C75A2ADA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AD65CEFF-EC41-A226-7607-B551F4DCD2E1}"/>
              </a:ext>
            </a:extLst>
          </p:cNvPr>
          <p:cNvSpPr/>
          <p:nvPr/>
        </p:nvSpPr>
        <p:spPr>
          <a:xfrm>
            <a:off x="0" y="4490571"/>
            <a:ext cx="9144000" cy="40315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>
                <a:solidFill>
                  <a:schemeClr val="tx1"/>
                </a:solidFill>
              </a:rPr>
              <a:t>- </a:t>
            </a:r>
            <a:r>
              <a:rPr lang="en-US" sz="1000" b="1" err="1">
                <a:solidFill>
                  <a:schemeClr val="tx1"/>
                </a:solidFill>
              </a:rPr>
              <a:t>Giá</a:t>
            </a:r>
            <a:r>
              <a:rPr lang="en-US" sz="1000" b="1">
                <a:solidFill>
                  <a:schemeClr val="tx1"/>
                </a:solidFill>
              </a:rPr>
              <a:t> </a:t>
            </a:r>
            <a:r>
              <a:rPr lang="en-US" sz="1000" b="1" err="1">
                <a:solidFill>
                  <a:schemeClr val="tx1"/>
                </a:solidFill>
              </a:rPr>
              <a:t>mua</a:t>
            </a:r>
            <a:r>
              <a:rPr lang="en-US" sz="1000" b="1">
                <a:solidFill>
                  <a:schemeClr val="tx1"/>
                </a:solidFill>
              </a:rPr>
              <a:t> chai B1 trung </a:t>
            </a:r>
            <a:r>
              <a:rPr lang="en-US" sz="1000" b="1" err="1">
                <a:solidFill>
                  <a:schemeClr val="tx1"/>
                </a:solidFill>
              </a:rPr>
              <a:t>bình</a:t>
            </a:r>
            <a:r>
              <a:rPr lang="en-US" sz="1000" b="1">
                <a:solidFill>
                  <a:schemeClr val="tx1"/>
                </a:solidFill>
              </a:rPr>
              <a:t> T03</a:t>
            </a:r>
            <a:r>
              <a:rPr lang="en-US" sz="1000">
                <a:solidFill>
                  <a:schemeClr val="tx1"/>
                </a:solidFill>
              </a:rPr>
              <a:t>: </a:t>
            </a:r>
            <a:r>
              <a:rPr lang="en-US" sz="1000" b="1">
                <a:solidFill>
                  <a:schemeClr val="tx1"/>
                </a:solidFill>
              </a:rPr>
              <a:t>14,704 đ/kg </a:t>
            </a:r>
            <a:r>
              <a:rPr lang="en-US" sz="1000">
                <a:solidFill>
                  <a:schemeClr val="tx1"/>
                </a:solidFill>
              </a:rPr>
              <a:t>(KH </a:t>
            </a:r>
            <a:r>
              <a:rPr lang="en-US" sz="1000" err="1">
                <a:solidFill>
                  <a:schemeClr val="tx1"/>
                </a:solidFill>
              </a:rPr>
              <a:t>là</a:t>
            </a:r>
            <a:r>
              <a:rPr lang="en-US" sz="1000">
                <a:solidFill>
                  <a:schemeClr val="tx1"/>
                </a:solidFill>
              </a:rPr>
              <a:t> 15,000 đ/kg ~ </a:t>
            </a:r>
            <a:r>
              <a:rPr lang="en-US" sz="1000" i="1">
                <a:solidFill>
                  <a:schemeClr val="tx1"/>
                </a:solidFill>
              </a:rPr>
              <a:t>-296 đ/kg; -2.0%</a:t>
            </a:r>
            <a:r>
              <a:rPr lang="en-US" sz="1000">
                <a:solidFill>
                  <a:schemeClr val="tx1"/>
                </a:solidFill>
              </a:rPr>
              <a:t>). </a:t>
            </a:r>
          </a:p>
          <a:p>
            <a:r>
              <a:rPr lang="en-US" sz="1000">
                <a:solidFill>
                  <a:schemeClr val="tx1"/>
                </a:solidFill>
              </a:rPr>
              <a:t>- </a:t>
            </a:r>
            <a:r>
              <a:rPr lang="en-US" sz="1000" b="1" err="1">
                <a:solidFill>
                  <a:schemeClr val="tx1"/>
                </a:solidFill>
              </a:rPr>
              <a:t>Lũy</a:t>
            </a:r>
            <a:r>
              <a:rPr lang="en-US" sz="1000" b="1">
                <a:solidFill>
                  <a:schemeClr val="tx1"/>
                </a:solidFill>
              </a:rPr>
              <a:t> </a:t>
            </a:r>
            <a:r>
              <a:rPr lang="en-US" sz="1000" b="1" err="1">
                <a:solidFill>
                  <a:schemeClr val="tx1"/>
                </a:solidFill>
              </a:rPr>
              <a:t>kế</a:t>
            </a:r>
            <a:r>
              <a:rPr lang="en-US" sz="1000" b="1">
                <a:solidFill>
                  <a:schemeClr val="tx1"/>
                </a:solidFill>
              </a:rPr>
              <a:t> </a:t>
            </a:r>
            <a:r>
              <a:rPr lang="en-US" sz="1000" b="1" err="1">
                <a:solidFill>
                  <a:schemeClr val="tx1"/>
                </a:solidFill>
              </a:rPr>
              <a:t>từ</a:t>
            </a:r>
            <a:r>
              <a:rPr lang="en-US" sz="1000" b="1">
                <a:solidFill>
                  <a:schemeClr val="tx1"/>
                </a:solidFill>
              </a:rPr>
              <a:t> </a:t>
            </a:r>
            <a:r>
              <a:rPr lang="en-US" sz="1000" b="1" err="1">
                <a:solidFill>
                  <a:schemeClr val="tx1"/>
                </a:solidFill>
              </a:rPr>
              <a:t>đầu</a:t>
            </a:r>
            <a:r>
              <a:rPr lang="en-US" sz="1000" b="1">
                <a:solidFill>
                  <a:schemeClr val="tx1"/>
                </a:solidFill>
              </a:rPr>
              <a:t> </a:t>
            </a:r>
            <a:r>
              <a:rPr lang="en-US" sz="1000" b="1" err="1">
                <a:solidFill>
                  <a:schemeClr val="tx1"/>
                </a:solidFill>
              </a:rPr>
              <a:t>năm</a:t>
            </a:r>
            <a:r>
              <a:rPr lang="en-US" sz="1000" b="1">
                <a:solidFill>
                  <a:schemeClr val="tx1"/>
                </a:solidFill>
              </a:rPr>
              <a:t> </a:t>
            </a:r>
            <a:r>
              <a:rPr lang="en-US" sz="1000" b="1" err="1">
                <a:solidFill>
                  <a:schemeClr val="tx1"/>
                </a:solidFill>
              </a:rPr>
              <a:t>đến</a:t>
            </a:r>
            <a:r>
              <a:rPr lang="en-US" sz="1000" b="1">
                <a:solidFill>
                  <a:schemeClr val="tx1"/>
                </a:solidFill>
              </a:rPr>
              <a:t> T03, </a:t>
            </a:r>
            <a:r>
              <a:rPr lang="en-US" sz="1000" err="1">
                <a:solidFill>
                  <a:schemeClr val="tx1"/>
                </a:solidFill>
              </a:rPr>
              <a:t>giá</a:t>
            </a:r>
            <a:r>
              <a:rPr lang="en-US" sz="1000">
                <a:solidFill>
                  <a:schemeClr val="tx1"/>
                </a:solidFill>
              </a:rPr>
              <a:t> </a:t>
            </a:r>
            <a:r>
              <a:rPr lang="en-US" sz="1000" err="1">
                <a:solidFill>
                  <a:schemeClr val="tx1"/>
                </a:solidFill>
              </a:rPr>
              <a:t>mua</a:t>
            </a:r>
            <a:r>
              <a:rPr lang="en-US" sz="1000">
                <a:solidFill>
                  <a:schemeClr val="tx1"/>
                </a:solidFill>
              </a:rPr>
              <a:t> B1 </a:t>
            </a:r>
            <a:r>
              <a:rPr lang="en-US" sz="1000" err="1">
                <a:solidFill>
                  <a:schemeClr val="tx1"/>
                </a:solidFill>
              </a:rPr>
              <a:t>trung</a:t>
            </a:r>
            <a:r>
              <a:rPr lang="en-US" sz="1000">
                <a:solidFill>
                  <a:schemeClr val="tx1"/>
                </a:solidFill>
              </a:rPr>
              <a:t> </a:t>
            </a:r>
            <a:r>
              <a:rPr lang="en-US" sz="1000" err="1">
                <a:solidFill>
                  <a:schemeClr val="tx1"/>
                </a:solidFill>
              </a:rPr>
              <a:t>bình</a:t>
            </a:r>
            <a:r>
              <a:rPr lang="en-US" sz="1000">
                <a:solidFill>
                  <a:schemeClr val="tx1"/>
                </a:solidFill>
              </a:rPr>
              <a:t> </a:t>
            </a:r>
            <a:r>
              <a:rPr lang="en-US" sz="1000" err="1">
                <a:solidFill>
                  <a:schemeClr val="tx1"/>
                </a:solidFill>
              </a:rPr>
              <a:t>là</a:t>
            </a:r>
            <a:r>
              <a:rPr lang="en-US" sz="1000">
                <a:solidFill>
                  <a:schemeClr val="tx1"/>
                </a:solidFill>
              </a:rPr>
              <a:t> </a:t>
            </a:r>
            <a:r>
              <a:rPr lang="en-US" sz="1000" b="1">
                <a:solidFill>
                  <a:schemeClr val="tx1"/>
                </a:solidFill>
              </a:rPr>
              <a:t>14,941 đ/kg </a:t>
            </a:r>
            <a:r>
              <a:rPr lang="en-US" sz="1000">
                <a:solidFill>
                  <a:schemeClr val="tx1"/>
                </a:solidFill>
              </a:rPr>
              <a:t>(KH </a:t>
            </a:r>
            <a:r>
              <a:rPr lang="en-US" sz="1000" err="1">
                <a:solidFill>
                  <a:schemeClr val="tx1"/>
                </a:solidFill>
              </a:rPr>
              <a:t>là</a:t>
            </a:r>
            <a:r>
              <a:rPr lang="en-US" sz="1000">
                <a:solidFill>
                  <a:schemeClr val="tx1"/>
                </a:solidFill>
              </a:rPr>
              <a:t> 15,000 đ/kg ~ </a:t>
            </a:r>
            <a:r>
              <a:rPr lang="en-US" sz="1000" i="1">
                <a:solidFill>
                  <a:schemeClr val="tx1"/>
                </a:solidFill>
              </a:rPr>
              <a:t>-59 đ/kg; -0.4%</a:t>
            </a:r>
            <a:r>
              <a:rPr lang="en-US" sz="100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8E58BC5-3373-4576-436B-0280D68C57A8}"/>
              </a:ext>
            </a:extLst>
          </p:cNvPr>
          <p:cNvSpPr txBox="1"/>
          <p:nvPr/>
        </p:nvSpPr>
        <p:spPr>
          <a:xfrm>
            <a:off x="0" y="-20940"/>
            <a:ext cx="9144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>
                <a:solidFill>
                  <a:srgbClr val="119303"/>
                </a:solidFill>
              </a:rPr>
              <a:t>3.2</a:t>
            </a:r>
            <a:r>
              <a:rPr lang="en-US" sz="1400" b="1">
                <a:solidFill>
                  <a:srgbClr val="119303"/>
                </a:solidFill>
              </a:rPr>
              <a:t>. CHI PHÍ – </a:t>
            </a:r>
            <a:r>
              <a:rPr lang="en-US" sz="1400" b="1">
                <a:solidFill>
                  <a:schemeClr val="accent2">
                    <a:lumMod val="75000"/>
                  </a:schemeClr>
                </a:solidFill>
              </a:rPr>
              <a:t>GIÁ NGUYÊN VẬT LIỆU</a:t>
            </a:r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519E5DA-18D9-3147-64AD-EDD92E484021}"/>
              </a:ext>
            </a:extLst>
          </p:cNvPr>
          <p:cNvSpPr/>
          <p:nvPr/>
        </p:nvSpPr>
        <p:spPr>
          <a:xfrm>
            <a:off x="9202010" y="1404173"/>
            <a:ext cx="2592977" cy="64144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UPDATED: 16/03/2026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21F8FBE-D6DF-DEAF-74AE-5ED76B4172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49779"/>
            <a:ext cx="9144000" cy="42082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23280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8DAED6E-468F-A7BD-636D-B6B94CBDCE90}"/>
              </a:ext>
            </a:extLst>
          </p:cNvPr>
          <p:cNvSpPr/>
          <p:nvPr/>
        </p:nvSpPr>
        <p:spPr>
          <a:xfrm>
            <a:off x="0" y="4480790"/>
            <a:ext cx="9144000" cy="428773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>
                <a:solidFill>
                  <a:schemeClr val="tx1"/>
                </a:solidFill>
              </a:rPr>
              <a:t>- </a:t>
            </a:r>
            <a:r>
              <a:rPr lang="en-US" sz="1000" b="1" err="1">
                <a:solidFill>
                  <a:schemeClr val="tx1"/>
                </a:solidFill>
              </a:rPr>
              <a:t>Giá</a:t>
            </a:r>
            <a:r>
              <a:rPr lang="en-US" sz="1000" b="1">
                <a:solidFill>
                  <a:schemeClr val="tx1"/>
                </a:solidFill>
              </a:rPr>
              <a:t> </a:t>
            </a:r>
            <a:r>
              <a:rPr lang="en-US" sz="1000" b="1" err="1">
                <a:solidFill>
                  <a:schemeClr val="tx1"/>
                </a:solidFill>
              </a:rPr>
              <a:t>mua</a:t>
            </a:r>
            <a:r>
              <a:rPr lang="en-US" sz="1000" b="1">
                <a:solidFill>
                  <a:schemeClr val="tx1"/>
                </a:solidFill>
              </a:rPr>
              <a:t> </a:t>
            </a:r>
            <a:r>
              <a:rPr lang="en-US" sz="1000" b="1" err="1">
                <a:solidFill>
                  <a:schemeClr val="tx1"/>
                </a:solidFill>
              </a:rPr>
              <a:t>Vảy</a:t>
            </a:r>
            <a:r>
              <a:rPr lang="en-US" sz="1000" b="1">
                <a:solidFill>
                  <a:schemeClr val="tx1"/>
                </a:solidFill>
              </a:rPr>
              <a:t> B1 trung bình T03</a:t>
            </a:r>
            <a:r>
              <a:rPr lang="en-US" sz="1000">
                <a:solidFill>
                  <a:schemeClr val="tx1"/>
                </a:solidFill>
              </a:rPr>
              <a:t>: </a:t>
            </a:r>
            <a:r>
              <a:rPr lang="en-US" sz="1000" b="1">
                <a:solidFill>
                  <a:schemeClr val="tx1"/>
                </a:solidFill>
              </a:rPr>
              <a:t>16,121 đ/kg </a:t>
            </a:r>
            <a:r>
              <a:rPr lang="en-US" sz="1000">
                <a:solidFill>
                  <a:schemeClr val="tx1"/>
                </a:solidFill>
              </a:rPr>
              <a:t>(KH </a:t>
            </a:r>
            <a:r>
              <a:rPr lang="en-US" sz="1000" err="1">
                <a:solidFill>
                  <a:schemeClr val="tx1"/>
                </a:solidFill>
              </a:rPr>
              <a:t>là</a:t>
            </a:r>
            <a:r>
              <a:rPr lang="en-US" sz="1000">
                <a:solidFill>
                  <a:schemeClr val="tx1"/>
                </a:solidFill>
              </a:rPr>
              <a:t> 16,500 đ/kg ~ </a:t>
            </a:r>
            <a:r>
              <a:rPr lang="en-US" sz="1000" i="1">
                <a:solidFill>
                  <a:schemeClr val="tx1"/>
                </a:solidFill>
              </a:rPr>
              <a:t>-569 đ/kg; -3.5%</a:t>
            </a:r>
            <a:r>
              <a:rPr lang="en-US" sz="1000">
                <a:solidFill>
                  <a:schemeClr val="tx1"/>
                </a:solidFill>
              </a:rPr>
              <a:t>)</a:t>
            </a:r>
          </a:p>
          <a:p>
            <a:r>
              <a:rPr lang="en-US" sz="1000">
                <a:solidFill>
                  <a:schemeClr val="tx1"/>
                </a:solidFill>
              </a:rPr>
              <a:t>- </a:t>
            </a:r>
            <a:r>
              <a:rPr lang="en-US" sz="1000" b="1" err="1">
                <a:solidFill>
                  <a:schemeClr val="tx1"/>
                </a:solidFill>
              </a:rPr>
              <a:t>Lũy</a:t>
            </a:r>
            <a:r>
              <a:rPr lang="en-US" sz="1000" b="1">
                <a:solidFill>
                  <a:schemeClr val="tx1"/>
                </a:solidFill>
              </a:rPr>
              <a:t> </a:t>
            </a:r>
            <a:r>
              <a:rPr lang="en-US" sz="1000" b="1" err="1">
                <a:solidFill>
                  <a:schemeClr val="tx1"/>
                </a:solidFill>
              </a:rPr>
              <a:t>kế</a:t>
            </a:r>
            <a:r>
              <a:rPr lang="en-US" sz="1000" b="1">
                <a:solidFill>
                  <a:schemeClr val="tx1"/>
                </a:solidFill>
              </a:rPr>
              <a:t> </a:t>
            </a:r>
            <a:r>
              <a:rPr lang="en-US" sz="1000" b="1" err="1">
                <a:solidFill>
                  <a:schemeClr val="tx1"/>
                </a:solidFill>
              </a:rPr>
              <a:t>từ</a:t>
            </a:r>
            <a:r>
              <a:rPr lang="en-US" sz="1000" b="1">
                <a:solidFill>
                  <a:schemeClr val="tx1"/>
                </a:solidFill>
              </a:rPr>
              <a:t> </a:t>
            </a:r>
            <a:r>
              <a:rPr lang="en-US" sz="1000" b="1" err="1">
                <a:solidFill>
                  <a:schemeClr val="tx1"/>
                </a:solidFill>
              </a:rPr>
              <a:t>đầu</a:t>
            </a:r>
            <a:r>
              <a:rPr lang="en-US" sz="1000" b="1">
                <a:solidFill>
                  <a:schemeClr val="tx1"/>
                </a:solidFill>
              </a:rPr>
              <a:t> </a:t>
            </a:r>
            <a:r>
              <a:rPr lang="en-US" sz="1000" b="1" err="1">
                <a:solidFill>
                  <a:schemeClr val="tx1"/>
                </a:solidFill>
              </a:rPr>
              <a:t>năm</a:t>
            </a:r>
            <a:r>
              <a:rPr lang="en-US" sz="1000" b="1">
                <a:solidFill>
                  <a:schemeClr val="tx1"/>
                </a:solidFill>
              </a:rPr>
              <a:t> </a:t>
            </a:r>
            <a:r>
              <a:rPr lang="en-US" sz="1000" b="1" err="1">
                <a:solidFill>
                  <a:schemeClr val="tx1"/>
                </a:solidFill>
              </a:rPr>
              <a:t>đến</a:t>
            </a:r>
            <a:r>
              <a:rPr lang="en-US" sz="1000" b="1">
                <a:solidFill>
                  <a:schemeClr val="tx1"/>
                </a:solidFill>
              </a:rPr>
              <a:t> T02, </a:t>
            </a:r>
            <a:r>
              <a:rPr lang="en-US" sz="1000" err="1">
                <a:solidFill>
                  <a:schemeClr val="tx1"/>
                </a:solidFill>
              </a:rPr>
              <a:t>giá</a:t>
            </a:r>
            <a:r>
              <a:rPr lang="en-US" sz="1000">
                <a:solidFill>
                  <a:schemeClr val="tx1"/>
                </a:solidFill>
              </a:rPr>
              <a:t> </a:t>
            </a:r>
            <a:r>
              <a:rPr lang="en-US" sz="1000" err="1">
                <a:solidFill>
                  <a:schemeClr val="tx1"/>
                </a:solidFill>
              </a:rPr>
              <a:t>mua</a:t>
            </a:r>
            <a:r>
              <a:rPr lang="en-US" sz="1000">
                <a:solidFill>
                  <a:schemeClr val="tx1"/>
                </a:solidFill>
              </a:rPr>
              <a:t> </a:t>
            </a:r>
            <a:r>
              <a:rPr lang="en-US" sz="1000" err="1">
                <a:solidFill>
                  <a:schemeClr val="tx1"/>
                </a:solidFill>
              </a:rPr>
              <a:t>Vảy</a:t>
            </a:r>
            <a:r>
              <a:rPr lang="en-US" sz="1000">
                <a:solidFill>
                  <a:schemeClr val="tx1"/>
                </a:solidFill>
              </a:rPr>
              <a:t> </a:t>
            </a:r>
            <a:r>
              <a:rPr lang="en-US" sz="1000" err="1">
                <a:solidFill>
                  <a:schemeClr val="tx1"/>
                </a:solidFill>
              </a:rPr>
              <a:t>trung</a:t>
            </a:r>
            <a:r>
              <a:rPr lang="en-US" sz="1000">
                <a:solidFill>
                  <a:schemeClr val="tx1"/>
                </a:solidFill>
              </a:rPr>
              <a:t> </a:t>
            </a:r>
            <a:r>
              <a:rPr lang="en-US" sz="1000" err="1">
                <a:solidFill>
                  <a:schemeClr val="tx1"/>
                </a:solidFill>
              </a:rPr>
              <a:t>bình</a:t>
            </a:r>
            <a:r>
              <a:rPr lang="en-US" sz="1000">
                <a:solidFill>
                  <a:schemeClr val="tx1"/>
                </a:solidFill>
              </a:rPr>
              <a:t> </a:t>
            </a:r>
            <a:r>
              <a:rPr lang="en-US" sz="1000" err="1">
                <a:solidFill>
                  <a:schemeClr val="tx1"/>
                </a:solidFill>
              </a:rPr>
              <a:t>là</a:t>
            </a:r>
            <a:r>
              <a:rPr lang="en-US" sz="1000">
                <a:solidFill>
                  <a:schemeClr val="tx1"/>
                </a:solidFill>
              </a:rPr>
              <a:t> </a:t>
            </a:r>
            <a:r>
              <a:rPr lang="en-US" sz="1000" b="1">
                <a:solidFill>
                  <a:schemeClr val="tx1"/>
                </a:solidFill>
              </a:rPr>
              <a:t>15,939</a:t>
            </a:r>
            <a:r>
              <a:rPr lang="en-US" sz="1000">
                <a:solidFill>
                  <a:schemeClr val="tx1"/>
                </a:solidFill>
              </a:rPr>
              <a:t> đ/kg (KH </a:t>
            </a:r>
            <a:r>
              <a:rPr lang="en-US" sz="1000" err="1">
                <a:solidFill>
                  <a:schemeClr val="tx1"/>
                </a:solidFill>
              </a:rPr>
              <a:t>là</a:t>
            </a:r>
            <a:r>
              <a:rPr lang="en-US" sz="1000">
                <a:solidFill>
                  <a:schemeClr val="tx1"/>
                </a:solidFill>
              </a:rPr>
              <a:t> 16,500 đ/kg ~ </a:t>
            </a:r>
            <a:r>
              <a:rPr lang="en-US" sz="1000" i="1">
                <a:solidFill>
                  <a:schemeClr val="tx1"/>
                </a:solidFill>
              </a:rPr>
              <a:t>-561 đ/kg; -3.4%</a:t>
            </a:r>
            <a:r>
              <a:rPr lang="en-US" sz="100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F16480B-76E8-2CA7-FA98-9974A68CEA81}"/>
              </a:ext>
            </a:extLst>
          </p:cNvPr>
          <p:cNvSpPr txBox="1"/>
          <p:nvPr/>
        </p:nvSpPr>
        <p:spPr>
          <a:xfrm>
            <a:off x="0" y="-20940"/>
            <a:ext cx="9144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>
                <a:solidFill>
                  <a:srgbClr val="119303"/>
                </a:solidFill>
              </a:rPr>
              <a:t>3.2</a:t>
            </a:r>
            <a:r>
              <a:rPr lang="en-US" sz="1400" b="1">
                <a:solidFill>
                  <a:srgbClr val="119303"/>
                </a:solidFill>
              </a:rPr>
              <a:t>. CHI PHÍ – </a:t>
            </a:r>
            <a:r>
              <a:rPr lang="en-US" sz="1400" b="1">
                <a:solidFill>
                  <a:schemeClr val="accent2">
                    <a:lumMod val="75000"/>
                  </a:schemeClr>
                </a:solidFill>
              </a:rPr>
              <a:t>GIÁ NGUYÊN VẬT LIỆU</a:t>
            </a:r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2ED3F55-C554-FD72-4154-22A4412DC715}"/>
              </a:ext>
            </a:extLst>
          </p:cNvPr>
          <p:cNvSpPr/>
          <p:nvPr/>
        </p:nvSpPr>
        <p:spPr>
          <a:xfrm>
            <a:off x="9379472" y="1577399"/>
            <a:ext cx="2592977" cy="64144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UPDATED: 11/04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3308D61-C47A-D06B-B58A-81AD873B4E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37949"/>
            <a:ext cx="9144000" cy="4195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09097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rrow: Right 1">
            <a:extLst>
              <a:ext uri="{FF2B5EF4-FFF2-40B4-BE49-F238E27FC236}">
                <a16:creationId xmlns:a16="http://schemas.microsoft.com/office/drawing/2014/main" id="{DFEC5418-8A64-3D2E-C59C-E98E780AE4D9}"/>
              </a:ext>
            </a:extLst>
          </p:cNvPr>
          <p:cNvSpPr/>
          <p:nvPr/>
        </p:nvSpPr>
        <p:spPr>
          <a:xfrm>
            <a:off x="0" y="1686710"/>
            <a:ext cx="7095227" cy="1043796"/>
          </a:xfrm>
          <a:prstGeom prst="rightArrow">
            <a:avLst/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000" b="1">
                <a:latin typeface="Aptos Display" panose="020B0004020202020204" pitchFamily="34" charset="0"/>
              </a:rPr>
              <a:t>PHỤ LỤC</a:t>
            </a:r>
          </a:p>
        </p:txBody>
      </p:sp>
    </p:spTree>
    <p:extLst>
      <p:ext uri="{BB962C8B-B14F-4D97-AF65-F5344CB8AC3E}">
        <p14:creationId xmlns:p14="http://schemas.microsoft.com/office/powerpoint/2010/main" val="24449776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50FBA3-30E3-824F-B88E-12C29102ED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402FDA6-8A34-0FB1-E022-846564AD2B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1197798"/>
              </p:ext>
            </p:extLst>
          </p:nvPr>
        </p:nvGraphicFramePr>
        <p:xfrm>
          <a:off x="58194" y="588234"/>
          <a:ext cx="9085805" cy="4313478"/>
        </p:xfrm>
        <a:graphic>
          <a:graphicData uri="http://schemas.openxmlformats.org/drawingml/2006/table">
            <a:tbl>
              <a:tblPr firstRow="1" bandRow="1">
                <a:tableStyleId>{6A077030-E235-474E-B3E8-3EB61F41259E}</a:tableStyleId>
              </a:tblPr>
              <a:tblGrid>
                <a:gridCol w="6640454">
                  <a:extLst>
                    <a:ext uri="{9D8B030D-6E8A-4147-A177-3AD203B41FA5}">
                      <a16:colId xmlns:a16="http://schemas.microsoft.com/office/drawing/2014/main" val="569245144"/>
                    </a:ext>
                  </a:extLst>
                </a:gridCol>
                <a:gridCol w="2445351">
                  <a:extLst>
                    <a:ext uri="{9D8B030D-6E8A-4147-A177-3AD203B41FA5}">
                      <a16:colId xmlns:a16="http://schemas.microsoft.com/office/drawing/2014/main" val="653644736"/>
                    </a:ext>
                  </a:extLst>
                </a:gridCol>
              </a:tblGrid>
              <a:tr h="2007994"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u="sng" dirty="0"/>
                        <a:t>NGUYÊN NHÂN GỐC RỄ</a:t>
                      </a:r>
                    </a:p>
                    <a:p>
                      <a:pPr algn="ctr"/>
                      <a:endParaRPr lang="en-US" sz="1200" u="sng" dirty="0"/>
                    </a:p>
                    <a:p>
                      <a:pPr marL="0" indent="0" algn="l">
                        <a:buFontTx/>
                        <a:buNone/>
                      </a:pPr>
                      <a:r>
                        <a:rPr lang="en-US" sz="1000" u="none" dirty="0"/>
                        <a:t>Doanh </a:t>
                      </a:r>
                      <a:r>
                        <a:rPr lang="en-US" sz="1000" u="none" dirty="0" err="1"/>
                        <a:t>thu</a:t>
                      </a:r>
                      <a:r>
                        <a:rPr lang="en-US" sz="1000" u="none" dirty="0"/>
                        <a:t> </a:t>
                      </a:r>
                      <a:r>
                        <a:rPr lang="en-US" sz="1000" u="none" err="1"/>
                        <a:t>thuần</a:t>
                      </a:r>
                      <a:r>
                        <a:rPr lang="en-US" sz="1000" u="none"/>
                        <a:t> T03 </a:t>
                      </a:r>
                      <a:r>
                        <a:rPr lang="en-US" sz="1000" u="none" err="1"/>
                        <a:t>đạt</a:t>
                      </a:r>
                      <a:r>
                        <a:rPr lang="en-US" sz="1000" u="none"/>
                        <a:t> </a:t>
                      </a:r>
                      <a:r>
                        <a:rPr lang="en-US" sz="1200" b="1" u="none"/>
                        <a:t>173</a:t>
                      </a:r>
                      <a:r>
                        <a:rPr lang="en-US" sz="1000" u="none"/>
                        <a:t>/142 </a:t>
                      </a:r>
                      <a:r>
                        <a:rPr lang="en-US" sz="1000" u="none" err="1"/>
                        <a:t>tỷ</a:t>
                      </a:r>
                      <a:r>
                        <a:rPr lang="en-US" sz="1000" u="none"/>
                        <a:t> (vượt 22.4%). Vượt Ngân sách chủ yếu là do sản lượng tăng:</a:t>
                      </a:r>
                    </a:p>
                    <a:p>
                      <a:pPr marL="0" indent="0" algn="l">
                        <a:buFontTx/>
                        <a:buNone/>
                      </a:pPr>
                      <a:endParaRPr lang="en-US" sz="1000" u="none"/>
                    </a:p>
                    <a:p>
                      <a:pPr marL="0" indent="0" algn="l">
                        <a:buFontTx/>
                        <a:buNone/>
                      </a:pPr>
                      <a:r>
                        <a:rPr lang="en-US" sz="1000" u="none"/>
                        <a:t>+ </a:t>
                      </a:r>
                      <a:r>
                        <a:rPr lang="en-US" sz="1000" b="1" u="none"/>
                        <a:t>Kênh xuất khẩu</a:t>
                      </a:r>
                      <a:r>
                        <a:rPr lang="en-US" sz="1000" u="none"/>
                        <a:t>: Outeirinho lấy hàng lại (đạt 990/330 tấn iSS01G); Premium Water (đạt 220/- tấn WSS03G). </a:t>
                      </a:r>
                    </a:p>
                    <a:p>
                      <a:pPr marL="0" indent="0" algn="l">
                        <a:buFontTx/>
                        <a:buNone/>
                      </a:pPr>
                      <a:endParaRPr lang="en-US" sz="1000" u="none"/>
                    </a:p>
                    <a:p>
                      <a:pPr marL="0" indent="0" algn="l">
                        <a:buFontTx/>
                        <a:buNone/>
                      </a:pPr>
                      <a:r>
                        <a:rPr lang="en-US" sz="1000" u="none"/>
                        <a:t>+ </a:t>
                      </a:r>
                      <a:r>
                        <a:rPr lang="en-US" sz="1000" b="1" u="none"/>
                        <a:t>Kênh nội địa</a:t>
                      </a:r>
                      <a:r>
                        <a:rPr lang="en-US" sz="1000" u="none"/>
                        <a:t>: Suntory đạt 594/330 tấn (iSS1084G); Uy Kiệt 440/- tấn (WSS03G); Unilever 330/275 tấn (WSS01G)</a:t>
                      </a:r>
                      <a:endParaRPr lang="en-US" sz="1000" b="1" i="1" u="non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1659027"/>
                  </a:ext>
                </a:extLst>
              </a:tr>
              <a:tr h="2305484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9797017"/>
                  </a:ext>
                </a:extLst>
              </a:tr>
            </a:tbl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DAAF8F9C-CBA6-AB57-2658-B842474177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5534"/>
            <a:ext cx="9085805" cy="572700"/>
          </a:xfrm>
        </p:spPr>
        <p:txBody>
          <a:bodyPr/>
          <a:lstStyle/>
          <a:p>
            <a:pPr algn="ctr"/>
            <a:r>
              <a:rPr lang="en-US" sz="2000" b="1">
                <a:solidFill>
                  <a:srgbClr val="119303"/>
                </a:solidFill>
              </a:rPr>
              <a:t>3.1</a:t>
            </a:r>
            <a:r>
              <a:rPr lang="en-US" sz="2300" b="1">
                <a:solidFill>
                  <a:srgbClr val="119303"/>
                </a:solidFill>
              </a:rPr>
              <a:t>. KẾT QUẢ HOẠT ĐỘNG KINH DOANH – </a:t>
            </a:r>
            <a:r>
              <a:rPr lang="en-US" sz="2300" b="1">
                <a:solidFill>
                  <a:schemeClr val="accent2">
                    <a:lumMod val="75000"/>
                  </a:schemeClr>
                </a:solidFill>
              </a:rPr>
              <a:t>GIẢI TRÌNH DOANH THU</a:t>
            </a:r>
            <a:endParaRPr lang="en-US" sz="2300" b="1">
              <a:solidFill>
                <a:schemeClr val="tx1">
                  <a:lumMod val="65000"/>
                  <a:lumOff val="35000"/>
                </a:schemeClr>
              </a:solidFill>
              <a:latin typeface="+mn-lt"/>
            </a:endParaRPr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C6BBCF59-7CD8-EB3F-0981-6D6BDF8457E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16950504"/>
              </p:ext>
            </p:extLst>
          </p:nvPr>
        </p:nvGraphicFramePr>
        <p:xfrm>
          <a:off x="58195" y="806598"/>
          <a:ext cx="6608736" cy="190930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739FC926-4BBC-89BC-A892-CC18FC6A8C29}"/>
              </a:ext>
            </a:extLst>
          </p:cNvPr>
          <p:cNvSpPr/>
          <p:nvPr/>
        </p:nvSpPr>
        <p:spPr>
          <a:xfrm>
            <a:off x="58195" y="588234"/>
            <a:ext cx="6608736" cy="218364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900" b="1">
                <a:solidFill>
                  <a:schemeClr val="tx1"/>
                </a:solidFill>
              </a:rPr>
              <a:t>DOANH THU THUẦN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2DBEAF3-9514-1167-CFFA-4EDE2212564C}"/>
              </a:ext>
            </a:extLst>
          </p:cNvPr>
          <p:cNvSpPr/>
          <p:nvPr/>
        </p:nvSpPr>
        <p:spPr>
          <a:xfrm>
            <a:off x="65009" y="2695075"/>
            <a:ext cx="6608736" cy="218364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900" b="1">
                <a:solidFill>
                  <a:schemeClr val="tx1"/>
                </a:solidFill>
              </a:rPr>
              <a:t>LŨY KẾ DOANH THU THUẦN</a:t>
            </a:r>
          </a:p>
        </p:txBody>
      </p:sp>
      <p:graphicFrame>
        <p:nvGraphicFramePr>
          <p:cNvPr id="15" name="Chart 14">
            <a:extLst>
              <a:ext uri="{FF2B5EF4-FFF2-40B4-BE49-F238E27FC236}">
                <a16:creationId xmlns:a16="http://schemas.microsoft.com/office/drawing/2014/main" id="{B2C2BAF4-634F-CBF7-CD79-5480446A1DD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48506191"/>
              </p:ext>
            </p:extLst>
          </p:nvPr>
        </p:nvGraphicFramePr>
        <p:xfrm>
          <a:off x="58195" y="2913373"/>
          <a:ext cx="6608736" cy="190930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3ACB340B-9F3E-EC8F-B1F2-367F86F2B20C}"/>
              </a:ext>
            </a:extLst>
          </p:cNvPr>
          <p:cNvSpPr txBox="1"/>
          <p:nvPr/>
        </p:nvSpPr>
        <p:spPr>
          <a:xfrm>
            <a:off x="5896612" y="586941"/>
            <a:ext cx="665567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00" i="1" err="1"/>
              <a:t>Đvt</a:t>
            </a:r>
            <a:r>
              <a:rPr lang="en-US" sz="700" i="1"/>
              <a:t>: </a:t>
            </a:r>
            <a:r>
              <a:rPr lang="en-US" sz="700" i="1" err="1"/>
              <a:t>tỷ</a:t>
            </a:r>
            <a:r>
              <a:rPr lang="en-US" sz="700" i="1"/>
              <a:t> </a:t>
            </a:r>
            <a:r>
              <a:rPr lang="en-US" sz="700" i="1" err="1"/>
              <a:t>đồng</a:t>
            </a:r>
            <a:endParaRPr lang="en-US" sz="700" i="1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1005907-3090-150E-F683-4745A6D4F40B}"/>
              </a:ext>
            </a:extLst>
          </p:cNvPr>
          <p:cNvSpPr txBox="1"/>
          <p:nvPr/>
        </p:nvSpPr>
        <p:spPr>
          <a:xfrm>
            <a:off x="5896613" y="2704445"/>
            <a:ext cx="665567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00" i="1" err="1"/>
              <a:t>Đvt</a:t>
            </a:r>
            <a:r>
              <a:rPr lang="en-US" sz="700" i="1"/>
              <a:t>: </a:t>
            </a:r>
            <a:r>
              <a:rPr lang="en-US" sz="700" i="1" err="1"/>
              <a:t>tỷ</a:t>
            </a:r>
            <a:r>
              <a:rPr lang="en-US" sz="700" i="1"/>
              <a:t> </a:t>
            </a:r>
            <a:r>
              <a:rPr lang="en-US" sz="700" i="1" err="1"/>
              <a:t>đồng</a:t>
            </a:r>
            <a:endParaRPr lang="en-US" sz="700" i="1"/>
          </a:p>
        </p:txBody>
      </p:sp>
    </p:spTree>
    <p:extLst>
      <p:ext uri="{BB962C8B-B14F-4D97-AF65-F5344CB8AC3E}">
        <p14:creationId xmlns:p14="http://schemas.microsoft.com/office/powerpoint/2010/main" val="231316484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DD2466-0F30-AC4A-4AA3-9819579440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394CFCC-0D98-9796-6CA7-F106BF69A8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1603783"/>
              </p:ext>
            </p:extLst>
          </p:nvPr>
        </p:nvGraphicFramePr>
        <p:xfrm>
          <a:off x="58194" y="588234"/>
          <a:ext cx="9085805" cy="4313478"/>
        </p:xfrm>
        <a:graphic>
          <a:graphicData uri="http://schemas.openxmlformats.org/drawingml/2006/table">
            <a:tbl>
              <a:tblPr firstRow="1" bandRow="1">
                <a:tableStyleId>{6A077030-E235-474E-B3E8-3EB61F41259E}</a:tableStyleId>
              </a:tblPr>
              <a:tblGrid>
                <a:gridCol w="6640454">
                  <a:extLst>
                    <a:ext uri="{9D8B030D-6E8A-4147-A177-3AD203B41FA5}">
                      <a16:colId xmlns:a16="http://schemas.microsoft.com/office/drawing/2014/main" val="569245144"/>
                    </a:ext>
                  </a:extLst>
                </a:gridCol>
                <a:gridCol w="2445351">
                  <a:extLst>
                    <a:ext uri="{9D8B030D-6E8A-4147-A177-3AD203B41FA5}">
                      <a16:colId xmlns:a16="http://schemas.microsoft.com/office/drawing/2014/main" val="653644736"/>
                    </a:ext>
                  </a:extLst>
                </a:gridCol>
              </a:tblGrid>
              <a:tr h="2007994"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u="sng" dirty="0"/>
                        <a:t>NGUYÊN NHÂN GỐC RỄ</a:t>
                      </a:r>
                    </a:p>
                    <a:p>
                      <a:pPr algn="ctr"/>
                      <a:endParaRPr lang="en-US" sz="1200" u="sng" dirty="0"/>
                    </a:p>
                    <a:p>
                      <a:pPr marL="0" indent="0" algn="l">
                        <a:buFontTx/>
                        <a:buNone/>
                      </a:pPr>
                      <a:r>
                        <a:rPr lang="en-US" sz="1000" u="none"/>
                        <a:t>Lợi nhuận sau thuế T03 </a:t>
                      </a:r>
                      <a:r>
                        <a:rPr lang="en-US" sz="1000" u="none" err="1"/>
                        <a:t>đạt</a:t>
                      </a:r>
                      <a:r>
                        <a:rPr lang="en-US" sz="1000" u="none"/>
                        <a:t> </a:t>
                      </a:r>
                      <a:r>
                        <a:rPr lang="en-US" sz="1200" b="1" u="none"/>
                        <a:t>-6.7</a:t>
                      </a:r>
                      <a:r>
                        <a:rPr lang="en-US" sz="1000" u="none"/>
                        <a:t>/128 </a:t>
                      </a:r>
                      <a:r>
                        <a:rPr lang="en-US" sz="1000" u="none" err="1"/>
                        <a:t>tỷ</a:t>
                      </a:r>
                      <a:r>
                        <a:rPr lang="en-US" sz="1000" u="none"/>
                        <a:t> Nguyên </a:t>
                      </a:r>
                      <a:r>
                        <a:rPr lang="en-US" sz="1000" u="none" dirty="0" err="1"/>
                        <a:t>nhân</a:t>
                      </a:r>
                      <a:r>
                        <a:rPr lang="en-US" sz="1000" u="none" dirty="0"/>
                        <a:t> </a:t>
                      </a:r>
                      <a:r>
                        <a:rPr lang="en-US" sz="1000" u="none" dirty="0" err="1"/>
                        <a:t>không</a:t>
                      </a:r>
                      <a:r>
                        <a:rPr lang="en-US" sz="1000" u="none" dirty="0"/>
                        <a:t> </a:t>
                      </a:r>
                      <a:r>
                        <a:rPr lang="en-US" sz="1000" u="none" dirty="0" err="1"/>
                        <a:t>đạt</a:t>
                      </a:r>
                      <a:r>
                        <a:rPr lang="en-US" sz="1000" u="none" dirty="0"/>
                        <a:t> </a:t>
                      </a:r>
                      <a:r>
                        <a:rPr lang="en-US" sz="1000" u="none" dirty="0" err="1"/>
                        <a:t>là</a:t>
                      </a:r>
                      <a:r>
                        <a:rPr lang="en-US" sz="1000" u="none" dirty="0"/>
                        <a:t> do:</a:t>
                      </a:r>
                    </a:p>
                    <a:p>
                      <a:pPr marL="0" indent="0" algn="l">
                        <a:buFontTx/>
                        <a:buNone/>
                      </a:pPr>
                      <a:endParaRPr lang="en-US" sz="1000" u="none" dirty="0"/>
                    </a:p>
                    <a:p>
                      <a:pPr marL="0" indent="0" algn="l">
                        <a:buFontTx/>
                        <a:buNone/>
                      </a:pPr>
                      <a:r>
                        <a:rPr lang="en-US" sz="1000" u="none"/>
                        <a:t>+ Nhóm ngành hàng </a:t>
                      </a:r>
                      <a:r>
                        <a:rPr lang="en-US" sz="1000" b="1" u="none"/>
                        <a:t>rHD ép lỗ</a:t>
                      </a:r>
                      <a:r>
                        <a:rPr lang="en-US" sz="1000" u="none"/>
                        <a:t>: tác động </a:t>
                      </a:r>
                      <a:r>
                        <a:rPr lang="en-US" sz="1000" b="1" u="none"/>
                        <a:t>giảm 3.3 tỷ</a:t>
                      </a:r>
                      <a:r>
                        <a:rPr lang="en-US" sz="1000" b="1" i="1" u="none"/>
                        <a:t> </a:t>
                      </a:r>
                      <a:r>
                        <a:rPr lang="en-US" sz="1000" b="0" i="1" u="none"/>
                        <a:t>(Ngân sách không lập bán nhóm hàng này);</a:t>
                      </a:r>
                      <a:endParaRPr lang="en-US" sz="1000" i="1" u="none"/>
                    </a:p>
                    <a:p>
                      <a:pPr marL="0" indent="0" algn="l">
                        <a:buFontTx/>
                        <a:buNone/>
                      </a:pPr>
                      <a:endParaRPr lang="en-US" sz="1000" b="1" i="0" u="none"/>
                    </a:p>
                    <a:p>
                      <a:pPr marL="0" indent="0" algn="l">
                        <a:buFontTx/>
                        <a:buNone/>
                      </a:pPr>
                      <a:r>
                        <a:rPr lang="en-US" sz="1000" b="0" i="0" u="none"/>
                        <a:t>+</a:t>
                      </a:r>
                      <a:r>
                        <a:rPr lang="en-US" sz="1000" b="1" i="0" u="none"/>
                        <a:t> Đẩy mạnh </a:t>
                      </a:r>
                      <a:r>
                        <a:rPr lang="en-US" sz="1000" b="0" i="0" u="none"/>
                        <a:t>bán nhóm hàng </a:t>
                      </a:r>
                      <a:r>
                        <a:rPr lang="en-US" sz="1000" b="1" i="0" u="none"/>
                        <a:t>xơ sợi </a:t>
                      </a:r>
                      <a:r>
                        <a:rPr lang="en-US" sz="1000" b="0" i="0" u="none"/>
                        <a:t>tồn kho lâu: tác động </a:t>
                      </a:r>
                      <a:r>
                        <a:rPr lang="en-US" sz="1000" b="1" i="0" u="none"/>
                        <a:t>giảm 3.4 tỷ </a:t>
                      </a:r>
                      <a:r>
                        <a:rPr lang="en-US" sz="1000" b="0" i="0" u="none"/>
                        <a:t>(</a:t>
                      </a:r>
                      <a:r>
                        <a:rPr lang="en-US" sz="1000" b="0" i="1" u="none"/>
                        <a:t>Ngân sách lập bán 86.6 tấn; thực tế bán 363.5 tấn)</a:t>
                      </a:r>
                      <a:r>
                        <a:rPr lang="en-US" sz="1000" b="0" i="0" u="none"/>
                        <a:t>;</a:t>
                      </a:r>
                    </a:p>
                    <a:p>
                      <a:pPr marL="0" indent="0" algn="l">
                        <a:buFontTx/>
                        <a:buNone/>
                      </a:pPr>
                      <a:endParaRPr lang="en-US" sz="1000" b="0" i="0" u="none"/>
                    </a:p>
                    <a:p>
                      <a:pPr marL="0" indent="0" algn="l">
                        <a:buFontTx/>
                        <a:buNone/>
                      </a:pPr>
                      <a:r>
                        <a:rPr lang="en-US" sz="1000" b="0" i="0" u="none"/>
                        <a:t>+ </a:t>
                      </a:r>
                      <a:r>
                        <a:rPr lang="en-US" sz="1000" b="1" i="0" u="none"/>
                        <a:t>Dây đai PET và bụi tank lỗ</a:t>
                      </a:r>
                      <a:r>
                        <a:rPr lang="en-US" sz="1000" b="0" i="0" u="none"/>
                        <a:t>: tác động lần lượt </a:t>
                      </a:r>
                      <a:r>
                        <a:rPr lang="en-US" sz="1000" b="1" i="0" u="none"/>
                        <a:t>giảm 0.79 tỷ và 0.6 tỷ</a:t>
                      </a:r>
                      <a:r>
                        <a:rPr lang="en-US" sz="1000" b="0" i="0" u="none"/>
                        <a:t>;</a:t>
                      </a:r>
                      <a:endParaRPr lang="en-US" sz="1000" b="1" i="0" u="none"/>
                    </a:p>
                    <a:p>
                      <a:pPr marL="0" indent="0" algn="l">
                        <a:buFontTx/>
                        <a:buNone/>
                      </a:pPr>
                      <a:endParaRPr lang="en-US" sz="1000" b="1" i="0" u="none"/>
                    </a:p>
                    <a:p>
                      <a:pPr marL="0" indent="0" algn="l">
                        <a:buFontTx/>
                        <a:buNone/>
                      </a:pPr>
                      <a:r>
                        <a:rPr lang="en-US" sz="1000" b="0" i="0" u="none"/>
                        <a:t>+ </a:t>
                      </a:r>
                      <a:r>
                        <a:rPr lang="en-US" sz="1000" b="1" i="0" u="none"/>
                        <a:t>Tỷ giá</a:t>
                      </a:r>
                      <a:r>
                        <a:rPr lang="en-US" sz="1000" b="0" i="0" u="none"/>
                        <a:t> thực tế trung bình đạt 26,209/26,500 Ngân sách: tác động </a:t>
                      </a:r>
                      <a:r>
                        <a:rPr lang="en-US" sz="1000" b="1" i="0" u="none"/>
                        <a:t>giảm 1.7 tỷ</a:t>
                      </a:r>
                    </a:p>
                    <a:p>
                      <a:pPr marL="0" indent="0" algn="l">
                        <a:buFontTx/>
                        <a:buNone/>
                      </a:pPr>
                      <a:endParaRPr lang="en-US" sz="1000" b="1" i="0" u="none"/>
                    </a:p>
                    <a:p>
                      <a:pPr marL="0" indent="0" algn="l">
                        <a:buFontTx/>
                        <a:buNone/>
                      </a:pPr>
                      <a:r>
                        <a:rPr lang="en-US" sz="1000" b="0" i="0" u="none"/>
                        <a:t>+</a:t>
                      </a:r>
                      <a:r>
                        <a:rPr lang="en-US" sz="1000" b="1" i="0" u="none"/>
                        <a:t> </a:t>
                      </a:r>
                      <a:r>
                        <a:rPr lang="en-US" sz="1000" b="0" i="0" u="none"/>
                        <a:t>Điều chỉnh thuê xưởng-thuê máy theo yêu cầu kiểm toán: tác động </a:t>
                      </a:r>
                      <a:r>
                        <a:rPr lang="en-US" sz="1000" b="1" i="0" u="none"/>
                        <a:t>giảm 1.1 tỷ</a:t>
                      </a:r>
                    </a:p>
                    <a:p>
                      <a:pPr marL="0" indent="0" algn="l">
                        <a:buFontTx/>
                        <a:buNone/>
                      </a:pPr>
                      <a:endParaRPr lang="en-US" sz="1000" b="1" i="0" u="none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Tx/>
                        <a:buNone/>
                        <a:tabLst/>
                        <a:defRPr/>
                      </a:pPr>
                      <a:endParaRPr lang="en-US" sz="1000" b="1" i="1" u="non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1659027"/>
                  </a:ext>
                </a:extLst>
              </a:tr>
              <a:tr h="2305484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9797017"/>
                  </a:ext>
                </a:extLst>
              </a:tr>
            </a:tbl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394D2EDB-BF71-635F-F121-3104BBC0EA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5534"/>
            <a:ext cx="9085805" cy="572700"/>
          </a:xfrm>
        </p:spPr>
        <p:txBody>
          <a:bodyPr/>
          <a:lstStyle/>
          <a:p>
            <a:pPr algn="ctr"/>
            <a:r>
              <a:rPr lang="en-US" sz="2000" b="1">
                <a:solidFill>
                  <a:srgbClr val="119303"/>
                </a:solidFill>
              </a:rPr>
              <a:t>3.1</a:t>
            </a:r>
            <a:r>
              <a:rPr lang="en-US" sz="2300" b="1">
                <a:solidFill>
                  <a:srgbClr val="119303"/>
                </a:solidFill>
              </a:rPr>
              <a:t>. </a:t>
            </a:r>
            <a:r>
              <a:rPr lang="en-US" sz="2200" b="1">
                <a:solidFill>
                  <a:srgbClr val="119303"/>
                </a:solidFill>
              </a:rPr>
              <a:t>KẾT QUẢ HOẠT ĐỘNG KINH DOANH – </a:t>
            </a:r>
            <a:r>
              <a:rPr lang="en-US" sz="2200" b="1">
                <a:solidFill>
                  <a:schemeClr val="accent2">
                    <a:lumMod val="75000"/>
                  </a:schemeClr>
                </a:solidFill>
              </a:rPr>
              <a:t>GIẢI TRÌNH LỢI NHUẬN SAU THUẾ</a:t>
            </a:r>
            <a:endParaRPr lang="en-US" sz="2200" b="1">
              <a:solidFill>
                <a:schemeClr val="tx1">
                  <a:lumMod val="65000"/>
                  <a:lumOff val="35000"/>
                </a:schemeClr>
              </a:solidFill>
              <a:latin typeface="+mn-lt"/>
            </a:endParaRPr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5034F646-0751-C362-0EB5-377BE789C16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87731310"/>
              </p:ext>
            </p:extLst>
          </p:nvPr>
        </p:nvGraphicFramePr>
        <p:xfrm>
          <a:off x="58195" y="806598"/>
          <a:ext cx="6608736" cy="190930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1587ADB6-B556-5AC5-8965-A929F7A96685}"/>
              </a:ext>
            </a:extLst>
          </p:cNvPr>
          <p:cNvSpPr/>
          <p:nvPr/>
        </p:nvSpPr>
        <p:spPr>
          <a:xfrm>
            <a:off x="58195" y="588234"/>
            <a:ext cx="6608736" cy="218364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900" b="1">
                <a:solidFill>
                  <a:schemeClr val="tx1"/>
                </a:solidFill>
              </a:rPr>
              <a:t>LỢI NHUẬN SAU THUẾ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0CC3A14-B905-9351-4EBB-DF99F8285A72}"/>
              </a:ext>
            </a:extLst>
          </p:cNvPr>
          <p:cNvSpPr/>
          <p:nvPr/>
        </p:nvSpPr>
        <p:spPr>
          <a:xfrm>
            <a:off x="71195" y="2699995"/>
            <a:ext cx="6608736" cy="218364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900" b="1">
                <a:solidFill>
                  <a:schemeClr val="tx1"/>
                </a:solidFill>
              </a:rPr>
              <a:t>LŨY KẾ LỢI NHUẬN SAU THUẾ</a:t>
            </a:r>
          </a:p>
        </p:txBody>
      </p:sp>
      <p:graphicFrame>
        <p:nvGraphicFramePr>
          <p:cNvPr id="15" name="Chart 14">
            <a:extLst>
              <a:ext uri="{FF2B5EF4-FFF2-40B4-BE49-F238E27FC236}">
                <a16:creationId xmlns:a16="http://schemas.microsoft.com/office/drawing/2014/main" id="{4B7F97D6-450E-EC28-4EC2-25A0B041529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58977701"/>
              </p:ext>
            </p:extLst>
          </p:nvPr>
        </p:nvGraphicFramePr>
        <p:xfrm>
          <a:off x="58195" y="2913373"/>
          <a:ext cx="6608736" cy="190930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1AB8F40B-79A6-4C21-40EA-61D223B034BF}"/>
              </a:ext>
            </a:extLst>
          </p:cNvPr>
          <p:cNvSpPr txBox="1"/>
          <p:nvPr/>
        </p:nvSpPr>
        <p:spPr>
          <a:xfrm>
            <a:off x="5896612" y="586941"/>
            <a:ext cx="665567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00" i="1" err="1"/>
              <a:t>Đvt</a:t>
            </a:r>
            <a:r>
              <a:rPr lang="en-US" sz="700" i="1"/>
              <a:t>: </a:t>
            </a:r>
            <a:r>
              <a:rPr lang="en-US" sz="700" i="1" err="1"/>
              <a:t>tỷ</a:t>
            </a:r>
            <a:r>
              <a:rPr lang="en-US" sz="700" i="1"/>
              <a:t> </a:t>
            </a:r>
            <a:r>
              <a:rPr lang="en-US" sz="700" i="1" err="1"/>
              <a:t>đồng</a:t>
            </a:r>
            <a:endParaRPr lang="en-US" sz="700" i="1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2FDE072-4F26-4749-5502-0D34F2CD001C}"/>
              </a:ext>
            </a:extLst>
          </p:cNvPr>
          <p:cNvSpPr txBox="1"/>
          <p:nvPr/>
        </p:nvSpPr>
        <p:spPr>
          <a:xfrm>
            <a:off x="5896613" y="2704445"/>
            <a:ext cx="665567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00" i="1" err="1"/>
              <a:t>Đvt</a:t>
            </a:r>
            <a:r>
              <a:rPr lang="en-US" sz="700" i="1"/>
              <a:t>: </a:t>
            </a:r>
            <a:r>
              <a:rPr lang="en-US" sz="700" i="1" err="1"/>
              <a:t>tỷ</a:t>
            </a:r>
            <a:r>
              <a:rPr lang="en-US" sz="700" i="1"/>
              <a:t> </a:t>
            </a:r>
            <a:r>
              <a:rPr lang="en-US" sz="700" i="1" err="1"/>
              <a:t>đồng</a:t>
            </a:r>
            <a:endParaRPr lang="en-US" sz="700" i="1"/>
          </a:p>
        </p:txBody>
      </p:sp>
    </p:spTree>
    <p:extLst>
      <p:ext uri="{BB962C8B-B14F-4D97-AF65-F5344CB8AC3E}">
        <p14:creationId xmlns:p14="http://schemas.microsoft.com/office/powerpoint/2010/main" val="298277557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625AFA-0123-ECEA-E516-AEA03DD6EF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6A1A1E-9A96-CA68-465A-AF94E8FF48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6767"/>
            <a:ext cx="9144000" cy="333440"/>
          </a:xfrm>
        </p:spPr>
        <p:txBody>
          <a:bodyPr anchor="ctr"/>
          <a:lstStyle/>
          <a:p>
            <a:pPr algn="ctr"/>
            <a:r>
              <a:rPr lang="en-US" sz="2000" b="1">
                <a:solidFill>
                  <a:srgbClr val="119303"/>
                </a:solidFill>
              </a:rPr>
              <a:t>3.1</a:t>
            </a:r>
            <a:r>
              <a:rPr lang="en-US" sz="2200" b="1">
                <a:solidFill>
                  <a:srgbClr val="119303"/>
                </a:solidFill>
              </a:rPr>
              <a:t>. KẾT QUẢ HOẠT ĐỘNG KINH DOANH – </a:t>
            </a:r>
            <a:r>
              <a:rPr lang="en-US" sz="2200" b="1">
                <a:solidFill>
                  <a:schemeClr val="accent2">
                    <a:lumMod val="75000"/>
                  </a:schemeClr>
                </a:solidFill>
              </a:rPr>
              <a:t>GIÁ BÁN EXW HẠT rPET</a:t>
            </a:r>
            <a:endParaRPr lang="en-US" sz="2200" b="1">
              <a:solidFill>
                <a:schemeClr val="tx1">
                  <a:lumMod val="65000"/>
                  <a:lumOff val="35000"/>
                </a:schemeClr>
              </a:solidFill>
              <a:latin typeface="+mn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1A7A1A0-CD5D-E697-3BC8-79BE6007AF63}"/>
              </a:ext>
            </a:extLst>
          </p:cNvPr>
          <p:cNvSpPr txBox="1"/>
          <p:nvPr/>
        </p:nvSpPr>
        <p:spPr>
          <a:xfrm>
            <a:off x="0" y="4701859"/>
            <a:ext cx="116570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i="1" u="sng" err="1">
                <a:solidFill>
                  <a:schemeClr val="bg1">
                    <a:lumMod val="75000"/>
                  </a:schemeClr>
                </a:solidFill>
              </a:rPr>
              <a:t>Ghi</a:t>
            </a:r>
            <a:r>
              <a:rPr lang="en-US" sz="800" i="1" u="sng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en-US" sz="800" i="1" u="sng" err="1">
                <a:solidFill>
                  <a:schemeClr val="bg1">
                    <a:lumMod val="75000"/>
                  </a:schemeClr>
                </a:solidFill>
              </a:rPr>
              <a:t>chú</a:t>
            </a:r>
            <a:r>
              <a:rPr lang="en-US" sz="800" i="1">
                <a:solidFill>
                  <a:schemeClr val="bg1">
                    <a:lumMod val="75000"/>
                  </a:schemeClr>
                </a:solidFill>
              </a:rPr>
              <a:t>: </a:t>
            </a:r>
            <a:r>
              <a:rPr lang="en-US" sz="800" i="1" err="1">
                <a:solidFill>
                  <a:schemeClr val="bg1">
                    <a:lumMod val="75000"/>
                  </a:schemeClr>
                </a:solidFill>
              </a:rPr>
              <a:t>lấy</a:t>
            </a:r>
            <a:r>
              <a:rPr lang="en-US" sz="800" i="1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en-US" sz="800" i="1" err="1">
                <a:solidFill>
                  <a:schemeClr val="bg1">
                    <a:lumMod val="75000"/>
                  </a:schemeClr>
                </a:solidFill>
              </a:rPr>
              <a:t>hạt</a:t>
            </a:r>
            <a:r>
              <a:rPr lang="en-US" sz="800" i="1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en-US" sz="800" i="1" err="1">
                <a:solidFill>
                  <a:schemeClr val="bg1">
                    <a:lumMod val="75000"/>
                  </a:schemeClr>
                </a:solidFill>
              </a:rPr>
              <a:t>rPET</a:t>
            </a:r>
            <a:endParaRPr lang="en-US" sz="800" i="1">
              <a:solidFill>
                <a:schemeClr val="bg1">
                  <a:lumMod val="75000"/>
                </a:schemeClr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7218CA4-0849-E76F-1FFF-BDBBDFBA7C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36403"/>
            <a:ext cx="9144000" cy="45798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556450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8EE89D-6626-7DCD-028D-0671FDF524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3FF273-8179-7316-EB88-D6B58C1B4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3702"/>
            <a:ext cx="9144000" cy="333440"/>
          </a:xfrm>
        </p:spPr>
        <p:txBody>
          <a:bodyPr anchor="ctr"/>
          <a:lstStyle/>
          <a:p>
            <a:pPr algn="ctr"/>
            <a:r>
              <a:rPr lang="en-US" sz="2200" b="1">
                <a:solidFill>
                  <a:schemeClr val="accent2">
                    <a:lumMod val="75000"/>
                  </a:schemeClr>
                </a:solidFill>
              </a:rPr>
              <a:t>GIÁ BÁN EXW HẠT rPET SO VỚI GIÁ CHAI B0</a:t>
            </a:r>
            <a:endParaRPr lang="en-US" sz="2200" b="1">
              <a:solidFill>
                <a:schemeClr val="tx1">
                  <a:lumMod val="65000"/>
                  <a:lumOff val="35000"/>
                </a:schemeClr>
              </a:solidFill>
              <a:latin typeface="+mn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4DD6F04-C599-21CC-3B31-4711C5E1FEF4}"/>
              </a:ext>
            </a:extLst>
          </p:cNvPr>
          <p:cNvSpPr txBox="1"/>
          <p:nvPr/>
        </p:nvSpPr>
        <p:spPr>
          <a:xfrm>
            <a:off x="0" y="4701859"/>
            <a:ext cx="116570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i="1" u="sng" err="1">
                <a:solidFill>
                  <a:schemeClr val="bg1">
                    <a:lumMod val="75000"/>
                  </a:schemeClr>
                </a:solidFill>
              </a:rPr>
              <a:t>Ghi</a:t>
            </a:r>
            <a:r>
              <a:rPr lang="en-US" sz="800" i="1" u="sng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en-US" sz="800" i="1" u="sng" err="1">
                <a:solidFill>
                  <a:schemeClr val="bg1">
                    <a:lumMod val="75000"/>
                  </a:schemeClr>
                </a:solidFill>
              </a:rPr>
              <a:t>chú</a:t>
            </a:r>
            <a:r>
              <a:rPr lang="en-US" sz="800" i="1">
                <a:solidFill>
                  <a:schemeClr val="bg1">
                    <a:lumMod val="75000"/>
                  </a:schemeClr>
                </a:solidFill>
              </a:rPr>
              <a:t>: </a:t>
            </a:r>
            <a:r>
              <a:rPr lang="en-US" sz="800" i="1" err="1">
                <a:solidFill>
                  <a:schemeClr val="bg1">
                    <a:lumMod val="75000"/>
                  </a:schemeClr>
                </a:solidFill>
              </a:rPr>
              <a:t>lấy</a:t>
            </a:r>
            <a:r>
              <a:rPr lang="en-US" sz="800" i="1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en-US" sz="800" i="1" err="1">
                <a:solidFill>
                  <a:schemeClr val="bg1">
                    <a:lumMod val="75000"/>
                  </a:schemeClr>
                </a:solidFill>
              </a:rPr>
              <a:t>hạt</a:t>
            </a:r>
            <a:r>
              <a:rPr lang="en-US" sz="800" i="1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en-US" sz="800" i="1" err="1">
                <a:solidFill>
                  <a:schemeClr val="bg1">
                    <a:lumMod val="75000"/>
                  </a:schemeClr>
                </a:solidFill>
              </a:rPr>
              <a:t>rPET</a:t>
            </a:r>
            <a:endParaRPr lang="en-US" sz="800" i="1">
              <a:solidFill>
                <a:schemeClr val="bg1">
                  <a:lumMod val="75000"/>
                </a:schemeClr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9D45761-32DD-5109-3CC6-7960C9CC26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44155"/>
            <a:ext cx="9144000" cy="45878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376297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2D9173E-79C4-04F7-46F0-12BC1194B8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17747"/>
            <a:ext cx="9144000" cy="3354604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9B272D5F-DF6A-93D9-F62F-BBF3EC3C9C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6767"/>
            <a:ext cx="9144000" cy="333440"/>
          </a:xfrm>
        </p:spPr>
        <p:txBody>
          <a:bodyPr anchor="ctr"/>
          <a:lstStyle/>
          <a:p>
            <a:pPr algn="ctr"/>
            <a:r>
              <a:rPr lang="en-US" sz="2000" b="1">
                <a:solidFill>
                  <a:srgbClr val="119303"/>
                </a:solidFill>
              </a:rPr>
              <a:t>3.1</a:t>
            </a:r>
            <a:r>
              <a:rPr lang="en-US" sz="2200" b="1">
                <a:solidFill>
                  <a:srgbClr val="119303"/>
                </a:solidFill>
              </a:rPr>
              <a:t>. KẾT QUẢ HOẠT ĐỘNG KINH DOANH – </a:t>
            </a:r>
            <a:r>
              <a:rPr lang="en-US" sz="2200" b="1">
                <a:solidFill>
                  <a:schemeClr val="accent2">
                    <a:lumMod val="75000"/>
                  </a:schemeClr>
                </a:solidFill>
              </a:rPr>
              <a:t>KHÁCH HÀNG-SẢN PHẨM LỖ</a:t>
            </a:r>
            <a:endParaRPr lang="en-US" sz="2200" b="1">
              <a:solidFill>
                <a:schemeClr val="tx1">
                  <a:lumMod val="65000"/>
                  <a:lumOff val="35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397922752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 Narrow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 Narrow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 Narrow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 Narrow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5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 Narrow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6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 Narrow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7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 Narrow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8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 Narrow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1401b2ec-7936-4f98-86ff-5ef737f58b9c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E0127FA9FD6004AB87C3B980CB5D696" ma:contentTypeVersion="15" ma:contentTypeDescription="Create a new document." ma:contentTypeScope="" ma:versionID="fad36eebef4f84df4a45514b7e4630e8">
  <xsd:schema xmlns:xsd="http://www.w3.org/2001/XMLSchema" xmlns:xs="http://www.w3.org/2001/XMLSchema" xmlns:p="http://schemas.microsoft.com/office/2006/metadata/properties" xmlns:ns2="c4b5fce3-9bbc-4429-8073-3ae7a9bcc677" xmlns:ns3="1401b2ec-7936-4f98-86ff-5ef737f58b9c" targetNamespace="http://schemas.microsoft.com/office/2006/metadata/properties" ma:root="true" ma:fieldsID="505b0edaeb28467f2ddb0f2c2f553b17" ns2:_="" ns3:_="">
    <xsd:import namespace="c4b5fce3-9bbc-4429-8073-3ae7a9bcc677"/>
    <xsd:import namespace="1401b2ec-7936-4f98-86ff-5ef737f58b9c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lcf76f155ced4ddcb4097134ff3c332f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ServiceDateTaken" minOccurs="0"/>
                <xsd:element ref="ns3:MediaServiceLocation" minOccurs="0"/>
                <xsd:element ref="ns3:MediaServiceSearchProperties" minOccurs="0"/>
                <xsd:element ref="ns3:MediaLengthInSeconds" minOccurs="0"/>
                <xsd:element ref="ns3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4b5fce3-9bbc-4429-8073-3ae7a9bcc677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401b2ec-7936-4f98-86ff-5ef737f58b9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Image Tags" ma:readOnly="false" ma:fieldId="{5cf76f15-5ced-4ddc-b409-7134ff3c332f}" ma:taxonomyMulti="true" ma:sspId="3eac797d-9452-442f-b5f7-665479590df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Location" ma:index="19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22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81F54AB-F4DD-4A82-8DE1-173467F509E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0BF921B-5040-4D54-A3E7-8C229FB42018}">
  <ds:schemaRefs>
    <ds:schemaRef ds:uri="http://schemas.microsoft.com/office/2006/metadata/properties"/>
    <ds:schemaRef ds:uri="http://schemas.openxmlformats.org/package/2006/metadata/core-properties"/>
    <ds:schemaRef ds:uri="http://www.w3.org/XML/1998/namespace"/>
    <ds:schemaRef ds:uri="http://purl.org/dc/elements/1.1/"/>
    <ds:schemaRef ds:uri="http://purl.org/dc/dcmitype/"/>
    <ds:schemaRef ds:uri="c4b5fce3-9bbc-4429-8073-3ae7a9bcc677"/>
    <ds:schemaRef ds:uri="http://schemas.microsoft.com/office/2006/documentManagement/types"/>
    <ds:schemaRef ds:uri="http://purl.org/dc/terms/"/>
    <ds:schemaRef ds:uri="http://schemas.microsoft.com/office/infopath/2007/PartnerControls"/>
    <ds:schemaRef ds:uri="1401b2ec-7936-4f98-86ff-5ef737f58b9c"/>
  </ds:schemaRefs>
</ds:datastoreItem>
</file>

<file path=customXml/itemProps3.xml><?xml version="1.0" encoding="utf-8"?>
<ds:datastoreItem xmlns:ds="http://schemas.openxmlformats.org/officeDocument/2006/customXml" ds:itemID="{E5162417-D525-4BB1-9667-5B16FD4D9C4E}">
  <ds:schemaRefs>
    <ds:schemaRef ds:uri="1401b2ec-7936-4f98-86ff-5ef737f58b9c"/>
    <ds:schemaRef ds:uri="c4b5fce3-9bbc-4429-8073-3ae7a9bcc677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6176</TotalTime>
  <Words>1136</Words>
  <Application>Microsoft Office PowerPoint</Application>
  <PresentationFormat>On-screen Show (16:9)</PresentationFormat>
  <Paragraphs>234</Paragraphs>
  <Slides>21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Aptos Display</vt:lpstr>
      <vt:lpstr>Aptos Narrow</vt:lpstr>
      <vt:lpstr>Arial</vt:lpstr>
      <vt:lpstr>Muli</vt:lpstr>
      <vt:lpstr>Times New Roman</vt:lpstr>
      <vt:lpstr>Simple Light</vt:lpstr>
      <vt:lpstr>3.1. KẾT QUẢ HOẠT ĐỘNG KINH DOANH – LÃI LỖ THÁNG 03 – DTR</vt:lpstr>
      <vt:lpstr>3.1. KẾT QUẢ HOẠT ĐỘNG KINH DOANH – LÃI LỖ THÁNG 03 – 3 TRẠM</vt:lpstr>
      <vt:lpstr>3.1. KẾT QUẢ HOẠT ĐỘNG KINH DOANH – GIẢI TRÌNH DOANH THU</vt:lpstr>
      <vt:lpstr>3.1. KẾT QUẢ HOẠT ĐỘNG KINH DOANH – GIẢI TRÌNH LỢI NHUẬN SAU THUẾ</vt:lpstr>
      <vt:lpstr>3.1. KẾT QUẢ HOẠT ĐỘNG KINH DOANH – GIÁ BÁN</vt:lpstr>
      <vt:lpstr>3.1. KẾT QUẢ HOẠT ĐỘNG KINH DOANH – BIẾN ĐỘNG D.THU THEO YẾU TỐ</vt:lpstr>
      <vt:lpstr>3.1. KẾT QUẢ HOẠT ĐỘNG KINH DOANH – BIẾN ĐỘNG DOANH THU THEO YẾU TỐ &amp; NGÀNH</vt:lpstr>
      <vt:lpstr>3.1. KẾT QUẢ HOẠT ĐỘNG KINH DOANH – BIẾN ĐỘNG LÃI GỘP THEO YẾU TỐ</vt:lpstr>
      <vt:lpstr>3.1. KẾT QUẢ HOẠT ĐỘNG KINH DOANH – BIẾN ĐỘNG LỢI NHUẬN SAU THUẾ</vt:lpstr>
      <vt:lpstr>3.1. KẾT QUẢ HOẠT ĐỘNG KINH DOANH – KHÁCH HÀNG-SẢN PHẨM LỖ</vt:lpstr>
      <vt:lpstr>3.2. CHI PHÍ – TỔNG CHI PHÍ TRONG THÁNG 03 (triệu đồng)</vt:lpstr>
      <vt:lpstr>3.2. CHI PHÍ – CHI PHÍ TRÊN TẤN (triệu đồng/tấn)</vt:lpstr>
      <vt:lpstr>3.2. CHI PHÍ – TỶ TRỌNG CHI PHÍ TRÊN TẤN</vt:lpstr>
      <vt:lpstr>PowerPoint Presentation</vt:lpstr>
      <vt:lpstr>PowerPoint Presentation</vt:lpstr>
      <vt:lpstr>PowerPoint Presentation</vt:lpstr>
      <vt:lpstr>3.1. KẾT QUẢ HOẠT ĐỘNG KINH DOANH – GIẢI TRÌNH DOANH THU</vt:lpstr>
      <vt:lpstr>3.1. KẾT QUẢ HOẠT ĐỘNG KINH DOANH – GIẢI TRÌNH LỢI NHUẬN SAU THUẾ</vt:lpstr>
      <vt:lpstr>3.1. KẾT QUẢ HOẠT ĐỘNG KINH DOANH – GIÁ BÁN EXW HẠT rPET</vt:lpstr>
      <vt:lpstr>GIÁ BÁN EXW HẠT rPET SO VỚI GIÁ CHAI B0</vt:lpstr>
      <vt:lpstr>3.1. KẾT QUẢ HOẠT ĐỘNG KINH DOANH – KHÁCH HÀNG-SẢN PHẨM LỖ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Our Focus</dc:title>
  <dc:creator>Nghĩa, Trần Công</dc:creator>
  <cp:lastModifiedBy>Danh, Hoàng Duy</cp:lastModifiedBy>
  <cp:revision>13</cp:revision>
  <dcterms:modified xsi:type="dcterms:W3CDTF">2026-04-14T15:32:16Z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0x0101004E0127FA9FD6004AB87C3B980CB5D696</vt:lpwstr>
  </property>
  <property fmtid="{D5CDD505-2E9C-101B-9397-08002B2CF9AE}" pid="3" name="MediaServiceImageTags">
    <vt:lpwstr/>
  </property>
</Properties>
</file>