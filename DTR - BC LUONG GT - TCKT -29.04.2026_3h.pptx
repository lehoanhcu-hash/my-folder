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7" r:id="rId4"/>
  </p:sldMasterIdLst>
  <p:notesMasterIdLst>
    <p:notesMasterId r:id="rId37"/>
  </p:notesMasterIdLst>
  <p:sldIdLst>
    <p:sldId id="9489" r:id="rId5"/>
    <p:sldId id="9530" r:id="rId6"/>
    <p:sldId id="9611" r:id="rId7"/>
    <p:sldId id="9640" r:id="rId8"/>
    <p:sldId id="9617" r:id="rId9"/>
    <p:sldId id="9641" r:id="rId10"/>
    <p:sldId id="9642" r:id="rId11"/>
    <p:sldId id="9652" r:id="rId12"/>
    <p:sldId id="9644" r:id="rId13"/>
    <p:sldId id="9606" r:id="rId14"/>
    <p:sldId id="9645" r:id="rId15"/>
    <p:sldId id="9624" r:id="rId16"/>
    <p:sldId id="9625" r:id="rId17"/>
    <p:sldId id="9626" r:id="rId18"/>
    <p:sldId id="9627" r:id="rId19"/>
    <p:sldId id="9628" r:id="rId20"/>
    <p:sldId id="9629" r:id="rId21"/>
    <p:sldId id="9630" r:id="rId22"/>
    <p:sldId id="9631" r:id="rId23"/>
    <p:sldId id="9632" r:id="rId24"/>
    <p:sldId id="9633" r:id="rId25"/>
    <p:sldId id="9634" r:id="rId26"/>
    <p:sldId id="9635" r:id="rId27"/>
    <p:sldId id="9637" r:id="rId28"/>
    <p:sldId id="9638" r:id="rId29"/>
    <p:sldId id="9639" r:id="rId30"/>
    <p:sldId id="9636" r:id="rId31"/>
    <p:sldId id="9643" r:id="rId32"/>
    <p:sldId id="9646" r:id="rId33"/>
    <p:sldId id="9647" r:id="rId34"/>
    <p:sldId id="9623" r:id="rId35"/>
    <p:sldId id="260" r:id="rId3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9303"/>
    <a:srgbClr val="0000FF"/>
    <a:srgbClr val="E6F1E4"/>
    <a:srgbClr val="9DC3E6"/>
    <a:srgbClr val="C5E0B4"/>
    <a:srgbClr val="FFC000"/>
    <a:srgbClr val="002060"/>
    <a:srgbClr val="BCC0BF"/>
    <a:srgbClr val="B6BEC1"/>
    <a:srgbClr val="0070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A077030-E235-474E-B3E8-3EB61F41259E}">
  <a:tblStyle styleId="{6A077030-E235-474E-B3E8-3EB61F4125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54" autoAdjust="0"/>
    <p:restoredTop sz="94660"/>
  </p:normalViewPr>
  <p:slideViewPr>
    <p:cSldViewPr snapToGrid="0">
      <p:cViewPr>
        <p:scale>
          <a:sx n="100" d="100"/>
          <a:sy n="100" d="100"/>
        </p:scale>
        <p:origin x="1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594458500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594458500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15764128aa_2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65125" y="679450"/>
            <a:ext cx="6037263" cy="3397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15764128aa_2_33:notes"/>
          <p:cNvSpPr txBox="1">
            <a:spLocks noGrp="1"/>
          </p:cNvSpPr>
          <p:nvPr>
            <p:ph type="body" idx="1"/>
          </p:nvPr>
        </p:nvSpPr>
        <p:spPr>
          <a:xfrm>
            <a:off x="676791" y="4303483"/>
            <a:ext cx="5414327" cy="4076984"/>
          </a:xfrm>
          <a:prstGeom prst="rect">
            <a:avLst/>
          </a:prstGeom>
        </p:spPr>
        <p:txBody>
          <a:bodyPr spcFirstLastPara="1" wrap="square" lIns="90438" tIns="90438" rIns="90438" bIns="90438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title"/>
          </p:nvPr>
        </p:nvSpPr>
        <p:spPr>
          <a:xfrm>
            <a:off x="370483" y="445025"/>
            <a:ext cx="846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370475" y="1324546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2"/>
          </p:nvPr>
        </p:nvSpPr>
        <p:spPr>
          <a:xfrm>
            <a:off x="370483" y="941525"/>
            <a:ext cx="8460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1"/>
          <p:cNvSpPr txBox="1">
            <a:spLocks noGrp="1"/>
          </p:cNvSpPr>
          <p:nvPr>
            <p:ph type="body" idx="3"/>
          </p:nvPr>
        </p:nvSpPr>
        <p:spPr>
          <a:xfrm>
            <a:off x="4581150" y="1348400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ides 2" userDrawn="1">
  <p:cSld name="Two Sides 2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4549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" name="Google Shape;87;p10">
            <a:extLst>
              <a:ext uri="{FF2B5EF4-FFF2-40B4-BE49-F238E27FC236}">
                <a16:creationId xmlns:a16="http://schemas.microsoft.com/office/drawing/2014/main" id="{6DB2F55B-87A0-4916-ABC0-83FF8C89DDCD}"/>
              </a:ext>
            </a:extLst>
          </p:cNvPr>
          <p:cNvSpPr/>
          <p:nvPr userDrawn="1"/>
        </p:nvSpPr>
        <p:spPr bwMode="ltGray">
          <a:xfrm rot="5400000">
            <a:off x="4879976" y="879477"/>
            <a:ext cx="158747" cy="8369300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3" name="Google Shape;8;p1">
            <a:extLst>
              <a:ext uri="{FF2B5EF4-FFF2-40B4-BE49-F238E27FC236}">
                <a16:creationId xmlns:a16="http://schemas.microsoft.com/office/drawing/2014/main" id="{C2BD413E-6D8B-D863-FB26-12E78FF115C8}"/>
              </a:ext>
            </a:extLst>
          </p:cNvPr>
          <p:cNvSpPr txBox="1">
            <a:spLocks/>
          </p:cNvSpPr>
          <p:nvPr userDrawn="1"/>
        </p:nvSpPr>
        <p:spPr>
          <a:xfrm>
            <a:off x="8615580" y="4854044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r>
              <a:rPr lang="en" dirty="0"/>
              <a:t>/</a:t>
            </a:r>
            <a:r>
              <a:rPr lang="en-US" dirty="0"/>
              <a:t>8</a:t>
            </a:r>
            <a:endParaRPr lang="en" dirty="0"/>
          </a:p>
        </p:txBody>
      </p:sp>
      <p:pic>
        <p:nvPicPr>
          <p:cNvPr id="8" name="Picture 7" descr="A green and grey recycle sign&#10;&#10;Description automatically generated">
            <a:extLst>
              <a:ext uri="{FF2B5EF4-FFF2-40B4-BE49-F238E27FC236}">
                <a16:creationId xmlns:a16="http://schemas.microsoft.com/office/drawing/2014/main" id="{65F13E22-2991-BE3C-0896-57172734114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0631" y="72531"/>
            <a:ext cx="1085317" cy="237744"/>
          </a:xfrm>
          <a:prstGeom prst="rect">
            <a:avLst/>
          </a:prstGeom>
        </p:spPr>
      </p:pic>
      <p:pic>
        <p:nvPicPr>
          <p:cNvPr id="13" name="Picture 12" descr="A green and grey recycle sign&#10;&#10;Description automatically generated">
            <a:extLst>
              <a:ext uri="{FF2B5EF4-FFF2-40B4-BE49-F238E27FC236}">
                <a16:creationId xmlns:a16="http://schemas.microsoft.com/office/drawing/2014/main" id="{D4C71697-C97A-D229-56B0-E6A27BC442B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436" y="4976803"/>
            <a:ext cx="731520" cy="16024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8FD2296-3E8A-8D70-7AB9-42A476EB628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97124" y="4976872"/>
            <a:ext cx="1922262" cy="178418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88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A4B8CD4-CB30-4B5E-A979-4A57EEAB0E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3" t="-94" r="17"/>
          <a:stretch/>
        </p:blipFill>
        <p:spPr>
          <a:xfrm>
            <a:off x="0" y="0"/>
            <a:ext cx="9143999" cy="51435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763CE97-4313-4B9F-952E-6FFF986439DC}"/>
              </a:ext>
            </a:extLst>
          </p:cNvPr>
          <p:cNvGrpSpPr/>
          <p:nvPr/>
        </p:nvGrpSpPr>
        <p:grpSpPr>
          <a:xfrm>
            <a:off x="0" y="477930"/>
            <a:ext cx="9144000" cy="4489583"/>
            <a:chOff x="0" y="477930"/>
            <a:chExt cx="9144000" cy="448958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DAF3A24-1ED4-7685-F572-1667F8D11AAB}"/>
                </a:ext>
              </a:extLst>
            </p:cNvPr>
            <p:cNvSpPr/>
            <p:nvPr/>
          </p:nvSpPr>
          <p:spPr>
            <a:xfrm>
              <a:off x="0" y="477930"/>
              <a:ext cx="9144000" cy="1889713"/>
            </a:xfrm>
            <a:prstGeom prst="rect">
              <a:avLst/>
            </a:prstGeom>
            <a:solidFill>
              <a:schemeClr val="bg1">
                <a:alpha val="7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95E2829-8819-380A-64E5-39E2C825359A}"/>
                </a:ext>
              </a:extLst>
            </p:cNvPr>
            <p:cNvSpPr txBox="1"/>
            <p:nvPr/>
          </p:nvSpPr>
          <p:spPr>
            <a:xfrm>
              <a:off x="1" y="776455"/>
              <a:ext cx="914399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BÁO CÁO</a:t>
              </a:r>
            </a:p>
            <a:p>
              <a:pPr algn="ctr"/>
              <a:r>
                <a:rPr lang="en-US" sz="3000" b="1" dirty="0">
                  <a:solidFill>
                    <a:srgbClr val="119303"/>
                  </a:solidFill>
                  <a:latin typeface="Montserrat" panose="00000500000000000000" pitchFamily="2" charset="0"/>
                </a:rPr>
                <a:t>LUỒNG GIÁ THÀNH</a:t>
              </a:r>
            </a:p>
            <a:p>
              <a:pPr algn="ctr"/>
              <a:r>
                <a:rPr lang="en-US" sz="28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T4 - 2026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9EE4F02-0B85-494A-F767-BC02E07A8941}"/>
                </a:ext>
              </a:extLst>
            </p:cNvPr>
            <p:cNvSpPr/>
            <p:nvPr/>
          </p:nvSpPr>
          <p:spPr>
            <a:xfrm>
              <a:off x="150796" y="4228849"/>
              <a:ext cx="3869872" cy="738664"/>
            </a:xfrm>
            <a:prstGeom prst="roundRect">
              <a:avLst>
                <a:gd name="adj" fmla="val 29818"/>
              </a:avLst>
            </a:prstGeom>
            <a:solidFill>
              <a:schemeClr val="bg1">
                <a:alpha val="7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301B1B4-0A12-E443-9E62-37C045EFDA43}"/>
                </a:ext>
              </a:extLst>
            </p:cNvPr>
            <p:cNvSpPr txBox="1"/>
            <p:nvPr/>
          </p:nvSpPr>
          <p:spPr>
            <a:xfrm>
              <a:off x="216108" y="4228849"/>
              <a:ext cx="371907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Trình bày: </a:t>
              </a:r>
            </a:p>
            <a:p>
              <a:r>
                <a:rPr lang="en-US" sz="1800" b="1" dirty="0">
                  <a:solidFill>
                    <a:srgbClr val="253140"/>
                  </a:solidFill>
                  <a:latin typeface="Montserrat" panose="00000500000000000000" pitchFamily="2" charset="0"/>
                </a:rPr>
                <a:t>Lê Hoành Cư</a:t>
              </a:r>
            </a:p>
            <a:p>
              <a:pPr algn="r"/>
              <a:r>
                <a:rPr lang="en-US" sz="12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Ngày: 29</a:t>
              </a:r>
              <a:r>
                <a:rPr lang="vi-VN" sz="12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/0</a:t>
              </a:r>
              <a:r>
                <a:rPr lang="en-US" sz="12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4/202</a:t>
              </a:r>
              <a:r>
                <a:rPr lang="vi-VN" sz="12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6</a:t>
              </a:r>
              <a:endParaRPr lang="en-US" sz="1200" b="1" dirty="0">
                <a:solidFill>
                  <a:srgbClr val="D99D55"/>
                </a:solidFill>
                <a:latin typeface="Montserrat" panose="00000500000000000000" pitchFamily="2" charset="0"/>
              </a:endParaRPr>
            </a:p>
          </p:txBody>
        </p:sp>
      </p:grpSp>
      <p:pic>
        <p:nvPicPr>
          <p:cNvPr id="11" name="Picture 10" descr="A green and grey recycle sign&#10;&#10;Description automatically generated">
            <a:extLst>
              <a:ext uri="{FF2B5EF4-FFF2-40B4-BE49-F238E27FC236}">
                <a16:creationId xmlns:a16="http://schemas.microsoft.com/office/drawing/2014/main" id="{12A4DBE8-D36C-38C5-F8D7-756A191401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78" y="112065"/>
            <a:ext cx="116880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F05BE-EC3A-3267-6F64-0F2BCDD2B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49A507-E788-2541-5793-AC10A16E264C}"/>
              </a:ext>
            </a:extLst>
          </p:cNvPr>
          <p:cNvSpPr txBox="1"/>
          <p:nvPr/>
        </p:nvSpPr>
        <p:spPr>
          <a:xfrm>
            <a:off x="0" y="56483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Các </a:t>
            </a:r>
            <a:r>
              <a:rPr lang="en-US" sz="2600" b="1" err="1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nội</a:t>
            </a:r>
            <a:r>
              <a:rPr lang="en-US" sz="2600" b="1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dung </a:t>
            </a:r>
            <a:r>
              <a:rPr lang="en-US" sz="2600" b="1" err="1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chính</a:t>
            </a:r>
            <a:endParaRPr lang="en-US" sz="2600" b="1">
              <a:solidFill>
                <a:srgbClr val="119303"/>
              </a:solidFill>
              <a:latin typeface="Montserrat" panose="00000500000000000000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2071581-EDE2-80AA-F007-6F6F986B8C59}"/>
              </a:ext>
            </a:extLst>
          </p:cNvPr>
          <p:cNvGrpSpPr/>
          <p:nvPr/>
        </p:nvGrpSpPr>
        <p:grpSpPr>
          <a:xfrm>
            <a:off x="799531" y="2411306"/>
            <a:ext cx="7316290" cy="465109"/>
            <a:chOff x="1915376" y="364649"/>
            <a:chExt cx="6830074" cy="46510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2B67923-33D4-C45A-BBEF-2DA902C85991}"/>
                </a:ext>
              </a:extLst>
            </p:cNvPr>
            <p:cNvSpPr txBox="1"/>
            <p:nvPr/>
          </p:nvSpPr>
          <p:spPr>
            <a:xfrm>
              <a:off x="2589575" y="364649"/>
              <a:ext cx="6155875" cy="460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800" b="1" dirty="0">
                  <a:solidFill>
                    <a:srgbClr val="0000FF"/>
                  </a:solidFill>
                  <a:latin typeface="Montserrat" panose="00000500000000000000" pitchFamily="2" charset="0"/>
                </a:rPr>
                <a:t>2. </a:t>
              </a:r>
              <a:r>
                <a:rPr lang="en-US" sz="1800" b="1" dirty="0">
                  <a:solidFill>
                    <a:srgbClr val="0000FF"/>
                  </a:solidFill>
                </a:rPr>
                <a:t>LUỒNG GIÁ THÀNH</a:t>
              </a:r>
              <a:endParaRPr lang="en-US" sz="1800" b="1" dirty="0">
                <a:solidFill>
                  <a:srgbClr val="0000FF"/>
                </a:solidFill>
                <a:latin typeface="Montserrat" panose="00000500000000000000" pitchFamily="2" charset="0"/>
              </a:endParaRP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8024B47F-DD28-439F-C421-DD0C73E5B0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15376" y="488305"/>
              <a:ext cx="341453" cy="341453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28C07FB-6ED8-E994-53AE-507DCB730E5A}"/>
              </a:ext>
            </a:extLst>
          </p:cNvPr>
          <p:cNvGrpSpPr/>
          <p:nvPr/>
        </p:nvGrpSpPr>
        <p:grpSpPr>
          <a:xfrm>
            <a:off x="805176" y="488978"/>
            <a:ext cx="7433470" cy="501932"/>
            <a:chOff x="1915376" y="3334897"/>
            <a:chExt cx="6898492" cy="100363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5A50883-7107-0D36-5048-50915D8D389C}"/>
                </a:ext>
              </a:extLst>
            </p:cNvPr>
            <p:cNvSpPr txBox="1"/>
            <p:nvPr/>
          </p:nvSpPr>
          <p:spPr>
            <a:xfrm>
              <a:off x="2606090" y="3334897"/>
              <a:ext cx="6207778" cy="100363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>
                <a:lnSpc>
                  <a:spcPct val="150000"/>
                </a:lnSpc>
                <a:defRPr sz="2800" b="1">
                  <a:solidFill>
                    <a:schemeClr val="tx2">
                      <a:lumMod val="50000"/>
                    </a:schemeClr>
                  </a:solidFill>
                </a:defRPr>
              </a:lvl1pPr>
            </a:lstStyle>
            <a:p>
              <a:r>
                <a:rPr lang="en-US" sz="2000" dirty="0">
                  <a:solidFill>
                    <a:srgbClr val="0000FF"/>
                  </a:solidFill>
                  <a:latin typeface="Montserrat" panose="00000500000000000000" pitchFamily="2" charset="0"/>
                </a:rPr>
                <a:t>1. </a:t>
              </a:r>
              <a:r>
                <a:rPr lang="en-US" sz="1800" dirty="0">
                  <a:solidFill>
                    <a:srgbClr val="0000FF"/>
                  </a:solidFill>
                  <a:latin typeface="Montserrat" panose="00000500000000000000" pitchFamily="2" charset="0"/>
                </a:rPr>
                <a:t>LUỒNG NGUYÊN LIỆU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B2ADDF9-ED94-83B1-1FE5-311543259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15376" y="3627416"/>
              <a:ext cx="341453" cy="341453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3C7E8812-13C1-A3AE-3F71-B1262D207838}"/>
              </a:ext>
            </a:extLst>
          </p:cNvPr>
          <p:cNvGrpSpPr/>
          <p:nvPr/>
        </p:nvGrpSpPr>
        <p:grpSpPr>
          <a:xfrm>
            <a:off x="792905" y="4349073"/>
            <a:ext cx="7640181" cy="501932"/>
            <a:chOff x="174950" y="3488668"/>
            <a:chExt cx="7640181" cy="50193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7654DBE-76F7-68FF-FDDC-3E976FD72E2C}"/>
                </a:ext>
              </a:extLst>
            </p:cNvPr>
            <p:cNvSpPr txBox="1"/>
            <p:nvPr/>
          </p:nvSpPr>
          <p:spPr>
            <a:xfrm>
              <a:off x="947354" y="3488668"/>
              <a:ext cx="6867777" cy="5019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>
                <a:lnSpc>
                  <a:spcPct val="150000"/>
                </a:lnSpc>
                <a:defRPr sz="2800" b="1">
                  <a:solidFill>
                    <a:schemeClr val="tx2">
                      <a:lumMod val="50000"/>
                    </a:schemeClr>
                  </a:solidFill>
                </a:defRPr>
              </a:lvl1pPr>
            </a:lstStyle>
            <a:p>
              <a:r>
                <a:rPr lang="en-US" sz="2000" dirty="0">
                  <a:solidFill>
                    <a:srgbClr val="0000FF"/>
                  </a:solidFill>
                  <a:latin typeface="Montserrat" panose="00000500000000000000" pitchFamily="2" charset="0"/>
                </a:rPr>
                <a:t>3. CƠ CẤU SẢN PHẨM, NRV, ĐÒN BẨY LỢI NHUẬN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A9CC409-F863-C6B0-85F0-5F7929F402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4950" y="3571562"/>
              <a:ext cx="365760" cy="365760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4C63F45-D019-6EDF-875C-DF2CD89D570C}"/>
              </a:ext>
            </a:extLst>
          </p:cNvPr>
          <p:cNvSpPr txBox="1"/>
          <p:nvPr/>
        </p:nvSpPr>
        <p:spPr>
          <a:xfrm>
            <a:off x="1815907" y="2785070"/>
            <a:ext cx="5992479" cy="1604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5000"/>
              </a:lnSpc>
              <a:buClr>
                <a:schemeClr val="tx1">
                  <a:lumMod val="50000"/>
                  <a:lumOff val="50000"/>
                </a:schemeClr>
              </a:buClr>
              <a:buAutoNum type="arabicPeriod"/>
            </a:pPr>
            <a:r>
              <a:rPr lang="en-US" sz="16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Tối</a:t>
            </a:r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16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ưu</a:t>
            </a:r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16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giá</a:t>
            </a:r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16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thành</a:t>
            </a:r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16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và</a:t>
            </a:r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16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lợi</a:t>
            </a:r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16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nhuận</a:t>
            </a:r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16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chuỗi</a:t>
            </a:r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 PET</a:t>
            </a:r>
          </a:p>
          <a:p>
            <a:pPr marL="457200" indent="-457200">
              <a:lnSpc>
                <a:spcPct val="125000"/>
              </a:lnSpc>
              <a:buClr>
                <a:schemeClr val="tx1">
                  <a:lumMod val="50000"/>
                  <a:lumOff val="50000"/>
                </a:schemeClr>
              </a:buClr>
              <a:buAutoNum type="arabicPeriod"/>
            </a:pPr>
            <a:r>
              <a:rPr lang="en-US" sz="16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Luồng</a:t>
            </a:r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16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phó</a:t>
            </a:r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16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sản</a:t>
            </a:r>
            <a:endParaRPr lang="en-US" sz="1600" b="1" dirty="0">
              <a:solidFill>
                <a:schemeClr val="tx2">
                  <a:lumMod val="50000"/>
                </a:schemeClr>
              </a:solidFill>
              <a:latin typeface="Montserrat" panose="00000500000000000000" pitchFamily="2" charset="0"/>
            </a:endParaRPr>
          </a:p>
          <a:p>
            <a:pPr marL="457200" indent="-457200">
              <a:lnSpc>
                <a:spcPct val="125000"/>
              </a:lnSpc>
              <a:buClr>
                <a:schemeClr val="tx1">
                  <a:lumMod val="50000"/>
                  <a:lumOff val="50000"/>
                </a:schemeClr>
              </a:buClr>
              <a:buFont typeface="Arial"/>
              <a:buAutoNum type="arabicPeriod"/>
            </a:pPr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Chi </a:t>
            </a:r>
            <a:r>
              <a:rPr lang="en-US" sz="16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phí</a:t>
            </a:r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16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công</a:t>
            </a:r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16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đoạn</a:t>
            </a:r>
            <a:endParaRPr lang="en-US" sz="1600" b="1" dirty="0">
              <a:solidFill>
                <a:schemeClr val="tx2">
                  <a:lumMod val="50000"/>
                </a:schemeClr>
              </a:solidFill>
              <a:latin typeface="Montserrat" panose="00000500000000000000" pitchFamily="2" charset="0"/>
            </a:endParaRPr>
          </a:p>
          <a:p>
            <a:pPr marL="457200" indent="-457200">
              <a:lnSpc>
                <a:spcPct val="125000"/>
              </a:lnSpc>
              <a:buClr>
                <a:schemeClr val="tx1">
                  <a:lumMod val="50000"/>
                  <a:lumOff val="50000"/>
                </a:schemeClr>
              </a:buClr>
              <a:buAutoNum type="arabicPeriod"/>
            </a:pPr>
            <a:r>
              <a:rPr lang="en-US" sz="16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Giá</a:t>
            </a:r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16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thành</a:t>
            </a:r>
            <a:endParaRPr lang="en-US" sz="1600" b="1" dirty="0">
              <a:solidFill>
                <a:schemeClr val="tx2">
                  <a:lumMod val="50000"/>
                </a:schemeClr>
              </a:solidFill>
              <a:latin typeface="Montserrat" panose="00000500000000000000" pitchFamily="2" charset="0"/>
            </a:endParaRPr>
          </a:p>
          <a:p>
            <a:pPr marL="457200" indent="-457200">
              <a:lnSpc>
                <a:spcPct val="125000"/>
              </a:lnSpc>
              <a:buClr>
                <a:schemeClr val="tx1">
                  <a:lumMod val="50000"/>
                  <a:lumOff val="50000"/>
                </a:schemeClr>
              </a:buClr>
              <a:buAutoNum type="arabicPeriod"/>
            </a:pPr>
            <a:r>
              <a:rPr lang="en-US" sz="16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Dự</a:t>
            </a:r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16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báo</a:t>
            </a:r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 PL </a:t>
            </a:r>
            <a:r>
              <a:rPr lang="en-US" sz="16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theo</a:t>
            </a:r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16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dòng</a:t>
            </a:r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16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sản</a:t>
            </a:r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16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phẩm</a:t>
            </a:r>
            <a:endParaRPr lang="en-US" sz="1600" b="1" dirty="0">
              <a:solidFill>
                <a:schemeClr val="tx2">
                  <a:lumMod val="50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E050AF-6BBC-F58D-DCF9-9613BC496FE9}"/>
              </a:ext>
            </a:extLst>
          </p:cNvPr>
          <p:cNvSpPr txBox="1"/>
          <p:nvPr/>
        </p:nvSpPr>
        <p:spPr>
          <a:xfrm>
            <a:off x="1789043" y="936680"/>
            <a:ext cx="7278757" cy="1604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5000"/>
              </a:lnSpc>
              <a:buClr>
                <a:schemeClr val="tx1">
                  <a:lumMod val="50000"/>
                  <a:lumOff val="50000"/>
                </a:schemeClr>
              </a:buClr>
              <a:buAutoNum type="arabicPeriod"/>
            </a:pPr>
            <a:r>
              <a:rPr lang="en-US" sz="16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Tóm</a:t>
            </a:r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16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tắt</a:t>
            </a:r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16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chính</a:t>
            </a:r>
            <a:endParaRPr lang="en-US" sz="1600" b="1" dirty="0">
              <a:solidFill>
                <a:schemeClr val="tx2">
                  <a:lumMod val="50000"/>
                </a:schemeClr>
              </a:solidFill>
              <a:latin typeface="Montserrat" panose="00000500000000000000" pitchFamily="2" charset="0"/>
            </a:endParaRPr>
          </a:p>
          <a:p>
            <a:pPr marL="457200" indent="-457200">
              <a:lnSpc>
                <a:spcPct val="125000"/>
              </a:lnSpc>
              <a:buClr>
                <a:schemeClr val="tx1">
                  <a:lumMod val="50000"/>
                  <a:lumOff val="50000"/>
                </a:schemeClr>
              </a:buClr>
              <a:buAutoNum type="arabicPeriod"/>
            </a:pPr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Lưu </a:t>
            </a:r>
            <a:r>
              <a:rPr lang="en-US" sz="16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đồ</a:t>
            </a:r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16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luồng</a:t>
            </a:r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16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nguyên</a:t>
            </a:r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16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liệu</a:t>
            </a:r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16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đi</a:t>
            </a:r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16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vào</a:t>
            </a:r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16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sx</a:t>
            </a:r>
            <a:endParaRPr lang="en-US" sz="1600" b="1" dirty="0">
              <a:solidFill>
                <a:schemeClr val="tx2">
                  <a:lumMod val="50000"/>
                </a:schemeClr>
              </a:solidFill>
              <a:latin typeface="Montserrat" panose="00000500000000000000" pitchFamily="2" charset="0"/>
            </a:endParaRPr>
          </a:p>
          <a:p>
            <a:pPr marL="457200" indent="-457200">
              <a:lnSpc>
                <a:spcPct val="125000"/>
              </a:lnSpc>
              <a:buClr>
                <a:schemeClr val="tx1">
                  <a:lumMod val="50000"/>
                  <a:lumOff val="50000"/>
                </a:schemeClr>
              </a:buClr>
              <a:buAutoNum type="arabicPeriod"/>
            </a:pPr>
            <a:r>
              <a:rPr lang="en-US" sz="16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Tổng</a:t>
            </a:r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16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quan</a:t>
            </a:r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 Công </a:t>
            </a:r>
            <a:r>
              <a:rPr lang="en-US" sz="16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thức</a:t>
            </a:r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16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phối</a:t>
            </a:r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16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trộn</a:t>
            </a:r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 SO SÁNH Tỷ </a:t>
            </a:r>
            <a:r>
              <a:rPr lang="en-US" sz="16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lệ</a:t>
            </a:r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 chai </a:t>
            </a:r>
            <a:r>
              <a:rPr lang="en-US" sz="16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từ</a:t>
            </a:r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 Thị </a:t>
            </a:r>
            <a:r>
              <a:rPr lang="en-US" sz="16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trường</a:t>
            </a:r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 </a:t>
            </a:r>
          </a:p>
          <a:p>
            <a:pPr marL="457200" indent="-457200">
              <a:lnSpc>
                <a:spcPct val="125000"/>
              </a:lnSpc>
              <a:buClr>
                <a:schemeClr val="tx1">
                  <a:lumMod val="50000"/>
                  <a:lumOff val="50000"/>
                </a:schemeClr>
              </a:buClr>
              <a:buFont typeface="Arial"/>
              <a:buAutoNum type="arabicPeriod"/>
            </a:pPr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Hiệu </a:t>
            </a:r>
            <a:r>
              <a:rPr lang="en-US" sz="16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suất</a:t>
            </a:r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16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thu</a:t>
            </a:r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16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hồi</a:t>
            </a:r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16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Vảy</a:t>
            </a:r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, Chai</a:t>
            </a:r>
          </a:p>
        </p:txBody>
      </p:sp>
    </p:spTree>
    <p:extLst>
      <p:ext uri="{BB962C8B-B14F-4D97-AF65-F5344CB8AC3E}">
        <p14:creationId xmlns:p14="http://schemas.microsoft.com/office/powerpoint/2010/main" val="3016888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80682-68C1-1F9A-9A31-9D58D280A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6902D48-EF83-7B03-92A0-DBAB801632CD}"/>
              </a:ext>
            </a:extLst>
          </p:cNvPr>
          <p:cNvSpPr txBox="1"/>
          <p:nvPr/>
        </p:nvSpPr>
        <p:spPr>
          <a:xfrm>
            <a:off x="0" y="86683"/>
            <a:ext cx="914399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1. </a:t>
            </a:r>
            <a:r>
              <a:rPr lang="en-US" sz="2600" b="1" dirty="0" err="1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Tóm</a:t>
            </a: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600" b="1" dirty="0" err="1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tắt</a:t>
            </a: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600" b="1" dirty="0" err="1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chính</a:t>
            </a:r>
            <a:endParaRPr lang="en-US" sz="2600" b="1" dirty="0">
              <a:solidFill>
                <a:srgbClr val="119303"/>
              </a:solidFill>
              <a:latin typeface="Montserrat" panose="00000500000000000000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>
              <a:defRPr/>
            </a:pPr>
            <a:endParaRPr lang="en-US" sz="2600" b="1" dirty="0">
              <a:solidFill>
                <a:srgbClr val="119303"/>
              </a:solidFill>
              <a:latin typeface="Montserrat" panose="00000500000000000000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3CC0362-6930-7564-053A-41954A1F682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32B0ED-44F5-D554-886A-FD0A6C5F595E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B08B33-4139-C106-27D3-5751179B4B06}"/>
              </a:ext>
            </a:extLst>
          </p:cNvPr>
          <p:cNvSpPr txBox="1"/>
          <p:nvPr/>
        </p:nvSpPr>
        <p:spPr>
          <a:xfrm>
            <a:off x="1067352" y="3470571"/>
            <a:ext cx="45819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 dirty="0"/>
              <a:t>Tối ưu giá thành &amp; lợi nhuận chuỗi PET</a:t>
            </a:r>
            <a:br>
              <a:rPr lang="vi-VN" dirty="0"/>
            </a:br>
            <a:r>
              <a:rPr lang="vi-VN" dirty="0"/>
              <a:t>(B0 → </a:t>
            </a:r>
            <a:r>
              <a:rPr lang="en-US" dirty="0" err="1"/>
              <a:t>Vảy</a:t>
            </a:r>
            <a:r>
              <a:rPr lang="vi-VN" dirty="0"/>
              <a:t> →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hạt</a:t>
            </a:r>
            <a:r>
              <a:rPr lang="vi-VN" dirty="0"/>
              <a:t>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8173B5-9EF6-16AD-6CFB-464A5A7998B1}"/>
              </a:ext>
            </a:extLst>
          </p:cNvPr>
          <p:cNvSpPr txBox="1"/>
          <p:nvPr/>
        </p:nvSpPr>
        <p:spPr>
          <a:xfrm>
            <a:off x="965752" y="1575937"/>
            <a:ext cx="458193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 err="1"/>
              <a:t>Tóm</a:t>
            </a:r>
            <a:r>
              <a:rPr lang="en-US" b="1" dirty="0"/>
              <a:t> </a:t>
            </a:r>
            <a:r>
              <a:rPr lang="en-US" b="1" dirty="0" err="1"/>
              <a:t>tắt</a:t>
            </a:r>
            <a:endParaRPr lang="vi-VN" b="1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Mô hình đã </a:t>
            </a:r>
            <a:r>
              <a:rPr lang="vi-VN" b="1" dirty="0"/>
              <a:t>trừ đầy đủ phó sản (nắp, bụi, PE/PP)</a:t>
            </a:r>
            <a:r>
              <a:rPr lang="vi-V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Giá thành hiện tại </a:t>
            </a:r>
            <a:r>
              <a:rPr lang="vi-VN" b="1" dirty="0"/>
              <a:t>đúng </a:t>
            </a:r>
            <a:r>
              <a:rPr lang="en-US" b="1" dirty="0" err="1"/>
              <a:t>theo</a:t>
            </a:r>
            <a:r>
              <a:rPr lang="en-US" b="1" dirty="0"/>
              <a:t> </a:t>
            </a:r>
            <a:r>
              <a:rPr lang="en-US" b="1" dirty="0" err="1"/>
              <a:t>góc</a:t>
            </a:r>
            <a:r>
              <a:rPr lang="en-US" b="1" dirty="0"/>
              <a:t> </a:t>
            </a:r>
            <a:r>
              <a:rPr lang="en-US" b="1" dirty="0" err="1"/>
              <a:t>độ</a:t>
            </a:r>
            <a:r>
              <a:rPr lang="en-US" b="1" dirty="0"/>
              <a:t> </a:t>
            </a:r>
            <a:r>
              <a:rPr lang="en-US" b="1" dirty="0" err="1"/>
              <a:t>kế</a:t>
            </a:r>
            <a:r>
              <a:rPr lang="en-US" b="1" dirty="0"/>
              <a:t> </a:t>
            </a:r>
            <a:r>
              <a:rPr lang="en-US" b="1" dirty="0" err="1"/>
              <a:t>toán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Cơ hội: tối ưu vận hành → </a:t>
            </a:r>
            <a:r>
              <a:rPr lang="vi-VN" b="1" dirty="0"/>
              <a:t>+</a:t>
            </a:r>
            <a:r>
              <a:rPr lang="en-US" b="1" dirty="0"/>
              <a:t>1.</a:t>
            </a:r>
            <a:r>
              <a:rPr lang="vi-VN" b="1" dirty="0"/>
              <a:t>500–</a:t>
            </a:r>
            <a:r>
              <a:rPr lang="en-US" b="1" dirty="0"/>
              <a:t>3</a:t>
            </a:r>
            <a:r>
              <a:rPr lang="vi-VN" b="1" dirty="0"/>
              <a:t>.500 đ/kg</a:t>
            </a:r>
            <a:endParaRPr lang="vi-V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1173C0-3DB1-9E59-BAB7-CBCA142D91A1}"/>
              </a:ext>
            </a:extLst>
          </p:cNvPr>
          <p:cNvSpPr txBox="1"/>
          <p:nvPr/>
        </p:nvSpPr>
        <p:spPr>
          <a:xfrm>
            <a:off x="965752" y="736770"/>
            <a:ext cx="76879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B0 → </a:t>
            </a:r>
            <a:r>
              <a:rPr lang="en-US" dirty="0" err="1"/>
              <a:t>Lựa</a:t>
            </a:r>
            <a:r>
              <a:rPr lang="en-US" dirty="0"/>
              <a:t> → Chai </a:t>
            </a:r>
            <a:r>
              <a:rPr lang="en-US" dirty="0" err="1"/>
              <a:t>Lựa</a:t>
            </a:r>
            <a:r>
              <a:rPr lang="en-US" dirty="0"/>
              <a:t> (</a:t>
            </a:r>
            <a:r>
              <a:rPr lang="en-US" dirty="0">
                <a:solidFill>
                  <a:srgbClr val="FF0000"/>
                </a:solidFill>
              </a:rPr>
              <a:t>B1; B2.2; B4, B5,B6.2</a:t>
            </a:r>
            <a:r>
              <a:rPr lang="en-US" dirty="0"/>
              <a:t>) → </a:t>
            </a:r>
            <a:r>
              <a:rPr lang="en-US" dirty="0" err="1"/>
              <a:t>Băm</a:t>
            </a:r>
            <a:r>
              <a:rPr lang="en-US" dirty="0"/>
              <a:t> → </a:t>
            </a:r>
            <a:r>
              <a:rPr lang="en-US" dirty="0" err="1"/>
              <a:t>Rửa</a:t>
            </a:r>
            <a:r>
              <a:rPr lang="en-US" dirty="0"/>
              <a:t> → </a:t>
            </a:r>
            <a:r>
              <a:rPr lang="en-US" dirty="0" err="1"/>
              <a:t>Vảy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rữa</a:t>
            </a:r>
            <a:r>
              <a:rPr lang="en-US" dirty="0"/>
              <a:t> → </a:t>
            </a:r>
            <a:r>
              <a:rPr lang="en-US" dirty="0" err="1"/>
              <a:t>Hạt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656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C7BE9-BD42-70DA-9EFC-6BFBE46F2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6C68220-41FB-ADF1-B6C5-02E597AEC6CD}"/>
              </a:ext>
            </a:extLst>
          </p:cNvPr>
          <p:cNvSpPr txBox="1"/>
          <p:nvPr/>
        </p:nvSpPr>
        <p:spPr>
          <a:xfrm>
            <a:off x="0" y="86683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2. </a:t>
            </a:r>
            <a:r>
              <a:rPr lang="vi-VN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Lưu đồ luồng nguyên liệu đi vào sx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8F2EAD-E565-FB6D-2D2D-67588FDB045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8BD863-89E8-593E-6E66-89817120C3EE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C1237B-A45C-D8E7-3D24-E31B4E94E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559248"/>
            <a:ext cx="9144000" cy="4389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502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76195-C57E-CB97-75DE-BDB39AEF4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4F827B4-44A9-EE65-1DE3-1B8DFAA58081}"/>
              </a:ext>
            </a:extLst>
          </p:cNvPr>
          <p:cNvSpPr txBox="1"/>
          <p:nvPr/>
        </p:nvSpPr>
        <p:spPr>
          <a:xfrm>
            <a:off x="1" y="272888"/>
            <a:ext cx="289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CHAI SAU LỰA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E005EB-E59A-874D-3518-B2EC47F8D6A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63A8E8-B517-529E-E428-427E98639844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3F4130D-5098-0183-1901-7E9ED94173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419846"/>
              </p:ext>
            </p:extLst>
          </p:nvPr>
        </p:nvGraphicFramePr>
        <p:xfrm>
          <a:off x="251791" y="1014225"/>
          <a:ext cx="2378765" cy="2191301"/>
        </p:xfrm>
        <a:graphic>
          <a:graphicData uri="http://schemas.openxmlformats.org/drawingml/2006/table">
            <a:tbl>
              <a:tblPr/>
              <a:tblGrid>
                <a:gridCol w="1190270">
                  <a:extLst>
                    <a:ext uri="{9D8B030D-6E8A-4147-A177-3AD203B41FA5}">
                      <a16:colId xmlns:a16="http://schemas.microsoft.com/office/drawing/2014/main" val="1174468904"/>
                    </a:ext>
                  </a:extLst>
                </a:gridCol>
                <a:gridCol w="1188495">
                  <a:extLst>
                    <a:ext uri="{9D8B030D-6E8A-4147-A177-3AD203B41FA5}">
                      <a16:colId xmlns:a16="http://schemas.microsoft.com/office/drawing/2014/main" val="2897833703"/>
                    </a:ext>
                  </a:extLst>
                </a:gridCol>
              </a:tblGrid>
              <a:tr h="313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0000FF"/>
                          </a:solidFill>
                        </a:rPr>
                        <a:t>Thành </a:t>
                      </a:r>
                      <a:r>
                        <a:rPr lang="en-US" b="1" dirty="0" err="1">
                          <a:solidFill>
                            <a:srgbClr val="0000FF"/>
                          </a:solidFill>
                        </a:rPr>
                        <a:t>phần</a:t>
                      </a:r>
                      <a:endParaRPr lang="en-US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0000FF"/>
                          </a:solidFill>
                        </a:rPr>
                        <a:t>Tỷ </a:t>
                      </a:r>
                      <a:r>
                        <a:rPr lang="en-US" b="1" dirty="0" err="1">
                          <a:solidFill>
                            <a:srgbClr val="0000FF"/>
                          </a:solidFill>
                        </a:rPr>
                        <a:t>lệ</a:t>
                      </a:r>
                      <a:endParaRPr lang="en-US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3262402"/>
                  </a:ext>
                </a:extLst>
              </a:tr>
              <a:tr h="313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 53%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5688425"/>
                  </a:ext>
                </a:extLst>
              </a:tr>
              <a:tr h="313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B6.2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 30%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335876"/>
                  </a:ext>
                </a:extLst>
              </a:tr>
              <a:tr h="313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B2.2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   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8411494"/>
                  </a:ext>
                </a:extLst>
              </a:tr>
              <a:tr h="313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   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894935"/>
                  </a:ext>
                </a:extLst>
              </a:tr>
              <a:tr h="313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   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792260"/>
                  </a:ext>
                </a:extLst>
              </a:tr>
              <a:tr h="313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Hao </a:t>
                      </a:r>
                      <a:r>
                        <a:rPr lang="en-US" dirty="0" err="1"/>
                        <a:t>hụt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12026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576B2FB-483B-F4C8-3C2D-57A91ABBF720}"/>
              </a:ext>
            </a:extLst>
          </p:cNvPr>
          <p:cNvSpPr txBox="1"/>
          <p:nvPr/>
        </p:nvSpPr>
        <p:spPr>
          <a:xfrm>
            <a:off x="3024809" y="272887"/>
            <a:ext cx="22893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VẢY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E99CAE-8A62-FBBC-3DAD-65D4377897F0}"/>
              </a:ext>
            </a:extLst>
          </p:cNvPr>
          <p:cNvSpPr txBox="1"/>
          <p:nvPr/>
        </p:nvSpPr>
        <p:spPr>
          <a:xfrm>
            <a:off x="5993296" y="272887"/>
            <a:ext cx="289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HẠT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F8EC28E-1826-A76C-E853-DBAACFE2D1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4396488"/>
              </p:ext>
            </p:extLst>
          </p:nvPr>
        </p:nvGraphicFramePr>
        <p:xfrm>
          <a:off x="3286708" y="1077278"/>
          <a:ext cx="2378765" cy="2183058"/>
        </p:xfrm>
        <a:graphic>
          <a:graphicData uri="http://schemas.openxmlformats.org/drawingml/2006/table">
            <a:tbl>
              <a:tblPr/>
              <a:tblGrid>
                <a:gridCol w="1190270">
                  <a:extLst>
                    <a:ext uri="{9D8B030D-6E8A-4147-A177-3AD203B41FA5}">
                      <a16:colId xmlns:a16="http://schemas.microsoft.com/office/drawing/2014/main" val="1174468904"/>
                    </a:ext>
                  </a:extLst>
                </a:gridCol>
                <a:gridCol w="1188495">
                  <a:extLst>
                    <a:ext uri="{9D8B030D-6E8A-4147-A177-3AD203B41FA5}">
                      <a16:colId xmlns:a16="http://schemas.microsoft.com/office/drawing/2014/main" val="2897833703"/>
                    </a:ext>
                  </a:extLst>
                </a:gridCol>
              </a:tblGrid>
              <a:tr h="273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0000FF"/>
                          </a:solidFill>
                        </a:rPr>
                        <a:t>Thành </a:t>
                      </a:r>
                      <a:r>
                        <a:rPr lang="en-US" b="1" dirty="0" err="1">
                          <a:solidFill>
                            <a:srgbClr val="0000FF"/>
                          </a:solidFill>
                        </a:rPr>
                        <a:t>phần</a:t>
                      </a:r>
                      <a:endParaRPr lang="en-US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0000FF"/>
                          </a:solidFill>
                        </a:rPr>
                        <a:t>Tỷ </a:t>
                      </a:r>
                      <a:r>
                        <a:rPr lang="en-US" b="1" dirty="0" err="1">
                          <a:solidFill>
                            <a:srgbClr val="0000FF"/>
                          </a:solidFill>
                        </a:rPr>
                        <a:t>lệ</a:t>
                      </a:r>
                      <a:endParaRPr lang="en-US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3262402"/>
                  </a:ext>
                </a:extLst>
              </a:tr>
              <a:tr h="313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 53%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5688425"/>
                  </a:ext>
                </a:extLst>
              </a:tr>
              <a:tr h="313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B6.2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 30%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335876"/>
                  </a:ext>
                </a:extLst>
              </a:tr>
              <a:tr h="313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B2.2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   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8411494"/>
                  </a:ext>
                </a:extLst>
              </a:tr>
              <a:tr h="313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   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894935"/>
                  </a:ext>
                </a:extLst>
              </a:tr>
              <a:tr h="313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   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792260"/>
                  </a:ext>
                </a:extLst>
              </a:tr>
              <a:tr h="313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Hao </a:t>
                      </a:r>
                      <a:r>
                        <a:rPr lang="en-US" dirty="0" err="1"/>
                        <a:t>hụt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12026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ADFCE91-A144-A9B0-8B02-D944F1ADCF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8895091"/>
              </p:ext>
            </p:extLst>
          </p:nvPr>
        </p:nvGraphicFramePr>
        <p:xfrm>
          <a:off x="6321626" y="899375"/>
          <a:ext cx="2567270" cy="2504656"/>
        </p:xfrm>
        <a:graphic>
          <a:graphicData uri="http://schemas.openxmlformats.org/drawingml/2006/table">
            <a:tbl>
              <a:tblPr/>
              <a:tblGrid>
                <a:gridCol w="1287626">
                  <a:extLst>
                    <a:ext uri="{9D8B030D-6E8A-4147-A177-3AD203B41FA5}">
                      <a16:colId xmlns:a16="http://schemas.microsoft.com/office/drawing/2014/main" val="1174468904"/>
                    </a:ext>
                  </a:extLst>
                </a:gridCol>
                <a:gridCol w="1279644">
                  <a:extLst>
                    <a:ext uri="{9D8B030D-6E8A-4147-A177-3AD203B41FA5}">
                      <a16:colId xmlns:a16="http://schemas.microsoft.com/office/drawing/2014/main" val="2897833703"/>
                    </a:ext>
                  </a:extLst>
                </a:gridCol>
              </a:tblGrid>
              <a:tr h="3271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0000FF"/>
                          </a:solidFill>
                        </a:rPr>
                        <a:t>Thành </a:t>
                      </a:r>
                      <a:r>
                        <a:rPr lang="en-US" b="1" dirty="0" err="1">
                          <a:solidFill>
                            <a:srgbClr val="0000FF"/>
                          </a:solidFill>
                        </a:rPr>
                        <a:t>phần</a:t>
                      </a:r>
                      <a:endParaRPr lang="en-US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0000FF"/>
                          </a:solidFill>
                        </a:rPr>
                        <a:t>Tỷ </a:t>
                      </a:r>
                      <a:r>
                        <a:rPr lang="en-US" b="1" dirty="0" err="1">
                          <a:solidFill>
                            <a:srgbClr val="0000FF"/>
                          </a:solidFill>
                        </a:rPr>
                        <a:t>lệ</a:t>
                      </a:r>
                      <a:endParaRPr lang="en-US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3262402"/>
                  </a:ext>
                </a:extLst>
              </a:tr>
              <a:tr h="3271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Iss084g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    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5688425"/>
                  </a:ext>
                </a:extLst>
              </a:tr>
              <a:tr h="3271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Iss01g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  13%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335876"/>
                  </a:ext>
                </a:extLst>
              </a:tr>
              <a:tr h="3271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Wss01g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  27%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8411494"/>
                  </a:ext>
                </a:extLst>
              </a:tr>
              <a:tr h="3271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Wss03g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   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894935"/>
                  </a:ext>
                </a:extLst>
              </a:tr>
              <a:tr h="5415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wss03SB/SD</a:t>
                      </a:r>
                    </a:p>
                    <a:p>
                      <a:pPr>
                        <a:buNone/>
                      </a:pPr>
                      <a:r>
                        <a:rPr lang="en-US" dirty="0"/>
                        <a:t>Wss04Sb/</a:t>
                      </a:r>
                      <a:r>
                        <a:rPr lang="en-US" dirty="0" err="1"/>
                        <a:t>sd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  13%</a:t>
                      </a:r>
                    </a:p>
                    <a:p>
                      <a:pPr>
                        <a:buNone/>
                      </a:pPr>
                      <a:r>
                        <a:rPr lang="en-US" dirty="0"/>
                        <a:t>  13%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792260"/>
                  </a:ext>
                </a:extLst>
              </a:tr>
              <a:tr h="3271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Hao </a:t>
                      </a:r>
                      <a:r>
                        <a:rPr lang="en-US" dirty="0" err="1"/>
                        <a:t>hụt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  10%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120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3298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F0C77-93BC-8B47-D0B2-F4A2DDF72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5447D42-3723-7946-17BD-D36082D219F6}"/>
              </a:ext>
            </a:extLst>
          </p:cNvPr>
          <p:cNvSpPr txBox="1"/>
          <p:nvPr/>
        </p:nvSpPr>
        <p:spPr>
          <a:xfrm>
            <a:off x="72887" y="133400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653D86-452B-F3AD-8F66-0081214123A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07BEC1-E8E6-84C8-AC97-26B5C891C36C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F082173-35F1-EEB9-B75A-703E566A3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199" y="141888"/>
            <a:ext cx="8309994" cy="468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424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41B8E-145F-F5A0-8938-72CC17FF5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9203427-253E-83FA-FCEC-B63E045D205D}"/>
              </a:ext>
            </a:extLst>
          </p:cNvPr>
          <p:cNvSpPr txBox="1"/>
          <p:nvPr/>
        </p:nvSpPr>
        <p:spPr>
          <a:xfrm>
            <a:off x="0" y="86683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LUỒNG NGUYÊN LIỆU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3738979-32CD-0EB6-A815-84D5AA46647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F83546-3575-8BE2-2AC3-E5D1BF7271A9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24C1F6-1D39-EB5E-D905-C77E8ED6F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683"/>
            <a:ext cx="9144000" cy="4890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06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9B50C-9509-06AF-6D8E-38F8CAF87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A2FE1A9-55B1-5338-D1F3-DB20C1DCCEAF}"/>
              </a:ext>
            </a:extLst>
          </p:cNvPr>
          <p:cNvSpPr txBox="1"/>
          <p:nvPr/>
        </p:nvSpPr>
        <p:spPr>
          <a:xfrm>
            <a:off x="254000" y="166318"/>
            <a:ext cx="914399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 err="1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Cơ</a:t>
            </a: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600" b="1" dirty="0" err="1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cấu</a:t>
            </a: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600" b="1" dirty="0" err="1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sản</a:t>
            </a: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600" b="1" dirty="0" err="1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phẩm</a:t>
            </a:r>
            <a:endParaRPr lang="en-US" sz="2600" b="1" dirty="0">
              <a:solidFill>
                <a:srgbClr val="119303"/>
              </a:solidFill>
              <a:latin typeface="Montserrat" panose="00000500000000000000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>
              <a:defRPr/>
            </a:pPr>
            <a:endParaRPr lang="en-US" sz="2600" b="1" dirty="0">
              <a:solidFill>
                <a:srgbClr val="119303"/>
              </a:solidFill>
              <a:latin typeface="Montserrat" panose="00000500000000000000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089678D-1172-4632-8B54-EC589BF9134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A69EFC-4B2B-92BB-B76E-71E5674C54A7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A9405C-2134-0E3B-E703-EEA46BBA0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903" y="966291"/>
            <a:ext cx="8522030" cy="308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628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E7D25-EED0-853F-457F-2D3183F38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0EF2748-F663-1C1A-7842-ED7B46D1173F}"/>
              </a:ext>
            </a:extLst>
          </p:cNvPr>
          <p:cNvSpPr txBox="1"/>
          <p:nvPr/>
        </p:nvSpPr>
        <p:spPr>
          <a:xfrm>
            <a:off x="0" y="199326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CHI PHÍ CÔNG ĐOẠN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834C3A3-C46F-4D55-4975-4F5DCD617C5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7ED042-79A3-AFBF-19F5-FD0E7F7FE368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BBC9D7-47AF-6B60-5154-3E394C470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39" y="893101"/>
            <a:ext cx="9016719" cy="1928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476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CFE09-A7FC-C69D-A194-91C3F3208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71869B-5292-6A60-5260-842D4325912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F8941F-7310-3882-9E6A-1DA655BED70B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051270-FBE7-1060-D377-4F2FAE648F4F}"/>
              </a:ext>
            </a:extLst>
          </p:cNvPr>
          <p:cNvSpPr txBox="1"/>
          <p:nvPr/>
        </p:nvSpPr>
        <p:spPr>
          <a:xfrm>
            <a:off x="470452" y="309592"/>
            <a:ext cx="82693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vi-VN" sz="1600" b="1" dirty="0">
              <a:solidFill>
                <a:srgbClr val="0000FF"/>
              </a:solidFill>
              <a:latin typeface="Montserrat" panose="00000500000000000000" pitchFamily="2" charset="0"/>
            </a:endParaRPr>
          </a:p>
          <a:p>
            <a:r>
              <a:rPr lang="en-US" sz="1600" b="1" dirty="0">
                <a:solidFill>
                  <a:srgbClr val="0000FF"/>
                </a:solidFill>
                <a:latin typeface="Montserrat" panose="00000500000000000000" pitchFamily="2" charset="0"/>
              </a:rPr>
              <a:t>   </a:t>
            </a:r>
            <a:endParaRPr lang="vi-VN" sz="1600" b="1" dirty="0">
              <a:solidFill>
                <a:srgbClr val="FF0000"/>
              </a:solidFill>
              <a:latin typeface="Montserrat" panose="00000500000000000000" pitchFamily="2" charset="0"/>
            </a:endParaRPr>
          </a:p>
          <a:p>
            <a:endParaRPr lang="en-US" sz="1600" b="1" dirty="0">
              <a:solidFill>
                <a:srgbClr val="0000FF"/>
              </a:solidFill>
              <a:latin typeface="Montserrat" panose="00000500000000000000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A931A13-E67B-0D1C-5083-D4788FF490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2963137"/>
              </p:ext>
            </p:extLst>
          </p:nvPr>
        </p:nvGraphicFramePr>
        <p:xfrm>
          <a:off x="404191" y="539750"/>
          <a:ext cx="8335616" cy="3484880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1041952">
                  <a:extLst>
                    <a:ext uri="{9D8B030D-6E8A-4147-A177-3AD203B41FA5}">
                      <a16:colId xmlns:a16="http://schemas.microsoft.com/office/drawing/2014/main" val="723968613"/>
                    </a:ext>
                  </a:extLst>
                </a:gridCol>
                <a:gridCol w="1041952">
                  <a:extLst>
                    <a:ext uri="{9D8B030D-6E8A-4147-A177-3AD203B41FA5}">
                      <a16:colId xmlns:a16="http://schemas.microsoft.com/office/drawing/2014/main" val="3755663163"/>
                    </a:ext>
                  </a:extLst>
                </a:gridCol>
                <a:gridCol w="1041952">
                  <a:extLst>
                    <a:ext uri="{9D8B030D-6E8A-4147-A177-3AD203B41FA5}">
                      <a16:colId xmlns:a16="http://schemas.microsoft.com/office/drawing/2014/main" val="2205128363"/>
                    </a:ext>
                  </a:extLst>
                </a:gridCol>
                <a:gridCol w="1041952">
                  <a:extLst>
                    <a:ext uri="{9D8B030D-6E8A-4147-A177-3AD203B41FA5}">
                      <a16:colId xmlns:a16="http://schemas.microsoft.com/office/drawing/2014/main" val="2349874048"/>
                    </a:ext>
                  </a:extLst>
                </a:gridCol>
                <a:gridCol w="1041952">
                  <a:extLst>
                    <a:ext uri="{9D8B030D-6E8A-4147-A177-3AD203B41FA5}">
                      <a16:colId xmlns:a16="http://schemas.microsoft.com/office/drawing/2014/main" val="2735643545"/>
                    </a:ext>
                  </a:extLst>
                </a:gridCol>
                <a:gridCol w="1041952">
                  <a:extLst>
                    <a:ext uri="{9D8B030D-6E8A-4147-A177-3AD203B41FA5}">
                      <a16:colId xmlns:a16="http://schemas.microsoft.com/office/drawing/2014/main" val="777575238"/>
                    </a:ext>
                  </a:extLst>
                </a:gridCol>
                <a:gridCol w="1041952">
                  <a:extLst>
                    <a:ext uri="{9D8B030D-6E8A-4147-A177-3AD203B41FA5}">
                      <a16:colId xmlns:a16="http://schemas.microsoft.com/office/drawing/2014/main" val="873118918"/>
                    </a:ext>
                  </a:extLst>
                </a:gridCol>
                <a:gridCol w="1041952">
                  <a:extLst>
                    <a:ext uri="{9D8B030D-6E8A-4147-A177-3AD203B41FA5}">
                      <a16:colId xmlns:a16="http://schemas.microsoft.com/office/drawing/2014/main" val="1179943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6455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vi-VN" sz="1400" b="1" dirty="0">
                          <a:solidFill>
                            <a:srgbClr val="0000FF"/>
                          </a:solidFill>
                          <a:latin typeface="Montserrat" panose="00000500000000000000" pitchFamily="2" charset="0"/>
                        </a:rPr>
                        <a:t>B0 (11.300)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vi-VN" sz="1400" b="1" dirty="0">
                          <a:solidFill>
                            <a:srgbClr val="0000FF"/>
                          </a:solidFill>
                          <a:latin typeface="Montserrat" panose="00000500000000000000" pitchFamily="2" charset="0"/>
                        </a:rPr>
                        <a:t>B1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latin typeface="Montserrat" panose="00000500000000000000" pitchFamily="2" charset="0"/>
                        </a:rPr>
                        <a:t>, B2.2, B4, B5, B6.2</a:t>
                      </a:r>
                      <a:endParaRPr lang="vi-VN" sz="1400" b="1" dirty="0">
                        <a:solidFill>
                          <a:srgbClr val="0000FF"/>
                        </a:solidFill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solidFill>
                            <a:srgbClr val="0000FF"/>
                          </a:solidFill>
                          <a:latin typeface="Montserrat" panose="00000500000000000000" pitchFamily="2" charset="0"/>
                        </a:rPr>
                        <a:t>Vảy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rgbClr val="0000FF"/>
                          </a:solidFill>
                          <a:latin typeface="Montserrat" panose="00000500000000000000" pitchFamily="2" charset="0"/>
                        </a:rPr>
                        <a:t>sạch</a:t>
                      </a:r>
                      <a:r>
                        <a:rPr lang="vi-VN" sz="1400" b="1" dirty="0">
                          <a:solidFill>
                            <a:srgbClr val="0000FF"/>
                          </a:solidFill>
                          <a:latin typeface="Montserrat" panose="00000500000000000000" pitchFamily="2" charset="0"/>
                        </a:rPr>
                        <a:t> B1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latin typeface="Montserrat" panose="00000500000000000000" pitchFamily="2" charset="0"/>
                        </a:rPr>
                        <a:t>, B2.2, B4, B5, B6.2</a:t>
                      </a:r>
                      <a:endParaRPr lang="vi-VN" sz="1400" b="1" dirty="0">
                        <a:solidFill>
                          <a:srgbClr val="0000FF"/>
                        </a:solidFill>
                        <a:latin typeface="Montserrat" panose="00000500000000000000" pitchFamily="2" charset="0"/>
                      </a:endParaRPr>
                    </a:p>
                    <a:p>
                      <a:r>
                        <a:rPr lang="vi-VN" sz="1400" b="1" dirty="0">
                          <a:solidFill>
                            <a:srgbClr val="119303"/>
                          </a:solidFill>
                          <a:latin typeface="Montserrat" panose="00000500000000000000" pitchFamily="2" charset="0"/>
                        </a:rPr>
                        <a:t>(</a:t>
                      </a:r>
                      <a:r>
                        <a:rPr lang="en-US" sz="1400" b="1" dirty="0">
                          <a:solidFill>
                            <a:srgbClr val="119303"/>
                          </a:solidFill>
                          <a:latin typeface="Montserrat" panose="00000500000000000000" pitchFamily="2" charset="0"/>
                        </a:rPr>
                        <a:t>HSTH</a:t>
                      </a:r>
                      <a:r>
                        <a:rPr lang="vi-VN" sz="1400" b="1" dirty="0">
                          <a:solidFill>
                            <a:srgbClr val="119303"/>
                          </a:solidFill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119303"/>
                          </a:solidFill>
                          <a:latin typeface="Montserrat" panose="00000500000000000000" pitchFamily="2" charset="0"/>
                        </a:rPr>
                        <a:t>80</a:t>
                      </a:r>
                      <a:r>
                        <a:rPr lang="vi-VN" sz="1400" b="1" dirty="0">
                          <a:solidFill>
                            <a:srgbClr val="119303"/>
                          </a:solidFill>
                          <a:latin typeface="Montserrat" panose="00000500000000000000" pitchFamily="2" charset="0"/>
                        </a:rPr>
                        <a:t>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solidFill>
                            <a:srgbClr val="0000FF"/>
                          </a:solidFill>
                          <a:latin typeface="Montserrat" panose="00000500000000000000" pitchFamily="2" charset="0"/>
                        </a:rPr>
                        <a:t>Hạt</a:t>
                      </a:r>
                      <a:r>
                        <a:rPr lang="vi-VN" sz="1400" b="1" dirty="0">
                          <a:solidFill>
                            <a:srgbClr val="0000FF"/>
                          </a:solidFill>
                          <a:latin typeface="Montserrat" panose="00000500000000000000" pitchFamily="2" charset="0"/>
                        </a:rPr>
                        <a:t> </a:t>
                      </a:r>
                      <a:endParaRPr lang="en-US" sz="1400" b="1" dirty="0">
                        <a:solidFill>
                          <a:srgbClr val="0000FF"/>
                        </a:solidFill>
                        <a:latin typeface="Montserrat" panose="00000500000000000000" pitchFamily="2" charset="0"/>
                      </a:endParaRPr>
                    </a:p>
                    <a:p>
                      <a:r>
                        <a:rPr lang="vi-VN" sz="1400" b="1" dirty="0">
                          <a:solidFill>
                            <a:srgbClr val="119303"/>
                          </a:solidFill>
                          <a:latin typeface="Montserrat" panose="00000500000000000000" pitchFamily="2" charset="0"/>
                        </a:rPr>
                        <a:t>(</a:t>
                      </a:r>
                      <a:r>
                        <a:rPr lang="en-US" sz="1400" b="1" dirty="0">
                          <a:solidFill>
                            <a:srgbClr val="119303"/>
                          </a:solidFill>
                          <a:latin typeface="Montserrat" panose="00000500000000000000" pitchFamily="2" charset="0"/>
                        </a:rPr>
                        <a:t>HSTH</a:t>
                      </a:r>
                      <a:r>
                        <a:rPr lang="vi-VN" sz="1400" b="1" dirty="0">
                          <a:solidFill>
                            <a:srgbClr val="119303"/>
                          </a:solidFill>
                          <a:latin typeface="Montserrat" panose="00000500000000000000" pitchFamily="2" charset="0"/>
                        </a:rPr>
                        <a:t> 91.4%)</a:t>
                      </a:r>
                      <a:endParaRPr lang="en-US" sz="1400" b="1" dirty="0">
                        <a:solidFill>
                          <a:srgbClr val="119303"/>
                        </a:solidFill>
                        <a:latin typeface="Montserrat" panose="00000500000000000000" pitchFamily="2" charset="0"/>
                      </a:endParaRPr>
                    </a:p>
                    <a:p>
                      <a:endParaRPr lang="vi-VN" sz="1400" b="1" dirty="0">
                        <a:solidFill>
                          <a:srgbClr val="119303"/>
                        </a:solidFill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vi-VN" sz="1400" b="1" dirty="0">
                        <a:solidFill>
                          <a:srgbClr val="119303"/>
                        </a:solidFill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400" b="1" dirty="0">
                          <a:solidFill>
                            <a:srgbClr val="0000FF"/>
                          </a:solidFill>
                          <a:latin typeface="Montserrat" panose="00000500000000000000" pitchFamily="2" charset="0"/>
                        </a:rPr>
                        <a:t>+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latin typeface="Montserrat" panose="00000500000000000000" pitchFamily="2" charset="0"/>
                        </a:rPr>
                        <a:t>Chi </a:t>
                      </a:r>
                      <a:r>
                        <a:rPr lang="en-US" sz="1400" b="1" dirty="0" err="1">
                          <a:solidFill>
                            <a:srgbClr val="0000FF"/>
                          </a:solidFill>
                          <a:latin typeface="Montserrat" panose="00000500000000000000" pitchFamily="2" charset="0"/>
                        </a:rPr>
                        <a:t>phí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latin typeface="Montserrat" panose="00000500000000000000" pitchFamily="2" charset="0"/>
                        </a:rPr>
                        <a:t> BH,QL,TC</a:t>
                      </a:r>
                      <a:r>
                        <a:rPr lang="vi-VN" sz="1400" b="1" dirty="0">
                          <a:solidFill>
                            <a:srgbClr val="0000FF"/>
                          </a:solidFill>
                          <a:latin typeface="Montserrat" panose="00000500000000000000" pitchFamily="2" charset="0"/>
                        </a:rPr>
                        <a:t> </a:t>
                      </a:r>
                      <a:endParaRPr lang="vi-VN" sz="1400" b="1" dirty="0">
                        <a:solidFill>
                          <a:srgbClr val="119303"/>
                        </a:solidFill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vi-VN" sz="1400" b="1" dirty="0">
                          <a:solidFill>
                            <a:srgbClr val="0000FF"/>
                          </a:solidFill>
                          <a:latin typeface="Montserrat" panose="00000500000000000000" pitchFamily="2" charset="0"/>
                        </a:rPr>
                        <a:t>=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latin typeface="Montserrat" panose="00000500000000000000" pitchFamily="2" charset="0"/>
                        </a:rPr>
                        <a:t>GIÁ THÀNH</a:t>
                      </a:r>
                      <a:r>
                        <a:rPr lang="vi-VN" sz="1400" b="1" dirty="0">
                          <a:solidFill>
                            <a:srgbClr val="0000FF"/>
                          </a:solidFill>
                          <a:latin typeface="Montserrat" panose="00000500000000000000" pitchFamily="2" charset="0"/>
                        </a:rPr>
                        <a:t> TRƯỚC PHÓ SẢN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vi-VN" sz="1400" b="1" dirty="0">
                          <a:solidFill>
                            <a:srgbClr val="0000FF"/>
                          </a:solidFill>
                          <a:latin typeface="Montserrat" panose="00000500000000000000" pitchFamily="2" charset="0"/>
                        </a:rPr>
                        <a:t>=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latin typeface="Montserrat" panose="00000500000000000000" pitchFamily="2" charset="0"/>
                        </a:rPr>
                        <a:t>GIÁ THÀNH</a:t>
                      </a:r>
                      <a:r>
                        <a:rPr lang="vi-VN" sz="1400" b="1" dirty="0">
                          <a:solidFill>
                            <a:srgbClr val="0000FF"/>
                          </a:solidFill>
                          <a:latin typeface="Montserrat" panose="00000500000000000000" pitchFamily="2" charset="0"/>
                        </a:rPr>
                        <a:t> THỰC</a:t>
                      </a:r>
                      <a:endParaRPr lang="en-US" sz="1400" b="1" dirty="0">
                        <a:solidFill>
                          <a:srgbClr val="0000FF"/>
                        </a:solidFill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7443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vi-VN" sz="1400" b="1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</a:rPr>
                        <a:t>↓ Lựa (loss 10% +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</a:rPr>
                        <a:t>chi </a:t>
                      </a:r>
                      <a:r>
                        <a:rPr lang="en-US" sz="1400" b="1" dirty="0" err="1">
                          <a:solidFill>
                            <a:srgbClr val="FF0000"/>
                          </a:solidFill>
                          <a:latin typeface="Montserrat" panose="00000500000000000000" pitchFamily="2" charset="0"/>
                        </a:rPr>
                        <a:t>phí</a:t>
                      </a:r>
                      <a:r>
                        <a:rPr lang="vi-VN" sz="1400" b="1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</a:rPr>
                        <a:t> 3.000)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vi-VN" sz="1400" b="1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</a:rPr>
                        <a:t>↓ Băm (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</a:rPr>
                        <a:t>1</a:t>
                      </a:r>
                      <a:r>
                        <a:rPr lang="vi-VN" sz="1400" b="1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</a:rPr>
                        <a:t>.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</a:rPr>
                        <a:t>865</a:t>
                      </a:r>
                      <a:r>
                        <a:rPr lang="vi-VN" sz="1400" b="1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</a:rPr>
                        <a:t>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vi-VN" sz="1400" b="1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</a:rPr>
                        <a:t>↓ Rửa (1.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</a:rPr>
                        <a:t>274</a:t>
                      </a:r>
                      <a:r>
                        <a:rPr lang="vi-VN" sz="1400" b="1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</a:rPr>
                        <a:t>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vi-VN" sz="1400" b="1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</a:rPr>
                        <a:t>↓ Pellet (2.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</a:rPr>
                        <a:t>0</a:t>
                      </a:r>
                      <a:r>
                        <a:rPr lang="vi-VN" sz="1400" b="1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</a:rPr>
                        <a:t>0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</a:rPr>
                        <a:t>1</a:t>
                      </a:r>
                      <a:r>
                        <a:rPr lang="vi-VN" sz="1400" b="1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</a:rPr>
                        <a:t>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vi-VN" sz="1400" b="1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</a:rPr>
                        <a:t>↓ IV (1.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</a:rPr>
                        <a:t>376</a:t>
                      </a:r>
                      <a:r>
                        <a:rPr lang="vi-VN" sz="1400" b="1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</a:rPr>
                        <a:t>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400" b="1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</a:rPr>
                        <a:t>(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</a:rPr>
                        <a:t>1</a:t>
                      </a:r>
                      <a:r>
                        <a:rPr lang="vi-VN" sz="1400" b="1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</a:rPr>
                        <a:t>.7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</a:rPr>
                        <a:t>23</a:t>
                      </a:r>
                      <a:r>
                        <a:rPr lang="vi-VN" sz="1400" b="1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</a:rPr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</a:rPr>
                        <a:t>- </a:t>
                      </a:r>
                      <a:r>
                        <a:rPr lang="vi-VN" sz="1400" b="1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</a:rPr>
                        <a:t>Giá trị nắp (PE/PP)</a:t>
                      </a:r>
                      <a:endParaRPr lang="en-US" sz="1400" b="1" dirty="0">
                        <a:solidFill>
                          <a:srgbClr val="FF0000"/>
                        </a:solidFill>
                        <a:latin typeface="Montserrat" panose="00000500000000000000" pitchFamily="2" charset="0"/>
                      </a:endParaRPr>
                    </a:p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</a:rPr>
                        <a:t>   - </a:t>
                      </a:r>
                      <a:r>
                        <a:rPr lang="en-US" sz="1400" b="1" dirty="0" err="1">
                          <a:solidFill>
                            <a:srgbClr val="FF0000"/>
                          </a:solidFill>
                          <a:latin typeface="Montserrat" panose="00000500000000000000" pitchFamily="2" charset="0"/>
                        </a:rPr>
                        <a:t>Phó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rgbClr val="FF0000"/>
                          </a:solidFill>
                          <a:latin typeface="Montserrat" panose="00000500000000000000" pitchFamily="2" charset="0"/>
                        </a:rPr>
                        <a:t>sản</a:t>
                      </a:r>
                      <a:endParaRPr lang="en-US" sz="1400" b="1" dirty="0">
                        <a:solidFill>
                          <a:srgbClr val="0000FF"/>
                        </a:solidFill>
                        <a:latin typeface="Montserrat" panose="00000500000000000000" pitchFamily="2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944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6853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2017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96C61-BD96-9FB5-08B5-42FF1BF57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6CB40D5-EEF2-D088-EDD7-A49EACAEDB83}"/>
              </a:ext>
            </a:extLst>
          </p:cNvPr>
          <p:cNvSpPr txBox="1"/>
          <p:nvPr/>
        </p:nvSpPr>
        <p:spPr>
          <a:xfrm>
            <a:off x="0" y="86683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PHÓ SẢN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C23802C-0CFE-32C5-D50A-1E4312B8724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524082-457E-DBE1-3442-1E9054592D3F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4B0208-8CCD-6E72-168B-CAA5FE683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587" y="579126"/>
            <a:ext cx="8356600" cy="440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86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409EF-E12C-7F9C-F3C9-D59F42460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03461EF-4A74-E561-2DDB-E5F19846A1D0}"/>
              </a:ext>
            </a:extLst>
          </p:cNvPr>
          <p:cNvSpPr txBox="1"/>
          <p:nvPr/>
        </p:nvSpPr>
        <p:spPr>
          <a:xfrm>
            <a:off x="1" y="146317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CHI TIẾT GIÁ VẢY CHƯA RỮA _B1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8FCA633-A875-9AC2-F5AA-6B640467289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63BCFC-4F5F-0EAD-706F-1CDD976AC627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4ECF6F-3D32-7449-4A96-658682C00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42" y="687112"/>
            <a:ext cx="8898316" cy="3232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8193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FDD3D-F065-9E4D-44B1-92D4EB728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320D4A9-64D1-206C-961E-489CB18DC398}"/>
              </a:ext>
            </a:extLst>
          </p:cNvPr>
          <p:cNvSpPr txBox="1"/>
          <p:nvPr/>
        </p:nvSpPr>
        <p:spPr>
          <a:xfrm>
            <a:off x="1" y="104006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CHI TIẾT GIÁ VẢY CHƯA RỮA _B2.2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46B7E9-CD8F-CA72-C41A-0D2E0D611A8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8A8ACC-B63B-1329-0188-75C9031C7EED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83C4D9-CA3C-4B1D-D242-6C838EE6D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1143"/>
            <a:ext cx="9084365" cy="2669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787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1FF02-4AAF-4C91-8F65-760969EED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DB2397B-920B-AA36-8A8C-19BDE4EB6603}"/>
              </a:ext>
            </a:extLst>
          </p:cNvPr>
          <p:cNvSpPr txBox="1"/>
          <p:nvPr/>
        </p:nvSpPr>
        <p:spPr>
          <a:xfrm>
            <a:off x="-46382" y="133066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CHI TIẾT GIÁ VẢY CHƯA RỮA _B4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703B7E1-14CD-F5A7-E8FF-A6EBB0493BD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E093B6-69F6-7C13-41DB-3A9E65CCC829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AC0460-536C-9097-77AB-268AD6600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383" y="732964"/>
            <a:ext cx="9144000" cy="243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4900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D270F-B0B4-A42D-DEB3-4A30B3C25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3D3AC18-490C-9793-0265-2F47C9FAA84A}"/>
              </a:ext>
            </a:extLst>
          </p:cNvPr>
          <p:cNvSpPr txBox="1"/>
          <p:nvPr/>
        </p:nvSpPr>
        <p:spPr>
          <a:xfrm>
            <a:off x="0" y="151185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CHI TIẾT GIÁ VẢY CHƯA RỮA _B5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066055-6A4E-97AE-1180-8234722FB90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FD96D7-6897-409D-7BCB-8C04A47D5C8D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2C97D1-E02F-A9FF-B828-1694ACCDC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07" y="844429"/>
            <a:ext cx="9144000" cy="254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3521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7BCF2-A97D-9374-C760-FD877A688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0C8CE8F-9A3B-0AC5-D29C-7B541E427B9E}"/>
              </a:ext>
            </a:extLst>
          </p:cNvPr>
          <p:cNvSpPr txBox="1"/>
          <p:nvPr/>
        </p:nvSpPr>
        <p:spPr>
          <a:xfrm>
            <a:off x="1" y="235626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CHI TIẾT GIÁ VẢY CHƯA RỮA _B6.2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B1779FE-7BE3-8DDF-8780-F720A3A6E70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AA7AD1-ECF3-1D86-1AC0-3C6B3185EEE6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C4270B-B45C-D8A2-2CAB-F4E06BFD9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0081"/>
            <a:ext cx="9071113" cy="362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423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6F469-8B68-98EA-BAA0-CD404766A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E7DF9CC-2066-A23E-357C-B9398C04A676}"/>
              </a:ext>
            </a:extLst>
          </p:cNvPr>
          <p:cNvSpPr txBox="1"/>
          <p:nvPr/>
        </p:nvSpPr>
        <p:spPr>
          <a:xfrm>
            <a:off x="66263" y="1139687"/>
            <a:ext cx="3534008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CHI TIẾT GIÁ VẢY SAU RỮA _B1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6BBF8BE-8A8A-FA4F-8F36-55B2B246E32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DDB992-BE46-5E0C-54D8-E4BCC4E1E2DD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C5C5BE-D78B-70CB-0766-7B6732572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937" y="0"/>
            <a:ext cx="433052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3089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F9F0F-9A71-1BC8-D9E1-573EF4999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D8B489C-E19A-CA68-4439-E304BE23FCA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18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68CB88-9362-18BF-B12C-09A711589788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7F7C75-F7AD-41DA-8350-90F4515C2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5729" y="-68633"/>
            <a:ext cx="5842000" cy="4902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533993-664C-555A-725B-6418ED325162}"/>
              </a:ext>
            </a:extLst>
          </p:cNvPr>
          <p:cNvSpPr txBox="1"/>
          <p:nvPr/>
        </p:nvSpPr>
        <p:spPr>
          <a:xfrm>
            <a:off x="66263" y="1431235"/>
            <a:ext cx="2922102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CHI TIẾT GIÁ VẢY SAU RỮA _B2.2</a:t>
            </a:r>
          </a:p>
        </p:txBody>
      </p:sp>
    </p:spTree>
    <p:extLst>
      <p:ext uri="{BB962C8B-B14F-4D97-AF65-F5344CB8AC3E}">
        <p14:creationId xmlns:p14="http://schemas.microsoft.com/office/powerpoint/2010/main" val="30276348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F0D9B-D8E2-9558-211A-BCCF3E1C9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036B1BD-8BE5-0758-ABA3-73FF0335967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19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9C7AE2-30CD-2255-B4BF-9184C094A7C1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21DD37-A611-EFB0-48E0-AFA633D4D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3357" y="132522"/>
            <a:ext cx="6847801" cy="48483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632A6E4-2ADE-B55F-A8CE-7AC4369F048B}"/>
              </a:ext>
            </a:extLst>
          </p:cNvPr>
          <p:cNvSpPr txBox="1"/>
          <p:nvPr/>
        </p:nvSpPr>
        <p:spPr>
          <a:xfrm>
            <a:off x="66263" y="1431235"/>
            <a:ext cx="22197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8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CHI TIẾT GIÁ VẢY SAU RỮA _B4</a:t>
            </a:r>
          </a:p>
        </p:txBody>
      </p:sp>
    </p:spTree>
    <p:extLst>
      <p:ext uri="{BB962C8B-B14F-4D97-AF65-F5344CB8AC3E}">
        <p14:creationId xmlns:p14="http://schemas.microsoft.com/office/powerpoint/2010/main" val="16700552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D4602-3DC0-C2AB-C8FA-B5BF486F3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0FE6C19-A975-CF80-6674-716A3A53799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20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0B6BFC-6782-DD5F-273D-FF039361FEDA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2DFD02-A8EC-5606-18D5-02FDFEA53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417" y="-4505"/>
            <a:ext cx="5492879" cy="50928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94C9DD-5CAA-2931-3F2C-2A36ABC3D3AE}"/>
              </a:ext>
            </a:extLst>
          </p:cNvPr>
          <p:cNvSpPr txBox="1"/>
          <p:nvPr/>
        </p:nvSpPr>
        <p:spPr>
          <a:xfrm>
            <a:off x="66263" y="1431234"/>
            <a:ext cx="29088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8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CHI TIẾT GIÁ VẢY SAU RỮA _B5</a:t>
            </a:r>
          </a:p>
        </p:txBody>
      </p:sp>
    </p:spTree>
    <p:extLst>
      <p:ext uri="{BB962C8B-B14F-4D97-AF65-F5344CB8AC3E}">
        <p14:creationId xmlns:p14="http://schemas.microsoft.com/office/powerpoint/2010/main" val="27109400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15C57-771B-BE60-B7A2-CDE8E35E0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12C52A3-EE95-51E3-8998-37C4753A4F6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21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8B6722-C147-08F0-9544-CB5F69B5D1ED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7CC6FC-8CD1-A2AF-C580-398A0860A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3861" y="-40301"/>
            <a:ext cx="4538869" cy="5143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723C13-9102-E7B1-0608-80546F4B718B}"/>
              </a:ext>
            </a:extLst>
          </p:cNvPr>
          <p:cNvSpPr txBox="1"/>
          <p:nvPr/>
        </p:nvSpPr>
        <p:spPr>
          <a:xfrm>
            <a:off x="543341" y="1464365"/>
            <a:ext cx="3180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8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CHI TIẾT GIÁ VẢY SAU RỮA _B5</a:t>
            </a:r>
          </a:p>
        </p:txBody>
      </p:sp>
    </p:spTree>
    <p:extLst>
      <p:ext uri="{BB962C8B-B14F-4D97-AF65-F5344CB8AC3E}">
        <p14:creationId xmlns:p14="http://schemas.microsoft.com/office/powerpoint/2010/main" val="17532787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9EA79-7A2C-BA93-227D-DEDCC50DD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EE64B51-1317-9725-E63A-B24818D43748}"/>
              </a:ext>
            </a:extLst>
          </p:cNvPr>
          <p:cNvSpPr txBox="1"/>
          <p:nvPr/>
        </p:nvSpPr>
        <p:spPr>
          <a:xfrm>
            <a:off x="0" y="145257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GIÁ THÀNH </a:t>
            </a:r>
            <a:r>
              <a:rPr lang="en-US" sz="2600" b="1" dirty="0" err="1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THÀNH</a:t>
            </a:r>
            <a:r>
              <a:rPr lang="en-US" sz="26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PHẨM _CP NHỰA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F2A4E31-1032-35C5-A51E-19130440689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22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2ABD7C-7A30-42A3-D21B-E55476E43D91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14E2E7-3AB7-5075-3CD9-FFB2E7657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2866"/>
            <a:ext cx="9144000" cy="390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3205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C8367-C130-47C9-D690-D755CBFDA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1F1C4AE-A7AA-B8CB-FA87-A1587A26FBC8}"/>
              </a:ext>
            </a:extLst>
          </p:cNvPr>
          <p:cNvSpPr txBox="1"/>
          <p:nvPr/>
        </p:nvSpPr>
        <p:spPr>
          <a:xfrm>
            <a:off x="0" y="172278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GIÁ THÀNH </a:t>
            </a:r>
            <a:r>
              <a:rPr lang="en-US" sz="2600" b="1" dirty="0" err="1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THÀNH</a:t>
            </a:r>
            <a:r>
              <a:rPr lang="en-US" sz="26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PHẨM _CP NHỰA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721FCF2-78E9-7F82-4DA2-1B54B6A7697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23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450049-22FE-AFC1-7A97-DD37CACEFAF6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9511B6-0487-5D0B-F83B-02F294026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5103"/>
            <a:ext cx="9144000" cy="3213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9064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85A58-FF0E-190C-10B4-A8F8EBCA6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B81706D-DF8F-F3C9-61C4-CB558602A83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24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F11F19-438C-8C21-0FAD-D5EB998CD913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FF8A0B-D9B9-5973-2AA0-D024FBD84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04" y="66437"/>
            <a:ext cx="8842254" cy="49550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D505DD-1C2E-990A-2D86-EA291B6A6946}"/>
              </a:ext>
            </a:extLst>
          </p:cNvPr>
          <p:cNvSpPr txBox="1"/>
          <p:nvPr/>
        </p:nvSpPr>
        <p:spPr>
          <a:xfrm>
            <a:off x="178904" y="1827312"/>
            <a:ext cx="26835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4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GIÁ THÀNH </a:t>
            </a:r>
            <a:r>
              <a:rPr lang="en-US" sz="1400" b="1" dirty="0" err="1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THÀNH</a:t>
            </a:r>
            <a:r>
              <a:rPr lang="en-US" sz="14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PHẨM</a:t>
            </a:r>
            <a:r>
              <a:rPr lang="en-US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_CP NHỰA</a:t>
            </a:r>
            <a:endParaRPr lang="en-US" sz="1400" b="1" dirty="0">
              <a:solidFill>
                <a:srgbClr val="FF0000"/>
              </a:solidFill>
              <a:latin typeface="Montserrat" panose="00000500000000000000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228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F54B8-BE2D-69DD-37CC-0C96CA341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B659971-22FF-130B-3705-8B6A0C728BD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25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94744D-7CDA-5840-8B3B-0CCC3B006A78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E1938B-7101-9ED4-7002-BD60559CC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04" y="39311"/>
            <a:ext cx="8786192" cy="49986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A5643B-E8EC-EA06-69AA-2C42E5709A97}"/>
              </a:ext>
            </a:extLst>
          </p:cNvPr>
          <p:cNvSpPr txBox="1"/>
          <p:nvPr/>
        </p:nvSpPr>
        <p:spPr>
          <a:xfrm>
            <a:off x="178904" y="1827312"/>
            <a:ext cx="182134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4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GIÁ THÀNH </a:t>
            </a:r>
            <a:r>
              <a:rPr lang="en-US" sz="1400" b="1" dirty="0" err="1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THÀNH</a:t>
            </a:r>
            <a:r>
              <a:rPr lang="en-US" sz="14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PHẨM</a:t>
            </a:r>
            <a:r>
              <a:rPr lang="en-US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_CP NHỰA</a:t>
            </a:r>
            <a:endParaRPr lang="en-US" sz="1400" b="1" dirty="0">
              <a:solidFill>
                <a:srgbClr val="FF0000"/>
              </a:solidFill>
              <a:latin typeface="Montserrat" panose="00000500000000000000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87327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19043-27CD-6A37-35A4-E2C032B44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35DDA89-B3E8-D6F6-FD70-6C0147634D4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26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569F97-E231-BB12-F4A5-D414FE04F4C5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71F163-1D67-F50D-A272-9754443BD3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0" b="1667"/>
          <a:stretch>
            <a:fillRect/>
          </a:stretch>
        </p:blipFill>
        <p:spPr>
          <a:xfrm>
            <a:off x="292100" y="-53009"/>
            <a:ext cx="8420100" cy="51098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B3CB2FF-4EEE-57B9-6F05-7FEA160476E4}"/>
              </a:ext>
            </a:extLst>
          </p:cNvPr>
          <p:cNvSpPr txBox="1"/>
          <p:nvPr/>
        </p:nvSpPr>
        <p:spPr>
          <a:xfrm>
            <a:off x="178904" y="1827312"/>
            <a:ext cx="26835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4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GIÁ THÀNH </a:t>
            </a:r>
            <a:r>
              <a:rPr lang="en-US" sz="1400" b="1" dirty="0" err="1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THÀNH</a:t>
            </a:r>
            <a:r>
              <a:rPr lang="en-US" sz="14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PHẨM</a:t>
            </a:r>
            <a:r>
              <a:rPr lang="en-US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_CP NHỰA</a:t>
            </a:r>
            <a:endParaRPr lang="en-US" sz="1400" b="1" dirty="0">
              <a:solidFill>
                <a:srgbClr val="FF0000"/>
              </a:solidFill>
              <a:latin typeface="Montserrat" panose="00000500000000000000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8109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78D72-2261-D8C2-8076-4EE7EDDA7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37F1ABB-14A7-A2D0-0A55-9FA93EC7BD74}"/>
              </a:ext>
            </a:extLst>
          </p:cNvPr>
          <p:cNvSpPr txBox="1"/>
          <p:nvPr/>
        </p:nvSpPr>
        <p:spPr>
          <a:xfrm>
            <a:off x="632532" y="302686"/>
            <a:ext cx="83886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TÓM TẮT GIÁ THÀNH CÁC LOẠI VẢY SAU RỮA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F946525-7A56-2610-ABB9-263CA30D1EA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27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D66330-9436-83ED-434B-17CAF0F8316C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9AE5B9-2C28-1AF8-BB1C-EE4020AAF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63" y="914397"/>
            <a:ext cx="8979708" cy="3213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8413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E7C3C-195B-12EF-AB9A-FDE2CD4FA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CA942F3-E3A6-B336-9FB1-459D27725DFA}"/>
              </a:ext>
            </a:extLst>
          </p:cNvPr>
          <p:cNvSpPr txBox="1"/>
          <p:nvPr/>
        </p:nvSpPr>
        <p:spPr>
          <a:xfrm>
            <a:off x="-1" y="299115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DỰ BÁO PL THEO SP THEO LUỒNG NGUYÊN LIỆU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EB818E3-14BB-F2C1-0000-5200E9B244E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28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0F3B69-A5C6-072D-5AC4-E119BDE43685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5D6AA2-2877-F15D-35CC-52E6E5EEC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815199"/>
            <a:ext cx="9144000" cy="219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606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08005-20CF-BDB5-ADDC-EB6466C57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5F9D577-27D4-F381-5415-1A9458F3E484}"/>
              </a:ext>
            </a:extLst>
          </p:cNvPr>
          <p:cNvSpPr txBox="1"/>
          <p:nvPr/>
        </p:nvSpPr>
        <p:spPr>
          <a:xfrm>
            <a:off x="1020309" y="162805"/>
            <a:ext cx="812369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DỰ BÁO GVHB THEO SP THEO GIÁ MUA B0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D51E6E0-3E53-9F74-6D6F-5AE5F605200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29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7A15C0-B14D-16FD-6180-E42B964F0F5A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0DB24E-A532-6E0D-6981-9E7699960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33" y="655333"/>
            <a:ext cx="8373533" cy="4204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0777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66CC4C5-7493-9BC7-FEFA-8C0EFF7F6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2EDAC59-6E4B-5286-A25C-39340F63E287}"/>
              </a:ext>
            </a:extLst>
          </p:cNvPr>
          <p:cNvSpPr txBox="1"/>
          <p:nvPr/>
        </p:nvSpPr>
        <p:spPr>
          <a:xfrm>
            <a:off x="817780" y="339570"/>
            <a:ext cx="812369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DỰ BÁO GVHB THEO SP THEO GIÁ MUA B0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779E0E7-4B15-8949-EAE8-BFB08183E27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30</a:t>
            </a:fld>
            <a:endParaRPr lang="e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3DB028-776E-9DA4-D447-F99D500E3742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7CF16A-C859-A1B6-B44C-DF0B7A7B1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32" y="919411"/>
            <a:ext cx="8594339" cy="3569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0979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26D6097-AB2C-B230-64F4-A2DCE2F95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2454832-D760-B0E1-76FC-DAA0E0525B10}"/>
              </a:ext>
            </a:extLst>
          </p:cNvPr>
          <p:cNvSpPr txBox="1"/>
          <p:nvPr/>
        </p:nvSpPr>
        <p:spPr>
          <a:xfrm>
            <a:off x="1" y="347663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LUỒNG GIÁ TRỊ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5D19963-9557-599E-ACB3-1A746E8A3E8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31</a:t>
            </a:fld>
            <a:endParaRPr lang="e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C75638-6566-D3F3-9289-4C13F031127D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70C021-7848-4D3C-C2BB-10BA220BACF7}"/>
              </a:ext>
            </a:extLst>
          </p:cNvPr>
          <p:cNvSpPr txBox="1"/>
          <p:nvPr/>
        </p:nvSpPr>
        <p:spPr>
          <a:xfrm>
            <a:off x="610341" y="1108041"/>
            <a:ext cx="81653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vi-VN" sz="1800" dirty="0">
                <a:solidFill>
                  <a:srgbClr val="0000FF"/>
                </a:solidFill>
              </a:rPr>
              <a:t>“Mô hình giá thành đã đúng,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vi-VN" sz="1800" dirty="0">
                <a:solidFill>
                  <a:srgbClr val="0000FF"/>
                </a:solidFill>
              </a:rPr>
              <a:t>nhưng lợi nhuận nằm ở vận hành và cơ cấu sản phẩm.”</a:t>
            </a:r>
          </a:p>
        </p:txBody>
      </p:sp>
    </p:spTree>
    <p:extLst>
      <p:ext uri="{BB962C8B-B14F-4D97-AF65-F5344CB8AC3E}">
        <p14:creationId xmlns:p14="http://schemas.microsoft.com/office/powerpoint/2010/main" val="32469089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64;p47">
            <a:extLst>
              <a:ext uri="{FF2B5EF4-FFF2-40B4-BE49-F238E27FC236}">
                <a16:creationId xmlns:a16="http://schemas.microsoft.com/office/drawing/2014/main" id="{A8746D1E-6BF5-4678-BDF6-54834ADDE5D2}"/>
              </a:ext>
            </a:extLst>
          </p:cNvPr>
          <p:cNvSpPr txBox="1">
            <a:spLocks/>
          </p:cNvSpPr>
          <p:nvPr/>
        </p:nvSpPr>
        <p:spPr>
          <a:xfrm>
            <a:off x="1875087" y="2285400"/>
            <a:ext cx="507435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2800">
                <a:solidFill>
                  <a:schemeClr val="bg1"/>
                </a:solidFill>
              </a:rPr>
              <a:t>Thank you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7" name="Google Shape;170;p19">
            <a:extLst>
              <a:ext uri="{FF2B5EF4-FFF2-40B4-BE49-F238E27FC236}">
                <a16:creationId xmlns:a16="http://schemas.microsoft.com/office/drawing/2014/main" id="{DB97AC02-F358-4C2D-BB8B-52908F91590A}"/>
              </a:ext>
            </a:extLst>
          </p:cNvPr>
          <p:cNvSpPr txBox="1">
            <a:spLocks/>
          </p:cNvSpPr>
          <p:nvPr/>
        </p:nvSpPr>
        <p:spPr>
          <a:xfrm>
            <a:off x="2981210" y="1504126"/>
            <a:ext cx="4658170" cy="1000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4000">
                <a:solidFill>
                  <a:srgbClr val="119303"/>
                </a:solidFill>
                <a:latin typeface="+mn-lt"/>
                <a:cs typeface="Arial" panose="020B0604020202020204" pitchFamily="34" charset="0"/>
              </a:rPr>
              <a:t>Thank you!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D3E05C9-56B8-4586-A819-B49F27A2B987}"/>
              </a:ext>
            </a:extLst>
          </p:cNvPr>
          <p:cNvSpPr/>
          <p:nvPr/>
        </p:nvSpPr>
        <p:spPr>
          <a:xfrm flipV="1">
            <a:off x="2696134" y="2348536"/>
            <a:ext cx="1988712" cy="45719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E67B52-CC81-434E-B2A4-97AE3E9EAACD}"/>
              </a:ext>
            </a:extLst>
          </p:cNvPr>
          <p:cNvSpPr/>
          <p:nvPr/>
        </p:nvSpPr>
        <p:spPr>
          <a:xfrm flipV="1">
            <a:off x="4893388" y="2348534"/>
            <a:ext cx="1588094" cy="45719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8A86909-5278-4A4F-B3FA-5E61E21B0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5793455" y="1593558"/>
            <a:ext cx="798560" cy="69184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0127FA9FD6004AB87C3B980CB5D696" ma:contentTypeVersion="15" ma:contentTypeDescription="Create a new document." ma:contentTypeScope="" ma:versionID="5ac4e6ea52dc19838b8bff0bdd82f88e">
  <xsd:schema xmlns:xsd="http://www.w3.org/2001/XMLSchema" xmlns:xs="http://www.w3.org/2001/XMLSchema" xmlns:p="http://schemas.microsoft.com/office/2006/metadata/properties" xmlns:ns2="c4b5fce3-9bbc-4429-8073-3ae7a9bcc677" xmlns:ns3="1401b2ec-7936-4f98-86ff-5ef737f58b9c" targetNamespace="http://schemas.microsoft.com/office/2006/metadata/properties" ma:root="true" ma:fieldsID="d8ec79b96bd7249962b8c2817860c6b0" ns2:_="" ns3:_="">
    <xsd:import namespace="c4b5fce3-9bbc-4429-8073-3ae7a9bcc677"/>
    <xsd:import namespace="1401b2ec-7936-4f98-86ff-5ef737f58b9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SearchProperties" minOccurs="0"/>
                <xsd:element ref="ns3:MediaLengthInSecond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b5fce3-9bbc-4429-8073-3ae7a9bcc67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01b2ec-7936-4f98-86ff-5ef737f58b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3eac797d-9452-442f-b5f7-665479590df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401b2ec-7936-4f98-86ff-5ef737f58b9c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5F005EB-0ED0-4D03-AB81-6FF2E261A6CD}">
  <ds:schemaRefs>
    <ds:schemaRef ds:uri="1401b2ec-7936-4f98-86ff-5ef737f58b9c"/>
    <ds:schemaRef ds:uri="c4b5fce3-9bbc-4429-8073-3ae7a9bcc67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C610994-6796-415F-8653-E95478AAE5BC}">
  <ds:schemaRefs>
    <ds:schemaRef ds:uri="1401b2ec-7936-4f98-86ff-5ef737f58b9c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DA1C712-36E4-472C-9E89-01DC89F366D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5026</TotalTime>
  <Words>638</Words>
  <Application>Microsoft Office PowerPoint</Application>
  <PresentationFormat>On-screen Show (16:9)</PresentationFormat>
  <Paragraphs>150</Paragraphs>
  <Slides>32</Slides>
  <Notes>2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Montserrat</vt:lpstr>
      <vt:lpstr>Muli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Our Focus</dc:title>
  <dc:creator>Nghĩa, Trần Công</dc:creator>
  <cp:lastModifiedBy>Cư, Lê Hoành</cp:lastModifiedBy>
  <cp:revision>243</cp:revision>
  <dcterms:modified xsi:type="dcterms:W3CDTF">2026-05-19T01:27:12Z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0x0101004E0127FA9FD6004AB87C3B980CB5D696</vt:lpwstr>
  </property>
  <property fmtid="{D5CDD505-2E9C-101B-9397-08002B2CF9AE}" pid="3" name="MediaServiceImageTags">
    <vt:lpwstr/>
  </property>
</Properties>
</file>