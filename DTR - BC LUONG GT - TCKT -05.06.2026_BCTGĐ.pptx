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3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4.xml" ContentType="application/vnd.openxmlformats-officedocument.drawingml.chartshape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68"/>
  </p:notesMasterIdLst>
  <p:sldIdLst>
    <p:sldId id="9489" r:id="rId5"/>
    <p:sldId id="9690" r:id="rId6"/>
    <p:sldId id="9530" r:id="rId7"/>
    <p:sldId id="9678" r:id="rId8"/>
    <p:sldId id="9658" r:id="rId9"/>
    <p:sldId id="9659" r:id="rId10"/>
    <p:sldId id="9660" r:id="rId11"/>
    <p:sldId id="9661" r:id="rId12"/>
    <p:sldId id="9662" r:id="rId13"/>
    <p:sldId id="9663" r:id="rId14"/>
    <p:sldId id="9682" r:id="rId15"/>
    <p:sldId id="9646" r:id="rId16"/>
    <p:sldId id="9643" r:id="rId17"/>
    <p:sldId id="9647" r:id="rId18"/>
    <p:sldId id="9688" r:id="rId19"/>
    <p:sldId id="9672" r:id="rId20"/>
    <p:sldId id="9675" r:id="rId21"/>
    <p:sldId id="9671" r:id="rId22"/>
    <p:sldId id="9676" r:id="rId23"/>
    <p:sldId id="9677" r:id="rId24"/>
    <p:sldId id="9689" r:id="rId25"/>
    <p:sldId id="9687" r:id="rId26"/>
    <p:sldId id="9686" r:id="rId27"/>
    <p:sldId id="9654" r:id="rId28"/>
    <p:sldId id="9655" r:id="rId29"/>
    <p:sldId id="9656" r:id="rId30"/>
    <p:sldId id="9657" r:id="rId31"/>
    <p:sldId id="9664" r:id="rId32"/>
    <p:sldId id="9665" r:id="rId33"/>
    <p:sldId id="9666" r:id="rId34"/>
    <p:sldId id="9667" r:id="rId35"/>
    <p:sldId id="9668" r:id="rId36"/>
    <p:sldId id="9679" r:id="rId37"/>
    <p:sldId id="9669" r:id="rId38"/>
    <p:sldId id="9670" r:id="rId39"/>
    <p:sldId id="9673" r:id="rId40"/>
    <p:sldId id="9674" r:id="rId41"/>
    <p:sldId id="9685" r:id="rId42"/>
    <p:sldId id="9611" r:id="rId43"/>
    <p:sldId id="9640" r:id="rId44"/>
    <p:sldId id="9642" r:id="rId45"/>
    <p:sldId id="9652" r:id="rId46"/>
    <p:sldId id="9653" r:id="rId47"/>
    <p:sldId id="9683" r:id="rId48"/>
    <p:sldId id="9624" r:id="rId49"/>
    <p:sldId id="9625" r:id="rId50"/>
    <p:sldId id="9626" r:id="rId51"/>
    <p:sldId id="9627" r:id="rId52"/>
    <p:sldId id="9628" r:id="rId53"/>
    <p:sldId id="9629" r:id="rId54"/>
    <p:sldId id="9630" r:id="rId55"/>
    <p:sldId id="9631" r:id="rId56"/>
    <p:sldId id="9632" r:id="rId57"/>
    <p:sldId id="9633" r:id="rId58"/>
    <p:sldId id="9634" r:id="rId59"/>
    <p:sldId id="9635" r:id="rId60"/>
    <p:sldId id="9637" r:id="rId61"/>
    <p:sldId id="9638" r:id="rId62"/>
    <p:sldId id="9639" r:id="rId63"/>
    <p:sldId id="9636" r:id="rId64"/>
    <p:sldId id="9645" r:id="rId65"/>
    <p:sldId id="9623" r:id="rId66"/>
    <p:sldId id="260" r:id="rId67"/>
  </p:sldIdLst>
  <p:sldSz cx="9144000" cy="5143500" type="screen16x9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E0B4"/>
    <a:srgbClr val="119303"/>
    <a:srgbClr val="E6F1E4"/>
    <a:srgbClr val="9DC3E6"/>
    <a:srgbClr val="FFC000"/>
    <a:srgbClr val="002060"/>
    <a:srgbClr val="BCC0BF"/>
    <a:srgbClr val="B6BEC1"/>
    <a:srgbClr val="0070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G&#272;%20T&#224;i%20ch&#237;nh\Cost%20Controlling\Costing%20Flow%20Chart\B&#225;o%20CT%20_Model\Gi&#225;%20b&#225;n%20th&#7921;c%20t&#7871;%20Act%202024,2025,YTD0325-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G&#272;%20T&#224;i%20ch&#237;nh\Cost%20Controlling\Costing%20Flow%20Chart\B&#225;o%20CT%20_Model\Gi&#225;%20b&#225;n%20th&#7921;c%20t&#7871;%20Act%202024,2025,YTD0325-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G&#272;%20T&#224;i%20ch&#237;nh\Cost%20Controlling\Costing%20Flow%20Chart\Chart%20chai,%20th&#224;nh%20ph&#7849;m%20-Z%20Flow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G&#272;%20T&#224;i%20ch&#237;nh\Cost%20Controlling\Costing%20Flow%20Chart\Chart%20chai,%20th&#224;nh%20ph&#7849;m%20-Z%20Flow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1041A2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rgbClr val="1905AD"/>
                </a:solidFill>
              </a:rPr>
              <a:t>Hạt</a:t>
            </a:r>
            <a:r>
              <a:rPr lang="en-US" b="1" baseline="0">
                <a:solidFill>
                  <a:srgbClr val="1905AD"/>
                </a:solidFill>
              </a:rPr>
              <a:t> WSS03G</a:t>
            </a:r>
            <a:endParaRPr lang="en-US" b="1">
              <a:solidFill>
                <a:srgbClr val="1905AD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1041A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4404728775680179"/>
          <c:y val="0.11052161040141831"/>
          <c:w val="0.73361698608219739"/>
          <c:h val="0.62671104379238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'Chart 2_TT&amp;KTQT'!$D$100</c:f>
              <c:strCache>
                <c:ptCount val="1"/>
                <c:pt idx="0">
                  <c:v>GIÁ BÁN (VND/kg)</c:v>
                </c:pt>
              </c:strCache>
            </c:strRef>
          </c:tx>
          <c:spPr>
            <a:solidFill>
              <a:srgbClr val="0535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E7-49EE-8507-E764C3535D14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E7-49EE-8507-E764C3535D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905A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2_TT&amp;KTQT'!$C$101:$C$105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2026 WF_TT</c:v>
                </c:pt>
                <c:pt idx="4">
                  <c:v>2026 WF_KTQT</c:v>
                </c:pt>
              </c:strCache>
            </c:strRef>
          </c:cat>
          <c:val>
            <c:numRef>
              <c:f>'Chart 2_TT&amp;KTQT'!$D$101:$D$105</c:f>
              <c:numCache>
                <c:formatCode>_(* #,##0_);_(* \(#,##0\);_(* "-"??_);_(@_)</c:formatCode>
                <c:ptCount val="5"/>
                <c:pt idx="0">
                  <c:v>1068.9916591501801</c:v>
                </c:pt>
                <c:pt idx="1">
                  <c:v>1091.0347276350142</c:v>
                </c:pt>
                <c:pt idx="2">
                  <c:v>1104.632839711883</c:v>
                </c:pt>
                <c:pt idx="3">
                  <c:v>1134.590999848426</c:v>
                </c:pt>
                <c:pt idx="4">
                  <c:v>1310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4E7-49EE-8507-E764C3535D14}"/>
            </c:ext>
          </c:extLst>
        </c:ser>
        <c:ser>
          <c:idx val="1"/>
          <c:order val="1"/>
          <c:tx>
            <c:strRef>
              <c:f>'Chart 2_TT&amp;KTQT'!$E$100</c:f>
              <c:strCache>
                <c:ptCount val="1"/>
                <c:pt idx="0">
                  <c:v>GIÁ THÀNH (VND/kg)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E7-49EE-8507-E764C3535D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2_TT&amp;KTQT'!$C$101:$C$105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2026 WF_TT</c:v>
                </c:pt>
                <c:pt idx="4">
                  <c:v>2026 WF_KTQT</c:v>
                </c:pt>
              </c:strCache>
            </c:strRef>
          </c:cat>
          <c:val>
            <c:numRef>
              <c:f>'Chart 2_TT&amp;KTQT'!$E$101:$E$105</c:f>
              <c:numCache>
                <c:formatCode>_(* #,##0_);_(* \(#,##0\);_(* "-"??_);_(@_)</c:formatCode>
                <c:ptCount val="5"/>
                <c:pt idx="0">
                  <c:v>1175.8667003562077</c:v>
                </c:pt>
                <c:pt idx="1">
                  <c:v>998.10586743427757</c:v>
                </c:pt>
                <c:pt idx="2">
                  <c:v>1039.1977703767152</c:v>
                </c:pt>
                <c:pt idx="3">
                  <c:v>944.59099984842601</c:v>
                </c:pt>
                <c:pt idx="4">
                  <c:v>944.59099984842601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4E7-49EE-8507-E764C3535D14}"/>
            </c:ext>
          </c:extLst>
        </c:ser>
        <c:ser>
          <c:idx val="2"/>
          <c:order val="2"/>
          <c:tx>
            <c:strRef>
              <c:f>'Chart 2_TT&amp;KTQT'!$F$100</c:f>
              <c:strCache>
                <c:ptCount val="1"/>
                <c:pt idx="0">
                  <c:v>LG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4E7-49EE-8507-E764C3535D1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4E7-49EE-8507-E764C3535D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3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2_TT&amp;KTQT'!$C$101:$C$105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2026 WF_TT</c:v>
                </c:pt>
                <c:pt idx="4">
                  <c:v>2026 WF_KTQT</c:v>
                </c:pt>
              </c:strCache>
            </c:strRef>
          </c:cat>
          <c:val>
            <c:numRef>
              <c:f>'Chart 2_TT&amp;KTQT'!$F$101:$F$105</c:f>
              <c:numCache>
                <c:formatCode>_(* #,##0_);_(* \(#,##0\);_(* "-"??_);_(@_)</c:formatCode>
                <c:ptCount val="5"/>
                <c:pt idx="0">
                  <c:v>-106.87504120602762</c:v>
                </c:pt>
                <c:pt idx="1">
                  <c:v>92.928860200736608</c:v>
                </c:pt>
                <c:pt idx="2">
                  <c:v>65.435069335167782</c:v>
                </c:pt>
                <c:pt idx="3">
                  <c:v>190</c:v>
                </c:pt>
                <c:pt idx="4">
                  <c:v>365.40900015157399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4E7-49EE-8507-E764C3535D14}"/>
            </c:ext>
          </c:extLst>
        </c:ser>
        <c:ser>
          <c:idx val="3"/>
          <c:order val="3"/>
          <c:tx>
            <c:strRef>
              <c:f>'Chart 2_TT&amp;KTQT'!$G$100</c:f>
              <c:strCache>
                <c:ptCount val="1"/>
                <c:pt idx="0">
                  <c:v>%LG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3"/>
              <c:spPr>
                <a:solidFill>
                  <a:srgbClr val="0070C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E7-49EE-8507-E764C3535D14}"/>
                </c:ext>
              </c:extLst>
            </c:dLbl>
            <c:spPr>
              <a:solidFill>
                <a:srgbClr val="00B0F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2_TT&amp;KTQT'!$C$101:$C$105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2026 WF_TT</c:v>
                </c:pt>
                <c:pt idx="4">
                  <c:v>2026 WF_KTQT</c:v>
                </c:pt>
              </c:strCache>
            </c:strRef>
          </c:cat>
          <c:val>
            <c:numRef>
              <c:f>'Chart 2_TT&amp;KTQT'!$G$101:$G$105</c:f>
              <c:numCache>
                <c:formatCode>0%</c:formatCode>
                <c:ptCount val="5"/>
                <c:pt idx="0">
                  <c:v>-9.9977432275748929E-2</c:v>
                </c:pt>
                <c:pt idx="1">
                  <c:v>8.5174979170621112E-2</c:v>
                </c:pt>
                <c:pt idx="2">
                  <c:v>5.9236940078872681E-2</c:v>
                </c:pt>
                <c:pt idx="3">
                  <c:v>0.16746122613821435</c:v>
                </c:pt>
                <c:pt idx="4">
                  <c:v>0.27893816805463661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F4E7-49EE-8507-E764C3535D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67657455"/>
        <c:axId val="1567654095"/>
      </c:barChart>
      <c:catAx>
        <c:axId val="156765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54095"/>
        <c:crosses val="autoZero"/>
        <c:auto val="1"/>
        <c:lblAlgn val="ctr"/>
        <c:lblOffset val="100"/>
        <c:noMultiLvlLbl val="0"/>
      </c:catAx>
      <c:valAx>
        <c:axId val="1567654095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5745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rgbClr val="1905A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1041A2"/>
                </a:solidFill>
                <a:latin typeface="+mn-lt"/>
                <a:ea typeface="+mn-ea"/>
                <a:cs typeface="+mn-cs"/>
              </a:defRPr>
            </a:pPr>
            <a:r>
              <a:rPr lang="en-US" b="1" baseline="0">
                <a:solidFill>
                  <a:srgbClr val="1905AD"/>
                </a:solidFill>
              </a:rPr>
              <a:t>Vảy FPET201-Out</a:t>
            </a:r>
            <a:endParaRPr lang="en-US" b="1">
              <a:solidFill>
                <a:srgbClr val="1905AD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1041A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4404728775680179"/>
          <c:y val="0.11052161040141831"/>
          <c:w val="0.73361698608219739"/>
          <c:h val="0.62671104379238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'Chart 2_TT&amp;KTQT'!$D$132</c:f>
              <c:strCache>
                <c:ptCount val="1"/>
                <c:pt idx="0">
                  <c:v>GIÁ BÁN (VND/kg)</c:v>
                </c:pt>
              </c:strCache>
            </c:strRef>
          </c:tx>
          <c:spPr>
            <a:solidFill>
              <a:srgbClr val="0535AD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8C-46AD-96CF-78FF89BD7C8D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8C-46AD-96CF-78FF89BD7C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905A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2_TT&amp;KTQT'!$C$133:$C$136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2026 WF_TT</c:v>
                </c:pt>
                <c:pt idx="3">
                  <c:v>2026 WF_KTQT</c:v>
                </c:pt>
              </c:strCache>
            </c:strRef>
          </c:cat>
          <c:val>
            <c:numRef>
              <c:f>'Chart 2_TT&amp;KTQT'!$D$133:$D$136</c:f>
              <c:numCache>
                <c:formatCode>_(* #,##0_);_(* \(#,##0\);_(* "-"??_);_(@_)</c:formatCode>
                <c:ptCount val="4"/>
                <c:pt idx="0">
                  <c:v>913.20265886074719</c:v>
                </c:pt>
                <c:pt idx="1">
                  <c:v>766.66666666666674</c:v>
                </c:pt>
                <c:pt idx="2">
                  <c:v>1018.1303078181913</c:v>
                </c:pt>
                <c:pt idx="3">
                  <c:v>1060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08C-46AD-96CF-78FF89BD7C8D}"/>
            </c:ext>
          </c:extLst>
        </c:ser>
        <c:ser>
          <c:idx val="1"/>
          <c:order val="1"/>
          <c:tx>
            <c:strRef>
              <c:f>'Chart 2_TT&amp;KTQT'!$E$132</c:f>
              <c:strCache>
                <c:ptCount val="1"/>
                <c:pt idx="0">
                  <c:v>GIÁ THÀNH (VND/kg)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08C-46AD-96CF-78FF89BD7C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2_TT&amp;KTQT'!$C$133:$C$136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2026 WF_TT</c:v>
                </c:pt>
                <c:pt idx="3">
                  <c:v>2026 WF_KTQT</c:v>
                </c:pt>
              </c:strCache>
            </c:strRef>
          </c:cat>
          <c:val>
            <c:numRef>
              <c:f>'Chart 2_TT&amp;KTQT'!$E$133:$E$136</c:f>
              <c:numCache>
                <c:formatCode>_(* #,##0_);_(* \(#,##0\);_(* "-"??_);_(@_)</c:formatCode>
                <c:ptCount val="4"/>
                <c:pt idx="0">
                  <c:v>1005.3079594153063</c:v>
                </c:pt>
                <c:pt idx="1">
                  <c:v>779.29288064204979</c:v>
                </c:pt>
                <c:pt idx="2">
                  <c:v>828.13030781819134</c:v>
                </c:pt>
                <c:pt idx="3">
                  <c:v>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08C-46AD-96CF-78FF89BD7C8D}"/>
            </c:ext>
          </c:extLst>
        </c:ser>
        <c:ser>
          <c:idx val="2"/>
          <c:order val="2"/>
          <c:tx>
            <c:strRef>
              <c:f>'Chart 2_TT&amp;KTQT'!$F$132</c:f>
              <c:strCache>
                <c:ptCount val="1"/>
                <c:pt idx="0">
                  <c:v>LG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08C-46AD-96CF-78FF89BD7C8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08C-46AD-96CF-78FF89BD7C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3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2_TT&amp;KTQT'!$C$133:$C$136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2026 WF_TT</c:v>
                </c:pt>
                <c:pt idx="3">
                  <c:v>2026 WF_KTQT</c:v>
                </c:pt>
              </c:strCache>
            </c:strRef>
          </c:cat>
          <c:val>
            <c:numRef>
              <c:f>'Chart 2_TT&amp;KTQT'!$F$133:$F$136</c:f>
              <c:numCache>
                <c:formatCode>_(* #,##0_);_(* \(#,##0\);_(* "-"??_);_(@_)</c:formatCode>
                <c:ptCount val="4"/>
                <c:pt idx="0">
                  <c:v>-92.105300554559108</c:v>
                </c:pt>
                <c:pt idx="1">
                  <c:v>-12.626213975383052</c:v>
                </c:pt>
                <c:pt idx="2">
                  <c:v>190</c:v>
                </c:pt>
                <c:pt idx="3">
                  <c:v>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408C-46AD-96CF-78FF89BD7C8D}"/>
            </c:ext>
          </c:extLst>
        </c:ser>
        <c:ser>
          <c:idx val="3"/>
          <c:order val="3"/>
          <c:tx>
            <c:strRef>
              <c:f>'Chart 2_TT&amp;KTQT'!$G$132</c:f>
              <c:strCache>
                <c:ptCount val="1"/>
                <c:pt idx="0">
                  <c:v>%LG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00B0F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2_TT&amp;KTQT'!$C$133:$C$136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2026 WF_TT</c:v>
                </c:pt>
                <c:pt idx="3">
                  <c:v>2026 WF_KTQT</c:v>
                </c:pt>
              </c:strCache>
            </c:strRef>
          </c:cat>
          <c:val>
            <c:numRef>
              <c:f>'Chart 2_TT&amp;KTQT'!$G$133:$G$136</c:f>
              <c:numCache>
                <c:formatCode>0%</c:formatCode>
                <c:ptCount val="4"/>
                <c:pt idx="0">
                  <c:v>-0.10085965000306038</c:v>
                </c:pt>
                <c:pt idx="1">
                  <c:v>-1.6468974750499632E-2</c:v>
                </c:pt>
                <c:pt idx="2">
                  <c:v>0.18661658389009328</c:v>
                </c:pt>
                <c:pt idx="3">
                  <c:v>0.20377358490566039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08C-46AD-96CF-78FF89BD7C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67657455"/>
        <c:axId val="1567654095"/>
      </c:barChart>
      <c:catAx>
        <c:axId val="156765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54095"/>
        <c:crosses val="autoZero"/>
        <c:auto val="1"/>
        <c:lblAlgn val="ctr"/>
        <c:lblOffset val="100"/>
        <c:noMultiLvlLbl val="0"/>
      </c:catAx>
      <c:valAx>
        <c:axId val="1567654095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5745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rgbClr val="1905A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2"/>
                </a:solidFill>
              </a:rPr>
              <a:t>ĐƠN</a:t>
            </a:r>
            <a:r>
              <a:rPr lang="en-US" sz="1800" b="1" baseline="0">
                <a:solidFill>
                  <a:schemeClr val="accent2"/>
                </a:solidFill>
              </a:rPr>
              <a:t> GIÁ CHAI TỪ TRẠM</a:t>
            </a:r>
            <a:endParaRPr lang="en-US" sz="1800" b="1">
              <a:solidFill>
                <a:schemeClr val="accent2"/>
              </a:solidFill>
            </a:endParaRPr>
          </a:p>
        </c:rich>
      </c:tx>
      <c:layout>
        <c:manualLayout>
          <c:xMode val="edge"/>
          <c:yMode val="edge"/>
          <c:x val="0.282241179862942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45655757893043E-2"/>
          <c:y val="0.2562913550696107"/>
          <c:w val="0.9473086884842139"/>
          <c:h val="0.631588313444457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Chai!$A$4</c:f>
              <c:strCache>
                <c:ptCount val="1"/>
                <c:pt idx="0">
                  <c:v>Chai B0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DD4A4674-2E35-49BD-B160-16C060ACA9E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3F34-4409-97AA-72B9A0A1789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59A0DCC-7EE8-4DD1-B336-E9696094E89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F34-4409-97AA-72B9A0A1789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26CCA8-2366-4C4F-B09D-251489E786F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F34-4409-97AA-72B9A0A1789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2986328-7E04-438F-9F93-143E1A10417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F34-4409-97AA-72B9A0A1789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B069552-B6AF-44B5-A512-4854264CCD3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3F34-4409-97AA-72B9A0A1789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0B1349BF-F9BC-4FE6-AA9A-3B97FF6FFC1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3F34-4409-97AA-72B9A0A178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Chai!$B$3:$G$3</c:f>
              <c:strCache>
                <c:ptCount val="6"/>
                <c:pt idx="0">
                  <c:v>Chai-Trung bình</c:v>
                </c:pt>
                <c:pt idx="1">
                  <c:v>Chai B1</c:v>
                </c:pt>
                <c:pt idx="2">
                  <c:v>Chai B2</c:v>
                </c:pt>
                <c:pt idx="3">
                  <c:v>Chai B4</c:v>
                </c:pt>
                <c:pt idx="4">
                  <c:v>Chai B5</c:v>
                </c:pt>
                <c:pt idx="5">
                  <c:v>Chai B6</c:v>
                </c:pt>
              </c:strCache>
            </c:strRef>
          </c:cat>
          <c:val>
            <c:numRef>
              <c:f>Chai!$B$4:$G$4</c:f>
              <c:numCache>
                <c:formatCode>_(* #,##0_);_(* \(#,##0\);_(* "-"??_);_(@_)</c:formatCode>
                <c:ptCount val="6"/>
                <c:pt idx="0">
                  <c:v>11300</c:v>
                </c:pt>
                <c:pt idx="1">
                  <c:v>11794.450373532554</c:v>
                </c:pt>
                <c:pt idx="2">
                  <c:v>10709.071504802563</c:v>
                </c:pt>
                <c:pt idx="3">
                  <c:v>9623.692636072572</c:v>
                </c:pt>
                <c:pt idx="4">
                  <c:v>9623.692636072572</c:v>
                </c:pt>
                <c:pt idx="5">
                  <c:v>10709.071504802563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Chai!$B$18:$G$18</c15:f>
                <c15:dlblRangeCache>
                  <c:ptCount val="6"/>
                  <c:pt idx="0">
                    <c:v>11,300 | 
73.2%</c:v>
                  </c:pt>
                  <c:pt idx="1">
                    <c:v>11,794 | 
71.1%</c:v>
                  </c:pt>
                  <c:pt idx="2">
                    <c:v>10,709 | 
71.1%</c:v>
                  </c:pt>
                  <c:pt idx="3">
                    <c:v>9,624 | 
71.1%</c:v>
                  </c:pt>
                  <c:pt idx="4">
                    <c:v>9,624 | 
71.1%</c:v>
                  </c:pt>
                  <c:pt idx="5">
                    <c:v>10,709 | 
71.1%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3F34-4409-97AA-72B9A0A1789E}"/>
            </c:ext>
          </c:extLst>
        </c:ser>
        <c:ser>
          <c:idx val="1"/>
          <c:order val="1"/>
          <c:tx>
            <c:strRef>
              <c:f>Chai!$A$5</c:f>
              <c:strCache>
                <c:ptCount val="1"/>
                <c:pt idx="0">
                  <c:v>Chi phí hao hụt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5E59CAC-2D37-46B3-994B-158E4124300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F34-4409-97AA-72B9A0A1789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D2C7B70-FBCF-4251-AC6F-7C2AB5408F3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3F34-4409-97AA-72B9A0A1789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A6B7056-E474-41E6-A9CF-495F84B9DEF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3F34-4409-97AA-72B9A0A1789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193547E-73F1-4583-B185-4669A818FEA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3F34-4409-97AA-72B9A0A1789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382BB234-15BD-4D94-9D81-6F074ADC706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3F34-4409-97AA-72B9A0A1789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9DD93D63-2B42-40D5-8BED-F95FF5BCBF4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3F34-4409-97AA-72B9A0A178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Chai!$B$3:$G$3</c:f>
              <c:strCache>
                <c:ptCount val="6"/>
                <c:pt idx="0">
                  <c:v>Chai-Trung bình</c:v>
                </c:pt>
                <c:pt idx="1">
                  <c:v>Chai B1</c:v>
                </c:pt>
                <c:pt idx="2">
                  <c:v>Chai B2</c:v>
                </c:pt>
                <c:pt idx="3">
                  <c:v>Chai B4</c:v>
                </c:pt>
                <c:pt idx="4">
                  <c:v>Chai B5</c:v>
                </c:pt>
                <c:pt idx="5">
                  <c:v>Chai B6</c:v>
                </c:pt>
              </c:strCache>
            </c:strRef>
          </c:cat>
          <c:val>
            <c:numRef>
              <c:f>Chai!$B$5:$G$5</c:f>
              <c:numCache>
                <c:formatCode>_(* #,##0_);_(* \(#,##0\);_(* "-"??_);_(@_)</c:formatCode>
                <c:ptCount val="6"/>
                <c:pt idx="0">
                  <c:v>1130</c:v>
                </c:pt>
                <c:pt idx="1">
                  <c:v>1658.4133760227683</c:v>
                </c:pt>
                <c:pt idx="2">
                  <c:v>1505.7986481679118</c:v>
                </c:pt>
                <c:pt idx="3">
                  <c:v>1353.1839203130558</c:v>
                </c:pt>
                <c:pt idx="4">
                  <c:v>1353.1839203130558</c:v>
                </c:pt>
                <c:pt idx="5">
                  <c:v>1505.7986481679118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Chai!$B$19:$G$19</c15:f>
                <c15:dlblRangeCache>
                  <c:ptCount val="6"/>
                  <c:pt idx="0">
                    <c:v>1,130 | 7.3%</c:v>
                  </c:pt>
                  <c:pt idx="1">
                    <c:v>1,658 | 10.0%</c:v>
                  </c:pt>
                  <c:pt idx="2">
                    <c:v>1,506 | 10.0%</c:v>
                  </c:pt>
                  <c:pt idx="3">
                    <c:v>1,353 | 10.0%</c:v>
                  </c:pt>
                  <c:pt idx="4">
                    <c:v>1,353 | 10.0%</c:v>
                  </c:pt>
                  <c:pt idx="5">
                    <c:v>1,506 | 10.0%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3F34-4409-97AA-72B9A0A1789E}"/>
            </c:ext>
          </c:extLst>
        </c:ser>
        <c:ser>
          <c:idx val="2"/>
          <c:order val="2"/>
          <c:tx>
            <c:strRef>
              <c:f>Chai!$A$6</c:f>
              <c:strCache>
                <c:ptCount val="1"/>
                <c:pt idx="0">
                  <c:v>Chi phí sản xuất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CE55E30-42E7-492C-AC58-5EBB4400CA3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3F34-4409-97AA-72B9A0A1789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2887558-1057-46D7-BB27-066C11FB624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3F34-4409-97AA-72B9A0A1789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DF6B980-70BA-43AE-A61B-E9CD356E0D1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3F34-4409-97AA-72B9A0A1789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BDD465E-B21A-4AF8-8894-29EB717D051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3F34-4409-97AA-72B9A0A1789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C1CA8E7-56B7-4840-BC12-759965BDD54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3F34-4409-97AA-72B9A0A1789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5FC98B63-20AC-484C-8A6C-EB30D692CF2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3F34-4409-97AA-72B9A0A178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Chai!$B$3:$G$3</c:f>
              <c:strCache>
                <c:ptCount val="6"/>
                <c:pt idx="0">
                  <c:v>Chai-Trung bình</c:v>
                </c:pt>
                <c:pt idx="1">
                  <c:v>Chai B1</c:v>
                </c:pt>
                <c:pt idx="2">
                  <c:v>Chai B2</c:v>
                </c:pt>
                <c:pt idx="3">
                  <c:v>Chai B4</c:v>
                </c:pt>
                <c:pt idx="4">
                  <c:v>Chai B5</c:v>
                </c:pt>
                <c:pt idx="5">
                  <c:v>Chai B6</c:v>
                </c:pt>
              </c:strCache>
            </c:strRef>
          </c:cat>
          <c:val>
            <c:numRef>
              <c:f>Chai!$B$6:$G$6</c:f>
              <c:numCache>
                <c:formatCode>_(* #,##0_);_(* \(#,##0\);_(* "-"??_);_(@_)</c:formatCode>
                <c:ptCount val="6"/>
                <c:pt idx="0">
                  <c:v>3000</c:v>
                </c:pt>
                <c:pt idx="1">
                  <c:v>3131.2700106723596</c:v>
                </c:pt>
                <c:pt idx="2">
                  <c:v>2843.1163287086447</c:v>
                </c:pt>
                <c:pt idx="3">
                  <c:v>2554.9626467449307</c:v>
                </c:pt>
                <c:pt idx="4">
                  <c:v>2554.9626467449307</c:v>
                </c:pt>
                <c:pt idx="5">
                  <c:v>2843.1163287086447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Chai!$B$20:$G$20</c15:f>
                <c15:dlblRangeCache>
                  <c:ptCount val="6"/>
                  <c:pt idx="0">
                    <c:v>3,000 | 19.4%</c:v>
                  </c:pt>
                  <c:pt idx="1">
                    <c:v>3,131 | 18.9%</c:v>
                  </c:pt>
                  <c:pt idx="2">
                    <c:v>2,843 | 18.9%</c:v>
                  </c:pt>
                  <c:pt idx="3">
                    <c:v>2,555 | 18.9%</c:v>
                  </c:pt>
                  <c:pt idx="4">
                    <c:v>2,555 | 18.9%</c:v>
                  </c:pt>
                  <c:pt idx="5">
                    <c:v>2,843 | 18.9%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3F34-4409-97AA-72B9A0A1789E}"/>
            </c:ext>
          </c:extLst>
        </c:ser>
        <c:ser>
          <c:idx val="3"/>
          <c:order val="3"/>
          <c:tx>
            <c:strRef>
              <c:f>Chai!$A$7</c:f>
              <c:strCache>
                <c:ptCount val="1"/>
                <c:pt idx="0">
                  <c:v>Chi phí khác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A0D3C40-401F-4994-BFD3-1EBD2122A1B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3F34-4409-97AA-72B9A0A1789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BAEDB26-6719-4D65-B9D6-1C0B277B7FA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3F34-4409-97AA-72B9A0A1789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A44D50B-372B-4E5F-B26A-78F131B3C4A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3F34-4409-97AA-72B9A0A1789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AC514FF-641F-4C87-887E-77DD9937371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3F34-4409-97AA-72B9A0A1789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C5305201-E9E3-4B69-88C7-99062BFFEC5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3F34-4409-97AA-72B9A0A1789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36B0A06-BD0F-44A1-AAF8-58254E590DB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3F34-4409-97AA-72B9A0A178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Chai!$B$3:$G$3</c:f>
              <c:strCache>
                <c:ptCount val="6"/>
                <c:pt idx="0">
                  <c:v>Chai-Trung bình</c:v>
                </c:pt>
                <c:pt idx="1">
                  <c:v>Chai B1</c:v>
                </c:pt>
                <c:pt idx="2">
                  <c:v>Chai B2</c:v>
                </c:pt>
                <c:pt idx="3">
                  <c:v>Chai B4</c:v>
                </c:pt>
                <c:pt idx="4">
                  <c:v>Chai B5</c:v>
                </c:pt>
                <c:pt idx="5">
                  <c:v>Chai B6</c:v>
                </c:pt>
              </c:strCache>
            </c:strRef>
          </c:cat>
          <c:val>
            <c:numRef>
              <c:f>Chai!$B$7:$G$7</c:f>
              <c:numCache>
                <c:formatCode>_(* #,##0_);_(* \(#,##0\);_(*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Chai!$B$21:$G$21</c15:f>
                <c15:dlblRangeCache>
                  <c:ptCount val="6"/>
                  <c:pt idx="0">
                    <c:v> | 0.0%</c:v>
                  </c:pt>
                  <c:pt idx="1">
                    <c:v> | 0.0%</c:v>
                  </c:pt>
                  <c:pt idx="2">
                    <c:v> | 0.0%</c:v>
                  </c:pt>
                  <c:pt idx="3">
                    <c:v> | 0.0%</c:v>
                  </c:pt>
                  <c:pt idx="4">
                    <c:v> | 0.0%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B-3F34-4409-97AA-72B9A0A178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533962112"/>
        <c:axId val="1533954432"/>
      </c:barChart>
      <c:lineChart>
        <c:grouping val="standard"/>
        <c:varyColors val="0"/>
        <c:ser>
          <c:idx val="4"/>
          <c:order val="4"/>
          <c:tx>
            <c:strRef>
              <c:f>Chai!$A$8</c:f>
              <c:strCache>
                <c:ptCount val="1"/>
                <c:pt idx="0">
                  <c:v>Tổng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Chai!$B$8:$G$8</c:f>
              <c:numCache>
                <c:formatCode>_(* #,##0_);_(* \(#,##0\);_(* "-"??_);_(@_)</c:formatCode>
                <c:ptCount val="6"/>
                <c:pt idx="0">
                  <c:v>15430</c:v>
                </c:pt>
                <c:pt idx="1">
                  <c:v>16584.133760227684</c:v>
                </c:pt>
                <c:pt idx="2">
                  <c:v>15057.98648167912</c:v>
                </c:pt>
                <c:pt idx="3">
                  <c:v>13531.839203130559</c:v>
                </c:pt>
                <c:pt idx="4">
                  <c:v>13531.839203130559</c:v>
                </c:pt>
                <c:pt idx="5">
                  <c:v>15057.98648167912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3F34-4409-97AA-72B9A0A178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3962112"/>
        <c:axId val="1533954432"/>
      </c:lineChart>
      <c:catAx>
        <c:axId val="153396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54432"/>
        <c:crosses val="autoZero"/>
        <c:auto val="1"/>
        <c:lblAlgn val="ctr"/>
        <c:lblOffset val="100"/>
        <c:noMultiLvlLbl val="0"/>
      </c:catAx>
      <c:valAx>
        <c:axId val="153395443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62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19234742621613396"/>
          <c:y val="0.1065513953272566"/>
          <c:w val="0.60811978013729906"/>
          <c:h val="8.18419381410071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B05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2"/>
                </a:solidFill>
              </a:rPr>
              <a:t>ĐƠN</a:t>
            </a:r>
            <a:r>
              <a:rPr lang="en-US" sz="1800" b="1" baseline="0">
                <a:solidFill>
                  <a:schemeClr val="accent2"/>
                </a:solidFill>
              </a:rPr>
              <a:t> GIÁ VẢY </a:t>
            </a:r>
            <a:r>
              <a:rPr lang="en-US" sz="1800" b="1" baseline="0">
                <a:solidFill>
                  <a:srgbClr val="041892"/>
                </a:solidFill>
              </a:rPr>
              <a:t>(VND)</a:t>
            </a:r>
            <a:endParaRPr lang="en-US" sz="1800" b="1">
              <a:solidFill>
                <a:srgbClr val="041892"/>
              </a:solidFill>
            </a:endParaRPr>
          </a:p>
        </c:rich>
      </c:tx>
      <c:layout>
        <c:manualLayout>
          <c:xMode val="edge"/>
          <c:yMode val="edge"/>
          <c:x val="0.282241179862942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45655757893043E-2"/>
          <c:y val="0.2562913550696107"/>
          <c:w val="0.9473086884842139"/>
          <c:h val="0.631588313444457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'Vảy A1_DT'!$A$4</c:f>
              <c:strCache>
                <c:ptCount val="1"/>
                <c:pt idx="0">
                  <c:v>Vảy BX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EE138EF-1431-457D-9071-F1D53ED4EE1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DD39-445E-AC71-94C32E9751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A61CEA1-473A-4A6B-8093-748CEE62B46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DD39-445E-AC71-94C32E9751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F773512-31A1-41E4-8BA8-D26545B22AD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DD39-445E-AC71-94C32E9751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255C69E-118A-4239-A789-335DA614B8A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DD39-445E-AC71-94C32E9751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84D283D2-C846-4ED6-AB68-A33E0715BF8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DD39-445E-AC71-94C32E97519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621AF0A1-FACB-4167-B3CF-CACFD021D33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DD39-445E-AC71-94C32E9751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'Vảy A1_DT'!$B$3:$G$3</c:f>
              <c:strCache>
                <c:ptCount val="6"/>
                <c:pt idx="0">
                  <c:v>Vảy-Trung bình</c:v>
                </c:pt>
                <c:pt idx="1">
                  <c:v>Vảy B1</c:v>
                </c:pt>
                <c:pt idx="2">
                  <c:v>Vảy B2</c:v>
                </c:pt>
                <c:pt idx="3">
                  <c:v>Vảy B4</c:v>
                </c:pt>
                <c:pt idx="4">
                  <c:v>Vảy B5</c:v>
                </c:pt>
                <c:pt idx="5">
                  <c:v>Vảy B6</c:v>
                </c:pt>
              </c:strCache>
            </c:strRef>
          </c:cat>
          <c:val>
            <c:numRef>
              <c:f>'Vảy A1_DT'!$B$4:$G$4</c:f>
              <c:numCache>
                <c:formatCode>_(* #,##0_);_(* \(#,##0\);_(* "-"??_);_(@_)</c:formatCode>
                <c:ptCount val="6"/>
                <c:pt idx="0">
                  <c:v>12822.187280724231</c:v>
                </c:pt>
                <c:pt idx="1">
                  <c:v>14594.066894680444</c:v>
                </c:pt>
                <c:pt idx="2">
                  <c:v>12525.013169424312</c:v>
                </c:pt>
                <c:pt idx="3">
                  <c:v>12442.102601589924</c:v>
                </c:pt>
                <c:pt idx="4">
                  <c:v>11727.566457202242</c:v>
                </c:pt>
                <c:pt idx="5">
                  <c:v>13767.87368955477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'Vảy A1_DT'!$B$18:$G$18</c15:f>
                <c15:dlblRangeCache>
                  <c:ptCount val="6"/>
                  <c:pt idx="0">
                    <c:v>12,822 | 
63.0%</c:v>
                  </c:pt>
                  <c:pt idx="1">
                    <c:v>14,594 | 
64.0%</c:v>
                  </c:pt>
                  <c:pt idx="2">
                    <c:v>12,525 | 
62.3%</c:v>
                  </c:pt>
                  <c:pt idx="3">
                    <c:v>12,442 | 
63.0%</c:v>
                  </c:pt>
                  <c:pt idx="4">
                    <c:v>11,728 | 
62.4%</c:v>
                  </c:pt>
                  <c:pt idx="5">
                    <c:v>13,768 | 
64.1%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DD39-445E-AC71-94C32E97519A}"/>
            </c:ext>
          </c:extLst>
        </c:ser>
        <c:ser>
          <c:idx val="1"/>
          <c:order val="1"/>
          <c:tx>
            <c:strRef>
              <c:f>'Vảy A1_DT'!$A$5</c:f>
              <c:strCache>
                <c:ptCount val="1"/>
                <c:pt idx="0">
                  <c:v>Chi phí hao hụt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9A97F01-C150-44AA-B791-5031CFB7B21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DD39-445E-AC71-94C32E9751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03C9F59-2653-4461-81B2-931ED3D1BA0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DD39-445E-AC71-94C32E9751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FA0EA13-37DD-4F64-96B6-91C4FC9375F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DD39-445E-AC71-94C32E9751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7A5EE08-7CBC-4CB2-8CFB-633B4326FF1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DD39-445E-AC71-94C32E9751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25410B2-1949-438A-9601-D439600D743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DD39-445E-AC71-94C32E97519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D8B2E5B4-CD9C-4F8C-869F-B1C7817F60C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DD39-445E-AC71-94C32E9751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'Vảy A1_DT'!$B$3:$G$3</c:f>
              <c:strCache>
                <c:ptCount val="6"/>
                <c:pt idx="0">
                  <c:v>Vảy-Trung bình</c:v>
                </c:pt>
                <c:pt idx="1">
                  <c:v>Vảy B1</c:v>
                </c:pt>
                <c:pt idx="2">
                  <c:v>Vảy B2</c:v>
                </c:pt>
                <c:pt idx="3">
                  <c:v>Vảy B4</c:v>
                </c:pt>
                <c:pt idx="4">
                  <c:v>Vảy B5</c:v>
                </c:pt>
                <c:pt idx="5">
                  <c:v>Vảy B6</c:v>
                </c:pt>
              </c:strCache>
            </c:strRef>
          </c:cat>
          <c:val>
            <c:numRef>
              <c:f>'Vảy A1_DT'!$B$5:$G$5</c:f>
              <c:numCache>
                <c:formatCode>_(* #,##0_);_(* \(#,##0\);_(* "-"??_);_(@_)</c:formatCode>
                <c:ptCount val="6"/>
                <c:pt idx="0">
                  <c:v>1802.9230886367404</c:v>
                </c:pt>
                <c:pt idx="1">
                  <c:v>2052.0664365184894</c:v>
                </c:pt>
                <c:pt idx="2">
                  <c:v>1761.1375449633003</c:v>
                </c:pt>
                <c:pt idx="3">
                  <c:v>1749.4795201842273</c:v>
                </c:pt>
                <c:pt idx="4">
                  <c:v>1649.0088528809445</c:v>
                </c:pt>
                <c:pt idx="5">
                  <c:v>1935.8957105273664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'Vảy A1_DT'!$B$19:$G$19</c15:f>
                <c15:dlblRangeCache>
                  <c:ptCount val="6"/>
                  <c:pt idx="0">
                    <c:v>1,803 | 8.9%</c:v>
                  </c:pt>
                  <c:pt idx="1">
                    <c:v>2,052 | 9.0%</c:v>
                  </c:pt>
                  <c:pt idx="2">
                    <c:v>1,761 | 8.8%</c:v>
                  </c:pt>
                  <c:pt idx="3">
                    <c:v>1,749 | 8.9%</c:v>
                  </c:pt>
                  <c:pt idx="4">
                    <c:v>1,649 | 8.8%</c:v>
                  </c:pt>
                  <c:pt idx="5">
                    <c:v>1,936 | 9.0%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DD39-445E-AC71-94C32E97519A}"/>
            </c:ext>
          </c:extLst>
        </c:ser>
        <c:ser>
          <c:idx val="2"/>
          <c:order val="2"/>
          <c:tx>
            <c:strRef>
              <c:f>'Vảy A1_DT'!$A$6</c:f>
              <c:strCache>
                <c:ptCount val="1"/>
                <c:pt idx="0">
                  <c:v>Chi phí sản xuất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041A628-CB47-4AA9-81AC-446DDB0AD4B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DD39-445E-AC71-94C32E9751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721905B-6C75-4497-8466-114F8E64A13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DD39-445E-AC71-94C32E9751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1A5F9D0-6A5D-489A-8592-BE593D5ABD4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DD39-445E-AC71-94C32E9751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C17A5CB3-1490-4868-80C5-BF28F55DB6D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DD39-445E-AC71-94C32E9751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B7A8E01-0781-4D85-848E-9DBD41BF552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DD39-445E-AC71-94C32E97519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9FA66B12-341E-4C0B-BDF9-0524D50AB46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DD39-445E-AC71-94C32E9751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'Vảy A1_DT'!$B$3:$G$3</c:f>
              <c:strCache>
                <c:ptCount val="6"/>
                <c:pt idx="0">
                  <c:v>Vảy-Trung bình</c:v>
                </c:pt>
                <c:pt idx="1">
                  <c:v>Vảy B1</c:v>
                </c:pt>
                <c:pt idx="2">
                  <c:v>Vảy B2</c:v>
                </c:pt>
                <c:pt idx="3">
                  <c:v>Vảy B4</c:v>
                </c:pt>
                <c:pt idx="4">
                  <c:v>Vảy B5</c:v>
                </c:pt>
                <c:pt idx="5">
                  <c:v>Vảy B6</c:v>
                </c:pt>
              </c:strCache>
            </c:strRef>
          </c:cat>
          <c:val>
            <c:numRef>
              <c:f>'Vảy A1_DT'!$B$6:$G$6</c:f>
              <c:numCache>
                <c:formatCode>_(* #,##0_);_(* \(#,##0\);_(* "-"??_);_(@_)</c:formatCode>
                <c:ptCount val="6"/>
                <c:pt idx="0">
                  <c:v>6713.4265597139583</c:v>
                </c:pt>
                <c:pt idx="1">
                  <c:v>7159.2600741835149</c:v>
                </c:pt>
                <c:pt idx="2">
                  <c:v>6582.4369424733404</c:v>
                </c:pt>
                <c:pt idx="3">
                  <c:v>6681.978617101784</c:v>
                </c:pt>
                <c:pt idx="4">
                  <c:v>6430.0306050971903</c:v>
                </c:pt>
                <c:pt idx="5">
                  <c:v>6953.5224769295819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'Vảy A1_DT'!$B$20:$G$20</c15:f>
                <c15:dlblRangeCache>
                  <c:ptCount val="6"/>
                  <c:pt idx="0">
                    <c:v>6,713 | 33.0%</c:v>
                  </c:pt>
                  <c:pt idx="1">
                    <c:v>7,159 | 31.4%</c:v>
                  </c:pt>
                  <c:pt idx="2">
                    <c:v>6,582 | 32.7%</c:v>
                  </c:pt>
                  <c:pt idx="3">
                    <c:v>6,682 | 33.8%</c:v>
                  </c:pt>
                  <c:pt idx="4">
                    <c:v>6,430 | 34.2%</c:v>
                  </c:pt>
                  <c:pt idx="5">
                    <c:v>6,954 | 32.4%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DD39-445E-AC71-94C32E97519A}"/>
            </c:ext>
          </c:extLst>
        </c:ser>
        <c:ser>
          <c:idx val="3"/>
          <c:order val="3"/>
          <c:tx>
            <c:strRef>
              <c:f>'Vảy A1_DT'!$A$7</c:f>
              <c:strCache>
                <c:ptCount val="1"/>
                <c:pt idx="0">
                  <c:v>Chi phí khác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C482778-243D-47E8-8199-863D7D8A5B6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DD39-445E-AC71-94C32E9751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638C96C-3BCE-4752-8AFF-31572791586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DD39-445E-AC71-94C32E9751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46D9B65-ACFA-4B11-9076-E192601E73A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DD39-445E-AC71-94C32E9751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88A08A4-E861-4BC5-BD45-46F21ED064D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DD39-445E-AC71-94C32E9751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F68A7AE8-5D8D-4E01-8A37-9B8F57CC567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DD39-445E-AC71-94C32E97519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E8061DF5-09FF-4F15-A0B0-D619E61522E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DD39-445E-AC71-94C32E9751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'Vảy A1_DT'!$B$3:$G$3</c:f>
              <c:strCache>
                <c:ptCount val="6"/>
                <c:pt idx="0">
                  <c:v>Vảy-Trung bình</c:v>
                </c:pt>
                <c:pt idx="1">
                  <c:v>Vảy B1</c:v>
                </c:pt>
                <c:pt idx="2">
                  <c:v>Vảy B2</c:v>
                </c:pt>
                <c:pt idx="3">
                  <c:v>Vảy B4</c:v>
                </c:pt>
                <c:pt idx="4">
                  <c:v>Vảy B5</c:v>
                </c:pt>
                <c:pt idx="5">
                  <c:v>Vảy B6</c:v>
                </c:pt>
              </c:strCache>
            </c:strRef>
          </c:cat>
          <c:val>
            <c:numRef>
              <c:f>'Vảy A1_DT'!$B$7:$G$7</c:f>
              <c:numCache>
                <c:formatCode>_(* #,##0_);_(* \(#,##0\);_(* "-"??_);_(@_)</c:formatCode>
                <c:ptCount val="6"/>
                <c:pt idx="0">
                  <c:v>-976.72197920467045</c:v>
                </c:pt>
                <c:pt idx="1">
                  <c:v>-1013.0466612852859</c:v>
                </c:pt>
                <c:pt idx="2">
                  <c:v>-753.43571715705696</c:v>
                </c:pt>
                <c:pt idx="3">
                  <c:v>-1126.1999999999998</c:v>
                </c:pt>
                <c:pt idx="4">
                  <c:v>-1014.2055383763392</c:v>
                </c:pt>
                <c:pt idx="5">
                  <c:v>-1186.3083333333332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'Vảy A1_DT'!$B$21:$G$21</c15:f>
                <c15:dlblRangeCache>
                  <c:ptCount val="6"/>
                  <c:pt idx="0">
                    <c:v>-977 | -4.8%</c:v>
                  </c:pt>
                  <c:pt idx="1">
                    <c:v>-1,013 | -4.4%</c:v>
                  </c:pt>
                  <c:pt idx="2">
                    <c:v>-753 | -3.7%</c:v>
                  </c:pt>
                  <c:pt idx="3">
                    <c:v>-1,126 | -5.7%</c:v>
                  </c:pt>
                  <c:pt idx="4">
                    <c:v>-1,014 | -5.4%</c:v>
                  </c:pt>
                  <c:pt idx="5">
                    <c:v>-1,186 | -5.5%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B-DD39-445E-AC71-94C32E9751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533962112"/>
        <c:axId val="1533954432"/>
      </c:barChart>
      <c:lineChart>
        <c:grouping val="standard"/>
        <c:varyColors val="0"/>
        <c:ser>
          <c:idx val="4"/>
          <c:order val="4"/>
          <c:tx>
            <c:strRef>
              <c:f>'Vảy A1_DT'!$A$8</c:f>
              <c:strCache>
                <c:ptCount val="1"/>
                <c:pt idx="0">
                  <c:v>Tổng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'Vảy A1_DT'!$B$8:$G$8</c:f>
              <c:numCache>
                <c:formatCode>_(* #,##0_);_(* \(#,##0\);_(* "-"??_);_(@_)</c:formatCode>
                <c:ptCount val="6"/>
                <c:pt idx="0">
                  <c:v>20361.814949870259</c:v>
                </c:pt>
                <c:pt idx="1">
                  <c:v>22792.346744097162</c:v>
                </c:pt>
                <c:pt idx="2">
                  <c:v>20115.151939703897</c:v>
                </c:pt>
                <c:pt idx="3">
                  <c:v>19747.360738875937</c:v>
                </c:pt>
                <c:pt idx="4">
                  <c:v>18792.400376804038</c:v>
                </c:pt>
                <c:pt idx="5">
                  <c:v>21470.983543678383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DD39-445E-AC71-94C32E9751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3962112"/>
        <c:axId val="1533954432"/>
      </c:lineChart>
      <c:catAx>
        <c:axId val="153396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54432"/>
        <c:crosses val="autoZero"/>
        <c:auto val="1"/>
        <c:lblAlgn val="ctr"/>
        <c:lblOffset val="100"/>
        <c:noMultiLvlLbl val="0"/>
      </c:catAx>
      <c:valAx>
        <c:axId val="153395443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62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19234742621613396"/>
          <c:y val="0.1065513953272566"/>
          <c:w val="0.60811978013729906"/>
          <c:h val="8.18419381410071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B05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2"/>
                </a:solidFill>
              </a:rPr>
              <a:t>ĐƠN</a:t>
            </a:r>
            <a:r>
              <a:rPr lang="en-US" sz="1800" b="1" baseline="0">
                <a:solidFill>
                  <a:schemeClr val="accent2"/>
                </a:solidFill>
              </a:rPr>
              <a:t> GIÁ HẠT </a:t>
            </a:r>
            <a:r>
              <a:rPr lang="en-US" sz="1800" b="1" baseline="0">
                <a:solidFill>
                  <a:srgbClr val="041892"/>
                </a:solidFill>
              </a:rPr>
              <a:t>(VND)</a:t>
            </a:r>
            <a:endParaRPr lang="en-US" sz="1800" b="1">
              <a:solidFill>
                <a:srgbClr val="041892"/>
              </a:solidFill>
            </a:endParaRPr>
          </a:p>
        </c:rich>
      </c:tx>
      <c:layout>
        <c:manualLayout>
          <c:xMode val="edge"/>
          <c:yMode val="edge"/>
          <c:x val="0.282241179862942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45655757893043E-2"/>
          <c:y val="0.2562913550696107"/>
          <c:w val="0.9473086884842139"/>
          <c:h val="0.631588313444457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TP_VND!$A$4</c:f>
              <c:strCache>
                <c:ptCount val="1"/>
                <c:pt idx="0">
                  <c:v>Nhựa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4C21AA9-D309-40AD-8AFE-8CCC3DA4B3F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D63A-4602-BF05-14CFF38C85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245D532-F0E1-458C-9A32-C22FE726091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D63A-4602-BF05-14CFF38C85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6527988-F973-4F08-84CC-BD83CAE255E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D63A-4602-BF05-14CFF38C85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6028273-2D24-4D99-B4C8-E6FA19A8E24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D63A-4602-BF05-14CFF38C85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B841523-960B-4665-9791-A1AD097AD25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D63A-4602-BF05-14CFF38C85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D63A-4602-BF05-14CFF38C8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TP_VND!$B$3:$G$3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TP_VND!$B$4:$G$4</c:f>
              <c:numCache>
                <c:formatCode>_(* #,##0_);_(* \(#,##0\);_(* "-"??_);_(@_)</c:formatCode>
                <c:ptCount val="6"/>
                <c:pt idx="0">
                  <c:v>14622.629289221733</c:v>
                </c:pt>
                <c:pt idx="1">
                  <c:v>15154.794283157262</c:v>
                </c:pt>
                <c:pt idx="2">
                  <c:v>14818.82477578687</c:v>
                </c:pt>
                <c:pt idx="3">
                  <c:v>14445.240957909891</c:v>
                </c:pt>
                <c:pt idx="4">
                  <c:v>14071.657140032912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TP_VND!$B$18:$G$18</c15:f>
                <c15:dlblRangeCache>
                  <c:ptCount val="6"/>
                  <c:pt idx="0">
                    <c:v>14,623 | 
55.5%</c:v>
                  </c:pt>
                  <c:pt idx="1">
                    <c:v>15,155 | 
54.8%</c:v>
                  </c:pt>
                  <c:pt idx="2">
                    <c:v>14,819 | 
54.6%</c:v>
                  </c:pt>
                  <c:pt idx="3">
                    <c:v>14,445 | 
56.4%</c:v>
                  </c:pt>
                  <c:pt idx="4">
                    <c:v>14,072 | 
56.2%</c:v>
                  </c:pt>
                  <c:pt idx="5">
                    <c:v> | 
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D63A-4602-BF05-14CFF38C85C1}"/>
            </c:ext>
          </c:extLst>
        </c:ser>
        <c:ser>
          <c:idx val="1"/>
          <c:order val="1"/>
          <c:tx>
            <c:strRef>
              <c:f>TP_VND!$A$5</c:f>
              <c:strCache>
                <c:ptCount val="1"/>
                <c:pt idx="0">
                  <c:v>Chi phí hao hụt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2FDFA66-2290-4C9E-926A-15B909F89F1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D63A-4602-BF05-14CFF38C85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F7B7F3B-1EBC-4503-A633-FEA55625CF9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D63A-4602-BF05-14CFF38C85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DC37FC2-481C-4EDD-A0BF-A60C62D95C2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D63A-4602-BF05-14CFF38C85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49AF3B-7CB5-45CD-A5B6-B05FEFE6C88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D63A-4602-BF05-14CFF38C85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399C9505-6FD7-4279-A717-FA447EAF824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D63A-4602-BF05-14CFF38C85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D63A-4602-BF05-14CFF38C8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TP_VND!$B$3:$G$3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TP_VND!$B$5:$G$5</c:f>
              <c:numCache>
                <c:formatCode>_(* #,##0_);_(* \(#,##0\);_(* "-"??_);_(@_)</c:formatCode>
                <c:ptCount val="6"/>
                <c:pt idx="0">
                  <c:v>2056.0825844235087</c:v>
                </c:pt>
                <c:pt idx="1">
                  <c:v>2130.9101106110998</c:v>
                </c:pt>
                <c:pt idx="2">
                  <c:v>2083.6695604105435</c:v>
                </c:pt>
                <c:pt idx="3">
                  <c:v>2031.1400756943115</c:v>
                </c:pt>
                <c:pt idx="4">
                  <c:v>1978.6105909780795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TP_VND!$B$19:$G$19</c15:f>
                <c15:dlblRangeCache>
                  <c:ptCount val="6"/>
                  <c:pt idx="0">
                    <c:v>2,056 | 7.8%</c:v>
                  </c:pt>
                  <c:pt idx="1">
                    <c:v>2,131 | 7.7%</c:v>
                  </c:pt>
                  <c:pt idx="2">
                    <c:v>2,084 | 7.7%</c:v>
                  </c:pt>
                  <c:pt idx="3">
                    <c:v>2,031 | 7.9%</c:v>
                  </c:pt>
                  <c:pt idx="4">
                    <c:v>1,979 | 7.9%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D63A-4602-BF05-14CFF38C85C1}"/>
            </c:ext>
          </c:extLst>
        </c:ser>
        <c:ser>
          <c:idx val="2"/>
          <c:order val="2"/>
          <c:tx>
            <c:strRef>
              <c:f>TP_VND!$A$6</c:f>
              <c:strCache>
                <c:ptCount val="1"/>
                <c:pt idx="0">
                  <c:v>Chi phí sản xuất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D3FC4184-42FC-423C-84D4-2571228BB04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D63A-4602-BF05-14CFF38C85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A91715D-2AFB-4F2A-8A77-C791D83FDE2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D63A-4602-BF05-14CFF38C85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E46D2D3-E163-415B-90F1-F61BB905AD7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D63A-4602-BF05-14CFF38C85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4EEADC6-C16C-44D1-B272-C1B4713713E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D63A-4602-BF05-14CFF38C85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7F8A749B-DA9D-4206-BBD4-0463E4BED93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D63A-4602-BF05-14CFF38C85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D63A-4602-BF05-14CFF38C8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TP_VND!$B$3:$G$3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TP_VND!$B$6:$G$6</c:f>
              <c:numCache>
                <c:formatCode>_(* #,##0_);_(* \(#,##0\);_(* "-"??_);_(@_)</c:formatCode>
                <c:ptCount val="6"/>
                <c:pt idx="0">
                  <c:v>11028.242207720683</c:v>
                </c:pt>
                <c:pt idx="1">
                  <c:v>11767.269699832272</c:v>
                </c:pt>
                <c:pt idx="2">
                  <c:v>11602.456622187914</c:v>
                </c:pt>
                <c:pt idx="3">
                  <c:v>10463.253824399229</c:v>
                </c:pt>
                <c:pt idx="4">
                  <c:v>10279.988684463315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TP_VND!$B$20:$G$20</c15:f>
                <c15:dlblRangeCache>
                  <c:ptCount val="6"/>
                  <c:pt idx="0">
                    <c:v>11,028 | 41.8%</c:v>
                  </c:pt>
                  <c:pt idx="1">
                    <c:v>11,767 | 42.5%</c:v>
                  </c:pt>
                  <c:pt idx="2">
                    <c:v>11,602 | 42.7%</c:v>
                  </c:pt>
                  <c:pt idx="3">
                    <c:v>10,463 | 40.8%</c:v>
                  </c:pt>
                  <c:pt idx="4">
                    <c:v>10,280 | 41.1%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D63A-4602-BF05-14CFF38C85C1}"/>
            </c:ext>
          </c:extLst>
        </c:ser>
        <c:ser>
          <c:idx val="3"/>
          <c:order val="3"/>
          <c:tx>
            <c:strRef>
              <c:f>TP_VND!$A$7</c:f>
              <c:strCache>
                <c:ptCount val="1"/>
                <c:pt idx="0">
                  <c:v>Phó sản thu hồi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068C797-EB3E-408C-8612-AEC90D24305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D63A-4602-BF05-14CFF38C85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F288CE0-9378-487C-8962-0474717C806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D63A-4602-BF05-14CFF38C85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0CF914A-2D8A-4039-8F9B-830C66A222F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D63A-4602-BF05-14CFF38C85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5AF36D5-D40D-4F91-A859-B81FCC65DB0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D63A-4602-BF05-14CFF38C85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BF5B8F6-F83D-427F-8DD6-BFB91E62A3E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D63A-4602-BF05-14CFF38C85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D63A-4602-BF05-14CFF38C8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TP_VND!$B$3:$G$3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TP_VND!$B$7:$G$7</c:f>
              <c:numCache>
                <c:formatCode>_(* #,##0_);_(* \(#,##0\);_(* "-"??_);_(@_)</c:formatCode>
                <c:ptCount val="6"/>
                <c:pt idx="0">
                  <c:v>-1336.8406326445147</c:v>
                </c:pt>
                <c:pt idx="1">
                  <c:v>-1373.7808477504077</c:v>
                </c:pt>
                <c:pt idx="2">
                  <c:v>-1350.4595357274175</c:v>
                </c:pt>
                <c:pt idx="3">
                  <c:v>-1324.5272276092169</c:v>
                </c:pt>
                <c:pt idx="4">
                  <c:v>-1298.5949194910163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TP_VND!$B$21:$G$21</c15:f>
                <c15:dlblRangeCache>
                  <c:ptCount val="6"/>
                  <c:pt idx="0">
                    <c:v>-1,337 | -5.1%</c:v>
                  </c:pt>
                  <c:pt idx="1">
                    <c:v>-1,374 | -5.0%</c:v>
                  </c:pt>
                  <c:pt idx="2">
                    <c:v>-1,350 | -5.0%</c:v>
                  </c:pt>
                  <c:pt idx="3">
                    <c:v>-1,325 | -5.2%</c:v>
                  </c:pt>
                  <c:pt idx="4">
                    <c:v>-1,299 | -5.2%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B-D63A-4602-BF05-14CFF38C8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533962112"/>
        <c:axId val="1533954432"/>
      </c:barChart>
      <c:lineChart>
        <c:grouping val="standard"/>
        <c:varyColors val="0"/>
        <c:ser>
          <c:idx val="4"/>
          <c:order val="4"/>
          <c:tx>
            <c:strRef>
              <c:f>TP_VND!$A$8</c:f>
              <c:strCache>
                <c:ptCount val="1"/>
                <c:pt idx="0">
                  <c:v>Tổng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TP_VND!$B$8:$G$8</c:f>
              <c:numCache>
                <c:formatCode>_(* #,##0_);_(* \(#,##0\);_(* "-"??_);_(@_)</c:formatCode>
                <c:ptCount val="6"/>
                <c:pt idx="0">
                  <c:v>26370.113448721411</c:v>
                </c:pt>
                <c:pt idx="1">
                  <c:v>27679.193245850227</c:v>
                </c:pt>
                <c:pt idx="2">
                  <c:v>27154.491422657913</c:v>
                </c:pt>
                <c:pt idx="3">
                  <c:v>25615.107630394214</c:v>
                </c:pt>
                <c:pt idx="4">
                  <c:v>25031.661495983291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D63A-4602-BF05-14CFF38C8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3962112"/>
        <c:axId val="1533954432"/>
      </c:lineChart>
      <c:catAx>
        <c:axId val="153396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54432"/>
        <c:crosses val="autoZero"/>
        <c:auto val="1"/>
        <c:lblAlgn val="ctr"/>
        <c:lblOffset val="100"/>
        <c:noMultiLvlLbl val="0"/>
      </c:catAx>
      <c:valAx>
        <c:axId val="153395443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62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19234742621613396"/>
          <c:y val="0.1065513953272566"/>
          <c:w val="0.60811978013729906"/>
          <c:h val="8.18419381410071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B05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2"/>
                </a:solidFill>
              </a:rPr>
              <a:t>ĐƠN</a:t>
            </a:r>
            <a:r>
              <a:rPr lang="en-US" sz="1800" b="1" baseline="0">
                <a:solidFill>
                  <a:schemeClr val="accent2"/>
                </a:solidFill>
              </a:rPr>
              <a:t> GIÁ HẠT </a:t>
            </a:r>
            <a:r>
              <a:rPr lang="en-US" sz="1800" b="1" baseline="0">
                <a:solidFill>
                  <a:srgbClr val="041892"/>
                </a:solidFill>
              </a:rPr>
              <a:t>(USD)</a:t>
            </a:r>
            <a:endParaRPr lang="en-US" sz="1800" b="1">
              <a:solidFill>
                <a:srgbClr val="041892"/>
              </a:solidFill>
            </a:endParaRPr>
          </a:p>
        </c:rich>
      </c:tx>
      <c:layout>
        <c:manualLayout>
          <c:xMode val="edge"/>
          <c:yMode val="edge"/>
          <c:x val="0.282241179862942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45655757893043E-2"/>
          <c:y val="0.2562913550696107"/>
          <c:w val="0.9473086884842139"/>
          <c:h val="0.631588313444457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TP_USD!$A$4</c:f>
              <c:strCache>
                <c:ptCount val="1"/>
                <c:pt idx="0">
                  <c:v>Nhựa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32691BF-8DD9-45CD-9C62-A9BCBB7E6DB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81B8-401F-8FF8-34F78E961F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8565889-68F7-4801-9DFF-BFB3A9B1F8E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81B8-401F-8FF8-34F78E961F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DC4282E-7C15-4407-A8A0-B468BD23E9D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81B8-401F-8FF8-34F78E961F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66965AB-979D-49F7-869B-724BF2A03B2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1B8-401F-8FF8-34F78E961F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8DCD2F2-40F7-4D0B-A48A-3C7AB61F551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81B8-401F-8FF8-34F78E961FD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1B8-401F-8FF8-34F78E961F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TP_USD!$B$3:$G$3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TP_USD!$B$4:$G$4</c:f>
              <c:numCache>
                <c:formatCode>_(* #,##0_);_(* \(#,##0\);_(* "-"??_);_(@_)</c:formatCode>
                <c:ptCount val="6"/>
                <c:pt idx="0">
                  <c:v>551.79733166874462</c:v>
                </c:pt>
                <c:pt idx="1">
                  <c:v>571.87902955310426</c:v>
                </c:pt>
                <c:pt idx="2">
                  <c:v>559.20093493535364</c:v>
                </c:pt>
                <c:pt idx="3">
                  <c:v>545.10343237395819</c:v>
                </c:pt>
                <c:pt idx="4">
                  <c:v>531.00592981256273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TP_USD!$B$18:$G$18</c15:f>
                <c15:dlblRangeCache>
                  <c:ptCount val="6"/>
                  <c:pt idx="0">
                    <c:v>552 | 
55.5%</c:v>
                  </c:pt>
                  <c:pt idx="1">
                    <c:v>572 | 
54.8%</c:v>
                  </c:pt>
                  <c:pt idx="2">
                    <c:v>559 | 
54.6%</c:v>
                  </c:pt>
                  <c:pt idx="3">
                    <c:v>545 | 
56.4%</c:v>
                  </c:pt>
                  <c:pt idx="4">
                    <c:v>531 | 
56.2%</c:v>
                  </c:pt>
                  <c:pt idx="5">
                    <c:v> | 
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81B8-401F-8FF8-34F78E961FDD}"/>
            </c:ext>
          </c:extLst>
        </c:ser>
        <c:ser>
          <c:idx val="1"/>
          <c:order val="1"/>
          <c:tx>
            <c:strRef>
              <c:f>TP_USD!$A$5</c:f>
              <c:strCache>
                <c:ptCount val="1"/>
                <c:pt idx="0">
                  <c:v>Chi phí hao hụt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8F95528-C3E5-4513-899D-0AC4FB3CC00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81B8-401F-8FF8-34F78E961F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1C191F4-85F5-4E73-82EA-95A2C017BD2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81B8-401F-8FF8-34F78E961F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903244C-81A9-46D1-B8DD-0B87FD6C5E9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81B8-401F-8FF8-34F78E961F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8E9D25A-996B-4337-A0D1-04B8FBF1224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81B8-401F-8FF8-34F78E961F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F6F733F8-8689-45A1-913F-61984C29DD1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81B8-401F-8FF8-34F78E961FD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81B8-401F-8FF8-34F78E961F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TP_USD!$B$3:$G$3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TP_USD!$B$5:$G$5</c:f>
              <c:numCache>
                <c:formatCode>_(* #,##0_);_(* \(#,##0\);_(* "-"??_);_(@_)</c:formatCode>
                <c:ptCount val="6"/>
                <c:pt idx="0">
                  <c:v>77.588022053717296</c:v>
                </c:pt>
                <c:pt idx="1">
                  <c:v>80.411702287211313</c:v>
                </c:pt>
                <c:pt idx="2">
                  <c:v>78.629040015492208</c:v>
                </c:pt>
                <c:pt idx="3">
                  <c:v>76.6467953092193</c:v>
                </c:pt>
                <c:pt idx="4">
                  <c:v>74.664550602946392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TP_USD!$B$19:$G$19</c15:f>
                <c15:dlblRangeCache>
                  <c:ptCount val="6"/>
                  <c:pt idx="0">
                    <c:v>78 | 7.8%</c:v>
                  </c:pt>
                  <c:pt idx="1">
                    <c:v>80 | 7.7%</c:v>
                  </c:pt>
                  <c:pt idx="2">
                    <c:v>79 | 7.7%</c:v>
                  </c:pt>
                  <c:pt idx="3">
                    <c:v>77 | 7.9%</c:v>
                  </c:pt>
                  <c:pt idx="4">
                    <c:v>75 | 7.9%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81B8-401F-8FF8-34F78E961FDD}"/>
            </c:ext>
          </c:extLst>
        </c:ser>
        <c:ser>
          <c:idx val="2"/>
          <c:order val="2"/>
          <c:tx>
            <c:strRef>
              <c:f>TP_USD!$A$6</c:f>
              <c:strCache>
                <c:ptCount val="1"/>
                <c:pt idx="0">
                  <c:v>Chi phí sản xuất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4988451-11E8-423A-8B37-F7FDB7FBC42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81B8-401F-8FF8-34F78E961F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F475B89-5A32-4F89-9DF3-D6C955BC502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81B8-401F-8FF8-34F78E961F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B5D73D3-0932-4E30-A769-5070B86E6B0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81B8-401F-8FF8-34F78E961F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4959B24-7C2F-409D-9248-323FE706F21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81B8-401F-8FF8-34F78E961F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BDEB33DF-756C-4BC7-82C4-DF282C8BB5A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81B8-401F-8FF8-34F78E961FD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81B8-401F-8FF8-34F78E961F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TP_USD!$B$3:$G$3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TP_USD!$B$6:$G$6</c:f>
              <c:numCache>
                <c:formatCode>_(* #,##0_);_(* \(#,##0\);_(* "-"??_);_(@_)</c:formatCode>
                <c:ptCount val="6"/>
                <c:pt idx="0">
                  <c:v>416.16008331021442</c:v>
                </c:pt>
                <c:pt idx="1">
                  <c:v>444.0479132012178</c:v>
                </c:pt>
                <c:pt idx="2">
                  <c:v>437.82855178067598</c:v>
                </c:pt>
                <c:pt idx="3">
                  <c:v>394.8397669584615</c:v>
                </c:pt>
                <c:pt idx="4">
                  <c:v>387.92410130050246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TP_USD!$B$20:$G$20</c15:f>
                <c15:dlblRangeCache>
                  <c:ptCount val="6"/>
                  <c:pt idx="0">
                    <c:v>416 | 41.8%</c:v>
                  </c:pt>
                  <c:pt idx="1">
                    <c:v>444 | 42.5%</c:v>
                  </c:pt>
                  <c:pt idx="2">
                    <c:v>438 | 42.7%</c:v>
                  </c:pt>
                  <c:pt idx="3">
                    <c:v>395 | 40.8%</c:v>
                  </c:pt>
                  <c:pt idx="4">
                    <c:v>388 | 41.1%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81B8-401F-8FF8-34F78E961FDD}"/>
            </c:ext>
          </c:extLst>
        </c:ser>
        <c:ser>
          <c:idx val="3"/>
          <c:order val="3"/>
          <c:tx>
            <c:strRef>
              <c:f>TP_USD!$A$7</c:f>
              <c:strCache>
                <c:ptCount val="1"/>
                <c:pt idx="0">
                  <c:v>Phó sản thu hồi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2C8A996-F6B3-4400-B4F9-F3B2977AD97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81B8-401F-8FF8-34F78E961F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235FAD8-DED2-44E6-9BD3-1585D13D838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81B8-401F-8FF8-34F78E961F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9256981-CBE7-40EB-9C42-EDA223CFD18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81B8-401F-8FF8-34F78E961F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4027889-63C4-4462-B5BF-EC041142CEE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81B8-401F-8FF8-34F78E961F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8F7232E-330D-45AE-92BB-AE22E968B8A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81B8-401F-8FF8-34F78E961FD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81B8-401F-8FF8-34F78E961F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TP_USD!$B$3:$G$3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TP_USD!$B$7:$G$7</c:f>
              <c:numCache>
                <c:formatCode>_(* #,##0_);_(* \(#,##0\);_(* "-"??_);_(@_)</c:formatCode>
                <c:ptCount val="6"/>
                <c:pt idx="0">
                  <c:v>-50.446816326208101</c:v>
                </c:pt>
                <c:pt idx="1">
                  <c:v>-51.840786707562557</c:v>
                </c:pt>
                <c:pt idx="2">
                  <c:v>-50.960737197261039</c:v>
                </c:pt>
                <c:pt idx="3">
                  <c:v>-49.982159532423282</c:v>
                </c:pt>
                <c:pt idx="4">
                  <c:v>-49.003581867585524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TP_USD!$B$21:$G$21</c15:f>
                <c15:dlblRangeCache>
                  <c:ptCount val="6"/>
                  <c:pt idx="0">
                    <c:v>-50 | -5.1%</c:v>
                  </c:pt>
                  <c:pt idx="1">
                    <c:v>-52 | -5.0%</c:v>
                  </c:pt>
                  <c:pt idx="2">
                    <c:v>-51 | -5.0%</c:v>
                  </c:pt>
                  <c:pt idx="3">
                    <c:v>-50 | -5.2%</c:v>
                  </c:pt>
                  <c:pt idx="4">
                    <c:v>-49 | -5.2%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B-81B8-401F-8FF8-34F78E961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533962112"/>
        <c:axId val="1533954432"/>
      </c:barChart>
      <c:lineChart>
        <c:grouping val="standard"/>
        <c:varyColors val="0"/>
        <c:ser>
          <c:idx val="4"/>
          <c:order val="4"/>
          <c:tx>
            <c:strRef>
              <c:f>TP_USD!$A$8</c:f>
              <c:strCache>
                <c:ptCount val="1"/>
                <c:pt idx="0">
                  <c:v>Tổng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TP_USD!$B$8:$G$8</c:f>
              <c:numCache>
                <c:formatCode>_(* #,##0_);_(* \(#,##0\);_(* "-"??_);_(@_)</c:formatCode>
                <c:ptCount val="6"/>
                <c:pt idx="0">
                  <c:v>995.09862070646818</c:v>
                </c:pt>
                <c:pt idx="1">
                  <c:v>1044.497858333971</c:v>
                </c:pt>
                <c:pt idx="2">
                  <c:v>1024.6977895342607</c:v>
                </c:pt>
                <c:pt idx="3">
                  <c:v>966.60783510921578</c:v>
                </c:pt>
                <c:pt idx="4">
                  <c:v>944.59099984842601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81B8-401F-8FF8-34F78E961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3962112"/>
        <c:axId val="1533954432"/>
      </c:lineChart>
      <c:catAx>
        <c:axId val="153396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54432"/>
        <c:crosses val="autoZero"/>
        <c:auto val="1"/>
        <c:lblAlgn val="ctr"/>
        <c:lblOffset val="100"/>
        <c:noMultiLvlLbl val="0"/>
      </c:catAx>
      <c:valAx>
        <c:axId val="153395443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62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19234742621613396"/>
          <c:y val="0.1065513953272566"/>
          <c:w val="0.60811978013729906"/>
          <c:h val="8.18419381410071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B05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0.00137</cdr:x>
      <cdr:y>0.1601</cdr:y>
    </cdr:from>
    <cdr:to>
      <cdr:x>0.19459</cdr:x>
      <cdr:y>0.23783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3EE1A7D-5EEB-2D3E-F018-9B6731A271CB}"/>
            </a:ext>
          </a:extLst>
        </cdr:cNvPr>
        <cdr:cNvSpPr txBox="1"/>
      </cdr:nvSpPr>
      <cdr:spPr>
        <a:xfrm xmlns:a="http://schemas.openxmlformats.org/drawingml/2006/main">
          <a:off x="7258" y="419255"/>
          <a:ext cx="1024585" cy="2035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700" i="1" kern="1200">
              <a:solidFill>
                <a:schemeClr val="bg2"/>
              </a:solidFill>
            </a:rPr>
            <a:t>Đvt:</a:t>
          </a:r>
          <a:r>
            <a:rPr lang="en-US" sz="700" i="1" kern="1200" baseline="0">
              <a:solidFill>
                <a:schemeClr val="bg2"/>
              </a:solidFill>
            </a:rPr>
            <a:t> đồng/kg | %Cơ cấu</a:t>
          </a:r>
          <a:endParaRPr lang="en-US" sz="700" i="1" kern="1200">
            <a:solidFill>
              <a:schemeClr val="bg2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0.00137</cdr:x>
      <cdr:y>0.1601</cdr:y>
    </cdr:from>
    <cdr:to>
      <cdr:x>0.19459</cdr:x>
      <cdr:y>0.23783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3EE1A7D-5EEB-2D3E-F018-9B6731A271CB}"/>
            </a:ext>
          </a:extLst>
        </cdr:cNvPr>
        <cdr:cNvSpPr txBox="1"/>
      </cdr:nvSpPr>
      <cdr:spPr>
        <a:xfrm xmlns:a="http://schemas.openxmlformats.org/drawingml/2006/main">
          <a:off x="7258" y="419255"/>
          <a:ext cx="1024585" cy="2035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700" i="1" kern="1200">
              <a:solidFill>
                <a:schemeClr val="bg2"/>
              </a:solidFill>
            </a:rPr>
            <a:t>Đvt:</a:t>
          </a:r>
          <a:r>
            <a:rPr lang="en-US" sz="700" i="1" kern="1200" baseline="0">
              <a:solidFill>
                <a:schemeClr val="bg2"/>
              </a:solidFill>
            </a:rPr>
            <a:t> đồng/kg | %Cơ cấu</a:t>
          </a:r>
          <a:endParaRPr lang="en-US" sz="700" i="1" kern="1200">
            <a:solidFill>
              <a:schemeClr val="bg2"/>
            </a:solidFill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0.00137</cdr:x>
      <cdr:y>0.1601</cdr:y>
    </cdr:from>
    <cdr:to>
      <cdr:x>0.19459</cdr:x>
      <cdr:y>0.23783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3EE1A7D-5EEB-2D3E-F018-9B6731A271CB}"/>
            </a:ext>
          </a:extLst>
        </cdr:cNvPr>
        <cdr:cNvSpPr txBox="1"/>
      </cdr:nvSpPr>
      <cdr:spPr>
        <a:xfrm xmlns:a="http://schemas.openxmlformats.org/drawingml/2006/main">
          <a:off x="7258" y="419255"/>
          <a:ext cx="1024585" cy="2035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700" i="1" kern="1200">
              <a:solidFill>
                <a:schemeClr val="bg2"/>
              </a:solidFill>
            </a:rPr>
            <a:t>Đvt:</a:t>
          </a:r>
          <a:r>
            <a:rPr lang="en-US" sz="700" i="1" kern="1200" baseline="0">
              <a:solidFill>
                <a:schemeClr val="bg2"/>
              </a:solidFill>
            </a:rPr>
            <a:t> đồng/kg | %Cơ cấu</a:t>
          </a:r>
          <a:endParaRPr lang="en-US" sz="700" i="1" kern="1200">
            <a:solidFill>
              <a:schemeClr val="bg2"/>
            </a:solidFill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0.00137</cdr:x>
      <cdr:y>0.1601</cdr:y>
    </cdr:from>
    <cdr:to>
      <cdr:x>0.19459</cdr:x>
      <cdr:y>0.23783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3EE1A7D-5EEB-2D3E-F018-9B6731A271CB}"/>
            </a:ext>
          </a:extLst>
        </cdr:cNvPr>
        <cdr:cNvSpPr txBox="1"/>
      </cdr:nvSpPr>
      <cdr:spPr>
        <a:xfrm xmlns:a="http://schemas.openxmlformats.org/drawingml/2006/main">
          <a:off x="7258" y="419255"/>
          <a:ext cx="1024585" cy="2035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700" i="1" kern="1200">
              <a:solidFill>
                <a:schemeClr val="bg2"/>
              </a:solidFill>
            </a:rPr>
            <a:t>Đvt:</a:t>
          </a:r>
          <a:r>
            <a:rPr lang="en-US" sz="700" i="1" kern="1200" baseline="0">
              <a:solidFill>
                <a:schemeClr val="bg2"/>
              </a:solidFill>
            </a:rPr>
            <a:t> đồng/kg | %Cơ cấu</a:t>
          </a:r>
          <a:endParaRPr lang="en-US" sz="700" i="1" kern="1200">
            <a:solidFill>
              <a:schemeClr val="bg2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96645" rIns="96645" bIns="9664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5764128aa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712788"/>
            <a:ext cx="6342063" cy="3567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5764128aa_2_33:notes"/>
          <p:cNvSpPr txBox="1">
            <a:spLocks noGrp="1"/>
          </p:cNvSpPr>
          <p:nvPr>
            <p:ph type="body" idx="1"/>
          </p:nvPr>
        </p:nvSpPr>
        <p:spPr>
          <a:xfrm>
            <a:off x="721911" y="4518657"/>
            <a:ext cx="5775282" cy="4280833"/>
          </a:xfrm>
          <a:prstGeom prst="rect">
            <a:avLst/>
          </a:prstGeom>
        </p:spPr>
        <p:txBody>
          <a:bodyPr spcFirstLastPara="1" wrap="square" lIns="95602" tIns="95602" rIns="95602" bIns="9560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24546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ides 2" userDrawn="1">
  <p:cSld name="Two Sides 2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4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7;p10">
            <a:extLst>
              <a:ext uri="{FF2B5EF4-FFF2-40B4-BE49-F238E27FC236}">
                <a16:creationId xmlns:a16="http://schemas.microsoft.com/office/drawing/2014/main" id="{6DB2F55B-87A0-4916-ABC0-83FF8C89DDCD}"/>
              </a:ext>
            </a:extLst>
          </p:cNvPr>
          <p:cNvSpPr/>
          <p:nvPr userDrawn="1"/>
        </p:nvSpPr>
        <p:spPr bwMode="ltGray">
          <a:xfrm rot="5400000">
            <a:off x="4879976" y="879477"/>
            <a:ext cx="158747" cy="8369300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C2BD413E-6D8B-D863-FB26-12E78FF115C8}"/>
              </a:ext>
            </a:extLst>
          </p:cNvPr>
          <p:cNvSpPr txBox="1">
            <a:spLocks/>
          </p:cNvSpPr>
          <p:nvPr userDrawn="1"/>
        </p:nvSpPr>
        <p:spPr>
          <a:xfrm>
            <a:off x="8615580" y="485404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r>
              <a:rPr lang="en" dirty="0"/>
              <a:t>/</a:t>
            </a:r>
            <a:r>
              <a:rPr lang="en-US" dirty="0"/>
              <a:t>8</a:t>
            </a:r>
            <a:endParaRPr lang="en" dirty="0"/>
          </a:p>
        </p:txBody>
      </p:sp>
      <p:pic>
        <p:nvPicPr>
          <p:cNvPr id="8" name="Picture 7" descr="A green and grey recycle sign&#10;&#10;Description automatically generated">
            <a:extLst>
              <a:ext uri="{FF2B5EF4-FFF2-40B4-BE49-F238E27FC236}">
                <a16:creationId xmlns:a16="http://schemas.microsoft.com/office/drawing/2014/main" id="{65F13E22-2991-BE3C-0896-5717273411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631" y="72531"/>
            <a:ext cx="1085317" cy="237744"/>
          </a:xfrm>
          <a:prstGeom prst="rect">
            <a:avLst/>
          </a:prstGeom>
        </p:spPr>
      </p:pic>
      <p:pic>
        <p:nvPicPr>
          <p:cNvPr id="13" name="Picture 12" descr="A green and grey recycle sign&#10;&#10;Description automatically generated">
            <a:extLst>
              <a:ext uri="{FF2B5EF4-FFF2-40B4-BE49-F238E27FC236}">
                <a16:creationId xmlns:a16="http://schemas.microsoft.com/office/drawing/2014/main" id="{D4C71697-C97A-D229-56B0-E6A27BC442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6" y="4976803"/>
            <a:ext cx="731520" cy="1602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FD2296-3E8A-8D70-7AB9-42A476EB628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7124" y="4976872"/>
            <a:ext cx="1922262" cy="17841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8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B8CD4-CB30-4B5E-A979-4A57EEAB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0" y="477930"/>
            <a:ext cx="9144000" cy="4489583"/>
            <a:chOff x="0" y="477930"/>
            <a:chExt cx="9144000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1" y="776455"/>
              <a:ext cx="91439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BÁO CÁO</a:t>
              </a:r>
            </a:p>
            <a:p>
              <a:pPr algn="ctr"/>
              <a:r>
                <a:rPr lang="en-US" sz="3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LUỒNG GIÁ THÀNH</a:t>
              </a:r>
            </a:p>
            <a:p>
              <a:pPr algn="ctr"/>
              <a:r>
                <a:rPr lang="en-US" sz="28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T6 - 2026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EE4F02-0B85-494A-F767-BC02E07A8941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1B1B4-0A12-E443-9E62-37C045EFDA43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18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Ngày: 05</a:t>
              </a:r>
              <a:r>
                <a:rPr lang="vi-VN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6/202</a:t>
              </a:r>
              <a:r>
                <a:rPr lang="vi-VN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2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2A4DBE8-D36C-38C5-F8D7-756A191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" y="112065"/>
            <a:ext cx="116880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04E4-A51C-B376-C245-D65DE0DB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95DA54-CF60-2CCD-03C3-E8392DEF3859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Các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dung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sz="2600" b="1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B7B9C48-DE1C-937F-79DC-D54B2BF6BD6C}"/>
              </a:ext>
            </a:extLst>
          </p:cNvPr>
          <p:cNvGrpSpPr/>
          <p:nvPr/>
        </p:nvGrpSpPr>
        <p:grpSpPr>
          <a:xfrm>
            <a:off x="802224" y="1887503"/>
            <a:ext cx="7186371" cy="876522"/>
            <a:chOff x="1915376" y="339166"/>
            <a:chExt cx="6708789" cy="87652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630567-5321-CDB7-8B75-C5F8465FC118}"/>
                </a:ext>
              </a:extLst>
            </p:cNvPr>
            <p:cNvSpPr txBox="1"/>
            <p:nvPr/>
          </p:nvSpPr>
          <p:spPr>
            <a:xfrm>
              <a:off x="2589575" y="339166"/>
              <a:ext cx="6034590" cy="8765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II. THÔNG TIN BÁO CÁO RA QUYẾT ĐỊNH:</a:t>
              </a:r>
            </a:p>
            <a:p>
              <a:pPr>
                <a:lnSpc>
                  <a:spcPct val="150000"/>
                </a:lnSpc>
              </a:pPr>
              <a:endParaRPr lang="en-US" sz="1800" b="1" dirty="0">
                <a:solidFill>
                  <a:srgbClr val="0000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A897C2E-8A20-DC93-0C29-AE4F5D6C1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2339CA9-107F-2D0C-F4F3-26FB8000E855}"/>
              </a:ext>
            </a:extLst>
          </p:cNvPr>
          <p:cNvGrpSpPr/>
          <p:nvPr/>
        </p:nvGrpSpPr>
        <p:grpSpPr>
          <a:xfrm>
            <a:off x="805176" y="488977"/>
            <a:ext cx="7183419" cy="758576"/>
            <a:chOff x="1915376" y="3334897"/>
            <a:chExt cx="6898492" cy="145297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9E19C0-147A-63F4-ED35-797994DDD091}"/>
                </a:ext>
              </a:extLst>
            </p:cNvPr>
            <p:cNvSpPr txBox="1"/>
            <p:nvPr/>
          </p:nvSpPr>
          <p:spPr>
            <a:xfrm>
              <a:off x="2606090" y="3334897"/>
              <a:ext cx="6207778" cy="14529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50000"/>
                </a:lnSpc>
                <a:defRPr sz="2800" b="1">
                  <a:solidFill>
                    <a:schemeClr val="tx2">
                      <a:lumMod val="50000"/>
                    </a:schemeClr>
                  </a:solidFill>
                </a:defRPr>
              </a:lvl1pPr>
            </a:lstStyle>
            <a:p>
              <a:r>
                <a:rPr lang="en-US" sz="1800" b="0" dirty="0">
                  <a:solidFill>
                    <a:srgbClr val="0000FF"/>
                  </a:solidFill>
                  <a:latin typeface="Anton" pitchFamily="34" charset="0"/>
                  <a:cs typeface="Arial" panose="020B0604020202020204" pitchFamily="34" charset="0"/>
                </a:rPr>
                <a:t>I. THÔNG TIN TÌNH HÌNH GIÁ BÁN WF</a:t>
              </a:r>
            </a:p>
            <a:p>
              <a:endParaRPr lang="en-US" sz="1800" dirty="0">
                <a:solidFill>
                  <a:srgbClr val="0000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8FC9418-0991-F79E-B75E-CADFF70A3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5376" y="3627416"/>
              <a:ext cx="341453" cy="34145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A519CC1-6B2C-2FB8-FB00-A8BD97980575}"/>
              </a:ext>
            </a:extLst>
          </p:cNvPr>
          <p:cNvSpPr txBox="1"/>
          <p:nvPr/>
        </p:nvSpPr>
        <p:spPr>
          <a:xfrm>
            <a:off x="1789044" y="2319295"/>
            <a:ext cx="5704856" cy="102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</a:t>
            </a:r>
            <a:r>
              <a:rPr lang="vi-VN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Dự báo giá bán thị trường theo s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ản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vi-VN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p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hẩm</a:t>
            </a:r>
            <a:r>
              <a:rPr lang="vi-VN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theo giá mua b0</a:t>
            </a:r>
            <a:endParaRPr lang="en-US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Dự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báo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p&amp;l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luồng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endParaRPr lang="en-US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3.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Dự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room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giảm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thể</a:t>
            </a:r>
            <a:endParaRPr lang="en-US" dirty="0">
              <a:solidFill>
                <a:srgbClr val="0070C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577200-FD74-805F-6403-63F4DE762AEE}"/>
              </a:ext>
            </a:extLst>
          </p:cNvPr>
          <p:cNvSpPr txBox="1"/>
          <p:nvPr/>
        </p:nvSpPr>
        <p:spPr>
          <a:xfrm>
            <a:off x="1789044" y="859401"/>
            <a:ext cx="6464178" cy="102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Chart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bán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-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vốn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lãi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gộp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%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lãi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gộp</a:t>
            </a:r>
            <a:endParaRPr lang="en-US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Những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rPET</a:t>
            </a:r>
            <a:endParaRPr lang="en-US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3. So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sánh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năm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2024-2025-2026-WFTT-WFKTQT</a:t>
            </a:r>
            <a:endParaRPr lang="en-US" sz="1600" dirty="0">
              <a:solidFill>
                <a:srgbClr val="0070C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119EEFF-B340-7563-92A1-E4C2B252E6D2}"/>
              </a:ext>
            </a:extLst>
          </p:cNvPr>
          <p:cNvGrpSpPr/>
          <p:nvPr/>
        </p:nvGrpSpPr>
        <p:grpSpPr>
          <a:xfrm>
            <a:off x="802224" y="3320729"/>
            <a:ext cx="7186371" cy="876522"/>
            <a:chOff x="1915376" y="364649"/>
            <a:chExt cx="6708789" cy="8765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73F4D13-1E30-678E-E377-E0F3033BA6E1}"/>
                </a:ext>
              </a:extLst>
            </p:cNvPr>
            <p:cNvSpPr txBox="1"/>
            <p:nvPr/>
          </p:nvSpPr>
          <p:spPr>
            <a:xfrm>
              <a:off x="2589575" y="364649"/>
              <a:ext cx="6034590" cy="8765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vi-VN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III. THÔNG TIN </a:t>
              </a:r>
              <a:r>
                <a:rPr lang="vi-VN" sz="1800" dirty="0">
                  <a:solidFill>
                    <a:srgbClr val="FF0000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CƠ CẤU CHI PHÍ GIÁ THÀNH, GIÁ BÁN</a:t>
              </a:r>
            </a:p>
            <a:p>
              <a:pPr>
                <a:lnSpc>
                  <a:spcPct val="150000"/>
                </a:lnSpc>
              </a:pPr>
              <a:endParaRPr lang="en-US" sz="1800" b="1" dirty="0">
                <a:solidFill>
                  <a:srgbClr val="0000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79FF2D2-E90E-8DEF-FCBC-804043E7F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2F04B1-1110-2EEB-69E8-DA12429100EE}"/>
              </a:ext>
            </a:extLst>
          </p:cNvPr>
          <p:cNvGrpSpPr/>
          <p:nvPr/>
        </p:nvGrpSpPr>
        <p:grpSpPr>
          <a:xfrm>
            <a:off x="802224" y="3904101"/>
            <a:ext cx="7186371" cy="465109"/>
            <a:chOff x="1915376" y="364649"/>
            <a:chExt cx="6708789" cy="46510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5746D6-6C16-D1BE-36F2-F861ED5097E1}"/>
                </a:ext>
              </a:extLst>
            </p:cNvPr>
            <p:cNvSpPr txBox="1"/>
            <p:nvPr/>
          </p:nvSpPr>
          <p:spPr>
            <a:xfrm>
              <a:off x="2589575" y="364649"/>
              <a:ext cx="6034590" cy="463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vi-VN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III.</a:t>
              </a:r>
              <a:r>
                <a:rPr lang="en-US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1</a:t>
              </a:r>
              <a:r>
                <a:rPr lang="vi-VN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 THÔNG TIN </a:t>
              </a:r>
              <a:r>
                <a:rPr lang="vi-VN" sz="1800" dirty="0">
                  <a:solidFill>
                    <a:srgbClr val="FF0000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CƠ CẤU CHI PHÍ GIÁ THÀNH</a:t>
              </a:r>
              <a:endParaRPr lang="en-US" sz="1800" b="1" dirty="0">
                <a:solidFill>
                  <a:srgbClr val="FF0000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B5FFAAD-3311-D078-CB46-89319AEBC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751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05BE-EC3A-3267-6F64-0F2BCDD2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49A507-E788-2541-5793-AC10A16E264C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Các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dung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sz="2600" b="1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071581-EDE2-80AA-F007-6F6F986B8C59}"/>
              </a:ext>
            </a:extLst>
          </p:cNvPr>
          <p:cNvGrpSpPr/>
          <p:nvPr/>
        </p:nvGrpSpPr>
        <p:grpSpPr>
          <a:xfrm>
            <a:off x="714470" y="1525259"/>
            <a:ext cx="7316290" cy="465109"/>
            <a:chOff x="1915376" y="364649"/>
            <a:chExt cx="6830074" cy="4651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B67923-33D4-C45A-BBEF-2DA902C85991}"/>
                </a:ext>
              </a:extLst>
            </p:cNvPr>
            <p:cNvSpPr txBox="1"/>
            <p:nvPr/>
          </p:nvSpPr>
          <p:spPr>
            <a:xfrm>
              <a:off x="2589575" y="364649"/>
              <a:ext cx="61558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 V. CHI TIẾT THÔNG TIN TÍNH TOÁN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024B47F-DD28-439F-C421-DD0C73E5B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8C07FB-6ED8-E994-53AE-507DCB730E5A}"/>
              </a:ext>
            </a:extLst>
          </p:cNvPr>
          <p:cNvGrpSpPr/>
          <p:nvPr/>
        </p:nvGrpSpPr>
        <p:grpSpPr>
          <a:xfrm>
            <a:off x="805176" y="488977"/>
            <a:ext cx="7433470" cy="505844"/>
            <a:chOff x="1915376" y="3334897"/>
            <a:chExt cx="6898492" cy="101146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A50883-7107-0D36-5048-50915D8D389C}"/>
                </a:ext>
              </a:extLst>
            </p:cNvPr>
            <p:cNvSpPr txBox="1"/>
            <p:nvPr/>
          </p:nvSpPr>
          <p:spPr>
            <a:xfrm>
              <a:off x="2606090" y="3334897"/>
              <a:ext cx="6207778" cy="101146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50000"/>
                </a:lnSpc>
                <a:defRPr sz="2800" b="1">
                  <a:solidFill>
                    <a:schemeClr val="tx2">
                      <a:lumMod val="50000"/>
                    </a:schemeClr>
                  </a:solidFill>
                </a:defRPr>
              </a:lvl1pPr>
            </a:lstStyle>
            <a:p>
              <a:r>
                <a:rPr lang="en-US" sz="20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IV. TỒNG QUAN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B2ADDF9-ED94-83B1-1FE5-311543259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5376" y="3627416"/>
              <a:ext cx="341453" cy="3414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688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6DEDC-CF9C-1D4D-D7B9-2790036A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BE5639-6E40-AEB9-BFB3-725DA46C68B7}"/>
              </a:ext>
            </a:extLst>
          </p:cNvPr>
          <p:cNvSpPr/>
          <p:nvPr/>
        </p:nvSpPr>
        <p:spPr>
          <a:xfrm>
            <a:off x="541867" y="2819400"/>
            <a:ext cx="83058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Một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số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từ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viết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tắt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:</a:t>
            </a:r>
          </a:p>
          <a:p>
            <a:pPr algn="ctr">
              <a:lnSpc>
                <a:spcPts val="4510"/>
              </a:lnSpc>
            </a:pPr>
            <a:r>
              <a:rPr lang="en-US" sz="28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US" sz="2800" dirty="0">
                <a:solidFill>
                  <a:srgbClr val="FF0000"/>
                </a:solidFill>
              </a:rPr>
              <a:t>WF_TT</a:t>
            </a:r>
            <a:r>
              <a:rPr lang="en-US" sz="2800" dirty="0">
                <a:solidFill>
                  <a:srgbClr val="0000FF"/>
                </a:solidFill>
              </a:rPr>
              <a:t>: </a:t>
            </a:r>
            <a:r>
              <a:rPr lang="en-US" sz="2800" dirty="0" err="1">
                <a:solidFill>
                  <a:srgbClr val="0000FF"/>
                </a:solidFill>
              </a:rPr>
              <a:t>Giá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theo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thị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trường</a:t>
            </a:r>
            <a:r>
              <a:rPr lang="en-US" sz="2800" dirty="0">
                <a:solidFill>
                  <a:srgbClr val="0000FF"/>
                </a:solidFill>
              </a:rPr>
              <a:t> (</a:t>
            </a:r>
            <a:r>
              <a:rPr lang="en-US" sz="2800" dirty="0" err="1">
                <a:solidFill>
                  <a:srgbClr val="0000FF"/>
                </a:solidFill>
              </a:rPr>
              <a:t>Ước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tính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giá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từ</a:t>
            </a:r>
            <a:r>
              <a:rPr lang="en-US" sz="2800" dirty="0">
                <a:solidFill>
                  <a:srgbClr val="0000FF"/>
                </a:solidFill>
              </a:rPr>
              <a:t> WF)</a:t>
            </a:r>
          </a:p>
          <a:p>
            <a:pPr>
              <a:lnSpc>
                <a:spcPts val="4510"/>
              </a:lnSpc>
            </a:pPr>
            <a:r>
              <a:rPr lang="en-US" sz="2800" dirty="0">
                <a:solidFill>
                  <a:srgbClr val="0000FF"/>
                </a:solidFill>
              </a:rPr>
              <a:t> 2.</a:t>
            </a:r>
            <a:r>
              <a:rPr lang="en-US" sz="2800" dirty="0">
                <a:solidFill>
                  <a:srgbClr val="FF0000"/>
                </a:solidFill>
              </a:rPr>
              <a:t> WF_KTQT</a:t>
            </a:r>
            <a:r>
              <a:rPr lang="en-US" sz="2800" dirty="0">
                <a:solidFill>
                  <a:srgbClr val="0000FF"/>
                </a:solidFill>
              </a:rPr>
              <a:t>: </a:t>
            </a:r>
            <a:r>
              <a:rPr lang="en-US" sz="2800" dirty="0" err="1">
                <a:solidFill>
                  <a:srgbClr val="0000FF"/>
                </a:solidFill>
              </a:rPr>
              <a:t>Lấy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theo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giá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của</a:t>
            </a:r>
            <a:r>
              <a:rPr lang="en-US" sz="2800" dirty="0">
                <a:solidFill>
                  <a:srgbClr val="0000FF"/>
                </a:solidFill>
              </a:rPr>
              <a:t> KTQT </a:t>
            </a:r>
          </a:p>
          <a:p>
            <a:pPr marL="742950" indent="-742950" algn="ctr">
              <a:lnSpc>
                <a:spcPts val="4510"/>
              </a:lnSpc>
              <a:buAutoNum type="arabicPeriod"/>
            </a:pPr>
            <a:endParaRPr lang="en-US" sz="3616" dirty="0">
              <a:solidFill>
                <a:srgbClr val="0000FF"/>
              </a:solidFill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7ADA073-DD38-D573-3B69-485D1D8D3638}"/>
              </a:ext>
            </a:extLst>
          </p:cNvPr>
          <p:cNvSpPr/>
          <p:nvPr/>
        </p:nvSpPr>
        <p:spPr>
          <a:xfrm>
            <a:off x="703261" y="409855"/>
            <a:ext cx="7737477" cy="24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I. THÔNG TIN TÌNH HÌNH GIÁ BÁN WF: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CHART GIÁ BÁN - GIÁ VỐN- LÃI GỘP VÀ %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Lãi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gộp</a:t>
            </a:r>
            <a:endParaRPr lang="en-US" sz="2400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Những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sản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phẩm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chính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rPET</a:t>
            </a: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3. So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sánh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năm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2024-2025-2026-WFTT-WFKTQT</a:t>
            </a: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47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1D718-2CAB-F0E5-513E-9DDBB44E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83C7D4-4A80-BC55-CD6F-9192C7803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04" y="184959"/>
            <a:ext cx="7388992" cy="477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8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E780-A87A-0C36-E8B2-D2120B06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629C05-B1F5-C92B-07F1-24154300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26" y="114300"/>
            <a:ext cx="7762664" cy="486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8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6B00A-8C7B-F3BB-BE5D-95AF8DF1E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831C3C-24E6-6B18-C67B-A40A7A190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34" y="265623"/>
            <a:ext cx="7634750" cy="461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08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0C4C-9A60-AF32-A46F-3B7C1FEA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F3F7D36-861B-46C4-9DBF-46ECE0BA40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2460058"/>
              </p:ext>
            </p:extLst>
          </p:nvPr>
        </p:nvGraphicFramePr>
        <p:xfrm>
          <a:off x="768626" y="304801"/>
          <a:ext cx="7359187" cy="4625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4831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1F93-E808-789A-B1B3-FC5D03CC5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7EA689A-BF9C-4693-8880-6DCDE9B55A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6309471"/>
              </p:ext>
            </p:extLst>
          </p:nvPr>
        </p:nvGraphicFramePr>
        <p:xfrm>
          <a:off x="490330" y="410817"/>
          <a:ext cx="7637483" cy="4446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5718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FED9-F636-14B4-CCB3-DCE42D1E3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A77F5B-0F41-2529-96CD-24BCA8DCE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61" y="382092"/>
            <a:ext cx="7370373" cy="437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8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B05B-CB04-A2B0-31F4-E3C69D08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708139-78F0-69C9-97C0-97B09A52D064}"/>
              </a:ext>
            </a:extLst>
          </p:cNvPr>
          <p:cNvSpPr/>
          <p:nvPr/>
        </p:nvSpPr>
        <p:spPr>
          <a:xfrm>
            <a:off x="559856" y="613055"/>
            <a:ext cx="8135411" cy="410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II. THÔNG TIN BÁO CÁO RA QUYẾT ĐỊNH: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</a:t>
            </a:r>
            <a:r>
              <a:rPr lang="vi-VN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DỰ BÁO GIÁ BÁN THỊ TRƯỜNG THEO SP THEO GIÁ MUA B0</a:t>
            </a:r>
            <a:endParaRPr lang="en-US" sz="2400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2. DỰ BÁO P&amp;L THEO SẢN PHẨM THEO LUỒNG NGUYÊN LIỆU</a:t>
            </a: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3. DỰ BÁO ROOM GIẢM GIÁ CÓ THỂ</a:t>
            </a: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102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8005-20CF-BDB5-ADDC-EB6466C5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5F9D577-27D4-F381-5415-1A9458F3E484}"/>
              </a:ext>
            </a:extLst>
          </p:cNvPr>
          <p:cNvSpPr txBox="1"/>
          <p:nvPr/>
        </p:nvSpPr>
        <p:spPr>
          <a:xfrm>
            <a:off x="510153" y="280227"/>
            <a:ext cx="8123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GIÁ BÁN THỊ TRƯỜNG THEO SP THEO GIÁ MUA B0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51E6E0-3E53-9F74-6D6F-5AE5F60520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A15C0-B14D-16FD-6180-E42B964F0F5A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BCD90-7827-EBF8-FB84-23C4F0988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35"/>
          <a:stretch>
            <a:fillRect/>
          </a:stretch>
        </p:blipFill>
        <p:spPr>
          <a:xfrm>
            <a:off x="396570" y="726385"/>
            <a:ext cx="8413955" cy="368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7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7C3C-195B-12EF-AB9A-FDE2CD4F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A942F3-E3A6-B336-9FB1-459D27725DFA}"/>
              </a:ext>
            </a:extLst>
          </p:cNvPr>
          <p:cNvSpPr txBox="1"/>
          <p:nvPr/>
        </p:nvSpPr>
        <p:spPr>
          <a:xfrm>
            <a:off x="-1" y="299115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PL THEO SP THEO LUỒNG NGUYÊN LIỆU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B818E3-14BB-F2C1-0000-5200E9B244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0F3B69-A5C6-072D-5AC4-E119BDE43685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22710-7EB3-AA7D-EED6-19EA9BE9D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908"/>
            <a:ext cx="9139888" cy="228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0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C4C5-7493-9BC7-FEFA-8C0EFF7F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EDAC59-6E4B-5286-A25C-39340F63E287}"/>
              </a:ext>
            </a:extLst>
          </p:cNvPr>
          <p:cNvSpPr txBox="1"/>
          <p:nvPr/>
        </p:nvSpPr>
        <p:spPr>
          <a:xfrm>
            <a:off x="817780" y="339570"/>
            <a:ext cx="81236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ROOM GIẢM GIÁ CÓ THỂ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9E0E7-4B15-8949-EAE8-BFB08183E2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3DB028-776E-9DA4-D447-F99D500E3742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33DF8-8A4A-99F3-585B-8905E1B93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84"/>
          <a:stretch>
            <a:fillRect/>
          </a:stretch>
        </p:blipFill>
        <p:spPr>
          <a:xfrm>
            <a:off x="424071" y="994851"/>
            <a:ext cx="8328830" cy="284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97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E102-C764-5F21-2ADB-2A432E2D7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C6F3D60-65BA-8EA3-A967-BEE99812F93B}"/>
              </a:ext>
            </a:extLst>
          </p:cNvPr>
          <p:cNvSpPr/>
          <p:nvPr/>
        </p:nvSpPr>
        <p:spPr>
          <a:xfrm>
            <a:off x="381394" y="1118692"/>
            <a:ext cx="8619066" cy="24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III. THÔNG TIN </a:t>
            </a:r>
            <a:r>
              <a:rPr lang="en-US" sz="3616" dirty="0">
                <a:solidFill>
                  <a:srgbClr val="FF0000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CƠ CẤU CHI PHÍ GIÁ THÀNH, GIÁ BÁN: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CHART GIÁ BÁN, GIÁ THÀNH, LỢI NHUẬN: CHAI, VẢY, HẠT </a:t>
            </a:r>
            <a:r>
              <a:rPr lang="en-US" sz="2400" dirty="0">
                <a:solidFill>
                  <a:srgbClr val="FF0000"/>
                </a:solidFill>
                <a:latin typeface="Anton" pitchFamily="34" charset="0"/>
                <a:cs typeface="Arial" panose="020B0604020202020204" pitchFamily="34" charset="0"/>
              </a:rPr>
              <a:t>(CHI TIẾT THEO LOẠI)</a:t>
            </a: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07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AF2D-6682-4464-FD8A-44C3FD818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90AE88C-B043-055E-FE4F-0E92D7A0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40" y="503274"/>
            <a:ext cx="2209747" cy="46998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EB7543-3BBF-622A-4F11-F5AF18CFA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259" y="503274"/>
            <a:ext cx="2209747" cy="46998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4E14F6-D3B8-0EAA-D7B0-5DD6FBFE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599" y="73991"/>
            <a:ext cx="1023905" cy="454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C820E6-1B29-370B-50F1-FD8374B2D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618" y="73991"/>
            <a:ext cx="1023905" cy="45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65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CE966-9DA0-97D4-2E60-7C7292EF5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8B2EF-0149-891B-CE27-41BA8DACB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94" y="531629"/>
            <a:ext cx="2363955" cy="4658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23E228-DCFD-B4E8-9EE6-71B5BEE1D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697" y="531629"/>
            <a:ext cx="2363955" cy="46582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3F76C9-30B6-B811-EF88-BF786D3D4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161" y="57503"/>
            <a:ext cx="1085220" cy="474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73BE0B-7D7A-7B1F-C804-70DEF1646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064" y="57503"/>
            <a:ext cx="1085220" cy="47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26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93EF-F9C1-ED08-DFDE-F8331B0A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8DC067-EF66-A1D5-9CAE-66F3562279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61" b="2995"/>
          <a:stretch>
            <a:fillRect/>
          </a:stretch>
        </p:blipFill>
        <p:spPr>
          <a:xfrm>
            <a:off x="2179983" y="532553"/>
            <a:ext cx="2021650" cy="4523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98A8B-A209-63D8-020B-EEA9FEDDFE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95"/>
          <a:stretch>
            <a:fillRect/>
          </a:stretch>
        </p:blipFill>
        <p:spPr>
          <a:xfrm>
            <a:off x="5167090" y="491579"/>
            <a:ext cx="2211906" cy="44870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DCD23C-500A-F2F7-9444-EE5EF2F05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577" y="726939"/>
            <a:ext cx="1727994" cy="4898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B14830-9266-CCED-17AC-72343016C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049" y="774515"/>
            <a:ext cx="1715499" cy="442321"/>
          </a:xfrm>
          <a:prstGeom prst="rect">
            <a:avLst/>
          </a:prstGeom>
        </p:spPr>
      </p:pic>
      <p:sp>
        <p:nvSpPr>
          <p:cNvPr id="16" name="TextBox 2">
            <a:extLst>
              <a:ext uri="{FF2B5EF4-FFF2-40B4-BE49-F238E27FC236}">
                <a16:creationId xmlns:a16="http://schemas.microsoft.com/office/drawing/2014/main" id="{B37FDB62-FA9F-F6A0-9B04-EC7A1EB6F200}"/>
              </a:ext>
            </a:extLst>
          </p:cNvPr>
          <p:cNvSpPr txBox="1"/>
          <p:nvPr/>
        </p:nvSpPr>
        <p:spPr>
          <a:xfrm>
            <a:off x="2828261" y="817043"/>
            <a:ext cx="836428" cy="359625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rgbClr val="0000FF"/>
                </a:solidFill>
              </a:rPr>
              <a:t>GIÁ</a:t>
            </a:r>
            <a:r>
              <a:rPr lang="en-US" sz="1200" b="1" baseline="0" dirty="0">
                <a:solidFill>
                  <a:srgbClr val="0000FF"/>
                </a:solidFill>
              </a:rPr>
              <a:t> BÁN</a:t>
            </a:r>
            <a:endParaRPr lang="en-US" sz="1200" b="1" dirty="0">
              <a:solidFill>
                <a:srgbClr val="0000FF"/>
              </a:solidFill>
            </a:endParaRPr>
          </a:p>
          <a:p>
            <a:pPr algn="ctr"/>
            <a:r>
              <a:rPr lang="en-US" sz="1200" b="1" dirty="0">
                <a:solidFill>
                  <a:srgbClr val="FF0000"/>
                </a:solidFill>
              </a:rPr>
              <a:t>1,157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8EE184-59ED-1D5D-2949-32A6873B0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4595" y="87796"/>
            <a:ext cx="1012425" cy="442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957F9A-7D68-B7D0-A74A-25DDEAA97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6830" y="49257"/>
            <a:ext cx="1012425" cy="44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59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45F8F-4EF9-13D9-D407-024EACFD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5C52B-AE7E-779D-0700-C227ED2518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53"/>
          <a:stretch>
            <a:fillRect/>
          </a:stretch>
        </p:blipFill>
        <p:spPr>
          <a:xfrm>
            <a:off x="1673360" y="588335"/>
            <a:ext cx="2491095" cy="4487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976ECA-D417-10E1-6BA1-AAE8D1310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53"/>
          <a:stretch>
            <a:fillRect/>
          </a:stretch>
        </p:blipFill>
        <p:spPr>
          <a:xfrm>
            <a:off x="5238196" y="588334"/>
            <a:ext cx="2491096" cy="44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80F689-F95B-0CED-8A31-5277B8681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637" y="158233"/>
            <a:ext cx="978960" cy="427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C9B65A-EE21-8B80-0CD4-AC1C2B43E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088" y="160633"/>
            <a:ext cx="978960" cy="42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57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AF35-0B1D-45C3-70C7-46AE7A2F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FCF41E-F8A5-4A28-3013-D6E7057EE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374" y="545804"/>
            <a:ext cx="2434073" cy="45976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9B8CCB-B9F8-34E9-0CDD-E225467AF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579" y="545803"/>
            <a:ext cx="2434074" cy="45976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71B615-8BE3-1DE7-8F19-5276C8B5A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830" y="102668"/>
            <a:ext cx="1014286" cy="4431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1E0C43-2F9C-0C61-D8D1-21F4EB597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473" y="102668"/>
            <a:ext cx="1014286" cy="44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5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CC61C-A6D3-F405-BB09-F1B2EA83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927D1C-7EE0-6444-E827-62701A60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522" y="53618"/>
            <a:ext cx="1770340" cy="477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49059F-E02D-7534-A830-B3013D3A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212" y="53618"/>
            <a:ext cx="1770340" cy="4772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ABD2A8-844B-3F7E-28DF-03EA0CC3D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748" y="530915"/>
            <a:ext cx="2381402" cy="4612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603FC1-2E62-4036-EF95-26E1319C8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083" y="530915"/>
            <a:ext cx="2525785" cy="461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67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43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2BB99-4096-E0D0-AFCC-9694D2C6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616F507-2D5A-0931-E1A9-CF5035DA5FAB}"/>
              </a:ext>
            </a:extLst>
          </p:cNvPr>
          <p:cNvSpPr/>
          <p:nvPr/>
        </p:nvSpPr>
        <p:spPr>
          <a:xfrm>
            <a:off x="296333" y="772633"/>
            <a:ext cx="8670457" cy="2899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III.1 THÔNG TIN </a:t>
            </a:r>
            <a:r>
              <a:rPr lang="en-US" sz="3616" dirty="0">
                <a:solidFill>
                  <a:srgbClr val="FF0000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CƠ CẤU CHI PHÍ GIÁ THÀNH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CHART GIÁ THÀNH: CHAI, VẢY, HẠT </a:t>
            </a:r>
            <a:r>
              <a:rPr lang="en-US" sz="2400" dirty="0">
                <a:solidFill>
                  <a:srgbClr val="FF0000"/>
                </a:solidFill>
                <a:latin typeface="Anton" pitchFamily="34" charset="0"/>
                <a:cs typeface="Arial" panose="020B0604020202020204" pitchFamily="34" charset="0"/>
              </a:rPr>
              <a:t>(TỔNG QUAN)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CHART GIÁ THÀNH: CHAI, VẢY, HẠT </a:t>
            </a:r>
            <a:r>
              <a:rPr lang="en-US" sz="2400" dirty="0">
                <a:solidFill>
                  <a:srgbClr val="FF0000"/>
                </a:solidFill>
                <a:latin typeface="Anton" pitchFamily="34" charset="0"/>
                <a:cs typeface="Arial" panose="020B0604020202020204" pitchFamily="34" charset="0"/>
              </a:rPr>
              <a:t>(CHI TIẾT THEO LOẠI)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3. CHART GIÁ THÀNH: CHAI, VẢY, HẠT (TỔNG QUAN)</a:t>
            </a: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797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7BDD61F-3378-2C88-26A1-3A7E654B3F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4631048"/>
              </p:ext>
            </p:extLst>
          </p:nvPr>
        </p:nvGraphicFramePr>
        <p:xfrm>
          <a:off x="1192696" y="351183"/>
          <a:ext cx="6858879" cy="4382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9997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9BD0-4239-A52B-2837-92B134A1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C5DDF12-8CE9-44CA-9F1B-52141550B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5093783"/>
              </p:ext>
            </p:extLst>
          </p:nvPr>
        </p:nvGraphicFramePr>
        <p:xfrm>
          <a:off x="927652" y="417443"/>
          <a:ext cx="7547113" cy="4187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5617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06302-0762-A126-9C43-8987AE9A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AEE6445-1A7E-4790-B674-565E9E149A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051832"/>
              </p:ext>
            </p:extLst>
          </p:nvPr>
        </p:nvGraphicFramePr>
        <p:xfrm>
          <a:off x="889907" y="440871"/>
          <a:ext cx="7955919" cy="4177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7677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2506A-0010-B655-6FB4-BA115C3D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C97C147-833A-4F41-A7A1-D57D2FC453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9875858"/>
              </p:ext>
            </p:extLst>
          </p:nvPr>
        </p:nvGraphicFramePr>
        <p:xfrm>
          <a:off x="914400" y="390939"/>
          <a:ext cx="7838661" cy="4366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11876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D5A0A8-E24D-4F57-C91E-CFE7CF16E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73"/>
          <a:stretch>
            <a:fillRect/>
          </a:stretch>
        </p:blipFill>
        <p:spPr>
          <a:xfrm>
            <a:off x="1688843" y="106015"/>
            <a:ext cx="2576272" cy="4850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7F7AAC-003B-6785-D5CC-57342C8468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73"/>
          <a:stretch>
            <a:fillRect/>
          </a:stretch>
        </p:blipFill>
        <p:spPr>
          <a:xfrm>
            <a:off x="4401286" y="106016"/>
            <a:ext cx="2576272" cy="485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04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23129-DDAA-5265-B817-EC5E7797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90C814-F4F2-7E22-1AD1-B62298FA5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325" y="116008"/>
            <a:ext cx="2461936" cy="4911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C7BDAF-E27E-C6DE-754E-732C7AFAF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624" y="116008"/>
            <a:ext cx="2463968" cy="491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44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1F18-966A-9F9A-9995-8BD2C7DA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BE8836-E36B-46D5-1C51-373120C5F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352" y="106017"/>
            <a:ext cx="2404974" cy="4902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72EA5A-46BD-1090-460D-463E156B6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721" y="106017"/>
            <a:ext cx="2404974" cy="487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9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CFD7A-F854-82CF-47A2-DEE6C487A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2FE93-F319-1FF9-31BB-2D9E7565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63"/>
          <a:stretch>
            <a:fillRect/>
          </a:stretch>
        </p:blipFill>
        <p:spPr>
          <a:xfrm>
            <a:off x="1633696" y="77031"/>
            <a:ext cx="2580366" cy="49066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EF1060-3243-374A-1037-238A4DCD0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05"/>
          <a:stretch>
            <a:fillRect/>
          </a:stretch>
        </p:blipFill>
        <p:spPr>
          <a:xfrm>
            <a:off x="4572000" y="77031"/>
            <a:ext cx="2580366" cy="490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24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C745D-F1FE-8C8A-18E9-A30B7B37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49277B-3B45-4419-E1AE-FBF1553C7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24" y="83532"/>
            <a:ext cx="2637692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287239-BA38-ABEC-606C-C7028A04C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456" y="83532"/>
            <a:ext cx="263329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57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FD181-E1D5-3F1E-BCDF-E18CE6BE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B4F826-B549-86ED-B530-513B0559E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30" y="83532"/>
            <a:ext cx="2651426" cy="5143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16FBEF-D92D-91E7-9083-5363C48CE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179" y="159026"/>
            <a:ext cx="26558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8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76A5-7DDB-C755-1FD8-BC2B7174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FDE16-A244-3973-EFE7-466AED61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920" y="53008"/>
            <a:ext cx="2468969" cy="4851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50EA99-7200-4BF4-CCB6-54C059DA7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611" y="53008"/>
            <a:ext cx="261732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36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51F0-B0F6-4DE9-514F-CEBA1279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CDD74-E61B-31B9-4FEA-7B2730B76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364" y="0"/>
            <a:ext cx="2599775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8E89E-B0C5-53C1-A735-E44B4205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25997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57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1F63-8B39-9400-59B7-48B7B4C05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809CBB-44AF-4CEC-0B5B-54978624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025" y="2473325"/>
            <a:ext cx="1631950" cy="196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811CED-8296-0F11-1F50-81DCF87B8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46" y="98425"/>
            <a:ext cx="2559019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8160F-68C6-B6B2-F86C-C3E0B18CF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177" y="98425"/>
            <a:ext cx="25590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27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DBF5-9FBE-6568-AE5D-36332230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FC63C-7422-6874-460C-4557F7EFC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518" y="0"/>
            <a:ext cx="2588981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6B9CD0-5EEC-E75F-AA00-ED6FEA86E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491" y="0"/>
            <a:ext cx="25889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07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ED1D-822D-4DF8-2F07-1CA598C40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77D90D-8031-E50B-ADB8-144FFA9F1C27}"/>
              </a:ext>
            </a:extLst>
          </p:cNvPr>
          <p:cNvSpPr/>
          <p:nvPr/>
        </p:nvSpPr>
        <p:spPr>
          <a:xfrm>
            <a:off x="559856" y="613055"/>
            <a:ext cx="8135411" cy="410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IV. TỔNG QUAN 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Tóm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tắt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Luồng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3. Xem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xét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cơ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cấu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nguồn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nhu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cầu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236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0682-68C1-1F9A-9A31-9D58D280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902D48-EF83-7B03-92A0-DBAB801632CD}"/>
              </a:ext>
            </a:extLst>
          </p:cNvPr>
          <p:cNvSpPr txBox="1"/>
          <p:nvPr/>
        </p:nvSpPr>
        <p:spPr>
          <a:xfrm>
            <a:off x="0" y="86683"/>
            <a:ext cx="91439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1.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Tóm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tắt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defRPr/>
            </a:pP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CC0362-6930-7564-053A-41954A1F68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32B0ED-44F5-D554-886A-FD0A6C5F595E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08B33-4139-C106-27D3-5751179B4B06}"/>
              </a:ext>
            </a:extLst>
          </p:cNvPr>
          <p:cNvSpPr txBox="1"/>
          <p:nvPr/>
        </p:nvSpPr>
        <p:spPr>
          <a:xfrm>
            <a:off x="563336" y="3994323"/>
            <a:ext cx="8178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highlight>
                  <a:srgbClr val="C5E0B4"/>
                </a:highlight>
              </a:rPr>
              <a:t>Tối ưu giá thành &amp; lợi nhuận chuỗi PET</a:t>
            </a:r>
            <a:br>
              <a:rPr lang="vi-VN" sz="1600" dirty="0">
                <a:highlight>
                  <a:srgbClr val="C5E0B4"/>
                </a:highlight>
              </a:rPr>
            </a:br>
            <a:r>
              <a:rPr lang="vi-VN" sz="1600" dirty="0">
                <a:highlight>
                  <a:srgbClr val="C5E0B4"/>
                </a:highlight>
              </a:rPr>
              <a:t>(B0 → </a:t>
            </a:r>
            <a:r>
              <a:rPr lang="en-US" sz="1600" dirty="0" err="1">
                <a:highlight>
                  <a:srgbClr val="C5E0B4"/>
                </a:highlight>
              </a:rPr>
              <a:t>Vảy</a:t>
            </a:r>
            <a:r>
              <a:rPr lang="vi-VN" sz="1600" dirty="0">
                <a:highlight>
                  <a:srgbClr val="C5E0B4"/>
                </a:highlight>
              </a:rPr>
              <a:t> → </a:t>
            </a:r>
            <a:r>
              <a:rPr lang="en-US" sz="1600" dirty="0" err="1">
                <a:highlight>
                  <a:srgbClr val="C5E0B4"/>
                </a:highlight>
              </a:rPr>
              <a:t>Tạo</a:t>
            </a:r>
            <a:r>
              <a:rPr lang="en-US" sz="1600" dirty="0">
                <a:highlight>
                  <a:srgbClr val="C5E0B4"/>
                </a:highlight>
              </a:rPr>
              <a:t> </a:t>
            </a:r>
            <a:r>
              <a:rPr lang="en-US" sz="1600" dirty="0" err="1">
                <a:highlight>
                  <a:srgbClr val="C5E0B4"/>
                </a:highlight>
              </a:rPr>
              <a:t>hạt</a:t>
            </a:r>
            <a:r>
              <a:rPr lang="vi-VN" sz="1600" dirty="0">
                <a:highlight>
                  <a:srgbClr val="C5E0B4"/>
                </a:highlight>
              </a:rPr>
              <a:t>)</a:t>
            </a:r>
            <a:endParaRPr lang="en-US" sz="1600" dirty="0">
              <a:highlight>
                <a:srgbClr val="C5E0B4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173B5-9EF6-16AD-6CFB-464A5A7998B1}"/>
              </a:ext>
            </a:extLst>
          </p:cNvPr>
          <p:cNvSpPr txBox="1"/>
          <p:nvPr/>
        </p:nvSpPr>
        <p:spPr>
          <a:xfrm>
            <a:off x="563336" y="1326475"/>
            <a:ext cx="81071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b="1" dirty="0" err="1">
                <a:highlight>
                  <a:srgbClr val="00FF00"/>
                </a:highlight>
              </a:rPr>
              <a:t>Tóm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tắt</a:t>
            </a:r>
            <a:endParaRPr lang="vi-VN" sz="1800" b="1" dirty="0">
              <a:highlight>
                <a:srgbClr val="00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vi-VN" sz="1800" dirty="0">
                <a:highlight>
                  <a:srgbClr val="00FF00"/>
                </a:highlight>
              </a:rPr>
              <a:t>Mô hình đã </a:t>
            </a:r>
            <a:r>
              <a:rPr lang="vi-VN" sz="1800" b="1" dirty="0">
                <a:highlight>
                  <a:srgbClr val="00FF00"/>
                </a:highlight>
              </a:rPr>
              <a:t>trừ đầy đủ phó sản (nắp, bụi, PE/PP)</a:t>
            </a:r>
            <a:r>
              <a:rPr lang="vi-VN" sz="1800" dirty="0">
                <a:highlight>
                  <a:srgbClr val="00FF00"/>
                </a:highlight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vi-VN" sz="1800" dirty="0">
                <a:highlight>
                  <a:srgbClr val="00FF00"/>
                </a:highlight>
              </a:rPr>
              <a:t>Giá thành hiện tại </a:t>
            </a:r>
            <a:r>
              <a:rPr lang="vi-VN" sz="1800" b="1" dirty="0">
                <a:highlight>
                  <a:srgbClr val="00FF00"/>
                </a:highlight>
              </a:rPr>
              <a:t>đúng </a:t>
            </a:r>
            <a:r>
              <a:rPr lang="en-US" sz="1800" b="1" dirty="0" err="1">
                <a:highlight>
                  <a:srgbClr val="00FF00"/>
                </a:highlight>
              </a:rPr>
              <a:t>theo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góc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độ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kế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toán</a:t>
            </a:r>
            <a:endParaRPr lang="vi-VN" sz="1800" dirty="0">
              <a:highlight>
                <a:srgbClr val="00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vi-VN" sz="1800" dirty="0">
                <a:highlight>
                  <a:srgbClr val="00FF00"/>
                </a:highlight>
              </a:rPr>
              <a:t>Cơ hội: tối ưu vận hành </a:t>
            </a:r>
            <a:endParaRPr lang="en-US" sz="1800" dirty="0">
              <a:highlight>
                <a:srgbClr val="00FF00"/>
              </a:highlight>
            </a:endParaRPr>
          </a:p>
          <a:p>
            <a:r>
              <a:rPr lang="en-US" sz="1800" dirty="0">
                <a:highlight>
                  <a:srgbClr val="00FF00"/>
                </a:highlight>
              </a:rPr>
              <a:t>  1. </a:t>
            </a:r>
            <a:r>
              <a:rPr lang="vi-VN" sz="1800" dirty="0">
                <a:highlight>
                  <a:srgbClr val="00FF00"/>
                </a:highlight>
              </a:rPr>
              <a:t>→ </a:t>
            </a:r>
            <a:r>
              <a:rPr lang="en-US" sz="1800" dirty="0" err="1">
                <a:highlight>
                  <a:srgbClr val="00FF00"/>
                </a:highlight>
              </a:rPr>
              <a:t>Kiểm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soát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chất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lượng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từ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khâu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mua</a:t>
            </a:r>
            <a:r>
              <a:rPr lang="en-US" sz="1800" dirty="0">
                <a:highlight>
                  <a:srgbClr val="00FF00"/>
                </a:highlight>
              </a:rPr>
              <a:t> =&gt; Tăng </a:t>
            </a:r>
            <a:r>
              <a:rPr lang="en-US" sz="1800" dirty="0" err="1">
                <a:highlight>
                  <a:srgbClr val="00FF00"/>
                </a:highlight>
              </a:rPr>
              <a:t>hiệu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suất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hồi</a:t>
            </a:r>
            <a:r>
              <a:rPr lang="en-US" sz="1800" dirty="0">
                <a:highlight>
                  <a:srgbClr val="00FF00"/>
                </a:highlight>
              </a:rPr>
              <a:t>.</a:t>
            </a:r>
          </a:p>
          <a:p>
            <a:r>
              <a:rPr lang="en-US" sz="1800" dirty="0">
                <a:highlight>
                  <a:srgbClr val="00FF00"/>
                </a:highlight>
              </a:rPr>
              <a:t>  2. </a:t>
            </a:r>
            <a:r>
              <a:rPr lang="vi-VN" sz="1800" dirty="0">
                <a:highlight>
                  <a:srgbClr val="00FF00"/>
                </a:highlight>
              </a:rPr>
              <a:t>→</a:t>
            </a:r>
            <a:r>
              <a:rPr lang="en-US" sz="1800" dirty="0">
                <a:highlight>
                  <a:srgbClr val="00FF00"/>
                </a:highlight>
              </a:rPr>
              <a:t> Tăng </a:t>
            </a:r>
            <a:r>
              <a:rPr lang="en-US" sz="1800" dirty="0" err="1">
                <a:highlight>
                  <a:srgbClr val="00FF00"/>
                </a:highlight>
              </a:rPr>
              <a:t>cường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giải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pháp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kỹ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thuật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công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nghệ</a:t>
            </a:r>
            <a:r>
              <a:rPr lang="en-US" sz="1800" dirty="0">
                <a:highlight>
                  <a:srgbClr val="00FF00"/>
                </a:highlight>
              </a:rPr>
              <a:t> =&gt; </a:t>
            </a:r>
            <a:r>
              <a:rPr lang="en-US" sz="1800" dirty="0" err="1">
                <a:highlight>
                  <a:srgbClr val="00FF00"/>
                </a:highlight>
              </a:rPr>
              <a:t>tăng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hiệu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suất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hồi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sản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phẩm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chính</a:t>
            </a:r>
            <a:r>
              <a:rPr lang="en-US" sz="1800" dirty="0">
                <a:highlight>
                  <a:srgbClr val="00FF00"/>
                </a:highlight>
              </a:rPr>
              <a:t> =&gt; </a:t>
            </a:r>
            <a:r>
              <a:rPr lang="en-US" sz="1800" dirty="0" err="1">
                <a:highlight>
                  <a:srgbClr val="00FF00"/>
                </a:highlight>
              </a:rPr>
              <a:t>Giảm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giá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thành</a:t>
            </a:r>
            <a:r>
              <a:rPr lang="en-US" sz="1800" dirty="0">
                <a:highlight>
                  <a:srgbClr val="00FF00"/>
                </a:highlight>
              </a:rPr>
              <a:t> =&gt; Tăng </a:t>
            </a:r>
            <a:r>
              <a:rPr lang="en-US" sz="1800" dirty="0" err="1">
                <a:highlight>
                  <a:srgbClr val="00FF00"/>
                </a:highlight>
              </a:rPr>
              <a:t>lợi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nhuận</a:t>
            </a:r>
            <a:r>
              <a:rPr lang="en-US" sz="1800" dirty="0">
                <a:highlight>
                  <a:srgbClr val="00FF00"/>
                </a:highlight>
              </a:rPr>
              <a:t>.</a:t>
            </a:r>
          </a:p>
          <a:p>
            <a:r>
              <a:rPr lang="en-US" sz="1800" dirty="0">
                <a:highlight>
                  <a:srgbClr val="00FF00"/>
                </a:highlight>
              </a:rPr>
              <a:t>  3. </a:t>
            </a:r>
            <a:r>
              <a:rPr lang="vi-VN" sz="1800" dirty="0">
                <a:highlight>
                  <a:srgbClr val="00FF00"/>
                </a:highlight>
              </a:rPr>
              <a:t>→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Kiểm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soát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kế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hoạch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về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cơ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cấu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sản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phẩm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cần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sản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xuất</a:t>
            </a:r>
            <a:r>
              <a:rPr lang="en-US" sz="1800" dirty="0">
                <a:highlight>
                  <a:srgbClr val="00FF00"/>
                </a:highlight>
              </a:rPr>
              <a:t> =&gt; </a:t>
            </a:r>
            <a:r>
              <a:rPr lang="en-US" sz="1800" dirty="0" err="1">
                <a:highlight>
                  <a:srgbClr val="00FF00"/>
                </a:highlight>
              </a:rPr>
              <a:t>tăng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lợi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nhuận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và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cải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tiến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quá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trình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quản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trị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theo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luồng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giá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trị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có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định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hướng</a:t>
            </a:r>
            <a:r>
              <a:rPr lang="en-US" sz="1800" dirty="0">
                <a:highlight>
                  <a:srgbClr val="00FF00"/>
                </a:highlight>
              </a:rPr>
              <a:t>.</a:t>
            </a:r>
            <a:endParaRPr lang="vi-VN" sz="1800" dirty="0">
              <a:highlight>
                <a:srgbClr val="00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173C0-3DB1-9E59-BAB7-CBCA142D91A1}"/>
              </a:ext>
            </a:extLst>
          </p:cNvPr>
          <p:cNvSpPr txBox="1"/>
          <p:nvPr/>
        </p:nvSpPr>
        <p:spPr>
          <a:xfrm>
            <a:off x="563336" y="710294"/>
            <a:ext cx="8107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00FFFF"/>
                </a:highlight>
              </a:rPr>
              <a:t>B0 → </a:t>
            </a:r>
            <a:r>
              <a:rPr lang="en-US" sz="1800" dirty="0" err="1">
                <a:highlight>
                  <a:srgbClr val="00FFFF"/>
                </a:highlight>
              </a:rPr>
              <a:t>Lựa</a:t>
            </a:r>
            <a:r>
              <a:rPr lang="en-US" sz="1800" dirty="0">
                <a:highlight>
                  <a:srgbClr val="00FFFF"/>
                </a:highlight>
              </a:rPr>
              <a:t> → Chai </a:t>
            </a:r>
            <a:r>
              <a:rPr lang="en-US" sz="1800" dirty="0" err="1">
                <a:highlight>
                  <a:srgbClr val="00FFFF"/>
                </a:highlight>
              </a:rPr>
              <a:t>Lựa</a:t>
            </a:r>
            <a:r>
              <a:rPr lang="en-US" sz="1800" dirty="0">
                <a:highlight>
                  <a:srgbClr val="00FFFF"/>
                </a:highlight>
              </a:rPr>
              <a:t> (</a:t>
            </a:r>
            <a:r>
              <a:rPr lang="en-US" sz="1800" dirty="0">
                <a:solidFill>
                  <a:srgbClr val="FF0000"/>
                </a:solidFill>
                <a:highlight>
                  <a:srgbClr val="00FFFF"/>
                </a:highlight>
              </a:rPr>
              <a:t>B1; B2.2; B4, B5,B6.2</a:t>
            </a:r>
            <a:r>
              <a:rPr lang="en-US" sz="1800" dirty="0">
                <a:highlight>
                  <a:srgbClr val="00FFFF"/>
                </a:highlight>
              </a:rPr>
              <a:t>) → </a:t>
            </a:r>
            <a:r>
              <a:rPr lang="en-US" sz="1800" dirty="0" err="1">
                <a:highlight>
                  <a:srgbClr val="00FFFF"/>
                </a:highlight>
              </a:rPr>
              <a:t>Băm</a:t>
            </a:r>
            <a:r>
              <a:rPr lang="en-US" sz="1800" dirty="0">
                <a:highlight>
                  <a:srgbClr val="00FFFF"/>
                </a:highlight>
              </a:rPr>
              <a:t> → </a:t>
            </a:r>
            <a:r>
              <a:rPr lang="en-US" sz="1800" dirty="0" err="1">
                <a:highlight>
                  <a:srgbClr val="00FFFF"/>
                </a:highlight>
              </a:rPr>
              <a:t>Rửa</a:t>
            </a:r>
            <a:r>
              <a:rPr lang="en-US" sz="1800" dirty="0">
                <a:highlight>
                  <a:srgbClr val="00FFFF"/>
                </a:highlight>
              </a:rPr>
              <a:t> → </a:t>
            </a:r>
            <a:r>
              <a:rPr lang="en-US" sz="1800" dirty="0" err="1">
                <a:highlight>
                  <a:srgbClr val="00FFFF"/>
                </a:highlight>
              </a:rPr>
              <a:t>Vảy</a:t>
            </a:r>
            <a:r>
              <a:rPr lang="en-US" sz="1800" dirty="0">
                <a:highlight>
                  <a:srgbClr val="00FFFF"/>
                </a:highlight>
              </a:rPr>
              <a:t> </a:t>
            </a:r>
            <a:r>
              <a:rPr lang="en-US" sz="1800" dirty="0" err="1">
                <a:highlight>
                  <a:srgbClr val="00FFFF"/>
                </a:highlight>
              </a:rPr>
              <a:t>sau</a:t>
            </a:r>
            <a:r>
              <a:rPr lang="en-US" sz="1800" dirty="0">
                <a:highlight>
                  <a:srgbClr val="00FFFF"/>
                </a:highlight>
              </a:rPr>
              <a:t> </a:t>
            </a:r>
            <a:r>
              <a:rPr lang="en-US" sz="1800" dirty="0" err="1">
                <a:highlight>
                  <a:srgbClr val="00FFFF"/>
                </a:highlight>
              </a:rPr>
              <a:t>rữa</a:t>
            </a:r>
            <a:r>
              <a:rPr lang="en-US" sz="1800" dirty="0">
                <a:highlight>
                  <a:srgbClr val="00FFFF"/>
                </a:highlight>
              </a:rPr>
              <a:t> → </a:t>
            </a:r>
            <a:r>
              <a:rPr lang="en-US" sz="1800" dirty="0" err="1">
                <a:highlight>
                  <a:srgbClr val="00FFFF"/>
                </a:highlight>
              </a:rPr>
              <a:t>Hạt</a:t>
            </a:r>
            <a:r>
              <a:rPr lang="en-US" sz="1800" dirty="0">
                <a:highlight>
                  <a:srgbClr val="00FFFF"/>
                </a:highlight>
              </a:rPr>
              <a:t> (</a:t>
            </a:r>
            <a:r>
              <a:rPr lang="en-US" sz="1800" dirty="0" err="1">
                <a:solidFill>
                  <a:srgbClr val="FF0000"/>
                </a:solidFill>
                <a:highlight>
                  <a:srgbClr val="00FFFF"/>
                </a:highlight>
              </a:rPr>
              <a:t>Nâng</a:t>
            </a:r>
            <a:r>
              <a:rPr lang="en-US" sz="1800" dirty="0">
                <a:solidFill>
                  <a:srgbClr val="FF0000"/>
                </a:solidFill>
                <a:highlight>
                  <a:srgbClr val="00FFFF"/>
                </a:highlight>
              </a:rPr>
              <a:t> IV </a:t>
            </a:r>
            <a:r>
              <a:rPr lang="en-US" sz="1800" dirty="0" err="1">
                <a:solidFill>
                  <a:srgbClr val="FF0000"/>
                </a:solidFill>
                <a:highlight>
                  <a:srgbClr val="00FFFF"/>
                </a:highlight>
              </a:rPr>
              <a:t>hoặc</a:t>
            </a:r>
            <a:r>
              <a:rPr lang="en-US" sz="1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en-US" sz="1800" dirty="0" err="1">
                <a:solidFill>
                  <a:srgbClr val="FF0000"/>
                </a:solidFill>
                <a:highlight>
                  <a:srgbClr val="00FFFF"/>
                </a:highlight>
              </a:rPr>
              <a:t>không</a:t>
            </a:r>
            <a:r>
              <a:rPr lang="en-US" sz="1800" dirty="0">
                <a:highlight>
                  <a:srgbClr val="00FFFF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7656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7BE9-BD42-70DA-9EFC-6BFBE46F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6C68220-41FB-ADF1-B6C5-02E597AEC6CD}"/>
              </a:ext>
            </a:extLst>
          </p:cNvPr>
          <p:cNvSpPr txBox="1"/>
          <p:nvPr/>
        </p:nvSpPr>
        <p:spPr>
          <a:xfrm>
            <a:off x="0" y="866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 </a:t>
            </a:r>
            <a:r>
              <a:rPr lang="vi-VN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Lưu đồ luồng nguyên liệu đi vào sx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8F2EAD-E565-FB6D-2D2D-67588FDB04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BD863-89E8-593E-6E66-89817120C3EE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1237B-A45C-D8E7-3D24-E31B4E94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59248"/>
            <a:ext cx="9144000" cy="438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028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1B8E-145F-F5A0-8938-72CC17FF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203427-253E-83FA-FCEC-B63E045D205D}"/>
              </a:ext>
            </a:extLst>
          </p:cNvPr>
          <p:cNvSpPr txBox="1"/>
          <p:nvPr/>
        </p:nvSpPr>
        <p:spPr>
          <a:xfrm>
            <a:off x="0" y="866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LUỒNG NGUYÊN LIỆU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738979-32CD-0EB6-A815-84D5AA4664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41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83546-3575-8BE2-2AC3-E5D1BF7271A9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6A1CD-7D74-8B98-8D4D-EB6851883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257"/>
            <a:ext cx="9144000" cy="427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67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B50C-9509-06AF-6D8E-38F8CAF8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2FE1A9-55B1-5338-D1F3-DB20C1DCCEAF}"/>
              </a:ext>
            </a:extLst>
          </p:cNvPr>
          <p:cNvSpPr txBox="1"/>
          <p:nvPr/>
        </p:nvSpPr>
        <p:spPr>
          <a:xfrm>
            <a:off x="254000" y="166318"/>
            <a:ext cx="91439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Cơ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cấu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defRPr/>
            </a:pP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89678D-1172-4632-8B54-EC589BF913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A69EFC-4B2B-92BB-B76E-71E5674C54A7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F42845-4708-CA6D-E730-052205CAB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" y="800986"/>
            <a:ext cx="8837929" cy="342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283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353BEDD-ECC2-0638-B58E-5E542A378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223579"/>
              </p:ext>
            </p:extLst>
          </p:nvPr>
        </p:nvGraphicFramePr>
        <p:xfrm>
          <a:off x="1151520" y="408801"/>
          <a:ext cx="7298516" cy="4444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05600" imgH="4082875" progId="Excel.Sheet.12">
                  <p:embed/>
                </p:oleObj>
              </mc:Choice>
              <mc:Fallback>
                <p:oleObj name="Worksheet" r:id="rId2" imgW="6705600" imgH="40828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1520" y="408801"/>
                        <a:ext cx="7298516" cy="44440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26566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4646-DF7D-A4A3-D5D3-BD29C53D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BFEC54-3572-0E3C-F1B2-BE370ADA276B}"/>
              </a:ext>
            </a:extLst>
          </p:cNvPr>
          <p:cNvSpPr/>
          <p:nvPr/>
        </p:nvSpPr>
        <p:spPr>
          <a:xfrm>
            <a:off x="559856" y="744279"/>
            <a:ext cx="8135411" cy="3971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V. CHI TIẾT THÔNG TIN TÍNH TOÁN: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Tính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theo</a:t>
            </a:r>
            <a:r>
              <a:rPr lang="vi-VN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thành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luồng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(WF)</a:t>
            </a:r>
            <a:r>
              <a:rPr lang="vi-VN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từ</a:t>
            </a:r>
            <a:r>
              <a:rPr lang="vi-VN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GIÁ MUA B0</a:t>
            </a:r>
            <a:endParaRPr lang="en-US" sz="2400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2. Thông tin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khác</a:t>
            </a:r>
            <a:endParaRPr lang="en-US" sz="2400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8126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09EF-E12C-7F9C-F3C9-D59F4246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3461EF-4A74-E561-2DDB-E5F19846A1D0}"/>
              </a:ext>
            </a:extLst>
          </p:cNvPr>
          <p:cNvSpPr txBox="1"/>
          <p:nvPr/>
        </p:nvSpPr>
        <p:spPr>
          <a:xfrm>
            <a:off x="1" y="146317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FCA633-A875-9AC2-F5AA-6B64046728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45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63BCFC-4F5F-0EAD-706F-1CDD976AC627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ECF6F-3D32-7449-4A96-658682C00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2" y="687112"/>
            <a:ext cx="8898316" cy="323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193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FDD3D-F065-9E4D-44B1-92D4EB72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20D4A9-64D1-206C-961E-489CB18DC398}"/>
              </a:ext>
            </a:extLst>
          </p:cNvPr>
          <p:cNvSpPr txBox="1"/>
          <p:nvPr/>
        </p:nvSpPr>
        <p:spPr>
          <a:xfrm>
            <a:off x="1" y="10400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_B2.2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46B7E9-CD8F-CA72-C41A-0D2E0D611A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46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A8ACC-B63B-1329-0188-75C9031C7EE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83C4D9-CA3C-4B1D-D242-6C838EE6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143"/>
            <a:ext cx="9084365" cy="266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874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FF02-4AAF-4C91-8F65-760969EE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B2397B-920B-AA36-8A8C-19BDE4EB6603}"/>
              </a:ext>
            </a:extLst>
          </p:cNvPr>
          <p:cNvSpPr txBox="1"/>
          <p:nvPr/>
        </p:nvSpPr>
        <p:spPr>
          <a:xfrm>
            <a:off x="-46382" y="13306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_B4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03B7E1-14CD-F5A7-E8FF-A6EBB0493B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47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093B6-69F6-7C13-41DB-3A9E65CCC829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C0460-536C-9097-77AB-268AD6600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3" y="732964"/>
            <a:ext cx="9144000" cy="24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900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D270F-B0B4-A42D-DEB3-4A30B3C2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D3AC18-490C-9793-0265-2F47C9FAA84A}"/>
              </a:ext>
            </a:extLst>
          </p:cNvPr>
          <p:cNvSpPr txBox="1"/>
          <p:nvPr/>
        </p:nvSpPr>
        <p:spPr>
          <a:xfrm>
            <a:off x="0" y="151185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066055-6A4E-97AE-1180-8234722FB9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D96D7-6897-409D-7BCB-8C04A47D5C8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C97D1-E02F-A9FF-B828-1694ACCDC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7" y="844429"/>
            <a:ext cx="9144000" cy="254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521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BCF2-A97D-9374-C760-FD877A68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C8CE8F-9A3B-0AC5-D29C-7B541E427B9E}"/>
              </a:ext>
            </a:extLst>
          </p:cNvPr>
          <p:cNvSpPr txBox="1"/>
          <p:nvPr/>
        </p:nvSpPr>
        <p:spPr>
          <a:xfrm>
            <a:off x="1" y="23562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_B6.2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1779FE-7BE3-8DDF-8780-F720A3A6E7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A7AD1-ECF3-1D86-1AC0-3C6B3185EEE6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4270B-B45C-D8A2-2CAB-F4E06BFD9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081"/>
            <a:ext cx="9071113" cy="36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236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F469-8B68-98EA-BAA0-CD404766A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7DF9CC-2066-A23E-357C-B9398C04A676}"/>
              </a:ext>
            </a:extLst>
          </p:cNvPr>
          <p:cNvSpPr txBox="1"/>
          <p:nvPr/>
        </p:nvSpPr>
        <p:spPr>
          <a:xfrm>
            <a:off x="66263" y="1139687"/>
            <a:ext cx="35340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6BBF8BE-8A8A-FA4F-8F36-55B2B246E3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50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DDB992-BE46-5E0C-54D8-E4BCC4E1E2D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5C5BE-D78B-70CB-0766-7B6732572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937" y="0"/>
            <a:ext cx="43305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089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F9F0F-9A71-1BC8-D9E1-573EF499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8B489C-E19A-CA68-4439-E304BE23FC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51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68CB88-9362-18BF-B12C-09A711589788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7F7C75-F7AD-41DA-8350-90F4515C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729" y="-68633"/>
            <a:ext cx="5842000" cy="4902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533993-664C-555A-725B-6418ED325162}"/>
              </a:ext>
            </a:extLst>
          </p:cNvPr>
          <p:cNvSpPr txBox="1"/>
          <p:nvPr/>
        </p:nvSpPr>
        <p:spPr>
          <a:xfrm>
            <a:off x="66263" y="1431235"/>
            <a:ext cx="292210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_B2.2</a:t>
            </a:r>
          </a:p>
        </p:txBody>
      </p:sp>
    </p:spTree>
    <p:extLst>
      <p:ext uri="{BB962C8B-B14F-4D97-AF65-F5344CB8AC3E}">
        <p14:creationId xmlns:p14="http://schemas.microsoft.com/office/powerpoint/2010/main" val="3027634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0D9B-D8E2-9558-211A-BCCF3E1C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036B1BD-8BE5-0758-ABA3-73FF0335967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52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C7AE2-30CD-2255-B4BF-9184C094A7C1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21DD37-A611-EFB0-48E0-AFA633D4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357" y="132522"/>
            <a:ext cx="6847801" cy="48483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32A6E4-2ADE-B55F-A8CE-7AC4369F048B}"/>
              </a:ext>
            </a:extLst>
          </p:cNvPr>
          <p:cNvSpPr txBox="1"/>
          <p:nvPr/>
        </p:nvSpPr>
        <p:spPr>
          <a:xfrm>
            <a:off x="66263" y="1431235"/>
            <a:ext cx="22197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_B4</a:t>
            </a:r>
          </a:p>
        </p:txBody>
      </p:sp>
    </p:spTree>
    <p:extLst>
      <p:ext uri="{BB962C8B-B14F-4D97-AF65-F5344CB8AC3E}">
        <p14:creationId xmlns:p14="http://schemas.microsoft.com/office/powerpoint/2010/main" val="16700552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4602-3DC0-C2AB-C8FA-B5BF486F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FE6C19-A975-CF80-6674-716A3A5379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53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B6BFC-6782-DD5F-273D-FF039361FEDA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DFD02-A8EC-5606-18D5-02FDFEA53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417" y="-4505"/>
            <a:ext cx="5492879" cy="50928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94C9DD-5CAA-2931-3F2C-2A36ABC3D3AE}"/>
              </a:ext>
            </a:extLst>
          </p:cNvPr>
          <p:cNvSpPr txBox="1"/>
          <p:nvPr/>
        </p:nvSpPr>
        <p:spPr>
          <a:xfrm>
            <a:off x="66263" y="1431234"/>
            <a:ext cx="290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_B5</a:t>
            </a:r>
          </a:p>
        </p:txBody>
      </p:sp>
    </p:spTree>
    <p:extLst>
      <p:ext uri="{BB962C8B-B14F-4D97-AF65-F5344CB8AC3E}">
        <p14:creationId xmlns:p14="http://schemas.microsoft.com/office/powerpoint/2010/main" val="27109400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5C57-771B-BE60-B7A2-CDE8E35E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2C52A3-EE95-51E3-8998-37C4753A4F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54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8B6722-C147-08F0-9544-CB5F69B5D1E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CC6FC-8CD1-A2AF-C580-398A0860A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861" y="-40301"/>
            <a:ext cx="4538869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723C13-9102-E7B1-0608-80546F4B718B}"/>
              </a:ext>
            </a:extLst>
          </p:cNvPr>
          <p:cNvSpPr txBox="1"/>
          <p:nvPr/>
        </p:nvSpPr>
        <p:spPr>
          <a:xfrm>
            <a:off x="543341" y="1464365"/>
            <a:ext cx="318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_B5</a:t>
            </a:r>
          </a:p>
        </p:txBody>
      </p:sp>
    </p:spTree>
    <p:extLst>
      <p:ext uri="{BB962C8B-B14F-4D97-AF65-F5344CB8AC3E}">
        <p14:creationId xmlns:p14="http://schemas.microsoft.com/office/powerpoint/2010/main" val="17532787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EA79-7A2C-BA93-227D-DEDCC50D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E64B51-1317-9725-E63A-B24818D43748}"/>
              </a:ext>
            </a:extLst>
          </p:cNvPr>
          <p:cNvSpPr txBox="1"/>
          <p:nvPr/>
        </p:nvSpPr>
        <p:spPr>
          <a:xfrm>
            <a:off x="0" y="145257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26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 _CP NHỰA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2A4E31-1032-35C5-A51E-1913044068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55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2ABD7C-7A30-42A3-D21B-E55476E43D91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14E2E7-3AB7-5075-3CD9-FFB2E7657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866"/>
            <a:ext cx="9144000" cy="390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205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8367-C130-47C9-D690-D755CBFD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F1C4AE-A7AA-B8CB-FA87-A1587A26FBC8}"/>
              </a:ext>
            </a:extLst>
          </p:cNvPr>
          <p:cNvSpPr txBox="1"/>
          <p:nvPr/>
        </p:nvSpPr>
        <p:spPr>
          <a:xfrm>
            <a:off x="0" y="172278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26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 _CP NHỰA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21FCF2-78E9-7F82-4DA2-1B54B6A769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56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50049-22FE-AFC1-7A97-DD37CACEFAF6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511B6-0487-5D0B-F83B-02F29402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5103"/>
            <a:ext cx="9144000" cy="321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064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5A58-FF0E-190C-10B4-A8F8EBCA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81706D-DF8F-F3C9-61C4-CB558602A8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57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F11F19-438C-8C21-0FAD-D5EB998CD913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FF8A0B-D9B9-5973-2AA0-D024FBD8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66437"/>
            <a:ext cx="8842254" cy="49550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D505DD-1C2E-990A-2D86-EA291B6A6946}"/>
              </a:ext>
            </a:extLst>
          </p:cNvPr>
          <p:cNvSpPr txBox="1"/>
          <p:nvPr/>
        </p:nvSpPr>
        <p:spPr>
          <a:xfrm>
            <a:off x="178904" y="1827312"/>
            <a:ext cx="2683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14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</a:t>
            </a:r>
            <a:r>
              <a:rPr lang="en-US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_CP NHỰA</a:t>
            </a:r>
            <a:endParaRPr lang="en-US" sz="1400" b="1" dirty="0">
              <a:solidFill>
                <a:srgbClr val="FF0000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28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F54B8-BE2D-69DD-37CC-0C96CA34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659971-22FF-130B-3705-8B6A0C728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94744D-7CDA-5840-8B3B-0CCC3B006A78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1938B-7101-9ED4-7002-BD60559CC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39311"/>
            <a:ext cx="8786192" cy="4998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A5643B-E8EC-EA06-69AA-2C42E5709A97}"/>
              </a:ext>
            </a:extLst>
          </p:cNvPr>
          <p:cNvSpPr txBox="1"/>
          <p:nvPr/>
        </p:nvSpPr>
        <p:spPr>
          <a:xfrm>
            <a:off x="178904" y="1827312"/>
            <a:ext cx="18213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14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</a:t>
            </a:r>
            <a:r>
              <a:rPr lang="en-US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_CP NHỰA</a:t>
            </a:r>
            <a:endParaRPr lang="en-US" sz="1400" b="1" dirty="0">
              <a:solidFill>
                <a:srgbClr val="FF0000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7327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9043-27CD-6A37-35A4-E2C032B44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5DDA89-B3E8-D6F6-FD70-6C0147634D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69F97-E231-BB12-F4A5-D414FE04F4C5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71F163-1D67-F50D-A272-9754443BD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" b="1667"/>
          <a:stretch>
            <a:fillRect/>
          </a:stretch>
        </p:blipFill>
        <p:spPr>
          <a:xfrm>
            <a:off x="292100" y="-53009"/>
            <a:ext cx="8420100" cy="51098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3CB2FF-4EEE-57B9-6F05-7FEA160476E4}"/>
              </a:ext>
            </a:extLst>
          </p:cNvPr>
          <p:cNvSpPr txBox="1"/>
          <p:nvPr/>
        </p:nvSpPr>
        <p:spPr>
          <a:xfrm>
            <a:off x="178904" y="1827312"/>
            <a:ext cx="2683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14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</a:t>
            </a:r>
            <a:r>
              <a:rPr lang="en-US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_CP NHỰA</a:t>
            </a:r>
            <a:endParaRPr lang="en-US" sz="1400" b="1" dirty="0">
              <a:solidFill>
                <a:srgbClr val="FF0000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8109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8D72-2261-D8C2-8076-4EE7EDDA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7F1ABB-14A7-A2D0-0A55-9FA93EC7BD74}"/>
              </a:ext>
            </a:extLst>
          </p:cNvPr>
          <p:cNvSpPr txBox="1"/>
          <p:nvPr/>
        </p:nvSpPr>
        <p:spPr>
          <a:xfrm>
            <a:off x="632532" y="302686"/>
            <a:ext cx="8388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TÓM TẮT GIÁ THÀNH CÁC LOẠI VẢY SAU RỮA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946525-7A56-2610-ABB9-263CA30D1E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60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66330-9436-83ED-434B-17CAF0F8316C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9AE5B9-2C28-1AF8-BB1C-EE4020AAF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3" y="914397"/>
            <a:ext cx="8979708" cy="321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413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6C61-BD96-9FB5-08B5-42FF1BF5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CB40D5-EEF2-D088-EDD7-A49EACAEDB83}"/>
              </a:ext>
            </a:extLst>
          </p:cNvPr>
          <p:cNvSpPr txBox="1"/>
          <p:nvPr/>
        </p:nvSpPr>
        <p:spPr>
          <a:xfrm>
            <a:off x="0" y="866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PHÓ SẢN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23802C-0CFE-32C5-D50A-1E4312B872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61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24082-457E-DBE1-3442-1E9054592D3F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B0208-8CCD-6E72-168B-CAA5FE68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87" y="579126"/>
            <a:ext cx="83566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6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6097-AB2C-B230-64F4-A2DCE2F9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454832-D760-B0E1-76FC-DAA0E0525B10}"/>
              </a:ext>
            </a:extLst>
          </p:cNvPr>
          <p:cNvSpPr txBox="1"/>
          <p:nvPr/>
        </p:nvSpPr>
        <p:spPr>
          <a:xfrm>
            <a:off x="1" y="34766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LUỒNG GIÁ TRỊ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5D19963-9557-599E-ACB3-1A746E8A3E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62</a:t>
            </a:fld>
            <a:endParaRPr lang="e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C75638-6566-D3F3-9289-4C13F031127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0C021-7848-4D3C-C2BB-10BA220BACF7}"/>
              </a:ext>
            </a:extLst>
          </p:cNvPr>
          <p:cNvSpPr txBox="1"/>
          <p:nvPr/>
        </p:nvSpPr>
        <p:spPr>
          <a:xfrm>
            <a:off x="610341" y="1108041"/>
            <a:ext cx="8165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1800" dirty="0">
                <a:solidFill>
                  <a:srgbClr val="0000FF"/>
                </a:solidFill>
              </a:rPr>
              <a:t>“Mô hình giá thành đã đúng,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vi-VN" sz="1800" dirty="0">
                <a:solidFill>
                  <a:srgbClr val="0000FF"/>
                </a:solidFill>
              </a:rPr>
              <a:t>nhưng lợi nhuận nằm ở vận hành và cơ cấu sản phẩm.”</a:t>
            </a:r>
          </a:p>
        </p:txBody>
      </p:sp>
    </p:spTree>
    <p:extLst>
      <p:ext uri="{BB962C8B-B14F-4D97-AF65-F5344CB8AC3E}">
        <p14:creationId xmlns:p14="http://schemas.microsoft.com/office/powerpoint/2010/main" val="32469089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64;p47">
            <a:extLst>
              <a:ext uri="{FF2B5EF4-FFF2-40B4-BE49-F238E27FC236}">
                <a16:creationId xmlns:a16="http://schemas.microsoft.com/office/drawing/2014/main" id="{A8746D1E-6BF5-4678-BDF6-54834ADDE5D2}"/>
              </a:ext>
            </a:extLst>
          </p:cNvPr>
          <p:cNvSpPr txBox="1">
            <a:spLocks/>
          </p:cNvSpPr>
          <p:nvPr/>
        </p:nvSpPr>
        <p:spPr>
          <a:xfrm>
            <a:off x="1875087" y="2285400"/>
            <a:ext cx="507435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800">
                <a:solidFill>
                  <a:schemeClr val="bg1"/>
                </a:solidFill>
              </a:rPr>
              <a:t>Thank you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7" name="Google Shape;170;p19">
            <a:extLst>
              <a:ext uri="{FF2B5EF4-FFF2-40B4-BE49-F238E27FC236}">
                <a16:creationId xmlns:a16="http://schemas.microsoft.com/office/drawing/2014/main" id="{DB97AC02-F358-4C2D-BB8B-52908F91590A}"/>
              </a:ext>
            </a:extLst>
          </p:cNvPr>
          <p:cNvSpPr txBox="1">
            <a:spLocks/>
          </p:cNvSpPr>
          <p:nvPr/>
        </p:nvSpPr>
        <p:spPr>
          <a:xfrm>
            <a:off x="2981210" y="1504126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>
                <a:solidFill>
                  <a:srgbClr val="119303"/>
                </a:solidFill>
                <a:latin typeface="+mn-lt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3E05C9-56B8-4586-A819-B49F27A2B987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E67B52-CC81-434E-B2A4-97AE3E9EAACD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A86909-5278-4A4F-B3FA-5E61E21B0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793455" y="1593558"/>
            <a:ext cx="798560" cy="691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5ac4e6ea52dc19838b8bff0bdd82f88e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d8ec79b96bd7249962b8c2817860c6b0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610994-6796-415F-8653-E95478AAE5BC}">
  <ds:schemaRefs>
    <ds:schemaRef ds:uri="http://schemas.microsoft.com/office/2006/metadata/properties"/>
    <ds:schemaRef ds:uri="1401b2ec-7936-4f98-86ff-5ef737f58b9c"/>
    <ds:schemaRef ds:uri="http://schemas.microsoft.com/office/2006/documentManagement/types"/>
    <ds:schemaRef ds:uri="http://schemas.microsoft.com/office/infopath/2007/PartnerControls"/>
    <ds:schemaRef ds:uri="c4b5fce3-9bbc-4429-8073-3ae7a9bcc677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DA1C712-36E4-472C-9E89-01DC89F366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F005EB-0ED0-4D03-AB81-6FF2E261A6CD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7043</TotalTime>
  <Words>898</Words>
  <Application>Microsoft Office PowerPoint</Application>
  <PresentationFormat>On-screen Show (16:9)</PresentationFormat>
  <Paragraphs>118</Paragraphs>
  <Slides>63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Anton</vt:lpstr>
      <vt:lpstr>Arial</vt:lpstr>
      <vt:lpstr>Montserrat</vt:lpstr>
      <vt:lpstr>Muli</vt:lpstr>
      <vt:lpstr>Wingdings</vt:lpstr>
      <vt:lpstr>Simple Light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349</cp:revision>
  <cp:lastPrinted>2026-05-26T06:35:42Z</cp:lastPrinted>
  <dcterms:modified xsi:type="dcterms:W3CDTF">2026-06-05T02:27:21Z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