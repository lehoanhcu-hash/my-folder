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19"/>
  </p:notesMasterIdLst>
  <p:sldIdLst>
    <p:sldId id="304" r:id="rId5"/>
    <p:sldId id="377" r:id="rId6"/>
    <p:sldId id="315" r:id="rId7"/>
    <p:sldId id="344" r:id="rId8"/>
    <p:sldId id="325" r:id="rId9"/>
    <p:sldId id="312" r:id="rId10"/>
    <p:sldId id="380" r:id="rId11"/>
    <p:sldId id="297" r:id="rId12"/>
    <p:sldId id="323" r:id="rId13"/>
    <p:sldId id="303" r:id="rId14"/>
    <p:sldId id="310" r:id="rId15"/>
    <p:sldId id="350" r:id="rId16"/>
    <p:sldId id="339" r:id="rId17"/>
    <p:sldId id="341" r:id="rId18"/>
  </p:sldIdLst>
  <p:sldSz cx="9144000" cy="5143500" type="screen16x9"/>
  <p:notesSz cx="9926638" cy="143557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66068FD-31DF-4505-96EA-B953B35EC922}">
          <p14:sldIdLst>
            <p14:sldId id="304"/>
            <p14:sldId id="377"/>
            <p14:sldId id="315"/>
            <p14:sldId id="344"/>
            <p14:sldId id="325"/>
            <p14:sldId id="312"/>
            <p14:sldId id="380"/>
            <p14:sldId id="297"/>
            <p14:sldId id="323"/>
            <p14:sldId id="303"/>
            <p14:sldId id="310"/>
            <p14:sldId id="350"/>
            <p14:sldId id="339"/>
            <p14:sldId id="3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E9AD"/>
    <a:srgbClr val="119303"/>
    <a:srgbClr val="67F753"/>
    <a:srgbClr val="F5F5F5"/>
    <a:srgbClr val="E78BCB"/>
    <a:srgbClr val="424340"/>
    <a:srgbClr val="E2E7EE"/>
    <a:srgbClr val="0000FF"/>
    <a:srgbClr val="29A8FF"/>
    <a:srgbClr val="8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A0D5B3-041C-403F-80FA-A6F45E426811}" v="106" dt="2026-03-17T05:35:34.251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6247" autoAdjust="0"/>
  </p:normalViewPr>
  <p:slideViewPr>
    <p:cSldViewPr snapToGrid="0">
      <p:cViewPr varScale="1">
        <p:scale>
          <a:sx n="96" d="100"/>
          <a:sy n="96" d="100"/>
        </p:scale>
        <p:origin x="45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h, Hoàng Duy" userId="3a448fcf-317f-4972-a161-06742a14d4c7" providerId="ADAL" clId="{CE1C8B88-0719-4E4A-B0E4-7DC533AE261F}"/>
    <pc:docChg chg="delSld modSection">
      <pc:chgData name="Danh, Hoàng Duy" userId="3a448fcf-317f-4972-a161-06742a14d4c7" providerId="ADAL" clId="{CE1C8B88-0719-4E4A-B0E4-7DC533AE261F}" dt="2026-03-17T05:37:02.386" v="1" actId="47"/>
      <pc:docMkLst>
        <pc:docMk/>
      </pc:docMkLst>
      <pc:sldChg chg="del">
        <pc:chgData name="Danh, Hoàng Duy" userId="3a448fcf-317f-4972-a161-06742a14d4c7" providerId="ADAL" clId="{CE1C8B88-0719-4E4A-B0E4-7DC533AE261F}" dt="2026-03-17T05:36:58.715" v="0" actId="47"/>
        <pc:sldMkLst>
          <pc:docMk/>
          <pc:sldMk cId="0" sldId="261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2816104292" sldId="351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3693037521" sldId="355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1808979813" sldId="356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3106691853" sldId="359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3874143046" sldId="360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2709438062" sldId="362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1583724390" sldId="367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3848988868" sldId="372"/>
        </pc:sldMkLst>
      </pc:sldChg>
      <pc:sldChg chg="del">
        <pc:chgData name="Danh, Hoàng Duy" userId="3a448fcf-317f-4972-a161-06742a14d4c7" providerId="ADAL" clId="{CE1C8B88-0719-4E4A-B0E4-7DC533AE261F}" dt="2026-03-17T05:37:02.386" v="1" actId="47"/>
        <pc:sldMkLst>
          <pc:docMk/>
          <pc:sldMk cId="3131429397" sldId="37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8563132363277546"/>
          <c:w val="0.96127612492926384"/>
          <c:h val="0.673897740854530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7650963815168285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12-499F-AD5E-049707D264C7}"/>
                </c:ext>
              </c:extLst>
            </c:dLbl>
            <c:dLbl>
              <c:idx val="3"/>
              <c:layout>
                <c:manualLayout>
                  <c:x val="-5.7650963815168285E-3"/>
                  <c:y val="-3.32581576761399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12-499F-AD5E-049707D264C7}"/>
                </c:ext>
              </c:extLst>
            </c:dLbl>
            <c:dLbl>
              <c:idx val="7"/>
              <c:layout>
                <c:manualLayout>
                  <c:x val="0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12-499F-AD5E-049707D264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187999461059</c:v>
                </c:pt>
                <c:pt idx="2">
                  <c:v>150253332680</c:v>
                </c:pt>
                <c:pt idx="3">
                  <c:v>125429649855</c:v>
                </c:pt>
                <c:pt idx="4">
                  <c:v>152067142852</c:v>
                </c:pt>
                <c:pt idx="5">
                  <c:v>119134672797</c:v>
                </c:pt>
                <c:pt idx="6">
                  <c:v>137991406898</c:v>
                </c:pt>
                <c:pt idx="7">
                  <c:v>168442653383</c:v>
                </c:pt>
                <c:pt idx="8">
                  <c:v>84710435067</c:v>
                </c:pt>
                <c:pt idx="9">
                  <c:v>108928556660</c:v>
                </c:pt>
                <c:pt idx="10">
                  <c:v>88347880802</c:v>
                </c:pt>
                <c:pt idx="11">
                  <c:v>99758121581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0"/>
              <c:layout>
                <c:manualLayout>
                  <c:x val="-8.8076843913068113E-18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CE2-4E98-888D-9609E0A6AFBE}"/>
                </c:ext>
              </c:extLst>
            </c:dLbl>
            <c:dLbl>
              <c:idx val="1"/>
              <c:layout>
                <c:manualLayout>
                  <c:x val="0"/>
                  <c:y val="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CE2-4E98-888D-9609E0A6AFBE}"/>
                </c:ext>
              </c:extLst>
            </c:dLbl>
            <c:dLbl>
              <c:idx val="3"/>
              <c:layout>
                <c:manualLayout>
                  <c:x val="-1.9216987938389428E-3"/>
                  <c:y val="0.113077736098875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4"/>
              <c:layout>
                <c:manualLayout>
                  <c:x val="0"/>
                  <c:y val="6.6516315352279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12-499F-AD5E-049707D264C7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7"/>
              <c:layout>
                <c:manualLayout>
                  <c:x val="1.7295289144550415E-2"/>
                  <c:y val="6.651631535228013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0B-47D6-BAFD-C9F83DD2DA56}"/>
                </c:ext>
              </c:extLst>
            </c:dLbl>
            <c:dLbl>
              <c:idx val="8"/>
              <c:layout>
                <c:manualLayout>
                  <c:x val="5.7650963815168285E-3"/>
                  <c:y val="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0"/>
              <c:layout>
                <c:manualLayout>
                  <c:x val="1.9216987938389428E-3"/>
                  <c:y val="1.481847330914996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E0B-47D6-BAFD-C9F83DD2DA56}"/>
                </c:ext>
              </c:extLst>
            </c:dLbl>
            <c:dLbl>
              <c:idx val="11"/>
              <c:layout>
                <c:manualLayout>
                  <c:x val="-1.9216987938389428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96566805360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96630255"/>
        <c:axId val="1296632655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'Vẽ-Phương'!$A$6</c15:sqref>
                        </c15:formulaRef>
                      </c:ext>
                    </c:extLst>
                    <c:strCache>
                      <c:ptCount val="1"/>
                      <c:pt idx="0">
                        <c:v>Dự báo</c:v>
                      </c:pt>
                    </c:strCache>
                  </c:strRef>
                </c:tx>
                <c:spPr>
                  <a:solidFill>
                    <a:srgbClr val="CAF6DF"/>
                  </a:solidFill>
                  <a:ln>
                    <a:noFill/>
                  </a:ln>
                  <a:effectLst/>
                </c:spPr>
                <c:invertIfNegative val="0"/>
                <c:val>
                  <c:numRef>
                    <c:extLst>
                      <c:ext uri="{02D57815-91ED-43cb-92C2-25804820EDAC}">
                        <c15:formulaRef>
                          <c15:sqref>'Vẽ-Phương'!$B$6:$M$6</c15:sqref>
                        </c15:formulaRef>
                      </c:ext>
                    </c:extLst>
                    <c:numCache>
                      <c:formatCode>General</c:formatCode>
                      <c:ptCount val="12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4565-4E12-8476-9225D907220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127974441177.86678</c:v>
                </c:pt>
                <c:pt idx="2">
                  <c:v>141599491827.82724</c:v>
                </c:pt>
                <c:pt idx="3">
                  <c:v>131782266518.60179</c:v>
                </c:pt>
                <c:pt idx="4">
                  <c:v>140244307484.73703</c:v>
                </c:pt>
                <c:pt idx="5">
                  <c:v>141409300219.24362</c:v>
                </c:pt>
                <c:pt idx="6">
                  <c:v>145404057387.95999</c:v>
                </c:pt>
                <c:pt idx="7">
                  <c:v>141276361518.14462</c:v>
                </c:pt>
                <c:pt idx="8">
                  <c:v>148196499542.28259</c:v>
                </c:pt>
                <c:pt idx="9">
                  <c:v>137984481243.16364</c:v>
                </c:pt>
                <c:pt idx="10">
                  <c:v>145929060338.82693</c:v>
                </c:pt>
                <c:pt idx="11">
                  <c:v>147442013746.17145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296632655"/>
        <c:scaling>
          <c:orientation val="minMax"/>
        </c:scaling>
        <c:delete val="0"/>
        <c:axPos val="r"/>
        <c:numFmt formatCode="_(* #,##0_);_(* \(#,##0\);;_(@_)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630255"/>
        <c:crosses val="max"/>
        <c:crossBetween val="between"/>
      </c:valAx>
      <c:catAx>
        <c:axId val="1296630255"/>
        <c:scaling>
          <c:orientation val="minMax"/>
        </c:scaling>
        <c:delete val="1"/>
        <c:axPos val="b"/>
        <c:majorTickMark val="out"/>
        <c:minorTickMark val="none"/>
        <c:tickLblPos val="nextTo"/>
        <c:crossAx val="12966326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4959641299032E-4"/>
          <c:y val="0.19893458670323144"/>
          <c:w val="0.99971008071740197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10"/>
              <c:layout>
                <c:manualLayout>
                  <c:x val="-1.9216987938389569E-2"/>
                  <c:y val="-6.6516315352279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45D-488D-B99D-6C605235C9DE}"/>
                </c:ext>
              </c:extLst>
            </c:dLbl>
            <c:dLbl>
              <c:idx val="11"/>
              <c:layout>
                <c:manualLayout>
                  <c:x val="-9.6084939691948555E-3"/>
                  <c:y val="-9.31228414931917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45D-488D-B99D-6C605235C9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#,##0,,,_);_(* \(#,##0,,,\);_(* "-"??_);_(@_)</c:formatCode>
                <c:ptCount val="12"/>
                <c:pt idx="0">
                  <c:v>114462510402</c:v>
                </c:pt>
                <c:pt idx="1">
                  <c:v>302461971461</c:v>
                </c:pt>
                <c:pt idx="2">
                  <c:v>452715304141</c:v>
                </c:pt>
                <c:pt idx="3">
                  <c:v>578144953996</c:v>
                </c:pt>
                <c:pt idx="4">
                  <c:v>730212096848</c:v>
                </c:pt>
                <c:pt idx="5">
                  <c:v>849346769645</c:v>
                </c:pt>
                <c:pt idx="6">
                  <c:v>987338176543</c:v>
                </c:pt>
                <c:pt idx="7">
                  <c:v>1155780829926</c:v>
                </c:pt>
                <c:pt idx="8">
                  <c:v>1240491264993</c:v>
                </c:pt>
                <c:pt idx="9">
                  <c:v>1349419821653</c:v>
                </c:pt>
                <c:pt idx="10">
                  <c:v>1437767702455</c:v>
                </c:pt>
                <c:pt idx="11">
                  <c:v>1537525824036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CAF6D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layout>
                <c:manualLayout>
                  <c:x val="1.9216987938389253E-3"/>
                  <c:y val="-3.325815767613991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45D-488D-B99D-6C605235C9DE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-7.0461475130454491E-17"/>
                  <c:y val="-1.995489460568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-1.1530192763033657E-2"/>
                  <c:y val="-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0"/>
                  <c:y val="5.32130522818238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-5.7650963815169699E-3"/>
                  <c:y val="4.656142074659582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-1.9216987938389428E-3"/>
                  <c:y val="2.6606526140911933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#,##0,,,_);_(* \(#,##0,,,\);_(* "-"??_);_(@_)</c:formatCode>
                <c:ptCount val="12"/>
                <c:pt idx="0">
                  <c:v>126099036923</c:v>
                </c:pt>
                <c:pt idx="1">
                  <c:v>222665842283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24B5-4158-90DB-B7140E262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46951599"/>
        <c:axId val="1546951119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spPr>
                <a:solidFill>
                  <a:sysClr val="window" lastClr="FFFFFF"/>
                </a:solidFill>
                <a:ln w="19050" cap="flat" cmpd="sng" algn="ctr">
                  <a:solidFill>
                    <a:srgbClr val="FF0000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F45D-488D-B99D-6C605235C9DE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#,##0,,,_);_(* \(#,##0,,,\);_(* "-"??_);_(@_)</c:formatCode>
                <c:ptCount val="12"/>
                <c:pt idx="0">
                  <c:v>129505341136.8568</c:v>
                </c:pt>
                <c:pt idx="1">
                  <c:v>257479782314.72357</c:v>
                </c:pt>
                <c:pt idx="2">
                  <c:v>399079274142.55078</c:v>
                </c:pt>
                <c:pt idx="3">
                  <c:v>530861540661.15259</c:v>
                </c:pt>
                <c:pt idx="4">
                  <c:v>671105848145.88965</c:v>
                </c:pt>
                <c:pt idx="5">
                  <c:v>812515148365.1333</c:v>
                </c:pt>
                <c:pt idx="6">
                  <c:v>957919205753.09326</c:v>
                </c:pt>
                <c:pt idx="7">
                  <c:v>1099195567271.2379</c:v>
                </c:pt>
                <c:pt idx="8">
                  <c:v>1247392066813.5205</c:v>
                </c:pt>
                <c:pt idx="9">
                  <c:v>1385376548056.6841</c:v>
                </c:pt>
                <c:pt idx="10">
                  <c:v>1531305608395.511</c:v>
                </c:pt>
                <c:pt idx="11">
                  <c:v>1678747622141.6824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,,,_);_(* \(#,##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54695111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951599"/>
        <c:crosses val="max"/>
        <c:crossBetween val="between"/>
      </c:valAx>
      <c:catAx>
        <c:axId val="1546951599"/>
        <c:scaling>
          <c:orientation val="minMax"/>
        </c:scaling>
        <c:delete val="1"/>
        <c:axPos val="b"/>
        <c:majorTickMark val="out"/>
        <c:minorTickMark val="none"/>
        <c:tickLblPos val="nextTo"/>
        <c:crossAx val="154695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37535368107E-2"/>
          <c:y val="0.17897969209754749"/>
          <c:w val="0.96127612492926384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8"/>
              <c:layout>
                <c:manualLayout>
                  <c:x val="0"/>
                  <c:y val="5.32130522818238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437-4395-A92B-98E0BFBDEC8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#,##0.00,,,_);_(* \(#,##0.00,,,\);;_(@_)</c:formatCode>
                <c:ptCount val="12"/>
                <c:pt idx="0">
                  <c:v>4897080552</c:v>
                </c:pt>
                <c:pt idx="1">
                  <c:v>17400796729</c:v>
                </c:pt>
                <c:pt idx="2">
                  <c:v>7098249059</c:v>
                </c:pt>
                <c:pt idx="3">
                  <c:v>3750983485</c:v>
                </c:pt>
                <c:pt idx="4">
                  <c:v>9530204304</c:v>
                </c:pt>
                <c:pt idx="5">
                  <c:v>1072500757</c:v>
                </c:pt>
                <c:pt idx="6">
                  <c:v>1039517857</c:v>
                </c:pt>
                <c:pt idx="7">
                  <c:v>93219731</c:v>
                </c:pt>
                <c:pt idx="8">
                  <c:v>-10202154651</c:v>
                </c:pt>
                <c:pt idx="9">
                  <c:v>-4684658050</c:v>
                </c:pt>
                <c:pt idx="10">
                  <c:v>-6920497847</c:v>
                </c:pt>
                <c:pt idx="11">
                  <c:v>2661513008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7F-465E-B3B0-F50084385C9C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5E0B-47D6-BAFD-C9F83DD2DA56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E0B-47D6-BAFD-C9F83DD2DA56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E0B-47D6-BAFD-C9F83DD2DA56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E0B-47D6-BAFD-C9F83DD2DA56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E0B-47D6-BAFD-C9F83DD2DA56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E0B-47D6-BAFD-C9F83DD2DA56}"/>
              </c:ext>
            </c:extLst>
          </c:dPt>
          <c:dPt>
            <c:idx val="11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E0B-47D6-BAFD-C9F83DD2DA56}"/>
              </c:ext>
            </c:extLst>
          </c:dPt>
          <c:dLbls>
            <c:dLbl>
              <c:idx val="3"/>
              <c:layout>
                <c:manualLayout>
                  <c:x val="1.9216987938389077E-3"/>
                  <c:y val="3.99097892113679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A8-4656-84F3-1B87E60153DB}"/>
                </c:ext>
              </c:extLst>
            </c:dLbl>
            <c:dLbl>
              <c:idx val="6"/>
              <c:layout>
                <c:manualLayout>
                  <c:x val="0"/>
                  <c:y val="1.99548946056838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0B-47D6-BAFD-C9F83DD2DA56}"/>
                </c:ext>
              </c:extLst>
            </c:dLbl>
            <c:dLbl>
              <c:idx val="8"/>
              <c:layout>
                <c:manualLayout>
                  <c:x val="3.8433975876777447E-3"/>
                  <c:y val="-6.651107784713398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E0B-47D6-BAFD-C9F83DD2DA56}"/>
                </c:ext>
              </c:extLst>
            </c:dLbl>
            <c:dLbl>
              <c:idx val="11"/>
              <c:layout>
                <c:manualLayout>
                  <c:x val="1.921698793838943E-2"/>
                  <c:y val="9.31228414931917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E0B-47D6-BAFD-C9F83DD2DA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#,##0.00,,,_);_(* \(#,##0.00,,,\);;_(@_)</c:formatCode>
                <c:ptCount val="12"/>
                <c:pt idx="0">
                  <c:v>-1693460736</c:v>
                </c:pt>
                <c:pt idx="1">
                  <c:v>-6419213738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7873-41C8-B971-500DCA1791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00843631"/>
        <c:axId val="1300837391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#,##0.00,,,_);_(* \(#,##0.00,,,\);;_(@_)</c:formatCode>
                <c:ptCount val="12"/>
                <c:pt idx="0">
                  <c:v>1521095499.7650661</c:v>
                </c:pt>
                <c:pt idx="1">
                  <c:v>-1325103642.6497841</c:v>
                </c:pt>
                <c:pt idx="2">
                  <c:v>5063579812.0372438</c:v>
                </c:pt>
                <c:pt idx="3">
                  <c:v>2987787736.05583</c:v>
                </c:pt>
                <c:pt idx="4">
                  <c:v>3130291883.7845154</c:v>
                </c:pt>
                <c:pt idx="5">
                  <c:v>2831772640.584898</c:v>
                </c:pt>
                <c:pt idx="6">
                  <c:v>7350302403.1836166</c:v>
                </c:pt>
                <c:pt idx="7">
                  <c:v>6722008020.0142345</c:v>
                </c:pt>
                <c:pt idx="8">
                  <c:v>6109248285.174057</c:v>
                </c:pt>
                <c:pt idx="9">
                  <c:v>6665662779.7506657</c:v>
                </c:pt>
                <c:pt idx="10">
                  <c:v>7122677929.8157387</c:v>
                </c:pt>
                <c:pt idx="11">
                  <c:v>5291449007.4755802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7F-465E-B3B0-F50084385C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0,,,_);_(* \(#,##0.00,,,\);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13008373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0843631"/>
        <c:crosses val="max"/>
        <c:crossBetween val="between"/>
      </c:valAx>
      <c:catAx>
        <c:axId val="1300843631"/>
        <c:scaling>
          <c:orientation val="minMax"/>
        </c:scaling>
        <c:delete val="1"/>
        <c:axPos val="b"/>
        <c:majorTickMark val="out"/>
        <c:minorTickMark val="none"/>
        <c:tickLblPos val="nextTo"/>
        <c:crossAx val="13008373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361947579688465E-2"/>
          <c:y val="0.19893458670323144"/>
          <c:w val="0.96127612492926384"/>
          <c:h val="0.680549372389758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'Vẽ-Phương'!$A$4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2E7EE"/>
            </a:solidFill>
            <a:ln>
              <a:noFill/>
            </a:ln>
            <a:effectLst/>
          </c:spPr>
          <c:invertIfNegative val="0"/>
          <c:dLbls>
            <c:dLbl>
              <c:idx val="8"/>
              <c:layout>
                <c:manualLayout>
                  <c:x val="-1.9216987938389428E-3"/>
                  <c:y val="2.66065261409119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9FC-49B1-9E2A-6F8ADAB87AD5}"/>
                </c:ext>
              </c:extLst>
            </c:dLbl>
            <c:dLbl>
              <c:idx val="9"/>
              <c:layout>
                <c:manualLayout>
                  <c:x val="0"/>
                  <c:y val="3.99097892113679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E01-4A03-AE82-B08F6E02B15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'Vẽ-Phương'!$B$4:$M$4</c:f>
              <c:numCache>
                <c:formatCode>_(* #,##0.0,,,_);_(* \(#,##0.0,,,\);_(* "-"??_);_(@_)</c:formatCode>
                <c:ptCount val="12"/>
                <c:pt idx="0">
                  <c:v>4897080552</c:v>
                </c:pt>
                <c:pt idx="1">
                  <c:v>22297877281</c:v>
                </c:pt>
                <c:pt idx="2">
                  <c:v>29396126340</c:v>
                </c:pt>
                <c:pt idx="3">
                  <c:v>33147109825</c:v>
                </c:pt>
                <c:pt idx="4">
                  <c:v>42677314129</c:v>
                </c:pt>
                <c:pt idx="5">
                  <c:v>43749814886</c:v>
                </c:pt>
                <c:pt idx="6">
                  <c:v>44789332743</c:v>
                </c:pt>
                <c:pt idx="7">
                  <c:v>44882552474</c:v>
                </c:pt>
                <c:pt idx="8">
                  <c:v>34680397823</c:v>
                </c:pt>
                <c:pt idx="9">
                  <c:v>29995739773</c:v>
                </c:pt>
                <c:pt idx="10">
                  <c:v>23075241926</c:v>
                </c:pt>
                <c:pt idx="11">
                  <c:v>25736754934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C-49B1-9E2A-6F8ADAB87AD5}"/>
            </c:ext>
          </c:extLst>
        </c:ser>
        <c:ser>
          <c:idx val="1"/>
          <c:order val="1"/>
          <c:tx>
            <c:strRef>
              <c:f>'Vẽ-Phương'!$A$5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74E9AD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F254-4B67-B167-FFF9E994D945}"/>
              </c:ext>
            </c:extLst>
          </c:dPt>
          <c:dPt>
            <c:idx val="6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54-4B67-B167-FFF9E994D945}"/>
              </c:ext>
            </c:extLst>
          </c:dPt>
          <c:dPt>
            <c:idx val="7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F254-4B67-B167-FFF9E994D945}"/>
              </c:ext>
            </c:extLst>
          </c:dPt>
          <c:dPt>
            <c:idx val="8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54-4B67-B167-FFF9E994D945}"/>
              </c:ext>
            </c:extLst>
          </c:dPt>
          <c:dPt>
            <c:idx val="9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254-4B67-B167-FFF9E994D945}"/>
              </c:ext>
            </c:extLst>
          </c:dPt>
          <c:dPt>
            <c:idx val="10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F254-4B67-B167-FFF9E994D945}"/>
              </c:ext>
            </c:extLst>
          </c:dPt>
          <c:dPt>
            <c:idx val="11"/>
            <c:invertIfNegative val="0"/>
            <c:bubble3D val="0"/>
            <c:spPr>
              <a:solidFill>
                <a:srgbClr val="74E9A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54-4B67-B167-FFF9E994D945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2E01-4A03-AE82-B08F6E02B15B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A93-48C0-B60B-494698818C8D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7A-4EED-AEE9-4740BF362757}"/>
                </c:ext>
              </c:extLst>
            </c:dLbl>
            <c:dLbl>
              <c:idx val="6"/>
              <c:layout>
                <c:manualLayout>
                  <c:x val="1.9216987938389428E-3"/>
                  <c:y val="-1.3303263070455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54-4B67-B167-FFF9E994D945}"/>
                </c:ext>
              </c:extLst>
            </c:dLbl>
            <c:dLbl>
              <c:idx val="7"/>
              <c:layout>
                <c:manualLayout>
                  <c:x val="0"/>
                  <c:y val="4.65614207465958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54-4B67-B167-FFF9E994D945}"/>
                </c:ext>
              </c:extLst>
            </c:dLbl>
            <c:dLbl>
              <c:idx val="8"/>
              <c:layout>
                <c:manualLayout>
                  <c:x val="3.8433975876778857E-3"/>
                  <c:y val="-6.651631535227983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54-4B67-B167-FFF9E994D945}"/>
                </c:ext>
              </c:extLst>
            </c:dLbl>
            <c:dLbl>
              <c:idx val="9"/>
              <c:layout>
                <c:manualLayout>
                  <c:x val="3.8433975876777447E-3"/>
                  <c:y val="3.990978921136790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54-4B67-B167-FFF9E994D945}"/>
                </c:ext>
              </c:extLst>
            </c:dLbl>
            <c:dLbl>
              <c:idx val="10"/>
              <c:layout>
                <c:manualLayout>
                  <c:x val="0"/>
                  <c:y val="4.65614207465958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800" b="0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54-4B67-B167-FFF9E994D945}"/>
                </c:ext>
              </c:extLst>
            </c:dLbl>
            <c:dLbl>
              <c:idx val="11"/>
              <c:layout>
                <c:manualLayout>
                  <c:x val="1.1530192763033657E-2"/>
                  <c:y val="-3.9909789211368021E-2"/>
                </c:manualLayout>
              </c:layout>
              <c:spPr>
                <a:noFill/>
                <a:ln>
                  <a:solidFill>
                    <a:srgbClr val="CAF6DF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1930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254-4B67-B167-FFF9E994D9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11930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'Vẽ-Phương'!$B$5:$M$5</c:f>
              <c:numCache>
                <c:formatCode>_(* #,##0.0,,,_);_(* \(#,##0.0,,,\);_(* "-"??_);_(@_)</c:formatCode>
                <c:ptCount val="12"/>
                <c:pt idx="0">
                  <c:v>-1693460736</c:v>
                </c:pt>
                <c:pt idx="1">
                  <c:v>-8112674474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274894383"/>
        <c:axId val="1274880463"/>
      </c:barChart>
      <c:barChart>
        <c:barDir val="col"/>
        <c:grouping val="clustered"/>
        <c:varyColors val="0"/>
        <c:ser>
          <c:idx val="3"/>
          <c:order val="3"/>
          <c:tx>
            <c:strRef>
              <c:f>'Vẽ-Phương'!$A$6</c:f>
              <c:strCache>
                <c:ptCount val="1"/>
                <c:pt idx="0">
                  <c:v>Dự báo</c:v>
                </c:pt>
              </c:strCache>
            </c:strRef>
          </c:tx>
          <c:spPr>
            <a:solidFill>
              <a:srgbClr val="CAF6DF"/>
            </a:solidFill>
            <a:ln>
              <a:noFill/>
            </a:ln>
            <a:effectLst/>
          </c:spPr>
          <c:invertIfNegative val="0"/>
          <c:val>
            <c:numRef>
              <c:f>'Vẽ-Phương'!$B$6:$M$6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E-7939-4186-A812-0A26674D7B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9068735"/>
        <c:axId val="881042095"/>
      </c:barChart>
      <c:lineChart>
        <c:grouping val="standard"/>
        <c:varyColors val="0"/>
        <c:ser>
          <c:idx val="2"/>
          <c:order val="2"/>
          <c:tx>
            <c:strRef>
              <c:f>'Vẽ-Phương'!$A$7</c:f>
              <c:strCache>
                <c:ptCount val="1"/>
                <c:pt idx="0">
                  <c:v>Chỉ tiêu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8"/>
              <c:layout>
                <c:manualLayout>
                  <c:x val="-1.7295289144550485E-2"/>
                  <c:y val="-3.32581576761399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254-4B67-B167-FFF9E994D945}"/>
                </c:ext>
              </c:extLst>
            </c:dLbl>
            <c:spPr>
              <a:solidFill>
                <a:sysClr val="window" lastClr="FFFFFF"/>
              </a:solidFill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'Vẽ-Phương'!$B$3:$M$3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'Vẽ-Phương'!$B$7:$M$7</c:f>
              <c:numCache>
                <c:formatCode>_(* #,##0.0,,,_);_(* \(#,##0.0,,,\);_(* "-"??_);_(@_)</c:formatCode>
                <c:ptCount val="12"/>
                <c:pt idx="0">
                  <c:v>1521095499.7650661</c:v>
                </c:pt>
                <c:pt idx="1">
                  <c:v>195991857.11528206</c:v>
                </c:pt>
                <c:pt idx="2">
                  <c:v>5259571669.1525259</c:v>
                </c:pt>
                <c:pt idx="3">
                  <c:v>8247359405.2083559</c:v>
                </c:pt>
                <c:pt idx="4">
                  <c:v>11377651288.99287</c:v>
                </c:pt>
                <c:pt idx="5">
                  <c:v>14209423929.577768</c:v>
                </c:pt>
                <c:pt idx="6">
                  <c:v>21559726332.761383</c:v>
                </c:pt>
                <c:pt idx="7">
                  <c:v>28281734352.77562</c:v>
                </c:pt>
                <c:pt idx="8">
                  <c:v>34390982637.949677</c:v>
                </c:pt>
                <c:pt idx="9">
                  <c:v>41056645417.70034</c:v>
                </c:pt>
                <c:pt idx="10">
                  <c:v>48179323347.516083</c:v>
                </c:pt>
                <c:pt idx="11">
                  <c:v>53470772354.991661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FC-49B1-9E2A-6F8ADAB87A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4894383"/>
        <c:axId val="1274880463"/>
      </c:lineChart>
      <c:catAx>
        <c:axId val="1274894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80463"/>
        <c:crosses val="autoZero"/>
        <c:auto val="1"/>
        <c:lblAlgn val="ctr"/>
        <c:lblOffset val="100"/>
        <c:noMultiLvlLbl val="0"/>
      </c:catAx>
      <c:valAx>
        <c:axId val="1274880463"/>
        <c:scaling>
          <c:orientation val="minMax"/>
        </c:scaling>
        <c:delete val="0"/>
        <c:axPos val="l"/>
        <c:numFmt formatCode="_(* #,##0.0,,,_);_(* \(#,##0.0,,,\);_(* &quot;-&quot;??_);_(@_)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4894383"/>
        <c:crosses val="autoZero"/>
        <c:crossBetween val="between"/>
      </c:valAx>
      <c:valAx>
        <c:axId val="88104209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9068735"/>
        <c:crosses val="max"/>
        <c:crossBetween val="between"/>
      </c:valAx>
      <c:catAx>
        <c:axId val="769068735"/>
        <c:scaling>
          <c:orientation val="minMax"/>
        </c:scaling>
        <c:delete val="1"/>
        <c:axPos val="b"/>
        <c:majorTickMark val="out"/>
        <c:minorTickMark val="none"/>
        <c:tickLblPos val="nextTo"/>
        <c:crossAx val="8810420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404410162548235E-3"/>
          <c:y val="2.7729406420351245E-2"/>
          <c:w val="0.40573673997569276"/>
          <c:h val="0.104213258639526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9450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8728" tIns="138728" rIns="138728" bIns="138728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2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2AFB-DC0D-1EB4-DE83-50BCE528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ABDB2-50B2-A217-B635-5434492E7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F7EF0-5A2E-4E0F-C2F4-7962BFE65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76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35AF5-B230-C20C-B6F9-44410601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C77B5-DA70-7333-17C9-D4FDDB412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DB07E-FBAB-E07F-9C62-6970DC39B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43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57C8-0A45-74DD-E0DA-BFFC631A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413EF-5FC9-0ED1-F6FC-BE6F2AE74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BD2AE-574B-8527-8FA5-7E65D27C7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2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B7FF-F0A5-0054-680D-FD837776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9A455-E64F-A745-3CE2-3E63AF15F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4FB0E-B749-1D01-6D73-BDA4A45B8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23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B1FE-8E05-B28A-9AE3-4C144CA1B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45805-2ABD-4B32-05B9-F86BD0C55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984C7-F255-752E-8842-FF477CFA9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95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00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9086A-C3FA-74F1-AFE5-8C14F7597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FA862-B527-4411-CB7C-DCE3B53A4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32CFC-C4F4-54D2-F19F-DACB4BE07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16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59993-AA81-B221-ACAB-5558EF92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9E215-7EDD-345F-05BD-8E1966D72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2F252-C894-D94D-4DF4-73D689CF2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41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4F4E-B4E9-B27A-8B4C-C9E24A5C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CB041-3F04-B1E7-DF74-EE01F91D2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0AFD9-E449-0CCE-CC09-C4AA4DDC3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83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6FBA0-8B0E-AD00-8ED8-BAE2BAC0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0E09B-D9E4-8BF1-BA77-72B153058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9F8EC-CB5D-0E6C-9784-385A57888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Điều</a:t>
            </a:r>
            <a:r>
              <a:rPr lang="en-US"/>
              <a:t> </a:t>
            </a:r>
            <a:r>
              <a:rPr lang="en-US" err="1"/>
              <a:t>chỉnh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bày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khấu</a:t>
            </a:r>
            <a:r>
              <a:rPr lang="en-US"/>
              <a:t> hao &lt;-&gt; </a:t>
            </a:r>
            <a:r>
              <a:rPr lang="en-US" err="1"/>
              <a:t>thuê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18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3D1C-3925-A8DC-CDC0-F48C4763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98C8-BC2B-0B1D-F7C9-0105E1509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980AB-FD76-F002-F7AE-96FFE613F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8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FDBB7-518F-CF9E-A68A-F9C0D8F4D028}"/>
              </a:ext>
            </a:extLst>
          </p:cNvPr>
          <p:cNvSpPr txBox="1"/>
          <p:nvPr userDrawn="1"/>
        </p:nvSpPr>
        <p:spPr>
          <a:xfrm>
            <a:off x="720914" y="4880067"/>
            <a:ext cx="8423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D57F1E4F-1CFF-5643-939E-217C01CDF565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r>
              <a:rPr lang="en-US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/41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3B4F-002D-409B-2342-EED09F17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0A85-2711-6FB8-2AC6-2C758E78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52"/>
            <a:ext cx="8738881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02 – DTR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A4053C-67D3-3602-83BC-1FD5484C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1856"/>
            <a:ext cx="9144000" cy="427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7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3E62-F273-018C-E333-A3985A1B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E103-BE30-6BC1-5184-EF084CD4B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143999" cy="337163"/>
          </a:xfrm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LÃI LỖ THÁNG 02 – 3 TRẠM</a:t>
            </a:r>
            <a:endParaRPr lang="en-US" sz="2200" b="1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A4FC0F-0877-DD59-07FC-5A32E2F05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93150"/>
            <a:ext cx="9144000" cy="465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27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1069-A6E7-141D-0B07-AE4A4E1C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98A6A7-30C3-9951-E884-FBCDACD14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939607"/>
              </p:ext>
            </p:extLst>
          </p:nvPr>
        </p:nvGraphicFramePr>
        <p:xfrm>
          <a:off x="58194" y="58823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Doanh </a:t>
                      </a:r>
                      <a:r>
                        <a:rPr lang="en-US" sz="1000" u="none" dirty="0" err="1"/>
                        <a:t>thu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thuần</a:t>
                      </a:r>
                      <a:r>
                        <a:rPr lang="en-US" sz="1000" u="none" dirty="0"/>
                        <a:t> T02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b="1" u="none" dirty="0"/>
                        <a:t>97</a:t>
                      </a:r>
                      <a:r>
                        <a:rPr lang="en-US" sz="1000" u="none" dirty="0"/>
                        <a:t>/128 </a:t>
                      </a:r>
                      <a:r>
                        <a:rPr lang="en-US" sz="1000" u="none" dirty="0" err="1"/>
                        <a:t>tỷ</a:t>
                      </a:r>
                      <a:r>
                        <a:rPr lang="en-US" sz="1000" u="none" dirty="0"/>
                        <a:t> (75.5%). Nguyên </a:t>
                      </a:r>
                      <a:r>
                        <a:rPr lang="en-US" sz="1000" u="none" dirty="0" err="1"/>
                        <a:t>nhân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không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là</a:t>
                      </a:r>
                      <a:r>
                        <a:rPr lang="en-US" sz="1000" u="none" dirty="0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+ </a:t>
                      </a:r>
                      <a:r>
                        <a:rPr lang="en-US" sz="1000" u="none" dirty="0" err="1"/>
                        <a:t>Sản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lượng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bán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sản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phẩm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chính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chỉ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100" b="1" u="none" dirty="0"/>
                        <a:t>3.17</a:t>
                      </a:r>
                      <a:r>
                        <a:rPr lang="en-US" sz="1000" u="none" dirty="0"/>
                        <a:t>/4.24 </a:t>
                      </a:r>
                      <a:r>
                        <a:rPr lang="en-US" sz="1000" u="none" dirty="0" err="1"/>
                        <a:t>ngàn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tấn</a:t>
                      </a:r>
                      <a:r>
                        <a:rPr lang="en-US" sz="1000" u="none" dirty="0"/>
                        <a:t> (74.6%): </a:t>
                      </a:r>
                      <a:r>
                        <a:rPr lang="en-US" sz="1000" u="none" dirty="0" err="1"/>
                        <a:t>tác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động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b="1" u="none" dirty="0" err="1"/>
                        <a:t>giảm</a:t>
                      </a:r>
                      <a:r>
                        <a:rPr lang="en-US" sz="1000" b="1" u="none" dirty="0"/>
                        <a:t> 32 </a:t>
                      </a:r>
                      <a:r>
                        <a:rPr lang="en-US" sz="1000" b="1" u="none" dirty="0" err="1"/>
                        <a:t>tỷ</a:t>
                      </a:r>
                      <a:r>
                        <a:rPr lang="en-US" sz="1000" b="1" u="none" dirty="0"/>
                        <a:t>. </a:t>
                      </a:r>
                      <a:r>
                        <a:rPr lang="en-US" sz="1000" b="0" u="none" dirty="0" err="1"/>
                        <a:t>Outeirinho</a:t>
                      </a:r>
                      <a:r>
                        <a:rPr lang="en-US" sz="1000" b="0" u="none" dirty="0"/>
                        <a:t>, Premium Water, Uy Kiệt </a:t>
                      </a:r>
                      <a:r>
                        <a:rPr lang="en-US" sz="1000" b="0" u="none" dirty="0" err="1"/>
                        <a:t>chưa</a:t>
                      </a:r>
                      <a:r>
                        <a:rPr lang="en-US" sz="1000" b="0" u="none" dirty="0"/>
                        <a:t> </a:t>
                      </a:r>
                      <a:r>
                        <a:rPr lang="en-US" sz="1000" b="0" u="none" dirty="0" err="1"/>
                        <a:t>lấy</a:t>
                      </a:r>
                      <a:r>
                        <a:rPr lang="en-US" sz="1000" b="0" u="none" dirty="0"/>
                        <a:t> </a:t>
                      </a:r>
                      <a:r>
                        <a:rPr lang="en-US" sz="1000" b="0" u="none" dirty="0" err="1"/>
                        <a:t>hàng</a:t>
                      </a:r>
                      <a:r>
                        <a:rPr lang="en-US" sz="1000" b="0" u="none" dirty="0"/>
                        <a:t> </a:t>
                      </a:r>
                      <a:r>
                        <a:rPr lang="en-US" sz="1000" b="0" u="none" dirty="0" err="1"/>
                        <a:t>trong</a:t>
                      </a:r>
                      <a:r>
                        <a:rPr lang="en-US" sz="1000" b="0" u="none" dirty="0"/>
                        <a:t> T02 (</a:t>
                      </a:r>
                      <a:r>
                        <a:rPr lang="en-US" sz="1000" b="0" u="none" dirty="0" err="1"/>
                        <a:t>thực</a:t>
                      </a:r>
                      <a:r>
                        <a:rPr lang="en-US" sz="1000" b="0" u="none" dirty="0"/>
                        <a:t> </a:t>
                      </a:r>
                      <a:r>
                        <a:rPr lang="en-US" sz="1000" b="0" u="none" dirty="0" err="1"/>
                        <a:t>tế</a:t>
                      </a:r>
                      <a:r>
                        <a:rPr lang="en-US" sz="1000" b="0" u="none" dirty="0"/>
                        <a:t> T03 </a:t>
                      </a:r>
                      <a:r>
                        <a:rPr lang="en-US" sz="1000" b="0" u="none" dirty="0" err="1"/>
                        <a:t>mới</a:t>
                      </a:r>
                      <a:r>
                        <a:rPr lang="en-US" sz="1000" b="0" u="none" dirty="0"/>
                        <a:t> </a:t>
                      </a:r>
                      <a:r>
                        <a:rPr lang="en-US" sz="1000" b="0" u="none" dirty="0" err="1"/>
                        <a:t>nhận</a:t>
                      </a:r>
                      <a:r>
                        <a:rPr lang="en-US" sz="1000" b="0" u="none" dirty="0"/>
                        <a:t>),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1" u="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r>
                        <a:rPr lang="en-US" dirty="0"/>
                        <a:t>2 (</a:t>
                      </a:r>
                      <a:r>
                        <a:rPr lang="en-US" dirty="0" err="1"/>
                        <a:t>thu</a:t>
                      </a:r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BD14D59-E52C-4AEC-E23F-A01EDF0C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085805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3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300" b="1">
                <a:solidFill>
                  <a:schemeClr val="accent2">
                    <a:lumMod val="75000"/>
                  </a:schemeClr>
                </a:solidFill>
              </a:rPr>
              <a:t>GIẢI TRÌNH DOANH THU</a:t>
            </a:r>
            <a:endParaRPr lang="en-US" sz="23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130BEDC-8830-AA2C-D6CE-032D13175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8864720"/>
              </p:ext>
            </p:extLst>
          </p:nvPr>
        </p:nvGraphicFramePr>
        <p:xfrm>
          <a:off x="58195" y="80659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B237680-819E-EC6E-D41F-B19E93EC7702}"/>
              </a:ext>
            </a:extLst>
          </p:cNvPr>
          <p:cNvSpPr/>
          <p:nvPr/>
        </p:nvSpPr>
        <p:spPr>
          <a:xfrm>
            <a:off x="58195" y="58823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DOANH THU THUẦN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0EA6F-2D53-E4B7-293E-26704F295D36}"/>
              </a:ext>
            </a:extLst>
          </p:cNvPr>
          <p:cNvSpPr/>
          <p:nvPr/>
        </p:nvSpPr>
        <p:spPr>
          <a:xfrm>
            <a:off x="58195" y="2695291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DOANH THU THUẦN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24E2B08-E421-0097-BABF-0E47D73A24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6739506"/>
              </p:ext>
            </p:extLst>
          </p:nvPr>
        </p:nvGraphicFramePr>
        <p:xfrm>
          <a:off x="58195" y="291337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95E6761-BEB0-E07D-620F-3E30380E5176}"/>
              </a:ext>
            </a:extLst>
          </p:cNvPr>
          <p:cNvSpPr txBox="1"/>
          <p:nvPr/>
        </p:nvSpPr>
        <p:spPr>
          <a:xfrm>
            <a:off x="5896612" y="58694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91F701-DD65-569C-8158-7E7319F27F65}"/>
              </a:ext>
            </a:extLst>
          </p:cNvPr>
          <p:cNvSpPr txBox="1"/>
          <p:nvPr/>
        </p:nvSpPr>
        <p:spPr>
          <a:xfrm>
            <a:off x="5896613" y="270444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78206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E1A1-2B3E-8A44-EA21-6B32CBC4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GIÁ BÁN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C6F4F-DCC0-F9AC-B309-0D22409660BC}"/>
              </a:ext>
            </a:extLst>
          </p:cNvPr>
          <p:cNvSpPr txBox="1"/>
          <p:nvPr/>
        </p:nvSpPr>
        <p:spPr>
          <a:xfrm>
            <a:off x="0" y="4701859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u="sng" err="1"/>
              <a:t>Ghi</a:t>
            </a:r>
            <a:r>
              <a:rPr lang="en-US" sz="800" i="1" u="sng"/>
              <a:t> </a:t>
            </a:r>
            <a:r>
              <a:rPr lang="en-US" sz="800" i="1" u="sng" err="1"/>
              <a:t>chú</a:t>
            </a:r>
            <a:r>
              <a:rPr lang="en-US" sz="800" i="1"/>
              <a:t>: </a:t>
            </a:r>
            <a:r>
              <a:rPr lang="en-US" sz="800" i="1" err="1"/>
              <a:t>lấy</a:t>
            </a:r>
            <a:r>
              <a:rPr lang="en-US" sz="800" i="1"/>
              <a:t> </a:t>
            </a:r>
            <a:r>
              <a:rPr lang="en-US" sz="800" i="1" err="1"/>
              <a:t>hạt</a:t>
            </a:r>
            <a:r>
              <a:rPr lang="en-US" sz="800" i="1"/>
              <a:t> </a:t>
            </a:r>
            <a:r>
              <a:rPr lang="en-US" sz="800" i="1" err="1"/>
              <a:t>rPET</a:t>
            </a:r>
            <a:endParaRPr lang="en-US" sz="800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BB10C-A263-180F-F55B-772ECAA6B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132"/>
            <a:ext cx="9144000" cy="438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24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00A90-5405-EB02-E8A6-C76DA193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957F-5186-1C98-EE4C-9C59C2AC2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D.THU 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00BE8B6-6083-B7AE-2EFA-0BF3D2170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834136"/>
              </p:ext>
            </p:extLst>
          </p:nvPr>
        </p:nvGraphicFramePr>
        <p:xfrm>
          <a:off x="4648200" y="2627178"/>
          <a:ext cx="4407310" cy="2280344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881462">
                  <a:extLst>
                    <a:ext uri="{9D8B030D-6E8A-4147-A177-3AD203B41FA5}">
                      <a16:colId xmlns:a16="http://schemas.microsoft.com/office/drawing/2014/main" val="1717908629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5591973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6315876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1671578071"/>
                    </a:ext>
                  </a:extLst>
                </a:gridCol>
                <a:gridCol w="881462">
                  <a:extLst>
                    <a:ext uri="{9D8B030D-6E8A-4147-A177-3AD203B41FA5}">
                      <a16:colId xmlns:a16="http://schemas.microsoft.com/office/drawing/2014/main" val="337286103"/>
                    </a:ext>
                  </a:extLst>
                </a:gridCol>
              </a:tblGrid>
              <a:tr h="622083">
                <a:tc>
                  <a:txBody>
                    <a:bodyPr/>
                    <a:lstStyle/>
                    <a:p>
                      <a:pPr algn="ctr"/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Đơn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EXW 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(USD/</a:t>
                      </a:r>
                      <a:r>
                        <a:rPr lang="en-US" sz="900" b="1" i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tấn</a:t>
                      </a:r>
                      <a:r>
                        <a:rPr lang="en-US" sz="900" b="1" i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Kế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hoạch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Thực</a:t>
                      </a:r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b="1" err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tế</a:t>
                      </a:r>
                      <a:endParaRPr lang="en-US" b="1">
                        <a:solidFill>
                          <a:schemeClr val="bg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</a:rPr>
                        <a:t>%+/-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91827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rPET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$1,116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$1,127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$11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1.0%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3171756"/>
                  </a:ext>
                </a:extLst>
              </a:tr>
              <a:tr h="436304"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thổi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$1,167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$1,333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$165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14.1%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7950092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err="1">
                          <a:latin typeface="Aptos Narrow" panose="020B0004020202020204" pitchFamily="34" charset="0"/>
                        </a:rPr>
                        <a:t>rHDPE</a:t>
                      </a:r>
                      <a:r>
                        <a:rPr lang="en-US" sz="120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200" err="1">
                          <a:latin typeface="Aptos Narrow" panose="020B0004020202020204" pitchFamily="34" charset="0"/>
                        </a:rPr>
                        <a:t>ép</a:t>
                      </a:r>
                      <a:endParaRPr lang="en-US" sz="120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Aptos Narrow" panose="020B0004020202020204" pitchFamily="34" charset="0"/>
                        </a:rPr>
                        <a:t>$635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N/A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N/A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7803400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Aptos Narrow" panose="020B0004020202020204" pitchFamily="34" charset="0"/>
                        </a:rPr>
                        <a:t>rPP</a:t>
                      </a:r>
                      <a:endParaRPr lang="en-US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Aptos Narrow" panose="020B0004020202020204" pitchFamily="34" charset="0"/>
                        </a:rPr>
                        <a:t>$700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$764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$64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9.2%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1698325"/>
                  </a:ext>
                </a:extLst>
              </a:tr>
              <a:tr h="29166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ptos Narrow" panose="020B0004020202020204" pitchFamily="34" charset="0"/>
                        </a:rPr>
                        <a:t>Xơ</a:t>
                      </a:r>
                      <a:r>
                        <a:rPr lang="en-US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ptos Narrow" panose="020B0004020202020204" pitchFamily="34" charset="0"/>
                        </a:rPr>
                        <a:t>sợi</a:t>
                      </a:r>
                      <a:endParaRPr lang="en-US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$627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ptos Narrow" panose="020B0004020202020204" pitchFamily="34" charset="0"/>
                        </a:rPr>
                        <a:t>$700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$73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11.7%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460094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EF30183-C6A8-F31D-C481-08B451614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6" y="2627178"/>
            <a:ext cx="4579694" cy="2277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405F8C-AEF2-062B-7180-660844161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" y="294312"/>
            <a:ext cx="9144000" cy="227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0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2FDD3-7510-78FD-575E-2C825D4C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6F3F-20E5-63CB-1983-7C9780A4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67521" cy="348975"/>
          </a:xfrm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1600" b="1">
                <a:solidFill>
                  <a:schemeClr val="accent2">
                    <a:lumMod val="75000"/>
                  </a:schemeClr>
                </a:solidFill>
              </a:rPr>
              <a:t>BIẾN ĐỘNG DOANH THU THEO YẾU TỐ &amp; NGÀNH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48C975-1F6E-4A51-7B7D-8AA3948B7BFF}"/>
              </a:ext>
            </a:extLst>
          </p:cNvPr>
          <p:cNvSpPr txBox="1"/>
          <p:nvPr/>
        </p:nvSpPr>
        <p:spPr>
          <a:xfrm>
            <a:off x="-23521" y="4769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Tác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AF143D-7310-B1EB-6B78-70FE2D135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181"/>
            <a:ext cx="9144000" cy="450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93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263B6-16A5-03EB-A670-87E4EAE6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43C-48A3-7F34-838C-26D1E160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19" y="-6767"/>
            <a:ext cx="8460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3.1. KẾT QUẢ HOẠT ĐỘNG KINH DOANH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BIẾN ĐỘNG </a:t>
            </a:r>
            <a:r>
              <a:rPr lang="vi-VN" sz="2000" b="1">
                <a:solidFill>
                  <a:schemeClr val="accent2">
                    <a:lumMod val="75000"/>
                  </a:schemeClr>
                </a:solidFill>
              </a:rPr>
              <a:t>LÃI GỘP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THEO YẾU TỐ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92294-18AC-1B71-42FC-0DD0F529155B}"/>
              </a:ext>
            </a:extLst>
          </p:cNvPr>
          <p:cNvSpPr txBox="1"/>
          <p:nvPr/>
        </p:nvSpPr>
        <p:spPr>
          <a:xfrm>
            <a:off x="-23521" y="4770799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Lãi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gộp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đơn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vị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= (Doanh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EXW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trừ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cho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giá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vốn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kho</a:t>
            </a:r>
            <a:r>
              <a:rPr lang="en-US" sz="700" i="1">
                <a:latin typeface="Aptos Display" panose="020B0004020202020204" pitchFamily="34" charset="0"/>
              </a:rPr>
              <a:t>)/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lượng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bán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Tác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động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đang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tính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theo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nhóm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sản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phẩm</a:t>
            </a:r>
            <a:r>
              <a:rPr lang="en-US" sz="700" i="1">
                <a:latin typeface="Aptos Display" panose="020B0004020202020204" pitchFamily="34" charset="0"/>
              </a:rPr>
              <a:t>.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ghi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chú</a:t>
            </a:r>
            <a:r>
              <a:rPr lang="en-US" sz="700" i="1">
                <a:latin typeface="Aptos Display" panose="020B0004020202020204" pitchFamily="34" charset="0"/>
              </a:rPr>
              <a:t> LG EXW (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VND) </a:t>
            </a:r>
            <a:r>
              <a:rPr lang="en-US" sz="700" i="1" u="sng" err="1">
                <a:latin typeface="Aptos Display" panose="020B0004020202020204" pitchFamily="34" charset="0"/>
              </a:rPr>
              <a:t>đã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loại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u="sng" err="1">
                <a:latin typeface="Aptos Display" panose="020B0004020202020204" pitchFamily="34" charset="0"/>
              </a:rPr>
              <a:t>trừ</a:t>
            </a:r>
            <a:r>
              <a:rPr lang="en-US" sz="700" i="1" u="sng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phần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chênh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lệch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tỷ</a:t>
            </a:r>
            <a:r>
              <a:rPr lang="en-US" sz="700" i="1">
                <a:latin typeface="Aptos Display" panose="020B0004020202020204" pitchFamily="34" charset="0"/>
              </a:rPr>
              <a:t> </a:t>
            </a:r>
            <a:r>
              <a:rPr lang="en-US" sz="700" i="1" err="1">
                <a:latin typeface="Aptos Display" panose="020B0004020202020204" pitchFamily="34" charset="0"/>
              </a:rPr>
              <a:t>giá</a:t>
            </a:r>
            <a:r>
              <a:rPr lang="en-US" sz="700" i="1">
                <a:latin typeface="Aptos Display" panose="020B0004020202020204" pitchFamily="34" charset="0"/>
              </a:rPr>
              <a:t>.</a:t>
            </a:r>
            <a:endParaRPr lang="en-US" sz="7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17281D-3A94-9A0D-2D81-EDC727B0F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496"/>
            <a:ext cx="9144000" cy="449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09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E1FFD-18F0-A905-24F8-1C93BB5BE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DB754C-E5FF-3F60-70E8-FEBE3F531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329702"/>
              </p:ext>
            </p:extLst>
          </p:nvPr>
        </p:nvGraphicFramePr>
        <p:xfrm>
          <a:off x="58194" y="462594"/>
          <a:ext cx="9085805" cy="4313478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6640454">
                  <a:extLst>
                    <a:ext uri="{9D8B030D-6E8A-4147-A177-3AD203B41FA5}">
                      <a16:colId xmlns:a16="http://schemas.microsoft.com/office/drawing/2014/main" val="569245144"/>
                    </a:ext>
                  </a:extLst>
                </a:gridCol>
                <a:gridCol w="2445351">
                  <a:extLst>
                    <a:ext uri="{9D8B030D-6E8A-4147-A177-3AD203B41FA5}">
                      <a16:colId xmlns:a16="http://schemas.microsoft.com/office/drawing/2014/main" val="653644736"/>
                    </a:ext>
                  </a:extLst>
                </a:gridCol>
              </a:tblGrid>
              <a:tr h="200799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u="sng" dirty="0"/>
                        <a:t>NGUYÊN NHÂN GỐC RỄ</a:t>
                      </a:r>
                    </a:p>
                    <a:p>
                      <a:pPr algn="ctr"/>
                      <a:endParaRPr lang="en-US" sz="1200" u="sng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Lợi </a:t>
                      </a:r>
                      <a:r>
                        <a:rPr lang="en-US" sz="1000" u="none" dirty="0" err="1"/>
                        <a:t>nhuận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sau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thuế</a:t>
                      </a:r>
                      <a:r>
                        <a:rPr lang="en-US" sz="1000" u="none" dirty="0"/>
                        <a:t> T02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b="1" u="none" dirty="0"/>
                        <a:t>-6.4/</a:t>
                      </a:r>
                      <a:r>
                        <a:rPr lang="en-US" sz="1000" u="none" dirty="0"/>
                        <a:t>1.3 </a:t>
                      </a:r>
                      <a:r>
                        <a:rPr lang="en-US" sz="1000" u="none" dirty="0" err="1"/>
                        <a:t>tỷ</a:t>
                      </a:r>
                      <a:r>
                        <a:rPr lang="en-US" sz="1000" u="none" dirty="0"/>
                        <a:t>. Nguyên </a:t>
                      </a:r>
                      <a:r>
                        <a:rPr lang="en-US" sz="1000" u="none" dirty="0" err="1"/>
                        <a:t>nhân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không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đạt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là</a:t>
                      </a:r>
                      <a:r>
                        <a:rPr lang="en-US" sz="1000" u="none" dirty="0"/>
                        <a:t> do: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US" sz="1000" u="none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950" u="none" dirty="0"/>
                        <a:t>+ </a:t>
                      </a:r>
                      <a:r>
                        <a:rPr lang="en-US" sz="950" u="none" dirty="0" err="1"/>
                        <a:t>Sản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lượng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bán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sản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phẩm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chính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đạt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1000" b="1" u="none" dirty="0"/>
                        <a:t>3.17</a:t>
                      </a:r>
                      <a:r>
                        <a:rPr lang="en-US" sz="950" u="none" dirty="0"/>
                        <a:t>/4.24 </a:t>
                      </a:r>
                      <a:r>
                        <a:rPr lang="en-US" sz="950" u="none" dirty="0" err="1"/>
                        <a:t>ngàn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tấn</a:t>
                      </a:r>
                      <a:r>
                        <a:rPr lang="en-US" sz="950" u="none" dirty="0"/>
                        <a:t>: </a:t>
                      </a:r>
                      <a:r>
                        <a:rPr lang="en-US" sz="950" u="none" dirty="0" err="1"/>
                        <a:t>tác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u="none" dirty="0" err="1"/>
                        <a:t>động</a:t>
                      </a:r>
                      <a:r>
                        <a:rPr lang="en-US" sz="950" u="none" dirty="0"/>
                        <a:t> </a:t>
                      </a:r>
                      <a:r>
                        <a:rPr lang="en-US" sz="950" b="1" u="none" dirty="0" err="1"/>
                        <a:t>giảm</a:t>
                      </a:r>
                      <a:r>
                        <a:rPr lang="en-US" sz="950" b="1" u="none" dirty="0"/>
                        <a:t> -3.6 </a:t>
                      </a:r>
                      <a:r>
                        <a:rPr lang="en-US" sz="950" b="1" u="none" dirty="0" err="1"/>
                        <a:t>tỷ</a:t>
                      </a:r>
                      <a:endParaRPr lang="en-US" sz="950" b="1" u="non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000" u="none" dirty="0"/>
                        <a:t>+ </a:t>
                      </a:r>
                      <a:r>
                        <a:rPr lang="en-US" sz="1000" u="none" dirty="0" err="1"/>
                        <a:t>Giá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vốn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xuất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kho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trong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kỳ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cao</a:t>
                      </a:r>
                      <a:r>
                        <a:rPr lang="en-US" sz="1000" u="none" dirty="0"/>
                        <a:t> (do </a:t>
                      </a:r>
                      <a:r>
                        <a:rPr lang="en-US" sz="1000" u="none" dirty="0" err="1"/>
                        <a:t>tháng</a:t>
                      </a:r>
                      <a:r>
                        <a:rPr lang="en-US" sz="1000" u="none" dirty="0"/>
                        <a:t> 2 </a:t>
                      </a:r>
                      <a:r>
                        <a:rPr lang="en-US" sz="1000" u="none" dirty="0" err="1"/>
                        <a:t>sản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lượng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sản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xuất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thấp</a:t>
                      </a:r>
                      <a:r>
                        <a:rPr lang="en-US" sz="1000" u="none" dirty="0"/>
                        <a:t>): </a:t>
                      </a:r>
                      <a:r>
                        <a:rPr lang="en-US" sz="1000" u="none" dirty="0" err="1"/>
                        <a:t>tác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u="none" dirty="0" err="1"/>
                        <a:t>động</a:t>
                      </a:r>
                      <a:r>
                        <a:rPr lang="en-US" sz="1000" u="none" dirty="0"/>
                        <a:t> </a:t>
                      </a:r>
                      <a:r>
                        <a:rPr lang="en-US" sz="1000" b="1" u="none" dirty="0" err="1"/>
                        <a:t>giảm</a:t>
                      </a:r>
                      <a:r>
                        <a:rPr lang="en-US" sz="1000" b="1" u="none" dirty="0"/>
                        <a:t> -2.2 </a:t>
                      </a:r>
                      <a:r>
                        <a:rPr lang="en-US" sz="1000" b="1" u="none" dirty="0" err="1"/>
                        <a:t>tỷ</a:t>
                      </a:r>
                      <a:endParaRPr lang="en-US" sz="1000" b="1" u="non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Số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liệu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tác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động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đã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tính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000" b="0" i="1" u="non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thuế</a:t>
                      </a:r>
                      <a:r>
                        <a:rPr lang="en-US" sz="1000" b="0" i="1" u="non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TNDN)</a:t>
                      </a:r>
                      <a:endParaRPr lang="en-US" sz="1000" b="0" i="0" u="non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659027"/>
                  </a:ext>
                </a:extLst>
              </a:tr>
              <a:tr h="23054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79701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EFDE5E7-7896-7282-4466-39062B15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34"/>
            <a:ext cx="9143999" cy="572700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GIẢI TRÌNH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0D84FB5-511B-8165-6333-DC95CA4A2E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8125006"/>
              </p:ext>
            </p:extLst>
          </p:nvPr>
        </p:nvGraphicFramePr>
        <p:xfrm>
          <a:off x="58195" y="694918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417B495-6270-A9AF-8058-B3675D531042}"/>
              </a:ext>
            </a:extLst>
          </p:cNvPr>
          <p:cNvSpPr/>
          <p:nvPr/>
        </p:nvSpPr>
        <p:spPr>
          <a:xfrm>
            <a:off x="58195" y="476554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LỢI NHUẬN SAU THUẾ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6A6C04-91EA-C523-DE43-9E8DF5124EE7}"/>
              </a:ext>
            </a:extLst>
          </p:cNvPr>
          <p:cNvSpPr/>
          <p:nvPr/>
        </p:nvSpPr>
        <p:spPr>
          <a:xfrm>
            <a:off x="58195" y="2583611"/>
            <a:ext cx="6608736" cy="2183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tx1"/>
                </a:solidFill>
              </a:rPr>
              <a:t>LŨY KẾ LỢI NHUẬN SAU THUẾ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A5D34DAE-E6F6-848C-1C73-CCFD3D0F5F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6996992"/>
              </p:ext>
            </p:extLst>
          </p:nvPr>
        </p:nvGraphicFramePr>
        <p:xfrm>
          <a:off x="20094" y="2801693"/>
          <a:ext cx="6608736" cy="19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88B3D74-C421-7BFA-EDEC-F96FB195D97E}"/>
              </a:ext>
            </a:extLst>
          </p:cNvPr>
          <p:cNvSpPr txBox="1"/>
          <p:nvPr/>
        </p:nvSpPr>
        <p:spPr>
          <a:xfrm>
            <a:off x="5896612" y="475261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4C7409-5B55-B71A-252B-5D90B1EF90D3}"/>
              </a:ext>
            </a:extLst>
          </p:cNvPr>
          <p:cNvSpPr txBox="1"/>
          <p:nvPr/>
        </p:nvSpPr>
        <p:spPr>
          <a:xfrm>
            <a:off x="5896613" y="2592765"/>
            <a:ext cx="6655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err="1"/>
              <a:t>Đvt</a:t>
            </a:r>
            <a:r>
              <a:rPr lang="en-US" sz="700" i="1"/>
              <a:t>: </a:t>
            </a:r>
            <a:r>
              <a:rPr lang="en-US" sz="700" i="1" err="1"/>
              <a:t>tỷ</a:t>
            </a:r>
            <a:r>
              <a:rPr lang="en-US" sz="700" i="1"/>
              <a:t> </a:t>
            </a:r>
            <a:r>
              <a:rPr lang="en-US" sz="700" i="1" err="1"/>
              <a:t>đồng</a:t>
            </a:r>
            <a:endParaRPr lang="en-US" sz="700" i="1"/>
          </a:p>
        </p:txBody>
      </p:sp>
    </p:spTree>
    <p:extLst>
      <p:ext uri="{BB962C8B-B14F-4D97-AF65-F5344CB8AC3E}">
        <p14:creationId xmlns:p14="http://schemas.microsoft.com/office/powerpoint/2010/main" val="3039711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AFA9-8F67-7E7E-1CC8-EA9814031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99AB-999F-4AFF-78C8-117DA812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767"/>
            <a:ext cx="9144000" cy="33344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3.1</a:t>
            </a:r>
            <a:r>
              <a:rPr lang="en-US" sz="2200" b="1">
                <a:solidFill>
                  <a:srgbClr val="119303"/>
                </a:solidFill>
              </a:rPr>
              <a:t>. KẾT QUẢ HOẠT ĐỘNG KINH DOANH – </a:t>
            </a:r>
            <a:r>
              <a:rPr lang="en-US" sz="2200" b="1">
                <a:solidFill>
                  <a:schemeClr val="accent2">
                    <a:lumMod val="75000"/>
                  </a:schemeClr>
                </a:solidFill>
              </a:rPr>
              <a:t>BIẾN ĐỘNG LỢI NHUẬN SAU THUẾ</a:t>
            </a:r>
            <a:endParaRPr lang="en-US" sz="2200" b="1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8D789-AB75-CE1E-6AB8-BADB2A74196E}"/>
              </a:ext>
            </a:extLst>
          </p:cNvPr>
          <p:cNvSpPr txBox="1"/>
          <p:nvPr/>
        </p:nvSpPr>
        <p:spPr>
          <a:xfrm>
            <a:off x="-91000" y="4621946"/>
            <a:ext cx="916752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700" b="0" i="1" u="sng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Ghi chú:</a:t>
            </a:r>
            <a:r>
              <a:rPr lang="vi-VN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i="1">
                <a:latin typeface="Aptos Display" panose="020B0004020202020204" pitchFamily="34" charset="0"/>
              </a:rPr>
              <a:t>LG EXW 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= Doanh thu thuần trừ cho các biến phí bán hàng (chi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khẩu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chi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phí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thuê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xe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hoa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hồng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và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pallet </a:t>
            </a:r>
            <a:r>
              <a:rPr lang="en-US" sz="700" b="0" i="1" u="none" strike="noStrike" err="1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xuất</a:t>
            </a:r>
            <a:r>
              <a:rPr lang="en-US" sz="700" b="0" i="1" u="none" strike="noStrike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 hàng) và Giá vốn hàng bán</a:t>
            </a:r>
            <a:endParaRPr lang="en-US" sz="7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543BC1-F1E8-09F0-C187-B9EFCD23102B}"/>
              </a:ext>
            </a:extLst>
          </p:cNvPr>
          <p:cNvSpPr txBox="1"/>
          <p:nvPr/>
        </p:nvSpPr>
        <p:spPr>
          <a:xfrm>
            <a:off x="0" y="4724271"/>
            <a:ext cx="28664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>
                <a:latin typeface="Aptos Display" panose="020B0004020202020204" pitchFamily="34" charset="0"/>
              </a:rPr>
              <a:t>(*): Tổng chi phí ủng hộ tài trợ cả năm 2025 là 6.1 tỷ; KH25 là 8.6 tỷ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BFF9E6-1492-5096-9F65-7E26014D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739"/>
            <a:ext cx="9144000" cy="428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8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3D81-70D2-7F9F-B75C-EA1654DF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7BFE-815C-615F-B644-76B304CE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26329" cy="395111"/>
          </a:xfrm>
        </p:spPr>
        <p:txBody>
          <a:bodyPr/>
          <a:lstStyle/>
          <a:p>
            <a:pPr algn="ctr"/>
            <a:r>
              <a:rPr lang="en-US" sz="1800" b="1">
                <a:solidFill>
                  <a:srgbClr val="119303"/>
                </a:solidFill>
              </a:rPr>
              <a:t>3.2. CHI PHÍ – </a:t>
            </a:r>
            <a:r>
              <a:rPr lang="en-US" sz="1800" b="1">
                <a:solidFill>
                  <a:schemeClr val="accent2">
                    <a:lumMod val="75000"/>
                  </a:schemeClr>
                </a:solidFill>
              </a:rPr>
              <a:t>TỔNG CHI PHÍ TRONG THÁNG 02 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8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18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800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1E2252-842F-B8CD-C22C-65CAF6EF6E09}"/>
              </a:ext>
            </a:extLst>
          </p:cNvPr>
          <p:cNvSpPr txBox="1"/>
          <p:nvPr/>
        </p:nvSpPr>
        <p:spPr>
          <a:xfrm>
            <a:off x="-54593" y="4734539"/>
            <a:ext cx="6503159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  <a:p>
            <a:endParaRPr lang="en-US" sz="900" i="1" u="sng">
              <a:latin typeface="+mn-lt"/>
            </a:endParaRPr>
          </a:p>
          <a:p>
            <a:endParaRPr lang="en-US" sz="900" b="0" i="1" u="sng" strike="noStrike">
              <a:solidFill>
                <a:srgbClr val="000000"/>
              </a:solidFill>
              <a:effectLst/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708281-BD28-97F8-7733-2288E10D2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670"/>
            <a:ext cx="9144000" cy="466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78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4431-5FCB-FAC0-41C8-6F19602E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5962-D058-F07F-DC04-EFA665BB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4596"/>
            <a:ext cx="9143999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CHI PHÍ TRÊN TẤN 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triệu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đồng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sz="2000" b="1" i="1" err="1">
                <a:solidFill>
                  <a:schemeClr val="accent2">
                    <a:lumMod val="75000"/>
                  </a:schemeClr>
                </a:solidFill>
              </a:rPr>
              <a:t>tấn</a:t>
            </a:r>
            <a:r>
              <a:rPr lang="en-US" sz="2000" b="1" i="1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1C1B91-646D-BF04-9318-9AA19EAAD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612"/>
            <a:ext cx="9144000" cy="463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82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A4B8-CE3A-010D-D81A-D65D79E0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6372-A22E-C300-03BE-857E8667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530"/>
            <a:ext cx="9144000" cy="395111"/>
          </a:xfrm>
        </p:spPr>
        <p:txBody>
          <a:bodyPr/>
          <a:lstStyle/>
          <a:p>
            <a:pPr algn="ctr"/>
            <a:r>
              <a:rPr lang="en-US" sz="2000" b="1">
                <a:solidFill>
                  <a:srgbClr val="119303"/>
                </a:solidFill>
              </a:rPr>
              <a:t>3.2. CHI PHÍ –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</a:rPr>
              <a:t>TỶ TRỌNG CHI PHÍ TRÊN TẤN</a:t>
            </a:r>
            <a:endParaRPr lang="en-US" sz="150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E9704F-86C3-C128-B61E-9F5513EBD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6" y="308953"/>
            <a:ext cx="9028959" cy="462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9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6FAC-1F56-D86C-172B-14C75A2A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65CEFF-EC41-A226-7607-B551F4DCD2E1}"/>
              </a:ext>
            </a:extLst>
          </p:cNvPr>
          <p:cNvSpPr/>
          <p:nvPr/>
        </p:nvSpPr>
        <p:spPr>
          <a:xfrm>
            <a:off x="0" y="4490571"/>
            <a:ext cx="9144000" cy="4031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chai B1 trung </a:t>
            </a:r>
            <a:r>
              <a:rPr lang="en-US" sz="1000" b="1" err="1">
                <a:solidFill>
                  <a:schemeClr val="tx1"/>
                </a:solidFill>
              </a:rPr>
              <a:t>bình</a:t>
            </a:r>
            <a:r>
              <a:rPr lang="en-US" sz="1000" b="1">
                <a:solidFill>
                  <a:schemeClr val="tx1"/>
                </a:solidFill>
              </a:rPr>
              <a:t> T02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14,948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15,000 đ/kg ~ </a:t>
            </a:r>
            <a:r>
              <a:rPr lang="en-US" sz="1000" i="1">
                <a:solidFill>
                  <a:schemeClr val="tx1"/>
                </a:solidFill>
              </a:rPr>
              <a:t>-52 đ/kg; -0.3%</a:t>
            </a:r>
            <a:r>
              <a:rPr lang="en-US" sz="1000">
                <a:solidFill>
                  <a:schemeClr val="tx1"/>
                </a:solidFill>
              </a:rPr>
              <a:t>). 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T02,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B1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15,115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15,000 đ/kg ~ </a:t>
            </a:r>
            <a:r>
              <a:rPr lang="en-US" sz="1000" i="1">
                <a:solidFill>
                  <a:schemeClr val="tx1"/>
                </a:solidFill>
              </a:rPr>
              <a:t>+115 đ/kg; +0.8%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58BC5-3373-4576-436B-0280D68C57A8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19E5DA-18D9-3147-64AD-EDD92E484021}"/>
              </a:ext>
            </a:extLst>
          </p:cNvPr>
          <p:cNvSpPr/>
          <p:nvPr/>
        </p:nvSpPr>
        <p:spPr>
          <a:xfrm>
            <a:off x="9202010" y="1404173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16/03/2026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3CD84-D168-A32B-5CB8-0B8D84E2F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937"/>
            <a:ext cx="9144000" cy="42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28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DAED6E-468F-A7BD-636D-B6B94CBDCE90}"/>
              </a:ext>
            </a:extLst>
          </p:cNvPr>
          <p:cNvSpPr/>
          <p:nvPr/>
        </p:nvSpPr>
        <p:spPr>
          <a:xfrm>
            <a:off x="0" y="4480790"/>
            <a:ext cx="9144000" cy="42877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Giá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mua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Vảy</a:t>
            </a:r>
            <a:r>
              <a:rPr lang="en-US" sz="1000" b="1">
                <a:solidFill>
                  <a:schemeClr val="tx1"/>
                </a:solidFill>
              </a:rPr>
              <a:t> B1 trung bình T02</a:t>
            </a:r>
            <a:r>
              <a:rPr lang="en-US" sz="1000">
                <a:solidFill>
                  <a:schemeClr val="tx1"/>
                </a:solidFill>
              </a:rPr>
              <a:t>: </a:t>
            </a:r>
            <a:r>
              <a:rPr lang="en-US" sz="1000" b="1">
                <a:solidFill>
                  <a:schemeClr val="tx1"/>
                </a:solidFill>
              </a:rPr>
              <a:t>15,931 đ/kg </a:t>
            </a:r>
            <a:r>
              <a:rPr lang="en-US" sz="1000">
                <a:solidFill>
                  <a:schemeClr val="tx1"/>
                </a:solidFill>
              </a:rPr>
              <a:t>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16,500 đ/kg ~ </a:t>
            </a:r>
            <a:r>
              <a:rPr lang="en-US" sz="1000" i="1">
                <a:solidFill>
                  <a:schemeClr val="tx1"/>
                </a:solidFill>
              </a:rPr>
              <a:t>-569 đ/kg; -3.5%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  <a:p>
            <a:r>
              <a:rPr lang="en-US" sz="1000">
                <a:solidFill>
                  <a:schemeClr val="tx1"/>
                </a:solidFill>
              </a:rPr>
              <a:t>- </a:t>
            </a:r>
            <a:r>
              <a:rPr lang="en-US" sz="1000" b="1" err="1">
                <a:solidFill>
                  <a:schemeClr val="tx1"/>
                </a:solidFill>
              </a:rPr>
              <a:t>Lũy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kế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từ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đầu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năm</a:t>
            </a:r>
            <a:r>
              <a:rPr lang="en-US" sz="1000" b="1">
                <a:solidFill>
                  <a:schemeClr val="tx1"/>
                </a:solidFill>
              </a:rPr>
              <a:t> </a:t>
            </a:r>
            <a:r>
              <a:rPr lang="en-US" sz="1000" b="1" err="1">
                <a:solidFill>
                  <a:schemeClr val="tx1"/>
                </a:solidFill>
              </a:rPr>
              <a:t>đến</a:t>
            </a:r>
            <a:r>
              <a:rPr lang="en-US" sz="1000" b="1">
                <a:solidFill>
                  <a:schemeClr val="tx1"/>
                </a:solidFill>
              </a:rPr>
              <a:t> T02, </a:t>
            </a:r>
            <a:r>
              <a:rPr lang="en-US" sz="1000" err="1">
                <a:solidFill>
                  <a:schemeClr val="tx1"/>
                </a:solidFill>
              </a:rPr>
              <a:t>giá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mua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Vảy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trung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bình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b="1">
                <a:solidFill>
                  <a:schemeClr val="tx1"/>
                </a:solidFill>
              </a:rPr>
              <a:t>15,939</a:t>
            </a:r>
            <a:r>
              <a:rPr lang="en-US" sz="1000">
                <a:solidFill>
                  <a:schemeClr val="tx1"/>
                </a:solidFill>
              </a:rPr>
              <a:t> đ/kg (KH </a:t>
            </a:r>
            <a:r>
              <a:rPr lang="en-US" sz="1000" err="1">
                <a:solidFill>
                  <a:schemeClr val="tx1"/>
                </a:solidFill>
              </a:rPr>
              <a:t>là</a:t>
            </a:r>
            <a:r>
              <a:rPr lang="en-US" sz="1000">
                <a:solidFill>
                  <a:schemeClr val="tx1"/>
                </a:solidFill>
              </a:rPr>
              <a:t> 16,500 đ/kg ~ </a:t>
            </a:r>
            <a:r>
              <a:rPr lang="en-US" sz="1000" i="1">
                <a:solidFill>
                  <a:schemeClr val="tx1"/>
                </a:solidFill>
              </a:rPr>
              <a:t>-561 đ/kg; -3.4%</a:t>
            </a:r>
            <a:r>
              <a:rPr lang="en-US" sz="10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6480B-76E8-2CA7-FA98-9974A68CEA81}"/>
              </a:ext>
            </a:extLst>
          </p:cNvPr>
          <p:cNvSpPr txBox="1"/>
          <p:nvPr/>
        </p:nvSpPr>
        <p:spPr>
          <a:xfrm>
            <a:off x="0" y="-209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19303"/>
                </a:solidFill>
              </a:rPr>
              <a:t>3.2</a:t>
            </a:r>
            <a:r>
              <a:rPr lang="en-US" sz="1400" b="1">
                <a:solidFill>
                  <a:srgbClr val="119303"/>
                </a:solidFill>
              </a:rPr>
              <a:t>. CHI PHÍ – </a:t>
            </a:r>
            <a:r>
              <a:rPr lang="en-US" sz="1400" b="1">
                <a:solidFill>
                  <a:schemeClr val="accent2">
                    <a:lumMod val="75000"/>
                  </a:schemeClr>
                </a:solidFill>
              </a:rPr>
              <a:t>GIÁ NGUYÊN VẬT LIỆU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ED3F55-C554-FD72-4154-22A4412DC715}"/>
              </a:ext>
            </a:extLst>
          </p:cNvPr>
          <p:cNvSpPr/>
          <p:nvPr/>
        </p:nvSpPr>
        <p:spPr>
          <a:xfrm>
            <a:off x="9379472" y="1577399"/>
            <a:ext cx="2592977" cy="641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UPDATED: 16/03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108B05-1E90-A011-2BB4-C0DAEDBCA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708"/>
            <a:ext cx="9144000" cy="420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0971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fad36eebef4f84df4a45514b7e4630e8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505b0edaeb28467f2ddb0f2c2f553b17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5162417-D525-4BB1-9667-5B16FD4D9C4E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81F54AB-F4DD-4A82-8DE1-173467F509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BF921B-5040-4D54-A3E7-8C229FB42018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c4b5fce3-9bbc-4429-8073-3ae7a9bcc677"/>
    <ds:schemaRef ds:uri="http://schemas.microsoft.com/office/2006/documentManagement/types"/>
    <ds:schemaRef ds:uri="http://purl.org/dc/terms/"/>
    <ds:schemaRef ds:uri="1401b2ec-7936-4f98-86ff-5ef737f58b9c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5716</TotalTime>
  <Words>715</Words>
  <Application>Microsoft Office PowerPoint</Application>
  <PresentationFormat>On-screen Show (16:9)</PresentationFormat>
  <Paragraphs>150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 Display</vt:lpstr>
      <vt:lpstr>Aptos Narrow</vt:lpstr>
      <vt:lpstr>Arial</vt:lpstr>
      <vt:lpstr>Muli</vt:lpstr>
      <vt:lpstr>Times New Roman</vt:lpstr>
      <vt:lpstr>Simple Light</vt:lpstr>
      <vt:lpstr>3.1. KẾT QUẢ HOẠT ĐỘNG KINH DOANH – LÃI LỖ THÁNG 02 – DTR</vt:lpstr>
      <vt:lpstr>3.1. KẾT QUẢ HOẠT ĐỘNG KINH DOANH – LÃI LỖ THÁNG 02 – 3 TRẠM</vt:lpstr>
      <vt:lpstr>3.1. KẾT QUẢ HOẠT ĐỘNG KINH DOANH – GIẢI TRÌNH DOANH THU</vt:lpstr>
      <vt:lpstr>3.1. KẾT QUẢ HOẠT ĐỘNG KINH DOANH – GIÁ BÁN</vt:lpstr>
      <vt:lpstr>3.1. KẾT QUẢ HOẠT ĐỘNG KINH DOANH – BIẾN ĐỘNG D.THU THEO YẾU TỐ</vt:lpstr>
      <vt:lpstr>3.1. KẾT QUẢ HOẠT ĐỘNG KINH DOANH – BIẾN ĐỘNG DOANH THU THEO YẾU TỐ &amp; NGÀNH</vt:lpstr>
      <vt:lpstr>3.1. KẾT QUẢ HOẠT ĐỘNG KINH DOANH – BIẾN ĐỘNG LÃI GỘP THEO YẾU TỐ</vt:lpstr>
      <vt:lpstr>3.1. KẾT QUẢ HOẠT ĐỘNG KINH DOANH – GIẢI TRÌNH LỢI NHUẬN SAU THUẾ</vt:lpstr>
      <vt:lpstr>3.1. KẾT QUẢ HOẠT ĐỘNG KINH DOANH – BIẾN ĐỘNG LỢI NHUẬN SAU THUẾ</vt:lpstr>
      <vt:lpstr>3.2. CHI PHÍ – TỔNG CHI PHÍ TRONG THÁNG 02 (triệu đồng)</vt:lpstr>
      <vt:lpstr>3.2. CHI PHÍ – CHI PHÍ TRÊN TẤN (triệu đồng/tấn)</vt:lpstr>
      <vt:lpstr>3.2. CHI PHÍ – TỶ TRỌNG CHI PHÍ TRÊN TẤN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Cư, Lê Hoành</cp:lastModifiedBy>
  <cp:revision>11</cp:revision>
  <dcterms:modified xsi:type="dcterms:W3CDTF">2026-03-26T07:02:31Z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