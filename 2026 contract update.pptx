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9937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7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08AD5-D25A-42AD-A256-7B576221468F}" type="datetimeFigureOut">
              <a:rPr lang="vi-VN" smtClean="0"/>
              <a:t>24/03/2026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9A8E8-8351-4686-9EFA-259296A1FD1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663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3DAF-A2E1-A214-1086-96398120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1647F-DEC6-2129-9EC0-5BE671B9F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92F4-776E-51F0-9846-EC3C7F3F1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đường</a:t>
            </a:r>
            <a:r>
              <a:rPr lang="en-US"/>
              <a:t> </a:t>
            </a:r>
            <a:r>
              <a:rPr lang="en-US" err="1"/>
              <a:t>giới</a:t>
            </a:r>
            <a:r>
              <a:rPr lang="en-US"/>
              <a:t> </a:t>
            </a:r>
            <a:r>
              <a:rPr lang="en-US" err="1"/>
              <a:t>hạn</a:t>
            </a:r>
            <a:r>
              <a:rPr lang="en-US"/>
              <a:t> </a:t>
            </a:r>
            <a:r>
              <a:rPr lang="en-US" err="1"/>
              <a:t>đỏ</a:t>
            </a:r>
            <a:r>
              <a:rPr lang="en-US"/>
              <a:t> </a:t>
            </a:r>
            <a:r>
              <a:rPr lang="en-US" err="1"/>
              <a:t>về</a:t>
            </a:r>
            <a:r>
              <a:rPr lang="en-US"/>
              <a:t> % </a:t>
            </a:r>
            <a:r>
              <a:rPr lang="en-US" err="1"/>
              <a:t>không</a:t>
            </a:r>
            <a:r>
              <a:rPr lang="en-US"/>
              <a:t> </a:t>
            </a:r>
            <a:r>
              <a:rPr lang="en-US" err="1"/>
              <a:t>đạt</a:t>
            </a:r>
            <a:r>
              <a:rPr lang="en-US"/>
              <a:t>/ </a:t>
            </a:r>
            <a:r>
              <a:rPr lang="en-US" err="1"/>
              <a:t>đạt</a:t>
            </a: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A24FA-B9D9-AFA9-3873-16BC3E18E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6E03CA-1043-4403-AF74-E3AA26AA690A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312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A4E412-89CE-BB32-DFE6-2C3C4139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813358-9325-85E5-610C-B9A553E9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3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49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753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7683AD6-60EE-422C-9411-5CAE096181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99" y="14838"/>
            <a:ext cx="1538586" cy="3370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A6F2612-6FA9-45CF-BF4C-392A43B0CBB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1708" y="6626763"/>
            <a:ext cx="819513" cy="17951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2E9AB5D-C5C1-4C6D-9DE9-A2B0CD010766}"/>
              </a:ext>
            </a:extLst>
          </p:cNvPr>
          <p:cNvSpPr/>
          <p:nvPr userDrawn="1"/>
        </p:nvSpPr>
        <p:spPr>
          <a:xfrm>
            <a:off x="1053263" y="6565883"/>
            <a:ext cx="11138737" cy="29211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059C0F5-5A43-4E29-87EF-A28AB972B86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32" y="6593424"/>
            <a:ext cx="2563016" cy="23789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AB52FA4-E5BA-DE29-38B1-234C2D9E6C29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588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D3E1B36-F738-4EF7-9448-849BAC9A0164}" type="slidenum">
              <a:rPr lang="en-US" sz="1200" smtClean="0">
                <a:solidFill>
                  <a:schemeClr val="bg1"/>
                </a:solidFill>
              </a:rPr>
              <a:pPr algn="r"/>
              <a:t>‹#›</a:t>
            </a:fld>
            <a:r>
              <a:rPr lang="en-US" sz="1200">
                <a:solidFill>
                  <a:schemeClr val="bg1"/>
                </a:solidFill>
              </a:rPr>
              <a:t>/45</a:t>
            </a:r>
          </a:p>
          <a:p>
            <a:pPr algn="r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53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4FB7-E09E-A24F-168A-56B17F68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8A5039-8D71-994E-3390-8985AF8BB2C3}"/>
              </a:ext>
            </a:extLst>
          </p:cNvPr>
          <p:cNvSpPr txBox="1"/>
          <p:nvPr/>
        </p:nvSpPr>
        <p:spPr>
          <a:xfrm>
            <a:off x="3050458" y="13384"/>
            <a:ext cx="59141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CẬP NHẬT</a:t>
            </a:r>
            <a:r>
              <a:rPr kumimoji="0" lang="vi-V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TÌNH TRẠNG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CÁC HỢP ĐỒNG 2026</a:t>
            </a:r>
            <a:endParaRPr kumimoji="0" lang="vi-VN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88E5266-E63D-9F00-6BC3-09844978CF3D}"/>
              </a:ext>
            </a:extLst>
          </p:cNvPr>
          <p:cNvGraphicFramePr>
            <a:graphicFrameLocks noGrp="1"/>
          </p:cNvGraphicFramePr>
          <p:nvPr/>
        </p:nvGraphicFramePr>
        <p:xfrm>
          <a:off x="176983" y="413495"/>
          <a:ext cx="11626397" cy="5765295"/>
        </p:xfrm>
        <a:graphic>
          <a:graphicData uri="http://schemas.openxmlformats.org/drawingml/2006/table">
            <a:tbl>
              <a:tblPr/>
              <a:tblGrid>
                <a:gridCol w="356765">
                  <a:extLst>
                    <a:ext uri="{9D8B030D-6E8A-4147-A177-3AD203B41FA5}">
                      <a16:colId xmlns:a16="http://schemas.microsoft.com/office/drawing/2014/main" val="3702014133"/>
                    </a:ext>
                  </a:extLst>
                </a:gridCol>
                <a:gridCol w="1153114">
                  <a:extLst>
                    <a:ext uri="{9D8B030D-6E8A-4147-A177-3AD203B41FA5}">
                      <a16:colId xmlns:a16="http://schemas.microsoft.com/office/drawing/2014/main" val="646174873"/>
                    </a:ext>
                  </a:extLst>
                </a:gridCol>
                <a:gridCol w="1189991">
                  <a:extLst>
                    <a:ext uri="{9D8B030D-6E8A-4147-A177-3AD203B41FA5}">
                      <a16:colId xmlns:a16="http://schemas.microsoft.com/office/drawing/2014/main" val="6144665"/>
                    </a:ext>
                  </a:extLst>
                </a:gridCol>
                <a:gridCol w="1356334">
                  <a:extLst>
                    <a:ext uri="{9D8B030D-6E8A-4147-A177-3AD203B41FA5}">
                      <a16:colId xmlns:a16="http://schemas.microsoft.com/office/drawing/2014/main" val="755718071"/>
                    </a:ext>
                  </a:extLst>
                </a:gridCol>
                <a:gridCol w="719753">
                  <a:extLst>
                    <a:ext uri="{9D8B030D-6E8A-4147-A177-3AD203B41FA5}">
                      <a16:colId xmlns:a16="http://schemas.microsoft.com/office/drawing/2014/main" val="61696215"/>
                    </a:ext>
                  </a:extLst>
                </a:gridCol>
                <a:gridCol w="1663427">
                  <a:extLst>
                    <a:ext uri="{9D8B030D-6E8A-4147-A177-3AD203B41FA5}">
                      <a16:colId xmlns:a16="http://schemas.microsoft.com/office/drawing/2014/main" val="9708781"/>
                    </a:ext>
                  </a:extLst>
                </a:gridCol>
                <a:gridCol w="1752373">
                  <a:extLst>
                    <a:ext uri="{9D8B030D-6E8A-4147-A177-3AD203B41FA5}">
                      <a16:colId xmlns:a16="http://schemas.microsoft.com/office/drawing/2014/main" val="1813025178"/>
                    </a:ext>
                  </a:extLst>
                </a:gridCol>
                <a:gridCol w="3434640">
                  <a:extLst>
                    <a:ext uri="{9D8B030D-6E8A-4147-A177-3AD203B41FA5}">
                      <a16:colId xmlns:a16="http://schemas.microsoft.com/office/drawing/2014/main" val="483015202"/>
                    </a:ext>
                  </a:extLst>
                </a:gridCol>
              </a:tblGrid>
              <a:tr h="6496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STT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Khách Hàng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lượng  2025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lượng 2026</a:t>
                      </a:r>
                      <a:b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dự kiến 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Tăng giảm sản lượng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Tình trạng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Sản phẩm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Giá đang chào </a:t>
                      </a:r>
                      <a:r>
                        <a:rPr lang="vi-VN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ExW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( tóm gọm)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28931"/>
                  </a:ext>
                </a:extLst>
              </a:tr>
              <a:tr h="17366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Niagara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14,000 </a:t>
                      </a:r>
                      <a:endParaRPr lang="vi-VN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( có 2.000 tấn Spot)</a:t>
                      </a:r>
                      <a:endParaRPr lang="en-US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Không đổi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review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WSS01G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theo </a:t>
                      </a: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ICIS Hạt nhựa rPET Đông Nam Á.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vi-VN" sz="1300" b="0" i="1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vi-VN" sz="1300" b="0" i="1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706559"/>
                  </a:ext>
                </a:extLst>
              </a:tr>
              <a:tr h="5714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Coca-Cola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vi-VN" sz="13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(*)</a:t>
                      </a:r>
                      <a:endParaRPr lang="en-US" sz="1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700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650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Giảm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tiến hành </a:t>
                      </a:r>
                      <a:b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contract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(Coke đang review)</a:t>
                      </a:r>
                      <a:endParaRPr lang="vi-VN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iSS01084G ( IV 0,84)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</a:t>
                      </a:r>
                      <a:r>
                        <a:rPr lang="vi-VN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1 năm</a:t>
                      </a:r>
                      <a:endParaRPr lang="en-US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chưa trừ EPR: 1250$/mt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sau khi  đã trừ EPR: $1175/mt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152308"/>
                  </a:ext>
                </a:extLst>
              </a:tr>
              <a:tr h="5714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Nestle / LaVie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2600</a:t>
                      </a:r>
                      <a:b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(1500 tấn mua trước năm 2024)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374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Giảm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review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</a:t>
                      </a:r>
                      <a:b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 WSS01G-L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 1 năm</a:t>
                      </a:r>
                      <a:b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1290$/mt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765557"/>
                  </a:ext>
                </a:extLst>
              </a:tr>
              <a:tr h="5714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Suntory PepsiCo VN </a:t>
                      </a:r>
                      <a:r>
                        <a:rPr lang="en-US" sz="13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(*)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5000-7000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Đã chốt giá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review hợp đồng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iSS01084G ( IV 0,84)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cố định 1 năm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chưa trừ EPR: $1,140/mt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 sau khi trừ EPR: $1,070/ mt</a:t>
                      </a:r>
                      <a:endParaRPr lang="vi-VN" sz="1300" b="0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86557"/>
                  </a:ext>
                </a:extLst>
              </a:tr>
              <a:tr h="63150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Unileve</a:t>
                      </a:r>
                      <a:r>
                        <a:rPr lang="vi-VN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 </a:t>
                      </a:r>
                      <a:r>
                        <a:rPr lang="vi-VN" sz="13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(*)</a:t>
                      </a:r>
                      <a:endParaRPr lang="en-US" sz="13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3500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4000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Đang tham gia đấu thầu, dự kiến tháng 3 chốt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rPET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WSS01G ( IV 0,78)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cố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định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1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năm</a:t>
                      </a: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chưa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trừ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EPR: 1250$/mt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sau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khi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đã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trừ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EPR: $1175/mt</a:t>
                      </a:r>
                    </a:p>
                    <a:p>
                      <a:pPr algn="ctr" fontAlgn="ctr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878852"/>
                  </a:ext>
                </a:extLst>
              </a:tr>
              <a:tr h="771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1800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3500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Tăng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rHDPE MBF01/ PCF01</a:t>
                      </a: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cố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định</a:t>
                      </a: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1 </a:t>
                      </a:r>
                      <a:r>
                        <a:rPr lang="en-US" sz="1300" b="1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năm</a:t>
                      </a: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chưa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trừ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EPR: $1330/mt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Giá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sau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300" b="0" i="0" u="none" strike="noStrike" err="1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trừ</a:t>
                      </a:r>
                      <a:r>
                        <a:rPr lang="en-US" sz="1300" b="0" i="0" u="none" strike="noStrike">
                          <a:solidFill>
                            <a:srgbClr val="0000FF"/>
                          </a:solidFill>
                          <a:effectLst/>
                          <a:latin typeface="Aptos Narrow" panose="020B0004020202020204" pitchFamily="34" charset="0"/>
                        </a:rPr>
                        <a:t> EPR: $1265/mt</a:t>
                      </a: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23" marR="8023" marT="802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30301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AF7166-EE77-5424-9D12-BCE29E72DAB8}"/>
              </a:ext>
            </a:extLst>
          </p:cNvPr>
          <p:cNvSpPr txBox="1"/>
          <p:nvPr/>
        </p:nvSpPr>
        <p:spPr>
          <a:xfrm>
            <a:off x="4563205" y="6164862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2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*Nếu đạt sản lượng DTR hoàn trả 100% phí EPR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1CB078-0215-CDC5-7FC7-FA0F8339896D}"/>
              </a:ext>
            </a:extLst>
          </p:cNvPr>
          <p:cNvSpPr txBox="1"/>
          <p:nvPr/>
        </p:nvSpPr>
        <p:spPr>
          <a:xfrm>
            <a:off x="2306718" y="6118696"/>
            <a:ext cx="206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1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TOTAL : 25,674 (tấn)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45F0B-B70C-5264-5BC0-BCCA08936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848" y="1294246"/>
            <a:ext cx="2494391" cy="143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74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Narrow</vt:lpstr>
      <vt:lpstr>Arial</vt:lpstr>
      <vt:lpstr>Calibri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Thảo, Dương Từ Uyên (Tracy)</dc:creator>
  <cp:lastModifiedBy>Thảo, Dương Từ Uyên (Tracy)</cp:lastModifiedBy>
  <cp:revision>1</cp:revision>
  <dcterms:created xsi:type="dcterms:W3CDTF">2026-03-24T04:53:03Z</dcterms:created>
  <dcterms:modified xsi:type="dcterms:W3CDTF">2026-03-24T04:53:57Z</dcterms:modified>
</cp:coreProperties>
</file>