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0" r:id="rId4"/>
    <p:sldMasterId id="2147483687" r:id="rId5"/>
  </p:sldMasterIdLst>
  <p:notesMasterIdLst>
    <p:notesMasterId r:id="rId38"/>
  </p:notesMasterIdLst>
  <p:handoutMasterIdLst>
    <p:handoutMasterId r:id="rId39"/>
  </p:handoutMasterIdLst>
  <p:sldIdLst>
    <p:sldId id="2717" r:id="rId6"/>
    <p:sldId id="2731" r:id="rId7"/>
    <p:sldId id="9851" r:id="rId8"/>
    <p:sldId id="9628" r:id="rId9"/>
    <p:sldId id="9931" r:id="rId10"/>
    <p:sldId id="9849" r:id="rId11"/>
    <p:sldId id="9629" r:id="rId12"/>
    <p:sldId id="256" r:id="rId13"/>
    <p:sldId id="9829" r:id="rId14"/>
    <p:sldId id="9937" r:id="rId15"/>
    <p:sldId id="9646" r:id="rId16"/>
    <p:sldId id="9834" r:id="rId17"/>
    <p:sldId id="9841" r:id="rId18"/>
    <p:sldId id="9856" r:id="rId19"/>
    <p:sldId id="9838" r:id="rId20"/>
    <p:sldId id="9630" r:id="rId21"/>
    <p:sldId id="9835" r:id="rId22"/>
    <p:sldId id="9933" r:id="rId23"/>
    <p:sldId id="9794" r:id="rId24"/>
    <p:sldId id="9806" r:id="rId25"/>
    <p:sldId id="9836" r:id="rId26"/>
    <p:sldId id="9795" r:id="rId27"/>
    <p:sldId id="9796" r:id="rId28"/>
    <p:sldId id="9837" r:id="rId29"/>
    <p:sldId id="9631" r:id="rId30"/>
    <p:sldId id="9934" r:id="rId31"/>
    <p:sldId id="9532" r:id="rId32"/>
    <p:sldId id="9936" r:id="rId33"/>
    <p:sldId id="9473" r:id="rId34"/>
    <p:sldId id="9533" r:id="rId35"/>
    <p:sldId id="9871" r:id="rId36"/>
    <p:sldId id="9932" r:id="rId37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028D17-A477-5C53-4FEB-3495BC4AE143}" name="Cường, Nguyễn Quốc (Dylan)" initials="CNQ(" userId="S::NguyenQuocCuong@duytanrecycling.com::6d53bded-2b87-453e-a32f-3192669c2a32" providerId="AD"/>
  <p188:author id="{26F42390-9A75-1C6C-6C55-0691D4BF1B86}" name="Anh, Nguyễn Thị Quỳnh (Bella)" initials="AN" userId="S::NguyenThiQuynhAnh@duytanrecycling.com::2ca1d230-28f5-406b-86bf-a0ed02a9e72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  <p:cmAuthor id="3" name="Cường, Nguyễn Quốc (3)" initials="CNQ(" lastIdx="1" clrIdx="2">
    <p:extLst>
      <p:ext uri="{19B8F6BF-5375-455C-9EA6-DF929625EA0E}">
        <p15:presenceInfo xmlns:p15="http://schemas.microsoft.com/office/powerpoint/2012/main" userId="S::NguyenQuocCuong3@duytan.com::5adc2fac-1241-4a5e-a2e2-eeb985bceea1" providerId="AD"/>
      </p:ext>
    </p:extLst>
  </p:cmAuthor>
  <p:cmAuthor id="4" name="Anh, Võ Ngọc (Alice)" initials="AVN(" lastIdx="1" clrIdx="3">
    <p:extLst>
      <p:ext uri="{19B8F6BF-5375-455C-9EA6-DF929625EA0E}">
        <p15:presenceInfo xmlns:p15="http://schemas.microsoft.com/office/powerpoint/2012/main" userId="S::AnhVN@duytanrecycling.com::68a63728-da94-408e-974b-57dcc74e4d3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AFA33"/>
    <a:srgbClr val="9D53F2"/>
    <a:srgbClr val="FF00FF"/>
    <a:srgbClr val="77B9F2"/>
    <a:srgbClr val="3296ED"/>
    <a:srgbClr val="2877B0"/>
    <a:srgbClr val="7F43C2"/>
    <a:srgbClr val="008000"/>
    <a:srgbClr val="C39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Relationship Id="rId46" Type="http://schemas.microsoft.com/office/2018/10/relationships/authors" Target="authors.xml"/><Relationship Id="rId20" Type="http://schemas.openxmlformats.org/officeDocument/2006/relationships/slide" Target="slides/slide15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ảo, Dương Từ Uyên (Tracy)" userId="72a4ccaf-ec23-43c4-8b4a-e18c9702c805" providerId="ADAL" clId="{CCA0CD37-1BE4-4C39-B6C3-0D9B126FDE56}"/>
    <pc:docChg chg="delSld modSld sldOrd">
      <pc:chgData name="Thảo, Dương Từ Uyên (Tracy)" userId="72a4ccaf-ec23-43c4-8b4a-e18c9702c805" providerId="ADAL" clId="{CCA0CD37-1BE4-4C39-B6C3-0D9B126FDE56}" dt="2025-12-18T09:12:12.878" v="13" actId="47"/>
      <pc:docMkLst>
        <pc:docMk/>
      </pc:docMkLst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4180567208" sldId="2816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980438814" sldId="2891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276147169" sldId="2893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597705852" sldId="2908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002694803" sldId="2988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006346564" sldId="301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664727576" sldId="3029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575875468" sldId="9423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671771325" sldId="9427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220809485" sldId="945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18366006" sldId="9475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4273786960" sldId="9501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899693453" sldId="951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989649001" sldId="9535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4294966539" sldId="957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030329506" sldId="9575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81550209" sldId="9576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655437723" sldId="961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534363033" sldId="964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645854732" sldId="9649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46044475" sldId="965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250826024" sldId="9657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898557295" sldId="9658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887770915" sldId="9659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529008667" sldId="966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045322687" sldId="9661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4119612825" sldId="9663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469452506" sldId="966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091913239" sldId="9665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857374443" sldId="9666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126554823" sldId="9673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610307809" sldId="967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050605377" sldId="9676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34268518" sldId="968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560728719" sldId="9682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811936750" sldId="9683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78840061" sldId="968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152990887" sldId="9685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263094197" sldId="9686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527657544" sldId="9687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315843451" sldId="969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430974639" sldId="9691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442953126" sldId="9692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552434604" sldId="9698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442236030" sldId="9699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460689782" sldId="970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066468646" sldId="9702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208289795" sldId="9703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15719429" sldId="9708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359513200" sldId="9709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010553561" sldId="9712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601128036" sldId="9713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204349657" sldId="9715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083531474" sldId="9716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893953305" sldId="9718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4261341866" sldId="972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057928539" sldId="9729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490700195" sldId="973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393039834" sldId="9732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418853147" sldId="9735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571633983" sldId="9736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745035223" sldId="9741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828170831" sldId="9752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618439244" sldId="9753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37178313" sldId="9757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763235801" sldId="9758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214151556" sldId="9761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718583076" sldId="976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730329413" sldId="9766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261229920" sldId="977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528134684" sldId="9771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739594005" sldId="9776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663197518" sldId="9777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037488611" sldId="978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477915969" sldId="9783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950288154" sldId="978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801900681" sldId="9789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514363600" sldId="9791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541466239" sldId="9792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4186660432" sldId="9793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09338866" sldId="9797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669743467" sldId="980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095260311" sldId="9805"/>
        </pc:sldMkLst>
      </pc:sldChg>
      <pc:sldChg chg="ord">
        <pc:chgData name="Thảo, Dương Từ Uyên (Tracy)" userId="72a4ccaf-ec23-43c4-8b4a-e18c9702c805" providerId="ADAL" clId="{CCA0CD37-1BE4-4C39-B6C3-0D9B126FDE56}" dt="2025-12-18T09:11:10.353" v="7"/>
        <pc:sldMkLst>
          <pc:docMk/>
          <pc:sldMk cId="90396174" sldId="9806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28211425" sldId="9808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899764603" sldId="9809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855547475" sldId="981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497020976" sldId="9811"/>
        </pc:sldMkLst>
      </pc:sldChg>
      <pc:sldChg chg="del">
        <pc:chgData name="Thảo, Dương Từ Uyên (Tracy)" userId="72a4ccaf-ec23-43c4-8b4a-e18c9702c805" providerId="ADAL" clId="{CCA0CD37-1BE4-4C39-B6C3-0D9B126FDE56}" dt="2025-12-18T09:10:12.385" v="0" actId="47"/>
        <pc:sldMkLst>
          <pc:docMk/>
          <pc:sldMk cId="2878421130" sldId="9812"/>
        </pc:sldMkLst>
      </pc:sldChg>
      <pc:sldChg chg="del">
        <pc:chgData name="Thảo, Dương Từ Uyên (Tracy)" userId="72a4ccaf-ec23-43c4-8b4a-e18c9702c805" providerId="ADAL" clId="{CCA0CD37-1BE4-4C39-B6C3-0D9B126FDE56}" dt="2025-12-18T09:11:41.336" v="10" actId="47"/>
        <pc:sldMkLst>
          <pc:docMk/>
          <pc:sldMk cId="2844592670" sldId="9822"/>
        </pc:sldMkLst>
      </pc:sldChg>
      <pc:sldChg chg="del">
        <pc:chgData name="Thảo, Dương Từ Uyên (Tracy)" userId="72a4ccaf-ec23-43c4-8b4a-e18c9702c805" providerId="ADAL" clId="{CCA0CD37-1BE4-4C39-B6C3-0D9B126FDE56}" dt="2025-12-18T09:11:13.442" v="8" actId="47"/>
        <pc:sldMkLst>
          <pc:docMk/>
          <pc:sldMk cId="2627637345" sldId="9824"/>
        </pc:sldMkLst>
      </pc:sldChg>
      <pc:sldChg chg="del">
        <pc:chgData name="Thảo, Dương Từ Uyên (Tracy)" userId="72a4ccaf-ec23-43c4-8b4a-e18c9702c805" providerId="ADAL" clId="{CCA0CD37-1BE4-4C39-B6C3-0D9B126FDE56}" dt="2025-12-18T09:11:23.778" v="9" actId="47"/>
        <pc:sldMkLst>
          <pc:docMk/>
          <pc:sldMk cId="152937064" sldId="9825"/>
        </pc:sldMkLst>
      </pc:sldChg>
      <pc:sldChg chg="del">
        <pc:chgData name="Thảo, Dương Từ Uyên (Tracy)" userId="72a4ccaf-ec23-43c4-8b4a-e18c9702c805" providerId="ADAL" clId="{CCA0CD37-1BE4-4C39-B6C3-0D9B126FDE56}" dt="2025-12-18T09:10:36.427" v="1" actId="47"/>
        <pc:sldMkLst>
          <pc:docMk/>
          <pc:sldMk cId="2222852111" sldId="984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919518284" sldId="9852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850048218" sldId="985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4053109939" sldId="9855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4269897305" sldId="9857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00729435" sldId="986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319569506" sldId="9861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61178203" sldId="9862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613650660" sldId="9863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234755759" sldId="986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932598707" sldId="9865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303456392" sldId="9866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791124808" sldId="9867"/>
        </pc:sldMkLst>
      </pc:sldChg>
      <pc:sldChg chg="del">
        <pc:chgData name="Thảo, Dương Từ Uyên (Tracy)" userId="72a4ccaf-ec23-43c4-8b4a-e18c9702c805" providerId="ADAL" clId="{CCA0CD37-1BE4-4C39-B6C3-0D9B126FDE56}" dt="2025-12-18T09:11:50.215" v="12" actId="47"/>
        <pc:sldMkLst>
          <pc:docMk/>
          <pc:sldMk cId="1520813963" sldId="9869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612020785" sldId="9870"/>
        </pc:sldMkLst>
      </pc:sldChg>
      <pc:sldChg chg="del">
        <pc:chgData name="Thảo, Dương Từ Uyên (Tracy)" userId="72a4ccaf-ec23-43c4-8b4a-e18c9702c805" providerId="ADAL" clId="{CCA0CD37-1BE4-4C39-B6C3-0D9B126FDE56}" dt="2025-12-18T09:11:45.079" v="11" actId="47"/>
        <pc:sldMkLst>
          <pc:docMk/>
          <pc:sldMk cId="1292031513" sldId="9872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589086677" sldId="9873"/>
        </pc:sldMkLst>
      </pc:sldChg>
      <pc:sldChg chg="del">
        <pc:chgData name="Thảo, Dương Từ Uyên (Tracy)" userId="72a4ccaf-ec23-43c4-8b4a-e18c9702c805" providerId="ADAL" clId="{CCA0CD37-1BE4-4C39-B6C3-0D9B126FDE56}" dt="2025-12-18T09:11:50.215" v="12" actId="47"/>
        <pc:sldMkLst>
          <pc:docMk/>
          <pc:sldMk cId="3928509578" sldId="9875"/>
        </pc:sldMkLst>
      </pc:sldChg>
      <pc:sldChg chg="del">
        <pc:chgData name="Thảo, Dương Từ Uyên (Tracy)" userId="72a4ccaf-ec23-43c4-8b4a-e18c9702c805" providerId="ADAL" clId="{CCA0CD37-1BE4-4C39-B6C3-0D9B126FDE56}" dt="2025-12-18T09:10:47.457" v="3" actId="47"/>
        <pc:sldMkLst>
          <pc:docMk/>
          <pc:sldMk cId="3917312598" sldId="9876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122566008" sldId="9878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336600459" sldId="9879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4218094748" sldId="988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830486679" sldId="9881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663799746" sldId="9882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502354624" sldId="9883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0320046" sldId="988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802041262" sldId="9885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400381355" sldId="9887"/>
        </pc:sldMkLst>
      </pc:sldChg>
      <pc:sldChg chg="del">
        <pc:chgData name="Thảo, Dương Từ Uyên (Tracy)" userId="72a4ccaf-ec23-43c4-8b4a-e18c9702c805" providerId="ADAL" clId="{CCA0CD37-1BE4-4C39-B6C3-0D9B126FDE56}" dt="2025-12-18T09:10:47.457" v="3" actId="47"/>
        <pc:sldMkLst>
          <pc:docMk/>
          <pc:sldMk cId="2709913498" sldId="9888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837421285" sldId="989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952266152" sldId="9893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977555366" sldId="9899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843895754" sldId="9901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789749953" sldId="9902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702937474" sldId="9903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498180339" sldId="9906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234874313" sldId="9911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021679269" sldId="9912"/>
        </pc:sldMkLst>
      </pc:sldChg>
      <pc:sldChg chg="del">
        <pc:chgData name="Thảo, Dương Từ Uyên (Tracy)" userId="72a4ccaf-ec23-43c4-8b4a-e18c9702c805" providerId="ADAL" clId="{CCA0CD37-1BE4-4C39-B6C3-0D9B126FDE56}" dt="2025-12-18T09:10:47.457" v="3" actId="47"/>
        <pc:sldMkLst>
          <pc:docMk/>
          <pc:sldMk cId="3869728186" sldId="991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4162176377" sldId="9915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222517537" sldId="9916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8360762" sldId="9917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772090928" sldId="9918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630991798" sldId="9919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4067549094" sldId="9920"/>
        </pc:sldMkLst>
      </pc:sldChg>
      <pc:sldChg chg="del">
        <pc:chgData name="Thảo, Dương Từ Uyên (Tracy)" userId="72a4ccaf-ec23-43c4-8b4a-e18c9702c805" providerId="ADAL" clId="{CCA0CD37-1BE4-4C39-B6C3-0D9B126FDE56}" dt="2025-12-18T09:10:44.117" v="2" actId="47"/>
        <pc:sldMkLst>
          <pc:docMk/>
          <pc:sldMk cId="1441065781" sldId="9921"/>
        </pc:sldMkLst>
      </pc:sldChg>
      <pc:sldChg chg="del">
        <pc:chgData name="Thảo, Dương Từ Uyên (Tracy)" userId="72a4ccaf-ec23-43c4-8b4a-e18c9702c805" providerId="ADAL" clId="{CCA0CD37-1BE4-4C39-B6C3-0D9B126FDE56}" dt="2025-12-18T09:10:44.117" v="2" actId="47"/>
        <pc:sldMkLst>
          <pc:docMk/>
          <pc:sldMk cId="3256639817" sldId="9922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450149781" sldId="9923"/>
        </pc:sldMkLst>
      </pc:sldChg>
      <pc:sldChg chg="del">
        <pc:chgData name="Thảo, Dương Từ Uyên (Tracy)" userId="72a4ccaf-ec23-43c4-8b4a-e18c9702c805" providerId="ADAL" clId="{CCA0CD37-1BE4-4C39-B6C3-0D9B126FDE56}" dt="2025-12-18T09:11:50.215" v="12" actId="47"/>
        <pc:sldMkLst>
          <pc:docMk/>
          <pc:sldMk cId="2031462427" sldId="9924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1402441653" sldId="9925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4061996320" sldId="9926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265084244" sldId="9927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183900975" sldId="9928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356648728" sldId="9929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762439610" sldId="9930"/>
        </pc:sldMkLst>
      </pc:sldChg>
      <pc:sldChg chg="del">
        <pc:chgData name="Thảo, Dương Từ Uyên (Tracy)" userId="72a4ccaf-ec23-43c4-8b4a-e18c9702c805" providerId="ADAL" clId="{CCA0CD37-1BE4-4C39-B6C3-0D9B126FDE56}" dt="2025-12-18T09:12:12.878" v="13" actId="47"/>
        <pc:sldMkLst>
          <pc:docMk/>
          <pc:sldMk cId="3966337455" sldId="9935"/>
        </pc:sldMkLst>
      </pc:sldChg>
      <pc:sldMasterChg chg="delSldLayout">
        <pc:chgData name="Thảo, Dương Từ Uyên (Tracy)" userId="72a4ccaf-ec23-43c4-8b4a-e18c9702c805" providerId="ADAL" clId="{CCA0CD37-1BE4-4C39-B6C3-0D9B126FDE56}" dt="2025-12-18T09:12:12.878" v="13" actId="47"/>
        <pc:sldMasterMkLst>
          <pc:docMk/>
          <pc:sldMasterMk cId="746895155" sldId="2147483680"/>
        </pc:sldMasterMkLst>
        <pc:sldLayoutChg chg="del">
          <pc:chgData name="Thảo, Dương Từ Uyên (Tracy)" userId="72a4ccaf-ec23-43c4-8b4a-e18c9702c805" providerId="ADAL" clId="{CCA0CD37-1BE4-4C39-B6C3-0D9B126FDE56}" dt="2025-12-18T09:12:12.878" v="13" actId="47"/>
          <pc:sldLayoutMkLst>
            <pc:docMk/>
            <pc:sldMasterMk cId="746895155" sldId="2147483680"/>
            <pc:sldLayoutMk cId="2280262661" sldId="2147483686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rgbClr val="0000FF"/>
                </a:solidFill>
              </a:rPr>
              <a:t>Xu </a:t>
            </a:r>
            <a:r>
              <a:rPr lang="en-US" err="1">
                <a:solidFill>
                  <a:srgbClr val="0000FF"/>
                </a:solidFill>
              </a:rPr>
              <a:t>hướng</a:t>
            </a:r>
            <a:r>
              <a:rPr lang="en-US" baseline="0">
                <a:solidFill>
                  <a:srgbClr val="0000FF"/>
                </a:solidFill>
              </a:rPr>
              <a:t> </a:t>
            </a:r>
            <a:r>
              <a:rPr lang="en-US" baseline="0" err="1">
                <a:solidFill>
                  <a:srgbClr val="0000FF"/>
                </a:solidFill>
              </a:rPr>
              <a:t>giá</a:t>
            </a:r>
            <a:r>
              <a:rPr lang="en-US" baseline="0">
                <a:solidFill>
                  <a:srgbClr val="0000FF"/>
                </a:solidFill>
              </a:rPr>
              <a:t> </a:t>
            </a:r>
            <a:r>
              <a:rPr lang="en-US" baseline="0" err="1">
                <a:solidFill>
                  <a:srgbClr val="0000FF"/>
                </a:solidFill>
              </a:rPr>
              <a:t>cước</a:t>
            </a:r>
            <a:r>
              <a:rPr lang="en-US" baseline="0">
                <a:solidFill>
                  <a:srgbClr val="0000FF"/>
                </a:solidFill>
              </a:rPr>
              <a:t> </a:t>
            </a:r>
            <a:r>
              <a:rPr lang="en-US" baseline="0" err="1">
                <a:solidFill>
                  <a:srgbClr val="0000FF"/>
                </a:solidFill>
              </a:rPr>
              <a:t>cont</a:t>
            </a:r>
            <a:r>
              <a:rPr lang="en-US" baseline="0">
                <a:solidFill>
                  <a:srgbClr val="0000FF"/>
                </a:solidFill>
              </a:rPr>
              <a:t> 20 </a:t>
            </a:r>
            <a:r>
              <a:rPr lang="en-US" baseline="0" err="1">
                <a:solidFill>
                  <a:srgbClr val="0000FF"/>
                </a:solidFill>
              </a:rPr>
              <a:t>tới</a:t>
            </a:r>
            <a:r>
              <a:rPr lang="en-US" baseline="0">
                <a:solidFill>
                  <a:srgbClr val="0000FF"/>
                </a:solidFill>
              </a:rPr>
              <a:t> </a:t>
            </a:r>
            <a:r>
              <a:rPr lang="en-US" baseline="0" err="1">
                <a:solidFill>
                  <a:srgbClr val="0000FF"/>
                </a:solidFill>
              </a:rPr>
              <a:t>các</a:t>
            </a:r>
            <a:r>
              <a:rPr lang="en-US" baseline="0">
                <a:solidFill>
                  <a:srgbClr val="0000FF"/>
                </a:solidFill>
              </a:rPr>
              <a:t> </a:t>
            </a:r>
            <a:r>
              <a:rPr lang="en-US" baseline="0" err="1">
                <a:solidFill>
                  <a:srgbClr val="0000FF"/>
                </a:solidFill>
              </a:rPr>
              <a:t>thị</a:t>
            </a:r>
            <a:r>
              <a:rPr lang="en-US" baseline="0">
                <a:solidFill>
                  <a:srgbClr val="0000FF"/>
                </a:solidFill>
              </a:rPr>
              <a:t> </a:t>
            </a:r>
            <a:r>
              <a:rPr lang="en-US" baseline="0" err="1">
                <a:solidFill>
                  <a:srgbClr val="0000FF"/>
                </a:solidFill>
              </a:rPr>
              <a:t>trường</a:t>
            </a:r>
            <a:endParaRPr lang="en-US">
              <a:solidFill>
                <a:srgbClr val="0000FF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Mỹ -Bờ Đông</c:v>
                </c:pt>
              </c:strCache>
            </c:strRef>
          </c:tx>
          <c:spPr>
            <a:ln w="28575" cap="rnd">
              <a:solidFill>
                <a:srgbClr val="FF00FF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53D-465C-826B-0E6EC6A2A64B}"/>
                </c:ext>
              </c:extLst>
            </c:dLbl>
            <c:dLbl>
              <c:idx val="14"/>
              <c:layout>
                <c:manualLayout>
                  <c:x val="-3.3068783068783233E-2"/>
                  <c:y val="-0.1451311396425505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32A-49D8-9EBA-CD7D9864C024}"/>
                </c:ext>
              </c:extLst>
            </c:dLbl>
            <c:dLbl>
              <c:idx val="16"/>
              <c:layout>
                <c:manualLayout>
                  <c:x val="-3.306878306878315E-2"/>
                  <c:y val="-5.61797959906647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9F0-4743-BDBF-D9D507643B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Sheet1!$A$2:$A$18</c:f>
              <c:numCache>
                <c:formatCode>General</c:formatCode>
                <c:ptCount val="17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12</c:v>
                </c:pt>
              </c:numCache>
            </c:num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7000</c:v>
                </c:pt>
                <c:pt idx="1">
                  <c:v>5780</c:v>
                </c:pt>
                <c:pt idx="2">
                  <c:v>3750</c:v>
                </c:pt>
                <c:pt idx="3">
                  <c:v>3680</c:v>
                </c:pt>
                <c:pt idx="4">
                  <c:v>3840</c:v>
                </c:pt>
                <c:pt idx="5">
                  <c:v>4194</c:v>
                </c:pt>
                <c:pt idx="6">
                  <c:v>3543</c:v>
                </c:pt>
                <c:pt idx="7">
                  <c:v>2600</c:v>
                </c:pt>
                <c:pt idx="8">
                  <c:v>2517</c:v>
                </c:pt>
                <c:pt idx="9">
                  <c:v>3103</c:v>
                </c:pt>
                <c:pt idx="10">
                  <c:v>5467</c:v>
                </c:pt>
                <c:pt idx="11">
                  <c:v>4300</c:v>
                </c:pt>
                <c:pt idx="12" formatCode="_(* #,##0_);_(* \(#,##0\);_(* &quot;-&quot;??_);_(@_)">
                  <c:v>2790</c:v>
                </c:pt>
                <c:pt idx="13" formatCode="_(* #,##0_);_(* \(#,##0\);_(* &quot;-&quot;??_);_(@_)">
                  <c:v>2500</c:v>
                </c:pt>
                <c:pt idx="14" formatCode="_(* #,##0_);_(* \(#,##0\);_(* &quot;-&quot;??_);_(@_)">
                  <c:v>2200</c:v>
                </c:pt>
                <c:pt idx="15" formatCode="_(* #,##0_);_(* \(#,##0\);_(* &quot;-&quot;??_);_(@_)">
                  <c:v>2280</c:v>
                </c:pt>
                <c:pt idx="16" formatCode="_(* #,##0_);_(* \(#,##0\);_(* &quot;-&quot;??_);_(@_)">
                  <c:v>2410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3D-465C-826B-0E6EC6A2A6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Mỹ Bờ Tây</c:v>
                </c:pt>
              </c:strCache>
            </c:strRef>
          </c:tx>
          <c:spPr>
            <a:ln w="28575" cap="rnd">
              <a:solidFill>
                <a:srgbClr val="9D53F2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layout>
                <c:manualLayout>
                  <c:x val="-4.5480599647266313E-2"/>
                  <c:y val="-4.356256582417861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53D-465C-826B-0E6EC6A2A64B}"/>
                </c:ext>
              </c:extLst>
            </c:dLbl>
            <c:dLbl>
              <c:idx val="16"/>
              <c:layout>
                <c:manualLayout>
                  <c:x val="-4.4091710758377423E-3"/>
                  <c:y val="2.80898979953323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9F0-4743-BDBF-D9D507643B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Sheet1!$A$2:$A$18</c:f>
              <c:numCache>
                <c:formatCode>General</c:formatCode>
                <c:ptCount val="17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12</c:v>
                </c:pt>
              </c:numCache>
            </c:num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4650</c:v>
                </c:pt>
                <c:pt idx="1">
                  <c:v>3850</c:v>
                </c:pt>
                <c:pt idx="2">
                  <c:v>3000</c:v>
                </c:pt>
                <c:pt idx="3">
                  <c:v>3080</c:v>
                </c:pt>
                <c:pt idx="4">
                  <c:v>2520</c:v>
                </c:pt>
                <c:pt idx="5">
                  <c:v>2810</c:v>
                </c:pt>
                <c:pt idx="6">
                  <c:v>2329</c:v>
                </c:pt>
                <c:pt idx="7">
                  <c:v>1900</c:v>
                </c:pt>
                <c:pt idx="8">
                  <c:v>1633</c:v>
                </c:pt>
                <c:pt idx="9">
                  <c:v>2184</c:v>
                </c:pt>
                <c:pt idx="10">
                  <c:v>3933</c:v>
                </c:pt>
                <c:pt idx="11">
                  <c:v>2500</c:v>
                </c:pt>
                <c:pt idx="12" formatCode="_(* #,##0_);_(* \(#,##0\);_(* &quot;-&quot;??_);_(@_)">
                  <c:v>1900</c:v>
                </c:pt>
                <c:pt idx="13" formatCode="_(* #,##0_);_(* \(#,##0\);_(* &quot;-&quot;??_);_(@_)">
                  <c:v>1600</c:v>
                </c:pt>
                <c:pt idx="14" formatCode="_(* #,##0_);_(* \(#,##0\);_(* &quot;-&quot;??_);_(@_)">
                  <c:v>1400</c:v>
                </c:pt>
                <c:pt idx="15" formatCode="_(* #,##0_);_(* \(#,##0\);_(* &quot;-&quot;??_);_(@_)">
                  <c:v>1600</c:v>
                </c:pt>
                <c:pt idx="16" formatCode="_(* #,##0_);_(* \(#,##0\);_(* &quot;-&quot;??_);_(@_)">
                  <c:v>1833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53D-465C-826B-0E6EC6A2A64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Châu Âu</c:v>
                </c:pt>
              </c:strCache>
            </c:strRef>
          </c:tx>
          <c:spPr>
            <a:ln w="28575" cap="rnd">
              <a:solidFill>
                <a:srgbClr val="000099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53D-465C-826B-0E6EC6A2A64B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2A-49D8-9EBA-CD7D9864C024}"/>
                </c:ext>
              </c:extLst>
            </c:dLbl>
            <c:dLbl>
              <c:idx val="16"/>
              <c:layout>
                <c:manualLayout>
                  <c:x val="1.1022927689594356E-2"/>
                  <c:y val="8.582925236777920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9F0-4743-BDBF-D9D507643B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000099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Sheet1!$A$2:$A$18</c:f>
              <c:numCache>
                <c:formatCode>General</c:formatCode>
                <c:ptCount val="17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12</c:v>
                </c:pt>
              </c:numCache>
            </c:num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5338</c:v>
                </c:pt>
                <c:pt idx="1">
                  <c:v>4606</c:v>
                </c:pt>
                <c:pt idx="2">
                  <c:v>2847</c:v>
                </c:pt>
                <c:pt idx="3">
                  <c:v>2951</c:v>
                </c:pt>
                <c:pt idx="4">
                  <c:v>4217</c:v>
                </c:pt>
                <c:pt idx="5">
                  <c:v>3256</c:v>
                </c:pt>
                <c:pt idx="6">
                  <c:v>2483</c:v>
                </c:pt>
                <c:pt idx="7">
                  <c:v>2525</c:v>
                </c:pt>
                <c:pt idx="8">
                  <c:v>2338</c:v>
                </c:pt>
                <c:pt idx="9">
                  <c:v>2214</c:v>
                </c:pt>
                <c:pt idx="10">
                  <c:v>2892</c:v>
                </c:pt>
                <c:pt idx="11">
                  <c:v>2871</c:v>
                </c:pt>
                <c:pt idx="12" formatCode="_(* #,##0_);_(* \(#,##0\);_(* &quot;-&quot;??_);_(@_)">
                  <c:v>2331</c:v>
                </c:pt>
                <c:pt idx="13" formatCode="_(* #,##0_);_(* \(#,##0\);_(* &quot;-&quot;??_);_(@_)">
                  <c:v>1727</c:v>
                </c:pt>
                <c:pt idx="14" formatCode="_(* #,##0_);_(* \(#,##0\);_(* &quot;-&quot;??_);_(@_)">
                  <c:v>1389</c:v>
                </c:pt>
                <c:pt idx="15" formatCode="_(* #,##0_);_(* \(#,##0\);_(* &quot;-&quot;??_);_(@_)">
                  <c:v>2007</c:v>
                </c:pt>
                <c:pt idx="16" formatCode="_(* #,##0_);_(* \(#,##0\);_(* &quot;-&quot;??_);_(@_)">
                  <c:v>2226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53D-465C-826B-0E6EC6A2A6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59875055"/>
        <c:axId val="959878895"/>
      </c:lineChart>
      <c:catAx>
        <c:axId val="959875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878895"/>
        <c:crosses val="autoZero"/>
        <c:auto val="1"/>
        <c:lblAlgn val="ctr"/>
        <c:lblOffset val="100"/>
        <c:noMultiLvlLbl val="0"/>
      </c:catAx>
      <c:valAx>
        <c:axId val="959878895"/>
        <c:scaling>
          <c:orientation val="minMax"/>
          <c:min val="1000"/>
        </c:scaling>
        <c:delete val="1"/>
        <c:axPos val="l"/>
        <c:numFmt formatCode="General" sourceLinked="1"/>
        <c:majorTickMark val="none"/>
        <c:minorTickMark val="none"/>
        <c:tickLblPos val="nextTo"/>
        <c:crossAx val="9598750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6880511463844792"/>
          <c:y val="0.23393761019847609"/>
          <c:w val="0.20694444444444443"/>
          <c:h val="0.2874149515670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000FF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3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rgbClr val="0000FF"/>
                </a:solidFill>
              </a:rPr>
              <a:t>Xu </a:t>
            </a:r>
            <a:r>
              <a:rPr lang="en-US" sz="1600" b="1" err="1">
                <a:solidFill>
                  <a:srgbClr val="0000FF"/>
                </a:solidFill>
              </a:rPr>
              <a:t>hướng</a:t>
            </a:r>
            <a:r>
              <a:rPr lang="en-US" sz="1600" b="1" baseline="0">
                <a:solidFill>
                  <a:srgbClr val="0000FF"/>
                </a:solidFill>
              </a:rPr>
              <a:t> </a:t>
            </a:r>
            <a:r>
              <a:rPr lang="en-US" sz="1600" b="1" baseline="0" err="1">
                <a:solidFill>
                  <a:srgbClr val="0000FF"/>
                </a:solidFill>
              </a:rPr>
              <a:t>giá</a:t>
            </a:r>
            <a:r>
              <a:rPr lang="en-US" sz="1600" b="1" baseline="0">
                <a:solidFill>
                  <a:srgbClr val="0000FF"/>
                </a:solidFill>
              </a:rPr>
              <a:t> </a:t>
            </a:r>
            <a:r>
              <a:rPr lang="en-US" sz="1600" b="1" baseline="0" err="1">
                <a:solidFill>
                  <a:srgbClr val="0000FF"/>
                </a:solidFill>
              </a:rPr>
              <a:t>rPET</a:t>
            </a:r>
            <a:r>
              <a:rPr lang="en-US" sz="1600" b="1" baseline="0">
                <a:solidFill>
                  <a:srgbClr val="0000FF"/>
                </a:solidFill>
              </a:rPr>
              <a:t> </a:t>
            </a:r>
            <a:r>
              <a:rPr lang="en-US" sz="1600" b="1" baseline="0" err="1">
                <a:solidFill>
                  <a:srgbClr val="0000FF"/>
                </a:solidFill>
              </a:rPr>
              <a:t>các</a:t>
            </a:r>
            <a:r>
              <a:rPr lang="en-US" sz="1600" b="1" baseline="0">
                <a:solidFill>
                  <a:srgbClr val="0000FF"/>
                </a:solidFill>
              </a:rPr>
              <a:t> </a:t>
            </a:r>
            <a:r>
              <a:rPr lang="en-US" sz="1600" b="1" baseline="0" err="1">
                <a:solidFill>
                  <a:srgbClr val="0000FF"/>
                </a:solidFill>
              </a:rPr>
              <a:t>thị</a:t>
            </a:r>
            <a:r>
              <a:rPr lang="en-US" sz="1600" b="1" baseline="0">
                <a:solidFill>
                  <a:srgbClr val="0000FF"/>
                </a:solidFill>
              </a:rPr>
              <a:t> </a:t>
            </a:r>
            <a:r>
              <a:rPr lang="en-US" sz="1600" b="1" baseline="0" err="1">
                <a:solidFill>
                  <a:srgbClr val="0000FF"/>
                </a:solidFill>
              </a:rPr>
              <a:t>trường</a:t>
            </a:r>
            <a:endParaRPr lang="en-US" sz="1600" b="1" baseline="0">
              <a:solidFill>
                <a:srgbClr val="0000FF"/>
              </a:solidFill>
            </a:endParaRPr>
          </a:p>
          <a:p>
            <a:pPr>
              <a:defRPr/>
            </a:pPr>
            <a:r>
              <a:rPr lang="en-US" sz="1600" b="0" i="1" u="none" strike="noStrike" kern="1200" spc="0" baseline="0">
                <a:solidFill>
                  <a:srgbClr val="0000FF"/>
                </a:solidFill>
              </a:rPr>
              <a:t>(</a:t>
            </a:r>
            <a:r>
              <a:rPr lang="en-US" sz="1600" b="0" i="1" u="none" strike="noStrike" kern="1200" spc="0" baseline="0" err="1">
                <a:solidFill>
                  <a:srgbClr val="0000FF"/>
                </a:solidFill>
              </a:rPr>
              <a:t>đã</a:t>
            </a:r>
            <a:r>
              <a:rPr lang="en-US" sz="1600" b="0" i="1" u="none" strike="noStrike" kern="1200" spc="0" baseline="0">
                <a:solidFill>
                  <a:srgbClr val="0000FF"/>
                </a:solidFill>
              </a:rPr>
              <a:t> </a:t>
            </a:r>
            <a:r>
              <a:rPr lang="en-US" sz="1600" b="0" i="1" u="none" strike="noStrike" kern="1200" spc="0" baseline="0" err="1">
                <a:solidFill>
                  <a:srgbClr val="0000FF"/>
                </a:solidFill>
              </a:rPr>
              <a:t>quy</a:t>
            </a:r>
            <a:r>
              <a:rPr lang="en-US" sz="1600" b="0" i="1" u="none" strike="noStrike" kern="1200" spc="0" baseline="0">
                <a:solidFill>
                  <a:srgbClr val="0000FF"/>
                </a:solidFill>
              </a:rPr>
              <a:t> </a:t>
            </a:r>
            <a:r>
              <a:rPr lang="en-US" sz="1600" b="0" i="1" u="none" strike="noStrike" kern="1200" spc="0" baseline="0" err="1">
                <a:solidFill>
                  <a:srgbClr val="0000FF"/>
                </a:solidFill>
              </a:rPr>
              <a:t>về</a:t>
            </a:r>
            <a:r>
              <a:rPr lang="en-US" sz="1600" b="0" i="1" u="none" strike="noStrike" kern="1200" spc="0" baseline="0">
                <a:solidFill>
                  <a:srgbClr val="0000FF"/>
                </a:solidFill>
              </a:rPr>
              <a:t> </a:t>
            </a:r>
            <a:r>
              <a:rPr lang="en-US" sz="1600" b="0" i="1" u="none" strike="noStrike" kern="1200" spc="0" baseline="0" err="1">
                <a:solidFill>
                  <a:srgbClr val="0000FF"/>
                </a:solidFill>
              </a:rPr>
              <a:t>ExW</a:t>
            </a:r>
            <a:r>
              <a:rPr lang="en-US" sz="1600" b="0" i="1" u="none" strike="noStrike" kern="1200" spc="0" baseline="0">
                <a:solidFill>
                  <a:srgbClr val="0000FF"/>
                </a:solidFill>
              </a:rPr>
              <a:t>-Long An)</a:t>
            </a:r>
            <a:endParaRPr lang="en-US" sz="1600" b="0" i="1">
              <a:solidFill>
                <a:srgbClr val="0000FF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4250440917107582E-2"/>
          <c:y val="0.22535103785103786"/>
          <c:w val="0.72691798941798946"/>
          <c:h val="0.6651145770240258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Mỹ -Bờ Đông</c:v>
                </c:pt>
              </c:strCache>
            </c:strRef>
          </c:tx>
          <c:spPr>
            <a:ln w="28575" cap="rnd">
              <a:solidFill>
                <a:srgbClr val="FF00FF"/>
              </a:solidFill>
              <a:round/>
            </a:ln>
            <a:effectLst/>
          </c:spPr>
          <c:marker>
            <c:symbol val="none"/>
          </c:marker>
          <c:dLbls>
            <c:dLbl>
              <c:idx val="15"/>
              <c:layout>
                <c:manualLayout>
                  <c:x val="-2.4250440917107503E-2"/>
                  <c:y val="4.57875457875457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0F9-4ECA-BE52-1EAA75A17E36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0F9-4ECA-BE52-1EAA75A17E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Sheet1!$A$2:$A$18</c:f>
              <c:numCache>
                <c:formatCode>General</c:formatCode>
                <c:ptCount val="17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12</c:v>
                </c:pt>
              </c:numCache>
            </c:numRef>
          </c:cat>
          <c:val>
            <c:numRef>
              <c:f>Sheet1!$B$2:$B$18</c:f>
              <c:numCache>
                <c:formatCode>0</c:formatCode>
                <c:ptCount val="17"/>
                <c:pt idx="0">
                  <c:v>1317.9685454545454</c:v>
                </c:pt>
                <c:pt idx="1">
                  <c:v>1419.7210909090909</c:v>
                </c:pt>
                <c:pt idx="2">
                  <c:v>1545.0628181818183</c:v>
                </c:pt>
                <c:pt idx="3">
                  <c:v>1548.2446363636363</c:v>
                </c:pt>
                <c:pt idx="4">
                  <c:v>1540.9719090909091</c:v>
                </c:pt>
                <c:pt idx="5">
                  <c:v>1524.8810000000001</c:v>
                </c:pt>
                <c:pt idx="6">
                  <c:v>1554.4719090909091</c:v>
                </c:pt>
                <c:pt idx="7">
                  <c:v>1597.3355454545456</c:v>
                </c:pt>
                <c:pt idx="8">
                  <c:v>1601.1082727272728</c:v>
                </c:pt>
                <c:pt idx="9">
                  <c:v>1574.4719090909091</c:v>
                </c:pt>
                <c:pt idx="10">
                  <c:v>1467.0173636363638</c:v>
                </c:pt>
                <c:pt idx="11">
                  <c:v>1437.3636363636365</c:v>
                </c:pt>
                <c:pt idx="12">
                  <c:v>1279.8181818181818</c:v>
                </c:pt>
                <c:pt idx="13">
                  <c:v>1266</c:v>
                </c:pt>
                <c:pt idx="14">
                  <c:v>1262.6363636363635</c:v>
                </c:pt>
                <c:pt idx="15">
                  <c:v>1450</c:v>
                </c:pt>
                <c:pt idx="16">
                  <c:v>1450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96-4E0F-ACB4-DBD4139EA7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Mỹ Bờ Tây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dLbls>
            <c:dLbl>
              <c:idx val="15"/>
              <c:layout>
                <c:manualLayout>
                  <c:x val="-2.4250440917107503E-2"/>
                  <c:y val="-1.52625152625152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0F9-4ECA-BE52-1EAA75A17E36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0F9-4ECA-BE52-1EAA75A17E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Sheet1!$A$2:$A$18</c:f>
              <c:numCache>
                <c:formatCode>General</c:formatCode>
                <c:ptCount val="17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12</c:v>
                </c:pt>
              </c:numCache>
            </c:numRef>
          </c:cat>
          <c:val>
            <c:numRef>
              <c:f>Sheet1!$C$2:$C$18</c:f>
              <c:numCache>
                <c:formatCode>0</c:formatCode>
                <c:ptCount val="17"/>
                <c:pt idx="0">
                  <c:v>1177.8697272727272</c:v>
                </c:pt>
                <c:pt idx="1">
                  <c:v>1248.4053636363637</c:v>
                </c:pt>
                <c:pt idx="2">
                  <c:v>1336.6457272727273</c:v>
                </c:pt>
                <c:pt idx="3">
                  <c:v>1333.0093636363636</c:v>
                </c:pt>
                <c:pt idx="4">
                  <c:v>1358.4639090909091</c:v>
                </c:pt>
                <c:pt idx="5">
                  <c:v>1345.282090909091</c:v>
                </c:pt>
                <c:pt idx="6">
                  <c:v>1367.1457272727273</c:v>
                </c:pt>
                <c:pt idx="7">
                  <c:v>1386.6457272727273</c:v>
                </c:pt>
                <c:pt idx="8">
                  <c:v>1415.3160909090909</c:v>
                </c:pt>
                <c:pt idx="9">
                  <c:v>1433.2606363636364</c:v>
                </c:pt>
                <c:pt idx="10">
                  <c:v>1382.4206363636363</c:v>
                </c:pt>
                <c:pt idx="11">
                  <c:v>1350.6363636363635</c:v>
                </c:pt>
                <c:pt idx="12">
                  <c:v>1210.2727272727273</c:v>
                </c:pt>
                <c:pt idx="13">
                  <c:v>1223.909090909091</c:v>
                </c:pt>
                <c:pt idx="14">
                  <c:v>1233</c:v>
                </c:pt>
                <c:pt idx="15">
                  <c:v>1512</c:v>
                </c:pt>
                <c:pt idx="16">
                  <c:v>1512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B96-4E0F-ACB4-DBD4139EA7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Châu Âu</c:v>
                </c:pt>
              </c:strCache>
            </c:strRef>
          </c:tx>
          <c:spPr>
            <a:ln w="28575" cap="rnd">
              <a:solidFill>
                <a:srgbClr val="9D53F2"/>
              </a:solidFill>
              <a:round/>
            </a:ln>
            <a:effectLst/>
          </c:spPr>
          <c:marker>
            <c:symbol val="none"/>
          </c:marker>
          <c:dLbls>
            <c:dLbl>
              <c:idx val="15"/>
              <c:layout>
                <c:manualLayout>
                  <c:x val="-3.0864197530864116E-2"/>
                  <c:y val="-4.1971916971917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0F9-4ECA-BE52-1EAA75A17E36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0F9-4ECA-BE52-1EAA75A17E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Sheet1!$A$2:$A$18</c:f>
              <c:numCache>
                <c:formatCode>General</c:formatCode>
                <c:ptCount val="17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12</c:v>
                </c:pt>
              </c:numCache>
            </c:numRef>
          </c:cat>
          <c:val>
            <c:numRef>
              <c:f>Sheet1!$D$2:$D$18</c:f>
              <c:numCache>
                <c:formatCode>0</c:formatCode>
                <c:ptCount val="17"/>
                <c:pt idx="0">
                  <c:v>1324.02</c:v>
                </c:pt>
                <c:pt idx="1">
                  <c:v>1397.9627272727273</c:v>
                </c:pt>
                <c:pt idx="2">
                  <c:v>1485.5372727272727</c:v>
                </c:pt>
                <c:pt idx="3">
                  <c:v>1452.98</c:v>
                </c:pt>
                <c:pt idx="4">
                  <c:v>1353.8645454545456</c:v>
                </c:pt>
                <c:pt idx="5">
                  <c:v>1371.0763636363636</c:v>
                </c:pt>
                <c:pt idx="6">
                  <c:v>1389.6327272727272</c:v>
                </c:pt>
                <c:pt idx="7">
                  <c:v>1416.2836363636366</c:v>
                </c:pt>
                <c:pt idx="8">
                  <c:v>1484.6136363636365</c:v>
                </c:pt>
                <c:pt idx="9">
                  <c:v>1568.6</c:v>
                </c:pt>
                <c:pt idx="10">
                  <c:v>1575.5818181818183</c:v>
                </c:pt>
                <c:pt idx="11">
                  <c:v>1626.5563636363636</c:v>
                </c:pt>
                <c:pt idx="12">
                  <c:v>1669.6818181818182</c:v>
                </c:pt>
                <c:pt idx="13">
                  <c:v>1656.1363636363635</c:v>
                </c:pt>
                <c:pt idx="14">
                  <c:v>1609.5</c:v>
                </c:pt>
                <c:pt idx="15">
                  <c:v>1600</c:v>
                </c:pt>
                <c:pt idx="16">
                  <c:v>1600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BB96-4E0F-ACB4-DBD4139EA75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Đông Nam Á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Lbl>
              <c:idx val="15"/>
              <c:layout>
                <c:manualLayout>
                  <c:x val="-2.6455026455026454E-2"/>
                  <c:y val="-2.28937728937729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0F9-4ECA-BE52-1EAA75A17E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Sheet1!$A$2:$A$18</c:f>
              <c:numCache>
                <c:formatCode>General</c:formatCode>
                <c:ptCount val="17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12</c:v>
                </c:pt>
              </c:numCache>
            </c:numRef>
          </c:cat>
          <c:val>
            <c:numRef>
              <c:f>Sheet1!$E$2:$E$18</c:f>
              <c:numCache>
                <c:formatCode>0</c:formatCode>
                <c:ptCount val="17"/>
                <c:pt idx="0">
                  <c:v>1260</c:v>
                </c:pt>
                <c:pt idx="1">
                  <c:v>1305</c:v>
                </c:pt>
                <c:pt idx="2">
                  <c:v>1305</c:v>
                </c:pt>
                <c:pt idx="3">
                  <c:v>1300</c:v>
                </c:pt>
                <c:pt idx="4">
                  <c:v>1300</c:v>
                </c:pt>
                <c:pt idx="5">
                  <c:v>1287.5</c:v>
                </c:pt>
                <c:pt idx="6">
                  <c:v>1212.5</c:v>
                </c:pt>
                <c:pt idx="7">
                  <c:v>1200</c:v>
                </c:pt>
                <c:pt idx="8">
                  <c:v>1220</c:v>
                </c:pt>
                <c:pt idx="9">
                  <c:v>1220</c:v>
                </c:pt>
                <c:pt idx="10">
                  <c:v>1220</c:v>
                </c:pt>
                <c:pt idx="11">
                  <c:v>1200</c:v>
                </c:pt>
                <c:pt idx="12">
                  <c:v>1200</c:v>
                </c:pt>
                <c:pt idx="13">
                  <c:v>1192</c:v>
                </c:pt>
                <c:pt idx="14">
                  <c:v>1150</c:v>
                </c:pt>
                <c:pt idx="15">
                  <c:v>1250</c:v>
                </c:pt>
                <c:pt idx="16">
                  <c:v>1200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BB96-4E0F-ACB4-DBD4139EA75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DTR</c:v>
                </c:pt>
              </c:strCache>
            </c:strRef>
          </c:tx>
          <c:spPr>
            <a:ln w="28575" cap="rnd">
              <a:solidFill>
                <a:srgbClr val="008000"/>
              </a:solidFill>
              <a:round/>
            </a:ln>
            <a:effectLst/>
          </c:spPr>
          <c:marker>
            <c:symbol val="none"/>
          </c:marker>
          <c:dLbls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0F9-4ECA-BE52-1EAA75A17E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Sheet1!$A$2:$A$18</c:f>
              <c:numCache>
                <c:formatCode>General</c:formatCode>
                <c:ptCount val="17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12</c:v>
                </c:pt>
              </c:numCache>
            </c:numRef>
          </c:cat>
          <c:val>
            <c:numRef>
              <c:f>Sheet1!$F$2:$F$18</c:f>
              <c:numCache>
                <c:formatCode>0</c:formatCode>
                <c:ptCount val="17"/>
                <c:pt idx="0">
                  <c:v>1300</c:v>
                </c:pt>
                <c:pt idx="1">
                  <c:v>1300</c:v>
                </c:pt>
                <c:pt idx="2">
                  <c:v>1325</c:v>
                </c:pt>
                <c:pt idx="3">
                  <c:v>1325</c:v>
                </c:pt>
                <c:pt idx="4">
                  <c:v>1275</c:v>
                </c:pt>
                <c:pt idx="5">
                  <c:v>1230</c:v>
                </c:pt>
                <c:pt idx="6">
                  <c:v>1230</c:v>
                </c:pt>
                <c:pt idx="7">
                  <c:v>1230</c:v>
                </c:pt>
                <c:pt idx="8">
                  <c:v>1250</c:v>
                </c:pt>
                <c:pt idx="9">
                  <c:v>1250</c:v>
                </c:pt>
                <c:pt idx="10">
                  <c:v>1250</c:v>
                </c:pt>
                <c:pt idx="11">
                  <c:v>1250</c:v>
                </c:pt>
                <c:pt idx="12">
                  <c:v>1220</c:v>
                </c:pt>
                <c:pt idx="13">
                  <c:v>1220</c:v>
                </c:pt>
                <c:pt idx="14">
                  <c:v>1220</c:v>
                </c:pt>
                <c:pt idx="15">
                  <c:v>1200</c:v>
                </c:pt>
                <c:pt idx="16">
                  <c:v>1200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BB96-4E0F-ACB4-DBD4139EA75D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vPET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layout>
                <c:manualLayout>
                  <c:x val="-3.8795324195586664E-2"/>
                  <c:y val="-5.225488640842985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B96-4E0F-ACB4-DBD4139EA75D}"/>
                </c:ext>
              </c:extLst>
            </c:dLbl>
            <c:dLbl>
              <c:idx val="11"/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B96-4E0F-ACB4-DBD4139EA7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8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Sheet1!$A$2:$A$18</c:f>
              <c:numCache>
                <c:formatCode>General</c:formatCode>
                <c:ptCount val="17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12</c:v>
                </c:pt>
              </c:numCache>
            </c:numRef>
          </c:cat>
          <c:val>
            <c:numRef>
              <c:f>Sheet1!$G$2:$G$18</c:f>
              <c:numCache>
                <c:formatCode>0</c:formatCode>
                <c:ptCount val="17"/>
                <c:pt idx="0">
                  <c:v>930</c:v>
                </c:pt>
                <c:pt idx="1">
                  <c:v>880</c:v>
                </c:pt>
                <c:pt idx="2">
                  <c:v>863</c:v>
                </c:pt>
                <c:pt idx="3">
                  <c:v>852</c:v>
                </c:pt>
                <c:pt idx="4">
                  <c:v>830</c:v>
                </c:pt>
                <c:pt idx="5">
                  <c:v>828</c:v>
                </c:pt>
                <c:pt idx="6">
                  <c:v>840</c:v>
                </c:pt>
                <c:pt idx="7">
                  <c:v>823</c:v>
                </c:pt>
                <c:pt idx="8">
                  <c:v>765</c:v>
                </c:pt>
                <c:pt idx="9">
                  <c:v>782</c:v>
                </c:pt>
                <c:pt idx="10">
                  <c:v>790</c:v>
                </c:pt>
                <c:pt idx="11">
                  <c:v>790</c:v>
                </c:pt>
                <c:pt idx="12">
                  <c:v>780</c:v>
                </c:pt>
                <c:pt idx="13">
                  <c:v>780</c:v>
                </c:pt>
                <c:pt idx="14">
                  <c:v>780</c:v>
                </c:pt>
                <c:pt idx="15">
                  <c:v>770</c:v>
                </c:pt>
                <c:pt idx="16">
                  <c:v>770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BB96-4E0F-ACB4-DBD4139EA7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59875055"/>
        <c:axId val="959878895"/>
      </c:lineChart>
      <c:catAx>
        <c:axId val="959875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00FF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878895"/>
        <c:crosses val="autoZero"/>
        <c:auto val="1"/>
        <c:lblAlgn val="ctr"/>
        <c:lblOffset val="100"/>
        <c:noMultiLvlLbl val="0"/>
      </c:catAx>
      <c:valAx>
        <c:axId val="959878895"/>
        <c:scaling>
          <c:orientation val="minMax"/>
          <c:min val="750"/>
        </c:scaling>
        <c:delete val="1"/>
        <c:axPos val="l"/>
        <c:numFmt formatCode="0" sourceLinked="1"/>
        <c:majorTickMark val="out"/>
        <c:minorTickMark val="none"/>
        <c:tickLblPos val="nextTo"/>
        <c:crossAx val="9598750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000FF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3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99210AC-4D19-FAC0-F217-3DF6C03F91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8056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FD442-20B2-3F47-AF8D-D7BA059934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60" cy="498056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r">
              <a:defRPr sz="1300"/>
            </a:lvl1pPr>
          </a:lstStyle>
          <a:p>
            <a:fld id="{1BE3328E-025F-4614-B9F0-F73A7FE41364}" type="datetimeFigureOut">
              <a:rPr lang="en-US" smtClean="0"/>
              <a:t>18/12/2025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741C2-FB92-C488-1597-CC49A1BAE4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60" cy="498054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3AB00-4DCE-768D-ABAC-9BBDA578EA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60" cy="498054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r">
              <a:defRPr sz="1300"/>
            </a:lvl1pPr>
          </a:lstStyle>
          <a:p>
            <a:fld id="{9EF05DDF-07DD-49F8-B51A-F145F0B38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889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8056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60" cy="498056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r">
              <a:defRPr sz="1300"/>
            </a:lvl1pPr>
          </a:lstStyle>
          <a:p>
            <a:fld id="{B5643606-D9BE-4BB2-A85F-ADE23D16F8CC}" type="datetimeFigureOut">
              <a:rPr lang="en-US" smtClean="0"/>
              <a:t>18/12/2025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3" tIns="47781" rIns="95563" bIns="4778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</p:spPr>
        <p:txBody>
          <a:bodyPr vert="horz" lIns="95563" tIns="47781" rIns="95563" bIns="4778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60" cy="498054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60" cy="498054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r">
              <a:defRPr sz="1300"/>
            </a:lvl1pPr>
          </a:lstStyle>
          <a:p>
            <a:fld id="{5C1C4B5F-461C-4573-9F89-B44CFC50E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536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5138" y="1274763"/>
            <a:ext cx="6110287" cy="34385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009719">
              <a:defRPr/>
            </a:pPr>
            <a:fld id="{484B8AF9-F772-4CC0-BD71-041ECA2BB63E}" type="slidenum">
              <a:rPr lang="en-US">
                <a:solidFill>
                  <a:prstClr val="black"/>
                </a:solidFill>
                <a:latin typeface="Calibri"/>
              </a:rPr>
              <a:pPr defTabSz="1009719">
                <a:defRPr/>
              </a:pPr>
              <a:t>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5316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Bổ</a:t>
            </a:r>
            <a:r>
              <a:rPr lang="en-US"/>
              <a:t> sung </a:t>
            </a:r>
            <a:r>
              <a:rPr lang="en-US" err="1"/>
              <a:t>đường</a:t>
            </a:r>
            <a:r>
              <a:rPr lang="en-US"/>
              <a:t> </a:t>
            </a:r>
            <a:r>
              <a:rPr lang="en-US" err="1"/>
              <a:t>giới</a:t>
            </a:r>
            <a:r>
              <a:rPr lang="en-US"/>
              <a:t> </a:t>
            </a:r>
            <a:r>
              <a:rPr lang="en-US" err="1"/>
              <a:t>hạn</a:t>
            </a:r>
            <a:r>
              <a:rPr lang="en-US"/>
              <a:t> </a:t>
            </a:r>
            <a:r>
              <a:rPr lang="en-US" err="1"/>
              <a:t>đỏ</a:t>
            </a:r>
            <a:r>
              <a:rPr lang="en-US"/>
              <a:t> </a:t>
            </a:r>
            <a:r>
              <a:rPr lang="en-US" err="1"/>
              <a:t>về</a:t>
            </a:r>
            <a:r>
              <a:rPr lang="en-US"/>
              <a:t> %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đạt</a:t>
            </a:r>
            <a:r>
              <a:rPr lang="en-US"/>
              <a:t>/ </a:t>
            </a:r>
            <a:r>
              <a:rPr lang="en-US" err="1"/>
              <a:t>đạt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E03CA-1043-4403-AF74-E3AA26AA69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32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ADE44-BBEF-C65B-3C76-A9A7205D9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D0C80-4F47-98E3-8148-E82DC1103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B8F0B-B28C-1AB7-6EF2-86FA3D182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DF34D-4726-8BC4-2DD3-D0CE2BFB4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C4B5F-461C-4573-9F89-B44CFC50EC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29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Bổ</a:t>
            </a:r>
            <a:r>
              <a:rPr lang="en-US"/>
              <a:t> sung </a:t>
            </a:r>
            <a:r>
              <a:rPr lang="en-US" err="1"/>
              <a:t>đường</a:t>
            </a:r>
            <a:r>
              <a:rPr lang="en-US"/>
              <a:t> </a:t>
            </a:r>
            <a:r>
              <a:rPr lang="en-US" err="1"/>
              <a:t>giới</a:t>
            </a:r>
            <a:r>
              <a:rPr lang="en-US"/>
              <a:t> </a:t>
            </a:r>
            <a:r>
              <a:rPr lang="en-US" err="1"/>
              <a:t>hạn</a:t>
            </a:r>
            <a:r>
              <a:rPr lang="en-US"/>
              <a:t> </a:t>
            </a:r>
            <a:r>
              <a:rPr lang="en-US" err="1"/>
              <a:t>đỏ</a:t>
            </a:r>
            <a:r>
              <a:rPr lang="en-US"/>
              <a:t> </a:t>
            </a:r>
            <a:r>
              <a:rPr lang="en-US" err="1"/>
              <a:t>về</a:t>
            </a:r>
            <a:r>
              <a:rPr lang="en-US"/>
              <a:t> %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đạt</a:t>
            </a:r>
            <a:r>
              <a:rPr lang="en-US"/>
              <a:t>/ </a:t>
            </a:r>
            <a:r>
              <a:rPr lang="en-US" err="1"/>
              <a:t>đạt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E03CA-1043-4403-AF74-E3AA26AA69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993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Bổ</a:t>
            </a:r>
            <a:r>
              <a:rPr lang="en-US"/>
              <a:t> sung </a:t>
            </a:r>
            <a:r>
              <a:rPr lang="en-US" err="1"/>
              <a:t>đường</a:t>
            </a:r>
            <a:r>
              <a:rPr lang="en-US"/>
              <a:t> </a:t>
            </a:r>
            <a:r>
              <a:rPr lang="en-US" err="1"/>
              <a:t>giới</a:t>
            </a:r>
            <a:r>
              <a:rPr lang="en-US"/>
              <a:t> </a:t>
            </a:r>
            <a:r>
              <a:rPr lang="en-US" err="1"/>
              <a:t>hạn</a:t>
            </a:r>
            <a:r>
              <a:rPr lang="en-US"/>
              <a:t> </a:t>
            </a:r>
            <a:r>
              <a:rPr lang="en-US" err="1"/>
              <a:t>đỏ</a:t>
            </a:r>
            <a:r>
              <a:rPr lang="en-US"/>
              <a:t> </a:t>
            </a:r>
            <a:r>
              <a:rPr lang="en-US" err="1"/>
              <a:t>về</a:t>
            </a:r>
            <a:r>
              <a:rPr lang="en-US"/>
              <a:t> %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đạt</a:t>
            </a:r>
            <a:r>
              <a:rPr lang="en-US"/>
              <a:t>/ </a:t>
            </a:r>
            <a:r>
              <a:rPr lang="en-US" err="1"/>
              <a:t>đạt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E03CA-1043-4403-AF74-E3AA26AA69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993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3DAF-A2E1-A214-1086-963981207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1647F-DEC6-2129-9EC0-5BE671B9F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092F4-776E-51F0-9846-EC3C7F3F1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Bổ</a:t>
            </a:r>
            <a:r>
              <a:rPr lang="en-US"/>
              <a:t> sung </a:t>
            </a:r>
            <a:r>
              <a:rPr lang="en-US" err="1"/>
              <a:t>đường</a:t>
            </a:r>
            <a:r>
              <a:rPr lang="en-US"/>
              <a:t> </a:t>
            </a:r>
            <a:r>
              <a:rPr lang="en-US" err="1"/>
              <a:t>giới</a:t>
            </a:r>
            <a:r>
              <a:rPr lang="en-US"/>
              <a:t> </a:t>
            </a:r>
            <a:r>
              <a:rPr lang="en-US" err="1"/>
              <a:t>hạn</a:t>
            </a:r>
            <a:r>
              <a:rPr lang="en-US"/>
              <a:t> </a:t>
            </a:r>
            <a:r>
              <a:rPr lang="en-US" err="1"/>
              <a:t>đỏ</a:t>
            </a:r>
            <a:r>
              <a:rPr lang="en-US"/>
              <a:t> </a:t>
            </a:r>
            <a:r>
              <a:rPr lang="en-US" err="1"/>
              <a:t>về</a:t>
            </a:r>
            <a:r>
              <a:rPr lang="en-US"/>
              <a:t> %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đạt</a:t>
            </a:r>
            <a:r>
              <a:rPr lang="en-US"/>
              <a:t>/ </a:t>
            </a:r>
            <a:r>
              <a:rPr lang="en-US" err="1"/>
              <a:t>đạt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A24FA-B9D9-AFA9-3873-16BC3E18E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E03CA-1043-4403-AF74-E3AA26AA69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12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FDB2B-A6C6-82B2-E139-75548D0D5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4AA10-EB61-65BC-CD21-03546E1C6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AE9DE-B4D3-E1F4-CD7F-0C09C8E2B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Bổ</a:t>
            </a:r>
            <a:r>
              <a:rPr lang="en-US"/>
              <a:t> sung </a:t>
            </a:r>
            <a:r>
              <a:rPr lang="en-US" err="1"/>
              <a:t>đường</a:t>
            </a:r>
            <a:r>
              <a:rPr lang="en-US"/>
              <a:t> </a:t>
            </a:r>
            <a:r>
              <a:rPr lang="en-US" err="1"/>
              <a:t>giới</a:t>
            </a:r>
            <a:r>
              <a:rPr lang="en-US"/>
              <a:t> </a:t>
            </a:r>
            <a:r>
              <a:rPr lang="en-US" err="1"/>
              <a:t>hạn</a:t>
            </a:r>
            <a:r>
              <a:rPr lang="en-US"/>
              <a:t> </a:t>
            </a:r>
            <a:r>
              <a:rPr lang="en-US" err="1"/>
              <a:t>đỏ</a:t>
            </a:r>
            <a:r>
              <a:rPr lang="en-US"/>
              <a:t> </a:t>
            </a:r>
            <a:r>
              <a:rPr lang="en-US" err="1"/>
              <a:t>về</a:t>
            </a:r>
            <a:r>
              <a:rPr lang="en-US"/>
              <a:t> %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đạt</a:t>
            </a:r>
            <a:r>
              <a:rPr lang="en-US"/>
              <a:t>/ </a:t>
            </a:r>
            <a:r>
              <a:rPr lang="en-US" err="1"/>
              <a:t>đạt</a:t>
            </a:r>
            <a:endParaRPr lang="en-US"/>
          </a:p>
          <a:p>
            <a:r>
              <a:rPr lang="en-US" err="1"/>
              <a:t>Sản</a:t>
            </a:r>
            <a:r>
              <a:rPr lang="en-US"/>
              <a:t> </a:t>
            </a:r>
            <a:r>
              <a:rPr lang="en-US" err="1"/>
              <a:t>lượng</a:t>
            </a:r>
            <a:r>
              <a:rPr lang="en-US"/>
              <a:t> </a:t>
            </a:r>
            <a:r>
              <a:rPr lang="en-US" err="1"/>
              <a:t>mọi</a:t>
            </a:r>
            <a:r>
              <a:rPr lang="en-US"/>
              <a:t> ng update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tấn</a:t>
            </a:r>
            <a:r>
              <a:rPr lang="en-US"/>
              <a:t> </a:t>
            </a:r>
            <a:r>
              <a:rPr lang="en-US" err="1"/>
              <a:t>hết</a:t>
            </a:r>
            <a:r>
              <a:rPr lang="en-US"/>
              <a:t> </a:t>
            </a:r>
            <a:r>
              <a:rPr lang="en-US" err="1"/>
              <a:t>ngày</a:t>
            </a:r>
            <a:r>
              <a:rPr lang="en-US"/>
              <a:t> </a:t>
            </a:r>
            <a:r>
              <a:rPr lang="en-US" err="1"/>
              <a:t>thứ</a:t>
            </a:r>
            <a:r>
              <a:rPr lang="en-US"/>
              <a:t> 4 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5BF51-4038-51FF-CA50-46EF2158D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E03CA-1043-4403-AF74-E3AA26AA69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42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9F097-C1AA-E19F-2C53-C28802472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2F268-9178-2415-D08C-4A0A98DE7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76089-1B0D-68B2-29D2-02787D777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Bán </a:t>
            </a:r>
            <a:r>
              <a:rPr lang="en-US" sz="1200" i="1" err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cho</a:t>
            </a:r>
            <a:r>
              <a:rPr lang="en-US" sz="1200" i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Quang Chí Bảo ( 250 mt) ,</a:t>
            </a:r>
            <a:r>
              <a:rPr lang="en-US" sz="1200" i="1" err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giá</a:t>
            </a:r>
            <a:r>
              <a:rPr lang="en-US" sz="1200" i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645$/ </a:t>
            </a:r>
            <a:r>
              <a:rPr lang="en-US" sz="1200" i="1" err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tấn</a:t>
            </a:r>
            <a:r>
              <a:rPr lang="en-US" sz="1200" i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EXW</a:t>
            </a:r>
          </a:p>
          <a:p>
            <a:r>
              <a:rPr lang="en-US" sz="1200" i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Hưng </a:t>
            </a:r>
            <a:r>
              <a:rPr lang="en-US" sz="1200" i="1" err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Dụ</a:t>
            </a:r>
            <a:r>
              <a:rPr lang="en-US" sz="1200" i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: ( 230mt), </a:t>
            </a:r>
            <a:r>
              <a:rPr lang="en-US" sz="1200" i="1" err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giá</a:t>
            </a:r>
            <a:r>
              <a:rPr lang="en-US" sz="1200" i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658$ / </a:t>
            </a:r>
            <a:r>
              <a:rPr lang="en-US" sz="1200" i="1" err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tấn</a:t>
            </a:r>
            <a:r>
              <a:rPr lang="en-US" sz="1200" i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EXW</a:t>
            </a:r>
          </a:p>
          <a:p>
            <a:r>
              <a:rPr lang="en-US" sz="1200" i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Linh Chi ( 33mt) 630$/ </a:t>
            </a:r>
            <a:r>
              <a:rPr lang="en-US" sz="1200" i="1" err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tấn</a:t>
            </a:r>
            <a:r>
              <a:rPr lang="en-US" sz="1200" i="1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EXW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C3E51-4E4C-A862-1B37-8697A3791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E03CA-1043-4403-AF74-E3AA26AA69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85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A5F09-EAD3-25C6-6061-9270452AA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7D1EA-93A1-CA58-B077-2D61189FB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39D86-0FDD-8E60-CD4D-0353EA5C0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Bổ</a:t>
            </a:r>
            <a:r>
              <a:rPr lang="en-US"/>
              <a:t> sung </a:t>
            </a:r>
            <a:r>
              <a:rPr lang="en-US" err="1"/>
              <a:t>đường</a:t>
            </a:r>
            <a:r>
              <a:rPr lang="en-US"/>
              <a:t> </a:t>
            </a:r>
            <a:r>
              <a:rPr lang="en-US" err="1"/>
              <a:t>giới</a:t>
            </a:r>
            <a:r>
              <a:rPr lang="en-US"/>
              <a:t> </a:t>
            </a:r>
            <a:r>
              <a:rPr lang="en-US" err="1"/>
              <a:t>hạn</a:t>
            </a:r>
            <a:r>
              <a:rPr lang="en-US"/>
              <a:t> </a:t>
            </a:r>
            <a:r>
              <a:rPr lang="en-US" err="1"/>
              <a:t>đỏ</a:t>
            </a:r>
            <a:r>
              <a:rPr lang="en-US"/>
              <a:t> </a:t>
            </a:r>
            <a:r>
              <a:rPr lang="en-US" err="1"/>
              <a:t>về</a:t>
            </a:r>
            <a:r>
              <a:rPr lang="en-US"/>
              <a:t> %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đạt</a:t>
            </a:r>
            <a:r>
              <a:rPr lang="en-US"/>
              <a:t>/ </a:t>
            </a:r>
            <a:r>
              <a:rPr lang="en-US" err="1"/>
              <a:t>đạt</a:t>
            </a:r>
            <a:endParaRPr lang="en-US"/>
          </a:p>
          <a:p>
            <a:r>
              <a:rPr lang="en-US" err="1"/>
              <a:t>Sản</a:t>
            </a:r>
            <a:r>
              <a:rPr lang="en-US"/>
              <a:t> </a:t>
            </a:r>
            <a:r>
              <a:rPr lang="en-US" err="1"/>
              <a:t>lượng</a:t>
            </a:r>
            <a:r>
              <a:rPr lang="en-US"/>
              <a:t> </a:t>
            </a:r>
            <a:r>
              <a:rPr lang="en-US" err="1"/>
              <a:t>mọi</a:t>
            </a:r>
            <a:r>
              <a:rPr lang="en-US"/>
              <a:t> ng update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tấn</a:t>
            </a:r>
            <a:r>
              <a:rPr lang="en-US"/>
              <a:t> </a:t>
            </a:r>
            <a:r>
              <a:rPr lang="en-US" err="1"/>
              <a:t>hết</a:t>
            </a:r>
            <a:r>
              <a:rPr lang="en-US"/>
              <a:t> </a:t>
            </a:r>
            <a:r>
              <a:rPr lang="en-US" err="1"/>
              <a:t>ngày</a:t>
            </a:r>
            <a:r>
              <a:rPr lang="en-US"/>
              <a:t> </a:t>
            </a:r>
            <a:r>
              <a:rPr lang="en-US" err="1"/>
              <a:t>thứ</a:t>
            </a:r>
            <a:r>
              <a:rPr lang="en-US"/>
              <a:t> 4 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6ACBF-C98F-4CB4-EAE1-2108473DC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E03CA-1043-4403-AF74-E3AA26AA69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676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Thêm</a:t>
            </a:r>
            <a:r>
              <a:rPr lang="en-US"/>
              <a:t> % </a:t>
            </a:r>
            <a:r>
              <a:rPr lang="en-US" err="1"/>
              <a:t>rHDPE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E03CA-1043-4403-AF74-E3AA26AA69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76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F6626-4F26-B996-3DBF-59BE5050F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F10B0-0AC8-9C3A-CA85-6F4BEE261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3349A-2D25-7C7F-D37F-8369A3E8E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Thêm</a:t>
            </a:r>
            <a:r>
              <a:rPr lang="en-US"/>
              <a:t> % </a:t>
            </a:r>
            <a:r>
              <a:rPr lang="en-US" err="1"/>
              <a:t>rHDPE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7B670-1E3A-4341-BF36-5BB1F8FCA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E03CA-1043-4403-AF74-E3AA26AA690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54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A4730-6099-D04D-4479-F95C93362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CD85B-A454-D360-3B47-9C671BDDA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668EEA-A243-9E07-7572-47478D5E4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Thêm</a:t>
            </a:r>
            <a:r>
              <a:rPr lang="en-US"/>
              <a:t> % </a:t>
            </a:r>
            <a:r>
              <a:rPr lang="en-US" err="1"/>
              <a:t>rHDPE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A627D-AAD9-372E-6427-472A4CF722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E03CA-1043-4403-AF74-E3AA26AA690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65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20A1-1E4B-0EF1-01C1-7AE01A705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581E5-4BD5-A8DE-E196-A7CAF90FE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84B01-D3AF-F256-6D08-86F354D5D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Thêm</a:t>
            </a:r>
            <a:r>
              <a:rPr lang="en-US"/>
              <a:t> % </a:t>
            </a:r>
            <a:r>
              <a:rPr lang="en-US" err="1"/>
              <a:t>rHDPE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22895-D72D-CDB2-7459-17C393C3C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E03CA-1043-4403-AF74-E3AA26AA690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428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B93AE-AD4B-7629-3184-6FD9C7DF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AF28C-E19F-3827-080B-0C3964E8E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71A3E-4EC6-F376-7530-98D033B5D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Bổ sung </a:t>
            </a:r>
            <a:r>
              <a:rPr lang="en-US" err="1"/>
              <a:t>đường</a:t>
            </a:r>
            <a:r>
              <a:rPr lang="en-US"/>
              <a:t> giới </a:t>
            </a:r>
            <a:r>
              <a:rPr lang="en-US" err="1"/>
              <a:t>hạn</a:t>
            </a:r>
            <a:r>
              <a:rPr lang="en-US"/>
              <a:t> đỏ về % không đạt/ đạt</a:t>
            </a:r>
          </a:p>
          <a:p>
            <a:r>
              <a:rPr lang="en-US"/>
              <a:t>Sản lượng </a:t>
            </a:r>
            <a:r>
              <a:rPr lang="en-US" err="1"/>
              <a:t>mọi</a:t>
            </a:r>
            <a:r>
              <a:rPr lang="en-US"/>
              <a:t> ng update số tấn </a:t>
            </a:r>
            <a:r>
              <a:rPr lang="en-US" err="1"/>
              <a:t>hết</a:t>
            </a:r>
            <a:r>
              <a:rPr lang="en-US"/>
              <a:t> ngày thứ 4 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BDD6F-B1BA-F55D-A689-D451977EC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E03CA-1043-4403-AF74-E3AA26AA690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853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Thêm</a:t>
            </a:r>
            <a:r>
              <a:rPr lang="en-US"/>
              <a:t> % </a:t>
            </a:r>
            <a:r>
              <a:rPr lang="en-US" err="1"/>
              <a:t>rHDPE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55631">
              <a:defRPr/>
            </a:pPr>
            <a:fld id="{9B6E03CA-1043-4403-AF74-E3AA26AA690A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55631">
                <a:defRPr/>
              </a:pPr>
              <a:t>25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215528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58353-DC09-54CB-F27C-18CFC3778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ACF11-4CA4-0A2D-3EBB-991C5C91E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43BF3D-ABF2-8E1A-611F-82926670E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Bổ sung </a:t>
            </a:r>
            <a:r>
              <a:rPr lang="en-US" err="1"/>
              <a:t>đường</a:t>
            </a:r>
            <a:r>
              <a:rPr lang="en-US"/>
              <a:t> giới </a:t>
            </a:r>
            <a:r>
              <a:rPr lang="en-US" err="1"/>
              <a:t>hạn</a:t>
            </a:r>
            <a:r>
              <a:rPr lang="en-US"/>
              <a:t> đỏ về % không đạt/ đạt</a:t>
            </a:r>
          </a:p>
          <a:p>
            <a:r>
              <a:rPr lang="en-US"/>
              <a:t>Sản lượng </a:t>
            </a:r>
            <a:r>
              <a:rPr lang="en-US" err="1"/>
              <a:t>mọi</a:t>
            </a:r>
            <a:r>
              <a:rPr lang="en-US"/>
              <a:t> ng update số tấn </a:t>
            </a:r>
            <a:r>
              <a:rPr lang="en-US" err="1"/>
              <a:t>hết</a:t>
            </a:r>
            <a:r>
              <a:rPr lang="en-US"/>
              <a:t> ngày thứ 4 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C6509-8798-D9CB-5874-DC4D3F85C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E03CA-1043-4403-AF74-E3AA26AA690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02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97031-B82F-C907-FF8B-29ABA7CB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EF392-3CA5-62DB-CC11-AA0E46E10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82AE6-3450-E568-A9C6-B7C501FE6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7FF2E-A1D8-E69C-F582-DC71B67B6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C4B5F-461C-4573-9F89-B44CFC50EC9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707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55631">
              <a:defRPr/>
            </a:pPr>
            <a:fld id="{5C1C4B5F-461C-4573-9F89-B44CFC50EC96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55631">
                <a:defRPr/>
              </a:pPr>
              <a:t>29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232372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57257-D011-C484-7307-C88AF26B9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478B4-176F-72A5-7A6F-5090A1130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D7949-83ED-0037-FEAE-9BD6D8100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9041B-4206-573C-F4F5-ED7F9B2EF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C4B5F-461C-4573-9F89-B44CFC50EC9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573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A4E412-89CE-BB32-DFE6-2C3C4139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8813358-9325-85E5-610C-B9A553E9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4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088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3804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002B8-3A79-563A-70B2-5D4E2FA28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130E2-E07C-98B6-75BA-3CB887354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C7BE7-BA91-B73C-9D2D-58AD423C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2725D-1872-4AF5-AA94-FA5F15133F9D}" type="datetimeFigureOut">
              <a:rPr lang="en-US" smtClean="0"/>
              <a:t>18/12/2025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95794-FC88-1336-3096-870DAE5F8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6CE55-6D33-71F7-2F59-CD93FF955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079D5-D2AE-4AEE-A7A8-B2F7D9C4F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50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22624-5159-690D-804C-1F004998E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C06C2-337C-46B5-6114-F57F9AA2D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3311A-AA8F-5312-53FC-F8A1685C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2725D-1872-4AF5-AA94-FA5F15133F9D}" type="datetimeFigureOut">
              <a:rPr lang="en-US" smtClean="0"/>
              <a:t>18/12/2025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C7F26-FB57-9159-F1A2-391F5E25A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6A9F2-EF4B-0DDC-2788-E80EE6E83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079D5-D2AE-4AEE-A7A8-B2F7D9C4F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63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25BA0-EA6D-09F1-A0EF-640394E6C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4A74-ECE7-2CC7-0874-1FAD7613D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586FC-E7A1-0FEC-CDF4-C09047D8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2725D-1872-4AF5-AA94-FA5F15133F9D}" type="datetimeFigureOut">
              <a:rPr lang="en-US" smtClean="0"/>
              <a:t>18/12/2025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77E9D-F6F1-1D26-1978-563584BC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A6337-A785-DF4E-BEDC-04DCAC42C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079D5-D2AE-4AEE-A7A8-B2F7D9C4F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99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D0FF-F878-598F-35AE-2EFCE490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28127-0380-6B73-1A51-94B4F3EF4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02789-2914-E239-E6D0-8F7D45466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E8FCF-3CAC-81F3-C6D3-4E201A959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2725D-1872-4AF5-AA94-FA5F15133F9D}" type="datetimeFigureOut">
              <a:rPr lang="en-US" smtClean="0"/>
              <a:t>18/12/2025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1B6C4-3987-7434-17A4-AD1A03B8F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00A12-984B-76A0-5440-786561BD9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079D5-D2AE-4AEE-A7A8-B2F7D9C4F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88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71CC7-CA22-B822-A737-96FAFB08E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6D6D4-3FA0-92AF-B4CF-354C39BEE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276B4-EA6E-8EAA-EF48-D7997BC4C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7A8367-F455-4D1C-5BDD-3D7B0FFF02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E913AA-AB9E-993B-61B9-F8E01035C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4B17D8-20EB-3CA2-DEE6-B7EB37E13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2725D-1872-4AF5-AA94-FA5F15133F9D}" type="datetimeFigureOut">
              <a:rPr lang="en-US" smtClean="0"/>
              <a:t>18/12/2025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5C2ABA-C656-6E1F-1278-C71767B1F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CA07A0-10FD-0F85-E150-5027E3EB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079D5-D2AE-4AEE-A7A8-B2F7D9C4F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31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BEF5-62AF-A637-3731-8F6ED81E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E59791-D3F2-BB37-94A0-E5E84A055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2725D-1872-4AF5-AA94-FA5F15133F9D}" type="datetimeFigureOut">
              <a:rPr lang="en-US" smtClean="0"/>
              <a:t>18/12/2025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2FC23-57CF-91A4-5E52-D331AAE01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8195F-6D37-41D2-D203-EAD2C93CB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079D5-D2AE-4AEE-A7A8-B2F7D9C4F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93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93881-D5C3-17B2-5D64-6E24152A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2725D-1872-4AF5-AA94-FA5F15133F9D}" type="datetimeFigureOut">
              <a:rPr lang="en-US" smtClean="0"/>
              <a:t>18/12/2025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5F4FA5-8731-E1D6-E7C1-9F339A217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09EDA-AE9B-1B03-9D1A-CAC7D8C55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079D5-D2AE-4AEE-A7A8-B2F7D9C4F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69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216-7BE8-254F-9CB4-16625946F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FB0B7-0BA6-B724-15FD-FE8C0E445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D0A08-2A79-3DFD-BF9C-789876540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08D6B-597D-2B85-14B4-774AFE18D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2725D-1872-4AF5-AA94-FA5F15133F9D}" type="datetimeFigureOut">
              <a:rPr lang="en-US" smtClean="0"/>
              <a:t>18/12/2025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8D100-C490-E1E2-9277-31D9EA916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CBFB8-EE91-DA6D-897B-4F248B085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079D5-D2AE-4AEE-A7A8-B2F7D9C4F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38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88BC4-E08C-50EA-73A5-0EB19E8B7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54D2CA-442B-5758-5B43-49FD83FB1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31DCE-D2BD-4E85-5876-674B02CA2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51B86-3B63-6CB4-4A79-4C78059A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2725D-1872-4AF5-AA94-FA5F15133F9D}" type="datetimeFigureOut">
              <a:rPr lang="en-US" smtClean="0"/>
              <a:t>18/12/2025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29AFB-41AB-8C90-AF9E-B6E7CE364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E9C1D-2EE1-CEAB-450D-97FBA0BF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079D5-D2AE-4AEE-A7A8-B2F7D9C4F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04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9A944-94E6-1A78-D708-831DCB08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2072F-EEBF-BF11-18CE-7982DABF1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82938-D994-EE37-BD22-3A7473060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2725D-1872-4AF5-AA94-FA5F15133F9D}" type="datetimeFigureOut">
              <a:rPr lang="en-US" smtClean="0"/>
              <a:t>18/12/2025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DE7EB-1CEA-2A28-8469-BCAB4F1F1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C5777-5FE3-C282-ACD4-9C7E6FB5D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079D5-D2AE-4AEE-A7A8-B2F7D9C4F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55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2222D-4AC0-E77D-71A0-205732385E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78922-900C-98E1-6D78-00C381F56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45DC4-6B2F-D40D-97A7-174DEB68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2725D-1872-4AF5-AA94-FA5F15133F9D}" type="datetimeFigureOut">
              <a:rPr lang="en-US" smtClean="0"/>
              <a:t>18/12/2025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AA015-FA5C-C964-91D0-8A1EE9788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6DAF1-93FC-52EB-C37E-83D1DE59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079D5-D2AE-4AEE-A7A8-B2F7D9C4F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70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userDrawn="1">
  <p:cSld name="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93977" y="593367"/>
            <a:ext cx="1128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16" lvl="0" indent="-457212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231" lvl="1" indent="-423344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845" lvl="2" indent="-423344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461" lvl="3" indent="-423344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8076" lvl="4" indent="-423344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692" lvl="5" indent="-423344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307" lvl="6" indent="-423344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922" lvl="7" indent="-423344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538" lvl="8" indent="-423344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16" lvl="0" indent="-457212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231" lvl="1" indent="-423344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845" lvl="2" indent="-423344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461" lvl="3" indent="-423344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8076" lvl="4" indent="-423344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692" lvl="5" indent="-423344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307" lvl="6" indent="-423344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922" lvl="7" indent="-423344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538" lvl="8" indent="-423344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033C-A400-12AA-4225-1AF8F1BEAA7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18319" y="6741586"/>
            <a:ext cx="61383" cy="613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Google Shape;8;p1">
            <a:extLst>
              <a:ext uri="{FF2B5EF4-FFF2-40B4-BE49-F238E27FC236}">
                <a16:creationId xmlns:a16="http://schemas.microsoft.com/office/drawing/2014/main" id="{0BDE57A3-C448-063A-D65F-F48E2C30A1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12255" y="6370768"/>
            <a:ext cx="875181" cy="328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600" b="0">
                <a:solidFill>
                  <a:schemeClr val="bg1"/>
                </a:solidFill>
                <a:latin typeface="UTM Avo" panose="02040603050506020204" pitchFamily="18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r>
              <a:rPr lang="en"/>
              <a:t>/</a:t>
            </a:r>
            <a:r>
              <a:rPr lang="vi-VN"/>
              <a:t>20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41642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bod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11">
            <a:extLst>
              <a:ext uri="{FF2B5EF4-FFF2-40B4-BE49-F238E27FC236}">
                <a16:creationId xmlns:a16="http://schemas.microsoft.com/office/drawing/2014/main" id="{FA00ACFF-7526-E778-886D-5CAB046DAD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3977" y="593366"/>
            <a:ext cx="11280001" cy="763597"/>
          </a:xfrm>
        </p:spPr>
        <p:txBody>
          <a:bodyPr lIns="91421" tIns="91421" rIns="91421" bIns="91421" anchor="t">
            <a:noAutofit/>
          </a:bodyPr>
          <a:lstStyle>
            <a:lvl1pPr>
              <a:defRPr>
                <a:solidFill>
                  <a:srgbClr val="4E6F9B"/>
                </a:solidFill>
                <a:latin typeface="Muli"/>
                <a:ea typeface="Muli"/>
                <a:cs typeface="Muli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Google Shape;93;p11">
            <a:extLst>
              <a:ext uri="{FF2B5EF4-FFF2-40B4-BE49-F238E27FC236}">
                <a16:creationId xmlns:a16="http://schemas.microsoft.com/office/drawing/2014/main" id="{53834A67-6FFD-E88A-5FFE-5770F17DD89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93965" y="1797869"/>
            <a:ext cx="5188397" cy="4555199"/>
          </a:xfrm>
        </p:spPr>
        <p:txBody>
          <a:bodyPr lIns="91421" tIns="91421" rIns="91421" bIns="91421">
            <a:noAutofit/>
          </a:bodyPr>
          <a:lstStyle>
            <a:lvl1pPr marL="609600" indent="-457198">
              <a:spcBef>
                <a:spcPts val="0"/>
              </a:spcBef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Google Shape;94;p11">
            <a:extLst>
              <a:ext uri="{FF2B5EF4-FFF2-40B4-BE49-F238E27FC236}">
                <a16:creationId xmlns:a16="http://schemas.microsoft.com/office/drawing/2014/main" id="{CC465BE3-B68A-3100-71F1-DC695044F97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296613" y="6217621"/>
            <a:ext cx="731599" cy="524798"/>
          </a:xfrm>
        </p:spPr>
        <p:txBody>
          <a:bodyPr lIns="91421" tIns="91421" rIns="91421" bIns="91421"/>
          <a:lstStyle>
            <a:lvl1pPr>
              <a:defRPr/>
            </a:lvl1pPr>
          </a:lstStyle>
          <a:p>
            <a:pPr lvl="0"/>
            <a:fld id="{2AC8D05B-4F41-4E46-82E2-154FD86A572C}" type="slidenum">
              <a:t>‹#›</a:t>
            </a:fld>
            <a:endParaRPr lang="en-US"/>
          </a:p>
        </p:txBody>
      </p:sp>
      <p:sp>
        <p:nvSpPr>
          <p:cNvPr id="5" name="Google Shape;100;p11">
            <a:extLst>
              <a:ext uri="{FF2B5EF4-FFF2-40B4-BE49-F238E27FC236}">
                <a16:creationId xmlns:a16="http://schemas.microsoft.com/office/drawing/2014/main" id="{8B4D6F9B-85D3-CBC4-CEEB-B4162C1A1CA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93977" y="1255368"/>
            <a:ext cx="11280001" cy="524798"/>
          </a:xfrm>
        </p:spPr>
        <p:txBody>
          <a:bodyPr lIns="91421" tIns="91421" rIns="91421" bIns="91421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6" name="Google Shape;101;p11">
            <a:extLst>
              <a:ext uri="{FF2B5EF4-FFF2-40B4-BE49-F238E27FC236}">
                <a16:creationId xmlns:a16="http://schemas.microsoft.com/office/drawing/2014/main" id="{5891600C-0DCD-AD90-9900-2A08BC8BE70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08198" y="1797869"/>
            <a:ext cx="5188397" cy="4555199"/>
          </a:xfrm>
        </p:spPr>
        <p:txBody>
          <a:bodyPr lIns="91421" tIns="91421" rIns="91421" bIns="91421">
            <a:noAutofit/>
          </a:bodyPr>
          <a:lstStyle>
            <a:lvl1pPr marL="609600" indent="-457198">
              <a:spcBef>
                <a:spcPts val="0"/>
              </a:spcBef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2916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7683AD6-60EE-422C-9411-5CAE0961814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99" y="14838"/>
            <a:ext cx="1538586" cy="3370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A6F2612-6FA9-45CF-BF4C-392A43B0CBB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1708" y="6626763"/>
            <a:ext cx="819513" cy="17951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2E9AB5D-C5C1-4C6D-9DE9-A2B0CD010766}"/>
              </a:ext>
            </a:extLst>
          </p:cNvPr>
          <p:cNvSpPr/>
          <p:nvPr userDrawn="1"/>
        </p:nvSpPr>
        <p:spPr>
          <a:xfrm>
            <a:off x="1053263" y="6565883"/>
            <a:ext cx="11138737" cy="292117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059C0F5-5A43-4E29-87EF-A28AB972B86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832" y="6593424"/>
            <a:ext cx="2563016" cy="23789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AB52FA4-E5BA-DE29-38B1-234C2D9E6C29}"/>
              </a:ext>
            </a:extLst>
          </p:cNvPr>
          <p:cNvSpPr txBox="1">
            <a:spLocks/>
          </p:cNvSpPr>
          <p:nvPr userDrawn="1"/>
        </p:nvSpPr>
        <p:spPr>
          <a:xfrm>
            <a:off x="9448800" y="656588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CD3E1B36-F738-4EF7-9448-849BAC9A0164}" type="slidenum">
              <a:rPr lang="en-US" sz="1200" smtClean="0">
                <a:solidFill>
                  <a:schemeClr val="bg1"/>
                </a:solidFill>
              </a:rPr>
              <a:pPr algn="r"/>
              <a:t>‹#›</a:t>
            </a:fld>
            <a:r>
              <a:rPr lang="en-US" sz="1200">
                <a:solidFill>
                  <a:schemeClr val="bg1"/>
                </a:solidFill>
              </a:rPr>
              <a:t>/45</a:t>
            </a:r>
          </a:p>
          <a:p>
            <a:pPr algn="r"/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89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4" r:id="rId2"/>
    <p:sldLayoutId id="2147483685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E343BE-84E5-0261-C0B7-58359764D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1ADE1-4527-6F83-8076-FBEA4A9F8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AEC60-75BB-17DB-EC72-70C752B4C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2725D-1872-4AF5-AA94-FA5F15133F9D}" type="datetimeFigureOut">
              <a:rPr lang="en-US" smtClean="0"/>
              <a:t>18/12/2025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219DC-C870-A348-58F0-42B7421C2C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D1009-1DD3-20AF-21A2-2ECC5CE6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079D5-D2AE-4AEE-A7A8-B2F7D9C4FC5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grey logo&#10;&#10;Description automatically generated">
            <a:extLst>
              <a:ext uri="{FF2B5EF4-FFF2-40B4-BE49-F238E27FC236}">
                <a16:creationId xmlns:a16="http://schemas.microsoft.com/office/drawing/2014/main" id="{222B5AA5-C38E-E8CF-F91F-AA8B161E4BC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1" y="48828"/>
            <a:ext cx="773689" cy="1753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83B509-384E-0406-7006-BC8EA2913ADF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359" y="29691"/>
            <a:ext cx="1223093" cy="28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805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https://dtg.sharepoint.com/sites/DTR-KD/Shared%20Documents/KD/B&#225;o%20c&#225;o/B&#225;o%20c&#225;o%20Tu&#7847;n/2025/Data%20b&#225;o%20c&#225;o%20tu&#7847;n%202025.xlsx!3%20d&#242;ng%20h&#224;ng!%5bData%20b&#225;o%20c&#225;o%20tu&#7847;n%202025.xlsx%5d3%20d&#242;ng%20h&#224;ng%20Chart%20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oleObject" Target="https://dtg.sharepoint.com/sites/DTR-KD/Shared%20Documents/KD/B&#225;o%20c&#225;o/B&#225;o%20c&#225;o%20Tu&#7847;n/2025/Data%20b&#225;o%20c&#225;o%20tu&#7847;n%202025.xlsx!3%20d&#242;ng%20h&#224;ng!%5bData%20b&#225;o%20c&#225;o%20tu&#7847;n%202025.xlsx%5d3%20d&#242;ng%20h&#224;ng%20Chart%202" TargetMode="Externa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https://dtg.sharepoint.com/sites/DTR-KD/Shared%20Documents/KD/Sales%20Forecast/2025/Sales%20Forecast%20Lasted/D&#7921;%20b&#225;o%20b&#225;n%20h&#224;ng%20th&#225;ng%206-12.2025%20new.xlsx!T&#236;nh%20tr&#7841;ng%20&#273;&#417;n%20h&#224;ng!R12C4:R19C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https://dtg.sharepoint.com/sites/DTR-KD/Shared%20Documents/KD/B&#225;o%20c&#225;o/B&#225;o%20c&#225;o%20Tu&#7847;n/2025/Data%20b&#225;o%20c&#225;o%20tu&#7847;n%202025.xlsx!rPET!%5bData%20b&#225;o%20c&#225;o%20tu&#7847;n%202025.xlsx%5drPET%20Chart%20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oleObject" Target="https://dtg.sharepoint.com/sites/DTR-KD/Shared%20Documents/KD/B&#225;o%20c&#225;o/B&#225;o%20c&#225;o%20Tu&#7847;n/2025/Data%20b&#225;o%20c&#225;o%20tu&#7847;n%202025.xlsx!rPET!%5bData%20b&#225;o%20c&#225;o%20tu&#7847;n%202025.xlsx%5drPET%20Chart%202" TargetMode="External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https://dtg.sharepoint.com/sites/DTR-KD/Shared%20Documents/KD/B&#225;o%20c&#225;o/B&#225;o%20c&#225;o%20Tu&#7847;n/2025/Data%20b&#225;o%20c&#225;o%20tu&#7847;n%202025.xlsx!rPET%20Food!%5bData%20b&#225;o%20c&#225;o%20tu&#7847;n%202025.xlsx%5drPET%20Food%20Chart%20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oleObject" Target="https://dtg.sharepoint.com/sites/DTR-KD/Shared%20Documents/KD/B&#225;o%20c&#225;o/B&#225;o%20c&#225;o%20Tu&#7847;n/2025/Data%20b&#225;o%20c&#225;o%20tu&#7847;n%202025.xlsx!rPET%20Food!%5bData%20b&#225;o%20c&#225;o%20tu&#7847;n%202025.xlsx%5drPET%20Food%20Chart%202" TargetMode="External"/><Relationship Id="rId4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oleObject" Target="https://dtg.sharepoint.com/sites/DTR-KD/Shared%20Documents/KD/Sales%20Forecast/2025/Sales%20Forecast%20Lasted/D&#7921;%20b&#225;o%20b&#225;n%20h&#224;ng%20th&#225;ng%206-12.2025%20new.xlsx!Chi%20ti&#7871;t!R41C1:R61C8" TargetMode="External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https://dtg.sharepoint.com/sites/DTR-KD/Shared%20Documents/KD/B&#225;o%20c&#225;o/B&#225;o%20c&#225;o%20Tu&#7847;n/2025/Data%20b&#225;o%20c&#225;o%20tu&#7847;n%202025.xlsx!X&#417;%20s&#7907;i!%5bData%20b&#225;o%20c&#225;o%20tu&#7847;n%202025.xlsx%5dX&#417;%20s&#7907;i%20Chart%201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oleObject" Target="https://dtg.sharepoint.com/sites/DTR-KD/Shared%20Documents/KD/B&#225;o%20c&#225;o/B&#225;o%20c&#225;o%20Tu&#7847;n/2025/Data%20b&#225;o%20c&#225;o%20tu&#7847;n%202025.xlsx!X&#417;%20s&#7907;i!%5bData%20b&#225;o%20c&#225;o%20tu&#7847;n%202025.xlsx%5dX&#417;%20s&#7907;i%20Chart%202" TargetMode="External"/><Relationship Id="rId4" Type="http://schemas.openxmlformats.org/officeDocument/2006/relationships/image" Target="../media/image24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6.png"/><Relationship Id="rId7" Type="http://schemas.openxmlformats.org/officeDocument/2006/relationships/oleObject" Target="https://dtg.sharepoint.com/sites/DTR-KD/Shared%20Documents/KD/Sales%20Forecast/2025/Sales%20Forecast%20Lasted/D&#7921;%20b&#225;o%20b&#225;n%20h&#224;ng%20th&#225;ng%206-12.2025%20new.xlsx!Chi%20ti&#7871;t!R41C10:R47C17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https://dtg.sharepoint.com/sites/DTR-KD/Shared%20Documents/KD/B&#225;o%20c&#225;o/B&#225;o%20c&#225;o%20Tu&#7847;n/2025/Data%20b&#225;o%20c&#225;o%20tu&#7847;n%202025.xlsx!rHDPE!%5bData%20b&#225;o%20c&#225;o%20tu&#7847;n%202025.xlsx%5drHDPE%20Chart%20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5" Type="http://schemas.openxmlformats.org/officeDocument/2006/relationships/oleObject" Target="https://dtg.sharepoint.com/sites/DTR-KD/Shared%20Documents/KD/B&#225;o%20c&#225;o/B&#225;o%20c&#225;o%20Tu&#7847;n/2025/Data%20b&#225;o%20c&#225;o%20tu&#7847;n%202025.xlsx!rHDPE!%5bData%20b&#225;o%20c&#225;o%20tu&#7847;n%202025.xlsx%5drHDPE%20Chart%202" TargetMode="External"/><Relationship Id="rId4" Type="http://schemas.openxmlformats.org/officeDocument/2006/relationships/image" Target="../media/image3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https://dtg.sharepoint.com/sites/DTR-KD/Shared%20Documents/KD/B&#225;o%20c&#225;o/B&#225;o%20c&#225;o%20Tu&#7847;n/2025/Data%20b&#225;o%20c&#225;o%20tu&#7847;n%202025.xlsx!rHDPE%20B!%5bData%20b&#225;o%20c&#225;o%20tu&#7847;n%202025.xlsx%5drHDPE%20B%20Chart%20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5" Type="http://schemas.openxmlformats.org/officeDocument/2006/relationships/oleObject" Target="https://dtg.sharepoint.com/sites/DTR-KD/Shared%20Documents/KD/B&#225;o%20c&#225;o/B&#225;o%20c&#225;o%20Tu&#7847;n/2025/Data%20b&#225;o%20c&#225;o%20tu&#7847;n%202025.xlsx!rHDPE%20B!%5bData%20b&#225;o%20c&#225;o%20tu&#7847;n%202025.xlsx%5drHDPE%20B%20Chart%202" TargetMode="External"/><Relationship Id="rId4" Type="http://schemas.openxmlformats.org/officeDocument/2006/relationships/image" Target="../media/image3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https://dtg.sharepoint.com/sites/DTR-KD/Shared%20Documents/KD/B&#225;o%20c&#225;o/B&#225;o%20c&#225;o%20Tu&#7847;n/2025/Data%20b&#225;o%20c&#225;o%20tu&#7847;n%202025.xlsx!rHDPE%20B!%5bData%20b&#225;o%20c&#225;o%20tu&#7847;n%202025.xlsx%5drHDPE%20B%20Chart%20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5" Type="http://schemas.openxmlformats.org/officeDocument/2006/relationships/oleObject" Target="https://dtg.sharepoint.com/sites/DTR-KD/Shared%20Documents/KD/B&#225;o%20c&#225;o/B&#225;o%20c&#225;o%20Tu&#7847;n/2025/Data%20b&#225;o%20c&#225;o%20tu&#7847;n%202025.xlsx!rHDPE%20B!%5bData%20b&#225;o%20c&#225;o%20tu&#7847;n%202025.xlsx%5drHDPE%20B%20Chart%202" TargetMode="External"/><Relationship Id="rId4" Type="http://schemas.openxmlformats.org/officeDocument/2006/relationships/image" Target="../media/image33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image" Target="../media/image36.svg"/><Relationship Id="rId7" Type="http://schemas.openxmlformats.org/officeDocument/2006/relationships/oleObject" Target="https://dtg.sharepoint.com/sites/DTR-KD/Shared%20Documents/KD/Sales%20Forecast/2025/Sales%20Forecast%20Lasted/D&#7921;%20b&#225;o%20b&#225;n%20h&#224;ng%20th&#225;ng%206-12.2025%20new.xlsx!Chi%20ti&#7871;t!R41C19:R49C26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https://dtg.sharepoint.com/sites/DTR-KD/Shared%20Documents/KD/B&#225;o%20c&#225;o/B&#225;o%20c&#225;o%20Tu&#7847;n/2025/Data%20b&#225;o%20c&#225;o%20tu&#7847;n%202025.xlsx!rHDPE%20I!%5bData%20b&#225;o%20c&#225;o%20tu&#7847;n%202025.xlsx%5drHDPE%20I%20Chart%20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oleObject" Target="https://dtg.sharepoint.com/sites/DTR-KD/Shared%20Documents/KD/B&#225;o%20c&#225;o/B&#225;o%20c&#225;o%20Tu&#7847;n/2025/Data%20b&#225;o%20c&#225;o%20tu&#7847;n%202025.xlsx!rHDPE%20I!%5bData%20b&#225;o%20c&#225;o%20tu&#7847;n%202025.xlsx%5drHDPE%20I%20Chart%202" TargetMode="External"/><Relationship Id="rId4" Type="http://schemas.openxmlformats.org/officeDocument/2006/relationships/image" Target="../media/image41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image" Target="../media/image43.png"/><Relationship Id="rId7" Type="http://schemas.openxmlformats.org/officeDocument/2006/relationships/oleObject" Target="https://dtg.sharepoint.com/sites/DTR-KD/Shared%20Documents/KD/Sales%20Forecast/2025/Sales%20Forecast%20Lasted/D&#7921;%20b&#225;o%20b&#225;n%20h&#224;ng%20th&#225;ng%206-12.2025%20new.xlsx!Chi%20ti&#7871;t!R41C28:R59C35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hyperlink" Target="https://freepngimg.com/png/67211-bin-recycling-baskets-paper-green-rubbish-recycle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https://dtg.sharepoint.com/sites/DTR-KD/Shared%20Documents/KD/B&#225;o%20c&#225;o/B&#225;o%20c&#225;o%20Tu&#7847;n/2025/Data%20b&#225;o%20c&#225;o%20tu&#7847;n%202025.xlsx!rPP!%5bData%20b&#225;o%20c&#225;o%20tu&#7847;n%202025.xlsx%5drPP%20Chart%201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5" Type="http://schemas.openxmlformats.org/officeDocument/2006/relationships/oleObject" Target="https://dtg.sharepoint.com/sites/DTR-KD/Shared%20Documents/KD/B&#225;o%20c&#225;o/B&#225;o%20c&#225;o%20Tu&#7847;n/2025/Data%20b&#225;o%20c&#225;o%20tu&#7847;n%202025.xlsx!rPP!%5bData%20b&#225;o%20c&#225;o%20tu&#7847;n%202025.xlsx%5drPP%20Chart%202" TargetMode="External"/><Relationship Id="rId4" Type="http://schemas.openxmlformats.org/officeDocument/2006/relationships/image" Target="../media/image47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image" Target="../media/image43.png"/><Relationship Id="rId7" Type="http://schemas.openxmlformats.org/officeDocument/2006/relationships/oleObject" Target="https://dtg.sharepoint.com/sites/DTR-KD/Shared%20Documents/KD/Sales%20Forecast/2025/Sales%20Forecast%20Lasted/D&#7921;%20b&#225;o%20b&#225;n%20h&#224;ng%20th&#225;ng%206-12.2025%20new.xlsx!Chi%20ti&#7871;t!R41C36:R49C43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hyperlink" Target="https://freepngimg.com/png/67211-bin-recycling-baskets-paper-green-rubbish-recycle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keliweb.it/2017/05/vps-hosting-o-server-dedicato/" TargetMode="External"/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faq.org/posts/2020/03/social-media-marketing-strategy-in-5-easy-steps-2020-guide/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DDCF9D1-CF28-4AC7-B317-AE29B2FC282E}"/>
              </a:ext>
            </a:extLst>
          </p:cNvPr>
          <p:cNvSpPr/>
          <p:nvPr/>
        </p:nvSpPr>
        <p:spPr>
          <a:xfrm>
            <a:off x="0" y="1936686"/>
            <a:ext cx="12191999" cy="3736672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1AADE4-195C-3907-D013-C6FBD9BF9616}"/>
              </a:ext>
            </a:extLst>
          </p:cNvPr>
          <p:cNvGrpSpPr/>
          <p:nvPr/>
        </p:nvGrpSpPr>
        <p:grpSpPr>
          <a:xfrm>
            <a:off x="109537" y="2920550"/>
            <a:ext cx="3352091" cy="53830"/>
            <a:chOff x="5531559" y="1576287"/>
            <a:chExt cx="2080557" cy="5383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E2E3EFE-807C-4F23-BD77-F668B4972624}"/>
                </a:ext>
              </a:extLst>
            </p:cNvPr>
            <p:cNvSpPr/>
            <p:nvPr/>
          </p:nvSpPr>
          <p:spPr>
            <a:xfrm rot="5400000" flipV="1">
              <a:off x="5855055" y="1252794"/>
              <a:ext cx="45719" cy="69271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572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2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6C046FB-C16D-43D5-8B0B-30CC7DA9A876}"/>
                </a:ext>
              </a:extLst>
            </p:cNvPr>
            <p:cNvSpPr/>
            <p:nvPr/>
          </p:nvSpPr>
          <p:spPr>
            <a:xfrm rot="5400000" flipV="1">
              <a:off x="6603564" y="1260906"/>
              <a:ext cx="45719" cy="69271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572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2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A4743FC-7579-49DE-8A61-21CAC176D041}"/>
                </a:ext>
              </a:extLst>
            </p:cNvPr>
            <p:cNvSpPr/>
            <p:nvPr/>
          </p:nvSpPr>
          <p:spPr>
            <a:xfrm rot="5400000" flipV="1">
              <a:off x="7242901" y="1252791"/>
              <a:ext cx="45719" cy="69271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572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2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C8F3650-CBB7-49EF-B378-87AC5788C24E}"/>
              </a:ext>
            </a:extLst>
          </p:cNvPr>
          <p:cNvSpPr txBox="1"/>
          <p:nvPr/>
        </p:nvSpPr>
        <p:spPr>
          <a:xfrm>
            <a:off x="0" y="2420737"/>
            <a:ext cx="6551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srgbClr val="A5A5A5">
                    <a:lumMod val="20000"/>
                    <a:lumOff val="8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PHÒNG KINH DOANH DTR: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A5A5A5">
                  <a:lumMod val="20000"/>
                  <a:lumOff val="8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F3C6FE-5F74-4FF9-8C8E-39B8066DA466}"/>
              </a:ext>
            </a:extLst>
          </p:cNvPr>
          <p:cNvSpPr txBox="1"/>
          <p:nvPr/>
        </p:nvSpPr>
        <p:spPr>
          <a:xfrm>
            <a:off x="707923" y="3066358"/>
            <a:ext cx="7029567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742950">
              <a:defRPr/>
            </a:pPr>
            <a:r>
              <a:rPr lang="en-US" sz="3000" b="1">
                <a:solidFill>
                  <a:srgbClr val="FFC000"/>
                </a:solidFill>
                <a:latin typeface="Times New Roman"/>
                <a:cs typeface="Times New Roman"/>
              </a:rPr>
              <a:t>BÁO CÁO KINH DOANH</a:t>
            </a:r>
            <a:br>
              <a:rPr lang="en-US" sz="3000" b="1">
                <a:solidFill>
                  <a:srgbClr val="FFC000"/>
                </a:solidFill>
                <a:latin typeface="Times New Roman"/>
                <a:cs typeface="Times New Roman"/>
              </a:rPr>
            </a:br>
            <a:r>
              <a:rPr lang="en-US" sz="3000" b="1">
                <a:solidFill>
                  <a:srgbClr val="FFC000"/>
                </a:solidFill>
                <a:latin typeface="Times New Roman"/>
                <a:cs typeface="Times New Roman"/>
              </a:rPr>
              <a:t>(</a:t>
            </a:r>
            <a:r>
              <a:rPr lang="en-US" sz="3000" b="1" err="1">
                <a:solidFill>
                  <a:srgbClr val="FFC000"/>
                </a:solidFill>
                <a:latin typeface="Times New Roman"/>
                <a:cs typeface="Times New Roman"/>
              </a:rPr>
              <a:t>Tuần</a:t>
            </a:r>
            <a:r>
              <a:rPr lang="en-US" sz="3000" b="1">
                <a:solidFill>
                  <a:srgbClr val="FFC000"/>
                </a:solidFill>
                <a:latin typeface="Times New Roman"/>
                <a:cs typeface="Times New Roman"/>
              </a:rPr>
              <a:t> 51)</a:t>
            </a:r>
          </a:p>
          <a:p>
            <a:pPr defTabSz="742950">
              <a:defRPr/>
            </a:pPr>
            <a:endParaRPr lang="vi-VN" sz="3000" b="1">
              <a:solidFill>
                <a:srgbClr val="FFC000">
                  <a:lumMod val="60000"/>
                  <a:lumOff val="4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9B6B0D-D4A0-4DA4-AE03-BE7BA5E8B201}"/>
              </a:ext>
            </a:extLst>
          </p:cNvPr>
          <p:cNvSpPr txBox="1"/>
          <p:nvPr/>
        </p:nvSpPr>
        <p:spPr>
          <a:xfrm>
            <a:off x="-389347" y="4727641"/>
            <a:ext cx="645771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742950">
              <a:defRPr/>
            </a:pPr>
            <a:r>
              <a:rPr lang="vi-VN" sz="2400" b="1" i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/>
                <a:cs typeface="Times New Roman"/>
              </a:rPr>
              <a:t>THÁNG </a:t>
            </a:r>
            <a:r>
              <a:rPr lang="en-US" sz="2400" b="1" i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/>
                <a:cs typeface="Times New Roman"/>
              </a:rPr>
              <a:t>12 / </a:t>
            </a:r>
            <a:r>
              <a:rPr lang="vi-VN" sz="2400" b="1" i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/>
                <a:cs typeface="Times New Roman"/>
              </a:rPr>
              <a:t>202</a:t>
            </a:r>
            <a:r>
              <a:rPr lang="en-US" sz="2400" b="1" i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/>
                <a:cs typeface="Times New Roman"/>
              </a:rPr>
              <a:t>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DF95004-8A9C-493C-8C46-01D23F089D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09" r="2009"/>
          <a:stretch/>
        </p:blipFill>
        <p:spPr>
          <a:xfrm>
            <a:off x="6123635" y="1936686"/>
            <a:ext cx="6096000" cy="373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875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4EDE12C-DF70-56A5-7F4F-CADBE7B03394}"/>
              </a:ext>
            </a:extLst>
          </p:cNvPr>
          <p:cNvGrpSpPr/>
          <p:nvPr/>
        </p:nvGrpSpPr>
        <p:grpSpPr>
          <a:xfrm>
            <a:off x="558618" y="583032"/>
            <a:ext cx="11354299" cy="5906221"/>
            <a:chOff x="4957581" y="1179497"/>
            <a:chExt cx="6574018" cy="4499006"/>
          </a:xfrm>
        </p:grpSpPr>
        <p:sp>
          <p:nvSpPr>
            <p:cNvPr id="12" name="Hình chữ nhật 40">
              <a:extLst>
                <a:ext uri="{FF2B5EF4-FFF2-40B4-BE49-F238E27FC236}">
                  <a16:creationId xmlns:a16="http://schemas.microsoft.com/office/drawing/2014/main" id="{FA47A6D1-C17F-40C8-BCFD-4B8E543DB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4957581" y="1179497"/>
              <a:ext cx="6574017" cy="4499006"/>
            </a:xfrm>
            <a:prstGeom prst="rect">
              <a:avLst/>
            </a:prstGeom>
            <a:noFill/>
            <a:ln w="28575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vi-VN" kern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927439E-EFC8-4812-B29B-4B720A770B0D}"/>
                </a:ext>
              </a:extLst>
            </p:cNvPr>
            <p:cNvCxnSpPr>
              <a:cxnSpLocks/>
            </p:cNvCxnSpPr>
            <p:nvPr/>
          </p:nvCxnSpPr>
          <p:spPr>
            <a:xfrm>
              <a:off x="4967117" y="1791701"/>
              <a:ext cx="6564482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3E75895-1F3A-4003-9B65-3ECFEC41F546}"/>
              </a:ext>
            </a:extLst>
          </p:cNvPr>
          <p:cNvSpPr txBox="1"/>
          <p:nvPr/>
        </p:nvSpPr>
        <p:spPr>
          <a:xfrm>
            <a:off x="828498" y="806189"/>
            <a:ext cx="6564481" cy="461665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A5A5A5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 LỤC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CE684B-5C9B-A742-8A81-9D5AD311140B}"/>
              </a:ext>
            </a:extLst>
          </p:cNvPr>
          <p:cNvGrpSpPr/>
          <p:nvPr/>
        </p:nvGrpSpPr>
        <p:grpSpPr>
          <a:xfrm>
            <a:off x="776798" y="1562231"/>
            <a:ext cx="6832455" cy="583312"/>
            <a:chOff x="228745" y="2883015"/>
            <a:chExt cx="6832455" cy="583312"/>
          </a:xfrm>
        </p:grpSpPr>
        <p:sp>
          <p:nvSpPr>
            <p:cNvPr id="11" name="Flowchart: Alternate Process 10">
              <a:extLst>
                <a:ext uri="{FF2B5EF4-FFF2-40B4-BE49-F238E27FC236}">
                  <a16:creationId xmlns:a16="http://schemas.microsoft.com/office/drawing/2014/main" id="{FBCD9AE5-1058-4981-A46B-BE7A7A4E9321}"/>
                </a:ext>
              </a:extLst>
            </p:cNvPr>
            <p:cNvSpPr/>
            <p:nvPr/>
          </p:nvSpPr>
          <p:spPr>
            <a:xfrm>
              <a:off x="1019489" y="2883016"/>
              <a:ext cx="6041711" cy="538711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just" defTabSz="914400">
                <a:defRPr/>
              </a:pPr>
              <a:r>
                <a:rPr lang="en-US" b="1" err="1">
                  <a:solidFill>
                    <a:srgbClr val="000099"/>
                  </a:solidFill>
                  <a:latin typeface="Arial"/>
                </a:rPr>
                <a:t>Kết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quả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bán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hàng</a:t>
              </a:r>
              <a:endParaRPr lang="en-US" b="1">
                <a:solidFill>
                  <a:srgbClr val="000099"/>
                </a:solidFill>
                <a:latin typeface="Arial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1A80CAA-1E47-1DA8-071F-61FDCB0F1A28}"/>
                </a:ext>
              </a:extLst>
            </p:cNvPr>
            <p:cNvGrpSpPr/>
            <p:nvPr/>
          </p:nvGrpSpPr>
          <p:grpSpPr>
            <a:xfrm>
              <a:off x="228745" y="2883015"/>
              <a:ext cx="683273" cy="583312"/>
              <a:chOff x="228745" y="2883015"/>
              <a:chExt cx="683273" cy="583312"/>
            </a:xfrm>
          </p:grpSpPr>
          <p:sp>
            <p:nvSpPr>
              <p:cNvPr id="15" name="Rounded Rectangle 1">
                <a:extLst>
                  <a:ext uri="{FF2B5EF4-FFF2-40B4-BE49-F238E27FC236}">
                    <a16:creationId xmlns:a16="http://schemas.microsoft.com/office/drawing/2014/main" id="{DF7DAD0E-1C82-B112-9CF2-E62724104CF0}"/>
                  </a:ext>
                </a:extLst>
              </p:cNvPr>
              <p:cNvSpPr/>
              <p:nvPr/>
            </p:nvSpPr>
            <p:spPr>
              <a:xfrm>
                <a:off x="228745" y="2883015"/>
                <a:ext cx="660072" cy="583312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5476FE-9196-9CDC-D45E-C2DA87CB376C}"/>
                  </a:ext>
                </a:extLst>
              </p:cNvPr>
              <p:cNvSpPr txBox="1"/>
              <p:nvPr/>
            </p:nvSpPr>
            <p:spPr>
              <a:xfrm>
                <a:off x="251946" y="2936144"/>
                <a:ext cx="660072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5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01</a:t>
                </a: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415C238-0876-FEB1-DD19-EEFFF0EA2F91}"/>
              </a:ext>
            </a:extLst>
          </p:cNvPr>
          <p:cNvGrpSpPr/>
          <p:nvPr/>
        </p:nvGrpSpPr>
        <p:grpSpPr>
          <a:xfrm>
            <a:off x="740896" y="4154960"/>
            <a:ext cx="6346961" cy="583311"/>
            <a:chOff x="216044" y="5052350"/>
            <a:chExt cx="6346961" cy="583311"/>
          </a:xfrm>
        </p:grpSpPr>
        <p:sp>
          <p:nvSpPr>
            <p:cNvPr id="23" name="Flowchart: Alternate Process 22">
              <a:extLst>
                <a:ext uri="{FF2B5EF4-FFF2-40B4-BE49-F238E27FC236}">
                  <a16:creationId xmlns:a16="http://schemas.microsoft.com/office/drawing/2014/main" id="{ED6BA042-E33E-5C32-3AD7-4442DC40F457}"/>
                </a:ext>
              </a:extLst>
            </p:cNvPr>
            <p:cNvSpPr/>
            <p:nvPr/>
          </p:nvSpPr>
          <p:spPr>
            <a:xfrm>
              <a:off x="1049481" y="5059933"/>
              <a:ext cx="5513524" cy="537553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defTabSz="914400">
                <a:defRPr/>
              </a:pPr>
              <a:r>
                <a:rPr lang="en-US" b="1" err="1">
                  <a:solidFill>
                    <a:srgbClr val="000099"/>
                  </a:solidFill>
                  <a:latin typeface="Arial"/>
                </a:rPr>
                <a:t>Khách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hàng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tiềm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năng</a:t>
              </a: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F24B135-36BC-AEAB-9CF9-76E04AD49DFE}"/>
                </a:ext>
              </a:extLst>
            </p:cNvPr>
            <p:cNvGrpSpPr/>
            <p:nvPr/>
          </p:nvGrpSpPr>
          <p:grpSpPr>
            <a:xfrm>
              <a:off x="216044" y="5052350"/>
              <a:ext cx="683273" cy="583311"/>
              <a:chOff x="228745" y="2883015"/>
              <a:chExt cx="683273" cy="583311"/>
            </a:xfrm>
          </p:grpSpPr>
          <p:sp>
            <p:nvSpPr>
              <p:cNvPr id="25" name="Rounded Rectangle 1">
                <a:extLst>
                  <a:ext uri="{FF2B5EF4-FFF2-40B4-BE49-F238E27FC236}">
                    <a16:creationId xmlns:a16="http://schemas.microsoft.com/office/drawing/2014/main" id="{0D59A217-A46A-96B3-A2B2-4098864F4D55}"/>
                  </a:ext>
                </a:extLst>
              </p:cNvPr>
              <p:cNvSpPr/>
              <p:nvPr/>
            </p:nvSpPr>
            <p:spPr>
              <a:xfrm>
                <a:off x="228745" y="2883015"/>
                <a:ext cx="660072" cy="583311"/>
              </a:xfrm>
              <a:prstGeom prst="round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7556908-ACDA-F7F5-5181-2CE3AB0E0CC8}"/>
                  </a:ext>
                </a:extLst>
              </p:cNvPr>
              <p:cNvSpPr txBox="1"/>
              <p:nvPr/>
            </p:nvSpPr>
            <p:spPr>
              <a:xfrm>
                <a:off x="251946" y="2963633"/>
                <a:ext cx="660072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5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03</a:t>
                </a: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6810D30-B0B8-A49D-1B7E-B1324A4FE0DC}"/>
              </a:ext>
            </a:extLst>
          </p:cNvPr>
          <p:cNvGrpSpPr/>
          <p:nvPr/>
        </p:nvGrpSpPr>
        <p:grpSpPr>
          <a:xfrm>
            <a:off x="740896" y="4849713"/>
            <a:ext cx="6346961" cy="583311"/>
            <a:chOff x="216044" y="5052350"/>
            <a:chExt cx="6346961" cy="583311"/>
          </a:xfrm>
        </p:grpSpPr>
        <p:sp>
          <p:nvSpPr>
            <p:cNvPr id="28" name="Flowchart: Alternate Process 27">
              <a:extLst>
                <a:ext uri="{FF2B5EF4-FFF2-40B4-BE49-F238E27FC236}">
                  <a16:creationId xmlns:a16="http://schemas.microsoft.com/office/drawing/2014/main" id="{4E471813-9F82-F4C2-87E9-08A17096E8A5}"/>
                </a:ext>
              </a:extLst>
            </p:cNvPr>
            <p:cNvSpPr/>
            <p:nvPr/>
          </p:nvSpPr>
          <p:spPr>
            <a:xfrm>
              <a:off x="1049481" y="5059933"/>
              <a:ext cx="5513524" cy="537553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defTabSz="914400">
                <a:defRPr/>
              </a:pPr>
              <a:r>
                <a:rPr lang="en-US" b="1" err="1">
                  <a:solidFill>
                    <a:srgbClr val="000099"/>
                  </a:solidFill>
                  <a:latin typeface="Arial"/>
                </a:rPr>
                <a:t>Cập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nhật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thị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trường</a:t>
              </a: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3705247-2F44-228C-F030-7E061DEF604C}"/>
                </a:ext>
              </a:extLst>
            </p:cNvPr>
            <p:cNvGrpSpPr/>
            <p:nvPr/>
          </p:nvGrpSpPr>
          <p:grpSpPr>
            <a:xfrm>
              <a:off x="216044" y="5052350"/>
              <a:ext cx="683273" cy="583311"/>
              <a:chOff x="228745" y="2883015"/>
              <a:chExt cx="683273" cy="583311"/>
            </a:xfrm>
          </p:grpSpPr>
          <p:sp>
            <p:nvSpPr>
              <p:cNvPr id="30" name="Rounded Rectangle 1">
                <a:extLst>
                  <a:ext uri="{FF2B5EF4-FFF2-40B4-BE49-F238E27FC236}">
                    <a16:creationId xmlns:a16="http://schemas.microsoft.com/office/drawing/2014/main" id="{C7AB7DB5-9F44-EDD4-1AE2-4B91534D184E}"/>
                  </a:ext>
                </a:extLst>
              </p:cNvPr>
              <p:cNvSpPr/>
              <p:nvPr/>
            </p:nvSpPr>
            <p:spPr>
              <a:xfrm>
                <a:off x="228745" y="2883015"/>
                <a:ext cx="660072" cy="583311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C691158-E9ED-6927-0658-D58E370A2596}"/>
                  </a:ext>
                </a:extLst>
              </p:cNvPr>
              <p:cNvSpPr txBox="1"/>
              <p:nvPr/>
            </p:nvSpPr>
            <p:spPr>
              <a:xfrm>
                <a:off x="251946" y="2963633"/>
                <a:ext cx="660072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5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04</a:t>
                </a: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6C7983F-24F8-71EA-0A6D-1903584574DE}"/>
              </a:ext>
            </a:extLst>
          </p:cNvPr>
          <p:cNvGrpSpPr/>
          <p:nvPr/>
        </p:nvGrpSpPr>
        <p:grpSpPr>
          <a:xfrm>
            <a:off x="740896" y="5552049"/>
            <a:ext cx="6346961" cy="583311"/>
            <a:chOff x="216044" y="5052350"/>
            <a:chExt cx="6346961" cy="583311"/>
          </a:xfrm>
        </p:grpSpPr>
        <p:sp>
          <p:nvSpPr>
            <p:cNvPr id="33" name="Flowchart: Alternate Process 32">
              <a:extLst>
                <a:ext uri="{FF2B5EF4-FFF2-40B4-BE49-F238E27FC236}">
                  <a16:creationId xmlns:a16="http://schemas.microsoft.com/office/drawing/2014/main" id="{784169E8-5E84-9BC3-16A9-442E9C1EB7CC}"/>
                </a:ext>
              </a:extLst>
            </p:cNvPr>
            <p:cNvSpPr/>
            <p:nvPr/>
          </p:nvSpPr>
          <p:spPr>
            <a:xfrm>
              <a:off x="1049481" y="5059933"/>
              <a:ext cx="5513524" cy="537553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defTabSz="914400">
                <a:defRPr/>
              </a:pPr>
              <a:r>
                <a:rPr lang="en-US" b="1" err="1">
                  <a:solidFill>
                    <a:srgbClr val="000099"/>
                  </a:solidFill>
                  <a:latin typeface="Arial"/>
                </a:rPr>
                <a:t>Khiếu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nại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khách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hàng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i="1">
                  <a:solidFill>
                    <a:srgbClr val="000099"/>
                  </a:solidFill>
                  <a:latin typeface="Arial"/>
                </a:rPr>
                <a:t>(</a:t>
              </a:r>
              <a:r>
                <a:rPr lang="en-US" i="1" err="1">
                  <a:solidFill>
                    <a:srgbClr val="000099"/>
                  </a:solidFill>
                  <a:latin typeface="Arial"/>
                </a:rPr>
                <a:t>nếu</a:t>
              </a:r>
              <a:r>
                <a:rPr lang="en-US" i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i="1" err="1">
                  <a:solidFill>
                    <a:srgbClr val="000099"/>
                  </a:solidFill>
                  <a:latin typeface="Arial"/>
                </a:rPr>
                <a:t>có</a:t>
              </a:r>
              <a:r>
                <a:rPr lang="en-US" i="1">
                  <a:solidFill>
                    <a:srgbClr val="000099"/>
                  </a:solidFill>
                  <a:latin typeface="Arial"/>
                </a:rPr>
                <a:t>)</a:t>
              </a:r>
              <a:endParaRPr kumimoji="0" lang="en-US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F7E60D7-74E1-CCCD-8580-91D018ADED31}"/>
                </a:ext>
              </a:extLst>
            </p:cNvPr>
            <p:cNvGrpSpPr/>
            <p:nvPr/>
          </p:nvGrpSpPr>
          <p:grpSpPr>
            <a:xfrm>
              <a:off x="216044" y="5052350"/>
              <a:ext cx="683273" cy="583311"/>
              <a:chOff x="228745" y="2883015"/>
              <a:chExt cx="683273" cy="583311"/>
            </a:xfrm>
          </p:grpSpPr>
          <p:sp>
            <p:nvSpPr>
              <p:cNvPr id="35" name="Rounded Rectangle 1">
                <a:extLst>
                  <a:ext uri="{FF2B5EF4-FFF2-40B4-BE49-F238E27FC236}">
                    <a16:creationId xmlns:a16="http://schemas.microsoft.com/office/drawing/2014/main" id="{0D07B4FF-0116-42DD-24A1-01FEF507502D}"/>
                  </a:ext>
                </a:extLst>
              </p:cNvPr>
              <p:cNvSpPr/>
              <p:nvPr/>
            </p:nvSpPr>
            <p:spPr>
              <a:xfrm>
                <a:off x="228745" y="2883015"/>
                <a:ext cx="660072" cy="583311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7AF6532-DCBF-A961-388E-B8A378F16044}"/>
                  </a:ext>
                </a:extLst>
              </p:cNvPr>
              <p:cNvSpPr txBox="1"/>
              <p:nvPr/>
            </p:nvSpPr>
            <p:spPr>
              <a:xfrm>
                <a:off x="251946" y="2963633"/>
                <a:ext cx="660072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5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05</a:t>
                </a: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A17BA43-31F4-1E60-C6FB-FA12E96A34B9}"/>
              </a:ext>
            </a:extLst>
          </p:cNvPr>
          <p:cNvGrpSpPr/>
          <p:nvPr/>
        </p:nvGrpSpPr>
        <p:grpSpPr>
          <a:xfrm>
            <a:off x="764097" y="2313058"/>
            <a:ext cx="6921224" cy="1617904"/>
            <a:chOff x="764097" y="2313058"/>
            <a:chExt cx="6921224" cy="161790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F819FE2-0B67-CB72-BDCC-8032D04137DC}"/>
                </a:ext>
              </a:extLst>
            </p:cNvPr>
            <p:cNvGrpSpPr/>
            <p:nvPr/>
          </p:nvGrpSpPr>
          <p:grpSpPr>
            <a:xfrm>
              <a:off x="764097" y="2313058"/>
              <a:ext cx="6481472" cy="583311"/>
              <a:chOff x="764097" y="2313058"/>
              <a:chExt cx="6481472" cy="583311"/>
            </a:xfrm>
          </p:grpSpPr>
          <p:sp>
            <p:nvSpPr>
              <p:cNvPr id="18" name="Flowchart: Alternate Process 17">
                <a:extLst>
                  <a:ext uri="{FF2B5EF4-FFF2-40B4-BE49-F238E27FC236}">
                    <a16:creationId xmlns:a16="http://schemas.microsoft.com/office/drawing/2014/main" id="{8961FBAE-CC25-3B92-3493-796A5D6F8F66}"/>
                  </a:ext>
                </a:extLst>
              </p:cNvPr>
              <p:cNvSpPr/>
              <p:nvPr/>
            </p:nvSpPr>
            <p:spPr>
              <a:xfrm>
                <a:off x="1575027" y="2331668"/>
                <a:ext cx="5670542" cy="537553"/>
              </a:xfrm>
              <a:prstGeom prst="flowChartAlternateProcess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defTabSz="914400">
                  <a:defRPr/>
                </a:pPr>
                <a:r>
                  <a:rPr kumimoji="0" lang="en-US" b="1" i="0" u="none" strike="noStrike" kern="1200" cap="none" spc="0" normalizeH="0" baseline="0" err="1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/>
                  </a:rPr>
                  <a:t>Khách</a:t>
                </a:r>
                <a:r>
                  <a:rPr kumimoji="0" lang="en-US" b="1" i="0" u="none" strike="noStrike" kern="1200" cap="none" spc="0" normalizeH="0" baseline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:r>
                  <a:rPr kumimoji="0" lang="en-US" b="1" i="0" u="none" strike="noStrike" kern="1200" cap="none" spc="0" normalizeH="0" baseline="0" err="1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/>
                  </a:rPr>
                  <a:t>hàng</a:t>
                </a:r>
                <a:r>
                  <a:rPr kumimoji="0" lang="en-US" b="1" i="0" u="none" strike="noStrike" kern="1200" cap="none" spc="0" normalizeH="0" baseline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:r>
                  <a:rPr kumimoji="0" lang="en-US" b="1" i="0" u="none" strike="noStrike" kern="1200" cap="none" spc="0" normalizeH="0" baseline="0" err="1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/>
                  </a:rPr>
                  <a:t>mục</a:t>
                </a:r>
                <a:r>
                  <a:rPr kumimoji="0" lang="en-US" b="1" i="0" u="none" strike="noStrike" kern="1200" cap="none" spc="0" normalizeH="0" baseline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/>
                  </a:rPr>
                  <a:t> </a:t>
                </a:r>
                <a:r>
                  <a:rPr kumimoji="0" lang="en-US" b="1" i="0" u="none" strike="noStrike" kern="1200" cap="none" spc="0" normalizeH="0" baseline="0" err="1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/>
                  </a:rPr>
                  <a:t>tiêu</a:t>
                </a:r>
                <a:endParaRPr kumimoji="0" lang="en-US" b="1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E9D79DD8-BB99-CB3D-A266-6568BF42C5AA}"/>
                  </a:ext>
                </a:extLst>
              </p:cNvPr>
              <p:cNvGrpSpPr/>
              <p:nvPr/>
            </p:nvGrpSpPr>
            <p:grpSpPr>
              <a:xfrm>
                <a:off x="764097" y="2313058"/>
                <a:ext cx="672773" cy="583311"/>
                <a:chOff x="228745" y="2883014"/>
                <a:chExt cx="672773" cy="583311"/>
              </a:xfrm>
            </p:grpSpPr>
            <p:sp>
              <p:nvSpPr>
                <p:cNvPr id="20" name="Rounded Rectangle 1">
                  <a:extLst>
                    <a:ext uri="{FF2B5EF4-FFF2-40B4-BE49-F238E27FC236}">
                      <a16:creationId xmlns:a16="http://schemas.microsoft.com/office/drawing/2014/main" id="{FA888214-7562-C927-709C-52585A748CEB}"/>
                    </a:ext>
                  </a:extLst>
                </p:cNvPr>
                <p:cNvSpPr/>
                <p:nvPr/>
              </p:nvSpPr>
              <p:spPr>
                <a:xfrm>
                  <a:off x="228745" y="2883014"/>
                  <a:ext cx="672773" cy="583311"/>
                </a:xfrm>
                <a:prstGeom prst="round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735A711-AD77-8BCB-9E94-C1270132115D}"/>
                    </a:ext>
                  </a:extLst>
                </p:cNvPr>
                <p:cNvSpPr txBox="1"/>
                <p:nvPr/>
              </p:nvSpPr>
              <p:spPr>
                <a:xfrm>
                  <a:off x="241446" y="2923736"/>
                  <a:ext cx="660072" cy="4770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5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02</a:t>
                  </a:r>
                </a:p>
              </p:txBody>
            </p: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C4217AC-8E01-6DC1-C453-280D7ACCF2C6}"/>
                </a:ext>
              </a:extLst>
            </p:cNvPr>
            <p:cNvSpPr txBox="1"/>
            <p:nvPr/>
          </p:nvSpPr>
          <p:spPr>
            <a:xfrm>
              <a:off x="1591053" y="2869221"/>
              <a:ext cx="60942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solidFill>
                    <a:srgbClr val="000099"/>
                  </a:solidFill>
                  <a:latin typeface="Arial"/>
                </a:rPr>
                <a:t>2.1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Sản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phẩm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rPET</a:t>
              </a:r>
              <a:endParaRPr lang="vi-VN" b="1">
                <a:solidFill>
                  <a:srgbClr val="000099"/>
                </a:solidFill>
                <a:latin typeface="Arial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145AC46-75FB-E110-36D0-931FC9D73CF5}"/>
                </a:ext>
              </a:extLst>
            </p:cNvPr>
            <p:cNvSpPr txBox="1"/>
            <p:nvPr/>
          </p:nvSpPr>
          <p:spPr>
            <a:xfrm>
              <a:off x="1591053" y="3209599"/>
              <a:ext cx="60942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b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b="1">
                  <a:solidFill>
                    <a:srgbClr val="000099"/>
                  </a:solidFill>
                  <a:latin typeface="Arial"/>
                  <a:cs typeface="+mn-cs"/>
                </a:rPr>
                <a:t>2.2 </a:t>
              </a:r>
              <a:r>
                <a:rPr lang="en-US" b="1" err="1">
                  <a:solidFill>
                    <a:srgbClr val="000099"/>
                  </a:solidFill>
                  <a:latin typeface="Arial"/>
                  <a:cs typeface="+mn-cs"/>
                </a:rPr>
                <a:t>Sản</a:t>
              </a:r>
              <a:r>
                <a:rPr lang="en-US" b="1">
                  <a:solidFill>
                    <a:srgbClr val="000099"/>
                  </a:solidFill>
                  <a:latin typeface="Arial"/>
                  <a:cs typeface="+mn-cs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  <a:cs typeface="+mn-cs"/>
                </a:rPr>
                <a:t>phẩm</a:t>
              </a:r>
              <a:r>
                <a:rPr lang="en-US" b="1">
                  <a:solidFill>
                    <a:srgbClr val="000099"/>
                  </a:solidFill>
                  <a:latin typeface="Arial"/>
                  <a:cs typeface="+mn-cs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  <a:cs typeface="+mn-cs"/>
                </a:rPr>
                <a:t>rHDPE</a:t>
              </a:r>
              <a:endParaRPr lang="vi-VN" b="1">
                <a:solidFill>
                  <a:srgbClr val="000099"/>
                </a:solidFill>
                <a:latin typeface="Arial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E3FC6AE-911A-147C-28A9-CA03246623DA}"/>
                </a:ext>
              </a:extLst>
            </p:cNvPr>
            <p:cNvSpPr txBox="1"/>
            <p:nvPr/>
          </p:nvSpPr>
          <p:spPr>
            <a:xfrm>
              <a:off x="1591053" y="3561630"/>
              <a:ext cx="60942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solidFill>
                    <a:srgbClr val="000099"/>
                  </a:solidFill>
                  <a:latin typeface="Arial"/>
                </a:rPr>
                <a:t>2.3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Sản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phẩm</a:t>
              </a:r>
              <a:r>
                <a:rPr lang="en-US" b="1">
                  <a:solidFill>
                    <a:srgbClr val="000099"/>
                  </a:solidFill>
                  <a:latin typeface="Arial"/>
                </a:rPr>
                <a:t> </a:t>
              </a:r>
              <a:r>
                <a:rPr lang="en-US" b="1" err="1">
                  <a:solidFill>
                    <a:srgbClr val="000099"/>
                  </a:solidFill>
                  <a:latin typeface="Arial"/>
                </a:rPr>
                <a:t>rPP</a:t>
              </a:r>
              <a:endParaRPr lang="vi-VN" b="1">
                <a:solidFill>
                  <a:srgbClr val="000099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8832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AFD78-8A67-2B30-A0AA-F49FF523D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7668DDE2-1C0D-7F34-E82A-8A3BBFD13FBF}"/>
              </a:ext>
            </a:extLst>
          </p:cNvPr>
          <p:cNvSpPr/>
          <p:nvPr/>
        </p:nvSpPr>
        <p:spPr>
          <a:xfrm>
            <a:off x="0" y="3157845"/>
            <a:ext cx="12192000" cy="3411397"/>
          </a:xfrm>
          <a:custGeom>
            <a:avLst/>
            <a:gdLst/>
            <a:ahLst/>
            <a:cxnLst/>
            <a:rect l="l" t="t" r="r" b="b"/>
            <a:pathLst>
              <a:path w="18288000" h="6356958">
                <a:moveTo>
                  <a:pt x="0" y="0"/>
                </a:moveTo>
                <a:lnTo>
                  <a:pt x="18288000" y="0"/>
                </a:lnTo>
                <a:lnTo>
                  <a:pt x="1828800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49062" b="-12760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2" name="Group 6">
            <a:extLst>
              <a:ext uri="{FF2B5EF4-FFF2-40B4-BE49-F238E27FC236}">
                <a16:creationId xmlns:a16="http://schemas.microsoft.com/office/drawing/2014/main" id="{FE52E54C-C5CF-CB7F-28AB-AFCF7685987B}"/>
              </a:ext>
            </a:extLst>
          </p:cNvPr>
          <p:cNvGrpSpPr/>
          <p:nvPr/>
        </p:nvGrpSpPr>
        <p:grpSpPr>
          <a:xfrm>
            <a:off x="0" y="0"/>
            <a:ext cx="12192000" cy="6172199"/>
            <a:chOff x="0" y="0"/>
            <a:chExt cx="4948946" cy="1790302"/>
          </a:xfrm>
        </p:grpSpPr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9C8D327-87C3-CF9A-1BAC-76143DC9B0FF}"/>
                </a:ext>
              </a:extLst>
            </p:cNvPr>
            <p:cNvSpPr/>
            <p:nvPr/>
          </p:nvSpPr>
          <p:spPr>
            <a:xfrm>
              <a:off x="0" y="0"/>
              <a:ext cx="4948946" cy="1790302"/>
            </a:xfrm>
            <a:custGeom>
              <a:avLst/>
              <a:gdLst/>
              <a:ahLst/>
              <a:cxnLst/>
              <a:rect l="l" t="t" r="r" b="b"/>
              <a:pathLst>
                <a:path w="4948946" h="1790302">
                  <a:moveTo>
                    <a:pt x="0" y="0"/>
                  </a:moveTo>
                  <a:lnTo>
                    <a:pt x="4948946" y="0"/>
                  </a:lnTo>
                  <a:lnTo>
                    <a:pt x="4948946" y="1790302"/>
                  </a:lnTo>
                  <a:lnTo>
                    <a:pt x="0" y="1790302"/>
                  </a:lnTo>
                  <a:close/>
                </a:path>
              </a:pathLst>
            </a:custGeom>
            <a:gradFill rotWithShape="1">
              <a:gsLst>
                <a:gs pos="0">
                  <a:srgbClr val="F4F4F4">
                    <a:alpha val="100000"/>
                  </a:srgbClr>
                </a:gs>
                <a:gs pos="50000">
                  <a:srgbClr val="FFFFFF">
                    <a:alpha val="9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8">
              <a:extLst>
                <a:ext uri="{FF2B5EF4-FFF2-40B4-BE49-F238E27FC236}">
                  <a16:creationId xmlns:a16="http://schemas.microsoft.com/office/drawing/2014/main" id="{D82654E1-ECE9-352C-DDBD-88B4044ABF55}"/>
                </a:ext>
              </a:extLst>
            </p:cNvPr>
            <p:cNvSpPr txBox="1"/>
            <p:nvPr/>
          </p:nvSpPr>
          <p:spPr>
            <a:xfrm>
              <a:off x="0" y="-47625"/>
              <a:ext cx="4948946" cy="1837927"/>
            </a:xfrm>
            <a:prstGeom prst="rect">
              <a:avLst/>
            </a:prstGeom>
          </p:spPr>
          <p:txBody>
            <a:bodyPr lIns="50489" tIns="50489" rIns="50489" bIns="50489" rtlCol="0" anchor="ctr"/>
            <a:lstStyle/>
            <a:p>
              <a:pPr algn="ctr">
                <a:lnSpc>
                  <a:spcPts val="3002"/>
                </a:lnSpc>
              </a:pPr>
              <a:endParaRPr/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50B50F2D-F95B-401C-D11C-DCF0837B98DC}"/>
              </a:ext>
            </a:extLst>
          </p:cNvPr>
          <p:cNvSpPr/>
          <p:nvPr/>
        </p:nvSpPr>
        <p:spPr>
          <a:xfrm flipH="1">
            <a:off x="7073509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16B6A0C-ACCC-D18A-4B0D-25790E2A7A19}"/>
              </a:ext>
            </a:extLst>
          </p:cNvPr>
          <p:cNvSpPr/>
          <p:nvPr/>
        </p:nvSpPr>
        <p:spPr>
          <a:xfrm flipH="1">
            <a:off x="10050425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7F59F4A-0843-3FB4-F04A-382806010D6C}"/>
              </a:ext>
            </a:extLst>
          </p:cNvPr>
          <p:cNvSpPr/>
          <p:nvPr/>
        </p:nvSpPr>
        <p:spPr>
          <a:xfrm>
            <a:off x="10044829" y="685801"/>
            <a:ext cx="733693" cy="1051959"/>
          </a:xfrm>
          <a:custGeom>
            <a:avLst/>
            <a:gdLst/>
            <a:ahLst/>
            <a:cxnLst/>
            <a:rect l="l" t="t" r="r" b="b"/>
            <a:pathLst>
              <a:path w="1100539" h="1577939">
                <a:moveTo>
                  <a:pt x="0" y="0"/>
                </a:moveTo>
                <a:lnTo>
                  <a:pt x="1100539" y="0"/>
                </a:lnTo>
                <a:lnTo>
                  <a:pt x="1100539" y="1577939"/>
                </a:lnTo>
                <a:lnTo>
                  <a:pt x="0" y="157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98091" r="-305744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4566B15-81FC-F92D-6A0F-23A7FE3B02AA}"/>
              </a:ext>
            </a:extLst>
          </p:cNvPr>
          <p:cNvSpPr txBox="1"/>
          <p:nvPr/>
        </p:nvSpPr>
        <p:spPr>
          <a:xfrm>
            <a:off x="518286" y="1214192"/>
            <a:ext cx="11477069" cy="2303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14"/>
              </a:lnSpc>
            </a:pPr>
            <a:r>
              <a:rPr lang="en-US" sz="44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TỔNG QUAN CHO 3 DÒNG HÀNG</a:t>
            </a:r>
          </a:p>
          <a:p>
            <a:pPr>
              <a:lnSpc>
                <a:spcPts val="9614"/>
              </a:lnSpc>
            </a:pPr>
            <a:r>
              <a:rPr lang="en-US" sz="44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(</a:t>
            </a:r>
            <a:r>
              <a:rPr lang="en-US" sz="4400" b="1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rPET</a:t>
            </a:r>
            <a:r>
              <a:rPr lang="en-US" sz="44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  <a:r>
              <a:rPr lang="en-US" sz="4400" b="1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rHDPE</a:t>
            </a:r>
            <a:r>
              <a:rPr lang="en-US" sz="44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  <a:r>
              <a:rPr lang="en-US" sz="4400" b="1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rPP</a:t>
            </a:r>
            <a:r>
              <a:rPr lang="en-US" sz="44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D8BB66DD-15A5-8176-4292-69E544DBC4ED}"/>
              </a:ext>
            </a:extLst>
          </p:cNvPr>
          <p:cNvSpPr/>
          <p:nvPr/>
        </p:nvSpPr>
        <p:spPr>
          <a:xfrm>
            <a:off x="297650" y="223462"/>
            <a:ext cx="1702810" cy="375232"/>
          </a:xfrm>
          <a:custGeom>
            <a:avLst/>
            <a:gdLst/>
            <a:ahLst/>
            <a:cxnLst/>
            <a:rect l="l" t="t" r="r" b="b"/>
            <a:pathLst>
              <a:path w="2508872" h="551400">
                <a:moveTo>
                  <a:pt x="0" y="0"/>
                </a:moveTo>
                <a:lnTo>
                  <a:pt x="2508871" y="0"/>
                </a:lnTo>
                <a:lnTo>
                  <a:pt x="2508871" y="551400"/>
                </a:lnTo>
                <a:lnTo>
                  <a:pt x="0" y="551400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10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79163D0-76DF-A6F5-6089-4AD0E6606AA9}"/>
              </a:ext>
            </a:extLst>
          </p:cNvPr>
          <p:cNvGrpSpPr/>
          <p:nvPr/>
        </p:nvGrpSpPr>
        <p:grpSpPr>
          <a:xfrm>
            <a:off x="2375244" y="0"/>
            <a:ext cx="8236368" cy="1130650"/>
            <a:chOff x="320993" y="402283"/>
            <a:chExt cx="7668084" cy="113065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1BCFA9-D728-4A9A-D323-4A4CC17552A2}"/>
                </a:ext>
              </a:extLst>
            </p:cNvPr>
            <p:cNvSpPr txBox="1"/>
            <p:nvPr/>
          </p:nvSpPr>
          <p:spPr>
            <a:xfrm>
              <a:off x="320993" y="402283"/>
              <a:ext cx="76680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Kết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quả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bán </a:t>
              </a:r>
              <a:r>
                <a:rPr lang="en-US" sz="2000" b="1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hàng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so </a:t>
              </a:r>
              <a:r>
                <a:rPr lang="en-US" sz="2000" b="1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với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KPI </a:t>
              </a:r>
              <a:r>
                <a:rPr kumimoji="0" lang="en-US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rPET</a:t>
              </a: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&amp; </a:t>
              </a:r>
              <a:r>
                <a:rPr kumimoji="0" lang="en-US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rHDPE</a:t>
              </a: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&amp; PP</a:t>
              </a:r>
              <a:r>
                <a:rPr lang="en-US" sz="24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err="1">
                  <a:solidFill>
                    <a:srgbClr val="2877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đến</a:t>
              </a:r>
              <a:r>
                <a:rPr lang="en-US" sz="2000" b="1">
                  <a:solidFill>
                    <a:srgbClr val="2877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err="1">
                  <a:solidFill>
                    <a:srgbClr val="2877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hiện</a:t>
              </a:r>
              <a:r>
                <a:rPr lang="en-US" sz="2000" b="1">
                  <a:solidFill>
                    <a:srgbClr val="2877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err="1">
                  <a:solidFill>
                    <a:srgbClr val="2877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tại</a:t>
              </a:r>
              <a:endParaRPr kumimoji="0" lang="vi-VN" sz="2000" b="1" i="0" u="none" strike="noStrike" kern="1200" cap="none" spc="0" normalizeH="0" baseline="0" noProof="0">
                <a:ln>
                  <a:noFill/>
                </a:ln>
                <a:solidFill>
                  <a:srgbClr val="2877B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E2CF3E9-3E63-8C7F-7383-B16A4084522C}"/>
                </a:ext>
              </a:extLst>
            </p:cNvPr>
            <p:cNvSpPr txBox="1"/>
            <p:nvPr/>
          </p:nvSpPr>
          <p:spPr>
            <a:xfrm>
              <a:off x="639771" y="1163601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E2EB7AF-CE46-E62E-A591-41470E1FCA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571927"/>
              </p:ext>
            </p:extLst>
          </p:nvPr>
        </p:nvGraphicFramePr>
        <p:xfrm>
          <a:off x="3175" y="460375"/>
          <a:ext cx="12188825" cy="296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8280696" imgH="2794044" progId="Excel.Sheet.12">
                  <p:link updateAutomatic="1"/>
                </p:oleObj>
              </mc:Choice>
              <mc:Fallback>
                <p:oleObj name="Worksheet" r:id="rId3" imgW="8280696" imgH="2794044" progId="Excel.Sheet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E2EB7AF-CE46-E62E-A591-41470E1FCA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5" y="460375"/>
                        <a:ext cx="12188825" cy="296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FFB132C-1772-2867-EEB7-942534BAEC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936079"/>
              </p:ext>
            </p:extLst>
          </p:nvPr>
        </p:nvGraphicFramePr>
        <p:xfrm>
          <a:off x="0" y="3429000"/>
          <a:ext cx="12192000" cy="310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9074162" imgH="3499157" progId="Excel.Sheet.12">
                  <p:link updateAutomatic="1"/>
                </p:oleObj>
              </mc:Choice>
              <mc:Fallback>
                <p:oleObj name="Worksheet" r:id="rId5" imgW="9074162" imgH="3499157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7FFB132C-1772-2867-EEB7-942534BAEC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3429000"/>
                        <a:ext cx="12192000" cy="310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92570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F8D3E-E2C8-5686-3738-C92D8C093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819F36-4DF5-B962-CD63-24F6C30173AB}"/>
              </a:ext>
            </a:extLst>
          </p:cNvPr>
          <p:cNvSpPr txBox="1"/>
          <p:nvPr/>
        </p:nvSpPr>
        <p:spPr>
          <a:xfrm>
            <a:off x="1944039" y="597683"/>
            <a:ext cx="85515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TỔNG HỢP TÌNH TRẠNG DỰ BÁO ĐƠN HÀNG THÁNG 12</a:t>
            </a:r>
            <a:b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rPET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+ </a:t>
            </a:r>
            <a:r>
              <a:rPr lang="en-US" sz="3200" b="1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rHDPE</a:t>
            </a:r>
            <a:r>
              <a:rPr lang="en-US" sz="32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 </a:t>
            </a: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rPP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kumimoji="0" lang="vi-VN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08DA609-FF1E-42BE-042C-3AF63159A5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8543501"/>
              </p:ext>
            </p:extLst>
          </p:nvPr>
        </p:nvGraphicFramePr>
        <p:xfrm>
          <a:off x="829613" y="1951037"/>
          <a:ext cx="10690929" cy="354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032475" imgH="2000250" progId="Excel.Sheet.12">
                  <p:link updateAutomatic="1"/>
                </p:oleObj>
              </mc:Choice>
              <mc:Fallback>
                <p:oleObj name="Worksheet" r:id="rId3" imgW="6032475" imgH="2000250" progId="Excel.Sheet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C08DA609-FF1E-42BE-042C-3AF63159A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9613" y="1951037"/>
                        <a:ext cx="10690929" cy="3544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650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8DEC-FB32-124E-F58B-58273FFB7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B6E13813-69CE-0A02-E044-FD7CE7D7C913}"/>
              </a:ext>
            </a:extLst>
          </p:cNvPr>
          <p:cNvSpPr/>
          <p:nvPr/>
        </p:nvSpPr>
        <p:spPr>
          <a:xfrm>
            <a:off x="0" y="3157845"/>
            <a:ext cx="12192000" cy="3411397"/>
          </a:xfrm>
          <a:custGeom>
            <a:avLst/>
            <a:gdLst/>
            <a:ahLst/>
            <a:cxnLst/>
            <a:rect l="l" t="t" r="r" b="b"/>
            <a:pathLst>
              <a:path w="18288000" h="6356958">
                <a:moveTo>
                  <a:pt x="0" y="0"/>
                </a:moveTo>
                <a:lnTo>
                  <a:pt x="18288000" y="0"/>
                </a:lnTo>
                <a:lnTo>
                  <a:pt x="1828800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49062" b="-12760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2" name="Group 6">
            <a:extLst>
              <a:ext uri="{FF2B5EF4-FFF2-40B4-BE49-F238E27FC236}">
                <a16:creationId xmlns:a16="http://schemas.microsoft.com/office/drawing/2014/main" id="{2F93E609-3374-8726-9AA1-CA4749630957}"/>
              </a:ext>
            </a:extLst>
          </p:cNvPr>
          <p:cNvGrpSpPr/>
          <p:nvPr/>
        </p:nvGrpSpPr>
        <p:grpSpPr>
          <a:xfrm>
            <a:off x="0" y="0"/>
            <a:ext cx="12192000" cy="6172199"/>
            <a:chOff x="0" y="0"/>
            <a:chExt cx="4948946" cy="1790302"/>
          </a:xfrm>
        </p:grpSpPr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189BBCF-B2F0-6A8A-6CFA-8A53160D445A}"/>
                </a:ext>
              </a:extLst>
            </p:cNvPr>
            <p:cNvSpPr/>
            <p:nvPr/>
          </p:nvSpPr>
          <p:spPr>
            <a:xfrm>
              <a:off x="0" y="0"/>
              <a:ext cx="4948946" cy="1790302"/>
            </a:xfrm>
            <a:custGeom>
              <a:avLst/>
              <a:gdLst/>
              <a:ahLst/>
              <a:cxnLst/>
              <a:rect l="l" t="t" r="r" b="b"/>
              <a:pathLst>
                <a:path w="4948946" h="1790302">
                  <a:moveTo>
                    <a:pt x="0" y="0"/>
                  </a:moveTo>
                  <a:lnTo>
                    <a:pt x="4948946" y="0"/>
                  </a:lnTo>
                  <a:lnTo>
                    <a:pt x="4948946" y="1790302"/>
                  </a:lnTo>
                  <a:lnTo>
                    <a:pt x="0" y="1790302"/>
                  </a:lnTo>
                  <a:close/>
                </a:path>
              </a:pathLst>
            </a:custGeom>
            <a:gradFill rotWithShape="1">
              <a:gsLst>
                <a:gs pos="0">
                  <a:srgbClr val="F4F4F4">
                    <a:alpha val="100000"/>
                  </a:srgbClr>
                </a:gs>
                <a:gs pos="50000">
                  <a:srgbClr val="FFFFFF">
                    <a:alpha val="9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8">
              <a:extLst>
                <a:ext uri="{FF2B5EF4-FFF2-40B4-BE49-F238E27FC236}">
                  <a16:creationId xmlns:a16="http://schemas.microsoft.com/office/drawing/2014/main" id="{91EE7106-6FB8-8740-8BE6-B7629F0B1564}"/>
                </a:ext>
              </a:extLst>
            </p:cNvPr>
            <p:cNvSpPr txBox="1"/>
            <p:nvPr/>
          </p:nvSpPr>
          <p:spPr>
            <a:xfrm>
              <a:off x="0" y="-47625"/>
              <a:ext cx="4948946" cy="1837927"/>
            </a:xfrm>
            <a:prstGeom prst="rect">
              <a:avLst/>
            </a:prstGeom>
          </p:spPr>
          <p:txBody>
            <a:bodyPr lIns="50489" tIns="50489" rIns="50489" bIns="50489" rtlCol="0" anchor="ctr"/>
            <a:lstStyle/>
            <a:p>
              <a:pPr algn="ctr">
                <a:lnSpc>
                  <a:spcPts val="3002"/>
                </a:lnSpc>
              </a:pPr>
              <a:endParaRPr/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2FF1EB88-69BE-F654-581B-B2F07EA89DD1}"/>
              </a:ext>
            </a:extLst>
          </p:cNvPr>
          <p:cNvSpPr/>
          <p:nvPr/>
        </p:nvSpPr>
        <p:spPr>
          <a:xfrm flipH="1">
            <a:off x="7073509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B5E12A-D6D9-F60A-7D51-98219F99BBBF}"/>
              </a:ext>
            </a:extLst>
          </p:cNvPr>
          <p:cNvSpPr/>
          <p:nvPr/>
        </p:nvSpPr>
        <p:spPr>
          <a:xfrm flipH="1">
            <a:off x="10050425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6D1D847-DA59-EC99-D0EF-AEAE6A79F419}"/>
              </a:ext>
            </a:extLst>
          </p:cNvPr>
          <p:cNvSpPr/>
          <p:nvPr/>
        </p:nvSpPr>
        <p:spPr>
          <a:xfrm>
            <a:off x="10044829" y="685801"/>
            <a:ext cx="733693" cy="1051959"/>
          </a:xfrm>
          <a:custGeom>
            <a:avLst/>
            <a:gdLst/>
            <a:ahLst/>
            <a:cxnLst/>
            <a:rect l="l" t="t" r="r" b="b"/>
            <a:pathLst>
              <a:path w="1100539" h="1577939">
                <a:moveTo>
                  <a:pt x="0" y="0"/>
                </a:moveTo>
                <a:lnTo>
                  <a:pt x="1100539" y="0"/>
                </a:lnTo>
                <a:lnTo>
                  <a:pt x="1100539" y="1577939"/>
                </a:lnTo>
                <a:lnTo>
                  <a:pt x="0" y="157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98091" r="-305744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017A406-950F-0482-7B0F-1F3C81CC5C48}"/>
              </a:ext>
            </a:extLst>
          </p:cNvPr>
          <p:cNvSpPr txBox="1"/>
          <p:nvPr/>
        </p:nvSpPr>
        <p:spPr>
          <a:xfrm>
            <a:off x="641783" y="1347672"/>
            <a:ext cx="6909619" cy="120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14"/>
              </a:lnSpc>
            </a:pPr>
            <a:r>
              <a:rPr lang="en-US" sz="7946" b="1" spc="238" err="1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rPET</a:t>
            </a:r>
            <a:r>
              <a:rPr lang="en-US" sz="7946" b="1" spc="238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7DE68F2C-9AD7-EC88-B515-4BD1B7EDB416}"/>
              </a:ext>
            </a:extLst>
          </p:cNvPr>
          <p:cNvSpPr/>
          <p:nvPr/>
        </p:nvSpPr>
        <p:spPr>
          <a:xfrm>
            <a:off x="297650" y="223462"/>
            <a:ext cx="1702810" cy="375232"/>
          </a:xfrm>
          <a:custGeom>
            <a:avLst/>
            <a:gdLst/>
            <a:ahLst/>
            <a:cxnLst/>
            <a:rect l="l" t="t" r="r" b="b"/>
            <a:pathLst>
              <a:path w="2508872" h="551400">
                <a:moveTo>
                  <a:pt x="0" y="0"/>
                </a:moveTo>
                <a:lnTo>
                  <a:pt x="2508871" y="0"/>
                </a:lnTo>
                <a:lnTo>
                  <a:pt x="2508871" y="551400"/>
                </a:lnTo>
                <a:lnTo>
                  <a:pt x="0" y="551400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3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DEEE9C0-D4DE-BDFA-D7DD-44903300BD2D}"/>
              </a:ext>
            </a:extLst>
          </p:cNvPr>
          <p:cNvGrpSpPr/>
          <p:nvPr/>
        </p:nvGrpSpPr>
        <p:grpSpPr>
          <a:xfrm>
            <a:off x="2452609" y="6024"/>
            <a:ext cx="6967636" cy="535615"/>
            <a:chOff x="503089" y="484151"/>
            <a:chExt cx="6967636" cy="53561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ADA19FA-1439-B38C-45BA-548B03B2564D}"/>
                </a:ext>
              </a:extLst>
            </p:cNvPr>
            <p:cNvSpPr txBox="1"/>
            <p:nvPr/>
          </p:nvSpPr>
          <p:spPr>
            <a:xfrm>
              <a:off x="503089" y="650434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1BCFA9-D728-4A9A-D323-4A4CC17552A2}"/>
                </a:ext>
              </a:extLst>
            </p:cNvPr>
            <p:cNvSpPr txBox="1"/>
            <p:nvPr/>
          </p:nvSpPr>
          <p:spPr>
            <a:xfrm>
              <a:off x="1886889" y="484151"/>
              <a:ext cx="5583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rPET</a:t>
              </a: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– </a:t>
              </a:r>
              <a:r>
                <a:rPr lang="en-US" sz="2000" b="1" kern="1200">
                  <a:solidFill>
                    <a:srgbClr val="0070C0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KẾT QUẢ 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BÁN HÀNG T12 so </a:t>
              </a:r>
              <a:r>
                <a:rPr lang="en-US" sz="2000" b="1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với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KPI </a:t>
              </a:r>
              <a:endParaRPr kumimoji="0" lang="vi-V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3B5A6AB-A06B-C4D7-ED1B-9A467783E8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604436"/>
              </p:ext>
            </p:extLst>
          </p:nvPr>
        </p:nvGraphicFramePr>
        <p:xfrm>
          <a:off x="3175" y="406400"/>
          <a:ext cx="12188825" cy="302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464522" imgH="2597369" progId="Excel.Sheet.12">
                  <p:link updateAutomatic="1"/>
                </p:oleObj>
              </mc:Choice>
              <mc:Fallback>
                <p:oleObj name="Worksheet" r:id="rId3" imgW="6464522" imgH="2597369" progId="Excel.Sheet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93B5A6AB-A06B-C4D7-ED1B-9A467783E8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5" y="406400"/>
                        <a:ext cx="12188825" cy="302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3129302-8AA2-C055-F0AD-2B9F4217DA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189860"/>
              </p:ext>
            </p:extLst>
          </p:nvPr>
        </p:nvGraphicFramePr>
        <p:xfrm>
          <a:off x="3175" y="3430588"/>
          <a:ext cx="12188825" cy="314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6464522" imgH="2603675" progId="Excel.Sheet.12">
                  <p:link updateAutomatic="1"/>
                </p:oleObj>
              </mc:Choice>
              <mc:Fallback>
                <p:oleObj name="Worksheet" r:id="rId5" imgW="6464522" imgH="2603675" progId="Excel.Sheet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3129302-8AA2-C055-F0AD-2B9F4217DA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5" y="3430588"/>
                        <a:ext cx="12188825" cy="3144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22626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0" y="3157845"/>
            <a:ext cx="12192000" cy="3411397"/>
          </a:xfrm>
          <a:custGeom>
            <a:avLst/>
            <a:gdLst/>
            <a:ahLst/>
            <a:cxnLst/>
            <a:rect l="l" t="t" r="r" b="b"/>
            <a:pathLst>
              <a:path w="18288000" h="6356958">
                <a:moveTo>
                  <a:pt x="0" y="0"/>
                </a:moveTo>
                <a:lnTo>
                  <a:pt x="18288000" y="0"/>
                </a:lnTo>
                <a:lnTo>
                  <a:pt x="1828800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9062" b="-12760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2" name="Group 6">
            <a:extLst>
              <a:ext uri="{FF2B5EF4-FFF2-40B4-BE49-F238E27FC236}">
                <a16:creationId xmlns:a16="http://schemas.microsoft.com/office/drawing/2014/main" id="{3269F616-02FB-19BD-E4C9-D078822E34C4}"/>
              </a:ext>
            </a:extLst>
          </p:cNvPr>
          <p:cNvGrpSpPr/>
          <p:nvPr/>
        </p:nvGrpSpPr>
        <p:grpSpPr>
          <a:xfrm>
            <a:off x="0" y="0"/>
            <a:ext cx="12192000" cy="6172199"/>
            <a:chOff x="0" y="0"/>
            <a:chExt cx="4948946" cy="1790302"/>
          </a:xfrm>
        </p:grpSpPr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A5AB0A07-CF8F-C6D3-09FE-BA4E70021ED5}"/>
                </a:ext>
              </a:extLst>
            </p:cNvPr>
            <p:cNvSpPr/>
            <p:nvPr/>
          </p:nvSpPr>
          <p:spPr>
            <a:xfrm>
              <a:off x="0" y="0"/>
              <a:ext cx="4948946" cy="1790302"/>
            </a:xfrm>
            <a:custGeom>
              <a:avLst/>
              <a:gdLst/>
              <a:ahLst/>
              <a:cxnLst/>
              <a:rect l="l" t="t" r="r" b="b"/>
              <a:pathLst>
                <a:path w="4948946" h="1790302">
                  <a:moveTo>
                    <a:pt x="0" y="0"/>
                  </a:moveTo>
                  <a:lnTo>
                    <a:pt x="4948946" y="0"/>
                  </a:lnTo>
                  <a:lnTo>
                    <a:pt x="4948946" y="1790302"/>
                  </a:lnTo>
                  <a:lnTo>
                    <a:pt x="0" y="1790302"/>
                  </a:lnTo>
                  <a:close/>
                </a:path>
              </a:pathLst>
            </a:custGeom>
            <a:gradFill rotWithShape="1">
              <a:gsLst>
                <a:gs pos="0">
                  <a:srgbClr val="F4F4F4">
                    <a:alpha val="100000"/>
                  </a:srgbClr>
                </a:gs>
                <a:gs pos="50000">
                  <a:srgbClr val="FFFFFF">
                    <a:alpha val="9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8">
              <a:extLst>
                <a:ext uri="{FF2B5EF4-FFF2-40B4-BE49-F238E27FC236}">
                  <a16:creationId xmlns:a16="http://schemas.microsoft.com/office/drawing/2014/main" id="{6F5895B6-2D86-4840-B6C2-00F936481325}"/>
                </a:ext>
              </a:extLst>
            </p:cNvPr>
            <p:cNvSpPr txBox="1"/>
            <p:nvPr/>
          </p:nvSpPr>
          <p:spPr>
            <a:xfrm>
              <a:off x="0" y="-47625"/>
              <a:ext cx="4948946" cy="1837927"/>
            </a:xfrm>
            <a:prstGeom prst="rect">
              <a:avLst/>
            </a:prstGeom>
          </p:spPr>
          <p:txBody>
            <a:bodyPr lIns="50489" tIns="50489" rIns="50489" bIns="50489" rtlCol="0" anchor="ctr"/>
            <a:lstStyle/>
            <a:p>
              <a:pPr algn="ctr">
                <a:lnSpc>
                  <a:spcPts val="3002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 flipH="1">
            <a:off x="7073509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/>
          <p:cNvSpPr/>
          <p:nvPr/>
        </p:nvSpPr>
        <p:spPr>
          <a:xfrm flipH="1">
            <a:off x="10050425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Freeform 4"/>
          <p:cNvSpPr/>
          <p:nvPr/>
        </p:nvSpPr>
        <p:spPr>
          <a:xfrm>
            <a:off x="10044829" y="685801"/>
            <a:ext cx="733693" cy="1051959"/>
          </a:xfrm>
          <a:custGeom>
            <a:avLst/>
            <a:gdLst/>
            <a:ahLst/>
            <a:cxnLst/>
            <a:rect l="l" t="t" r="r" b="b"/>
            <a:pathLst>
              <a:path w="1100539" h="1577939">
                <a:moveTo>
                  <a:pt x="0" y="0"/>
                </a:moveTo>
                <a:lnTo>
                  <a:pt x="1100539" y="0"/>
                </a:lnTo>
                <a:lnTo>
                  <a:pt x="1100539" y="1577939"/>
                </a:lnTo>
                <a:lnTo>
                  <a:pt x="0" y="157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98091" r="-305744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TextBox 11"/>
          <p:cNvSpPr txBox="1"/>
          <p:nvPr/>
        </p:nvSpPr>
        <p:spPr>
          <a:xfrm>
            <a:off x="641783" y="1174126"/>
            <a:ext cx="9403046" cy="1117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14"/>
              </a:lnSpc>
            </a:pPr>
            <a:r>
              <a:rPr lang="en-US" sz="5400" b="1" spc="238" err="1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rPET</a:t>
            </a:r>
            <a:r>
              <a:rPr lang="en-US" sz="5400" b="1" spc="238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 Food Grade</a:t>
            </a: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77F87759-7D57-605B-9A3E-523EDB431553}"/>
              </a:ext>
            </a:extLst>
          </p:cNvPr>
          <p:cNvSpPr/>
          <p:nvPr/>
        </p:nvSpPr>
        <p:spPr>
          <a:xfrm>
            <a:off x="297650" y="223462"/>
            <a:ext cx="1702810" cy="375232"/>
          </a:xfrm>
          <a:custGeom>
            <a:avLst/>
            <a:gdLst/>
            <a:ahLst/>
            <a:cxnLst/>
            <a:rect l="l" t="t" r="r" b="b"/>
            <a:pathLst>
              <a:path w="2508872" h="551400">
                <a:moveTo>
                  <a:pt x="0" y="0"/>
                </a:moveTo>
                <a:lnTo>
                  <a:pt x="2508871" y="0"/>
                </a:lnTo>
                <a:lnTo>
                  <a:pt x="2508871" y="551400"/>
                </a:lnTo>
                <a:lnTo>
                  <a:pt x="0" y="551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65B246-0796-9086-D087-A252588D831F}"/>
              </a:ext>
            </a:extLst>
          </p:cNvPr>
          <p:cNvSpPr txBox="1"/>
          <p:nvPr/>
        </p:nvSpPr>
        <p:spPr>
          <a:xfrm>
            <a:off x="9059151" y="701255"/>
            <a:ext cx="2891560" cy="30777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400">
                <a:solidFill>
                  <a:srgbClr val="0000FF"/>
                </a:solidFill>
                <a:sym typeface="Wingdings" panose="05000000000000000000" pitchFamily="2" charset="2"/>
              </a:rPr>
              <a:t>-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DA202E-D09F-B833-E9C7-ADD8B130F61B}"/>
              </a:ext>
            </a:extLst>
          </p:cNvPr>
          <p:cNvSpPr/>
          <p:nvPr/>
        </p:nvSpPr>
        <p:spPr>
          <a:xfrm>
            <a:off x="7677150" y="423575"/>
            <a:ext cx="4513262" cy="6120100"/>
          </a:xfrm>
          <a:prstGeom prst="roundRect">
            <a:avLst>
              <a:gd name="adj" fmla="val 351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r>
              <a:rPr lang="en-US" b="1" err="1">
                <a:solidFill>
                  <a:srgbClr val="00B050"/>
                </a:solidFill>
                <a:ea typeface="Calibri"/>
                <a:cs typeface="Calibri"/>
              </a:rPr>
              <a:t>Sản</a:t>
            </a:r>
            <a:r>
              <a:rPr lang="en-US" b="1">
                <a:solidFill>
                  <a:srgbClr val="00B050"/>
                </a:solidFill>
                <a:ea typeface="Calibri"/>
                <a:cs typeface="Calibri"/>
              </a:rPr>
              <a:t> </a:t>
            </a:r>
            <a:r>
              <a:rPr lang="en-US" b="1" err="1">
                <a:solidFill>
                  <a:srgbClr val="00B050"/>
                </a:solidFill>
                <a:ea typeface="Calibri"/>
                <a:cs typeface="Calibri"/>
              </a:rPr>
              <a:t>phẩm</a:t>
            </a:r>
            <a:r>
              <a:rPr lang="en-US" b="1">
                <a:solidFill>
                  <a:srgbClr val="00B050"/>
                </a:solidFill>
                <a:ea typeface="Calibri"/>
                <a:cs typeface="Calibri"/>
              </a:rPr>
              <a:t> </a:t>
            </a:r>
            <a:r>
              <a:rPr lang="en-US" b="1" err="1">
                <a:solidFill>
                  <a:srgbClr val="00B050"/>
                </a:solidFill>
                <a:ea typeface="Calibri"/>
                <a:cs typeface="Calibri"/>
              </a:rPr>
              <a:t>loại</a:t>
            </a:r>
            <a:r>
              <a:rPr lang="en-US" b="1">
                <a:solidFill>
                  <a:srgbClr val="00B050"/>
                </a:solidFill>
                <a:ea typeface="Calibri"/>
                <a:cs typeface="Calibri"/>
              </a:rPr>
              <a:t> A</a:t>
            </a:r>
            <a:endParaRPr lang="en-US" b="1">
              <a:ea typeface="Calibri"/>
              <a:cs typeface="Calibri"/>
            </a:endParaRPr>
          </a:p>
          <a:p>
            <a:r>
              <a:rPr lang="en-US" sz="1200" b="1">
                <a:solidFill>
                  <a:srgbClr val="0000FF"/>
                </a:solidFill>
                <a:ea typeface="Calibri"/>
                <a:cs typeface="Calibri"/>
              </a:rPr>
              <a:t>CHÂU ÂU</a:t>
            </a:r>
          </a:p>
          <a:p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+ Các </a:t>
            </a:r>
            <a:r>
              <a:rPr lang="en-US" sz="1200" i="1" err="1">
                <a:solidFill>
                  <a:srgbClr val="0000FF"/>
                </a:solidFill>
                <a:ea typeface="Calibri"/>
                <a:cs typeface="Calibri"/>
              </a:rPr>
              <a:t>khách</a:t>
            </a:r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ea typeface="Calibri"/>
                <a:cs typeface="Calibri"/>
              </a:rPr>
              <a:t>hàng</a:t>
            </a:r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 Châu </a:t>
            </a:r>
            <a:r>
              <a:rPr lang="en-US" sz="1200" i="1" err="1">
                <a:solidFill>
                  <a:srgbClr val="0000FF"/>
                </a:solidFill>
                <a:ea typeface="Calibri"/>
                <a:cs typeface="Calibri"/>
              </a:rPr>
              <a:t>Âu</a:t>
            </a:r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ea typeface="Calibri"/>
                <a:cs typeface="Calibri"/>
              </a:rPr>
              <a:t>ngưng</a:t>
            </a:r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ea typeface="Calibri"/>
                <a:cs typeface="Calibri"/>
              </a:rPr>
              <a:t>mua</a:t>
            </a:r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 do ADD. </a:t>
            </a:r>
          </a:p>
          <a:p>
            <a:r>
              <a:rPr lang="en-US" sz="1200" i="1" err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Dự</a:t>
            </a:r>
            <a:r>
              <a:rPr lang="en-US" sz="1200" i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kiến</a:t>
            </a:r>
            <a:r>
              <a:rPr lang="en-US" sz="1200" i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 24/12 </a:t>
            </a:r>
            <a:r>
              <a:rPr lang="en-US" sz="1200" i="1" err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có</a:t>
            </a:r>
            <a:r>
              <a:rPr lang="en-US" sz="1200" i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mức</a:t>
            </a:r>
            <a:r>
              <a:rPr lang="en-US" sz="1200" i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thuế</a:t>
            </a:r>
            <a:r>
              <a:rPr lang="en-US" sz="1200" i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áp</a:t>
            </a:r>
            <a:r>
              <a:rPr lang="en-US" sz="1200" i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dụng</a:t>
            </a:r>
            <a:r>
              <a:rPr lang="en-US" sz="1200" i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sơ</a:t>
            </a:r>
            <a:r>
              <a:rPr lang="en-US" sz="1200" i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bộ</a:t>
            </a:r>
            <a:r>
              <a:rPr lang="en-US" sz="1200" i="1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.</a:t>
            </a:r>
            <a:br>
              <a:rPr lang="en-US" sz="1200" i="1">
                <a:ea typeface="Calibri"/>
                <a:cs typeface="Calibri"/>
              </a:rPr>
            </a:br>
            <a:endParaRPr lang="en-US" sz="1200" i="1">
              <a:solidFill>
                <a:srgbClr val="0000FF"/>
              </a:solidFill>
              <a:ea typeface="Calibri"/>
              <a:cs typeface="Calibri"/>
            </a:endParaRPr>
          </a:p>
          <a:p>
            <a:r>
              <a:rPr lang="en-US" sz="1200" b="1">
                <a:solidFill>
                  <a:srgbClr val="0000FF"/>
                </a:solidFill>
                <a:ea typeface="Calibri"/>
                <a:cs typeface="Calibri"/>
              </a:rPr>
              <a:t>MỸ</a:t>
            </a:r>
          </a:p>
          <a:p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+ Các </a:t>
            </a:r>
            <a:r>
              <a:rPr lang="en-US" sz="1200" i="1" err="1">
                <a:solidFill>
                  <a:srgbClr val="0000FF"/>
                </a:solidFill>
                <a:ea typeface="Calibri"/>
                <a:cs typeface="Calibri"/>
              </a:rPr>
              <a:t>khách</a:t>
            </a:r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ea typeface="Calibri"/>
                <a:cs typeface="Calibri"/>
              </a:rPr>
              <a:t>hàng</a:t>
            </a:r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vi-VN" sz="1200" i="1">
                <a:solidFill>
                  <a:srgbClr val="0000FF"/>
                </a:solidFill>
                <a:latin typeface="Arial"/>
                <a:ea typeface="Calibri"/>
                <a:cs typeface="Calibri"/>
              </a:rPr>
              <a:t>Mỹ</a:t>
            </a:r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ea typeface="Calibri"/>
                <a:cs typeface="Calibri"/>
              </a:rPr>
              <a:t>ngưng</a:t>
            </a:r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ea typeface="Calibri"/>
                <a:cs typeface="Calibri"/>
              </a:rPr>
              <a:t>lấy</a:t>
            </a:r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ea typeface="Calibri"/>
                <a:cs typeface="Calibri"/>
              </a:rPr>
              <a:t>hàng</a:t>
            </a:r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 do </a:t>
            </a:r>
            <a:r>
              <a:rPr lang="en-US" sz="1200" i="1" err="1">
                <a:solidFill>
                  <a:srgbClr val="0000FF"/>
                </a:solidFill>
                <a:ea typeface="Calibri"/>
                <a:cs typeface="Calibri"/>
              </a:rPr>
              <a:t>Thuế</a:t>
            </a:r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ea typeface="Calibri"/>
                <a:cs typeface="Calibri"/>
              </a:rPr>
              <a:t>Đối</a:t>
            </a:r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i="1" err="1">
                <a:solidFill>
                  <a:srgbClr val="0000FF"/>
                </a:solidFill>
                <a:ea typeface="Calibri"/>
                <a:cs typeface="Calibri"/>
              </a:rPr>
              <a:t>ứng</a:t>
            </a:r>
            <a:r>
              <a:rPr lang="en-US" sz="1200" i="1">
                <a:solidFill>
                  <a:srgbClr val="0000FF"/>
                </a:solidFill>
                <a:ea typeface="Calibri"/>
                <a:cs typeface="Calibri"/>
              </a:rPr>
              <a:t> 20%.</a:t>
            </a:r>
            <a:br>
              <a:rPr lang="en-US" sz="1200" i="1">
                <a:ea typeface="Calibri"/>
                <a:cs typeface="Calibri"/>
              </a:rPr>
            </a:br>
            <a:endParaRPr lang="en-US" sz="1200" b="1">
              <a:solidFill>
                <a:srgbClr val="0000FF"/>
              </a:solidFill>
              <a:ea typeface="Calibri"/>
              <a:cs typeface="Calibri"/>
            </a:endParaRPr>
          </a:p>
          <a:p>
            <a:r>
              <a:rPr lang="en-US" sz="1200" b="1">
                <a:solidFill>
                  <a:srgbClr val="0000FF"/>
                </a:solidFill>
                <a:ea typeface="Calibri"/>
                <a:cs typeface="Calibri"/>
              </a:rPr>
              <a:t>+ Niagara:</a:t>
            </a:r>
          </a:p>
          <a:p>
            <a:pPr marL="171450" indent="-171450">
              <a:buFontTx/>
              <a:buChar char="-"/>
            </a:pP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Đơn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hàng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1200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tấn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,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đã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thanh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toán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. 800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tấn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đã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có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lịch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(500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tấn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đi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Mỹ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và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300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tấn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đi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UK). </a:t>
            </a:r>
          </a:p>
          <a:p>
            <a:pPr marL="171450" indent="-171450">
              <a:buFontTx/>
              <a:buChar char="-"/>
            </a:pP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Hợp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đồng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2026, Niagara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gửi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bản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nháp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Supply Order 2026. </a:t>
            </a:r>
          </a:p>
          <a:p>
            <a:pPr marL="171450" indent="-171450">
              <a:buFontTx/>
              <a:buChar char="-"/>
            </a:pP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Tháng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1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sẽ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lấy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mức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max. 1188tấn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và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có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ship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đi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thị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trường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Mexico</a:t>
            </a:r>
            <a:r>
              <a:rPr lang="en-US" sz="1200">
                <a:solidFill>
                  <a:srgbClr val="0000FF"/>
                </a:solidFill>
                <a:highlight>
                  <a:srgbClr val="FFFF00"/>
                </a:highlight>
                <a:ea typeface="Calibri"/>
                <a:cs typeface="Calibri"/>
              </a:rPr>
              <a:t>. </a:t>
            </a:r>
            <a:br>
              <a:rPr lang="en-US" sz="1200">
                <a:highlight>
                  <a:srgbClr val="FFFF00"/>
                </a:highlight>
                <a:ea typeface="Calibri"/>
                <a:cs typeface="Calibri"/>
              </a:rPr>
            </a:br>
            <a:endParaRPr lang="en-US" sz="1200">
              <a:solidFill>
                <a:srgbClr val="0000FF"/>
              </a:solidFill>
              <a:highlight>
                <a:srgbClr val="FFFF00"/>
              </a:highlight>
              <a:ea typeface="Calibri"/>
              <a:cs typeface="Calibri"/>
            </a:endParaRPr>
          </a:p>
          <a:p>
            <a:r>
              <a:rPr lang="en-US" sz="1200" b="1">
                <a:solidFill>
                  <a:srgbClr val="0000FF"/>
                </a:solidFill>
                <a:ea typeface="Calibri"/>
                <a:cs typeface="Calibri"/>
              </a:rPr>
              <a:t>VIỆT NAM</a:t>
            </a:r>
            <a:br>
              <a:rPr lang="en-US" sz="1200" b="1">
                <a:ea typeface="Calibri"/>
                <a:cs typeface="Calibri"/>
              </a:rPr>
            </a:br>
            <a:r>
              <a:rPr lang="en-US" sz="1200" b="1">
                <a:solidFill>
                  <a:srgbClr val="0000FF"/>
                </a:solidFill>
                <a:ea typeface="Calibri"/>
                <a:cs typeface="Calibri"/>
              </a:rPr>
              <a:t>+ Suntory Pepsi 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–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lấy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đạt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mức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5000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tấn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trong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000FF"/>
                </a:solidFill>
                <a:ea typeface="Calibri"/>
                <a:cs typeface="Calibri"/>
              </a:rPr>
              <a:t>năm</a:t>
            </a:r>
            <a:r>
              <a:rPr lang="en-US" sz="1200">
                <a:solidFill>
                  <a:srgbClr val="0000FF"/>
                </a:solidFill>
                <a:ea typeface="Calibri"/>
                <a:cs typeface="Calibri"/>
              </a:rPr>
              <a:t> 2025.</a:t>
            </a:r>
            <a:br>
              <a:rPr lang="en-US" sz="1200">
                <a:ea typeface="Calibri"/>
                <a:cs typeface="Calibri"/>
              </a:rPr>
            </a:br>
            <a:endParaRPr lang="en-US" sz="1200">
              <a:solidFill>
                <a:srgbClr val="0000FF"/>
              </a:solidFill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2EB51-BA95-E197-8B1B-663CF01B8524}"/>
              </a:ext>
            </a:extLst>
          </p:cNvPr>
          <p:cNvSpPr txBox="1"/>
          <p:nvPr/>
        </p:nvSpPr>
        <p:spPr>
          <a:xfrm>
            <a:off x="2992507" y="27497"/>
            <a:ext cx="6856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rPET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Food Grade– </a:t>
            </a:r>
            <a:r>
              <a:rPr lang="en-US" sz="200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KẾT QUẢ </a:t>
            </a:r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 HÀNG T12 so vs KPI</a:t>
            </a:r>
            <a:endParaRPr kumimoji="0" lang="vi-VN" sz="20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C152492-7055-2D6D-D30F-718B7A659F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741720"/>
              </p:ext>
            </p:extLst>
          </p:nvPr>
        </p:nvGraphicFramePr>
        <p:xfrm>
          <a:off x="0" y="423863"/>
          <a:ext cx="7677150" cy="300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439270" imgH="2597369" progId="Excel.Sheet.12">
                  <p:link updateAutomatic="1"/>
                </p:oleObj>
              </mc:Choice>
              <mc:Fallback>
                <p:oleObj name="Worksheet" r:id="rId3" imgW="6439270" imgH="2597369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C152492-7055-2D6D-D30F-718B7A659F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423863"/>
                        <a:ext cx="7677150" cy="3003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B1FE1F1-B996-3302-A6C8-23594376B7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5141537"/>
              </p:ext>
            </p:extLst>
          </p:nvPr>
        </p:nvGraphicFramePr>
        <p:xfrm>
          <a:off x="0" y="3429000"/>
          <a:ext cx="7677150" cy="311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6445583" imgH="2425919" progId="Excel.Sheet.12">
                  <p:link updateAutomatic="1"/>
                </p:oleObj>
              </mc:Choice>
              <mc:Fallback>
                <p:oleObj name="Worksheet" r:id="rId5" imgW="6445583" imgH="2425919" progId="Excel.Sheet.12">
                  <p:link updateAutomatic="1"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DB1FE1F1-B996-3302-A6C8-23594376B7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3429000"/>
                        <a:ext cx="7677150" cy="3114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42547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4FB7-E09E-A24F-168A-56B17F680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8A5039-8D71-994E-3390-8985AF8BB2C3}"/>
              </a:ext>
            </a:extLst>
          </p:cNvPr>
          <p:cNvSpPr txBox="1"/>
          <p:nvPr/>
        </p:nvSpPr>
        <p:spPr>
          <a:xfrm>
            <a:off x="3050458" y="13384"/>
            <a:ext cx="59141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CẬP NHẬT</a:t>
            </a:r>
            <a:r>
              <a:rPr lang="vi-VN" sz="20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TÌNH TRẠNG</a:t>
            </a:r>
            <a:r>
              <a:rPr lang="en-US" sz="20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CÁC HỢP ĐỒNG 2026</a:t>
            </a:r>
            <a:endParaRPr kumimoji="0" lang="vi-VN" sz="20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88E5266-E63D-9F00-6BC3-09844978C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251816"/>
              </p:ext>
            </p:extLst>
          </p:nvPr>
        </p:nvGraphicFramePr>
        <p:xfrm>
          <a:off x="98324" y="666686"/>
          <a:ext cx="12015018" cy="5546060"/>
        </p:xfrm>
        <a:graphic>
          <a:graphicData uri="http://schemas.openxmlformats.org/drawingml/2006/table">
            <a:tbl>
              <a:tblPr/>
              <a:tblGrid>
                <a:gridCol w="368690">
                  <a:extLst>
                    <a:ext uri="{9D8B030D-6E8A-4147-A177-3AD203B41FA5}">
                      <a16:colId xmlns:a16="http://schemas.microsoft.com/office/drawing/2014/main" val="3702014133"/>
                    </a:ext>
                  </a:extLst>
                </a:gridCol>
                <a:gridCol w="1191658">
                  <a:extLst>
                    <a:ext uri="{9D8B030D-6E8A-4147-A177-3AD203B41FA5}">
                      <a16:colId xmlns:a16="http://schemas.microsoft.com/office/drawing/2014/main" val="646174873"/>
                    </a:ext>
                  </a:extLst>
                </a:gridCol>
                <a:gridCol w="1229768">
                  <a:extLst>
                    <a:ext uri="{9D8B030D-6E8A-4147-A177-3AD203B41FA5}">
                      <a16:colId xmlns:a16="http://schemas.microsoft.com/office/drawing/2014/main" val="6144665"/>
                    </a:ext>
                  </a:extLst>
                </a:gridCol>
                <a:gridCol w="1401670">
                  <a:extLst>
                    <a:ext uri="{9D8B030D-6E8A-4147-A177-3AD203B41FA5}">
                      <a16:colId xmlns:a16="http://schemas.microsoft.com/office/drawing/2014/main" val="755718071"/>
                    </a:ext>
                  </a:extLst>
                </a:gridCol>
                <a:gridCol w="743811">
                  <a:extLst>
                    <a:ext uri="{9D8B030D-6E8A-4147-A177-3AD203B41FA5}">
                      <a16:colId xmlns:a16="http://schemas.microsoft.com/office/drawing/2014/main" val="61696215"/>
                    </a:ext>
                  </a:extLst>
                </a:gridCol>
                <a:gridCol w="1719029">
                  <a:extLst>
                    <a:ext uri="{9D8B030D-6E8A-4147-A177-3AD203B41FA5}">
                      <a16:colId xmlns:a16="http://schemas.microsoft.com/office/drawing/2014/main" val="9708781"/>
                    </a:ext>
                  </a:extLst>
                </a:gridCol>
                <a:gridCol w="1810947">
                  <a:extLst>
                    <a:ext uri="{9D8B030D-6E8A-4147-A177-3AD203B41FA5}">
                      <a16:colId xmlns:a16="http://schemas.microsoft.com/office/drawing/2014/main" val="1813025178"/>
                    </a:ext>
                  </a:extLst>
                </a:gridCol>
                <a:gridCol w="3549445">
                  <a:extLst>
                    <a:ext uri="{9D8B030D-6E8A-4147-A177-3AD203B41FA5}">
                      <a16:colId xmlns:a16="http://schemas.microsoft.com/office/drawing/2014/main" val="483015202"/>
                    </a:ext>
                  </a:extLst>
                </a:gridCol>
              </a:tblGrid>
              <a:tr h="732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STT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Khách Hàng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Sản lượng  2025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Sản lượng 2026</a:t>
                      </a:r>
                      <a:br>
                        <a:rPr lang="vi-VN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vi-VN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dự kiến 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Tăng giảm sản lượng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Tình trạng hợp đồng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Sản phẩm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Giá đang chào </a:t>
                      </a:r>
                      <a:r>
                        <a:rPr lang="vi-VN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ExW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( tóm gọm)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628931"/>
                  </a:ext>
                </a:extLst>
              </a:tr>
              <a:tr h="21207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Niagara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14,000 </a:t>
                      </a:r>
                      <a:endParaRPr lang="vi-VN" sz="1300" b="0" i="0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( có 2.000 tấn Spot)</a:t>
                      </a:r>
                      <a:endParaRPr lang="en-US" sz="1300" b="0" i="0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,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000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Không đổi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Đã chốt giá</a:t>
                      </a:r>
                      <a:b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Đang review hợp đồng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rPET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WSS01G ( IV 0,78)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 Công Thức</a:t>
                      </a:r>
                      <a:b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Dựa theo </a:t>
                      </a:r>
                      <a:r>
                        <a:rPr lang="vi-VN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ICIS Hạt nhựa rPET Đông Nam Á.</a:t>
                      </a:r>
                      <a:b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endParaRPr lang="vi-VN" sz="1300" b="0" i="1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ctr">
                        <a:buNone/>
                      </a:pPr>
                      <a:endParaRPr lang="vi-VN" sz="1300" b="0" i="1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706559"/>
                  </a:ext>
                </a:extLst>
              </a:tr>
              <a:tr h="32092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Coca-Cola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700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800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Tăng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Chưa chốt giá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rPET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iSS01084G ( IV 0,84)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 cố định</a:t>
                      </a:r>
                      <a:b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1250$/mt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152308"/>
                  </a:ext>
                </a:extLst>
              </a:tr>
              <a:tr h="4813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Nestle / LaVie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2600</a:t>
                      </a:r>
                      <a:b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(1500 tấn mua trước năm 2024)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374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Giảm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Đã chốt giá</a:t>
                      </a:r>
                      <a:b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Đang review hợp đồng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rPET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WSS01</a:t>
                      </a:r>
                      <a:b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rPET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 WSS01G-L ( IV 0,78)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 cố định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b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1290$/mt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765557"/>
                  </a:ext>
                </a:extLst>
              </a:tr>
              <a:tr h="6418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Suntory PepsiCo VN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5000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5000-7000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Tăng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Đã chốt giá Q1/2026</a:t>
                      </a:r>
                      <a:b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Đang chuẩn bị chào thầu </a:t>
                      </a: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Q2-Q3/2026</a:t>
                      </a:r>
                      <a:endParaRPr lang="en-US" sz="1300" b="0" i="0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rPET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iSS01084G ( IV 0,84)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 Công Thức</a:t>
                      </a:r>
                      <a:b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Dựa theo</a:t>
                      </a:r>
                      <a:r>
                        <a:rPr lang="vi-VN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ICIS Hạt nhựa rPET Đông Nam Á.</a:t>
                      </a:r>
                      <a:b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+ Giá tháng = Trung bình ICIS tháng trước + 20$</a:t>
                      </a:r>
                      <a:b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Rebate cuối năm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386557"/>
                  </a:ext>
                </a:extLst>
              </a:tr>
              <a:tr h="481386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Unileve</a:t>
                      </a: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</a:t>
                      </a:r>
                      <a:endParaRPr lang="en-US" sz="1300" b="0" i="0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3500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4000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Tăng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Đã chốt giá Q1/2026</a:t>
                      </a:r>
                      <a:b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Đang chuẩn bị chào thầu 2026-2028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rPET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WSS01G ( IV 0,78)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 cố định</a:t>
                      </a:r>
                      <a:b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1250$/mt</a:t>
                      </a: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878852"/>
                  </a:ext>
                </a:extLst>
              </a:tr>
              <a:tr h="32092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1800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3500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Tăng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rHDPE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MBF01/ PCF01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 cố định</a:t>
                      </a:r>
                      <a:b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1330$/mt</a:t>
                      </a: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4667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DAF7166-EE77-5424-9D12-BCE29E72DAB8}"/>
              </a:ext>
            </a:extLst>
          </p:cNvPr>
          <p:cNvSpPr txBox="1"/>
          <p:nvPr/>
        </p:nvSpPr>
        <p:spPr>
          <a:xfrm>
            <a:off x="8571271" y="6248196"/>
            <a:ext cx="6100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buNone/>
            </a:pPr>
            <a:r>
              <a:rPr lang="vi-VN" sz="1200" b="0" i="1" u="none" strike="noStrike">
                <a:solidFill>
                  <a:srgbClr val="0000FF"/>
                </a:solidFill>
                <a:effectLst/>
                <a:latin typeface="Aptos Narrow" panose="020B0004020202020204" pitchFamily="34" charset="0"/>
              </a:rPr>
              <a:t>*Nếu đạt sản lượng DTR hoàn trả 100% phí EPR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CB078-0215-CDC5-7FC7-FA0F8339896D}"/>
              </a:ext>
            </a:extLst>
          </p:cNvPr>
          <p:cNvSpPr txBox="1"/>
          <p:nvPr/>
        </p:nvSpPr>
        <p:spPr>
          <a:xfrm>
            <a:off x="985684" y="6191314"/>
            <a:ext cx="2064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b="1" i="1" u="none" strike="noStrike" dirty="0">
                <a:solidFill>
                  <a:srgbClr val="0000FF"/>
                </a:solidFill>
                <a:effectLst/>
                <a:latin typeface="Aptos Narrow" panose="020B0004020202020204" pitchFamily="34" charset="0"/>
              </a:rPr>
              <a:t>TOTAL : 25,674 (tấn)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F45F0B-B70C-5264-5BC0-BCCA08936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523" y="1827400"/>
            <a:ext cx="2787722" cy="16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744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9617D-1E9B-1CEB-8434-3A9559E98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DCDFDA4C-BCF5-DCCA-519A-B26ED76DFB59}"/>
              </a:ext>
            </a:extLst>
          </p:cNvPr>
          <p:cNvSpPr txBox="1"/>
          <p:nvPr/>
        </p:nvSpPr>
        <p:spPr>
          <a:xfrm>
            <a:off x="283662" y="1186229"/>
            <a:ext cx="1291041" cy="91940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0000FF"/>
                </a:solidFill>
                <a:latin typeface="Aptos Black" panose="020F0502020204030204" pitchFamily="34" charset="0"/>
                <a:cs typeface="Arial"/>
              </a:rPr>
              <a:t>Food Grade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968A38-470A-5764-6BEF-682491698F11}"/>
              </a:ext>
            </a:extLst>
          </p:cNvPr>
          <p:cNvGrpSpPr/>
          <p:nvPr/>
        </p:nvGrpSpPr>
        <p:grpSpPr>
          <a:xfrm>
            <a:off x="-1361662" y="-128628"/>
            <a:ext cx="11097790" cy="675488"/>
            <a:chOff x="503089" y="650434"/>
            <a:chExt cx="10412866" cy="72726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B8E07E3-AD64-8CF3-1D09-7E228432C0E7}"/>
                </a:ext>
              </a:extLst>
            </p:cNvPr>
            <p:cNvSpPr txBox="1"/>
            <p:nvPr/>
          </p:nvSpPr>
          <p:spPr>
            <a:xfrm>
              <a:off x="503089" y="650434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46AC03-E984-EDFE-0D26-9CD8101EC796}"/>
                </a:ext>
              </a:extLst>
            </p:cNvPr>
            <p:cNvSpPr txBox="1"/>
            <p:nvPr/>
          </p:nvSpPr>
          <p:spPr>
            <a:xfrm>
              <a:off x="2218276" y="2137236"/>
              <a:ext cx="8697679" cy="578579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r">
                <a:lnSpc>
                  <a:spcPct val="150000"/>
                </a:lnSpc>
                <a:defRPr/>
              </a:pPr>
              <a:r>
                <a:rPr lang="en-US" sz="2200" b="1" err="1">
                  <a:solidFill>
                    <a:srgbClr val="FF0000"/>
                  </a:solidFill>
                  <a:latin typeface="Arial"/>
                  <a:cs typeface="Arial"/>
                </a:rPr>
                <a:t>rPET</a:t>
              </a:r>
              <a:r>
                <a:rPr lang="en-US" sz="2200" b="1">
                  <a:solidFill>
                    <a:srgbClr val="0070C0"/>
                  </a:solidFill>
                  <a:latin typeface="Arial"/>
                  <a:cs typeface="Arial"/>
                </a:rPr>
                <a:t> </a:t>
              </a:r>
              <a:r>
                <a:rPr lang="en-US" sz="2200" b="1">
                  <a:solidFill>
                    <a:srgbClr val="FF0000"/>
                  </a:solidFill>
                  <a:latin typeface="Arial"/>
                  <a:cs typeface="Arial"/>
                </a:rPr>
                <a:t>–</a:t>
              </a:r>
              <a:r>
                <a:rPr lang="en-US" sz="2200" b="1">
                  <a:solidFill>
                    <a:srgbClr val="0070C0"/>
                  </a:solidFill>
                  <a:latin typeface="Arial"/>
                  <a:cs typeface="Arial"/>
                </a:rPr>
                <a:t> </a:t>
              </a:r>
              <a:r>
                <a:rPr lang="en-US" sz="2200" b="1" err="1">
                  <a:solidFill>
                    <a:srgbClr val="0070C0"/>
                  </a:solidFill>
                  <a:latin typeface="Arial"/>
                  <a:cs typeface="Arial"/>
                </a:rPr>
                <a:t>Tình</a:t>
              </a:r>
              <a:r>
                <a:rPr lang="en-US" sz="2200" b="1">
                  <a:solidFill>
                    <a:srgbClr val="0070C0"/>
                  </a:solidFill>
                  <a:latin typeface="Arial"/>
                  <a:cs typeface="Arial"/>
                </a:rPr>
                <a:t> </a:t>
              </a:r>
              <a:r>
                <a:rPr lang="en-US" sz="2200" b="1" err="1">
                  <a:solidFill>
                    <a:srgbClr val="0070C0"/>
                  </a:solidFill>
                  <a:latin typeface="Arial"/>
                  <a:cs typeface="Arial"/>
                </a:rPr>
                <a:t>trạng</a:t>
              </a:r>
              <a:r>
                <a:rPr lang="en-US" sz="2200" b="1">
                  <a:solidFill>
                    <a:srgbClr val="0070C0"/>
                  </a:solidFill>
                  <a:latin typeface="Arial"/>
                  <a:cs typeface="Arial"/>
                </a:rPr>
                <a:t> </a:t>
              </a:r>
              <a:r>
                <a:rPr lang="en-US" sz="2200" b="1" err="1">
                  <a:solidFill>
                    <a:srgbClr val="0070C0"/>
                  </a:solidFill>
                  <a:latin typeface="Arial"/>
                  <a:cs typeface="Arial"/>
                </a:rPr>
                <a:t>đơn</a:t>
              </a:r>
              <a:r>
                <a:rPr lang="en-US" sz="2200" b="1">
                  <a:solidFill>
                    <a:srgbClr val="0070C0"/>
                  </a:solidFill>
                  <a:latin typeface="Arial"/>
                  <a:cs typeface="Arial"/>
                </a:rPr>
                <a:t> </a:t>
              </a:r>
              <a:r>
                <a:rPr lang="en-US" sz="2200" b="1" err="1">
                  <a:solidFill>
                    <a:srgbClr val="0070C0"/>
                  </a:solidFill>
                  <a:latin typeface="Arial"/>
                  <a:cs typeface="Arial"/>
                </a:rPr>
                <a:t>hàng</a:t>
              </a:r>
              <a:r>
                <a:rPr lang="en-US" sz="2200" b="1">
                  <a:solidFill>
                    <a:srgbClr val="0070C0"/>
                  </a:solidFill>
                  <a:latin typeface="Arial"/>
                  <a:cs typeface="Arial"/>
                </a:rPr>
                <a:t> – </a:t>
              </a:r>
              <a:r>
                <a:rPr lang="en-US" sz="2200" b="1" err="1">
                  <a:solidFill>
                    <a:srgbClr val="0070C0"/>
                  </a:solidFill>
                  <a:latin typeface="Arial"/>
                  <a:cs typeface="Arial"/>
                </a:rPr>
                <a:t>Tháng</a:t>
              </a:r>
              <a:r>
                <a:rPr lang="en-US" sz="2200" b="1">
                  <a:solidFill>
                    <a:srgbClr val="0070C0"/>
                  </a:solidFill>
                  <a:latin typeface="Arial"/>
                  <a:cs typeface="Arial"/>
                </a:rPr>
                <a:t> 12</a:t>
              </a:r>
            </a:p>
          </p:txBody>
        </p:sp>
      </p:grpSp>
      <p:sp>
        <p:nvSpPr>
          <p:cNvPr id="12" name="Freeform 6">
            <a:extLst>
              <a:ext uri="{FF2B5EF4-FFF2-40B4-BE49-F238E27FC236}">
                <a16:creationId xmlns:a16="http://schemas.microsoft.com/office/drawing/2014/main" id="{8E9A22E9-FBE6-6B83-27A6-264CC8C48604}"/>
              </a:ext>
            </a:extLst>
          </p:cNvPr>
          <p:cNvSpPr/>
          <p:nvPr/>
        </p:nvSpPr>
        <p:spPr>
          <a:xfrm flipH="1">
            <a:off x="303635" y="1967019"/>
            <a:ext cx="1005823" cy="1046676"/>
          </a:xfrm>
          <a:custGeom>
            <a:avLst/>
            <a:gdLst/>
            <a:ahLst/>
            <a:cxnLst/>
            <a:rect l="l" t="t" r="r" b="b"/>
            <a:pathLst>
              <a:path w="2447493" h="2276168">
                <a:moveTo>
                  <a:pt x="0" y="0"/>
                </a:moveTo>
                <a:lnTo>
                  <a:pt x="2447493" y="0"/>
                </a:lnTo>
                <a:lnTo>
                  <a:pt x="2447493" y="2276168"/>
                </a:lnTo>
                <a:lnTo>
                  <a:pt x="0" y="2276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319D7C1-5F3B-3212-C359-8646E6B083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622853"/>
              </p:ext>
            </p:extLst>
          </p:nvPr>
        </p:nvGraphicFramePr>
        <p:xfrm>
          <a:off x="1677988" y="900113"/>
          <a:ext cx="9794875" cy="533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8623177" imgH="3873588" progId="Excel.Sheet.12">
                  <p:link updateAutomatic="1"/>
                </p:oleObj>
              </mc:Choice>
              <mc:Fallback>
                <p:oleObj name="Worksheet" r:id="rId5" imgW="8623177" imgH="3873588" progId="Excel.Sheet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319D7C1-5F3B-3212-C359-8646E6B083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7988" y="900113"/>
                        <a:ext cx="9794875" cy="5338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44205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13C7-C23E-3F68-DC63-A729C175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4B8EBD81-C5D7-0809-E026-F5E0A0FA6607}"/>
              </a:ext>
            </a:extLst>
          </p:cNvPr>
          <p:cNvSpPr/>
          <p:nvPr/>
        </p:nvSpPr>
        <p:spPr>
          <a:xfrm>
            <a:off x="0" y="3199185"/>
            <a:ext cx="12192000" cy="3411397"/>
          </a:xfrm>
          <a:custGeom>
            <a:avLst/>
            <a:gdLst/>
            <a:ahLst/>
            <a:cxnLst/>
            <a:rect l="l" t="t" r="r" b="b"/>
            <a:pathLst>
              <a:path w="18288000" h="6356958">
                <a:moveTo>
                  <a:pt x="0" y="0"/>
                </a:moveTo>
                <a:lnTo>
                  <a:pt x="18288000" y="0"/>
                </a:lnTo>
                <a:lnTo>
                  <a:pt x="1828800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9062" b="-12760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3" name="Group 6">
            <a:extLst>
              <a:ext uri="{FF2B5EF4-FFF2-40B4-BE49-F238E27FC236}">
                <a16:creationId xmlns:a16="http://schemas.microsoft.com/office/drawing/2014/main" id="{B4EC2240-F664-55C5-7067-96DB74C8BA0F}"/>
              </a:ext>
            </a:extLst>
          </p:cNvPr>
          <p:cNvGrpSpPr/>
          <p:nvPr/>
        </p:nvGrpSpPr>
        <p:grpSpPr>
          <a:xfrm>
            <a:off x="0" y="0"/>
            <a:ext cx="12192000" cy="6172199"/>
            <a:chOff x="0" y="0"/>
            <a:chExt cx="4948946" cy="1790302"/>
          </a:xfrm>
        </p:grpSpPr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F2C53A95-9FEF-4145-0150-9E1810076229}"/>
                </a:ext>
              </a:extLst>
            </p:cNvPr>
            <p:cNvSpPr/>
            <p:nvPr/>
          </p:nvSpPr>
          <p:spPr>
            <a:xfrm>
              <a:off x="0" y="0"/>
              <a:ext cx="4948946" cy="1790302"/>
            </a:xfrm>
            <a:custGeom>
              <a:avLst/>
              <a:gdLst/>
              <a:ahLst/>
              <a:cxnLst/>
              <a:rect l="l" t="t" r="r" b="b"/>
              <a:pathLst>
                <a:path w="4948946" h="1790302">
                  <a:moveTo>
                    <a:pt x="0" y="0"/>
                  </a:moveTo>
                  <a:lnTo>
                    <a:pt x="4948946" y="0"/>
                  </a:lnTo>
                  <a:lnTo>
                    <a:pt x="4948946" y="1790302"/>
                  </a:lnTo>
                  <a:lnTo>
                    <a:pt x="0" y="1790302"/>
                  </a:lnTo>
                  <a:close/>
                </a:path>
              </a:pathLst>
            </a:custGeom>
            <a:gradFill rotWithShape="1">
              <a:gsLst>
                <a:gs pos="0">
                  <a:srgbClr val="F4F4F4">
                    <a:alpha val="100000"/>
                  </a:srgbClr>
                </a:gs>
                <a:gs pos="50000">
                  <a:srgbClr val="FFFFFF">
                    <a:alpha val="9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8">
              <a:extLst>
                <a:ext uri="{FF2B5EF4-FFF2-40B4-BE49-F238E27FC236}">
                  <a16:creationId xmlns:a16="http://schemas.microsoft.com/office/drawing/2014/main" id="{B32CECDC-AC5D-8F90-8F2E-B88C3A7233F3}"/>
                </a:ext>
              </a:extLst>
            </p:cNvPr>
            <p:cNvSpPr txBox="1"/>
            <p:nvPr/>
          </p:nvSpPr>
          <p:spPr>
            <a:xfrm>
              <a:off x="0" y="-47625"/>
              <a:ext cx="4948946" cy="1837927"/>
            </a:xfrm>
            <a:prstGeom prst="rect">
              <a:avLst/>
            </a:prstGeom>
          </p:spPr>
          <p:txBody>
            <a:bodyPr lIns="50489" tIns="50489" rIns="50489" bIns="50489" rtlCol="0" anchor="ctr"/>
            <a:lstStyle/>
            <a:p>
              <a:pPr algn="ctr">
                <a:lnSpc>
                  <a:spcPts val="3002"/>
                </a:lnSpc>
              </a:pPr>
              <a:endParaRPr/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1803F9C7-14C2-7C69-FF3C-95674CFFAE3B}"/>
              </a:ext>
            </a:extLst>
          </p:cNvPr>
          <p:cNvSpPr/>
          <p:nvPr/>
        </p:nvSpPr>
        <p:spPr>
          <a:xfrm flipH="1">
            <a:off x="7073509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EE709B7-2F2D-55E9-6A7E-61044258A4C6}"/>
              </a:ext>
            </a:extLst>
          </p:cNvPr>
          <p:cNvSpPr/>
          <p:nvPr/>
        </p:nvSpPr>
        <p:spPr>
          <a:xfrm flipH="1">
            <a:off x="10050425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79E5DEA-3D07-38AF-2BFB-6D91C0870D93}"/>
              </a:ext>
            </a:extLst>
          </p:cNvPr>
          <p:cNvSpPr/>
          <p:nvPr/>
        </p:nvSpPr>
        <p:spPr>
          <a:xfrm>
            <a:off x="10044829" y="685801"/>
            <a:ext cx="733693" cy="1051959"/>
          </a:xfrm>
          <a:custGeom>
            <a:avLst/>
            <a:gdLst/>
            <a:ahLst/>
            <a:cxnLst/>
            <a:rect l="l" t="t" r="r" b="b"/>
            <a:pathLst>
              <a:path w="1100539" h="1577939">
                <a:moveTo>
                  <a:pt x="0" y="0"/>
                </a:moveTo>
                <a:lnTo>
                  <a:pt x="1100539" y="0"/>
                </a:lnTo>
                <a:lnTo>
                  <a:pt x="1100539" y="1577939"/>
                </a:lnTo>
                <a:lnTo>
                  <a:pt x="0" y="157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98091" r="-305744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627A2AB-A512-0A11-AF8B-542812578271}"/>
              </a:ext>
            </a:extLst>
          </p:cNvPr>
          <p:cNvSpPr txBox="1"/>
          <p:nvPr/>
        </p:nvSpPr>
        <p:spPr>
          <a:xfrm>
            <a:off x="598685" y="1308199"/>
            <a:ext cx="6909619" cy="1155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14"/>
              </a:lnSpc>
            </a:pPr>
            <a:r>
              <a:rPr lang="en-US" sz="7946" b="1" spc="238" err="1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rPET</a:t>
            </a:r>
            <a:r>
              <a:rPr lang="en-US" sz="7946" b="1" spc="238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7946" b="1" spc="238" err="1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Xơ</a:t>
            </a:r>
            <a:r>
              <a:rPr lang="en-US" sz="7946" b="1" spc="238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7946" b="1" spc="238" err="1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Sợi</a:t>
            </a:r>
            <a:endParaRPr lang="en-US" sz="7946" b="1" spc="238">
              <a:solidFill>
                <a:srgbClr val="11930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33A5B023-28FE-C908-8226-C69C6949B488}"/>
              </a:ext>
            </a:extLst>
          </p:cNvPr>
          <p:cNvSpPr/>
          <p:nvPr/>
        </p:nvSpPr>
        <p:spPr>
          <a:xfrm>
            <a:off x="297650" y="223462"/>
            <a:ext cx="1702810" cy="375232"/>
          </a:xfrm>
          <a:custGeom>
            <a:avLst/>
            <a:gdLst/>
            <a:ahLst/>
            <a:cxnLst/>
            <a:rect l="l" t="t" r="r" b="b"/>
            <a:pathLst>
              <a:path w="2508872" h="551400">
                <a:moveTo>
                  <a:pt x="0" y="0"/>
                </a:moveTo>
                <a:lnTo>
                  <a:pt x="2508871" y="0"/>
                </a:lnTo>
                <a:lnTo>
                  <a:pt x="2508871" y="551400"/>
                </a:lnTo>
                <a:lnTo>
                  <a:pt x="0" y="551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04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B9E90-DED9-784C-F11E-3BA5937A1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074FC5-9A11-902F-0B84-EFB218A6B5F6}"/>
              </a:ext>
            </a:extLst>
          </p:cNvPr>
          <p:cNvSpPr txBox="1"/>
          <p:nvPr/>
        </p:nvSpPr>
        <p:spPr>
          <a:xfrm>
            <a:off x="9059151" y="701255"/>
            <a:ext cx="2891560" cy="30777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400">
                <a:solidFill>
                  <a:srgbClr val="0000FF"/>
                </a:solidFill>
                <a:sym typeface="Wingdings" panose="05000000000000000000" pitchFamily="2" charset="2"/>
              </a:rPr>
              <a:t>-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CD867A-5C4E-E309-7D0B-A5D7F6A06223}"/>
              </a:ext>
            </a:extLst>
          </p:cNvPr>
          <p:cNvSpPr/>
          <p:nvPr/>
        </p:nvSpPr>
        <p:spPr>
          <a:xfrm>
            <a:off x="8096250" y="465138"/>
            <a:ext cx="3854461" cy="6038849"/>
          </a:xfrm>
          <a:prstGeom prst="roundRect">
            <a:avLst>
              <a:gd name="adj" fmla="val 568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r>
              <a:rPr lang="vi-VN" sz="1600" b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Thông tin: </a:t>
            </a:r>
            <a:endParaRPr lang="en-US" sz="1600" b="1">
              <a:solidFill>
                <a:srgbClr val="0000FF"/>
              </a:solidFill>
              <a:latin typeface="Times New Roman"/>
              <a:ea typeface="Calibri"/>
              <a:cs typeface="Times New Roman"/>
            </a:endParaRPr>
          </a:p>
          <a:p>
            <a:endParaRPr lang="en-US" sz="1400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1400" b="1" u="sng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Đơn</a:t>
            </a:r>
            <a:r>
              <a:rPr lang="en-US" sz="1400" b="1" u="sng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b="1" u="sng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tháng</a:t>
            </a:r>
            <a:r>
              <a:rPr lang="en-US" sz="1400" b="1" u="sng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12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:</a:t>
            </a:r>
            <a:endParaRPr lang="en-US" sz="1400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Calibri Light" panose="020F0302020204030204"/>
              <a:buAutoNum type="arabicPeriod"/>
            </a:pPr>
            <a:endParaRPr lang="en-US" sz="1400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1.  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Plantech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/ An Thái :</a:t>
            </a:r>
            <a:r>
              <a:rPr lang="en-US" sz="1400" b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Plantech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đặt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11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tấn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WSS04SD ,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giá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 $945/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tấn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EXW (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cao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hơn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vPET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24%)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để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thử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mẫu.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giao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hàng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5/12  =&gt; 22/12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thử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mẫu - follow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kết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quả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test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hạt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, chuẩn bị ready 10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tấn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(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trong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30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tấn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đã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có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PO)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khi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khách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hàng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cần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chạy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 test </a:t>
            </a:r>
            <a:r>
              <a:rPr lang="en-US" sz="14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thêm</a:t>
            </a:r>
            <a: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..</a:t>
            </a:r>
            <a:br>
              <a:rPr lang="en-US" sz="14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</a:br>
            <a:endParaRPr lang="en-US" sz="1400">
              <a:solidFill>
                <a:srgbClr val="0000FF"/>
              </a:solidFill>
              <a:highlight>
                <a:srgbClr val="FFFF00"/>
              </a:highlight>
              <a:latin typeface="Times New Roman"/>
              <a:ea typeface="Calibri"/>
              <a:cs typeface="Times New Roman"/>
            </a:endParaRPr>
          </a:p>
          <a:p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2. Quang Chi Bảo: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Đã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mua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66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tấn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WSS04SD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hàng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tồn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trên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450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ngày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endParaRPr lang="en-US" sz="1400">
              <a:solidFill>
                <a:srgbClr val="0000FF"/>
              </a:solidFill>
              <a:latin typeface="Times New Roman"/>
              <a:ea typeface="Calibri"/>
              <a:cs typeface="Times New Roman"/>
            </a:endParaRPr>
          </a:p>
          <a:p>
            <a:endParaRPr lang="en-US">
              <a:highlight>
                <a:srgbClr val="FFFF00"/>
              </a:highlight>
              <a:ea typeface="Calibri" panose="020F0502020204030204"/>
              <a:cs typeface="Calibri" panose="020F0502020204030204"/>
            </a:endParaRPr>
          </a:p>
          <a:p>
            <a:br>
              <a:rPr lang="en-US" sz="1400" i="1">
                <a:ea typeface="Calibri"/>
                <a:cs typeface="Calibri"/>
              </a:rPr>
            </a:br>
            <a:endParaRPr lang="en-US" sz="1600" i="1">
              <a:solidFill>
                <a:srgbClr val="0000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sz="1600" i="1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1400">
              <a:solidFill>
                <a:srgbClr val="0000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sz="1400" i="1">
              <a:solidFill>
                <a:srgbClr val="0000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sz="1400" i="1">
              <a:solidFill>
                <a:srgbClr val="0000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sz="1400" i="1">
              <a:solidFill>
                <a:srgbClr val="0000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vi-VN" sz="1400" i="1">
              <a:solidFill>
                <a:srgbClr val="0000FF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D57722-4ED6-77FF-CAEA-DFCA3D8AFE20}"/>
              </a:ext>
            </a:extLst>
          </p:cNvPr>
          <p:cNvSpPr txBox="1"/>
          <p:nvPr/>
        </p:nvSpPr>
        <p:spPr>
          <a:xfrm>
            <a:off x="2978800" y="0"/>
            <a:ext cx="6377067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rPET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lang="en-US" sz="2000" b="1" err="1">
                <a:solidFill>
                  <a:srgbClr val="FF0000"/>
                </a:solidFill>
                <a:latin typeface="Arial"/>
                <a:cs typeface="Arial"/>
              </a:rPr>
              <a:t>Xơ</a:t>
            </a:r>
            <a:r>
              <a:rPr lang="en-US" sz="20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000" b="1" err="1">
                <a:solidFill>
                  <a:srgbClr val="FF0000"/>
                </a:solidFill>
                <a:latin typeface="Arial"/>
                <a:cs typeface="Arial"/>
              </a:rPr>
              <a:t>Sợi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– </a:t>
            </a:r>
            <a:r>
              <a:rPr lang="en-US" sz="2000" b="1" kern="1200">
                <a:solidFill>
                  <a:srgbClr val="0070C0"/>
                </a:solidFill>
                <a:effectLst/>
                <a:latin typeface="Arial"/>
                <a:cs typeface="Arial"/>
              </a:rPr>
              <a:t>KẾT QUẢ </a:t>
            </a:r>
            <a:r>
              <a:rPr lang="en-US" sz="2000" b="1">
                <a:solidFill>
                  <a:srgbClr val="0070C0"/>
                </a:solidFill>
                <a:latin typeface="Arial"/>
                <a:cs typeface="Arial"/>
              </a:rPr>
              <a:t>BÁN HÀNG T12 so </a:t>
            </a:r>
            <a:r>
              <a:rPr lang="en-US" sz="2000" b="1" err="1">
                <a:solidFill>
                  <a:srgbClr val="0070C0"/>
                </a:solidFill>
                <a:latin typeface="Arial"/>
                <a:cs typeface="Arial"/>
              </a:rPr>
              <a:t>với</a:t>
            </a:r>
            <a:r>
              <a:rPr lang="en-US" sz="2000" b="1">
                <a:solidFill>
                  <a:srgbClr val="0070C0"/>
                </a:solidFill>
                <a:latin typeface="Arial"/>
                <a:cs typeface="Arial"/>
              </a:rPr>
              <a:t> KPI</a:t>
            </a:r>
            <a:endParaRPr kumimoji="0" lang="vi-VN" sz="20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E19729F-F5D6-E9AC-7272-DD2AE6DAFF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954762"/>
              </p:ext>
            </p:extLst>
          </p:nvPr>
        </p:nvGraphicFramePr>
        <p:xfrm>
          <a:off x="0" y="400050"/>
          <a:ext cx="8096250" cy="302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439270" imgH="2597369" progId="Excel.Sheet.12">
                  <p:link updateAutomatic="1"/>
                </p:oleObj>
              </mc:Choice>
              <mc:Fallback>
                <p:oleObj name="Worksheet" r:id="rId3" imgW="6439270" imgH="2597369" progId="Excel.Sheet.12">
                  <p:link updateAutomatic="1"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DE19729F-F5D6-E9AC-7272-DD2AE6DAFF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400050"/>
                        <a:ext cx="8096250" cy="302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8879415-C482-B82A-2D16-AAF5A43F93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392167"/>
              </p:ext>
            </p:extLst>
          </p:nvPr>
        </p:nvGraphicFramePr>
        <p:xfrm>
          <a:off x="0" y="3429000"/>
          <a:ext cx="8096250" cy="314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6445583" imgH="2775125" progId="Excel.Sheet.12">
                  <p:link updateAutomatic="1"/>
                </p:oleObj>
              </mc:Choice>
              <mc:Fallback>
                <p:oleObj name="Worksheet" r:id="rId5" imgW="6445583" imgH="2775125" progId="Excel.Sheet.12">
                  <p:link updateAutomatic="1"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58879415-C482-B82A-2D16-AAF5A43F9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3429000"/>
                        <a:ext cx="8096250" cy="314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42059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51AE4-ED1E-C283-6F14-98C262EAC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B0BFF54-79ED-C7AD-94A1-B49CEF927579}"/>
              </a:ext>
            </a:extLst>
          </p:cNvPr>
          <p:cNvGrpSpPr/>
          <p:nvPr/>
        </p:nvGrpSpPr>
        <p:grpSpPr>
          <a:xfrm>
            <a:off x="2607783" y="114998"/>
            <a:ext cx="7817346" cy="998916"/>
            <a:chOff x="-2249661" y="650434"/>
            <a:chExt cx="8621581" cy="257579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E214907-3BEF-478D-4392-179BE6F48F4E}"/>
                </a:ext>
              </a:extLst>
            </p:cNvPr>
            <p:cNvSpPr txBox="1"/>
            <p:nvPr/>
          </p:nvSpPr>
          <p:spPr>
            <a:xfrm>
              <a:off x="503089" y="650434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4F3E63-A977-A92C-EA93-79D22294F60C}"/>
                </a:ext>
              </a:extLst>
            </p:cNvPr>
            <p:cNvSpPr txBox="1"/>
            <p:nvPr/>
          </p:nvSpPr>
          <p:spPr>
            <a:xfrm>
              <a:off x="-2249661" y="1736189"/>
              <a:ext cx="8621581" cy="149003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en-US" sz="2400" b="1" err="1">
                  <a:solidFill>
                    <a:srgbClr val="FF0000"/>
                  </a:solidFill>
                  <a:latin typeface="Arial"/>
                  <a:cs typeface="Arial"/>
                </a:rPr>
                <a:t>rPET</a:t>
              </a:r>
              <a:r>
                <a:rPr lang="en-US" sz="2400" b="1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lang="en-US" sz="2400" b="1" err="1">
                  <a:solidFill>
                    <a:srgbClr val="FF0000"/>
                  </a:solidFill>
                  <a:latin typeface="Arial"/>
                  <a:cs typeface="Arial"/>
                </a:rPr>
                <a:t>Xơ</a:t>
              </a:r>
              <a:r>
                <a:rPr lang="en-US" sz="2400" b="1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lang="en-US" sz="2400" b="1" err="1">
                  <a:solidFill>
                    <a:srgbClr val="FF0000"/>
                  </a:solidFill>
                  <a:latin typeface="Arial"/>
                  <a:cs typeface="Arial"/>
                </a:rPr>
                <a:t>Sợi</a:t>
              </a:r>
              <a:r>
                <a:rPr lang="en-US" sz="2400" b="1">
                  <a:solidFill>
                    <a:srgbClr val="0070C0"/>
                  </a:solidFill>
                  <a:latin typeface="Arial"/>
                  <a:cs typeface="Arial"/>
                </a:rPr>
                <a:t> </a:t>
              </a:r>
              <a:r>
                <a:rPr lang="en-US" sz="2400" b="1">
                  <a:solidFill>
                    <a:srgbClr val="FF0000"/>
                  </a:solidFill>
                  <a:latin typeface="Arial"/>
                  <a:cs typeface="Arial"/>
                </a:rPr>
                <a:t>–</a:t>
              </a:r>
              <a:r>
                <a:rPr lang="en-US" sz="2400" b="1">
                  <a:solidFill>
                    <a:srgbClr val="0070C0"/>
                  </a:solidFill>
                  <a:latin typeface="Arial"/>
                  <a:cs typeface="Arial"/>
                </a:rPr>
                <a:t> TÌNH TRẠNG ĐƠN HÀNG – </a:t>
              </a:r>
              <a:r>
                <a:rPr lang="en-US" sz="2400" b="1" err="1">
                  <a:solidFill>
                    <a:srgbClr val="0070C0"/>
                  </a:solidFill>
                  <a:latin typeface="Arial"/>
                  <a:cs typeface="Arial"/>
                </a:rPr>
                <a:t>Tháng</a:t>
              </a:r>
              <a:r>
                <a:rPr lang="en-US" sz="2400" b="1">
                  <a:solidFill>
                    <a:srgbClr val="0070C0"/>
                  </a:solidFill>
                  <a:latin typeface="Arial"/>
                  <a:cs typeface="Arial"/>
                </a:rPr>
                <a:t> 12</a:t>
              </a:r>
              <a:endParaRPr lang="en-US" sz="3600" b="1">
                <a:solidFill>
                  <a:srgbClr val="0070C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9" name="TextBox 7">
            <a:extLst>
              <a:ext uri="{FF2B5EF4-FFF2-40B4-BE49-F238E27FC236}">
                <a16:creationId xmlns:a16="http://schemas.microsoft.com/office/drawing/2014/main" id="{28291F11-C659-0FDF-37E2-97E5F3D8E4ED}"/>
              </a:ext>
            </a:extLst>
          </p:cNvPr>
          <p:cNvSpPr txBox="1"/>
          <p:nvPr/>
        </p:nvSpPr>
        <p:spPr>
          <a:xfrm>
            <a:off x="1331154" y="1960039"/>
            <a:ext cx="1708542" cy="132802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en-US" sz="3600" b="1" err="1">
                <a:solidFill>
                  <a:srgbClr val="0000FF"/>
                </a:solidFill>
                <a:latin typeface="Aptos Black" panose="020F0502020204030204" pitchFamily="34" charset="0"/>
                <a:cs typeface="Arial"/>
              </a:rPr>
              <a:t>Xơ</a:t>
            </a:r>
            <a:r>
              <a:rPr lang="en-US" sz="3600" b="1">
                <a:solidFill>
                  <a:srgbClr val="0000FF"/>
                </a:solidFill>
                <a:latin typeface="Aptos Black" panose="020F0502020204030204" pitchFamily="34" charset="0"/>
                <a:cs typeface="Arial"/>
              </a:rPr>
              <a:t> </a:t>
            </a:r>
            <a:r>
              <a:rPr lang="en-US" sz="3600" b="1" err="1">
                <a:solidFill>
                  <a:srgbClr val="0000FF"/>
                </a:solidFill>
                <a:latin typeface="Aptos Black" panose="020F0502020204030204" pitchFamily="34" charset="0"/>
                <a:cs typeface="Arial"/>
              </a:rPr>
              <a:t>Sợi</a:t>
            </a:r>
            <a:endParaRPr lang="en-US" sz="3600" b="1">
              <a:solidFill>
                <a:srgbClr val="0000FF"/>
              </a:solidFill>
              <a:latin typeface="Aptos Black" panose="020F0502020204030204" pitchFamily="34" charset="0"/>
              <a:cs typeface="Arial"/>
            </a:endParaRPr>
          </a:p>
          <a:p>
            <a:pPr algn="ctr">
              <a:defRPr/>
            </a:pPr>
            <a:endParaRPr kumimoji="0" lang="en-US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cs typeface="Arial"/>
            </a:endParaRPr>
          </a:p>
          <a:p>
            <a:pPr algn="ctr">
              <a:defRPr/>
            </a:pPr>
            <a:endParaRPr kumimoji="0" lang="vi-VN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F2358EE4-831A-2A41-FAFC-1B5F913CB9BB}"/>
              </a:ext>
            </a:extLst>
          </p:cNvPr>
          <p:cNvSpPr/>
          <p:nvPr/>
        </p:nvSpPr>
        <p:spPr>
          <a:xfrm flipH="1">
            <a:off x="899244" y="2763883"/>
            <a:ext cx="863820" cy="872034"/>
          </a:xfrm>
          <a:custGeom>
            <a:avLst/>
            <a:gdLst/>
            <a:ahLst/>
            <a:cxnLst/>
            <a:rect l="l" t="t" r="r" b="b"/>
            <a:pathLst>
              <a:path w="3171349" h="2671862">
                <a:moveTo>
                  <a:pt x="0" y="0"/>
                </a:moveTo>
                <a:lnTo>
                  <a:pt x="3171350" y="0"/>
                </a:lnTo>
                <a:lnTo>
                  <a:pt x="3171350" y="2671862"/>
                </a:lnTo>
                <a:lnTo>
                  <a:pt x="0" y="26718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D1A175EF-762F-39A2-B408-CF8AB6029ED1}"/>
              </a:ext>
            </a:extLst>
          </p:cNvPr>
          <p:cNvSpPr/>
          <p:nvPr/>
        </p:nvSpPr>
        <p:spPr>
          <a:xfrm>
            <a:off x="1135528" y="2967781"/>
            <a:ext cx="863820" cy="773160"/>
          </a:xfrm>
          <a:custGeom>
            <a:avLst/>
            <a:gdLst/>
            <a:ahLst/>
            <a:cxnLst/>
            <a:rect l="l" t="t" r="r" b="b"/>
            <a:pathLst>
              <a:path w="2335087" h="2477546">
                <a:moveTo>
                  <a:pt x="0" y="0"/>
                </a:moveTo>
                <a:lnTo>
                  <a:pt x="2335087" y="0"/>
                </a:lnTo>
                <a:lnTo>
                  <a:pt x="2335087" y="2477546"/>
                </a:lnTo>
                <a:lnTo>
                  <a:pt x="0" y="24775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907CF08-E089-B783-726B-2B073E00AF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731518"/>
              </p:ext>
            </p:extLst>
          </p:nvPr>
        </p:nvGraphicFramePr>
        <p:xfrm>
          <a:off x="3039696" y="1713206"/>
          <a:ext cx="8380412" cy="297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6762812" imgH="1295531" progId="Excel.Sheet.12">
                  <p:link updateAutomatic="1"/>
                </p:oleObj>
              </mc:Choice>
              <mc:Fallback>
                <p:oleObj name="Worksheet" r:id="rId7" imgW="6762812" imgH="1295531" progId="Excel.Sheet.12">
                  <p:link updateAutomatic="1"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907CF08-E089-B783-726B-2B073E00AF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39696" y="1713206"/>
                        <a:ext cx="8380412" cy="2973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10607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C84FD-BBA2-893D-B502-76D6F501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4EFE5470-DACE-B419-1269-C58F7F871D21}"/>
              </a:ext>
            </a:extLst>
          </p:cNvPr>
          <p:cNvSpPr/>
          <p:nvPr/>
        </p:nvSpPr>
        <p:spPr>
          <a:xfrm>
            <a:off x="0" y="3199185"/>
            <a:ext cx="12192000" cy="3411397"/>
          </a:xfrm>
          <a:custGeom>
            <a:avLst/>
            <a:gdLst/>
            <a:ahLst/>
            <a:cxnLst/>
            <a:rect l="l" t="t" r="r" b="b"/>
            <a:pathLst>
              <a:path w="18288000" h="6356958">
                <a:moveTo>
                  <a:pt x="0" y="0"/>
                </a:moveTo>
                <a:lnTo>
                  <a:pt x="18288000" y="0"/>
                </a:lnTo>
                <a:lnTo>
                  <a:pt x="1828800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49062" b="-12760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8" name="Group 6">
            <a:extLst>
              <a:ext uri="{FF2B5EF4-FFF2-40B4-BE49-F238E27FC236}">
                <a16:creationId xmlns:a16="http://schemas.microsoft.com/office/drawing/2014/main" id="{A58274BB-6C18-2B3B-49F6-CE05F8CA1A1B}"/>
              </a:ext>
            </a:extLst>
          </p:cNvPr>
          <p:cNvGrpSpPr/>
          <p:nvPr/>
        </p:nvGrpSpPr>
        <p:grpSpPr>
          <a:xfrm>
            <a:off x="0" y="0"/>
            <a:ext cx="12192000" cy="6172199"/>
            <a:chOff x="0" y="0"/>
            <a:chExt cx="4948946" cy="1790302"/>
          </a:xfrm>
        </p:grpSpPr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E78B90EB-EFF9-0D1A-87F7-0C4E5C1901DD}"/>
                </a:ext>
              </a:extLst>
            </p:cNvPr>
            <p:cNvSpPr/>
            <p:nvPr/>
          </p:nvSpPr>
          <p:spPr>
            <a:xfrm>
              <a:off x="0" y="0"/>
              <a:ext cx="4948946" cy="1790302"/>
            </a:xfrm>
            <a:custGeom>
              <a:avLst/>
              <a:gdLst/>
              <a:ahLst/>
              <a:cxnLst/>
              <a:rect l="l" t="t" r="r" b="b"/>
              <a:pathLst>
                <a:path w="4948946" h="1790302">
                  <a:moveTo>
                    <a:pt x="0" y="0"/>
                  </a:moveTo>
                  <a:lnTo>
                    <a:pt x="4948946" y="0"/>
                  </a:lnTo>
                  <a:lnTo>
                    <a:pt x="4948946" y="1790302"/>
                  </a:lnTo>
                  <a:lnTo>
                    <a:pt x="0" y="1790302"/>
                  </a:lnTo>
                  <a:close/>
                </a:path>
              </a:pathLst>
            </a:custGeom>
            <a:gradFill rotWithShape="1">
              <a:gsLst>
                <a:gs pos="0">
                  <a:srgbClr val="F4F4F4">
                    <a:alpha val="100000"/>
                  </a:srgbClr>
                </a:gs>
                <a:gs pos="50000">
                  <a:srgbClr val="FFFFFF">
                    <a:alpha val="9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8">
              <a:extLst>
                <a:ext uri="{FF2B5EF4-FFF2-40B4-BE49-F238E27FC236}">
                  <a16:creationId xmlns:a16="http://schemas.microsoft.com/office/drawing/2014/main" id="{7454C639-C549-9CF1-4F93-D31478A74389}"/>
                </a:ext>
              </a:extLst>
            </p:cNvPr>
            <p:cNvSpPr txBox="1"/>
            <p:nvPr/>
          </p:nvSpPr>
          <p:spPr>
            <a:xfrm>
              <a:off x="0" y="-47625"/>
              <a:ext cx="4948946" cy="1837927"/>
            </a:xfrm>
            <a:prstGeom prst="rect">
              <a:avLst/>
            </a:prstGeom>
          </p:spPr>
          <p:txBody>
            <a:bodyPr lIns="50489" tIns="50489" rIns="50489" bIns="50489" rtlCol="0" anchor="ctr"/>
            <a:lstStyle/>
            <a:p>
              <a:pPr algn="ctr">
                <a:lnSpc>
                  <a:spcPts val="3002"/>
                </a:lnSpc>
              </a:pPr>
              <a:endParaRPr/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D4D4A1BB-A796-6AE9-E28E-DD61C23CEDDC}"/>
              </a:ext>
            </a:extLst>
          </p:cNvPr>
          <p:cNvSpPr/>
          <p:nvPr/>
        </p:nvSpPr>
        <p:spPr>
          <a:xfrm flipH="1">
            <a:off x="7073509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97E3FAE-3AEF-26D5-A103-6D6FE3CF09DE}"/>
              </a:ext>
            </a:extLst>
          </p:cNvPr>
          <p:cNvSpPr/>
          <p:nvPr/>
        </p:nvSpPr>
        <p:spPr>
          <a:xfrm flipH="1">
            <a:off x="10050425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0FE497F-BBDB-D8DE-71E7-B9697A89013A}"/>
              </a:ext>
            </a:extLst>
          </p:cNvPr>
          <p:cNvSpPr/>
          <p:nvPr/>
        </p:nvSpPr>
        <p:spPr>
          <a:xfrm>
            <a:off x="10044829" y="685801"/>
            <a:ext cx="733693" cy="1051959"/>
          </a:xfrm>
          <a:custGeom>
            <a:avLst/>
            <a:gdLst/>
            <a:ahLst/>
            <a:cxnLst/>
            <a:rect l="l" t="t" r="r" b="b"/>
            <a:pathLst>
              <a:path w="1100539" h="1577939">
                <a:moveTo>
                  <a:pt x="0" y="0"/>
                </a:moveTo>
                <a:lnTo>
                  <a:pt x="1100539" y="0"/>
                </a:lnTo>
                <a:lnTo>
                  <a:pt x="1100539" y="1577939"/>
                </a:lnTo>
                <a:lnTo>
                  <a:pt x="0" y="157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98091" r="-305744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7A05046-D7BC-142E-B272-46A3C5BAE8F9}"/>
              </a:ext>
            </a:extLst>
          </p:cNvPr>
          <p:cNvSpPr txBox="1"/>
          <p:nvPr/>
        </p:nvSpPr>
        <p:spPr>
          <a:xfrm>
            <a:off x="-835341" y="1211780"/>
            <a:ext cx="6909619" cy="120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14"/>
              </a:lnSpc>
            </a:pPr>
            <a:r>
              <a:rPr lang="en-US" sz="7946" b="1" spc="238" err="1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rHDPE</a:t>
            </a:r>
            <a:r>
              <a:rPr lang="en-US" sz="7946" b="1" spc="238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394CBFC3-7A3A-6624-FEF4-C7F5E9FC7E12}"/>
              </a:ext>
            </a:extLst>
          </p:cNvPr>
          <p:cNvSpPr/>
          <p:nvPr/>
        </p:nvSpPr>
        <p:spPr>
          <a:xfrm>
            <a:off x="297650" y="223462"/>
            <a:ext cx="1702810" cy="375232"/>
          </a:xfrm>
          <a:custGeom>
            <a:avLst/>
            <a:gdLst/>
            <a:ahLst/>
            <a:cxnLst/>
            <a:rect l="l" t="t" r="r" b="b"/>
            <a:pathLst>
              <a:path w="2508872" h="551400">
                <a:moveTo>
                  <a:pt x="0" y="0"/>
                </a:moveTo>
                <a:lnTo>
                  <a:pt x="2508871" y="0"/>
                </a:lnTo>
                <a:lnTo>
                  <a:pt x="2508871" y="551400"/>
                </a:lnTo>
                <a:lnTo>
                  <a:pt x="0" y="551400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33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DEEE9C0-D4DE-BDFA-D7DD-44903300BD2D}"/>
              </a:ext>
            </a:extLst>
          </p:cNvPr>
          <p:cNvGrpSpPr/>
          <p:nvPr/>
        </p:nvGrpSpPr>
        <p:grpSpPr>
          <a:xfrm>
            <a:off x="3644104" y="-10457"/>
            <a:ext cx="6922088" cy="553780"/>
            <a:chOff x="164631" y="465986"/>
            <a:chExt cx="6922088" cy="55378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ADA19FA-1439-B38C-45BA-548B03B2564D}"/>
                </a:ext>
              </a:extLst>
            </p:cNvPr>
            <p:cNvSpPr txBox="1"/>
            <p:nvPr/>
          </p:nvSpPr>
          <p:spPr>
            <a:xfrm>
              <a:off x="503089" y="650434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1BCFA9-D728-4A9A-D323-4A4CC17552A2}"/>
                </a:ext>
              </a:extLst>
            </p:cNvPr>
            <p:cNvSpPr txBox="1"/>
            <p:nvPr/>
          </p:nvSpPr>
          <p:spPr>
            <a:xfrm>
              <a:off x="164631" y="465986"/>
              <a:ext cx="69220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000" b="1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rHDPE</a:t>
              </a:r>
              <a:r>
                <a:rPr lang="en-US" sz="2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thổi</a:t>
              </a:r>
              <a:r>
                <a:rPr lang="en-US" sz="2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&amp; </a:t>
              </a:r>
              <a:r>
                <a:rPr lang="en-US" sz="2000" b="1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ép</a:t>
              </a: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- </a:t>
              </a:r>
              <a:r>
                <a:rPr lang="en-US" sz="2000" b="1" kern="1200">
                  <a:solidFill>
                    <a:srgbClr val="0070C0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KẾT QUẢ 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BÁN HÀNG T12 so </a:t>
              </a:r>
              <a:r>
                <a:rPr lang="en-US" sz="2000" b="1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với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KPI </a:t>
              </a:r>
              <a:endParaRPr lang="vi-VN" sz="2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F267545-3FFB-F9B9-EF7B-0B9FA9F841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891056"/>
              </p:ext>
            </p:extLst>
          </p:nvPr>
        </p:nvGraphicFramePr>
        <p:xfrm>
          <a:off x="0" y="388938"/>
          <a:ext cx="12192000" cy="307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439270" imgH="2597369" progId="Excel.Sheet.12">
                  <p:link updateAutomatic="1"/>
                </p:oleObj>
              </mc:Choice>
              <mc:Fallback>
                <p:oleObj name="Worksheet" r:id="rId3" imgW="6439270" imgH="2597369" progId="Excel.Sheet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AF267545-3FFB-F9B9-EF7B-0B9FA9F841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388938"/>
                        <a:ext cx="12192000" cy="307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6762C59-7641-F5C6-38AD-FB30FD3140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373238"/>
              </p:ext>
            </p:extLst>
          </p:nvPr>
        </p:nvGraphicFramePr>
        <p:xfrm>
          <a:off x="0" y="3468688"/>
          <a:ext cx="12193588" cy="307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6439270" imgH="2425919" progId="Excel.Sheet.12">
                  <p:link updateAutomatic="1"/>
                </p:oleObj>
              </mc:Choice>
              <mc:Fallback>
                <p:oleObj name="Worksheet" r:id="rId5" imgW="6439270" imgH="2425919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6762C59-7641-F5C6-38AD-FB30FD3140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3468688"/>
                        <a:ext cx="12193588" cy="3078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7242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4371-5526-2004-AACA-5E8BED9C5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5EABD6AE-FA17-82C2-2EAB-2346CC36165E}"/>
              </a:ext>
            </a:extLst>
          </p:cNvPr>
          <p:cNvSpPr/>
          <p:nvPr/>
        </p:nvSpPr>
        <p:spPr>
          <a:xfrm>
            <a:off x="0" y="3199185"/>
            <a:ext cx="12192000" cy="3411397"/>
          </a:xfrm>
          <a:custGeom>
            <a:avLst/>
            <a:gdLst/>
            <a:ahLst/>
            <a:cxnLst/>
            <a:rect l="l" t="t" r="r" b="b"/>
            <a:pathLst>
              <a:path w="18288000" h="6356958">
                <a:moveTo>
                  <a:pt x="0" y="0"/>
                </a:moveTo>
                <a:lnTo>
                  <a:pt x="18288000" y="0"/>
                </a:lnTo>
                <a:lnTo>
                  <a:pt x="1828800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49062" b="-12760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85FDE9D3-03F9-175B-F812-AD8DBB938A75}"/>
              </a:ext>
            </a:extLst>
          </p:cNvPr>
          <p:cNvSpPr/>
          <p:nvPr/>
        </p:nvSpPr>
        <p:spPr>
          <a:xfrm flipH="1">
            <a:off x="7073509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D6A761F-4FC2-9000-D48A-33292D782090}"/>
              </a:ext>
            </a:extLst>
          </p:cNvPr>
          <p:cNvSpPr/>
          <p:nvPr/>
        </p:nvSpPr>
        <p:spPr>
          <a:xfrm flipH="1">
            <a:off x="10050425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E77DA40-4BD0-0614-CF27-EA2573A51FFF}"/>
              </a:ext>
            </a:extLst>
          </p:cNvPr>
          <p:cNvSpPr/>
          <p:nvPr/>
        </p:nvSpPr>
        <p:spPr>
          <a:xfrm>
            <a:off x="10044829" y="685801"/>
            <a:ext cx="733693" cy="1051959"/>
          </a:xfrm>
          <a:custGeom>
            <a:avLst/>
            <a:gdLst/>
            <a:ahLst/>
            <a:cxnLst/>
            <a:rect l="l" t="t" r="r" b="b"/>
            <a:pathLst>
              <a:path w="1100539" h="1577939">
                <a:moveTo>
                  <a:pt x="0" y="0"/>
                </a:moveTo>
                <a:lnTo>
                  <a:pt x="1100539" y="0"/>
                </a:lnTo>
                <a:lnTo>
                  <a:pt x="1100539" y="1577939"/>
                </a:lnTo>
                <a:lnTo>
                  <a:pt x="0" y="157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98091" r="-305744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59137AF-3596-E394-B509-D680E9FAD766}"/>
              </a:ext>
            </a:extLst>
          </p:cNvPr>
          <p:cNvSpPr txBox="1"/>
          <p:nvPr/>
        </p:nvSpPr>
        <p:spPr>
          <a:xfrm>
            <a:off x="494299" y="977836"/>
            <a:ext cx="6909619" cy="1155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14"/>
              </a:lnSpc>
            </a:pPr>
            <a:r>
              <a:rPr lang="en-US" sz="7946" b="1" spc="238" err="1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rHDPE</a:t>
            </a:r>
            <a:r>
              <a:rPr lang="en-US" sz="7946" b="1" spc="238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7946" b="1" spc="238" err="1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Thổi</a:t>
            </a:r>
            <a:endParaRPr lang="en-US" sz="7946" b="1" spc="238">
              <a:solidFill>
                <a:srgbClr val="11930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2704245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0470B-F49E-D908-307C-0CFED904E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20CA0D7-8797-7D28-F80E-04F24C874CBD}"/>
              </a:ext>
            </a:extLst>
          </p:cNvPr>
          <p:cNvGrpSpPr/>
          <p:nvPr/>
        </p:nvGrpSpPr>
        <p:grpSpPr>
          <a:xfrm>
            <a:off x="2258761" y="-9525"/>
            <a:ext cx="6367449" cy="584776"/>
            <a:chOff x="-1220712" y="434990"/>
            <a:chExt cx="6367449" cy="58477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DC27FE8-E36F-B9A7-8F06-7949105529BB}"/>
                </a:ext>
              </a:extLst>
            </p:cNvPr>
            <p:cNvSpPr txBox="1"/>
            <p:nvPr/>
          </p:nvSpPr>
          <p:spPr>
            <a:xfrm>
              <a:off x="503089" y="650434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B3B7E75-4854-FA85-BD02-0466D909C88F}"/>
                </a:ext>
              </a:extLst>
            </p:cNvPr>
            <p:cNvSpPr txBox="1"/>
            <p:nvPr/>
          </p:nvSpPr>
          <p:spPr>
            <a:xfrm>
              <a:off x="-1220712" y="434990"/>
              <a:ext cx="63674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000" b="1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rHDPE</a:t>
              </a:r>
              <a:r>
                <a:rPr lang="vi-VN" sz="2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Thổi</a:t>
              </a: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- </a:t>
              </a:r>
              <a:r>
                <a:rPr lang="en-US" sz="2000" b="1" kern="1200">
                  <a:solidFill>
                    <a:srgbClr val="0070C0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KẾT QUẢ 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BÁN HÀNG T12 so </a:t>
              </a:r>
              <a:r>
                <a:rPr lang="en-US" sz="2000" b="1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với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KPI </a:t>
              </a:r>
              <a:endParaRPr lang="vi-VN" sz="2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2FD189B-19EB-949B-19F0-82CEE5C4163B}"/>
              </a:ext>
            </a:extLst>
          </p:cNvPr>
          <p:cNvSpPr/>
          <p:nvPr/>
        </p:nvSpPr>
        <p:spPr>
          <a:xfrm>
            <a:off x="5724525" y="440440"/>
            <a:ext cx="6462698" cy="5987729"/>
          </a:xfrm>
          <a:prstGeom prst="roundRect">
            <a:avLst>
              <a:gd name="adj" fmla="val 204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r>
              <a:rPr lang="vi-VN" sz="1100" b="1" u="sng">
                <a:solidFill>
                  <a:srgbClr val="119303"/>
                </a:solidFill>
                <a:latin typeface="Times New Roman"/>
                <a:cs typeface="Times New Roman"/>
              </a:rPr>
              <a:t>C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ác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đơn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từ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khách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hàng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giao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dịch</a:t>
            </a:r>
            <a:r>
              <a:rPr lang="vi-VN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trong tháng 12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:</a:t>
            </a:r>
            <a:endParaRPr lang="en-US"/>
          </a:p>
          <a:p>
            <a:pPr marL="171450" indent="-171450">
              <a:buFont typeface="+mj-lt"/>
              <a:buAutoNum type="arabicPeriod"/>
            </a:pP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Unilever: </a:t>
            </a:r>
            <a:r>
              <a:rPr lang="en-US" sz="1100" b="1" err="1">
                <a:solidFill>
                  <a:srgbClr val="0000FF"/>
                </a:solidFill>
                <a:latin typeface="Times New Roman"/>
                <a:cs typeface="Times New Roman"/>
              </a:rPr>
              <a:t>đặt</a:t>
            </a:r>
            <a:r>
              <a:rPr lang="en-US" sz="1100" b="1">
                <a:solidFill>
                  <a:srgbClr val="0000FF"/>
                </a:solidFill>
                <a:latin typeface="Times New Roman"/>
                <a:cs typeface="Times New Roman"/>
              </a:rPr>
              <a:t> 1</a:t>
            </a:r>
            <a:r>
              <a:rPr lang="vi-VN" sz="1100" b="1">
                <a:solidFill>
                  <a:srgbClr val="0000FF"/>
                </a:solidFill>
                <a:latin typeface="Times New Roman"/>
                <a:cs typeface="Times New Roman"/>
              </a:rPr>
              <a:t>29</a:t>
            </a:r>
            <a:r>
              <a:rPr lang="en-US" sz="1100" b="1">
                <a:solidFill>
                  <a:srgbClr val="0000FF"/>
                </a:solidFill>
                <a:latin typeface="Times New Roman"/>
                <a:cs typeface="Times New Roman"/>
              </a:rPr>
              <a:t> </a:t>
            </a:r>
            <a:r>
              <a:rPr lang="en-US" sz="1100" b="1" err="1">
                <a:solidFill>
                  <a:srgbClr val="0000FF"/>
                </a:solidFill>
                <a:latin typeface="Times New Roman"/>
                <a:cs typeface="Times New Roman"/>
              </a:rPr>
              <a:t>tấn</a:t>
            </a:r>
            <a:r>
              <a:rPr lang="en-US" sz="1100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</a:p>
          <a:p>
            <a:pPr marL="171450" indent="-171450">
              <a:buFont typeface="+mj-lt"/>
              <a:buAutoNum type="arabicPeriod"/>
            </a:pP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Motul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đặt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 33 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tấn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,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mở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rộng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cho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SKU mới 4l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và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5l (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trước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đó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dùng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cho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chai 0.8l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và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1l)</a:t>
            </a:r>
          </a:p>
          <a:p>
            <a:pPr marL="171450" indent="-171450">
              <a:buAutoNum type="arabicPeriod"/>
            </a:pP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MTVN: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đặt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2</a:t>
            </a:r>
            <a:r>
              <a:rPr lang="vi-VN" sz="110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 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tấn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rHDB04B01.</a:t>
            </a:r>
          </a:p>
          <a:p>
            <a:endParaRPr lang="en-US" sz="1100">
              <a:solidFill>
                <a:srgbClr val="0000FF"/>
              </a:solidFill>
              <a:highlight>
                <a:srgbClr val="FFFF00"/>
              </a:highlight>
              <a:latin typeface="Times New Roman"/>
              <a:cs typeface="Times New Roman"/>
            </a:endParaRPr>
          </a:p>
          <a:p>
            <a:r>
              <a:rPr lang="en-US" sz="1100" b="1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Phát</a:t>
            </a:r>
            <a:r>
              <a:rPr lang="en-US" sz="1100" b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b="1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triển</a:t>
            </a:r>
            <a:r>
              <a:rPr lang="en-US" sz="1100" b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b="1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khách</a:t>
            </a:r>
            <a:r>
              <a:rPr lang="en-US" sz="1100" b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b="1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hàng</a:t>
            </a:r>
            <a:r>
              <a:rPr lang="en-US" sz="1100" b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: </a:t>
            </a:r>
          </a:p>
          <a:p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Khách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test pass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hàng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DTR: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Koryfes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/Ravago: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Đã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approve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mã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A03N01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trong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hệ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thống global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của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Ravago.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Nhu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cầu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: 100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tấn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/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tháng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 follow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chào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giá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hàng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tháng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.</a:t>
            </a:r>
            <a:endParaRPr lang="en-US" sz="110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Kao: T1/2026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sẽ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dùng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50% rHDA03N01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cho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chai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sữa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tắm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500gr. Nhu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cầu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: 3-5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tấn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/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tháng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Castrol: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sẽ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 review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ngân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sách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sử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dụng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nhựa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tái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chế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cho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năm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2026.</a:t>
            </a:r>
            <a:endParaRPr lang="en-US" sz="1100">
              <a:solidFill>
                <a:srgbClr val="11930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Dự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án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đang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phát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triển</a:t>
            </a:r>
            <a:endParaRPr lang="en-US" sz="1100" b="1" u="sng">
              <a:solidFill>
                <a:srgbClr val="119303"/>
              </a:solidFill>
              <a:latin typeface="Times New Roman"/>
              <a:ea typeface="Calibri"/>
              <a:cs typeface="Times New Roman"/>
            </a:endParaRPr>
          </a:p>
          <a:p>
            <a:pPr marL="171450" indent="-171450">
              <a:buFont typeface="+mj-lt"/>
              <a:buAutoNum type="arabicPeriod"/>
            </a:pP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Sanofi: 08/12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đặt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400kg  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ea typeface="Calibri"/>
                <a:cs typeface="Times New Roman"/>
              </a:rPr>
              <a:t>rHDA03W01 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test </a:t>
            </a:r>
            <a:r>
              <a:rPr lang="vi-VN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fail ESCR trên chai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250ml 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khi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test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lần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3 ( 2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lần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trước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test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đạt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) bao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bì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dùng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50% PCR, 14/12 </a:t>
            </a:r>
            <a:r>
              <a:rPr lang="vi-VN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DTP và DTR đang phối hợp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chạy</a:t>
            </a:r>
            <a:r>
              <a:rPr lang="vi-VN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thử lại mẫu lần 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4 (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nguyên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nhân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có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thể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do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thay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đổi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thiết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kế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bao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bì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và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khuôn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máy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bên DTP) =&gt;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đang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chờ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kết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quả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đánh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giá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ESCR,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dự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kiến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25/12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có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kết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quả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.</a:t>
            </a:r>
            <a:endParaRPr lang="vi-VN" sz="1100">
              <a:solidFill>
                <a:srgbClr val="0000FF"/>
              </a:solidFill>
              <a:highlight>
                <a:srgbClr val="FFFF00"/>
              </a:highlight>
              <a:latin typeface="Times New Roman"/>
              <a:cs typeface="Times New Roman"/>
            </a:endParaRPr>
          </a:p>
          <a:p>
            <a:pPr marL="171450" indent="-171450">
              <a:buFont typeface="+mj-lt"/>
              <a:buAutoNum type="arabicPeriod"/>
            </a:pP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Cospak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Úc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: 28/10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khách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trả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phí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air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để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lấy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100 kg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mẫu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rHDA03N01 test (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tháng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1-2 /2026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có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kết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quả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đánh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giá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,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khách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cần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3-4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tháng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testing)</a:t>
            </a:r>
          </a:p>
          <a:p>
            <a:pPr marL="171450" indent="-171450">
              <a:buFont typeface="+mj-lt"/>
              <a:buAutoNum type="arabicPeriod"/>
            </a:pP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Colgate Palmolive: 2/12  DTR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chào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giá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rPET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và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rHD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thổi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cho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Colgate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tham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khảo</a:t>
            </a:r>
            <a:r>
              <a:rPr lang="en-US" sz="11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pPr marL="171450" indent="-171450">
              <a:buFont typeface="+mj-lt"/>
              <a:buAutoNum type="arabicPeriod"/>
            </a:pP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Serioplast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đã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nhận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mẫu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đang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testing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dự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kiến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tháng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12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có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kết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quả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</a:p>
          <a:p>
            <a:pPr marL="171450" indent="-171450">
              <a:buFont typeface="+mj-lt"/>
              <a:buAutoNum type="arabicPeriod"/>
            </a:pP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SC Johnsons: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Đã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họp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với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DTR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để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chia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sẽ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sản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lượng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cùng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với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lộ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trình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sử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dụng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PCR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tới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2030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tại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vùng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APAC.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Khách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đang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thống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nhất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nội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bộ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để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lấy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mẫu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.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Đã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chào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giá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tháng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12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để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SC Johnson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xem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xét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 </a:t>
            </a:r>
          </a:p>
          <a:p>
            <a:pPr marL="171450" indent="-171450">
              <a:buFont typeface="+mj-lt"/>
              <a:buAutoNum type="arabicPeriod"/>
            </a:pP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Wiese,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đã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gửi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50kg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cho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khách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mẫu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testing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rHDPE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natural.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Cuối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tháng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12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có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kết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quả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</a:p>
          <a:p>
            <a:pPr marL="171450" indent="-171450">
              <a:buFont typeface="+mj-lt"/>
              <a:buAutoNum type="arabicPeriod"/>
            </a:pP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Total VN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dầu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nhớt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khách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đang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xem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xét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thử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dùng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35%-50% PCR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cho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bao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bì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0.5l- </a:t>
            </a:r>
          </a:p>
          <a:p>
            <a:pPr marL="171450" indent="-171450">
              <a:buFont typeface="+mj-lt"/>
              <a:buAutoNum type="arabicPeriod"/>
            </a:pP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Nissin/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Kracie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: 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01/10 DTR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gửi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lại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200gr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hạt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nhựa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(Natural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và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Trắng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)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cải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thiện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để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test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mùi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,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dự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kiến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25/12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có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kết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quả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test.</a:t>
            </a:r>
            <a:endParaRPr lang="en-US" sz="110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171450" indent="-171450">
              <a:buFont typeface="+mj-lt"/>
              <a:buAutoNum type="arabicPeriod"/>
            </a:pP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Vinmar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Đặt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4.125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tấn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A03N01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Mĩ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tháng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6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để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chạy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thử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 Đầu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tháng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9 KH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báo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hạt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DTR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bị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keo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không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tan,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mặt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cắt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bên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trong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chai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bị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cộm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hạt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. DTR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cần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kiểm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soát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kĩ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chất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lượng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trước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khi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giao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hàng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cho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khách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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RnD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DTR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phản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hồi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lấy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mẫu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cải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thiện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test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lại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.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Ngoài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ra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, VN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đang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bị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đánh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thuế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dối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ứng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26.5%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từ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Mĩ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cho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nên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KH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cũng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chưa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có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nhu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cầu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mua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  <a:sym typeface="Wingdings" panose="05000000000000000000" pitchFamily="2" charset="2"/>
              </a:rPr>
              <a:t>gấp</a:t>
            </a:r>
            <a:endParaRPr lang="en-US" sz="110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171450" indent="-171450">
              <a:buAutoNum type="arabicPeriod"/>
            </a:pP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Yoshino/ Itochu: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Ngày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19/12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gửi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50kg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mẫu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rHDA03N01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cho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khách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đánh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giá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hạt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nhựa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trước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khi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họ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thử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cho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bao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bì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personal care/ home care (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dùng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cho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lớp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giữa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- bao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bì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3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lớp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) 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4BA3080-94B4-A16E-EDCA-3CC9063848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540822"/>
              </p:ext>
            </p:extLst>
          </p:nvPr>
        </p:nvGraphicFramePr>
        <p:xfrm>
          <a:off x="-3175" y="401638"/>
          <a:ext cx="5727700" cy="308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445583" imgH="2597369" progId="Excel.Sheet.12">
                  <p:link updateAutomatic="1"/>
                </p:oleObj>
              </mc:Choice>
              <mc:Fallback>
                <p:oleObj name="Worksheet" r:id="rId3" imgW="6445583" imgH="2597369" progId="Excel.Sheet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34BA3080-94B4-A16E-EDCA-3CC9063848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3175" y="401638"/>
                        <a:ext cx="5727700" cy="3087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C172115-18D8-641D-1CB7-BE043DA624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296914"/>
              </p:ext>
            </p:extLst>
          </p:nvPr>
        </p:nvGraphicFramePr>
        <p:xfrm>
          <a:off x="-3175" y="3489325"/>
          <a:ext cx="5727700" cy="307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6445583" imgH="2425919" progId="Excel.Sheet.12">
                  <p:link updateAutomatic="1"/>
                </p:oleObj>
              </mc:Choice>
              <mc:Fallback>
                <p:oleObj name="Worksheet" r:id="rId5" imgW="6445583" imgH="2425919" progId="Excel.Sheet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C172115-18D8-641D-1CB7-BE043DA624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3175" y="3489325"/>
                        <a:ext cx="5727700" cy="3071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60498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D32E5-8B10-228C-2923-54FC773EA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8422D67-E648-482D-C2C3-477FE0118EB6}"/>
              </a:ext>
            </a:extLst>
          </p:cNvPr>
          <p:cNvGrpSpPr/>
          <p:nvPr/>
        </p:nvGrpSpPr>
        <p:grpSpPr>
          <a:xfrm>
            <a:off x="2258761" y="-9525"/>
            <a:ext cx="6367449" cy="584776"/>
            <a:chOff x="-1220712" y="434990"/>
            <a:chExt cx="6367449" cy="58477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2AFCDB-0C12-5506-58AC-CADCF5457829}"/>
                </a:ext>
              </a:extLst>
            </p:cNvPr>
            <p:cNvSpPr txBox="1"/>
            <p:nvPr/>
          </p:nvSpPr>
          <p:spPr>
            <a:xfrm>
              <a:off x="503089" y="650434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A57C63-8A92-F20F-F3D5-7A2D34A3F50E}"/>
                </a:ext>
              </a:extLst>
            </p:cNvPr>
            <p:cNvSpPr txBox="1"/>
            <p:nvPr/>
          </p:nvSpPr>
          <p:spPr>
            <a:xfrm>
              <a:off x="-1220712" y="434990"/>
              <a:ext cx="63674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000" b="1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rHDPE</a:t>
              </a:r>
              <a:r>
                <a:rPr lang="vi-VN" sz="2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Thổi</a:t>
              </a: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- </a:t>
              </a:r>
              <a:r>
                <a:rPr lang="en-US" sz="2000" b="1" kern="1200">
                  <a:solidFill>
                    <a:srgbClr val="0070C0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KẾT QUẢ 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BÁN HÀNG T12 so </a:t>
              </a:r>
              <a:r>
                <a:rPr lang="en-US" sz="2000" b="1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với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KPI </a:t>
              </a:r>
              <a:endParaRPr lang="vi-VN" sz="2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C7B2C6-30B1-2F69-E488-2F1A96FFC431}"/>
              </a:ext>
            </a:extLst>
          </p:cNvPr>
          <p:cNvSpPr/>
          <p:nvPr/>
        </p:nvSpPr>
        <p:spPr>
          <a:xfrm>
            <a:off x="5724525" y="390585"/>
            <a:ext cx="6462698" cy="6170553"/>
          </a:xfrm>
          <a:prstGeom prst="roundRect">
            <a:avLst>
              <a:gd name="adj" fmla="val 204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endParaRPr lang="en-US" sz="1100" b="1" u="sng">
              <a:solidFill>
                <a:srgbClr val="119303"/>
              </a:solidFill>
              <a:latin typeface="Times New Roman"/>
              <a:cs typeface="Times New Roman"/>
            </a:endParaRPr>
          </a:p>
          <a:p>
            <a:endParaRPr lang="en-US" sz="1100" b="1" u="sng">
              <a:solidFill>
                <a:srgbClr val="119303"/>
              </a:solidFill>
              <a:latin typeface="Times New Roman"/>
              <a:cs typeface="Times New Roman"/>
            </a:endParaRPr>
          </a:p>
          <a:p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Dự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án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bán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rHD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đen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thổi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từ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phó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sản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Khách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hàng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đang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test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thử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 </a:t>
            </a:r>
            <a:r>
              <a:rPr lang="en-US" sz="1100" b="1" u="sng" err="1">
                <a:solidFill>
                  <a:srgbClr val="119303"/>
                </a:solidFill>
                <a:latin typeface="Times New Roman"/>
                <a:cs typeface="Times New Roman"/>
              </a:rPr>
              <a:t>mẫu</a:t>
            </a:r>
            <a:r>
              <a:rPr lang="en-US" sz="1100" b="1" u="sng">
                <a:solidFill>
                  <a:srgbClr val="119303"/>
                </a:solidFill>
                <a:latin typeface="Times New Roman"/>
                <a:cs typeface="Times New Roman"/>
              </a:rPr>
              <a:t>:</a:t>
            </a:r>
          </a:p>
          <a:p>
            <a:endParaRPr lang="en-US" sz="1100" b="1">
              <a:solidFill>
                <a:srgbClr val="119303"/>
              </a:solidFill>
              <a:latin typeface="Times New Roman"/>
              <a:cs typeface="Times New Roman"/>
            </a:endParaRPr>
          </a:p>
          <a:p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1. Wanek :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Ngày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19/11, phòng R&amp;D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gửi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1kg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mẫu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để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test lab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đối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chứng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TDS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với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Wanek.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Ngày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04/12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Kết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quả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test lab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lực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kéo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đứt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đạt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,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tuy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nhiên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MI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cao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hơn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yêu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cầu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nên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có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thể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sẽ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ảnh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hưởng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trong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quá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trình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gia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công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khuôn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lớn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(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chảy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xệ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), R&amp;D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sẽ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điều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chỉnh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MI.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Ngày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23/12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sẽ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gửi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lại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1kg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mẫu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để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test lab.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Nếu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đạt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,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sẽ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cần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1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tấn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chạy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test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thực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tế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trên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khuôn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anose="05000000000000000000" pitchFamily="2" charset="2"/>
              </a:rPr>
              <a:t>. </a:t>
            </a:r>
            <a:endParaRPr lang="en-US" sz="1100">
              <a:solidFill>
                <a:srgbClr val="0000FF"/>
              </a:solidFill>
              <a:highlight>
                <a:srgbClr val="FFFF00"/>
              </a:highlight>
              <a:latin typeface="Times New Roman"/>
              <a:cs typeface="Times New Roman"/>
            </a:endParaRPr>
          </a:p>
          <a:p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endParaRPr lang="en-US" sz="1100" b="1">
              <a:solidFill>
                <a:srgbClr val="119303"/>
              </a:solidFill>
              <a:latin typeface="Times New Roman"/>
              <a:cs typeface="Times New Roman"/>
            </a:endParaRPr>
          </a:p>
          <a:p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2. </a:t>
            </a:r>
            <a:r>
              <a:rPr lang="vi-VN" sz="1100">
                <a:solidFill>
                  <a:srgbClr val="0000FF"/>
                </a:solidFill>
                <a:latin typeface="Times New Roman"/>
                <a:cs typeface="Times New Roman"/>
              </a:rPr>
              <a:t>Đạt Hòa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Ngày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1/12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họp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với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Đạt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Hòa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- PTGĐ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Kỹ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Thuật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và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PTGĐ Tài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chính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,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hàng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cần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cải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thiện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mùi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và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tạp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chất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,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độ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ẩm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phía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DTR, song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song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đó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khách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hàng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cần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cải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thiện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độ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ẩm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trong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quá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trình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sấy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=&gt; </a:t>
            </a:r>
            <a:r>
              <a:rPr lang="vi-VN" sz="1100">
                <a:solidFill>
                  <a:srgbClr val="0000FF"/>
                </a:solidFill>
                <a:latin typeface="Times New Roman"/>
                <a:cs typeface="Times New Roman"/>
              </a:rPr>
              <a:t> 24/12 gửi mẫu mới để khách thử lại</a:t>
            </a:r>
            <a:r>
              <a:rPr lang="vi-VN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.</a:t>
            </a:r>
            <a:endParaRPr lang="en-US" sz="1100">
              <a:solidFill>
                <a:srgbClr val="0000FF"/>
              </a:solidFill>
              <a:highlight>
                <a:srgbClr val="FFFF00"/>
              </a:highlight>
              <a:latin typeface="Times New Roman"/>
              <a:cs typeface="Times New Roman"/>
            </a:endParaRPr>
          </a:p>
          <a:p>
            <a:endParaRPr lang="en-US" sz="110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3. Bình Minh Việt: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mua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600kg </a:t>
            </a:r>
            <a:r>
              <a:rPr lang="vi-VN" sz="1100">
                <a:solidFill>
                  <a:srgbClr val="0000FF"/>
                </a:solidFill>
                <a:latin typeface="Times New Roman"/>
                <a:cs typeface="Times New Roman"/>
              </a:rPr>
              <a:t>rHDB01B01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thử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mẫu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,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giá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792$/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tấn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EXW, 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chưa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có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kết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quả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test,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khách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sẽ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update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lại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ngay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khi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có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thông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tin, </a:t>
            </a:r>
            <a:r>
              <a:rPr lang="vi-VN" sz="1100">
                <a:solidFill>
                  <a:srgbClr val="0000FF"/>
                </a:solidFill>
                <a:latin typeface="Times New Roman"/>
                <a:cs typeface="Times New Roman"/>
              </a:rPr>
              <a:t>24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/12 update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lại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</a:p>
          <a:p>
            <a:endParaRPr lang="en-US" sz="110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4.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Chấn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Hùng :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tháng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11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mua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500kg </a:t>
            </a:r>
            <a:r>
              <a:rPr lang="vi-VN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rHDB01B01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thử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mẫu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,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giá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790$/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tấn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EXW =&gt; 02/12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khách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báo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hạt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bị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nhiều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tạp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chất</a:t>
            </a:r>
            <a:r>
              <a:rPr lang="en-US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vi-VN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và 10/12 </a:t>
            </a:r>
            <a:r>
              <a:rPr lang="vi-VN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team</a:t>
            </a:r>
            <a:r>
              <a:rPr lang="vi-VN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DTR đã qua nhà máy khách hàng </a:t>
            </a:r>
            <a:r>
              <a:rPr lang="vi-VN" sz="1100" err="1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test</a:t>
            </a:r>
            <a:r>
              <a:rPr lang="vi-VN" sz="1100">
                <a:solidFill>
                  <a:srgbClr val="0000FF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chạy thử với khách  =&gt; cần khách xem lại nhiệt độ chạy của máy cho phù hợp =&gt; khách sẽ thử lại sau khi chờ bên Trung Quốc gửi phụ kiện về thay máy đầu tháng 1. </a:t>
            </a:r>
          </a:p>
          <a:p>
            <a:endParaRPr lang="vi-VN" sz="1100">
              <a:solidFill>
                <a:srgbClr val="0000FF"/>
              </a:solidFill>
              <a:highlight>
                <a:srgbClr val="FFFF00"/>
              </a:highlight>
              <a:latin typeface="Times New Roman"/>
              <a:cs typeface="Times New Roman"/>
            </a:endParaRPr>
          </a:p>
          <a:p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5.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Nhựa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Đồng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Nai: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khách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đang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di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dời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nhà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máy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,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nên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chưa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test final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được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=&gt; 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dự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kiến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đầu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năm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2026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sẽ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chạy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lại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mẫu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</a:p>
          <a:p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6. Follow up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với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MHE Ghana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chào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và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chốt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đơn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hàng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tháng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1 ,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tháng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11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đã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mua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108mt. (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tàu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đi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30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ngày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cập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cảng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Ghana)  </a:t>
            </a:r>
          </a:p>
          <a:p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7. MTVN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đề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xuất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mua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mẫu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rHDB04B01 </a:t>
            </a:r>
            <a:r>
              <a:rPr lang="en-US" sz="1100" err="1">
                <a:solidFill>
                  <a:srgbClr val="0000FF"/>
                </a:solidFill>
                <a:latin typeface="Times New Roman"/>
                <a:cs typeface="Times New Roman"/>
              </a:rPr>
              <a:t>giá</a:t>
            </a:r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15740 đ/ kg </a:t>
            </a:r>
          </a:p>
          <a:p>
            <a:endParaRPr lang="en-US" sz="110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r>
              <a:rPr lang="en-US" sz="1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</a:p>
          <a:p>
            <a:endParaRPr lang="en-US" sz="110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2E9677B-86DD-E297-2146-D340DD7F58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446498"/>
              </p:ext>
            </p:extLst>
          </p:nvPr>
        </p:nvGraphicFramePr>
        <p:xfrm>
          <a:off x="-3175" y="401638"/>
          <a:ext cx="5727700" cy="308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445583" imgH="2597369" progId="Excel.Sheet.12">
                  <p:link updateAutomatic="1"/>
                </p:oleObj>
              </mc:Choice>
              <mc:Fallback>
                <p:oleObj name="Worksheet" r:id="rId3" imgW="6445583" imgH="2597369" progId="Excel.Sheet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D2E9677B-86DD-E297-2146-D340DD7F58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3175" y="401638"/>
                        <a:ext cx="5727700" cy="3087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749D68F-082D-12EA-1DAE-8A84B0E447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666331"/>
              </p:ext>
            </p:extLst>
          </p:nvPr>
        </p:nvGraphicFramePr>
        <p:xfrm>
          <a:off x="-3175" y="3489325"/>
          <a:ext cx="5727700" cy="307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6445583" imgH="2425919" progId="Excel.Sheet.12">
                  <p:link updateAutomatic="1"/>
                </p:oleObj>
              </mc:Choice>
              <mc:Fallback>
                <p:oleObj name="Worksheet" r:id="rId5" imgW="6445583" imgH="2425919" progId="Excel.Sheet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749D68F-082D-12EA-1DAE-8A84B0E447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3175" y="3489325"/>
                        <a:ext cx="5727700" cy="3071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82251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F71FA553-F060-5BB0-1D2E-88B7922A3562}"/>
              </a:ext>
            </a:extLst>
          </p:cNvPr>
          <p:cNvSpPr txBox="1"/>
          <p:nvPr/>
        </p:nvSpPr>
        <p:spPr>
          <a:xfrm>
            <a:off x="771846" y="1271706"/>
            <a:ext cx="1708542" cy="132802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en-US" sz="3600" b="1" err="1">
                <a:solidFill>
                  <a:srgbClr val="0000FF"/>
                </a:solidFill>
                <a:latin typeface="Aptos Black" panose="020F0502020204030204" pitchFamily="34" charset="0"/>
                <a:cs typeface="Arial"/>
              </a:rPr>
              <a:t>Thổi</a:t>
            </a:r>
            <a:endParaRPr lang="en-US" sz="3600" b="1">
              <a:solidFill>
                <a:srgbClr val="0000FF"/>
              </a:solidFill>
              <a:latin typeface="Aptos Black" panose="020F0502020204030204" pitchFamily="34" charset="0"/>
              <a:cs typeface="Arial"/>
            </a:endParaRPr>
          </a:p>
          <a:p>
            <a:pPr algn="ctr">
              <a:defRPr/>
            </a:pPr>
            <a:endParaRPr kumimoji="0" lang="en-US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cs typeface="Arial"/>
            </a:endParaRPr>
          </a:p>
          <a:p>
            <a:pPr algn="ctr">
              <a:defRPr/>
            </a:pPr>
            <a:endParaRPr kumimoji="0" lang="vi-VN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FD1EE570-8245-84FA-0BBF-7A286407AAF1}"/>
              </a:ext>
            </a:extLst>
          </p:cNvPr>
          <p:cNvSpPr/>
          <p:nvPr/>
        </p:nvSpPr>
        <p:spPr>
          <a:xfrm>
            <a:off x="1164268" y="2093596"/>
            <a:ext cx="609572" cy="896942"/>
          </a:xfrm>
          <a:custGeom>
            <a:avLst/>
            <a:gdLst/>
            <a:ahLst/>
            <a:cxnLst/>
            <a:rect l="l" t="t" r="r" b="b"/>
            <a:pathLst>
              <a:path w="2152030" h="3616857">
                <a:moveTo>
                  <a:pt x="0" y="0"/>
                </a:moveTo>
                <a:lnTo>
                  <a:pt x="2152030" y="0"/>
                </a:lnTo>
                <a:lnTo>
                  <a:pt x="2152030" y="3616857"/>
                </a:lnTo>
                <a:lnTo>
                  <a:pt x="0" y="3616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AE895A62-01C9-BC68-B33B-BF1FAD6A02AB}"/>
              </a:ext>
            </a:extLst>
          </p:cNvPr>
          <p:cNvSpPr/>
          <p:nvPr/>
        </p:nvSpPr>
        <p:spPr>
          <a:xfrm>
            <a:off x="1684337" y="2391330"/>
            <a:ext cx="381924" cy="838809"/>
          </a:xfrm>
          <a:custGeom>
            <a:avLst/>
            <a:gdLst/>
            <a:ahLst/>
            <a:cxnLst/>
            <a:rect l="l" t="t" r="r" b="b"/>
            <a:pathLst>
              <a:path w="1819074" h="4173784">
                <a:moveTo>
                  <a:pt x="0" y="0"/>
                </a:moveTo>
                <a:lnTo>
                  <a:pt x="1819074" y="0"/>
                </a:lnTo>
                <a:lnTo>
                  <a:pt x="1819074" y="4173784"/>
                </a:lnTo>
                <a:lnTo>
                  <a:pt x="0" y="41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465D152-B5E7-2B94-B7EC-CCC7968461F9}"/>
              </a:ext>
            </a:extLst>
          </p:cNvPr>
          <p:cNvSpPr/>
          <p:nvPr/>
        </p:nvSpPr>
        <p:spPr>
          <a:xfrm>
            <a:off x="2033522" y="2093596"/>
            <a:ext cx="828386" cy="903853"/>
          </a:xfrm>
          <a:custGeom>
            <a:avLst/>
            <a:gdLst/>
            <a:ahLst/>
            <a:cxnLst/>
            <a:rect l="l" t="t" r="r" b="b"/>
            <a:pathLst>
              <a:path w="3340325" h="3472928">
                <a:moveTo>
                  <a:pt x="0" y="0"/>
                </a:moveTo>
                <a:lnTo>
                  <a:pt x="3340325" y="0"/>
                </a:lnTo>
                <a:lnTo>
                  <a:pt x="3340325" y="3472927"/>
                </a:lnTo>
                <a:lnTo>
                  <a:pt x="0" y="34729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AA97EE-1D54-2194-05C1-AACD03A9782E}"/>
              </a:ext>
            </a:extLst>
          </p:cNvPr>
          <p:cNvSpPr txBox="1"/>
          <p:nvPr/>
        </p:nvSpPr>
        <p:spPr>
          <a:xfrm>
            <a:off x="2476744" y="591972"/>
            <a:ext cx="7802349" cy="5778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2400" b="1" err="1">
                <a:solidFill>
                  <a:srgbClr val="FF0000"/>
                </a:solidFill>
                <a:latin typeface="Arial"/>
                <a:cs typeface="Arial"/>
              </a:rPr>
              <a:t>rHDPE</a:t>
            </a:r>
            <a:r>
              <a:rPr lang="en-US" sz="24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400" b="1" err="1">
                <a:solidFill>
                  <a:srgbClr val="FF0000"/>
                </a:solidFill>
                <a:latin typeface="Arial"/>
                <a:cs typeface="Arial"/>
              </a:rPr>
              <a:t>Thổi</a:t>
            </a:r>
            <a:r>
              <a:rPr lang="en-US" sz="240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2400" b="1">
                <a:solidFill>
                  <a:srgbClr val="FF0000"/>
                </a:solidFill>
                <a:latin typeface="Arial"/>
                <a:cs typeface="Arial"/>
              </a:rPr>
              <a:t>– </a:t>
            </a:r>
            <a:r>
              <a:rPr lang="en-US" sz="2400" b="1" err="1">
                <a:solidFill>
                  <a:srgbClr val="0070C0"/>
                </a:solidFill>
                <a:latin typeface="Arial"/>
                <a:cs typeface="Arial"/>
              </a:rPr>
              <a:t>Đơn</a:t>
            </a:r>
            <a:r>
              <a:rPr lang="en-US" sz="2400" b="1">
                <a:solidFill>
                  <a:srgbClr val="0070C0"/>
                </a:solidFill>
                <a:latin typeface="Arial"/>
                <a:cs typeface="Arial"/>
              </a:rPr>
              <a:t> Hàng – </a:t>
            </a:r>
            <a:r>
              <a:rPr lang="en-US" sz="2400" b="1" err="1">
                <a:solidFill>
                  <a:srgbClr val="0070C0"/>
                </a:solidFill>
                <a:latin typeface="Arial"/>
                <a:cs typeface="Arial"/>
              </a:rPr>
              <a:t>Tháng</a:t>
            </a:r>
            <a:r>
              <a:rPr lang="en-US" sz="2400" b="1">
                <a:solidFill>
                  <a:srgbClr val="0070C0"/>
                </a:solidFill>
                <a:latin typeface="Arial"/>
                <a:cs typeface="Arial"/>
              </a:rPr>
              <a:t> 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09E4B-4439-8D73-6852-354BCCBE8123}"/>
              </a:ext>
            </a:extLst>
          </p:cNvPr>
          <p:cNvSpPr txBox="1"/>
          <p:nvPr/>
        </p:nvSpPr>
        <p:spPr>
          <a:xfrm>
            <a:off x="10058400" y="2093596"/>
            <a:ext cx="193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661B45B-FCCA-BC2F-8FD1-6349B58CA6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271346"/>
              </p:ext>
            </p:extLst>
          </p:nvPr>
        </p:nvGraphicFramePr>
        <p:xfrm>
          <a:off x="3013075" y="1508125"/>
          <a:ext cx="7143750" cy="297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7143565" imgH="1663656" progId="Excel.Sheet.12">
                  <p:link updateAutomatic="1"/>
                </p:oleObj>
              </mc:Choice>
              <mc:Fallback>
                <p:oleObj name="Worksheet" r:id="rId7" imgW="7143565" imgH="1663656" progId="Excel.Sheet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6661B45B-FCCA-BC2F-8FD1-6349B58CA6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13075" y="1508125"/>
                        <a:ext cx="7143750" cy="297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396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7E632-13BE-A18D-8455-928DD3CF3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73ABCFB-D1C3-FC8D-5457-81FACA3BEEEC}"/>
              </a:ext>
            </a:extLst>
          </p:cNvPr>
          <p:cNvSpPr/>
          <p:nvPr/>
        </p:nvSpPr>
        <p:spPr>
          <a:xfrm>
            <a:off x="0" y="3199185"/>
            <a:ext cx="12192000" cy="3411397"/>
          </a:xfrm>
          <a:custGeom>
            <a:avLst/>
            <a:gdLst/>
            <a:ahLst/>
            <a:cxnLst/>
            <a:rect l="l" t="t" r="r" b="b"/>
            <a:pathLst>
              <a:path w="18288000" h="6356958">
                <a:moveTo>
                  <a:pt x="0" y="0"/>
                </a:moveTo>
                <a:lnTo>
                  <a:pt x="18288000" y="0"/>
                </a:lnTo>
                <a:lnTo>
                  <a:pt x="1828800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49062" b="-12760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7" name="Group 6">
            <a:extLst>
              <a:ext uri="{FF2B5EF4-FFF2-40B4-BE49-F238E27FC236}">
                <a16:creationId xmlns:a16="http://schemas.microsoft.com/office/drawing/2014/main" id="{8AAF9137-749E-77A5-6272-4120293BDBB7}"/>
              </a:ext>
            </a:extLst>
          </p:cNvPr>
          <p:cNvGrpSpPr/>
          <p:nvPr/>
        </p:nvGrpSpPr>
        <p:grpSpPr>
          <a:xfrm>
            <a:off x="0" y="0"/>
            <a:ext cx="12192000" cy="6172199"/>
            <a:chOff x="0" y="0"/>
            <a:chExt cx="4948946" cy="1790302"/>
          </a:xfrm>
        </p:grpSpPr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35632E13-D717-75C9-54C0-75BAB119C9A9}"/>
                </a:ext>
              </a:extLst>
            </p:cNvPr>
            <p:cNvSpPr/>
            <p:nvPr/>
          </p:nvSpPr>
          <p:spPr>
            <a:xfrm>
              <a:off x="0" y="0"/>
              <a:ext cx="4948946" cy="1790302"/>
            </a:xfrm>
            <a:custGeom>
              <a:avLst/>
              <a:gdLst/>
              <a:ahLst/>
              <a:cxnLst/>
              <a:rect l="l" t="t" r="r" b="b"/>
              <a:pathLst>
                <a:path w="4948946" h="1790302">
                  <a:moveTo>
                    <a:pt x="0" y="0"/>
                  </a:moveTo>
                  <a:lnTo>
                    <a:pt x="4948946" y="0"/>
                  </a:lnTo>
                  <a:lnTo>
                    <a:pt x="4948946" y="1790302"/>
                  </a:lnTo>
                  <a:lnTo>
                    <a:pt x="0" y="1790302"/>
                  </a:lnTo>
                  <a:close/>
                </a:path>
              </a:pathLst>
            </a:custGeom>
            <a:gradFill rotWithShape="1">
              <a:gsLst>
                <a:gs pos="0">
                  <a:srgbClr val="F4F4F4">
                    <a:alpha val="100000"/>
                  </a:srgbClr>
                </a:gs>
                <a:gs pos="50000">
                  <a:srgbClr val="FFFFFF">
                    <a:alpha val="9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8">
              <a:extLst>
                <a:ext uri="{FF2B5EF4-FFF2-40B4-BE49-F238E27FC236}">
                  <a16:creationId xmlns:a16="http://schemas.microsoft.com/office/drawing/2014/main" id="{62B8D6F8-8F4A-ACD3-1378-D47E5FB6FA3C}"/>
                </a:ext>
              </a:extLst>
            </p:cNvPr>
            <p:cNvSpPr txBox="1"/>
            <p:nvPr/>
          </p:nvSpPr>
          <p:spPr>
            <a:xfrm>
              <a:off x="0" y="-47625"/>
              <a:ext cx="4948946" cy="1837927"/>
            </a:xfrm>
            <a:prstGeom prst="rect">
              <a:avLst/>
            </a:prstGeom>
          </p:spPr>
          <p:txBody>
            <a:bodyPr lIns="50489" tIns="50489" rIns="50489" bIns="50489" rtlCol="0" anchor="ctr"/>
            <a:lstStyle/>
            <a:p>
              <a:pPr algn="ctr">
                <a:lnSpc>
                  <a:spcPts val="3002"/>
                </a:lnSpc>
              </a:pPr>
              <a:endParaRPr/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D15862FD-7135-F66A-D7B6-FFBCEC715529}"/>
              </a:ext>
            </a:extLst>
          </p:cNvPr>
          <p:cNvSpPr/>
          <p:nvPr/>
        </p:nvSpPr>
        <p:spPr>
          <a:xfrm flipH="1">
            <a:off x="7073509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F4E0BDA-ED5D-DF14-2416-F809E2001427}"/>
              </a:ext>
            </a:extLst>
          </p:cNvPr>
          <p:cNvSpPr/>
          <p:nvPr/>
        </p:nvSpPr>
        <p:spPr>
          <a:xfrm flipH="1">
            <a:off x="10050425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E1207BC-386B-892C-8807-1A435FFD60A6}"/>
              </a:ext>
            </a:extLst>
          </p:cNvPr>
          <p:cNvSpPr/>
          <p:nvPr/>
        </p:nvSpPr>
        <p:spPr>
          <a:xfrm>
            <a:off x="10044829" y="685801"/>
            <a:ext cx="733693" cy="1051959"/>
          </a:xfrm>
          <a:custGeom>
            <a:avLst/>
            <a:gdLst/>
            <a:ahLst/>
            <a:cxnLst/>
            <a:rect l="l" t="t" r="r" b="b"/>
            <a:pathLst>
              <a:path w="1100539" h="1577939">
                <a:moveTo>
                  <a:pt x="0" y="0"/>
                </a:moveTo>
                <a:lnTo>
                  <a:pt x="1100539" y="0"/>
                </a:lnTo>
                <a:lnTo>
                  <a:pt x="1100539" y="1577939"/>
                </a:lnTo>
                <a:lnTo>
                  <a:pt x="0" y="157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98091" r="-305744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CA709C7-55CA-D598-70A1-83BC464EFD1E}"/>
              </a:ext>
            </a:extLst>
          </p:cNvPr>
          <p:cNvSpPr txBox="1"/>
          <p:nvPr/>
        </p:nvSpPr>
        <p:spPr>
          <a:xfrm>
            <a:off x="641783" y="1315318"/>
            <a:ext cx="6909619" cy="120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14"/>
              </a:lnSpc>
            </a:pPr>
            <a:r>
              <a:rPr lang="en-US" sz="7946" b="1" spc="238" err="1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rHDPE</a:t>
            </a:r>
            <a:r>
              <a:rPr lang="en-US" sz="7946" b="1" spc="238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7946" b="1" spc="238" err="1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Ép</a:t>
            </a:r>
            <a:endParaRPr lang="en-US" sz="7946" b="1" spc="238">
              <a:solidFill>
                <a:srgbClr val="11930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0" name="Freeform 9">
            <a:extLst>
              <a:ext uri="{FF2B5EF4-FFF2-40B4-BE49-F238E27FC236}">
                <a16:creationId xmlns:a16="http://schemas.microsoft.com/office/drawing/2014/main" id="{0AC2CE1F-933C-663B-572D-8A76F38C82BA}"/>
              </a:ext>
            </a:extLst>
          </p:cNvPr>
          <p:cNvSpPr/>
          <p:nvPr/>
        </p:nvSpPr>
        <p:spPr>
          <a:xfrm>
            <a:off x="297650" y="223462"/>
            <a:ext cx="1702810" cy="375232"/>
          </a:xfrm>
          <a:custGeom>
            <a:avLst/>
            <a:gdLst/>
            <a:ahLst/>
            <a:cxnLst/>
            <a:rect l="l" t="t" r="r" b="b"/>
            <a:pathLst>
              <a:path w="2508872" h="551400">
                <a:moveTo>
                  <a:pt x="0" y="0"/>
                </a:moveTo>
                <a:lnTo>
                  <a:pt x="2508871" y="0"/>
                </a:lnTo>
                <a:lnTo>
                  <a:pt x="2508871" y="551400"/>
                </a:lnTo>
                <a:lnTo>
                  <a:pt x="0" y="551400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66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B4EA0-6134-B459-CB86-1B883C36F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255F4E3-07C6-8272-5526-2A9989EBECDD}"/>
              </a:ext>
            </a:extLst>
          </p:cNvPr>
          <p:cNvGrpSpPr/>
          <p:nvPr/>
        </p:nvGrpSpPr>
        <p:grpSpPr>
          <a:xfrm>
            <a:off x="3644104" y="28515"/>
            <a:ext cx="6140079" cy="514808"/>
            <a:chOff x="164631" y="504958"/>
            <a:chExt cx="6140079" cy="51480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F1CFFFD-3472-6667-D131-B5F34F4A2085}"/>
                </a:ext>
              </a:extLst>
            </p:cNvPr>
            <p:cNvSpPr txBox="1"/>
            <p:nvPr/>
          </p:nvSpPr>
          <p:spPr>
            <a:xfrm>
              <a:off x="503089" y="650434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9377562-B1F0-F44F-DE91-DF6B80DC02FE}"/>
                </a:ext>
              </a:extLst>
            </p:cNvPr>
            <p:cNvSpPr txBox="1"/>
            <p:nvPr/>
          </p:nvSpPr>
          <p:spPr>
            <a:xfrm>
              <a:off x="164631" y="504958"/>
              <a:ext cx="61400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000" b="1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rHDPE</a:t>
              </a:r>
              <a:r>
                <a:rPr lang="vi-VN" sz="2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Ép</a:t>
              </a: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- </a:t>
              </a:r>
              <a:r>
                <a:rPr lang="en-US" sz="2000" b="1" kern="1200">
                  <a:solidFill>
                    <a:srgbClr val="0070C0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KẾT QUẢ 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BÁN HÀNG T12 so </a:t>
              </a:r>
              <a:r>
                <a:rPr lang="en-US" sz="2000" b="1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với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KPI </a:t>
              </a:r>
              <a:endParaRPr lang="vi-VN" sz="2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0ACA4E7-D016-AF3D-A846-D458678064B7}"/>
              </a:ext>
            </a:extLst>
          </p:cNvPr>
          <p:cNvSpPr/>
          <p:nvPr/>
        </p:nvSpPr>
        <p:spPr>
          <a:xfrm>
            <a:off x="8024709" y="428625"/>
            <a:ext cx="4145691" cy="6116638"/>
          </a:xfrm>
          <a:prstGeom prst="roundRect">
            <a:avLst>
              <a:gd name="adj" fmla="val 578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vi-VN" sz="1600" b="1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Cập</a:t>
            </a:r>
            <a:r>
              <a:rPr lang="vi-VN" sz="1600" b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b="1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nhật</a:t>
            </a:r>
            <a:r>
              <a:rPr lang="vi-VN" sz="1600" b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b="1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thông</a:t>
            </a:r>
            <a:r>
              <a:rPr lang="vi-VN" sz="1600" b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tin: 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1600" b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Các </a:t>
            </a:r>
            <a:r>
              <a:rPr lang="en-US" sz="1600" b="1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đơn</a:t>
            </a:r>
            <a:r>
              <a:rPr lang="en-US" sz="1600" b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hàng</a:t>
            </a:r>
            <a:r>
              <a:rPr lang="vi-VN" sz="1600" b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tháng 12</a:t>
            </a:r>
            <a:r>
              <a:rPr lang="en-US" sz="1600" b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Vẫn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chào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bán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các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đơn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cho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Duy Tân, Huy Thành,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Nhựa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Trường An,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Lưới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bảo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Nông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vi-VN" sz="1600" b="1" u="sng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Cơ</a:t>
            </a:r>
            <a:r>
              <a:rPr lang="vi-VN" sz="1600" b="1" u="sng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b="1" u="sng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hội</a:t>
            </a:r>
            <a:r>
              <a:rPr lang="vi-VN" sz="1600" b="1" u="sng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b="1" u="sng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bán</a:t>
            </a:r>
            <a:r>
              <a:rPr lang="vi-VN" sz="1600" b="1" u="sng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b="1" u="sng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hàng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Chấn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Hùng: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phụ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kiện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trong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ống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tưới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dùng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vảy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HDPE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từ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vi-VN" sz="16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nắp</a:t>
            </a: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vi-VN" sz="16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16/12 khách mua  một bao 750 kg để thử mẫu, giá 16,000 đ/ kg EXW =&gt; follow kết quả đánh giá mẫu, 24/12 cập nhật lại.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82B2B6D-5F46-E806-4E88-F56CC0341B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664439"/>
              </p:ext>
            </p:extLst>
          </p:nvPr>
        </p:nvGraphicFramePr>
        <p:xfrm>
          <a:off x="22225" y="404813"/>
          <a:ext cx="8002588" cy="304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439270" imgH="2597369" progId="Excel.Sheet.12">
                  <p:link updateAutomatic="1"/>
                </p:oleObj>
              </mc:Choice>
              <mc:Fallback>
                <p:oleObj name="Worksheet" r:id="rId3" imgW="6439270" imgH="2597369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C82B2B6D-5F46-E806-4E88-F56CC0341B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225" y="404813"/>
                        <a:ext cx="8002588" cy="304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C512CD8-07F3-15AB-0E78-912238CEA4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469748"/>
              </p:ext>
            </p:extLst>
          </p:nvPr>
        </p:nvGraphicFramePr>
        <p:xfrm>
          <a:off x="0" y="3402013"/>
          <a:ext cx="8008938" cy="316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6445583" imgH="2425919" progId="Excel.Sheet.12">
                  <p:link updateAutomatic="1"/>
                </p:oleObj>
              </mc:Choice>
              <mc:Fallback>
                <p:oleObj name="Worksheet" r:id="rId5" imgW="6445583" imgH="2425919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FC512CD8-07F3-15AB-0E78-912238CEA4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3402013"/>
                        <a:ext cx="8008938" cy="3163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48094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D2055-550C-A9A7-E71C-61FF9B08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16EF166-6BD7-6911-D7B5-2FD22C31BB8D}"/>
              </a:ext>
            </a:extLst>
          </p:cNvPr>
          <p:cNvGrpSpPr/>
          <p:nvPr/>
        </p:nvGrpSpPr>
        <p:grpSpPr>
          <a:xfrm>
            <a:off x="1839686" y="432026"/>
            <a:ext cx="8967019" cy="896611"/>
            <a:chOff x="-6250744" y="123155"/>
            <a:chExt cx="7911690" cy="8966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C3E94C-A5DE-0701-6570-3808FFDD7C58}"/>
                </a:ext>
              </a:extLst>
            </p:cNvPr>
            <p:cNvSpPr txBox="1"/>
            <p:nvPr/>
          </p:nvSpPr>
          <p:spPr>
            <a:xfrm>
              <a:off x="513959" y="650434"/>
              <a:ext cx="16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34FEB1-E1D6-E51E-8D28-2ADE91261831}"/>
                </a:ext>
              </a:extLst>
            </p:cNvPr>
            <p:cNvSpPr txBox="1"/>
            <p:nvPr/>
          </p:nvSpPr>
          <p:spPr>
            <a:xfrm>
              <a:off x="-6250744" y="123155"/>
              <a:ext cx="7911690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defRPr/>
              </a:pPr>
              <a:r>
                <a:rPr lang="en-US" sz="2400" b="1" err="1">
                  <a:solidFill>
                    <a:srgbClr val="FF0000"/>
                  </a:solidFill>
                  <a:latin typeface="Arial"/>
                  <a:cs typeface="Arial"/>
                </a:rPr>
                <a:t>rHDPE</a:t>
              </a:r>
              <a:r>
                <a:rPr lang="en-US" sz="2400" b="1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lang="en-US" sz="2400" b="1" err="1">
                  <a:solidFill>
                    <a:srgbClr val="FF0000"/>
                  </a:solidFill>
                  <a:latin typeface="Arial"/>
                  <a:cs typeface="Arial"/>
                </a:rPr>
                <a:t>Ép</a:t>
              </a:r>
              <a:r>
                <a:rPr lang="en-US" sz="2400" b="1">
                  <a:solidFill>
                    <a:srgbClr val="FF0000"/>
                  </a:solidFill>
                  <a:latin typeface="Arial"/>
                  <a:cs typeface="Arial"/>
                </a:rPr>
                <a:t> – </a:t>
              </a:r>
              <a:r>
                <a:rPr lang="en-US" sz="2400" b="1" err="1">
                  <a:solidFill>
                    <a:srgbClr val="0070C0"/>
                  </a:solidFill>
                  <a:latin typeface="Arial"/>
                  <a:cs typeface="Arial"/>
                </a:rPr>
                <a:t>Đơn</a:t>
              </a:r>
              <a:r>
                <a:rPr lang="en-US" sz="2400" b="1">
                  <a:solidFill>
                    <a:srgbClr val="0070C0"/>
                  </a:solidFill>
                  <a:latin typeface="Arial"/>
                  <a:cs typeface="Arial"/>
                </a:rPr>
                <a:t> </a:t>
              </a:r>
              <a:r>
                <a:rPr lang="en-US" sz="2400" b="1" err="1">
                  <a:solidFill>
                    <a:srgbClr val="0070C0"/>
                  </a:solidFill>
                  <a:latin typeface="Arial"/>
                  <a:cs typeface="Arial"/>
                </a:rPr>
                <a:t>hàng</a:t>
              </a:r>
              <a:r>
                <a:rPr lang="en-US" sz="2400" b="1">
                  <a:solidFill>
                    <a:srgbClr val="0070C0"/>
                  </a:solidFill>
                  <a:latin typeface="Arial"/>
                  <a:cs typeface="Arial"/>
                </a:rPr>
                <a:t> - </a:t>
              </a:r>
              <a:r>
                <a:rPr lang="en-US" sz="2400" b="1" err="1">
                  <a:solidFill>
                    <a:srgbClr val="0070C0"/>
                  </a:solidFill>
                  <a:latin typeface="Arial"/>
                  <a:cs typeface="Arial"/>
                </a:rPr>
                <a:t>tháng</a:t>
              </a:r>
              <a:r>
                <a:rPr lang="en-US" sz="2400" b="1">
                  <a:solidFill>
                    <a:srgbClr val="0070C0"/>
                  </a:solidFill>
                  <a:latin typeface="Arial"/>
                  <a:cs typeface="Arial"/>
                </a:rPr>
                <a:t> 12</a:t>
              </a:r>
              <a:endParaRPr kumimoji="0" lang="vi-V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71F136B6-DBE1-9F3C-9C55-791AB4CD9C29}"/>
              </a:ext>
            </a:extLst>
          </p:cNvPr>
          <p:cNvSpPr txBox="1"/>
          <p:nvPr/>
        </p:nvSpPr>
        <p:spPr>
          <a:xfrm>
            <a:off x="11866279" y="-357158"/>
            <a:ext cx="209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3C98CA78-90C9-2D03-2078-B477BAD74544}"/>
              </a:ext>
            </a:extLst>
          </p:cNvPr>
          <p:cNvSpPr txBox="1"/>
          <p:nvPr/>
        </p:nvSpPr>
        <p:spPr>
          <a:xfrm>
            <a:off x="12018679" y="-204758"/>
            <a:ext cx="209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014BBF75-68BE-DDAC-69CD-9D4771307177}"/>
              </a:ext>
            </a:extLst>
          </p:cNvPr>
          <p:cNvSpPr txBox="1"/>
          <p:nvPr/>
        </p:nvSpPr>
        <p:spPr>
          <a:xfrm>
            <a:off x="903600" y="1435502"/>
            <a:ext cx="1256992" cy="131641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3600" b="1" err="1">
                <a:solidFill>
                  <a:srgbClr val="0000FF"/>
                </a:solidFill>
                <a:latin typeface="Aptos Black" panose="020F0502020204030204" pitchFamily="34" charset="0"/>
                <a:cs typeface="Arial"/>
              </a:rPr>
              <a:t>Ép</a:t>
            </a:r>
            <a:endParaRPr lang="en-US" sz="3600" b="1">
              <a:solidFill>
                <a:srgbClr val="0000FF"/>
              </a:solidFill>
              <a:latin typeface="Aptos Black" panose="020F0502020204030204" pitchFamily="34" charset="0"/>
              <a:cs typeface="Arial"/>
            </a:endParaRPr>
          </a:p>
          <a:p>
            <a:pPr algn="ctr">
              <a:defRPr/>
            </a:pPr>
            <a:endParaRPr lang="en-US" b="1">
              <a:solidFill>
                <a:srgbClr val="0000FF"/>
              </a:solidFill>
              <a:latin typeface="Arial"/>
              <a:cs typeface="Arial"/>
            </a:endParaRPr>
          </a:p>
          <a:p>
            <a:pPr algn="ctr">
              <a:defRPr/>
            </a:pPr>
            <a:endParaRPr kumimoji="0" lang="vi-VN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A33BB0-C3BC-E31C-5ACA-0D9C62799BC4}"/>
              </a:ext>
            </a:extLst>
          </p:cNvPr>
          <p:cNvGrpSpPr/>
          <p:nvPr/>
        </p:nvGrpSpPr>
        <p:grpSpPr>
          <a:xfrm>
            <a:off x="1159099" y="2152266"/>
            <a:ext cx="1244613" cy="1181316"/>
            <a:chOff x="10888547" y="803895"/>
            <a:chExt cx="1403377" cy="1263246"/>
          </a:xfrm>
        </p:grpSpPr>
        <p:pic>
          <p:nvPicPr>
            <p:cNvPr id="9" name="Picture 8" descr="A green recycle bin with a white circle and arrow&#10;&#10;AI-generated content may be incorrect.">
              <a:extLst>
                <a:ext uri="{FF2B5EF4-FFF2-40B4-BE49-F238E27FC236}">
                  <a16:creationId xmlns:a16="http://schemas.microsoft.com/office/drawing/2014/main" id="{D3729DC7-1E7D-6785-2E4B-413E14C1C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10888547" y="891485"/>
              <a:ext cx="638524" cy="890794"/>
            </a:xfrm>
            <a:prstGeom prst="rect">
              <a:avLst/>
            </a:prstGeom>
          </p:spPr>
        </p:pic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305245D6-BD7A-9A50-8CA4-DAB472624BC0}"/>
                </a:ext>
              </a:extLst>
            </p:cNvPr>
            <p:cNvSpPr/>
            <p:nvPr/>
          </p:nvSpPr>
          <p:spPr>
            <a:xfrm>
              <a:off x="11527071" y="803895"/>
              <a:ext cx="655769" cy="611719"/>
            </a:xfrm>
            <a:custGeom>
              <a:avLst/>
              <a:gdLst/>
              <a:ahLst/>
              <a:cxnLst/>
              <a:rect l="l" t="t" r="r" b="b"/>
              <a:pathLst>
                <a:path w="2960026" h="2948926">
                  <a:moveTo>
                    <a:pt x="0" y="0"/>
                  </a:moveTo>
                  <a:lnTo>
                    <a:pt x="2960026" y="0"/>
                  </a:lnTo>
                  <a:lnTo>
                    <a:pt x="2960026" y="2948927"/>
                  </a:lnTo>
                  <a:lnTo>
                    <a:pt x="0" y="2948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2CD36EEC-9C17-7BF5-1F53-11BD77CB7F21}"/>
                </a:ext>
              </a:extLst>
            </p:cNvPr>
            <p:cNvSpPr/>
            <p:nvPr/>
          </p:nvSpPr>
          <p:spPr>
            <a:xfrm>
              <a:off x="11298322" y="1328023"/>
              <a:ext cx="993602" cy="739118"/>
            </a:xfrm>
            <a:custGeom>
              <a:avLst/>
              <a:gdLst/>
              <a:ahLst/>
              <a:cxnLst/>
              <a:rect l="l" t="t" r="r" b="b"/>
              <a:pathLst>
                <a:path w="4616920" h="3306869">
                  <a:moveTo>
                    <a:pt x="0" y="0"/>
                  </a:moveTo>
                  <a:lnTo>
                    <a:pt x="4616919" y="0"/>
                  </a:lnTo>
                  <a:lnTo>
                    <a:pt x="4616919" y="3306868"/>
                  </a:lnTo>
                  <a:lnTo>
                    <a:pt x="0" y="3306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C5DF885-4343-2457-12FA-746506FF70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274479"/>
              </p:ext>
            </p:extLst>
          </p:nvPr>
        </p:nvGraphicFramePr>
        <p:xfrm>
          <a:off x="2403712" y="959305"/>
          <a:ext cx="9191625" cy="5282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7257988" imgH="3505069" progId="Excel.Sheet.12">
                  <p:link updateAutomatic="1"/>
                </p:oleObj>
              </mc:Choice>
              <mc:Fallback>
                <p:oleObj name="Worksheet" r:id="rId7" imgW="7257988" imgH="3505069" progId="Excel.Sheet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C5DF885-4343-2457-12FA-746506FF70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03712" y="959305"/>
                        <a:ext cx="9191625" cy="5282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73587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1FE07-6EA7-DCFE-E4A5-8FB08475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854F040D-1CAE-2B1F-DF77-222E4FC62844}"/>
              </a:ext>
            </a:extLst>
          </p:cNvPr>
          <p:cNvSpPr/>
          <p:nvPr/>
        </p:nvSpPr>
        <p:spPr>
          <a:xfrm>
            <a:off x="0" y="3199185"/>
            <a:ext cx="12192000" cy="3411397"/>
          </a:xfrm>
          <a:custGeom>
            <a:avLst/>
            <a:gdLst/>
            <a:ahLst/>
            <a:cxnLst/>
            <a:rect l="l" t="t" r="r" b="b"/>
            <a:pathLst>
              <a:path w="18288000" h="6356958">
                <a:moveTo>
                  <a:pt x="0" y="0"/>
                </a:moveTo>
                <a:lnTo>
                  <a:pt x="18288000" y="0"/>
                </a:lnTo>
                <a:lnTo>
                  <a:pt x="1828800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49062" b="-12760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846DCA55-7C31-8E70-7240-E1489B35C1AC}"/>
              </a:ext>
            </a:extLst>
          </p:cNvPr>
          <p:cNvGrpSpPr/>
          <p:nvPr/>
        </p:nvGrpSpPr>
        <p:grpSpPr>
          <a:xfrm>
            <a:off x="0" y="0"/>
            <a:ext cx="12192000" cy="6172199"/>
            <a:chOff x="0" y="0"/>
            <a:chExt cx="4948946" cy="1790302"/>
          </a:xfrm>
        </p:grpSpPr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8FD03549-F1AF-ACD8-31C7-943D41EF27F2}"/>
                </a:ext>
              </a:extLst>
            </p:cNvPr>
            <p:cNvSpPr/>
            <p:nvPr/>
          </p:nvSpPr>
          <p:spPr>
            <a:xfrm>
              <a:off x="0" y="0"/>
              <a:ext cx="4948946" cy="1790302"/>
            </a:xfrm>
            <a:custGeom>
              <a:avLst/>
              <a:gdLst/>
              <a:ahLst/>
              <a:cxnLst/>
              <a:rect l="l" t="t" r="r" b="b"/>
              <a:pathLst>
                <a:path w="4948946" h="1790302">
                  <a:moveTo>
                    <a:pt x="0" y="0"/>
                  </a:moveTo>
                  <a:lnTo>
                    <a:pt x="4948946" y="0"/>
                  </a:lnTo>
                  <a:lnTo>
                    <a:pt x="4948946" y="1790302"/>
                  </a:lnTo>
                  <a:lnTo>
                    <a:pt x="0" y="1790302"/>
                  </a:lnTo>
                  <a:close/>
                </a:path>
              </a:pathLst>
            </a:custGeom>
            <a:gradFill rotWithShape="1">
              <a:gsLst>
                <a:gs pos="0">
                  <a:srgbClr val="F4F4F4">
                    <a:alpha val="100000"/>
                  </a:srgbClr>
                </a:gs>
                <a:gs pos="50000">
                  <a:srgbClr val="FFFFFF">
                    <a:alpha val="9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2C636552-085A-0D93-D05B-185A354887CB}"/>
                </a:ext>
              </a:extLst>
            </p:cNvPr>
            <p:cNvSpPr txBox="1"/>
            <p:nvPr/>
          </p:nvSpPr>
          <p:spPr>
            <a:xfrm>
              <a:off x="0" y="-47625"/>
              <a:ext cx="4948946" cy="1837927"/>
            </a:xfrm>
            <a:prstGeom prst="rect">
              <a:avLst/>
            </a:prstGeom>
          </p:spPr>
          <p:txBody>
            <a:bodyPr lIns="50489" tIns="50489" rIns="50489" bIns="50489" rtlCol="0" anchor="ctr"/>
            <a:lstStyle/>
            <a:p>
              <a:pPr algn="ctr">
                <a:lnSpc>
                  <a:spcPts val="3002"/>
                </a:lnSpc>
              </a:pPr>
              <a:endParaRPr/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9E70F7EC-CA98-65AE-FF85-3483DD6009DD}"/>
              </a:ext>
            </a:extLst>
          </p:cNvPr>
          <p:cNvSpPr/>
          <p:nvPr/>
        </p:nvSpPr>
        <p:spPr>
          <a:xfrm flipH="1">
            <a:off x="7073509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B2B7D1A-ED38-2C32-CA5F-C47A7D78A20E}"/>
              </a:ext>
            </a:extLst>
          </p:cNvPr>
          <p:cNvSpPr/>
          <p:nvPr/>
        </p:nvSpPr>
        <p:spPr>
          <a:xfrm flipH="1">
            <a:off x="10050425" y="-356121"/>
            <a:ext cx="2976916" cy="2083841"/>
          </a:xfrm>
          <a:custGeom>
            <a:avLst/>
            <a:gdLst/>
            <a:ahLst/>
            <a:cxnLst/>
            <a:rect l="l" t="t" r="r" b="b"/>
            <a:pathLst>
              <a:path w="4465374" h="3125762">
                <a:moveTo>
                  <a:pt x="4465374" y="0"/>
                </a:moveTo>
                <a:lnTo>
                  <a:pt x="0" y="0"/>
                </a:lnTo>
                <a:lnTo>
                  <a:pt x="0" y="3125762"/>
                </a:lnTo>
                <a:lnTo>
                  <a:pt x="4465374" y="3125762"/>
                </a:lnTo>
                <a:lnTo>
                  <a:pt x="44653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6F9909A-189C-2949-B392-DC9150988961}"/>
              </a:ext>
            </a:extLst>
          </p:cNvPr>
          <p:cNvSpPr/>
          <p:nvPr/>
        </p:nvSpPr>
        <p:spPr>
          <a:xfrm>
            <a:off x="10044829" y="685801"/>
            <a:ext cx="733693" cy="1051959"/>
          </a:xfrm>
          <a:custGeom>
            <a:avLst/>
            <a:gdLst/>
            <a:ahLst/>
            <a:cxnLst/>
            <a:rect l="l" t="t" r="r" b="b"/>
            <a:pathLst>
              <a:path w="1100539" h="1577939">
                <a:moveTo>
                  <a:pt x="0" y="0"/>
                </a:moveTo>
                <a:lnTo>
                  <a:pt x="1100539" y="0"/>
                </a:lnTo>
                <a:lnTo>
                  <a:pt x="1100539" y="1577939"/>
                </a:lnTo>
                <a:lnTo>
                  <a:pt x="0" y="157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98091" r="-305744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0FC56BB-E32F-416E-E0C7-C9E972C0D3B2}"/>
              </a:ext>
            </a:extLst>
          </p:cNvPr>
          <p:cNvSpPr txBox="1"/>
          <p:nvPr/>
        </p:nvSpPr>
        <p:spPr>
          <a:xfrm>
            <a:off x="611385" y="1202991"/>
            <a:ext cx="6909619" cy="120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14"/>
              </a:lnSpc>
            </a:pPr>
            <a:r>
              <a:rPr lang="en-US" sz="7946" b="1" spc="238" err="1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rPP</a:t>
            </a:r>
            <a:r>
              <a:rPr lang="en-US" sz="7946" b="1" spc="238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7946" b="1" spc="238" err="1">
                <a:solidFill>
                  <a:srgbClr val="11930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Ép</a:t>
            </a:r>
            <a:endParaRPr lang="en-US" sz="7946" b="1" spc="238">
              <a:solidFill>
                <a:srgbClr val="11930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C82B6F54-4426-3024-0918-DFC4A0D216C8}"/>
              </a:ext>
            </a:extLst>
          </p:cNvPr>
          <p:cNvSpPr/>
          <p:nvPr/>
        </p:nvSpPr>
        <p:spPr>
          <a:xfrm>
            <a:off x="323050" y="247418"/>
            <a:ext cx="1702810" cy="375232"/>
          </a:xfrm>
          <a:custGeom>
            <a:avLst/>
            <a:gdLst/>
            <a:ahLst/>
            <a:cxnLst/>
            <a:rect l="l" t="t" r="r" b="b"/>
            <a:pathLst>
              <a:path w="2508872" h="551400">
                <a:moveTo>
                  <a:pt x="0" y="0"/>
                </a:moveTo>
                <a:lnTo>
                  <a:pt x="2508871" y="0"/>
                </a:lnTo>
                <a:lnTo>
                  <a:pt x="2508871" y="551400"/>
                </a:lnTo>
                <a:lnTo>
                  <a:pt x="0" y="551400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04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475E1BD-F09D-4E1D-B1A9-167AD2741704}"/>
              </a:ext>
            </a:extLst>
          </p:cNvPr>
          <p:cNvSpPr txBox="1"/>
          <p:nvPr/>
        </p:nvSpPr>
        <p:spPr>
          <a:xfrm>
            <a:off x="512771" y="6148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1DE907-5DF1-E5E5-7161-8116C71BEB80}"/>
              </a:ext>
            </a:extLst>
          </p:cNvPr>
          <p:cNvGrpSpPr/>
          <p:nvPr/>
        </p:nvGrpSpPr>
        <p:grpSpPr>
          <a:xfrm>
            <a:off x="3792062" y="43518"/>
            <a:ext cx="5487400" cy="523220"/>
            <a:chOff x="312589" y="519961"/>
            <a:chExt cx="5487400" cy="52322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605BF77-80CC-534B-FA81-0BB2B57796BF}"/>
                </a:ext>
              </a:extLst>
            </p:cNvPr>
            <p:cNvSpPr txBox="1"/>
            <p:nvPr/>
          </p:nvSpPr>
          <p:spPr>
            <a:xfrm>
              <a:off x="503089" y="650434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489A799-DA44-3995-A38A-6D31CCEC990D}"/>
                </a:ext>
              </a:extLst>
            </p:cNvPr>
            <p:cNvSpPr txBox="1"/>
            <p:nvPr/>
          </p:nvSpPr>
          <p:spPr>
            <a:xfrm>
              <a:off x="312589" y="519961"/>
              <a:ext cx="54874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000" b="1" kern="1200">
                  <a:solidFill>
                    <a:srgbClr val="0070C0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KẾT QUẢ 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BÁN HÀNG T12 so </a:t>
              </a:r>
              <a:r>
                <a:rPr lang="en-US" sz="2000" b="1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với</a:t>
              </a:r>
              <a:r>
                <a: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KPI - </a:t>
              </a:r>
              <a:r>
                <a:rPr kumimoji="0" lang="en-US" sz="2800" b="1" i="0" u="none" strike="noStrike" kern="1200" cap="none" spc="0" normalizeH="0" baseline="0" noProof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rPP</a:t>
              </a:r>
              <a:endParaRPr kumimoji="0" lang="vi-V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A271FAD-1C4F-FFF9-BC3E-3C2F945821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455822"/>
              </p:ext>
            </p:extLst>
          </p:nvPr>
        </p:nvGraphicFramePr>
        <p:xfrm>
          <a:off x="0" y="542925"/>
          <a:ext cx="8250238" cy="314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8471270" imgH="2597369" progId="Excel.Sheet.12">
                  <p:link updateAutomatic="1"/>
                </p:oleObj>
              </mc:Choice>
              <mc:Fallback>
                <p:oleObj name="Worksheet" r:id="rId3" imgW="8471270" imgH="2597369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A271FAD-1C4F-FFF9-BC3E-3C2F945821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542925"/>
                        <a:ext cx="8250238" cy="3144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81CB607-35BA-B587-5559-F458FBD444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104948"/>
              </p:ext>
            </p:extLst>
          </p:nvPr>
        </p:nvGraphicFramePr>
        <p:xfrm>
          <a:off x="0" y="3635375"/>
          <a:ext cx="8250238" cy="296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8426684" imgH="2222544" progId="Excel.Sheet.12">
                  <p:link updateAutomatic="1"/>
                </p:oleObj>
              </mc:Choice>
              <mc:Fallback>
                <p:oleObj name="Worksheet" r:id="rId5" imgW="8426684" imgH="2222544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81CB607-35BA-B587-5559-F458FBD444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3635375"/>
                        <a:ext cx="8250238" cy="296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F6461DE-4F11-608D-F15C-4E2256AE308C}"/>
              </a:ext>
            </a:extLst>
          </p:cNvPr>
          <p:cNvSpPr/>
          <p:nvPr/>
        </p:nvSpPr>
        <p:spPr>
          <a:xfrm>
            <a:off x="8249549" y="501006"/>
            <a:ext cx="3942451" cy="6033144"/>
          </a:xfrm>
          <a:prstGeom prst="roundRect">
            <a:avLst>
              <a:gd name="adj" fmla="val 96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1400" b="1" u="sng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Đơn</a:t>
            </a:r>
            <a:r>
              <a:rPr lang="en-US" sz="1400" b="1" u="sng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b="1" u="sng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hàng</a:t>
            </a:r>
            <a:r>
              <a:rPr lang="en-US" sz="1400" b="1" u="sng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b="1" u="sng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tháng</a:t>
            </a:r>
            <a:r>
              <a:rPr lang="en-US" sz="1400" b="1" u="sng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12:</a:t>
            </a:r>
            <a:endParaRPr lang="en-US" sz="1400" b="1" u="sng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Đại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Nhất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Long: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đặt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10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tấn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vảy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PP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đỏ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và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11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tấn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hạt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rPP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đỏ</a:t>
            </a:r>
            <a:endParaRPr lang="en-US" sz="1400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Aeonmall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/ DTP: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đặt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>
                <a:solidFill>
                  <a:srgbClr val="0000FF"/>
                </a:solidFill>
                <a:ea typeface="+mn-lt"/>
                <a:cs typeface="+mn-lt"/>
              </a:rPr>
              <a:t>~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 3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tấn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rPP20Gy01 </a:t>
            </a:r>
            <a:endParaRPr lang="vi-VN" sz="1400">
              <a:solidFill>
                <a:srgbClr val="0000FF"/>
              </a:solidFill>
              <a:latin typeface="Times New Roman"/>
              <a:ea typeface="Calibri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vi-VN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Reynera</a:t>
            </a:r>
            <a:r>
              <a:rPr lang="vi-VN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: ngày 10/12 đặt 24 tấn, dự kiến giao qua  T1.</a:t>
            </a:r>
            <a:endParaRPr lang="en-US" sz="1400">
              <a:solidFill>
                <a:srgbClr val="0000FF"/>
              </a:solidFill>
              <a:latin typeface="Times New Roman"/>
              <a:ea typeface="Calibri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Hồng Kim Long An: 10mt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rPP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dương</a:t>
            </a:r>
            <a:endParaRPr lang="en-US" sz="1400">
              <a:solidFill>
                <a:srgbClr val="0000FF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Các </a:t>
            </a:r>
            <a:r>
              <a:rPr lang="en-US" sz="1400" b="1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dự</a:t>
            </a:r>
            <a:r>
              <a:rPr lang="en-US" sz="1400" b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b="1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án</a:t>
            </a:r>
            <a:r>
              <a:rPr lang="en-US" sz="1400" b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b="1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đang</a:t>
            </a:r>
            <a:r>
              <a:rPr lang="en-US" sz="1400" b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b="1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phát</a:t>
            </a:r>
            <a:r>
              <a:rPr lang="en-US" sz="1400" b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b="1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triển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: </a:t>
            </a:r>
          </a:p>
          <a:p>
            <a:pPr marL="342900" indent="-342900">
              <a:buFont typeface="+mj-lt"/>
              <a:buAutoNum type="arabicPeriod"/>
            </a:pPr>
            <a:endParaRPr lang="en-US" sz="1400">
              <a:solidFill>
                <a:srgbClr val="0000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IKEA: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đã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bổ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sung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hồ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sơ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kiểm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soát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hàm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lượng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chất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chống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cháy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độc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hại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cho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Vĩnh Long,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trình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lên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IKEA VN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xem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xét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(Vĩnh Long &amp; Hiệp Thành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đều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đồng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ý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sẽ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mua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40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tấn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ngay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lập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tức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khi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có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approve).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Ngày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26/11, IKEA VN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tiếp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tục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trình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lên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IKEA Compliance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để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duyệt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hồ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sơ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DTR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cho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cả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rPP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và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rPET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(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bổ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sung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theo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yêu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cầu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IKEA Thụy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Điển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Target : DTR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đang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nghiên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cứu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mẫu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thị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trường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để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phát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triển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mẫu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rPP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đỏ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cho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Target =&gt; phòng R&amp;D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đang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phát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triển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màu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đỏ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Target,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dư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kiến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có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mẫu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trong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tháng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12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Các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khách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hàng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đang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phát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triển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: </a:t>
            </a:r>
            <a:r>
              <a:rPr lang="en-US" sz="1400" err="1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Hansmill</a:t>
            </a:r>
            <a:r>
              <a:rPr lang="en-US" sz="1400">
                <a:solidFill>
                  <a:srgbClr val="0000FF"/>
                </a:solidFill>
                <a:latin typeface="Times New Roman"/>
                <a:ea typeface="Calibri"/>
                <a:cs typeface="Times New Roman"/>
              </a:rPr>
              <a:t>, Tricon.</a:t>
            </a:r>
          </a:p>
          <a:p>
            <a:endParaRPr lang="en-US" sz="1600" b="1" u="sng">
              <a:solidFill>
                <a:srgbClr val="0000FF"/>
              </a:solidFill>
              <a:latin typeface="Arial"/>
              <a:ea typeface="Calibri"/>
              <a:cs typeface="Arial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>
              <a:solidFill>
                <a:srgbClr val="0000FF"/>
              </a:solidFill>
              <a:latin typeface="Calibri" panose="020F0502020204030204"/>
              <a:ea typeface="Calibri"/>
              <a:cs typeface="Calibri"/>
            </a:endParaRPr>
          </a:p>
          <a:p>
            <a:endParaRPr lang="en-US" sz="1600">
              <a:solidFill>
                <a:srgbClr val="0000FF"/>
              </a:solidFill>
              <a:latin typeface="Calibri" panose="020F0502020204030204"/>
              <a:ea typeface="Calibri"/>
              <a:cs typeface="Calibri"/>
            </a:endParaRPr>
          </a:p>
          <a:p>
            <a:endParaRPr lang="en-US" sz="1600" b="1" u="sng">
              <a:solidFill>
                <a:srgbClr val="0000FF"/>
              </a:solidFill>
              <a:latin typeface="Calibri" panose="020F0502020204030204"/>
              <a:ea typeface="Calibri"/>
              <a:cs typeface="Calibri"/>
            </a:endParaRPr>
          </a:p>
          <a:p>
            <a:endParaRPr lang="vi-VN" sz="1400" b="1">
              <a:solidFill>
                <a:srgbClr val="0000FF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3817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DBB9B-B85C-543A-DCFE-16B2278D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685035-5EAE-1ECD-06EB-3D865FB1D0B4}"/>
              </a:ext>
            </a:extLst>
          </p:cNvPr>
          <p:cNvGrpSpPr/>
          <p:nvPr/>
        </p:nvGrpSpPr>
        <p:grpSpPr>
          <a:xfrm>
            <a:off x="1839686" y="432026"/>
            <a:ext cx="8967019" cy="896611"/>
            <a:chOff x="-6250744" y="123155"/>
            <a:chExt cx="7911690" cy="89661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65457AF-081E-5A31-5DA8-6DE70947CBC4}"/>
                </a:ext>
              </a:extLst>
            </p:cNvPr>
            <p:cNvSpPr txBox="1"/>
            <p:nvPr/>
          </p:nvSpPr>
          <p:spPr>
            <a:xfrm>
              <a:off x="513959" y="650434"/>
              <a:ext cx="16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858CE8-F90A-0A83-D449-1E94B9B579C6}"/>
                </a:ext>
              </a:extLst>
            </p:cNvPr>
            <p:cNvSpPr txBox="1"/>
            <p:nvPr/>
          </p:nvSpPr>
          <p:spPr>
            <a:xfrm>
              <a:off x="-6250744" y="123155"/>
              <a:ext cx="7911690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defRPr/>
              </a:pPr>
              <a:r>
                <a:rPr lang="en-US" sz="2400" b="1" err="1">
                  <a:solidFill>
                    <a:srgbClr val="FF0000"/>
                  </a:solidFill>
                  <a:latin typeface="Arial"/>
                  <a:cs typeface="Arial"/>
                </a:rPr>
                <a:t>rPP</a:t>
              </a:r>
              <a:r>
                <a:rPr lang="en-US" sz="2400" b="1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lang="en-US" sz="2400" b="1" err="1">
                  <a:solidFill>
                    <a:srgbClr val="FF0000"/>
                  </a:solidFill>
                  <a:latin typeface="Arial"/>
                  <a:cs typeface="Arial"/>
                </a:rPr>
                <a:t>Ép</a:t>
              </a:r>
              <a:r>
                <a:rPr lang="en-US" sz="2400" b="1">
                  <a:solidFill>
                    <a:srgbClr val="FF0000"/>
                  </a:solidFill>
                  <a:latin typeface="Arial"/>
                  <a:cs typeface="Arial"/>
                </a:rPr>
                <a:t> – </a:t>
              </a:r>
              <a:r>
                <a:rPr lang="en-US" sz="2400" b="1" err="1">
                  <a:solidFill>
                    <a:srgbClr val="0070C0"/>
                  </a:solidFill>
                  <a:latin typeface="Arial"/>
                  <a:cs typeface="Arial"/>
                </a:rPr>
                <a:t>Đơn</a:t>
              </a:r>
              <a:r>
                <a:rPr lang="en-US" sz="2400" b="1">
                  <a:solidFill>
                    <a:srgbClr val="0070C0"/>
                  </a:solidFill>
                  <a:latin typeface="Arial"/>
                  <a:cs typeface="Arial"/>
                </a:rPr>
                <a:t> </a:t>
              </a:r>
              <a:r>
                <a:rPr lang="en-US" sz="2400" b="1" err="1">
                  <a:solidFill>
                    <a:srgbClr val="0070C0"/>
                  </a:solidFill>
                  <a:latin typeface="Arial"/>
                  <a:cs typeface="Arial"/>
                </a:rPr>
                <a:t>hàng</a:t>
              </a:r>
              <a:r>
                <a:rPr lang="en-US" sz="2400" b="1">
                  <a:solidFill>
                    <a:srgbClr val="0070C0"/>
                  </a:solidFill>
                  <a:latin typeface="Arial"/>
                  <a:cs typeface="Arial"/>
                </a:rPr>
                <a:t> - </a:t>
              </a:r>
              <a:r>
                <a:rPr lang="en-US" sz="2400" b="1" err="1">
                  <a:solidFill>
                    <a:srgbClr val="0070C0"/>
                  </a:solidFill>
                  <a:latin typeface="Arial"/>
                  <a:cs typeface="Arial"/>
                </a:rPr>
                <a:t>tháng</a:t>
              </a:r>
              <a:r>
                <a:rPr lang="en-US" sz="2400" b="1">
                  <a:solidFill>
                    <a:srgbClr val="0070C0"/>
                  </a:solidFill>
                  <a:latin typeface="Arial"/>
                  <a:cs typeface="Arial"/>
                </a:rPr>
                <a:t> 12</a:t>
              </a:r>
              <a:endParaRPr kumimoji="0" lang="vi-V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B7C390A2-B980-6B47-2398-9A13991C4794}"/>
              </a:ext>
            </a:extLst>
          </p:cNvPr>
          <p:cNvSpPr txBox="1"/>
          <p:nvPr/>
        </p:nvSpPr>
        <p:spPr>
          <a:xfrm>
            <a:off x="11866279" y="-357158"/>
            <a:ext cx="209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FF54EDDE-86A9-D1E0-11E8-CFAFFBA11269}"/>
              </a:ext>
            </a:extLst>
          </p:cNvPr>
          <p:cNvSpPr txBox="1"/>
          <p:nvPr/>
        </p:nvSpPr>
        <p:spPr>
          <a:xfrm>
            <a:off x="12018679" y="-204758"/>
            <a:ext cx="209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EF2E0CA-ECDA-3E8E-9C18-2074C7699B8E}"/>
              </a:ext>
            </a:extLst>
          </p:cNvPr>
          <p:cNvSpPr txBox="1"/>
          <p:nvPr/>
        </p:nvSpPr>
        <p:spPr>
          <a:xfrm>
            <a:off x="903600" y="1435502"/>
            <a:ext cx="1256992" cy="131641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3600" b="1" err="1">
                <a:solidFill>
                  <a:srgbClr val="0000FF"/>
                </a:solidFill>
                <a:latin typeface="Aptos Black" panose="020F0502020204030204" pitchFamily="34" charset="0"/>
                <a:cs typeface="Arial"/>
              </a:rPr>
              <a:t>Ép</a:t>
            </a:r>
            <a:endParaRPr lang="en-US" sz="3600" b="1">
              <a:solidFill>
                <a:srgbClr val="0000FF"/>
              </a:solidFill>
              <a:latin typeface="Aptos Black" panose="020F0502020204030204" pitchFamily="34" charset="0"/>
              <a:cs typeface="Arial"/>
            </a:endParaRPr>
          </a:p>
          <a:p>
            <a:pPr algn="ctr">
              <a:defRPr/>
            </a:pPr>
            <a:endParaRPr lang="en-US" b="1">
              <a:solidFill>
                <a:srgbClr val="0000FF"/>
              </a:solidFill>
              <a:latin typeface="Arial"/>
              <a:cs typeface="Arial"/>
            </a:endParaRPr>
          </a:p>
          <a:p>
            <a:pPr algn="ctr">
              <a:defRPr/>
            </a:pPr>
            <a:endParaRPr kumimoji="0" lang="vi-VN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C4D7A50-8065-B9B5-AC63-F5AAB2A8F292}"/>
              </a:ext>
            </a:extLst>
          </p:cNvPr>
          <p:cNvGrpSpPr/>
          <p:nvPr/>
        </p:nvGrpSpPr>
        <p:grpSpPr>
          <a:xfrm>
            <a:off x="1159099" y="2152266"/>
            <a:ext cx="1244613" cy="1181316"/>
            <a:chOff x="10888547" y="803895"/>
            <a:chExt cx="1403377" cy="1263246"/>
          </a:xfrm>
        </p:grpSpPr>
        <p:pic>
          <p:nvPicPr>
            <p:cNvPr id="9" name="Picture 8" descr="A green recycle bin with a white circle and arrow&#10;&#10;AI-generated content may be incorrect.">
              <a:extLst>
                <a:ext uri="{FF2B5EF4-FFF2-40B4-BE49-F238E27FC236}">
                  <a16:creationId xmlns:a16="http://schemas.microsoft.com/office/drawing/2014/main" id="{E8DC74EF-FDB4-2441-A0FA-E84BA97DB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10888547" y="891485"/>
              <a:ext cx="638524" cy="890794"/>
            </a:xfrm>
            <a:prstGeom prst="rect">
              <a:avLst/>
            </a:prstGeom>
          </p:spPr>
        </p:pic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CF23654A-5E1E-E93A-A257-CFCFB58F16A7}"/>
                </a:ext>
              </a:extLst>
            </p:cNvPr>
            <p:cNvSpPr/>
            <p:nvPr/>
          </p:nvSpPr>
          <p:spPr>
            <a:xfrm>
              <a:off x="11527071" y="803895"/>
              <a:ext cx="655769" cy="611719"/>
            </a:xfrm>
            <a:custGeom>
              <a:avLst/>
              <a:gdLst/>
              <a:ahLst/>
              <a:cxnLst/>
              <a:rect l="l" t="t" r="r" b="b"/>
              <a:pathLst>
                <a:path w="2960026" h="2948926">
                  <a:moveTo>
                    <a:pt x="0" y="0"/>
                  </a:moveTo>
                  <a:lnTo>
                    <a:pt x="2960026" y="0"/>
                  </a:lnTo>
                  <a:lnTo>
                    <a:pt x="2960026" y="2948927"/>
                  </a:lnTo>
                  <a:lnTo>
                    <a:pt x="0" y="2948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6D94EF10-528C-7B6C-0813-59250E14A42E}"/>
                </a:ext>
              </a:extLst>
            </p:cNvPr>
            <p:cNvSpPr/>
            <p:nvPr/>
          </p:nvSpPr>
          <p:spPr>
            <a:xfrm>
              <a:off x="11298322" y="1328023"/>
              <a:ext cx="993602" cy="739118"/>
            </a:xfrm>
            <a:custGeom>
              <a:avLst/>
              <a:gdLst/>
              <a:ahLst/>
              <a:cxnLst/>
              <a:rect l="l" t="t" r="r" b="b"/>
              <a:pathLst>
                <a:path w="4616920" h="3306869">
                  <a:moveTo>
                    <a:pt x="0" y="0"/>
                  </a:moveTo>
                  <a:lnTo>
                    <a:pt x="4616919" y="0"/>
                  </a:lnTo>
                  <a:lnTo>
                    <a:pt x="4616919" y="3306868"/>
                  </a:lnTo>
                  <a:lnTo>
                    <a:pt x="0" y="3306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5504732-D79F-7627-37A6-804A9016EF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355614"/>
              </p:ext>
            </p:extLst>
          </p:nvPr>
        </p:nvGraphicFramePr>
        <p:xfrm>
          <a:off x="1968500" y="1196975"/>
          <a:ext cx="9620250" cy="446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7423310" imgH="1663656" progId="Excel.Sheet.12">
                  <p:link updateAutomatic="1"/>
                </p:oleObj>
              </mc:Choice>
              <mc:Fallback>
                <p:oleObj name="Worksheet" r:id="rId7" imgW="7423310" imgH="1663656" progId="Excel.Sheet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5504732-D79F-7627-37A6-804A9016EF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8500" y="1196975"/>
                        <a:ext cx="9620250" cy="4464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65529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459B0-8476-498D-8666-1ADE03AF7CA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17814" y="1519647"/>
            <a:ext cx="6484938" cy="35528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>
                <a:solidFill>
                  <a:srgbClr val="0070C0"/>
                </a:solidFill>
              </a:rPr>
              <a:t>CÁC HOẠT ĐỘNG VỚI KHÁCH HÀNG TIỀM NĂNG TRONG TUẦN</a:t>
            </a:r>
            <a:endParaRPr lang="en-US" sz="3200" b="1"/>
          </a:p>
        </p:txBody>
      </p:sp>
      <p:pic>
        <p:nvPicPr>
          <p:cNvPr id="7" name="Picture 6" descr="A cartoon character with a briefcase climbing up a graph&#10;&#10;Description automatically generated">
            <a:extLst>
              <a:ext uri="{FF2B5EF4-FFF2-40B4-BE49-F238E27FC236}">
                <a16:creationId xmlns:a16="http://schemas.microsoft.com/office/drawing/2014/main" id="{586486CD-37D9-16ED-D90C-25EDF1138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375333" y="643234"/>
            <a:ext cx="3598853" cy="559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63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D3C25-B3B0-32E5-9427-7BB364DF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EAB57-C47C-1DFA-DDF7-D5A690A693D3}"/>
              </a:ext>
            </a:extLst>
          </p:cNvPr>
          <p:cNvGrpSpPr/>
          <p:nvPr/>
        </p:nvGrpSpPr>
        <p:grpSpPr>
          <a:xfrm>
            <a:off x="3037984" y="50630"/>
            <a:ext cx="5357128" cy="400110"/>
            <a:chOff x="512771" y="391666"/>
            <a:chExt cx="13835297" cy="131813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B5B193E-4359-0BCC-B5A9-E6B83DE0A5C7}"/>
                </a:ext>
              </a:extLst>
            </p:cNvPr>
            <p:cNvGrpSpPr/>
            <p:nvPr/>
          </p:nvGrpSpPr>
          <p:grpSpPr>
            <a:xfrm>
              <a:off x="512771" y="391666"/>
              <a:ext cx="13835297" cy="1318132"/>
              <a:chOff x="503089" y="427224"/>
              <a:chExt cx="13835297" cy="1318132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E9D43E-4D48-A7C5-9E68-9A223730426F}"/>
                  </a:ext>
                </a:extLst>
              </p:cNvPr>
              <p:cNvSpPr txBox="1"/>
              <p:nvPr/>
            </p:nvSpPr>
            <p:spPr>
              <a:xfrm>
                <a:off x="503089" y="650434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1ED7AB-D385-19F0-58F3-20C8CE883C17}"/>
                  </a:ext>
                </a:extLst>
              </p:cNvPr>
              <p:cNvSpPr txBox="1"/>
              <p:nvPr/>
            </p:nvSpPr>
            <p:spPr>
              <a:xfrm>
                <a:off x="4150724" y="427224"/>
                <a:ext cx="10187662" cy="1318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err="1">
                    <a:solidFill>
                      <a:srgbClr val="0070C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Dự</a:t>
                </a:r>
                <a:r>
                  <a:rPr lang="en-US" sz="2000" b="1">
                    <a:solidFill>
                      <a:srgbClr val="0070C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lang="en-US" sz="2000" b="1" err="1">
                    <a:solidFill>
                      <a:srgbClr val="0070C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án</a:t>
                </a:r>
                <a:r>
                  <a:rPr lang="en-US" sz="2000" b="1">
                    <a:solidFill>
                      <a:srgbClr val="0070C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lang="en-US" sz="2000" b="1" err="1">
                    <a:solidFill>
                      <a:srgbClr val="0070C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FtoP</a:t>
                </a:r>
                <a:r>
                  <a:rPr lang="en-US" sz="2000" b="1">
                    <a:solidFill>
                      <a:srgbClr val="0070C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- </a:t>
                </a:r>
                <a:r>
                  <a:rPr lang="en-US" sz="2000" b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Suntory PepsiCo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68B3EBA-1534-C43C-7AC7-EB15BA5D1D8F}"/>
                </a:ext>
              </a:extLst>
            </p:cNvPr>
            <p:cNvSpPr txBox="1"/>
            <p:nvPr/>
          </p:nvSpPr>
          <p:spPr>
            <a:xfrm>
              <a:off x="639771" y="1163601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9" name="Table 15">
            <a:extLst>
              <a:ext uri="{FF2B5EF4-FFF2-40B4-BE49-F238E27FC236}">
                <a16:creationId xmlns:a16="http://schemas.microsoft.com/office/drawing/2014/main" id="{45B153A8-EF73-BE3E-B7C1-396576B80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708511"/>
              </p:ext>
            </p:extLst>
          </p:nvPr>
        </p:nvGraphicFramePr>
        <p:xfrm>
          <a:off x="67733" y="504425"/>
          <a:ext cx="6292742" cy="3171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2742">
                  <a:extLst>
                    <a:ext uri="{9D8B030D-6E8A-4147-A177-3AD203B41FA5}">
                      <a16:colId xmlns:a16="http://schemas.microsoft.com/office/drawing/2014/main" val="3750809691"/>
                    </a:ext>
                  </a:extLst>
                </a:gridCol>
              </a:tblGrid>
              <a:tr h="296259"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Hoạt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động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với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khách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hàng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277782"/>
                  </a:ext>
                </a:extLst>
              </a:tr>
              <a:tr h="2272860"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Mục tiêu chính của dự án: </a:t>
                      </a:r>
                      <a:r>
                        <a:rPr lang="en-US" sz="1600" b="1" i="0" u="none" strike="noStrike" noProof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tiết kiệm</a:t>
                      </a:r>
                      <a:r>
                        <a:rPr lang="en-US" sz="1600" b="0" i="0" u="none" strike="noStrike" noProof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vi-VN" sz="1600" b="0" i="0" u="none" strike="noStrike" noProof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lvl="0" indent="-28575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vi-VN" sz="1600" b="0" i="0" u="none" strike="noStrike" noProof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Hiện đã chạy ở Nhật 3 Lines. Thái Lan 1 line do Indorama đầu tư.</a:t>
                      </a:r>
                    </a:p>
                    <a:p>
                      <a:pPr marL="285750" lvl="0" indent="-28575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vi-VN" sz="1600" b="0" i="0" u="none" strike="noStrike" noProof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 kiến ở VN sẽ có khoảng 4-5 lines ( Line 1 cho Tea +, 4 lines còn lại cho các chai của Pepsi, Sting)</a:t>
                      </a:r>
                    </a:p>
                    <a:p>
                      <a:pPr marL="285750" lvl="0" indent="-28575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vi-VN" sz="1600" b="0" i="0" u="none" strike="noStrike" noProof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CPC đang chào giá vảy cho Suntory với giá thấp hơn DTR ( chất lượng chưa đánh giá)</a:t>
                      </a:r>
                    </a:p>
                    <a:p>
                      <a:pPr marL="0" lvl="0" indent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vi-VN" sz="1600" b="0" i="0" u="none" strike="noStrike" noProof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 định của Suntory:</a:t>
                      </a:r>
                    </a:p>
                    <a:p>
                      <a:pPr marL="0" lvl="0" indent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vi-VN" sz="1600" b="0" i="0" u="none" strike="noStrike" noProof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Đây là một dự án mới và phức tạp, nên họ muốn làm với đơn vị đã có kinh nghiệm để có thể vận hành trơn tru.</a:t>
                      </a:r>
                      <a:endParaRPr lang="en-US" sz="1600" b="0" i="0" u="none" strike="noStrike" noProof="0">
                        <a:solidFill>
                          <a:srgbClr val="0000FF"/>
                        </a:solidFill>
                        <a:highlight>
                          <a:srgbClr val="FAFA33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4201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7CDDB72-2A2E-7D8B-9133-3515575DA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475167"/>
              </p:ext>
            </p:extLst>
          </p:nvPr>
        </p:nvGraphicFramePr>
        <p:xfrm>
          <a:off x="6422745" y="528794"/>
          <a:ext cx="2731087" cy="3147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087">
                  <a:extLst>
                    <a:ext uri="{9D8B030D-6E8A-4147-A177-3AD203B41FA5}">
                      <a16:colId xmlns:a16="http://schemas.microsoft.com/office/drawing/2014/main" val="3750809691"/>
                    </a:ext>
                  </a:extLst>
                </a:gridCol>
              </a:tblGrid>
              <a:tr h="403665"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Sản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phẩm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sử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dụng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277782"/>
                  </a:ext>
                </a:extLst>
              </a:tr>
              <a:tr h="2743791"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vi-VN" sz="1800" b="0" i="0" u="none" strike="noStrike" noProof="0">
                          <a:solidFill>
                            <a:srgbClr val="0621E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Phôi 15gr cho ứng dụng Nitro Hotfill – Chai Olon Tea +</a:t>
                      </a:r>
                      <a:endParaRPr lang="en-US" sz="1800" b="0" i="0" u="none" strike="noStrike" noProof="0">
                        <a:solidFill>
                          <a:srgbClr val="0621E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42015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C7BA427-0C5E-B808-B69E-9D4A3B786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086094"/>
              </p:ext>
            </p:extLst>
          </p:nvPr>
        </p:nvGraphicFramePr>
        <p:xfrm>
          <a:off x="9216102" y="528794"/>
          <a:ext cx="2828414" cy="314745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28414">
                  <a:extLst>
                    <a:ext uri="{9D8B030D-6E8A-4147-A177-3AD203B41FA5}">
                      <a16:colId xmlns:a16="http://schemas.microsoft.com/office/drawing/2014/main" val="3750809691"/>
                    </a:ext>
                  </a:extLst>
                </a:gridCol>
              </a:tblGrid>
              <a:tr h="473266"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Kế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hoạch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tiếp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theo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277782"/>
                  </a:ext>
                </a:extLst>
              </a:tr>
              <a:tr h="267419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vi-VN" sz="1800">
                          <a:solidFill>
                            <a:srgbClr val="0621E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Xem xét chào lại giá cho SPVB</a:t>
                      </a:r>
                      <a:endParaRPr lang="en-US" sz="1800">
                        <a:solidFill>
                          <a:srgbClr val="0621E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342015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1DC44AD-8068-CC3C-7AF7-19F5D1E93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39" y="1852173"/>
            <a:ext cx="1431899" cy="16667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F197AD-837C-22A9-20B5-6EC146862645}"/>
              </a:ext>
            </a:extLst>
          </p:cNvPr>
          <p:cNvSpPr txBox="1"/>
          <p:nvPr/>
        </p:nvSpPr>
        <p:spPr>
          <a:xfrm>
            <a:off x="108230" y="3765517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>
                <a:solidFill>
                  <a:srgbClr val="0621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 bán Suntory mong muốn</a:t>
            </a:r>
            <a:endParaRPr lang="en-US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81F9BE-01AF-563C-C356-09951332A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" y="4152953"/>
            <a:ext cx="11784743" cy="230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87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76232B6-4208-4138-B73B-180412DCA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266019"/>
              </p:ext>
            </p:extLst>
          </p:nvPr>
        </p:nvGraphicFramePr>
        <p:xfrm>
          <a:off x="100149" y="474110"/>
          <a:ext cx="11991702" cy="4010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024">
                  <a:extLst>
                    <a:ext uri="{9D8B030D-6E8A-4147-A177-3AD203B41FA5}">
                      <a16:colId xmlns:a16="http://schemas.microsoft.com/office/drawing/2014/main" val="2298010538"/>
                    </a:ext>
                  </a:extLst>
                </a:gridCol>
                <a:gridCol w="781821">
                  <a:extLst>
                    <a:ext uri="{9D8B030D-6E8A-4147-A177-3AD203B41FA5}">
                      <a16:colId xmlns:a16="http://schemas.microsoft.com/office/drawing/2014/main" val="2138535347"/>
                    </a:ext>
                  </a:extLst>
                </a:gridCol>
                <a:gridCol w="1105549">
                  <a:extLst>
                    <a:ext uri="{9D8B030D-6E8A-4147-A177-3AD203B41FA5}">
                      <a16:colId xmlns:a16="http://schemas.microsoft.com/office/drawing/2014/main" val="2382955259"/>
                    </a:ext>
                  </a:extLst>
                </a:gridCol>
                <a:gridCol w="3704954">
                  <a:extLst>
                    <a:ext uri="{9D8B030D-6E8A-4147-A177-3AD203B41FA5}">
                      <a16:colId xmlns:a16="http://schemas.microsoft.com/office/drawing/2014/main" val="336879872"/>
                    </a:ext>
                  </a:extLst>
                </a:gridCol>
                <a:gridCol w="5966354">
                  <a:extLst>
                    <a:ext uri="{9D8B030D-6E8A-4147-A177-3AD203B41FA5}">
                      <a16:colId xmlns:a16="http://schemas.microsoft.com/office/drawing/2014/main" val="215250238"/>
                    </a:ext>
                  </a:extLst>
                </a:gridCol>
              </a:tblGrid>
              <a:tr h="41017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/>
                          <a:cs typeface="Times New Roman"/>
                        </a:rPr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Times New Roman"/>
                          <a:cs typeface="Times New Roman"/>
                        </a:rPr>
                        <a:t>Ngày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Times New Roman"/>
                          <a:cs typeface="Times New Roman"/>
                        </a:rPr>
                        <a:t>Khách</a:t>
                      </a:r>
                      <a:r>
                        <a:rPr lang="en-US" sz="1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200" err="1">
                          <a:latin typeface="Times New Roman"/>
                          <a:cs typeface="Times New Roman"/>
                        </a:rPr>
                        <a:t>hàng</a:t>
                      </a:r>
                      <a:endParaRPr lang="en-US" sz="12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/>
                          <a:cs typeface="Times New Roman"/>
                        </a:rPr>
                        <a:t>Thành </a:t>
                      </a:r>
                      <a:r>
                        <a:rPr lang="en-US" sz="1200" err="1">
                          <a:latin typeface="Times New Roman"/>
                          <a:cs typeface="Times New Roman"/>
                        </a:rPr>
                        <a:t>phần</a:t>
                      </a:r>
                      <a:r>
                        <a:rPr lang="en-US" sz="1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200" err="1">
                          <a:latin typeface="Times New Roman"/>
                          <a:cs typeface="Times New Roman"/>
                        </a:rPr>
                        <a:t>tham</a:t>
                      </a:r>
                      <a:r>
                        <a:rPr lang="en-US" sz="1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200" err="1">
                          <a:latin typeface="Times New Roman"/>
                          <a:cs typeface="Times New Roman"/>
                        </a:rPr>
                        <a:t>dự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Times New Roman"/>
                          <a:cs typeface="Times New Roman"/>
                        </a:rPr>
                        <a:t>Nội</a:t>
                      </a:r>
                      <a:r>
                        <a:rPr lang="en-US" sz="1200">
                          <a:latin typeface="Times New Roman"/>
                          <a:cs typeface="Times New Roman"/>
                        </a:rPr>
                        <a:t> dung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5331598"/>
                  </a:ext>
                </a:extLst>
              </a:tr>
              <a:tr h="900098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15/12</a:t>
                      </a:r>
                      <a:endParaRPr lang="en-US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Suntory </a:t>
                      </a:r>
                      <a:endParaRPr lang="en-US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Suntory</a:t>
                      </a:r>
                      <a:endParaRPr lang="en-US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Trao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đổi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về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dự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án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bán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hàng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FtoP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.</a:t>
                      </a:r>
                      <a:endParaRPr lang="en-US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054633"/>
                  </a:ext>
                </a:extLst>
              </a:tr>
              <a:tr h="900098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vi-VN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</a:t>
                      </a:r>
                      <a:endParaRPr lang="en-US" sz="1200" b="0" kern="1200">
                        <a:solidFill>
                          <a:srgbClr val="0000FF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16/12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Fine today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vi-VN" sz="1200" b="0" i="0" u="none" strike="noStrike" kern="1200" noProof="0" err="1">
                          <a:solidFill>
                            <a:srgbClr val="0000FF"/>
                          </a:solidFill>
                          <a:latin typeface="Times New Roman"/>
                        </a:rPr>
                        <a:t>Finetoday</a:t>
                      </a:r>
                      <a:r>
                        <a:rPr lang="vi-VN" sz="1200" b="0" i="0" u="none" strike="noStrike" kern="1200" noProof="0">
                          <a:solidFill>
                            <a:srgbClr val="0000FF"/>
                          </a:solidFill>
                          <a:latin typeface="Times New Roman"/>
                        </a:rPr>
                        <a:t>: </a:t>
                      </a:r>
                      <a:r>
                        <a:rPr lang="vi-VN" sz="1200" b="0" i="0" u="none" strike="noStrike" kern="1200" noProof="0" err="1">
                          <a:solidFill>
                            <a:srgbClr val="0000FF"/>
                          </a:solidFill>
                          <a:latin typeface="Times New Roman"/>
                        </a:rPr>
                        <a:t>Team</a:t>
                      </a:r>
                      <a:r>
                        <a:rPr lang="vi-VN" sz="1200" b="0" i="0" u="none" strike="noStrike" kern="1200" noProof="0">
                          <a:solidFill>
                            <a:srgbClr val="0000FF"/>
                          </a:solidFill>
                          <a:latin typeface="Times New Roman"/>
                        </a:rPr>
                        <a:t> thu mua. Chị Thơ DTP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0" i="0" u="none" strike="noStrike" kern="1200" noProof="0">
                          <a:solidFill>
                            <a:srgbClr val="0000FF"/>
                          </a:solidFill>
                          <a:latin typeface="Times New Roman"/>
                        </a:rPr>
                        <a:t>DTR: </a:t>
                      </a:r>
                      <a:r>
                        <a:rPr lang="en-US" sz="1200" b="0" i="0" u="none" strike="noStrike" kern="1200" noProof="0" err="1">
                          <a:solidFill>
                            <a:srgbClr val="0000FF"/>
                          </a:solidFill>
                          <a:latin typeface="Times New Roman"/>
                        </a:rPr>
                        <a:t>Phòng</a:t>
                      </a:r>
                      <a:r>
                        <a:rPr lang="en-US" sz="1200" b="0" i="0" u="none" strike="noStrike" kern="1200" noProof="0">
                          <a:solidFill>
                            <a:srgbClr val="0000FF"/>
                          </a:solidFill>
                          <a:latin typeface="Times New Roman"/>
                        </a:rPr>
                        <a:t> KD</a:t>
                      </a:r>
                      <a:r>
                        <a:rPr lang="vi-VN" sz="1200" b="0" i="0" u="none" strike="noStrike" kern="1200" noProof="0">
                          <a:solidFill>
                            <a:srgbClr val="0000FF"/>
                          </a:solidFill>
                          <a:latin typeface="Times New Roman"/>
                        </a:rPr>
                        <a:t> ( Quốc Anh, Quỳnh Anh)</a:t>
                      </a:r>
                      <a:endParaRPr lang="en-US" sz="1200" b="0" kern="1200">
                        <a:solidFill>
                          <a:srgbClr val="0000FF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Tham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quan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nhà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máy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và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giới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thiệu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về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nhựa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rPET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rHDPE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cho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bao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bì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personalcare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, homecare.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466897"/>
                  </a:ext>
                </a:extLst>
              </a:tr>
              <a:tr h="900098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26/12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Hyosung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Hyosung : QA team 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DTR : R&amp;D, QAQC, Bella, Quốc Anh 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Đánh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giá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Audit DTR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là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nhà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cung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cấp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rPET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mới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theo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quy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định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của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Hyosung.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451522"/>
                  </a:ext>
                </a:extLst>
              </a:tr>
              <a:tr h="900098"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30/12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Texchem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DTR: Duy,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anh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Cường</a:t>
                      </a:r>
                    </a:p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Texchem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: Marcus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Thảo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luận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về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họp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đồng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nhà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phân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phối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cho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các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dự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án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cho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sản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phẩm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rPET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 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và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rHDPE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cho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0" kern="1200" err="1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năm</a:t>
                      </a:r>
                      <a:r>
                        <a:rPr lang="en-US" sz="1200" b="0" kern="1200">
                          <a:solidFill>
                            <a:srgbClr val="0000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2026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534493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3F7A00B0-5870-DF0C-4A6A-94D5B5690B5F}"/>
              </a:ext>
            </a:extLst>
          </p:cNvPr>
          <p:cNvGrpSpPr/>
          <p:nvPr/>
        </p:nvGrpSpPr>
        <p:grpSpPr>
          <a:xfrm>
            <a:off x="3279141" y="-158108"/>
            <a:ext cx="5633718" cy="944870"/>
            <a:chOff x="512771" y="614876"/>
            <a:chExt cx="2523478" cy="176553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4964137-186C-1090-6CC4-E3DD20CD4FD4}"/>
                </a:ext>
              </a:extLst>
            </p:cNvPr>
            <p:cNvSpPr txBox="1"/>
            <p:nvPr/>
          </p:nvSpPr>
          <p:spPr>
            <a:xfrm>
              <a:off x="512771" y="614876"/>
              <a:ext cx="82745" cy="6326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75E0BD1-8B8E-263E-6287-546A1AECC976}"/>
                </a:ext>
              </a:extLst>
            </p:cNvPr>
            <p:cNvGrpSpPr/>
            <p:nvPr/>
          </p:nvGrpSpPr>
          <p:grpSpPr>
            <a:xfrm>
              <a:off x="639771" y="1057692"/>
              <a:ext cx="2396478" cy="1322718"/>
              <a:chOff x="503089" y="544525"/>
              <a:chExt cx="2396478" cy="1322718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77351D-E62D-BB7A-8E3E-96A190BF45AF}"/>
                  </a:ext>
                </a:extLst>
              </p:cNvPr>
              <p:cNvSpPr txBox="1"/>
              <p:nvPr/>
            </p:nvSpPr>
            <p:spPr>
              <a:xfrm>
                <a:off x="503089" y="650434"/>
                <a:ext cx="82745" cy="6326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C57A91-ED6C-3F43-3263-069CB3687AE1}"/>
                  </a:ext>
                </a:extLst>
              </p:cNvPr>
              <p:cNvSpPr txBox="1"/>
              <p:nvPr/>
            </p:nvSpPr>
            <p:spPr>
              <a:xfrm>
                <a:off x="560820" y="544525"/>
                <a:ext cx="2338747" cy="132271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defRPr/>
                </a:pPr>
                <a:r>
                  <a:rPr kumimoji="0" 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Các </a:t>
                </a:r>
                <a:r>
                  <a:rPr kumimoji="0" lang="en-US" sz="2000" b="1" i="0" u="none" strike="noStrike" kern="1200" cap="none" spc="0" normalizeH="0" baseline="0" noProof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cuộc</a:t>
                </a:r>
                <a:r>
                  <a:rPr kumimoji="0" 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 </a:t>
                </a:r>
                <a:r>
                  <a:rPr kumimoji="0" lang="en-US" sz="2000" b="1" i="0" u="none" strike="noStrike" kern="1200" cap="none" spc="0" normalizeH="0" baseline="0" noProof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họp</a:t>
                </a:r>
                <a:r>
                  <a:rPr kumimoji="0" 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 </a:t>
                </a:r>
                <a:r>
                  <a:rPr kumimoji="0" lang="en-US" sz="2000" b="1" i="0" u="none" strike="noStrike" kern="1200" cap="none" spc="0" normalizeH="0" baseline="0" noProof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trong</a:t>
                </a:r>
                <a:r>
                  <a:rPr kumimoji="0" 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 </a:t>
                </a:r>
                <a:r>
                  <a:rPr kumimoji="0" lang="en-US" sz="2000" b="1" i="0" u="none" strike="noStrike" kern="1200" cap="none" spc="0" normalizeH="0" baseline="0" noProof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/>
                    <a:cs typeface="Arial"/>
                  </a:rPr>
                  <a:t>tuần</a:t>
                </a:r>
                <a:r>
                  <a:rPr lang="en-US" sz="2000" b="1">
                    <a:solidFill>
                      <a:srgbClr val="0070C0"/>
                    </a:solidFill>
                    <a:latin typeface="Arial"/>
                    <a:cs typeface="Arial"/>
                  </a:rPr>
                  <a:t> &amp; </a:t>
                </a:r>
                <a:r>
                  <a:rPr lang="en-US" sz="2000" b="1" err="1">
                    <a:solidFill>
                      <a:srgbClr val="0070C0"/>
                    </a:solidFill>
                    <a:latin typeface="Arial"/>
                    <a:cs typeface="Arial"/>
                  </a:rPr>
                  <a:t>sắp</a:t>
                </a:r>
                <a:r>
                  <a:rPr lang="en-US" sz="2000" b="1">
                    <a:solidFill>
                      <a:srgbClr val="0070C0"/>
                    </a:solidFill>
                    <a:latin typeface="Arial"/>
                    <a:cs typeface="Arial"/>
                  </a:rPr>
                  <a:t> </a:t>
                </a:r>
                <a:r>
                  <a:rPr lang="en-US" sz="2000" b="1" err="1">
                    <a:solidFill>
                      <a:srgbClr val="0070C0"/>
                    </a:solidFill>
                    <a:latin typeface="Arial"/>
                    <a:cs typeface="Arial"/>
                  </a:rPr>
                  <a:t>tới</a:t>
                </a:r>
                <a:endParaRPr lang="en-US" sz="2000" b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20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06780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monitor and icons&#10;&#10;Description automatically generated with medium confidence">
            <a:extLst>
              <a:ext uri="{FF2B5EF4-FFF2-40B4-BE49-F238E27FC236}">
                <a16:creationId xmlns:a16="http://schemas.microsoft.com/office/drawing/2014/main" id="{921D1CEC-A35B-F092-55C2-C280FDC7CF7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849" r="-1" b="1630"/>
          <a:stretch/>
        </p:blipFill>
        <p:spPr>
          <a:xfrm>
            <a:off x="5484813" y="939252"/>
            <a:ext cx="6722850" cy="49794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459B0-8476-498D-8666-1ADE03AF7CA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281238"/>
            <a:ext cx="5484813" cy="37433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>
                <a:solidFill>
                  <a:srgbClr val="0070C0"/>
                </a:solidFill>
              </a:rPr>
              <a:t>THÔNG TIN THỊ TRƯỜNG</a:t>
            </a:r>
            <a:endParaRPr lang="en-US" sz="3600" b="1"/>
          </a:p>
        </p:txBody>
      </p:sp>
    </p:spTree>
    <p:extLst>
      <p:ext uri="{BB962C8B-B14F-4D97-AF65-F5344CB8AC3E}">
        <p14:creationId xmlns:p14="http://schemas.microsoft.com/office/powerpoint/2010/main" val="1407465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574B9-5DB4-41C0-588F-783A41BCF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0241F37-6944-8251-9EA4-FB50EEC439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4985413"/>
              </p:ext>
            </p:extLst>
          </p:nvPr>
        </p:nvGraphicFramePr>
        <p:xfrm>
          <a:off x="6345936" y="3680575"/>
          <a:ext cx="5760720" cy="2712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55EFEF5-81F6-4200-1926-C69F51EAE2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9225483"/>
              </p:ext>
            </p:extLst>
          </p:nvPr>
        </p:nvGraphicFramePr>
        <p:xfrm>
          <a:off x="6345936" y="265176"/>
          <a:ext cx="5760720" cy="3328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CDE5AB5-0A36-1105-990E-72C9E3B2C175}"/>
              </a:ext>
            </a:extLst>
          </p:cNvPr>
          <p:cNvSpPr txBox="1"/>
          <p:nvPr/>
        </p:nvSpPr>
        <p:spPr>
          <a:xfrm>
            <a:off x="85344" y="1146679"/>
            <a:ext cx="6260591" cy="45575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vi-VN" sz="1300" b="1">
                <a:solidFill>
                  <a:srgbClr val="0000FF"/>
                </a:solidFill>
                <a:latin typeface="Times New Roman"/>
                <a:cs typeface="Times New Roman"/>
              </a:rPr>
              <a:t>Mỹ</a:t>
            </a:r>
            <a:endParaRPr lang="en-US" sz="1300" b="1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300">
                <a:solidFill>
                  <a:srgbClr val="0000FF"/>
                </a:solidFill>
                <a:latin typeface="Times New Roman"/>
                <a:cs typeface="Times New Roman"/>
              </a:rPr>
              <a:t>Cung : </a:t>
            </a:r>
            <a:r>
              <a:rPr lang="vi-VN" sz="1300">
                <a:solidFill>
                  <a:srgbClr val="0000FF"/>
                </a:solidFill>
                <a:latin typeface="Times New Roman"/>
                <a:ea typeface="+mn-lt"/>
                <a:cs typeface="Times New Roman"/>
              </a:rPr>
              <a:t>hạn chế do thu gom thấp và sản xuất giảm.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300">
                <a:solidFill>
                  <a:srgbClr val="0000FF"/>
                </a:solidFill>
                <a:latin typeface="Times New Roman"/>
                <a:ea typeface="+mn-lt"/>
                <a:cs typeface="Times New Roman"/>
              </a:rPr>
              <a:t>Nhu cầu: yếu vì giá PET nguyên sinh rẻ, người mua thận trọng.</a:t>
            </a:r>
            <a:endParaRPr lang="vi-V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300">
                <a:solidFill>
                  <a:srgbClr val="0000FF"/>
                </a:solidFill>
                <a:latin typeface="Times New Roman"/>
                <a:cs typeface="Times New Roman"/>
              </a:rPr>
              <a:t>Giá 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Ổn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định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so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với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tuần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trước</a:t>
            </a:r>
            <a:endParaRPr lang="en-US" sz="130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Tin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tức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đáng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chú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ý: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dự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báo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giá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giảm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nhẹ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,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áp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lực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từ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nhập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khẩu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và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chính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sách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EPR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là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điểm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nóng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endParaRPr lang="vi-VN" sz="1300">
              <a:solidFill>
                <a:srgbClr val="0000FF"/>
              </a:solidFill>
              <a:latin typeface="+mj-lt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vi-VN" sz="1300">
                <a:latin typeface="+mj-lt"/>
              </a:rPr>
            </a:br>
            <a:r>
              <a:rPr lang="vi-VN" sz="1300" b="1">
                <a:solidFill>
                  <a:srgbClr val="0000FF"/>
                </a:solidFill>
                <a:latin typeface="Times New Roman"/>
                <a:cs typeface="Times New Roman"/>
              </a:rPr>
              <a:t>Châu Á</a:t>
            </a:r>
            <a:endParaRPr lang="vi-VN" sz="130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Giá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hạt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pet dao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động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từ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$1200 – $1,300 FOB.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Không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có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biến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động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so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với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tuần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trước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300">
                <a:solidFill>
                  <a:srgbClr val="0000FF"/>
                </a:solidFill>
                <a:latin typeface="Times New Roman"/>
                <a:cs typeface="Times New Roman"/>
              </a:rPr>
              <a:t>Cung : bị ảnh hưởng bởi việc giảm thu gom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và</a:t>
            </a:r>
            <a:r>
              <a:rPr lang="vi-VN" sz="1300">
                <a:solidFill>
                  <a:srgbClr val="0000FF"/>
                </a:solidFill>
                <a:latin typeface="Times New Roman"/>
                <a:cs typeface="Times New Roman"/>
              </a:rPr>
              <a:t> thời tiết lạnh.</a:t>
            </a:r>
            <a:endParaRPr lang="en-US" sz="130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300">
                <a:solidFill>
                  <a:srgbClr val="0000FF"/>
                </a:solidFill>
                <a:latin typeface="Times New Roman"/>
                <a:cs typeface="Times New Roman"/>
              </a:rPr>
              <a:t>Nhu cầu: yếu do giá PET nguyên sinh rẻ, người mua thận trọng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endParaRPr lang="vi-VN"/>
          </a:p>
          <a:p>
            <a:pPr>
              <a:lnSpc>
                <a:spcPct val="150000"/>
              </a:lnSpc>
            </a:pPr>
            <a:r>
              <a:rPr lang="vi-VN" sz="1300" b="1">
                <a:solidFill>
                  <a:srgbClr val="0000FF"/>
                </a:solidFill>
                <a:latin typeface="Times New Roman"/>
                <a:cs typeface="Times New Roman"/>
              </a:rPr>
              <a:t>EU</a:t>
            </a:r>
            <a:endParaRPr lang="vi-VN" sz="130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Nhu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cầu</a:t>
            </a:r>
            <a:r>
              <a:rPr lang="vi-VN" sz="1300">
                <a:solidFill>
                  <a:srgbClr val="0000FF"/>
                </a:solidFill>
                <a:latin typeface="Times New Roman"/>
                <a:cs typeface="Times New Roman"/>
              </a:rPr>
              <a:t>: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có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dấu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hiệu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giảm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, do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yếu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tố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mùa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vụ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và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tồn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kho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cao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endParaRPr lang="vi-V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300">
                <a:solidFill>
                  <a:srgbClr val="0000FF"/>
                </a:solidFill>
                <a:latin typeface="Times New Roman"/>
                <a:cs typeface="Times New Roman"/>
              </a:rPr>
              <a:t>Cung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hạn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chế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do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thiếu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clear bottle bales, n</a:t>
            </a:r>
            <a:r>
              <a:rPr lang="vi-VN" sz="1300">
                <a:solidFill>
                  <a:srgbClr val="0000FF"/>
                </a:solidFill>
                <a:latin typeface="Times New Roman"/>
                <a:cs typeface="Times New Roman"/>
              </a:rPr>
              <a:t>hưng tồn kho cao ở một số khu vực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300">
                <a:solidFill>
                  <a:srgbClr val="0000FF"/>
                </a:solidFill>
                <a:latin typeface="Times New Roman"/>
                <a:cs typeface="Times New Roman"/>
              </a:rPr>
              <a:t>Giá flakes giảm do nhu cầu yếu và cạnh tranh từ PET nguyên sinh rẻ hơn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endParaRPr lang="vi-VN" sz="130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Thị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trường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đang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trong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trạng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thái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điều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chỉnh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cuối</a:t>
            </a:r>
            <a:r>
              <a:rPr lang="en-US" sz="1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300" err="1">
                <a:solidFill>
                  <a:srgbClr val="0000FF"/>
                </a:solidFill>
                <a:latin typeface="Times New Roman"/>
                <a:cs typeface="Times New Roman"/>
              </a:rPr>
              <a:t>năm</a:t>
            </a:r>
            <a:endParaRPr lang="vi-VN" sz="130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9662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1D90A-216E-4E6D-8AE0-ED15407CEA7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4791" y="1091047"/>
            <a:ext cx="5638800" cy="136120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7200" i="1">
                <a:solidFill>
                  <a:schemeClr val="bg1">
                    <a:lumMod val="95000"/>
                  </a:schemeClr>
                </a:solidFill>
                <a:latin typeface="Elephant" panose="020209040905050203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308747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2f2f5af-ffb0-442b-bb68-0e1242028c1e">
      <UserInfo>
        <DisplayName>Thành, Nguyễn Công</DisplayName>
        <AccountId>57</AccountId>
        <AccountType/>
      </UserInfo>
      <UserInfo>
        <DisplayName>Anh, Phạm Quốc (Joseph)</DisplayName>
        <AccountId>80</AccountId>
        <AccountType/>
      </UserInfo>
      <UserInfo>
        <DisplayName>Thông, Nguyễn Huy (Tom)</DisplayName>
        <AccountId>192</AccountId>
        <AccountType/>
      </UserInfo>
      <UserInfo>
        <DisplayName>Nghĩa, Lưu Minh (Vincent)</DisplayName>
        <AccountId>173</AccountId>
        <AccountType/>
      </UserInfo>
      <UserInfo>
        <DisplayName>Long, Đặng Hoàng (Liam)</DisplayName>
        <AccountId>24</AccountId>
        <AccountType/>
      </UserInfo>
      <UserInfo>
        <DisplayName>Anh, Võ Ngọc (Alice)</DisplayName>
        <AccountId>230</AccountId>
        <AccountType/>
      </UserInfo>
      <UserInfo>
        <DisplayName>Thảo, Dương Từ Uyên (Tracy)</DisplayName>
        <AccountId>13</AccountId>
        <AccountType/>
      </UserInfo>
      <UserInfo>
        <DisplayName>Cường, Nguyễn Quốc (Dylan)</DisplayName>
        <AccountId>11</AccountId>
        <AccountType/>
      </UserInfo>
      <UserInfo>
        <DisplayName>.Kinh Doanh DTR</DisplayName>
        <AccountId>199</AccountId>
        <AccountType/>
      </UserInfo>
    </SharedWithUsers>
    <lcf76f155ced4ddcb4097134ff3c332f xmlns="ce8f918e-70ef-4d5b-b57f-0705af1536e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EB7EC96C858E4596FDEA8DB8B384EC" ma:contentTypeVersion="19" ma:contentTypeDescription="Create a new document." ma:contentTypeScope="" ma:versionID="731f4bcc3bf905128986e2e6db6db9bd">
  <xsd:schema xmlns:xsd="http://www.w3.org/2001/XMLSchema" xmlns:xs="http://www.w3.org/2001/XMLSchema" xmlns:p="http://schemas.microsoft.com/office/2006/metadata/properties" xmlns:ns2="ce8f918e-70ef-4d5b-b57f-0705af1536e2" xmlns:ns3="32f2f5af-ffb0-442b-bb68-0e1242028c1e" targetNamespace="http://schemas.microsoft.com/office/2006/metadata/properties" ma:root="true" ma:fieldsID="8f54f71fddfce1169f543ba3c4492604" ns2:_="" ns3:_="">
    <xsd:import namespace="ce8f918e-70ef-4d5b-b57f-0705af1536e2"/>
    <xsd:import namespace="32f2f5af-ffb0-442b-bb68-0e1242028c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f918e-70ef-4d5b-b57f-0705af1536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2f5af-ffb0-442b-bb68-0e1242028c1e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B9E945-8770-4DF7-8951-09BE01B5B6FE}">
  <ds:schemaRefs>
    <ds:schemaRef ds:uri="32f2f5af-ffb0-442b-bb68-0e1242028c1e"/>
    <ds:schemaRef ds:uri="ce8f918e-70ef-4d5b-b57f-0705af1536e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410DFC8-5415-43ED-A617-2F9A42BA8EE4}">
  <ds:schemaRefs>
    <ds:schemaRef ds:uri="32f2f5af-ffb0-442b-bb68-0e1242028c1e"/>
    <ds:schemaRef ds:uri="ce8f918e-70ef-4d5b-b57f-0705af1536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A4F36A5-198C-4FF1-AD27-F57698D70C6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2590</Words>
  <Application>Microsoft Office PowerPoint</Application>
  <PresentationFormat>Widescreen</PresentationFormat>
  <Paragraphs>289</Paragraphs>
  <Slides>32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Links</vt:lpstr>
      </vt:variant>
      <vt:variant>
        <vt:i4>24</vt:i4>
      </vt:variant>
      <vt:variant>
        <vt:lpstr>Slide Titles</vt:lpstr>
      </vt:variant>
      <vt:variant>
        <vt:i4>32</vt:i4>
      </vt:variant>
    </vt:vector>
  </HeadingPairs>
  <TitlesOfParts>
    <vt:vector size="70" baseType="lpstr">
      <vt:lpstr>Aptos Black</vt:lpstr>
      <vt:lpstr>Aptos Narrow</vt:lpstr>
      <vt:lpstr>Arial</vt:lpstr>
      <vt:lpstr>Arial,Sans-Serif</vt:lpstr>
      <vt:lpstr>Calibri</vt:lpstr>
      <vt:lpstr>Calibri Light</vt:lpstr>
      <vt:lpstr>Elephant</vt:lpstr>
      <vt:lpstr>Muli</vt:lpstr>
      <vt:lpstr>Poppins Bold</vt:lpstr>
      <vt:lpstr>Times New Roman</vt:lpstr>
      <vt:lpstr>UTM Avo</vt:lpstr>
      <vt:lpstr>Wingdings</vt:lpstr>
      <vt:lpstr>1_Office Theme</vt:lpstr>
      <vt:lpstr>2_Office Theme</vt:lpstr>
      <vt:lpstr>https://dtg.sharepoint.com/sites/DTR-KD/Shared%20Documents/KD/Báo%20cáo/Báo%20cáo%20Tuần/2025/Data%20báo%20cáo%20tuần%202025.xlsx!3%20dòng%20hàng!%5bData%20báo%20cáo%20tuần%202025.xlsx%5d3%20dòng%20hàng%20Chart%201</vt:lpstr>
      <vt:lpstr>https://dtg.sharepoint.com/sites/DTR-KD/Shared%20Documents/KD/Báo%20cáo/Báo%20cáo%20Tuần/2025/Data%20báo%20cáo%20tuần%202025.xlsx!3%20dòng%20hàng!%5bData%20báo%20cáo%20tuần%202025.xlsx%5d3%20dòng%20hàng%20Chart%202</vt:lpstr>
      <vt:lpstr>https://dtg.sharepoint.com/sites/DTR-KD/Shared%20Documents/KD/Sales%20Forecast/2025/Sales%20Forecast%20Lasted/Dự%20báo%20bán%20hàng%20tháng%206-12.2025%20new.xlsx!Tình%20trạng%20đơn%20hàng!R12C4:R19C8</vt:lpstr>
      <vt:lpstr>https://dtg.sharepoint.com/sites/DTR-KD/Shared%20Documents/KD/Báo%20cáo/Báo%20cáo%20Tuần/2025/Data%20báo%20cáo%20tuần%202025.xlsx!rPET!%5bData%20báo%20cáo%20tuần%202025.xlsx%5drPET%20Chart%201</vt:lpstr>
      <vt:lpstr>https://dtg.sharepoint.com/sites/DTR-KD/Shared%20Documents/KD/Báo%20cáo/Báo%20cáo%20Tuần/2025/Data%20báo%20cáo%20tuần%202025.xlsx!rPET!%5bData%20báo%20cáo%20tuần%202025.xlsx%5drPET%20Chart%202</vt:lpstr>
      <vt:lpstr>https://dtg.sharepoint.com/sites/DTR-KD/Shared%20Documents/KD/Báo%20cáo/Báo%20cáo%20Tuần/2025/Data%20báo%20cáo%20tuần%202025.xlsx!rPET%20Food!%5bData%20báo%20cáo%20tuần%202025.xlsx%5drPET%20Food%20Chart%201</vt:lpstr>
      <vt:lpstr>https://dtg.sharepoint.com/sites/DTR-KD/Shared%20Documents/KD/Báo%20cáo/Báo%20cáo%20Tuần/2025/Data%20báo%20cáo%20tuần%202025.xlsx!rPET%20Food!%5bData%20báo%20cáo%20tuần%202025.xlsx%5drPET%20Food%20Chart%202</vt:lpstr>
      <vt:lpstr>https://dtg.sharepoint.com/sites/DTR-KD/Shared%20Documents/KD/Sales%20Forecast/2025/Sales%20Forecast%20Lasted/Dự%20báo%20bán%20hàng%20tháng%206-12.2025%20new.xlsx!Chi%20tiết!R41C1:R61C8</vt:lpstr>
      <vt:lpstr>https://dtg.sharepoint.com/sites/DTR-KD/Shared%20Documents/KD/Báo%20cáo/Báo%20cáo%20Tuần/2025/Data%20báo%20cáo%20tuần%202025.xlsx!Xơ%20sợi!%5bData%20báo%20cáo%20tuần%202025.xlsx%5dXơ%20sợi%20Chart%201</vt:lpstr>
      <vt:lpstr>https://dtg.sharepoint.com/sites/DTR-KD/Shared%20Documents/KD/Báo%20cáo/Báo%20cáo%20Tuần/2025/Data%20báo%20cáo%20tuần%202025.xlsx!Xơ%20sợi!%5bData%20báo%20cáo%20tuần%202025.xlsx%5dXơ%20sợi%20Chart%202</vt:lpstr>
      <vt:lpstr>https://dtg.sharepoint.com/sites/DTR-KD/Shared%20Documents/KD/Sales%20Forecast/2025/Sales%20Forecast%20Lasted/Dự%20báo%20bán%20hàng%20tháng%206-12.2025%20new.xlsx!Chi%20tiết!R41C10:R47C17</vt:lpstr>
      <vt:lpstr>https://dtg.sharepoint.com/sites/DTR-KD/Shared%20Documents/KD/Báo%20cáo/Báo%20cáo%20Tuần/2025/Data%20báo%20cáo%20tuần%202025.xlsx!rHDPE!%5bData%20báo%20cáo%20tuần%202025.xlsx%5drHDPE%20Chart%201</vt:lpstr>
      <vt:lpstr>https://dtg.sharepoint.com/sites/DTR-KD/Shared%20Documents/KD/Báo%20cáo/Báo%20cáo%20Tuần/2025/Data%20báo%20cáo%20tuần%202025.xlsx!rHDPE!%5bData%20báo%20cáo%20tuần%202025.xlsx%5drHDPE%20Chart%202</vt:lpstr>
      <vt:lpstr>https://dtg.sharepoint.com/sites/DTR-KD/Shared%20Documents/KD/Báo%20cáo/Báo%20cáo%20Tuần/2025/Data%20báo%20cáo%20tuần%202025.xlsx!rHDPE%20B!%5bData%20báo%20cáo%20tuần%202025.xlsx%5drHDPE%20B%20Chart%201</vt:lpstr>
      <vt:lpstr>https://dtg.sharepoint.com/sites/DTR-KD/Shared%20Documents/KD/Báo%20cáo/Báo%20cáo%20Tuần/2025/Data%20báo%20cáo%20tuần%202025.xlsx!rHDPE%20B!%5bData%20báo%20cáo%20tuần%202025.xlsx%5drHDPE%20B%20Chart%202</vt:lpstr>
      <vt:lpstr>https://dtg.sharepoint.com/sites/DTR-KD/Shared%20Documents/KD/Báo%20cáo/Báo%20cáo%20Tuần/2025/Data%20báo%20cáo%20tuần%202025.xlsx!rHDPE%20B!%5bData%20báo%20cáo%20tuần%202025.xlsx%5drHDPE%20B%20Chart%201</vt:lpstr>
      <vt:lpstr>https://dtg.sharepoint.com/sites/DTR-KD/Shared%20Documents/KD/Báo%20cáo/Báo%20cáo%20Tuần/2025/Data%20báo%20cáo%20tuần%202025.xlsx!rHDPE%20B!%5bData%20báo%20cáo%20tuần%202025.xlsx%5drHDPE%20B%20Chart%202</vt:lpstr>
      <vt:lpstr>https://dtg.sharepoint.com/sites/DTR-KD/Shared%20Documents/KD/Sales%20Forecast/2025/Sales%20Forecast%20Lasted/Dự%20báo%20bán%20hàng%20tháng%206-12.2025%20new.xlsx!Chi%20tiết!R41C19:R49C26</vt:lpstr>
      <vt:lpstr>https://dtg.sharepoint.com/sites/DTR-KD/Shared%20Documents/KD/Báo%20cáo/Báo%20cáo%20Tuần/2025/Data%20báo%20cáo%20tuần%202025.xlsx!rHDPE%20I!%5bData%20báo%20cáo%20tuần%202025.xlsx%5drHDPE%20I%20Chart%201</vt:lpstr>
      <vt:lpstr>https://dtg.sharepoint.com/sites/DTR-KD/Shared%20Documents/KD/Báo%20cáo/Báo%20cáo%20Tuần/2025/Data%20báo%20cáo%20tuần%202025.xlsx!rHDPE%20I!%5bData%20báo%20cáo%20tuần%202025.xlsx%5drHDPE%20I%20Chart%202</vt:lpstr>
      <vt:lpstr>https://dtg.sharepoint.com/sites/DTR-KD/Shared%20Documents/KD/Sales%20Forecast/2025/Sales%20Forecast%20Lasted/Dự%20báo%20bán%20hàng%20tháng%206-12.2025%20new.xlsx!Chi%20tiết!R41C28:R59C35</vt:lpstr>
      <vt:lpstr>https://dtg.sharepoint.com/sites/DTR-KD/Shared%20Documents/KD/Báo%20cáo/Báo%20cáo%20Tuần/2025/Data%20báo%20cáo%20tuần%202025.xlsx!rPP!%5bData%20báo%20cáo%20tuần%202025.xlsx%5drPP%20Chart%201</vt:lpstr>
      <vt:lpstr>https://dtg.sharepoint.com/sites/DTR-KD/Shared%20Documents/KD/Báo%20cáo/Báo%20cáo%20Tuần/2025/Data%20báo%20cáo%20tuần%202025.xlsx!rPP!%5bData%20báo%20cáo%20tuần%202025.xlsx%5drPP%20Chart%202</vt:lpstr>
      <vt:lpstr>https://dtg.sharepoint.com/sites/DTR-KD/Shared%20Documents/KD/Sales%20Forecast/2025/Sales%20Forecast%20Lasted/Dự%20báo%20bán%20hàng%20tháng%206-12.2025%20new.xlsx!Chi%20tiết!R41C36:R49C43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Thảo, Dương Từ Uyên</dc:creator>
  <cp:lastModifiedBy>Thảo, Dương Từ Uyên (Tracy)</cp:lastModifiedBy>
  <cp:revision>1</cp:revision>
  <dcterms:created xsi:type="dcterms:W3CDTF">2020-08-19T03:24:07Z</dcterms:created>
  <dcterms:modified xsi:type="dcterms:W3CDTF">2025-12-18T09:12:16Z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0x010100A1EB7EC96C858E4596FDEA8DB8B384EC</vt:lpwstr>
  </property>
</Properties>
</file>