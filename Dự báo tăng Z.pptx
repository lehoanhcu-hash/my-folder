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10"/>
  </p:notesMasterIdLst>
  <p:sldIdLst>
    <p:sldId id="9489" r:id="rId5"/>
    <p:sldId id="9490" r:id="rId6"/>
    <p:sldId id="9486" r:id="rId7"/>
    <p:sldId id="9491" r:id="rId8"/>
    <p:sldId id="260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BCC0BF"/>
    <a:srgbClr val="B6BEC1"/>
    <a:srgbClr val="119303"/>
    <a:srgbClr val="00703B"/>
    <a:srgbClr val="09AB70"/>
    <a:srgbClr val="07B128"/>
    <a:srgbClr val="A3C6FD"/>
    <a:srgbClr val="D5F3FF"/>
    <a:srgbClr val="3C89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BCBA7B-74F1-4509-9898-42910762856E}" v="14" dt="2026-03-16T04:41:52.039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 snapToGrid="0">
      <p:cViewPr varScale="1">
        <p:scale>
          <a:sx n="96" d="100"/>
          <a:sy n="96" d="100"/>
        </p:scale>
        <p:origin x="4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594458500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594458500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15764128aa_2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65125" y="679450"/>
            <a:ext cx="6037263" cy="3397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15764128aa_2_33:notes"/>
          <p:cNvSpPr txBox="1">
            <a:spLocks noGrp="1"/>
          </p:cNvSpPr>
          <p:nvPr>
            <p:ph type="body" idx="1"/>
          </p:nvPr>
        </p:nvSpPr>
        <p:spPr>
          <a:xfrm>
            <a:off x="676791" y="4303483"/>
            <a:ext cx="5414327" cy="4076984"/>
          </a:xfrm>
          <a:prstGeom prst="rect">
            <a:avLst/>
          </a:prstGeom>
        </p:spPr>
        <p:txBody>
          <a:bodyPr spcFirstLastPara="1" wrap="square" lIns="90438" tIns="90438" rIns="90438" bIns="90438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_AND_BODY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>
            <a:spLocks noGrp="1"/>
          </p:cNvSpPr>
          <p:nvPr>
            <p:ph type="title"/>
          </p:nvPr>
        </p:nvSpPr>
        <p:spPr>
          <a:xfrm>
            <a:off x="370483" y="445025"/>
            <a:ext cx="8460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E6F9B"/>
              </a:buClr>
              <a:buSzPts val="2800"/>
              <a:buFont typeface="Muli"/>
              <a:buNone/>
              <a:defRPr>
                <a:solidFill>
                  <a:srgbClr val="4E6F9B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24546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 dirty="0"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0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ides 2" userDrawn="1">
  <p:cSld name="Two Sides 2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454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" name="Google Shape;87;p10">
            <a:extLst>
              <a:ext uri="{FF2B5EF4-FFF2-40B4-BE49-F238E27FC236}">
                <a16:creationId xmlns:a16="http://schemas.microsoft.com/office/drawing/2014/main" id="{6DB2F55B-87A0-4916-ABC0-83FF8C89DDCD}"/>
              </a:ext>
            </a:extLst>
          </p:cNvPr>
          <p:cNvSpPr/>
          <p:nvPr userDrawn="1"/>
        </p:nvSpPr>
        <p:spPr bwMode="ltGray">
          <a:xfrm rot="5400000">
            <a:off x="4879976" y="879477"/>
            <a:ext cx="158747" cy="8369300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3" name="Google Shape;8;p1">
            <a:extLst>
              <a:ext uri="{FF2B5EF4-FFF2-40B4-BE49-F238E27FC236}">
                <a16:creationId xmlns:a16="http://schemas.microsoft.com/office/drawing/2014/main" id="{C2BD413E-6D8B-D863-FB26-12E78FF115C8}"/>
              </a:ext>
            </a:extLst>
          </p:cNvPr>
          <p:cNvSpPr txBox="1">
            <a:spLocks/>
          </p:cNvSpPr>
          <p:nvPr userDrawn="1"/>
        </p:nvSpPr>
        <p:spPr>
          <a:xfrm>
            <a:off x="8615580" y="4854044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strike="noStrike" cap="none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r>
              <a:rPr lang="en"/>
              <a:t>/5</a:t>
            </a:r>
            <a:endParaRPr lang="en" dirty="0"/>
          </a:p>
        </p:txBody>
      </p:sp>
      <p:pic>
        <p:nvPicPr>
          <p:cNvPr id="8" name="Picture 7" descr="A green and grey recycle sign&#10;&#10;Description automatically generated">
            <a:extLst>
              <a:ext uri="{FF2B5EF4-FFF2-40B4-BE49-F238E27FC236}">
                <a16:creationId xmlns:a16="http://schemas.microsoft.com/office/drawing/2014/main" id="{65F13E22-2991-BE3C-0896-5717273411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631" y="72531"/>
            <a:ext cx="1085317" cy="237744"/>
          </a:xfrm>
          <a:prstGeom prst="rect">
            <a:avLst/>
          </a:prstGeom>
        </p:spPr>
      </p:pic>
      <p:pic>
        <p:nvPicPr>
          <p:cNvPr id="13" name="Picture 12" descr="A green and grey recycle sign&#10;&#10;Description automatically generated">
            <a:extLst>
              <a:ext uri="{FF2B5EF4-FFF2-40B4-BE49-F238E27FC236}">
                <a16:creationId xmlns:a16="http://schemas.microsoft.com/office/drawing/2014/main" id="{D4C71697-C97A-D229-56B0-E6A27BC442B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36" y="4976803"/>
            <a:ext cx="731520" cy="16024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8FD2296-3E8A-8D70-7AB9-42A476EB628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97124" y="4976872"/>
            <a:ext cx="1922262" cy="17841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8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548468-2861-9B61-502F-468397E32311}"/>
              </a:ext>
            </a:extLst>
          </p:cNvPr>
          <p:cNvSpPr/>
          <p:nvPr/>
        </p:nvSpPr>
        <p:spPr>
          <a:xfrm>
            <a:off x="0" y="385742"/>
            <a:ext cx="9144000" cy="447016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170;p19">
            <a:extLst>
              <a:ext uri="{FF2B5EF4-FFF2-40B4-BE49-F238E27FC236}">
                <a16:creationId xmlns:a16="http://schemas.microsoft.com/office/drawing/2014/main" id="{CDBCDAC9-2CB1-3448-5EF0-8FAAF0CC8FF9}"/>
              </a:ext>
            </a:extLst>
          </p:cNvPr>
          <p:cNvSpPr txBox="1">
            <a:spLocks/>
          </p:cNvSpPr>
          <p:nvPr/>
        </p:nvSpPr>
        <p:spPr>
          <a:xfrm>
            <a:off x="47803" y="328880"/>
            <a:ext cx="9143997" cy="560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-US" sz="240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DỰ BÁO BIẾN ĐỘNG GIÁ THÀNH</a:t>
            </a:r>
            <a:endParaRPr lang="en-US" sz="2400" dirty="0">
              <a:solidFill>
                <a:schemeClr val="bg1"/>
              </a:solidFill>
              <a:latin typeface="+mj-lt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CB3D21-7181-6EC8-028E-8130A04259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09" r="2009"/>
          <a:stretch/>
        </p:blipFill>
        <p:spPr>
          <a:xfrm>
            <a:off x="4893661" y="1271033"/>
            <a:ext cx="4242172" cy="293185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ED70599-FE9A-A5DE-BD62-82A1F63835DE}"/>
              </a:ext>
            </a:extLst>
          </p:cNvPr>
          <p:cNvGrpSpPr/>
          <p:nvPr/>
        </p:nvGrpSpPr>
        <p:grpSpPr>
          <a:xfrm>
            <a:off x="77915" y="1363034"/>
            <a:ext cx="4737831" cy="915952"/>
            <a:chOff x="134754" y="5686836"/>
            <a:chExt cx="5072514" cy="91595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39AC392-E4E9-6925-EFD5-391D30A7C3A1}"/>
                </a:ext>
              </a:extLst>
            </p:cNvPr>
            <p:cNvSpPr/>
            <p:nvPr/>
          </p:nvSpPr>
          <p:spPr>
            <a:xfrm>
              <a:off x="134754" y="5686836"/>
              <a:ext cx="5072514" cy="915952"/>
            </a:xfrm>
            <a:prstGeom prst="roundRect">
              <a:avLst>
                <a:gd name="adj" fmla="val 34956"/>
              </a:avLst>
            </a:prstGeom>
            <a:solidFill>
              <a:schemeClr val="bg1">
                <a:alpha val="7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E1BFF38-7DD9-6CAA-232B-A0C4F1557EDF}"/>
                </a:ext>
              </a:extLst>
            </p:cNvPr>
            <p:cNvSpPr txBox="1"/>
            <p:nvPr/>
          </p:nvSpPr>
          <p:spPr>
            <a:xfrm>
              <a:off x="317635" y="5790869"/>
              <a:ext cx="47067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1800" b="1" dirty="0"/>
                <a:t>Trình bày: Lưu Thị Minh Tâm - KTQT</a:t>
              </a:r>
            </a:p>
            <a:p>
              <a:r>
                <a:rPr lang="vi-VN" sz="1800" b="1" dirty="0"/>
                <a:t>Ngày</a:t>
              </a:r>
              <a:r>
                <a:rPr lang="en-US" sz="1800" b="1" dirty="0"/>
                <a:t>       </a:t>
              </a:r>
              <a:r>
                <a:rPr lang="vi-VN" sz="1800" b="1"/>
                <a:t>:</a:t>
              </a:r>
              <a:r>
                <a:rPr lang="en-US" sz="1800" b="1"/>
                <a:t> 15</a:t>
              </a:r>
              <a:r>
                <a:rPr lang="vi-VN" sz="1800" b="1"/>
                <a:t>/</a:t>
              </a:r>
              <a:r>
                <a:rPr lang="en-US" sz="1800" b="1"/>
                <a:t>3</a:t>
              </a:r>
              <a:r>
                <a:rPr lang="vi-VN" sz="1800" b="1"/>
                <a:t>/202</a:t>
              </a:r>
              <a:r>
                <a:rPr lang="en-US" sz="1800" b="1" dirty="0"/>
                <a:t>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763F0-4999-1B5A-AD12-BCD1B704D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5B3E85-5190-F0BA-90D5-DA30645C8A9A}"/>
              </a:ext>
            </a:extLst>
          </p:cNvPr>
          <p:cNvSpPr txBox="1"/>
          <p:nvPr/>
        </p:nvSpPr>
        <p:spPr>
          <a:xfrm>
            <a:off x="0" y="56483"/>
            <a:ext cx="914399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6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DỰ BÁO TĂNG CHI PHÍ </a:t>
            </a:r>
            <a:endParaRPr lang="en-US" sz="26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FC87D-D120-D861-745B-C1DD96776259}"/>
              </a:ext>
            </a:extLst>
          </p:cNvPr>
          <p:cNvSpPr txBox="1"/>
          <p:nvPr/>
        </p:nvSpPr>
        <p:spPr>
          <a:xfrm>
            <a:off x="245918" y="2571750"/>
            <a:ext cx="5417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00FF"/>
                </a:solidFill>
              </a:rPr>
              <a:t>Ghi chú:</a:t>
            </a:r>
          </a:p>
          <a:p>
            <a:r>
              <a:rPr lang="en-US" sz="1200">
                <a:solidFill>
                  <a:srgbClr val="0000FF"/>
                </a:solidFill>
              </a:rPr>
              <a:t>  Theo số liệu của phòng mua:</a:t>
            </a:r>
          </a:p>
          <a:p>
            <a:r>
              <a:rPr lang="en-US" sz="1200">
                <a:solidFill>
                  <a:srgbClr val="0000FF"/>
                </a:solidFill>
              </a:rPr>
              <a:t>        - Chi phí bao bì tăng ~ 8%, </a:t>
            </a:r>
          </a:p>
          <a:p>
            <a:r>
              <a:rPr lang="en-US" sz="1200">
                <a:solidFill>
                  <a:srgbClr val="0000FF"/>
                </a:solidFill>
              </a:rPr>
              <a:t>        - Chi phí phụ gia tăng từ 15% -&gt; 20%</a:t>
            </a:r>
            <a:endParaRPr lang="en-US">
              <a:solidFill>
                <a:srgbClr val="0000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F0104D-0C48-53F9-E5CB-D6265EBFF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548926"/>
            <a:ext cx="8991600" cy="185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23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A721C2-6CD9-B64D-0882-DFD13783A79E}"/>
              </a:ext>
            </a:extLst>
          </p:cNvPr>
          <p:cNvSpPr txBox="1"/>
          <p:nvPr/>
        </p:nvSpPr>
        <p:spPr>
          <a:xfrm>
            <a:off x="0" y="56483"/>
            <a:ext cx="914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1. DỰ BÁO GIÁ rPET </a:t>
            </a:r>
            <a:endParaRPr lang="en-US" sz="18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03D370-B327-79E5-6074-67443BC06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41" y="340090"/>
            <a:ext cx="6813468" cy="38604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23CC15-EE39-BE1B-C210-3F61863DE6E3}"/>
              </a:ext>
            </a:extLst>
          </p:cNvPr>
          <p:cNvSpPr txBox="1"/>
          <p:nvPr/>
        </p:nvSpPr>
        <p:spPr>
          <a:xfrm>
            <a:off x="473776" y="4294316"/>
            <a:ext cx="6022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>
                <a:solidFill>
                  <a:srgbClr val="0000FF"/>
                </a:solidFill>
              </a:rPr>
              <a:t>Ghi chú: </a:t>
            </a:r>
            <a:r>
              <a:rPr lang="en-US" sz="1200">
                <a:solidFill>
                  <a:srgbClr val="0000FF"/>
                </a:solidFill>
              </a:rPr>
              <a:t>với dự báo tăng chi phí ở Slide số 2, giá thành thay đổi như sau:</a:t>
            </a:r>
          </a:p>
          <a:p>
            <a:r>
              <a:rPr lang="en-US" sz="1200">
                <a:solidFill>
                  <a:srgbClr val="0000FF"/>
                </a:solidFill>
              </a:rPr>
              <a:t>   - Chi phí nguyên liệu nhưa </a:t>
            </a:r>
            <a:r>
              <a:rPr lang="en-US" sz="1200">
                <a:solidFill>
                  <a:srgbClr val="FF0000"/>
                </a:solidFill>
              </a:rPr>
              <a:t>tăng 22 USD/tấn</a:t>
            </a:r>
          </a:p>
          <a:p>
            <a:r>
              <a:rPr lang="en-US" sz="1200">
                <a:solidFill>
                  <a:srgbClr val="0000FF"/>
                </a:solidFill>
              </a:rPr>
              <a:t>   - Chi phí sản xuất, bán hàng, quản lý,… </a:t>
            </a:r>
            <a:r>
              <a:rPr lang="en-US" sz="1200">
                <a:solidFill>
                  <a:srgbClr val="FF0000"/>
                </a:solidFill>
              </a:rPr>
              <a:t>tăng 10 USD/tấn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04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02F1E-0AED-CB4F-91C3-4583EFFF4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CA178B5-5DE2-FA96-AE87-61A01F5362A8}"/>
              </a:ext>
            </a:extLst>
          </p:cNvPr>
          <p:cNvSpPr txBox="1"/>
          <p:nvPr/>
        </p:nvSpPr>
        <p:spPr>
          <a:xfrm>
            <a:off x="0" y="56483"/>
            <a:ext cx="91439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800" b="1">
                <a:solidFill>
                  <a:srgbClr val="119303"/>
                </a:solidFill>
                <a:latin typeface="Montserrat" panose="00000500000000000000" pitchFamily="2" charset="0"/>
                <a:ea typeface="Tahoma" panose="020B0604030504040204" pitchFamily="34" charset="0"/>
                <a:cs typeface="Tahoma" panose="020B0604030504040204" pitchFamily="34" charset="0"/>
              </a:rPr>
              <a:t>2. DỰ BÁO GIÁ rHDPE</a:t>
            </a:r>
            <a:endParaRPr lang="en-US" sz="1800" b="1" dirty="0">
              <a:solidFill>
                <a:srgbClr val="119303"/>
              </a:solidFill>
              <a:latin typeface="Montserrat" panose="00000500000000000000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F14C8D-BE2C-C1F6-B3A9-613AA83E4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284" y="425815"/>
            <a:ext cx="6907432" cy="38685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2171BB-C16A-E79B-E7ED-6047D23C960F}"/>
              </a:ext>
            </a:extLst>
          </p:cNvPr>
          <p:cNvSpPr txBox="1"/>
          <p:nvPr/>
        </p:nvSpPr>
        <p:spPr>
          <a:xfrm>
            <a:off x="530926" y="4340482"/>
            <a:ext cx="6022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u="sng">
                <a:solidFill>
                  <a:srgbClr val="0000FF"/>
                </a:solidFill>
              </a:rPr>
              <a:t>Ghi chú: </a:t>
            </a:r>
            <a:r>
              <a:rPr lang="en-US" sz="1200">
                <a:solidFill>
                  <a:srgbClr val="0000FF"/>
                </a:solidFill>
              </a:rPr>
              <a:t>với dự báo tăng chi phí ở Slide số 2, giá thành thay đổi như sau:</a:t>
            </a:r>
          </a:p>
          <a:p>
            <a:r>
              <a:rPr lang="en-US" sz="1200">
                <a:solidFill>
                  <a:srgbClr val="0000FF"/>
                </a:solidFill>
              </a:rPr>
              <a:t>   - Chi phí nguyên liệu nhưa </a:t>
            </a:r>
            <a:r>
              <a:rPr lang="en-US" sz="1200">
                <a:solidFill>
                  <a:srgbClr val="FF0000"/>
                </a:solidFill>
              </a:rPr>
              <a:t>tăng 21 USD/tấn</a:t>
            </a:r>
          </a:p>
          <a:p>
            <a:r>
              <a:rPr lang="en-US" sz="1200">
                <a:solidFill>
                  <a:srgbClr val="0000FF"/>
                </a:solidFill>
              </a:rPr>
              <a:t>   - Chi phí sản xuất, bán hàng, quản lý,… </a:t>
            </a:r>
            <a:r>
              <a:rPr lang="en-US" sz="1200">
                <a:solidFill>
                  <a:srgbClr val="FF0000"/>
                </a:solidFill>
              </a:rPr>
              <a:t>tăng 6 USD/tấn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21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64;p47">
            <a:extLst>
              <a:ext uri="{FF2B5EF4-FFF2-40B4-BE49-F238E27FC236}">
                <a16:creationId xmlns:a16="http://schemas.microsoft.com/office/drawing/2014/main" id="{A8746D1E-6BF5-4678-BDF6-54834ADDE5D2}"/>
              </a:ext>
            </a:extLst>
          </p:cNvPr>
          <p:cNvSpPr txBox="1">
            <a:spLocks/>
          </p:cNvSpPr>
          <p:nvPr/>
        </p:nvSpPr>
        <p:spPr>
          <a:xfrm>
            <a:off x="1875087" y="2285400"/>
            <a:ext cx="507435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2800">
                <a:solidFill>
                  <a:schemeClr val="bg1"/>
                </a:solidFill>
              </a:rPr>
              <a:t>Thank you</a:t>
            </a:r>
            <a:endParaRPr lang="en-US" sz="2800">
              <a:solidFill>
                <a:schemeClr val="bg1"/>
              </a:solidFill>
            </a:endParaRPr>
          </a:p>
        </p:txBody>
      </p:sp>
      <p:sp>
        <p:nvSpPr>
          <p:cNvPr id="7" name="Google Shape;170;p19">
            <a:extLst>
              <a:ext uri="{FF2B5EF4-FFF2-40B4-BE49-F238E27FC236}">
                <a16:creationId xmlns:a16="http://schemas.microsoft.com/office/drawing/2014/main" id="{DB97AC02-F358-4C2D-BB8B-52908F91590A}"/>
              </a:ext>
            </a:extLst>
          </p:cNvPr>
          <p:cNvSpPr txBox="1">
            <a:spLocks/>
          </p:cNvSpPr>
          <p:nvPr/>
        </p:nvSpPr>
        <p:spPr>
          <a:xfrm>
            <a:off x="2981210" y="1504126"/>
            <a:ext cx="4658170" cy="100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4000" dirty="0">
                <a:solidFill>
                  <a:srgbClr val="119303"/>
                </a:solidFill>
                <a:latin typeface="+mn-lt"/>
                <a:cs typeface="Arial" panose="020B0604020202020204" pitchFamily="34" charset="0"/>
              </a:rPr>
              <a:t>Thank you!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3E05C9-56B8-4586-A819-B49F27A2B987}"/>
              </a:ext>
            </a:extLst>
          </p:cNvPr>
          <p:cNvSpPr/>
          <p:nvPr/>
        </p:nvSpPr>
        <p:spPr>
          <a:xfrm flipV="1">
            <a:off x="2696134" y="2348536"/>
            <a:ext cx="1988712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E67B52-CC81-434E-B2A4-97AE3E9EAACD}"/>
              </a:ext>
            </a:extLst>
          </p:cNvPr>
          <p:cNvSpPr/>
          <p:nvPr/>
        </p:nvSpPr>
        <p:spPr>
          <a:xfrm flipV="1">
            <a:off x="4893388" y="2348534"/>
            <a:ext cx="1588094" cy="4571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8A86909-5278-4A4F-B3FA-5E61E21B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793455" y="1593558"/>
            <a:ext cx="798560" cy="6918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127FA9FD6004AB87C3B980CB5D696" ma:contentTypeVersion="14" ma:contentTypeDescription="Create a new document." ma:contentTypeScope="" ma:versionID="53b42363595196d6ec86acfaf5082e91">
  <xsd:schema xmlns:xsd="http://www.w3.org/2001/XMLSchema" xmlns:xs="http://www.w3.org/2001/XMLSchema" xmlns:p="http://schemas.microsoft.com/office/2006/metadata/properties" xmlns:ns2="c4b5fce3-9bbc-4429-8073-3ae7a9bcc677" xmlns:ns3="1401b2ec-7936-4f98-86ff-5ef737f58b9c" targetNamespace="http://schemas.microsoft.com/office/2006/metadata/properties" ma:root="true" ma:fieldsID="34e2b9a236e7c153f7bee726766f873d" ns2:_="" ns3:_="">
    <xsd:import namespace="c4b5fce3-9bbc-4429-8073-3ae7a9bcc677"/>
    <xsd:import namespace="1401b2ec-7936-4f98-86ff-5ef737f58b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lcf76f155ced4ddcb4097134ff3c332f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SearchPropertie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5fce3-9bbc-4429-8073-3ae7a9bcc677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01b2ec-7936-4f98-86ff-5ef737f58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3eac797d-9452-442f-b5f7-665479590d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401b2ec-7936-4f98-86ff-5ef737f58b9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DA1C712-36E4-472C-9E89-01DC89F366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70BB8B-81E1-4B15-825C-C607CCD028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b5fce3-9bbc-4429-8073-3ae7a9bcc677"/>
    <ds:schemaRef ds:uri="1401b2ec-7936-4f98-86ff-5ef737f58b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610994-6796-415F-8653-E95478AAE5BC}">
  <ds:schemaRefs>
    <ds:schemaRef ds:uri="http://schemas.microsoft.com/office/2006/metadata/properties"/>
    <ds:schemaRef ds:uri="http://schemas.microsoft.com/office/infopath/2007/PartnerControls"/>
    <ds:schemaRef ds:uri="1401b2ec-7936-4f98-86ff-5ef737f58b9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812</TotalTime>
  <Words>180</Words>
  <Application>Microsoft Office PowerPoint</Application>
  <PresentationFormat>On-screen Show (16:9)</PresentationFormat>
  <Paragraphs>18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Montserrat</vt:lpstr>
      <vt:lpstr>Muli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Cư, Lê Hoành</cp:lastModifiedBy>
  <cp:revision>6</cp:revision>
  <dcterms:modified xsi:type="dcterms:W3CDTF">2026-03-23T15:10:51Z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0x0101004E0127FA9FD6004AB87C3B980CB5D696</vt:lpwstr>
  </property>
  <property fmtid="{D5CDD505-2E9C-101B-9397-08002B2CF9AE}" pid="3" name="MediaServiceImageTags">
    <vt:lpwstr/>
  </property>
</Properties>
</file>