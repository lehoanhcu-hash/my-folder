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5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6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9"/>
  </p:notesMasterIdLst>
  <p:handoutMasterIdLst>
    <p:handoutMasterId r:id="rId30"/>
  </p:handoutMasterIdLst>
  <p:sldIdLst>
    <p:sldId id="491" r:id="rId5"/>
    <p:sldId id="339" r:id="rId6"/>
    <p:sldId id="334" r:id="rId7"/>
    <p:sldId id="492" r:id="rId8"/>
    <p:sldId id="337" r:id="rId9"/>
    <p:sldId id="485" r:id="rId10"/>
    <p:sldId id="342" r:id="rId11"/>
    <p:sldId id="355" r:id="rId12"/>
    <p:sldId id="344" r:id="rId13"/>
    <p:sldId id="345" r:id="rId14"/>
    <p:sldId id="486" r:id="rId15"/>
    <p:sldId id="488" r:id="rId16"/>
    <p:sldId id="489" r:id="rId17"/>
    <p:sldId id="494" r:id="rId18"/>
    <p:sldId id="350" r:id="rId19"/>
    <p:sldId id="354" r:id="rId20"/>
    <p:sldId id="490" r:id="rId21"/>
    <p:sldId id="493" r:id="rId22"/>
    <p:sldId id="336" r:id="rId23"/>
    <p:sldId id="335" r:id="rId24"/>
    <p:sldId id="358" r:id="rId25"/>
    <p:sldId id="349" r:id="rId26"/>
    <p:sldId id="353" r:id="rId27"/>
    <p:sldId id="293" r:id="rId28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P presentation" id="{8E4498FF-85E0-457D-9BFF-FFE67C62EA5C}">
          <p14:sldIdLst>
            <p14:sldId id="491"/>
            <p14:sldId id="339"/>
            <p14:sldId id="334"/>
            <p14:sldId id="492"/>
            <p14:sldId id="337"/>
            <p14:sldId id="485"/>
            <p14:sldId id="342"/>
            <p14:sldId id="355"/>
            <p14:sldId id="344"/>
            <p14:sldId id="345"/>
            <p14:sldId id="486"/>
            <p14:sldId id="488"/>
            <p14:sldId id="489"/>
            <p14:sldId id="494"/>
            <p14:sldId id="350"/>
            <p14:sldId id="354"/>
            <p14:sldId id="490"/>
            <p14:sldId id="493"/>
            <p14:sldId id="336"/>
            <p14:sldId id="335"/>
            <p14:sldId id="358"/>
            <p14:sldId id="349"/>
            <p14:sldId id="353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0B3734-228D-1D91-AA35-15765602FCF0}" name="Thiện, Trần Ngọc Phước" initials="TT" userId="S::TranNgocPhuocThien@duytangroup.com::c95ca287-6e50-4541-8801-ae49145525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9303"/>
    <a:srgbClr val="FFFFFF"/>
    <a:srgbClr val="0000FF"/>
    <a:srgbClr val="176534"/>
    <a:srgbClr val="006736"/>
    <a:srgbClr val="EAEAEA"/>
    <a:srgbClr val="70AD47"/>
    <a:srgbClr val="003399"/>
    <a:srgbClr val="000066"/>
    <a:srgbClr val="718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4B276A-9CF6-4A86-BEEA-DA332F506FC0}" v="49" dt="2026-01-14T08:39:20.959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01" autoAdjust="0"/>
  </p:normalViewPr>
  <p:slideViewPr>
    <p:cSldViewPr snapToGrid="0">
      <p:cViewPr varScale="1">
        <p:scale>
          <a:sx n="146" d="100"/>
          <a:sy n="146" d="100"/>
        </p:scale>
        <p:origin x="47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7" d="100"/>
          <a:sy n="87" d="100"/>
        </p:scale>
        <p:origin x="1912" y="-2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 custLinFactNeighborX="-1878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4573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64558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D026E-F0EF-0AEF-4B10-6553BDE41C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r>
              <a:rPr lang="en-US"/>
              <a:t>61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E2CAC-5EAD-BFEF-B4DF-99679D5335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60" cy="49805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DFBDB83E-0D1C-49EF-A89A-B984A365B8AA}" type="datetime1">
              <a:rPr lang="en-US" smtClean="0"/>
              <a:t>21/01/2026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6E7D3-074A-F063-1DAB-7976073CB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r>
              <a:rPr lang="en-US"/>
              <a:t>65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7AF7B-2171-CC4C-C008-5440A9C71B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60" cy="49805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134E3D18-FA13-4B19-AB93-DDC6F23CF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209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5563" tIns="47781" rIns="95563" bIns="47781"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48" tIns="95548" rIns="95548" bIns="9554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5B93-14A8-3426-4FC6-663D5561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9F722-9D8B-0568-3D3D-43851E532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5FCBE-2E82-D43E-C1A1-CBD501E44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81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Hiện tại %LNST/Doanh thu là 4.68%, nếu không add tăng giá 5% thì %LNST/DT là: 5.72%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5D01-B621-333B-39F9-0BDDAD8C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28B58-17AB-9060-54C0-E36E3A086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159AA-5823-A9E1-5130-6F727AECD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Hiện tại %LNST/Doanh thu là 4.68%, nếu không add tăng giá 5% thì %LNST/DT là: 5.72%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22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vi-VN"/>
              <a:t>Minh Khoa và Khiêm gia nhập Sales Mỹ: Oct 25</a:t>
            </a:r>
          </a:p>
          <a:p>
            <a:pPr marL="147593" indent="0">
              <a:buNone/>
            </a:pPr>
            <a:r>
              <a:rPr lang="vi-VN"/>
              <a:t>Năm 2025 tuyển thêm 1 Sales Mỹ</a:t>
            </a:r>
          </a:p>
          <a:p>
            <a:pPr marL="147593" indent="0">
              <a:buNone/>
            </a:pPr>
            <a:r>
              <a:rPr lang="vi-VN"/>
              <a:t>OT: Doanh thu 15.9 triệu – 3,000 tấn (38%)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03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4CE5-C22A-00CA-0DD3-D4364F304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3425B-B272-AF68-2EA0-9F6199E9B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0C20D-2FEA-C25C-DEED-7D46A643A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Tổng</a:t>
            </a:r>
            <a:r>
              <a:rPr lang="en-US"/>
              <a:t> doanh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khách</a:t>
            </a:r>
            <a:r>
              <a:rPr lang="en-US"/>
              <a:t> </a:t>
            </a:r>
            <a:r>
              <a:rPr lang="en-US" err="1"/>
              <a:t>hàng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: 5,5 </a:t>
            </a:r>
            <a:r>
              <a:rPr lang="en-US" err="1"/>
              <a:t>triệu</a:t>
            </a:r>
            <a:r>
              <a:rPr lang="en-US"/>
              <a:t> USD – 1,300 </a:t>
            </a:r>
            <a:r>
              <a:rPr lang="en-US" err="1"/>
              <a:t>tấn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69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14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57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r>
              <a:rPr lang="en-US" sz="1200"/>
              <a:t>12/2025 : Quản </a:t>
            </a:r>
            <a:r>
              <a:rPr lang="en-US" sz="1200" err="1"/>
              <a:t>lý</a:t>
            </a:r>
            <a:r>
              <a:rPr lang="en-US" sz="1200"/>
              <a:t> Kho : 5 </a:t>
            </a:r>
            <a:r>
              <a:rPr lang="en-US" sz="1200" err="1"/>
              <a:t>kUSD</a:t>
            </a:r>
            <a:r>
              <a:rPr lang="en-US" sz="1200"/>
              <a:t>/</a:t>
            </a:r>
            <a:r>
              <a:rPr lang="en-US" sz="1200" err="1"/>
              <a:t>tháng</a:t>
            </a:r>
            <a:endParaRPr lang="en-US" sz="1200"/>
          </a:p>
          <a:p>
            <a:pPr marL="147593" indent="0">
              <a:buNone/>
            </a:pPr>
            <a:r>
              <a:rPr lang="en-US" sz="1200"/>
              <a:t>01/2026 : 1 IT</a:t>
            </a:r>
            <a:r>
              <a:rPr lang="en-US">
                <a:effectLst/>
              </a:rPr>
              <a:t> : 7.5 </a:t>
            </a:r>
            <a:r>
              <a:rPr lang="en-US" err="1">
                <a:effectLst/>
              </a:rPr>
              <a:t>kUSD</a:t>
            </a:r>
            <a:r>
              <a:rPr lang="en-US">
                <a:effectLst/>
              </a:rPr>
              <a:t>/</a:t>
            </a:r>
            <a:r>
              <a:rPr lang="en-US" err="1">
                <a:effectLst/>
              </a:rPr>
              <a:t>tháng</a:t>
            </a:r>
            <a:endParaRPr lang="en-US" sz="1200"/>
          </a:p>
          <a:p>
            <a:pPr marL="147593" indent="0">
              <a:buNone/>
            </a:pPr>
            <a:r>
              <a:rPr lang="en-US" sz="1200"/>
              <a:t>12/2025 : 1 Enge-Auto: 10 </a:t>
            </a:r>
            <a:r>
              <a:rPr lang="en-US" sz="1200" err="1"/>
              <a:t>kUSD</a:t>
            </a:r>
            <a:r>
              <a:rPr lang="en-US" sz="1200"/>
              <a:t>/</a:t>
            </a:r>
            <a:r>
              <a:rPr lang="en-US" sz="1200" err="1"/>
              <a:t>tháng</a:t>
            </a:r>
            <a:r>
              <a:rPr lang="en-US" sz="1200"/>
              <a:t> </a:t>
            </a:r>
          </a:p>
          <a:p>
            <a:pPr marL="147593" indent="0">
              <a:buNone/>
            </a:pPr>
            <a:r>
              <a:rPr lang="da-DK" sz="1200"/>
              <a:t>03/2026 : 1 CSR :  6 kUSD/tháng</a:t>
            </a:r>
          </a:p>
          <a:p>
            <a:pPr marL="147593" indent="0">
              <a:buNone/>
            </a:pPr>
            <a:r>
              <a:rPr lang="da-DK" sz="1200"/>
              <a:t>07/2026: 1 Sale man</a:t>
            </a:r>
            <a:r>
              <a:rPr lang="da-DK">
                <a:effectLst/>
              </a:rPr>
              <a:t> : 10 kUSD/tháng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75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D278-A84D-4A61-AEB7-7DD44169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B2CF6-2B37-1261-DC7C-834A5A5D3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9094B-2734-CADD-8CFA-CB810C5CA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Chi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ngoài</a:t>
            </a:r>
            <a:r>
              <a:rPr lang="en-US"/>
              <a:t> </a:t>
            </a:r>
            <a:r>
              <a:rPr lang="en-US" err="1"/>
              <a:t>giờ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lao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phổ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: 234 </a:t>
            </a:r>
            <a:r>
              <a:rPr lang="en-US" err="1"/>
              <a:t>kUSD</a:t>
            </a:r>
            <a:r>
              <a:rPr lang="en-US"/>
              <a:t>.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OpEx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12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E9385-9A1A-2B34-8F7B-77C94355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6E3D5-6411-D16B-2C40-BAB629351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EDA34-D6B0-E6E7-08D4-156755AE6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Chi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ngoài</a:t>
            </a:r>
            <a:r>
              <a:rPr lang="en-US"/>
              <a:t> </a:t>
            </a:r>
            <a:r>
              <a:rPr lang="en-US" err="1"/>
              <a:t>giờ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lao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phổ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: 234 </a:t>
            </a:r>
            <a:r>
              <a:rPr lang="en-US" err="1"/>
              <a:t>kUSD</a:t>
            </a:r>
            <a:r>
              <a:rPr lang="en-US"/>
              <a:t>.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OpEx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05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052-28CC-380F-0584-9BA12809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89AC8-58A0-E648-3EC1-346DC1B1B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EDEA6-8D16-2222-A38A-990287E28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Note: Chi </a:t>
            </a:r>
            <a:r>
              <a:rPr lang="en-US" err="1"/>
              <a:t>phí</a:t>
            </a:r>
            <a:r>
              <a:rPr lang="en-US"/>
              <a:t> </a:t>
            </a:r>
            <a:r>
              <a:rPr lang="en-US" err="1"/>
              <a:t>ngoài</a:t>
            </a:r>
            <a:r>
              <a:rPr lang="en-US"/>
              <a:t> </a:t>
            </a:r>
            <a:r>
              <a:rPr lang="en-US" err="1"/>
              <a:t>giờ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lao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phổ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: 234 </a:t>
            </a:r>
            <a:r>
              <a:rPr lang="en-US" err="1"/>
              <a:t>kUSD</a:t>
            </a:r>
            <a:r>
              <a:rPr lang="en-US"/>
              <a:t>.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OpEx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18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29B97-2D9E-630A-27AA-4DF8ED834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6EDBD-8FE3-523D-F284-D178FBB8F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9D6E4-2DAF-DEFA-9669-E78041F01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% Capex/Doanh </a:t>
            </a:r>
            <a:r>
              <a:rPr lang="en-US" err="1"/>
              <a:t>thu</a:t>
            </a:r>
            <a:r>
              <a:rPr lang="en-US"/>
              <a:t> – </a:t>
            </a:r>
            <a:r>
              <a:rPr lang="en-US" err="1"/>
              <a:t>sơ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bánh</a:t>
            </a:r>
          </a:p>
          <a:p>
            <a:pPr marL="147593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03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% Capex/Doanh </a:t>
            </a:r>
            <a:r>
              <a:rPr lang="en-US" err="1"/>
              <a:t>thu</a:t>
            </a:r>
            <a:r>
              <a:rPr lang="en-US"/>
              <a:t> – </a:t>
            </a:r>
            <a:r>
              <a:rPr lang="en-US" err="1"/>
              <a:t>sơ</a:t>
            </a:r>
            <a:r>
              <a:rPr lang="en-US"/>
              <a:t> </a:t>
            </a:r>
            <a:r>
              <a:rPr lang="en-US" err="1"/>
              <a:t>đồ</a:t>
            </a:r>
            <a:r>
              <a:rPr lang="en-US"/>
              <a:t> bánh</a:t>
            </a:r>
          </a:p>
          <a:p>
            <a:pPr marL="147593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51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Tiền cuối kỳ hiện tại: 3.3 triệu</a:t>
            </a:r>
          </a:p>
          <a:p>
            <a:r>
              <a:rPr lang="vi-VN"/>
              <a:t>Cho LLC mượn: 1.7 triệu</a:t>
            </a:r>
          </a:p>
          <a:p>
            <a:r>
              <a:rPr lang="vi-VN"/>
              <a:t>Gửi tiết kiệm: 2.2 triệu</a:t>
            </a:r>
          </a:p>
          <a:p>
            <a:r>
              <a:rPr lang="vi-VN"/>
              <a:t>Góp vốn lại: 600kUSD</a:t>
            </a:r>
          </a:p>
          <a:p>
            <a:r>
              <a:rPr lang="vi-VN" b="1"/>
              <a:t>=&gt; Tổng cộng: 7.8 triệu</a:t>
            </a:r>
            <a:endParaRPr lang="en-US" b="1"/>
          </a:p>
          <a:p>
            <a:r>
              <a:rPr lang="en-US" b="1"/>
              <a:t>Dịch </a:t>
            </a:r>
            <a:r>
              <a:rPr lang="en-US" b="1" err="1"/>
              <a:t>tiếng</a:t>
            </a:r>
            <a:r>
              <a:rPr lang="en-US" b="1"/>
              <a:t> </a:t>
            </a:r>
            <a:r>
              <a:rPr lang="en-US" b="1" err="1"/>
              <a:t>việt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31933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78783-57FD-1CB4-48F9-586684E7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341D2-56BC-16AF-6361-F9906B854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3CFCA-B768-0BD1-4DB1-19A30EB9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Tiền cuối kỳ hiện tại: 3.3 triệu</a:t>
            </a:r>
          </a:p>
          <a:p>
            <a:r>
              <a:rPr lang="vi-VN"/>
              <a:t>Cho LLC mượn: 1.7 triệu</a:t>
            </a:r>
          </a:p>
          <a:p>
            <a:r>
              <a:rPr lang="vi-VN"/>
              <a:t>Gửi tiết kiệm: 2.2 triệu</a:t>
            </a:r>
          </a:p>
          <a:p>
            <a:r>
              <a:rPr lang="vi-VN"/>
              <a:t>Góp vốn lại: 600kUSD</a:t>
            </a:r>
          </a:p>
          <a:p>
            <a:r>
              <a:rPr lang="vi-VN" b="1"/>
              <a:t>=&gt; Tổng cộng: 7.8 triệu</a:t>
            </a:r>
            <a:endParaRPr lang="en-US" b="1"/>
          </a:p>
          <a:p>
            <a:r>
              <a:rPr lang="en-US" b="1"/>
              <a:t>Dịch </a:t>
            </a:r>
            <a:r>
              <a:rPr lang="en-US" b="1" err="1"/>
              <a:t>tiếng</a:t>
            </a:r>
            <a:r>
              <a:rPr lang="en-US" b="1"/>
              <a:t> </a:t>
            </a:r>
            <a:r>
              <a:rPr lang="en-US" b="1" err="1"/>
              <a:t>việt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332255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593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0" y="4886310"/>
            <a:ext cx="9144000" cy="25718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52930" y="4917549"/>
            <a:ext cx="415453" cy="212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312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70;p19">
            <a:extLst>
              <a:ext uri="{FF2B5EF4-FFF2-40B4-BE49-F238E27FC236}">
                <a16:creationId xmlns:a16="http://schemas.microsoft.com/office/drawing/2014/main" id="{AAAB8DB4-4763-7C4A-203D-6C0FBEF99F98}"/>
              </a:ext>
            </a:extLst>
          </p:cNvPr>
          <p:cNvSpPr txBox="1">
            <a:spLocks/>
          </p:cNvSpPr>
          <p:nvPr userDrawn="1"/>
        </p:nvSpPr>
        <p:spPr>
          <a:xfrm>
            <a:off x="360218" y="1351629"/>
            <a:ext cx="8334161" cy="110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CỦA BAN ĐIỀU HÀNH</a:t>
            </a:r>
            <a:endParaRPr lang="en-US" sz="3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TUẦN 14 / 2025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Relationship Id="rId9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25.emf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6.emf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7.emf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28.emf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31.emf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AB52-1304-636D-74DC-66F08AC1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1C4200-E354-CE71-82ED-534D9EC3D3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166" r="17"/>
          <a:stretch>
            <a:fillRect/>
          </a:stretch>
        </p:blipFill>
        <p:spPr>
          <a:xfrm>
            <a:off x="0" y="958444"/>
            <a:ext cx="9143999" cy="4176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B88903-5C3E-F462-03F8-4D39E88F69EB}"/>
              </a:ext>
            </a:extLst>
          </p:cNvPr>
          <p:cNvSpPr/>
          <p:nvPr/>
        </p:nvSpPr>
        <p:spPr>
          <a:xfrm>
            <a:off x="-6015" y="930736"/>
            <a:ext cx="9144000" cy="70289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170;p19">
            <a:extLst>
              <a:ext uri="{FF2B5EF4-FFF2-40B4-BE49-F238E27FC236}">
                <a16:creationId xmlns:a16="http://schemas.microsoft.com/office/drawing/2014/main" id="{C0FA59BD-66FC-006D-A57C-4B862EADDC6E}"/>
              </a:ext>
            </a:extLst>
          </p:cNvPr>
          <p:cNvSpPr txBox="1">
            <a:spLocks/>
          </p:cNvSpPr>
          <p:nvPr/>
        </p:nvSpPr>
        <p:spPr>
          <a:xfrm>
            <a:off x="1562167" y="958444"/>
            <a:ext cx="5731328" cy="702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NGÂN SÁCH NĂM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9B4227-561E-ED2E-C96C-AECCBC9C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7345D9-50A7-4D03-0360-14EF18363155}"/>
              </a:ext>
            </a:extLst>
          </p:cNvPr>
          <p:cNvSpPr txBox="1"/>
          <p:nvPr/>
        </p:nvSpPr>
        <p:spPr>
          <a:xfrm>
            <a:off x="0" y="1644631"/>
            <a:ext cx="913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CÔNG TY CP NHỰA TÁI CHẾ DUY TÂN</a:t>
            </a:r>
          </a:p>
        </p:txBody>
      </p:sp>
      <p:pic>
        <p:nvPicPr>
          <p:cNvPr id="6" name="Picture 5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AE911FF-547C-EDFA-CE33-FE2E00AFF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24" y="220234"/>
            <a:ext cx="2229909" cy="4884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1DF9F7-4984-06B4-EED2-EB82AA5ED7EB}"/>
              </a:ext>
            </a:extLst>
          </p:cNvPr>
          <p:cNvSpPr txBox="1"/>
          <p:nvPr/>
        </p:nvSpPr>
        <p:spPr>
          <a:xfrm>
            <a:off x="0" y="4606904"/>
            <a:ext cx="3719074" cy="523220"/>
          </a:xfrm>
          <a:prstGeom prst="rect">
            <a:avLst/>
          </a:prstGeom>
          <a:solidFill>
            <a:srgbClr val="FFFFFF">
              <a:alpha val="38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	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Đình Hoàng (GĐTC)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914400" algn="l"/>
              </a:tabLst>
            </a:pP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Ngày: 	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14/01/2026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6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8A01F91-E185-4353-50D6-C2C66A7FA205}"/>
              </a:ext>
            </a:extLst>
          </p:cNvPr>
          <p:cNvSpPr/>
          <p:nvPr/>
        </p:nvSpPr>
        <p:spPr>
          <a:xfrm rot="9531852">
            <a:off x="1601840" y="3696704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38973840-1E90-BBF2-E836-9B5D4A254030}"/>
              </a:ext>
            </a:extLst>
          </p:cNvPr>
          <p:cNvSpPr/>
          <p:nvPr/>
        </p:nvSpPr>
        <p:spPr>
          <a:xfrm rot="8613109">
            <a:off x="1909318" y="3537740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8CE50502-3A34-A903-1DAC-116537142C5C}"/>
              </a:ext>
            </a:extLst>
          </p:cNvPr>
          <p:cNvSpPr/>
          <p:nvPr/>
        </p:nvSpPr>
        <p:spPr>
          <a:xfrm rot="7554746">
            <a:off x="2205082" y="3254852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5175E2BD-251D-05B4-4AF3-511E71445A3B}"/>
              </a:ext>
            </a:extLst>
          </p:cNvPr>
          <p:cNvSpPr/>
          <p:nvPr/>
        </p:nvSpPr>
        <p:spPr>
          <a:xfrm rot="6640518">
            <a:off x="2416681" y="2881008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360348CB-CC35-67DA-86AF-790191E1EFAF}"/>
              </a:ext>
            </a:extLst>
          </p:cNvPr>
          <p:cNvSpPr/>
          <p:nvPr/>
        </p:nvSpPr>
        <p:spPr>
          <a:xfrm rot="5710226">
            <a:off x="2488207" y="2502264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2195190F-65FA-D549-E7C9-11F6E6EA5149}"/>
              </a:ext>
            </a:extLst>
          </p:cNvPr>
          <p:cNvSpPr/>
          <p:nvPr/>
        </p:nvSpPr>
        <p:spPr>
          <a:xfrm rot="4578457">
            <a:off x="2460969" y="2120061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BEA4A2B6-6A60-DD39-785D-894351032894}"/>
              </a:ext>
            </a:extLst>
          </p:cNvPr>
          <p:cNvSpPr/>
          <p:nvPr/>
        </p:nvSpPr>
        <p:spPr>
          <a:xfrm rot="3758051">
            <a:off x="2330533" y="1783241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BB98DFAE-3199-CB0B-20AA-B282DD358114}"/>
              </a:ext>
            </a:extLst>
          </p:cNvPr>
          <p:cNvSpPr/>
          <p:nvPr/>
        </p:nvSpPr>
        <p:spPr>
          <a:xfrm rot="2765194">
            <a:off x="2129912" y="1492879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A9E36B-D516-000A-44C4-F29372BC16DC}"/>
              </a:ext>
            </a:extLst>
          </p:cNvPr>
          <p:cNvGrpSpPr/>
          <p:nvPr/>
        </p:nvGrpSpPr>
        <p:grpSpPr>
          <a:xfrm>
            <a:off x="1521690" y="551524"/>
            <a:ext cx="7452164" cy="1040072"/>
            <a:chOff x="2053009" y="373232"/>
            <a:chExt cx="9936218" cy="1386762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4AF66A7A-665A-0A33-10F4-02E30B0D12E7}"/>
                </a:ext>
              </a:extLst>
            </p:cNvPr>
            <p:cNvSpPr/>
            <p:nvPr/>
          </p:nvSpPr>
          <p:spPr>
            <a:xfrm rot="984673">
              <a:off x="2053009" y="1129437"/>
              <a:ext cx="270655" cy="630557"/>
            </a:xfrm>
            <a:prstGeom prst="triangle">
              <a:avLst>
                <a:gd name="adj" fmla="val 5598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b="1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B142A12-2AF3-7A1E-20CE-D6F60B8C3957}"/>
                </a:ext>
              </a:extLst>
            </p:cNvPr>
            <p:cNvGrpSpPr/>
            <p:nvPr/>
          </p:nvGrpSpPr>
          <p:grpSpPr>
            <a:xfrm>
              <a:off x="2613112" y="373232"/>
              <a:ext cx="9376115" cy="469135"/>
              <a:chOff x="4435722" y="1677828"/>
              <a:chExt cx="9378558" cy="46925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A9DECC-782D-A458-374C-DB9615778680}"/>
                  </a:ext>
                </a:extLst>
              </p:cNvPr>
              <p:cNvSpPr/>
              <p:nvPr/>
            </p:nvSpPr>
            <p:spPr>
              <a:xfrm>
                <a:off x="4690885" y="1677828"/>
                <a:ext cx="6465957" cy="447845"/>
              </a:xfrm>
              <a:prstGeom prst="rect">
                <a:avLst/>
              </a:prstGeom>
              <a:gradFill>
                <a:gsLst>
                  <a:gs pos="37000">
                    <a:schemeClr val="bg1">
                      <a:lumMod val="75000"/>
                      <a:alpha val="31000"/>
                    </a:schemeClr>
                  </a:gs>
                  <a:gs pos="5000">
                    <a:schemeClr val="bg1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B5E61E-5449-618F-DC0C-C2CAE44337F7}"/>
                  </a:ext>
                </a:extLst>
              </p:cNvPr>
              <p:cNvSpPr txBox="1"/>
              <p:nvPr/>
            </p:nvSpPr>
            <p:spPr>
              <a:xfrm>
                <a:off x="4961820" y="1720658"/>
                <a:ext cx="8852460" cy="41047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b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Các yếu tố giả định năm 2026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7F21249-D725-DA24-DF7C-8A769543FB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35722" y="1677828"/>
                <a:ext cx="469258" cy="46925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53986" tIns="68562" rIns="53986" bIns="68562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1100" b="1">
                    <a:solidFill>
                      <a:srgbClr val="006736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</a:p>
            </p:txBody>
          </p:sp>
        </p:grpSp>
      </p:grp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CA5A5236-88F6-A6C9-9264-EC4017BD2078}"/>
              </a:ext>
            </a:extLst>
          </p:cNvPr>
          <p:cNvSpPr/>
          <p:nvPr/>
        </p:nvSpPr>
        <p:spPr>
          <a:xfrm rot="2043909">
            <a:off x="1851700" y="1259682"/>
            <a:ext cx="202991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0" y="5079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NỘI DUNG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Donut 2">
            <a:extLst>
              <a:ext uri="{FF2B5EF4-FFF2-40B4-BE49-F238E27FC236}">
                <a16:creationId xmlns:a16="http://schemas.microsoft.com/office/drawing/2014/main" id="{D54907FB-DFAB-7623-C761-0B2B7BB61D0D}"/>
              </a:ext>
            </a:extLst>
          </p:cNvPr>
          <p:cNvSpPr/>
          <p:nvPr/>
        </p:nvSpPr>
        <p:spPr>
          <a:xfrm>
            <a:off x="120395" y="1538125"/>
            <a:ext cx="2233910" cy="2239376"/>
          </a:xfrm>
          <a:prstGeom prst="donut">
            <a:avLst>
              <a:gd name="adj" fmla="val 106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b="1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2306289" y="948735"/>
            <a:ext cx="5842116" cy="338660"/>
            <a:chOff x="5199122" y="3495907"/>
            <a:chExt cx="7789486" cy="4515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660091" y="3511278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 hoạch Doanh thu &amp; Sản lượng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9122" y="3495907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2542800" y="1329120"/>
            <a:ext cx="5692432" cy="349250"/>
            <a:chOff x="4467398" y="5225690"/>
            <a:chExt cx="7589909" cy="4656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42381"/>
              <a:ext cx="7124242" cy="4103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EBITDA &amp; Lợi nhuận sau thuế 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AF787D7-256C-3A2D-343A-B725EE1234DA}"/>
              </a:ext>
            </a:extLst>
          </p:cNvPr>
          <p:cNvSpPr txBox="1"/>
          <p:nvPr/>
        </p:nvSpPr>
        <p:spPr>
          <a:xfrm>
            <a:off x="389638" y="2577433"/>
            <a:ext cx="165365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AGENDA</a:t>
            </a:r>
            <a:endParaRPr lang="vi-VN" sz="2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2683822" y="1753459"/>
            <a:ext cx="5864317" cy="352866"/>
            <a:chOff x="5162127" y="3484171"/>
            <a:chExt cx="7819089" cy="47048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484171"/>
              <a:ext cx="7328517" cy="4103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Biến phí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426B1D-6F82-18FA-D478-0AC477A44A3D}"/>
              </a:ext>
            </a:extLst>
          </p:cNvPr>
          <p:cNvGrpSpPr/>
          <p:nvPr/>
        </p:nvGrpSpPr>
        <p:grpSpPr>
          <a:xfrm>
            <a:off x="2826090" y="2171792"/>
            <a:ext cx="5848199" cy="347751"/>
            <a:chOff x="5183618" y="3495909"/>
            <a:chExt cx="7797598" cy="43683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53583F-4DBA-D134-AB9F-26A7FE41DD5F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85E834-E39C-0888-6CCF-82156C5E2F75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Định phí theo bộ phận và khoản mục phí (OpEx)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2BAF273-06DB-E6A9-0E5F-5E8EBEAA6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D07D6DE-6A01-3602-7494-5EDF659C7C59}"/>
              </a:ext>
            </a:extLst>
          </p:cNvPr>
          <p:cNvGrpSpPr/>
          <p:nvPr/>
        </p:nvGrpSpPr>
        <p:grpSpPr>
          <a:xfrm>
            <a:off x="2826090" y="2607603"/>
            <a:ext cx="5848199" cy="347751"/>
            <a:chOff x="5183618" y="3495909"/>
            <a:chExt cx="7797598" cy="43683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8C4D183-9FCD-DB8C-CAEE-EDEBDCB715BC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A553109-FA3E-4C91-8822-6DB426948973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Chi phí nhân sự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F70248F-84E0-3321-7F32-1791EAE974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DE34952-B668-13CC-C893-25FC90C81DAC}"/>
              </a:ext>
            </a:extLst>
          </p:cNvPr>
          <p:cNvGrpSpPr/>
          <p:nvPr/>
        </p:nvGrpSpPr>
        <p:grpSpPr>
          <a:xfrm>
            <a:off x="2713192" y="3046008"/>
            <a:ext cx="5848199" cy="334140"/>
            <a:chOff x="5183618" y="3481567"/>
            <a:chExt cx="7797598" cy="45117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5C11B3F-7556-0404-0F83-56FFB899D0C0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DAC8217-6C7A-EA9D-63B5-B339A8B9931A}"/>
                </a:ext>
              </a:extLst>
            </p:cNvPr>
            <p:cNvSpPr txBox="1"/>
            <p:nvPr/>
          </p:nvSpPr>
          <p:spPr>
            <a:xfrm>
              <a:off x="5652699" y="3481567"/>
              <a:ext cx="7328517" cy="41558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Đầu tư (CapEx)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8916CE7-DA32-3AC7-5BEB-2A3CB75B70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7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604B339-F4B7-2827-41BF-F12583256D40}"/>
              </a:ext>
            </a:extLst>
          </p:cNvPr>
          <p:cNvGrpSpPr/>
          <p:nvPr/>
        </p:nvGrpSpPr>
        <p:grpSpPr>
          <a:xfrm>
            <a:off x="2526572" y="3490037"/>
            <a:ext cx="5848199" cy="347751"/>
            <a:chOff x="5183618" y="3495909"/>
            <a:chExt cx="7797598" cy="43683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DBCE84D-4A9C-0869-7DDB-62F0DD0EF8B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6DBE7A1-E765-145C-0D3A-6C7ABB6DB8DB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Kết quả kinh doanh – Tình hình tài chính - Dòng tiền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59BEDA9-345B-0917-CB1D-F961A5BF5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8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634F6AA-318C-49AB-E93D-20E8D9BEED64}"/>
              </a:ext>
            </a:extLst>
          </p:cNvPr>
          <p:cNvGrpSpPr/>
          <p:nvPr/>
        </p:nvGrpSpPr>
        <p:grpSpPr>
          <a:xfrm>
            <a:off x="2326142" y="3934118"/>
            <a:ext cx="5812244" cy="353380"/>
            <a:chOff x="5221116" y="3484685"/>
            <a:chExt cx="7749659" cy="44390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9A93AE-F48B-55D0-0777-D327B36BBACE}"/>
                </a:ext>
              </a:extLst>
            </p:cNvPr>
            <p:cNvSpPr/>
            <p:nvPr/>
          </p:nvSpPr>
          <p:spPr>
            <a:xfrm>
              <a:off x="5447627" y="3498308"/>
              <a:ext cx="6464270" cy="407320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C1FEACA-52DF-9A3C-8AEE-91D96D49CDBC}"/>
                </a:ext>
              </a:extLst>
            </p:cNvPr>
            <p:cNvSpPr txBox="1"/>
            <p:nvPr/>
          </p:nvSpPr>
          <p:spPr>
            <a:xfrm>
              <a:off x="5642258" y="3541969"/>
              <a:ext cx="7328517" cy="386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Chỉ số tài chính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282594A-E063-F8D5-08EF-333FD86312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116" y="3484685"/>
              <a:ext cx="468243" cy="43443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9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B95C625-822F-52E1-1DD8-D42B0CE4C183}"/>
              </a:ext>
            </a:extLst>
          </p:cNvPr>
          <p:cNvGrpSpPr/>
          <p:nvPr/>
        </p:nvGrpSpPr>
        <p:grpSpPr>
          <a:xfrm>
            <a:off x="2055533" y="4353130"/>
            <a:ext cx="5837357" cy="344390"/>
            <a:chOff x="5198073" y="3450054"/>
            <a:chExt cx="7783143" cy="43261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C65A7E0-DCA3-515B-A463-3311BAFBC00B}"/>
                </a:ext>
              </a:extLst>
            </p:cNvPr>
            <p:cNvSpPr/>
            <p:nvPr/>
          </p:nvSpPr>
          <p:spPr>
            <a:xfrm>
              <a:off x="5519056" y="3473016"/>
              <a:ext cx="6464271" cy="375691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rgbClr val="119303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D7B0B0E-629A-1573-0416-17F15D7434FD}"/>
                </a:ext>
              </a:extLst>
            </p:cNvPr>
            <p:cNvSpPr txBox="1"/>
            <p:nvPr/>
          </p:nvSpPr>
          <p:spPr>
            <a:xfrm>
              <a:off x="5652699" y="3496046"/>
              <a:ext cx="7328517" cy="3866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chỉ tiêu chính của ngân sách 2026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34469E1-5E6A-2F2D-0F10-E43A02DE77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8073" y="3450054"/>
              <a:ext cx="468243" cy="42394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000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10</a:t>
              </a:r>
            </a:p>
          </p:txBody>
        </p:sp>
      </p:grpSp>
      <p:pic>
        <p:nvPicPr>
          <p:cNvPr id="84" name="Graphic 83" descr="Smiling face outline outline">
            <a:extLst>
              <a:ext uri="{FF2B5EF4-FFF2-40B4-BE49-F238E27FC236}">
                <a16:creationId xmlns:a16="http://schemas.microsoft.com/office/drawing/2014/main" id="{3FBFA431-C956-2901-EE52-28646BA46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338" y="1589533"/>
            <a:ext cx="2130951" cy="2130951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14056433-F098-8A01-974E-E5E1FF573D82}"/>
              </a:ext>
            </a:extLst>
          </p:cNvPr>
          <p:cNvSpPr txBox="1"/>
          <p:nvPr/>
        </p:nvSpPr>
        <p:spPr>
          <a:xfrm>
            <a:off x="8109481" y="625777"/>
            <a:ext cx="7202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3-4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440F316-BDEA-7537-6859-3A6EC863C4E4}"/>
              </a:ext>
            </a:extLst>
          </p:cNvPr>
          <p:cNvSpPr txBox="1"/>
          <p:nvPr/>
        </p:nvSpPr>
        <p:spPr>
          <a:xfrm>
            <a:off x="8109482" y="1034039"/>
            <a:ext cx="9141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5-6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5CA0D1-6002-5D60-F23F-8E51E8FA77FE}"/>
              </a:ext>
            </a:extLst>
          </p:cNvPr>
          <p:cNvSpPr txBox="1"/>
          <p:nvPr/>
        </p:nvSpPr>
        <p:spPr>
          <a:xfrm>
            <a:off x="8109482" y="1449837"/>
            <a:ext cx="9141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A64092-8628-7717-3A81-18E2AFEAC20D}"/>
              </a:ext>
            </a:extLst>
          </p:cNvPr>
          <p:cNvSpPr txBox="1"/>
          <p:nvPr/>
        </p:nvSpPr>
        <p:spPr>
          <a:xfrm>
            <a:off x="8109482" y="1865635"/>
            <a:ext cx="9141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6BB3B2-BF00-07B4-FA53-062B1E8561A4}"/>
              </a:ext>
            </a:extLst>
          </p:cNvPr>
          <p:cNvSpPr txBox="1"/>
          <p:nvPr/>
        </p:nvSpPr>
        <p:spPr>
          <a:xfrm>
            <a:off x="8109482" y="2281433"/>
            <a:ext cx="9141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9-10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1FA512-3AFB-0795-6B5E-A0E73A386FA7}"/>
              </a:ext>
            </a:extLst>
          </p:cNvPr>
          <p:cNvSpPr txBox="1"/>
          <p:nvPr/>
        </p:nvSpPr>
        <p:spPr>
          <a:xfrm>
            <a:off x="8109482" y="2697231"/>
            <a:ext cx="9141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11-13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DB7A28-D122-2190-3096-035DA57C9D88}"/>
              </a:ext>
            </a:extLst>
          </p:cNvPr>
          <p:cNvSpPr txBox="1"/>
          <p:nvPr/>
        </p:nvSpPr>
        <p:spPr>
          <a:xfrm>
            <a:off x="8109482" y="3113029"/>
            <a:ext cx="11137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14-18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A0D884-D123-27AC-7632-DB66FD7FC098}"/>
              </a:ext>
            </a:extLst>
          </p:cNvPr>
          <p:cNvSpPr txBox="1"/>
          <p:nvPr/>
        </p:nvSpPr>
        <p:spPr>
          <a:xfrm>
            <a:off x="8109482" y="3528827"/>
            <a:ext cx="1067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19-21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857F661-99C1-F45D-B286-D4C6675FE025}"/>
              </a:ext>
            </a:extLst>
          </p:cNvPr>
          <p:cNvSpPr txBox="1"/>
          <p:nvPr/>
        </p:nvSpPr>
        <p:spPr>
          <a:xfrm>
            <a:off x="8109482" y="3944625"/>
            <a:ext cx="1067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22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A4B2875-B541-B052-3783-3AB60403BAA5}"/>
              </a:ext>
            </a:extLst>
          </p:cNvPr>
          <p:cNvSpPr txBox="1"/>
          <p:nvPr/>
        </p:nvSpPr>
        <p:spPr>
          <a:xfrm>
            <a:off x="8109482" y="4360419"/>
            <a:ext cx="1067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tx1"/>
                </a:solidFill>
              </a:rPr>
              <a:t>Page 23</a:t>
            </a:r>
          </a:p>
        </p:txBody>
      </p:sp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896-8772-3934-C602-9E907191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61ECA3-5A89-C0C3-51C9-9D603C6DD9F5}"/>
              </a:ext>
            </a:extLst>
          </p:cNvPr>
          <p:cNvSpPr/>
          <p:nvPr/>
        </p:nvSpPr>
        <p:spPr>
          <a:xfrm>
            <a:off x="0" y="0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1 - GIẢ ĐỊNH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F6A51E-EB3A-F8C8-0042-4F7B529E4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286646"/>
              </p:ext>
            </p:extLst>
          </p:nvPr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CA41-F81B-0759-5734-BC3409F0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D9FF1-8CBF-4708-0CE3-7C9C25991F76}"/>
              </a:ext>
            </a:extLst>
          </p:cNvPr>
          <p:cNvSpPr txBox="1"/>
          <p:nvPr/>
        </p:nvSpPr>
        <p:spPr>
          <a:xfrm>
            <a:off x="153748" y="353977"/>
            <a:ext cx="8836503" cy="4518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AutoNum type="arabicPeriod"/>
            </a:pPr>
            <a:r>
              <a:rPr lang="en-US" sz="1400" b="1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 động đầu tư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năm 2026 ưu tiên đầu tư vào các hạng mục cấp thiết để 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cải thiện 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chất lượng sản phẩm, tăng</a:t>
            </a:r>
            <a:r>
              <a:rPr lang="vi-VN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tự động hóa, tăng 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năng suất lao động và xử lý phó sản. Đối với đầu tư tăng công suất tạo hạt, hoàn thiện lắp đặt chuyền rPET 4, chuyền rPET 5 sẽ xem xét trình duyệt bổ sung.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AutoNum type="arabicPeriod"/>
            </a:pPr>
            <a:r>
              <a:rPr lang="en-US" b="1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 động bán hàng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Dự báo 5 kịch bản sản lượng: 33.000 tấn/năm (xấu) =&gt; 46.000 tấn (thận trọng) =&gt; 50.000 tấn (khả quan) =&gt;</a:t>
            </a:r>
            <a:r>
              <a:rPr lang="en-US" b="1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55.000 tấn (mục tiêu KHNS) 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=&gt; 64.000 tấn (tốt). </a:t>
            </a:r>
          </a:p>
          <a:p>
            <a:pPr marL="341313" algn="just">
              <a:spcBef>
                <a:spcPts val="400"/>
              </a:spcBef>
              <a:spcAft>
                <a:spcPts val="400"/>
              </a:spcAft>
              <a:buClr>
                <a:srgbClr val="0000FF"/>
              </a:buClr>
            </a:pP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 tổng 55.000 tấn, b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án tồn kho 5.000 tấn, bán hàng SX mới 50.000 tấn.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Năm 2026 tập trung ngành rPET, rHDPE/ PP chỉ duy trì các mã hàng đáp ứng đơn hàng của 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 khách hàng hiện hữu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400" kern="10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eriod" startAt="3"/>
            </a:pPr>
            <a:r>
              <a:rPr lang="en-US" sz="1400" b="1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 động sản xuất: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KHNS 2026 chưa bao gồm dự án màng PET, dây đai, sản xuất sản phẩm từ HDPE ép, các dự án xử lý phó sản khác.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AutoNum type="arabicPeriod" startAt="3"/>
            </a:pPr>
            <a:r>
              <a:rPr lang="en-US" b="1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 biên: 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 biên năm 2026 = 674 người, tăng 27 định biên vs 2025 (4%).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AutoNum type="arabicPeriod" startAt="3"/>
            </a:pPr>
            <a:r>
              <a:rPr lang="en-US" b="1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Ngân sách lương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tăng 6.9%.</a:t>
            </a:r>
            <a:endParaRPr lang="en-US" sz="1400" kern="10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AutoNum type="arabicPeriod" startAt="3"/>
            </a:pPr>
            <a:r>
              <a:rPr lang="en-US" sz="1400" b="1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Sản lượng mua: 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tổng 65.000 tấn/năm. Trong đó PET 60.000 tấn (Chai 3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2.0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00 tấn 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~53%, Vảy 28.000 tấn ~47%)</a:t>
            </a:r>
            <a:endParaRPr lang="en-US" sz="1400" kern="10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AutoNum type="arabicPeriod" startAt="3"/>
            </a:pPr>
            <a:r>
              <a:rPr lang="en-US" b="1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n-US" sz="1400" b="1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iá mua:</a:t>
            </a:r>
            <a:r>
              <a:rPr lang="vi-VN" sz="1400" b="1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vi-VN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chai B0 = 11.000 đồng/kg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(giảm 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00đ vs 2025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~ 1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%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chai B1 = 16.500 đồng/kg</a:t>
            </a:r>
            <a:r>
              <a:rPr lang="vi-VN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(giảm 970đ vs 2025 ~ 5.5%)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vảy PET = 17.500đ/kg</a:t>
            </a:r>
            <a:r>
              <a:rPr lang="vi-VN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(giảm 1.800đ vs 2025 ~ 9.3% =&gt; BQ giá NL PET giảm 7.2%). Giá vảy HDPE thổi và </a:t>
            </a:r>
            <a:r>
              <a:rPr lang="vi-VN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PP bằng 2025.</a:t>
            </a:r>
            <a:endParaRPr lang="en-US" sz="1400" kern="10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AutoNum type="arabicPeriod" startAt="3"/>
            </a:pPr>
            <a:r>
              <a:rPr lang="en-US" b="1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Hiệu suất máy tạo hạt rPET (24 x 7 x 365):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78%</a:t>
            </a:r>
          </a:p>
        </p:txBody>
      </p:sp>
    </p:spTree>
    <p:extLst>
      <p:ext uri="{BB962C8B-B14F-4D97-AF65-F5344CB8AC3E}">
        <p14:creationId xmlns:p14="http://schemas.microsoft.com/office/powerpoint/2010/main" val="296583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B1A8-D561-EB3C-EFC8-6CF0D3B19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CBFFE4-4D65-085F-B277-F5839F36117C}"/>
              </a:ext>
            </a:extLst>
          </p:cNvPr>
          <p:cNvSpPr/>
          <p:nvPr/>
        </p:nvSpPr>
        <p:spPr>
          <a:xfrm>
            <a:off x="0" y="0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1 - GIẢ ĐỊNH (tiếp theo)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6536ED7-41BF-7EEE-EB51-471FF4903499}"/>
              </a:ext>
            </a:extLst>
          </p:cNvPr>
          <p:cNvGraphicFramePr/>
          <p:nvPr/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079BB-9E94-A398-D0B8-F744F3DFC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19B8D8-76CD-A988-102C-0CE058A7A7A2}"/>
              </a:ext>
            </a:extLst>
          </p:cNvPr>
          <p:cNvSpPr txBox="1"/>
          <p:nvPr/>
        </p:nvSpPr>
        <p:spPr>
          <a:xfrm>
            <a:off x="258944" y="602652"/>
            <a:ext cx="8496637" cy="40337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631825" indent="-292100" algn="just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eriod" startAt="8"/>
            </a:pPr>
            <a:r>
              <a:rPr lang="en-US" b="1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 khoản chi phí/ hạch toán bất thường so với 2025:</a:t>
            </a:r>
          </a:p>
          <a:p>
            <a:pPr marL="687388" indent="-347663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DTR mua lại toàn bộ MMTB đang thuê từ TNHH và chuyển dư nợ vay về DTR =&gt; chi phí lãi vay 15.5 tỷ và khấu hao 34 tỷ (tổng 49.5 tỷ), ngược lại chi phí thuê giảm (tổng chi phí thuê 2025 42 tỷ) =&gt; chi phí tăng 7.5 tỷ.</a:t>
            </a:r>
          </a:p>
          <a:p>
            <a:pPr marL="687388" indent="-347663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 tổng lư</a:t>
            </a: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ợng kwh </a:t>
            </a:r>
            <a:r>
              <a:rPr lang="en-US" sz="1400" kern="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điện tiêu thụ 2026 gồm 18% từ dự án NLMT, 82% điện NN (2026 tăng giá 5%).</a:t>
            </a:r>
          </a:p>
          <a:p>
            <a:pPr marL="687388" indent="-347663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 NVL và dịch vụ đầu vào: chai giảm 12%, vảy giảm 5.5%, các NVL khác/ dịch vụ = 2025</a:t>
            </a:r>
          </a:p>
          <a:p>
            <a:pPr marL="687388" indent="-347663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Cước vận chuyển nội địa = 2025, cước tàu tăng 15%.</a:t>
            </a:r>
          </a:p>
          <a:p>
            <a:pPr marL="687388" indent="-347663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kern="10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Doanh thu EPR 2025 = 14.5 tỷ, 2026 = 30 tỷ (đã trừ rebate). 2026 phát sinh đối tác mới: Porica 3.7 tỷ, Cholimex 5.6 tỷ, Vinamilk 5.6 tỷ (tổng 15 tỷ).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Clr>
                <a:srgbClr val="0000FF"/>
              </a:buClr>
              <a:buFont typeface="+mj-lt"/>
              <a:buAutoNum type="arabicPeriod" startAt="6"/>
            </a:pPr>
            <a:endParaRPr lang="en-US" sz="1400" kern="10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6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280B31E-4FD1-AAC2-6349-1C086490A557}"/>
              </a:ext>
            </a:extLst>
          </p:cNvPr>
          <p:cNvSpPr/>
          <p:nvPr/>
        </p:nvSpPr>
        <p:spPr>
          <a:xfrm>
            <a:off x="0" y="4554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2 - DOANH THU – SẢN LƯỢNG BÁN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4ADC46-560E-5D5F-DB05-E3372A080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AE4E597-E3BC-C3C5-F016-2C3997FB0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7606812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14AE08B-53A3-E68E-D0A7-30A2E36637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98" y="350534"/>
            <a:ext cx="4651846" cy="2212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3B53B4-3380-E17E-B45F-476F825E78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96" y="2578228"/>
            <a:ext cx="4651847" cy="2303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B76EE-379E-1FE3-E9FE-F43FE86295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7125" y="360684"/>
            <a:ext cx="4148434" cy="2201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7A5772-01CD-8CED-239F-A19247B48A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7125" y="2579002"/>
            <a:ext cx="4148434" cy="230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1C2D-F929-26A0-DA06-470594E04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A52F394-E5D7-889B-FCE7-7A703B797B91}"/>
              </a:ext>
            </a:extLst>
          </p:cNvPr>
          <p:cNvSpPr/>
          <p:nvPr/>
        </p:nvSpPr>
        <p:spPr>
          <a:xfrm>
            <a:off x="0" y="11481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2 - </a:t>
            </a:r>
            <a:r>
              <a:rPr lang="vi-VN" b="1">
                <a:cs typeface="Times New Roman" panose="02020603050405020304" pitchFamily="18" charset="0"/>
              </a:rPr>
              <a:t>DOANH THU – SẢN LƯỢNG THEO KHÁCH HÀNG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A918E-3B21-9343-3A5D-F4193A263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1ADF88B-80CE-B092-9219-3817F5C650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2960151"/>
              </p:ext>
            </p:extLst>
          </p:nvPr>
        </p:nvGraphicFramePr>
        <p:xfrm>
          <a:off x="10275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DE44C96-D865-31DC-F301-6EEBD8D396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6" y="624573"/>
            <a:ext cx="9022620" cy="407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8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E13626-B3D7-2434-15A6-0F4263D314BB}"/>
              </a:ext>
            </a:extLst>
          </p:cNvPr>
          <p:cNvSpPr/>
          <p:nvPr/>
        </p:nvSpPr>
        <p:spPr>
          <a:xfrm>
            <a:off x="0" y="11482"/>
            <a:ext cx="9144000" cy="26569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3 - DOANH THU- EBITDA – LỢI NHUẬN SAU THUẾ 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48188-BBFF-B871-6AE4-9E6B6D63B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D83F979-F1B7-2088-8CDD-C8A032CE15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5164407"/>
              </p:ext>
            </p:extLst>
          </p:nvPr>
        </p:nvGraphicFramePr>
        <p:xfrm>
          <a:off x="3820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8199D5C-EB73-5C23-0D19-AFB97B2C9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00" y="296147"/>
            <a:ext cx="4563144" cy="2430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9B5815-C4D0-EB26-DA24-354088F710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527" y="296146"/>
            <a:ext cx="4488273" cy="2433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AAEA23-F9FB-7DB2-2495-A0BE611A9B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35" y="2745981"/>
            <a:ext cx="4572609" cy="21235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DAEB0A-FF50-9C78-0B66-9CF7F07596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527" y="2745980"/>
            <a:ext cx="4488273" cy="212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0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042F3-D92E-C439-AB71-C1BF97CA8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79210-CA81-B4F7-2E41-22DCD4497779}"/>
              </a:ext>
            </a:extLst>
          </p:cNvPr>
          <p:cNvSpPr/>
          <p:nvPr/>
        </p:nvSpPr>
        <p:spPr>
          <a:xfrm>
            <a:off x="0" y="11481"/>
            <a:ext cx="9143999" cy="23764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4 - LÃI NGUYÊN LIỆU &amp; LÃI BIẾN PHÍ</a:t>
            </a:r>
            <a:endParaRPr lang="en-US"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4DF1C1E-0E10-B16E-7B7D-B6C1875E8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003481"/>
              </p:ext>
            </p:extLst>
          </p:nvPr>
        </p:nvGraphicFramePr>
        <p:xfrm>
          <a:off x="10279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B0F3981-FE71-3E34-A2CB-04F415E870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7" y="1084290"/>
            <a:ext cx="4596276" cy="297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5469D9-DA56-F2D9-9AD3-720FC95228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7053" y="1080298"/>
            <a:ext cx="4402210" cy="297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8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7D994E-BE3F-A728-A53D-92FA7862CBFD}"/>
              </a:ext>
            </a:extLst>
          </p:cNvPr>
          <p:cNvSpPr/>
          <p:nvPr/>
        </p:nvSpPr>
        <p:spPr>
          <a:xfrm>
            <a:off x="0" y="-5042"/>
            <a:ext cx="9144000" cy="26603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5 - CHI PHÍ HOẠT ĐỘNG (</a:t>
            </a:r>
            <a:r>
              <a:rPr lang="en-US" b="1" err="1">
                <a:cs typeface="Times New Roman" panose="02020603050405020304" pitchFamily="18" charset="0"/>
              </a:rPr>
              <a:t>OpEx</a:t>
            </a:r>
            <a:r>
              <a:rPr lang="en-US" b="1">
                <a:cs typeface="Times New Roman" panose="02020603050405020304" pitchFamily="18" charset="0"/>
              </a:rPr>
              <a:t>) THEO BỘ PHẬN </a:t>
            </a:r>
            <a:r>
              <a:rPr lang="en-US">
                <a:cs typeface="Times New Roman" panose="02020603050405020304" pitchFamily="18" charset="0"/>
              </a:rPr>
              <a:t>(không bao gồm chi phí lương)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8322-CBAC-C13A-4708-2A9B1A53C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51D59D4-C000-0462-2961-95B18744F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148670"/>
              </p:ext>
            </p:extLst>
          </p:nvPr>
        </p:nvGraphicFramePr>
        <p:xfrm>
          <a:off x="24237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75A8A97-B35B-C0BE-7C80-7A879D75C94B}"/>
              </a:ext>
            </a:extLst>
          </p:cNvPr>
          <p:cNvSpPr/>
          <p:nvPr/>
        </p:nvSpPr>
        <p:spPr>
          <a:xfrm>
            <a:off x="6799984" y="204546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FC5089-E3BC-81D6-DB90-09AB0B0CA8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833" y="550356"/>
            <a:ext cx="7504334" cy="430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1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2A0B-4862-16AB-7E13-9B5BEA8B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64D752-42E2-B6A5-0915-BD9C87995F8A}"/>
              </a:ext>
            </a:extLst>
          </p:cNvPr>
          <p:cNvSpPr/>
          <p:nvPr/>
        </p:nvSpPr>
        <p:spPr>
          <a:xfrm>
            <a:off x="0" y="4554"/>
            <a:ext cx="9143999" cy="26405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5 - CHI PHÍ HOẠT ĐỘNG (</a:t>
            </a:r>
            <a:r>
              <a:rPr lang="en-US" b="1" err="1">
                <a:latin typeface="+mj-lt"/>
                <a:cs typeface="Times New Roman" panose="02020603050405020304" pitchFamily="18" charset="0"/>
              </a:rPr>
              <a:t>OpEx</a:t>
            </a:r>
            <a:r>
              <a:rPr lang="en-US" b="1">
                <a:latin typeface="+mj-lt"/>
                <a:cs typeface="Times New Roman" panose="02020603050405020304" pitchFamily="18" charset="0"/>
              </a:rPr>
              <a:t>) THEO KHOẢN MỤC </a:t>
            </a:r>
            <a:r>
              <a:rPr lang="en-US">
                <a:latin typeface="+mj-lt"/>
                <a:cs typeface="Times New Roman" panose="02020603050405020304" pitchFamily="18" charset="0"/>
              </a:rPr>
              <a:t>(không bao gồm chi phí lương)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B72FD-DD8D-8E36-91C9-33338E47A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ADEB45-F358-F81B-578E-F67258A75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575099"/>
              </p:ext>
            </p:extLst>
          </p:nvPr>
        </p:nvGraphicFramePr>
        <p:xfrm>
          <a:off x="3121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023AF48-7BBF-8D68-971E-A44E07A30DDF}"/>
              </a:ext>
            </a:extLst>
          </p:cNvPr>
          <p:cNvSpPr/>
          <p:nvPr/>
        </p:nvSpPr>
        <p:spPr>
          <a:xfrm>
            <a:off x="7179821" y="-40418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FCAB1-0BD2-EFD0-355A-3BED0086A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6855" y="290610"/>
            <a:ext cx="6310288" cy="459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2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2300-91AE-3DBB-5B39-48578998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9BE0FB-1B44-5CA0-72E8-ED26C4AB63CF}"/>
              </a:ext>
            </a:extLst>
          </p:cNvPr>
          <p:cNvSpPr/>
          <p:nvPr/>
        </p:nvSpPr>
        <p:spPr>
          <a:xfrm>
            <a:off x="0" y="11481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6 - SỐ LƯỢNG NHÂN SỰ - Headcount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1DD7DA-AA8C-6558-4491-5A9DEAE18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BBC5FB-DED5-CA93-ED52-6AC58FA3E7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980161"/>
              </p:ext>
            </p:extLst>
          </p:nvPr>
        </p:nvGraphicFramePr>
        <p:xfrm>
          <a:off x="1726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2828556-AA66-300B-6530-6CC11B1998E0}"/>
              </a:ext>
            </a:extLst>
          </p:cNvPr>
          <p:cNvSpPr/>
          <p:nvPr/>
        </p:nvSpPr>
        <p:spPr>
          <a:xfrm>
            <a:off x="6850714" y="333012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số người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CC4CE-E976-49A4-FCFB-F3DF93EC40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309" y="654543"/>
            <a:ext cx="7480645" cy="419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78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C773-8105-4712-D5B0-394B48D4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8B5DD1-3D2C-017E-32B4-8B4C8E651284}"/>
              </a:ext>
            </a:extLst>
          </p:cNvPr>
          <p:cNvSpPr/>
          <p:nvPr/>
        </p:nvSpPr>
        <p:spPr>
          <a:xfrm>
            <a:off x="0" y="11481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6 - CHI PHÍ NHÂN SỰ  THEO PHÒNG BAN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C1AD3C-38D4-CDC7-DA86-A4A1F6166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3A6133-B2FE-28AD-20E6-FA4E5C10E9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82236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5301065-8FD4-C734-FF4A-0161A49D1436}"/>
              </a:ext>
            </a:extLst>
          </p:cNvPr>
          <p:cNvSpPr/>
          <p:nvPr/>
        </p:nvSpPr>
        <p:spPr>
          <a:xfrm>
            <a:off x="7358333" y="328728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1938F8-EA1F-35EA-A80A-1220CBB214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535" y="682728"/>
            <a:ext cx="8702930" cy="398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53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7CA00-A352-9AA2-3E86-E273BF06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412CDA4-EEE1-40D3-B290-43E346932E14}"/>
              </a:ext>
            </a:extLst>
          </p:cNvPr>
          <p:cNvSpPr/>
          <p:nvPr/>
        </p:nvSpPr>
        <p:spPr>
          <a:xfrm>
            <a:off x="0" y="11481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6 - CHI PHÍ NHÂN SỰ  THEO LOẠI CHI PHÍ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1B42B-1133-E563-A688-BA49F71ED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54BEFF1-1EF1-BFFC-FA31-C4249BF5F8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542220"/>
              </p:ext>
            </p:extLst>
          </p:nvPr>
        </p:nvGraphicFramePr>
        <p:xfrm>
          <a:off x="3296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9DA1821-A044-7FCC-2EB1-CBB1BBDF4B30}"/>
              </a:ext>
            </a:extLst>
          </p:cNvPr>
          <p:cNvSpPr/>
          <p:nvPr/>
        </p:nvSpPr>
        <p:spPr>
          <a:xfrm>
            <a:off x="7434670" y="610085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9ADCE-6CA9-E109-F371-A3BB7071A5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128" y="964085"/>
            <a:ext cx="8779742" cy="329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81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F67C7-04FA-85CF-E562-6A70D137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C6A765-E011-D971-F219-D6186836A185}"/>
              </a:ext>
            </a:extLst>
          </p:cNvPr>
          <p:cNvSpPr/>
          <p:nvPr/>
        </p:nvSpPr>
        <p:spPr>
          <a:xfrm>
            <a:off x="0" y="-6927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ĐẦU TƯ TÀI SẢN CỐ ĐỊNH (CAPEX)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BE6E7-848D-8090-6ED7-C2A16A996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353B101-51E1-EB35-B8A6-3D5ACE2E647A}"/>
              </a:ext>
            </a:extLst>
          </p:cNvPr>
          <p:cNvGraphicFramePr/>
          <p:nvPr/>
        </p:nvGraphicFramePr>
        <p:xfrm>
          <a:off x="-3682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37CA7B4-0459-2E7D-77E8-201E412199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8395" y="2189190"/>
            <a:ext cx="6427210" cy="25419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04C324-E2DA-40ED-1FB1-107DD1ECD9EB}"/>
              </a:ext>
            </a:extLst>
          </p:cNvPr>
          <p:cNvSpPr/>
          <p:nvPr/>
        </p:nvSpPr>
        <p:spPr>
          <a:xfrm>
            <a:off x="3635365" y="374009"/>
            <a:ext cx="2456953" cy="3660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 trị đầu tư các năm: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FFA49-64D1-D162-4C3F-7AA9DBC27D99}"/>
              </a:ext>
            </a:extLst>
          </p:cNvPr>
          <p:cNvSpPr/>
          <p:nvPr/>
        </p:nvSpPr>
        <p:spPr>
          <a:xfrm>
            <a:off x="3520728" y="1833479"/>
            <a:ext cx="2456953" cy="3660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 hoạch đầu tư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B412D1-CAA9-CABC-C04D-F9EDFD008F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850" y="792220"/>
            <a:ext cx="84963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1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A411AB-0A40-E8E8-F509-5BC223600AF9}"/>
              </a:ext>
            </a:extLst>
          </p:cNvPr>
          <p:cNvSpPr/>
          <p:nvPr/>
        </p:nvSpPr>
        <p:spPr>
          <a:xfrm>
            <a:off x="0" y="-6927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ĐẦU TƯ TÀI SẢN CỐ ĐỊNH (CAPEX)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14C09-9E9D-F8A6-0190-0EF7466D2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4BB95D-455C-63EC-1A51-E10D2D656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678145"/>
              </p:ext>
            </p:extLst>
          </p:nvPr>
        </p:nvGraphicFramePr>
        <p:xfrm>
          <a:off x="-3682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2166734-2CF0-0968-631C-8F0EE8C47C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50" y="660315"/>
            <a:ext cx="8902700" cy="41465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A34142-B29E-C228-894E-64260FF92EE2}"/>
              </a:ext>
            </a:extLst>
          </p:cNvPr>
          <p:cNvSpPr/>
          <p:nvPr/>
        </p:nvSpPr>
        <p:spPr>
          <a:xfrm>
            <a:off x="7350242" y="321475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</p:spTree>
    <p:extLst>
      <p:ext uri="{BB962C8B-B14F-4D97-AF65-F5344CB8AC3E}">
        <p14:creationId xmlns:p14="http://schemas.microsoft.com/office/powerpoint/2010/main" val="1749302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7399-8435-9882-CC77-D0C534E5A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CAD5-E031-7B19-5772-5A4D2FB5A53A}"/>
              </a:ext>
            </a:extLst>
          </p:cNvPr>
          <p:cNvSpPr/>
          <p:nvPr/>
        </p:nvSpPr>
        <p:spPr>
          <a:xfrm>
            <a:off x="0" y="0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CHI TIẾT ĐẦU TƯ 2026 (CAPEX)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341F8-B457-274B-8755-69FAD29B4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04F1BB-B5F5-32F2-9C2C-F884638DD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681777"/>
              </p:ext>
            </p:extLst>
          </p:nvPr>
        </p:nvGraphicFramePr>
        <p:xfrm>
          <a:off x="1726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596557F-3CE9-F6F8-6D5C-014ED1117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45" y="365307"/>
            <a:ext cx="9030712" cy="45181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180346E-6C94-C94E-F091-43DBB50F8C07}"/>
              </a:ext>
            </a:extLst>
          </p:cNvPr>
          <p:cNvSpPr/>
          <p:nvPr/>
        </p:nvSpPr>
        <p:spPr>
          <a:xfrm>
            <a:off x="7074625" y="-5756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</p:spTree>
    <p:extLst>
      <p:ext uri="{BB962C8B-B14F-4D97-AF65-F5344CB8AC3E}">
        <p14:creationId xmlns:p14="http://schemas.microsoft.com/office/powerpoint/2010/main" val="4291086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55B6A-7FCC-B7FB-CC58-C06F1318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612165-C9C4-DDFE-46B3-520F24AAF28D}"/>
              </a:ext>
            </a:extLst>
          </p:cNvPr>
          <p:cNvSpPr/>
          <p:nvPr/>
        </p:nvSpPr>
        <p:spPr>
          <a:xfrm>
            <a:off x="0" y="0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CHI TIẾT ĐẦU TƯ 2026 (CAPEX) (tiếp theo)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5196F-4D2E-0A48-EE06-71A35CC59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D8D27BD-0A33-8902-E748-6AE0AD4861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791455"/>
              </p:ext>
            </p:extLst>
          </p:nvPr>
        </p:nvGraphicFramePr>
        <p:xfrm>
          <a:off x="10279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6A9F945-5844-F9DB-50A2-578CBDFF6B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44" y="396609"/>
            <a:ext cx="9022619" cy="44424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027BD3-CE2F-F9D5-0A96-121BD5FE62BC}"/>
              </a:ext>
            </a:extLst>
          </p:cNvPr>
          <p:cNvSpPr/>
          <p:nvPr/>
        </p:nvSpPr>
        <p:spPr>
          <a:xfrm>
            <a:off x="7074625" y="-5756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</p:spTree>
    <p:extLst>
      <p:ext uri="{BB962C8B-B14F-4D97-AF65-F5344CB8AC3E}">
        <p14:creationId xmlns:p14="http://schemas.microsoft.com/office/powerpoint/2010/main" val="835013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AB84-047B-A44A-0287-CD00BF9C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E432F-0462-EF85-3B61-00678523FDCC}"/>
              </a:ext>
            </a:extLst>
          </p:cNvPr>
          <p:cNvSpPr/>
          <p:nvPr/>
        </p:nvSpPr>
        <p:spPr>
          <a:xfrm>
            <a:off x="0" y="0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CHI TIẾT ĐẦU TƯ 2026 (CAPEX) (tiếp theo)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6C7FF-8BFC-9B4D-DEFC-ADA3955E4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6EEA9D9-8D87-60D7-2E86-7A8A25B0EEBA}"/>
              </a:ext>
            </a:extLst>
          </p:cNvPr>
          <p:cNvGraphicFramePr/>
          <p:nvPr/>
        </p:nvGraphicFramePr>
        <p:xfrm>
          <a:off x="10279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2B58A78-5679-ACA3-8B0A-42BA90A3BB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2" y="733393"/>
            <a:ext cx="9038804" cy="40638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13E7B8-EC0D-59A4-0E31-68D0F7211566}"/>
              </a:ext>
            </a:extLst>
          </p:cNvPr>
          <p:cNvSpPr/>
          <p:nvPr/>
        </p:nvSpPr>
        <p:spPr>
          <a:xfrm>
            <a:off x="7228618" y="370083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</p:spTree>
    <p:extLst>
      <p:ext uri="{BB962C8B-B14F-4D97-AF65-F5344CB8AC3E}">
        <p14:creationId xmlns:p14="http://schemas.microsoft.com/office/powerpoint/2010/main" val="52770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F89FB-F1AE-E2B7-F2DB-F462ED4F9681}"/>
              </a:ext>
            </a:extLst>
          </p:cNvPr>
          <p:cNvSpPr/>
          <p:nvPr/>
        </p:nvSpPr>
        <p:spPr>
          <a:xfrm>
            <a:off x="0" y="0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8 - KẾT QUẢ KINH DOANH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8CE447-EEA6-ABD6-499E-E13E79A3E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3C93D1C-4DBD-78AF-891E-D76BAF1AD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8082100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649B66D-462E-4B84-0288-741EB5F9A9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44" y="396319"/>
            <a:ext cx="8396328" cy="444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4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24ED2B-C352-01D9-1AA6-FED91727EBB6}"/>
              </a:ext>
            </a:extLst>
          </p:cNvPr>
          <p:cNvSpPr/>
          <p:nvPr/>
        </p:nvSpPr>
        <p:spPr>
          <a:xfrm>
            <a:off x="0" y="0"/>
            <a:ext cx="9143999" cy="24665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9 - TÌNH HÌNH TÀI CHÍNH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C72A-5D29-6860-E9FD-C30F8E413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A6AB251-D569-C6C9-2667-158FC01313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716894"/>
              </p:ext>
            </p:extLst>
          </p:nvPr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5B75853-846A-AB7C-22EA-9B9B331F937E}"/>
              </a:ext>
            </a:extLst>
          </p:cNvPr>
          <p:cNvSpPr/>
          <p:nvPr/>
        </p:nvSpPr>
        <p:spPr>
          <a:xfrm>
            <a:off x="6192593" y="-53672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C2DB5-7C7E-BF90-9947-634E18BA03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264946"/>
            <a:ext cx="6629400" cy="461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03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20A6-7749-0069-6EF5-1053431B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2127F-6C9A-B260-5388-5539DD6DB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1A22CCE-7013-70E0-4CA9-4E6564C45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928134"/>
              </p:ext>
            </p:extLst>
          </p:nvPr>
        </p:nvGraphicFramePr>
        <p:xfrm>
          <a:off x="24236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DEF192A-0772-3C18-C39E-B15A252BDC2B}"/>
              </a:ext>
            </a:extLst>
          </p:cNvPr>
          <p:cNvSpPr/>
          <p:nvPr/>
        </p:nvSpPr>
        <p:spPr>
          <a:xfrm>
            <a:off x="0" y="0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9 - DÒNG TIỀN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2CF2CB-1358-D212-AA0D-DB17AFCBB53F}"/>
              </a:ext>
            </a:extLst>
          </p:cNvPr>
          <p:cNvSpPr/>
          <p:nvPr/>
        </p:nvSpPr>
        <p:spPr>
          <a:xfrm>
            <a:off x="6200685" y="-16634"/>
            <a:ext cx="1793758" cy="35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ĐVT: triệu VND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C7544F-FE7E-9E93-FA67-1B23245B85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5117" y="386368"/>
            <a:ext cx="6301398" cy="446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87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EA82A8-EEF3-EFED-5CDD-9FAC5A47E2F6}"/>
              </a:ext>
            </a:extLst>
          </p:cNvPr>
          <p:cNvSpPr/>
          <p:nvPr/>
        </p:nvSpPr>
        <p:spPr>
          <a:xfrm>
            <a:off x="0" y="1"/>
            <a:ext cx="9143999" cy="257484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9 - CHỈ SỐ TÀI CHÍNH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9D957-4ED3-B71B-71DA-44BF58113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6E57A5-E9C6-EF9B-FB93-DB7C86529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2232901"/>
              </p:ext>
            </p:extLst>
          </p:nvPr>
        </p:nvGraphicFramePr>
        <p:xfrm>
          <a:off x="-368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44DFBCB-2DAF-CF80-E1E2-AA3E90F8E9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838" y="306037"/>
            <a:ext cx="7808978" cy="454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57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2DF7E1-E8E9-D2CB-C83F-D1EF24109481}"/>
              </a:ext>
            </a:extLst>
          </p:cNvPr>
          <p:cNvSpPr/>
          <p:nvPr/>
        </p:nvSpPr>
        <p:spPr>
          <a:xfrm>
            <a:off x="0" y="0"/>
            <a:ext cx="9143999" cy="27692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10 - TÓM TẮT CÁC CHỈ TIÊU CHÍNH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6507F-4352-BECC-7753-EA48CCA35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8546" y="4930925"/>
            <a:ext cx="415453" cy="212575"/>
          </a:xfrm>
        </p:spPr>
        <p:txBody>
          <a:bodyPr/>
          <a:lstStyle/>
          <a:p>
            <a:fld id="{DD554874-E025-4583-820E-CA4CA4C050F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6CA476-67A2-C5B8-6E93-70896B66D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9" y="438576"/>
            <a:ext cx="89662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22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8860-EFE9-6180-0E08-A44D6FAC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62DAF-59C0-422C-3082-0EE2EA8A1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758" y="4929232"/>
            <a:ext cx="415453" cy="212575"/>
          </a:xfrm>
        </p:spPr>
        <p:txBody>
          <a:bodyPr/>
          <a:lstStyle/>
          <a:p>
            <a:fld id="{DD554874-E025-4583-820E-CA4CA4C050F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9BB47-B82C-0355-DA8D-830A756A4B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9874" y="1373453"/>
            <a:ext cx="6942370" cy="195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2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C6CE388F40B46B0C2E66A7D3B5851" ma:contentTypeVersion="0" ma:contentTypeDescription="Create a new document." ma:contentTypeScope="" ma:versionID="ab9fbeca4f2cba9ba8141113a889067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55C64E-F8BD-4185-92AB-7B94DC3A86C2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58EC89B-1DEF-4922-9880-5A9480057D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141D80-314A-4281-9C7D-EDC68DD94D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00b9a165-4467-4156-b58f-75ccba478fa9}" enabled="0" method="" siteId="{00b9a165-4467-4156-b58f-75ccba478f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12629</TotalTime>
  <Words>1969</Words>
  <Application>Microsoft Office PowerPoint</Application>
  <PresentationFormat>On-screen Show (16:9)</PresentationFormat>
  <Paragraphs>337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Muli</vt:lpstr>
      <vt:lpstr>Roboto Slab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Danh, Hoàng Duy</cp:lastModifiedBy>
  <cp:revision>68</cp:revision>
  <cp:lastPrinted>2025-11-19T10:32:48Z</cp:lastPrinted>
  <dcterms:modified xsi:type="dcterms:W3CDTF">2026-01-21T02:20:15Z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0x010100224C6CE388F40B46B0C2E66A7D3B5851</vt:lpwstr>
  </property>
</Properties>
</file>