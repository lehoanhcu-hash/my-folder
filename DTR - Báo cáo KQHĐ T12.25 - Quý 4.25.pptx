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7" r:id="rId4"/>
  </p:sldMasterIdLst>
  <p:notesMasterIdLst>
    <p:notesMasterId r:id="rId45"/>
  </p:notesMasterIdLst>
  <p:sldIdLst>
    <p:sldId id="261" r:id="rId5"/>
    <p:sldId id="266" r:id="rId6"/>
    <p:sldId id="276" r:id="rId7"/>
    <p:sldId id="267" r:id="rId8"/>
    <p:sldId id="277" r:id="rId9"/>
    <p:sldId id="328" r:id="rId10"/>
    <p:sldId id="304" r:id="rId11"/>
    <p:sldId id="377" r:id="rId12"/>
    <p:sldId id="315" r:id="rId13"/>
    <p:sldId id="379" r:id="rId14"/>
    <p:sldId id="344" r:id="rId15"/>
    <p:sldId id="325" r:id="rId16"/>
    <p:sldId id="312" r:id="rId17"/>
    <p:sldId id="378" r:id="rId18"/>
    <p:sldId id="297" r:id="rId19"/>
    <p:sldId id="323" r:id="rId20"/>
    <p:sldId id="349" r:id="rId21"/>
    <p:sldId id="269" r:id="rId22"/>
    <p:sldId id="282" r:id="rId23"/>
    <p:sldId id="339" r:id="rId24"/>
    <p:sldId id="341" r:id="rId25"/>
    <p:sldId id="359" r:id="rId26"/>
    <p:sldId id="360" r:id="rId27"/>
    <p:sldId id="373" r:id="rId28"/>
    <p:sldId id="355" r:id="rId29"/>
    <p:sldId id="362" r:id="rId30"/>
    <p:sldId id="364" r:id="rId31"/>
    <p:sldId id="351" r:id="rId32"/>
    <p:sldId id="356" r:id="rId33"/>
    <p:sldId id="278" r:id="rId34"/>
    <p:sldId id="303" r:id="rId35"/>
    <p:sldId id="310" r:id="rId36"/>
    <p:sldId id="350" r:id="rId37"/>
    <p:sldId id="279" r:id="rId38"/>
    <p:sldId id="367" r:id="rId39"/>
    <p:sldId id="372" r:id="rId40"/>
    <p:sldId id="374" r:id="rId41"/>
    <p:sldId id="280" r:id="rId42"/>
    <p:sldId id="275" r:id="rId43"/>
    <p:sldId id="272" r:id="rId44"/>
  </p:sldIdLst>
  <p:sldSz cx="9144000" cy="5143500" type="screen16x9"/>
  <p:notesSz cx="9926638" cy="143557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C66068FD-31DF-4505-96EA-B953B35EC922}">
          <p14:sldIdLst>
            <p14:sldId id="261"/>
            <p14:sldId id="266"/>
            <p14:sldId id="276"/>
            <p14:sldId id="267"/>
            <p14:sldId id="277"/>
            <p14:sldId id="328"/>
            <p14:sldId id="304"/>
            <p14:sldId id="377"/>
          </p14:sldIdLst>
        </p14:section>
        <p14:section name="Giải trình KPI" id="{CB11DD70-51AA-4B27-8A67-7F44CACCD510}">
          <p14:sldIdLst>
            <p14:sldId id="315"/>
            <p14:sldId id="379"/>
            <p14:sldId id="344"/>
            <p14:sldId id="325"/>
            <p14:sldId id="312"/>
            <p14:sldId id="378"/>
            <p14:sldId id="297"/>
            <p14:sldId id="323"/>
            <p14:sldId id="349"/>
            <p14:sldId id="269"/>
            <p14:sldId id="282"/>
          </p14:sldIdLst>
        </p14:section>
        <p14:section name="Giải trình chi phí" id="{8163CB55-41A7-4547-B765-5C2F97BAD368}">
          <p14:sldIdLst>
            <p14:sldId id="339"/>
            <p14:sldId id="341"/>
            <p14:sldId id="359"/>
            <p14:sldId id="360"/>
            <p14:sldId id="373"/>
            <p14:sldId id="355"/>
            <p14:sldId id="362"/>
            <p14:sldId id="364"/>
            <p14:sldId id="351"/>
            <p14:sldId id="356"/>
            <p14:sldId id="278"/>
            <p14:sldId id="303"/>
            <p14:sldId id="310"/>
            <p14:sldId id="350"/>
            <p14:sldId id="279"/>
            <p14:sldId id="367"/>
            <p14:sldId id="372"/>
            <p14:sldId id="374"/>
            <p14:sldId id="280"/>
            <p14:sldId id="275"/>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4E9AD"/>
    <a:srgbClr val="119303"/>
    <a:srgbClr val="67F753"/>
    <a:srgbClr val="F5F5F5"/>
    <a:srgbClr val="E78BCB"/>
    <a:srgbClr val="424340"/>
    <a:srgbClr val="E2E7EE"/>
    <a:srgbClr val="0000FF"/>
    <a:srgbClr val="29A8FF"/>
    <a:srgbClr val="8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7936B1-6EB8-4A9E-800F-25C7B954D4FD}" v="94" dt="2025-12-17T05:41:28.166"/>
  </p1510:revLst>
</p1510:revInfo>
</file>

<file path=ppt/tableStyles.xml><?xml version="1.0" encoding="utf-8"?>
<a:tblStyleLst xmlns:a="http://schemas.openxmlformats.org/drawingml/2006/main" def="{6A077030-E235-474E-B3E8-3EB61F41259E}">
  <a:tblStyle styleId="{6A077030-E235-474E-B3E8-3EB61F41259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6247" autoAdjust="0"/>
  </p:normalViewPr>
  <p:slideViewPr>
    <p:cSldViewPr snapToGrid="0">
      <p:cViewPr varScale="1">
        <p:scale>
          <a:sx n="78" d="100"/>
          <a:sy n="78" d="100"/>
        </p:scale>
        <p:origin x="97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h, Hoàng Duy" userId="3a448fcf-317f-4972-a161-06742a14d4c7" providerId="ADAL" clId="{CE1C8B88-0719-4E4A-B0E4-7DC533AE261F}"/>
    <pc:docChg chg="undo redo custSel addSld delSld modSld sldOrd delSection modSection">
      <pc:chgData name="Danh, Hoàng Duy" userId="3a448fcf-317f-4972-a161-06742a14d4c7" providerId="ADAL" clId="{CE1C8B88-0719-4E4A-B0E4-7DC533AE261F}" dt="2025-12-17T05:41:28.166" v="4835"/>
      <pc:docMkLst>
        <pc:docMk/>
      </pc:docMkLst>
      <pc:sldChg chg="modSp mod">
        <pc:chgData name="Danh, Hoàng Duy" userId="3a448fcf-317f-4972-a161-06742a14d4c7" providerId="ADAL" clId="{CE1C8B88-0719-4E4A-B0E4-7DC533AE261F}" dt="2025-12-16T05:31:47.583" v="3832" actId="20577"/>
        <pc:sldMkLst>
          <pc:docMk/>
          <pc:sldMk cId="0" sldId="261"/>
        </pc:sldMkLst>
        <pc:spChg chg="mod">
          <ac:chgData name="Danh, Hoàng Duy" userId="3a448fcf-317f-4972-a161-06742a14d4c7" providerId="ADAL" clId="{CE1C8B88-0719-4E4A-B0E4-7DC533AE261F}" dt="2025-12-16T05:31:47.583" v="3832" actId="20577"/>
          <ac:spMkLst>
            <pc:docMk/>
            <pc:sldMk cId="0" sldId="261"/>
            <ac:spMk id="6" creationId="{6D0DFC0C-E3A7-AC85-8C7C-C6BD6BEC71AB}"/>
          </ac:spMkLst>
        </pc:spChg>
      </pc:sldChg>
      <pc:sldChg chg="del">
        <pc:chgData name="Danh, Hoàng Duy" userId="3a448fcf-317f-4972-a161-06742a14d4c7" providerId="ADAL" clId="{CE1C8B88-0719-4E4A-B0E4-7DC533AE261F}" dt="2025-12-16T09:44:52.421" v="4688" actId="47"/>
        <pc:sldMkLst>
          <pc:docMk/>
          <pc:sldMk cId="219597705" sldId="266"/>
        </pc:sldMkLst>
      </pc:sldChg>
      <pc:sldChg chg="del">
        <pc:chgData name="Danh, Hoàng Duy" userId="3a448fcf-317f-4972-a161-06742a14d4c7" providerId="ADAL" clId="{CE1C8B88-0719-4E4A-B0E4-7DC533AE261F}" dt="2025-12-16T09:44:52.421" v="4688" actId="47"/>
        <pc:sldMkLst>
          <pc:docMk/>
          <pc:sldMk cId="3400095569" sldId="267"/>
        </pc:sldMkLst>
      </pc:sldChg>
      <pc:sldChg chg="del">
        <pc:chgData name="Danh, Hoàng Duy" userId="3a448fcf-317f-4972-a161-06742a14d4c7" providerId="ADAL" clId="{CE1C8B88-0719-4E4A-B0E4-7DC533AE261F}" dt="2025-12-16T09:44:52.421" v="4688" actId="47"/>
        <pc:sldMkLst>
          <pc:docMk/>
          <pc:sldMk cId="1888021982" sldId="268"/>
        </pc:sldMkLst>
      </pc:sldChg>
      <pc:sldChg chg="del">
        <pc:chgData name="Danh, Hoàng Duy" userId="3a448fcf-317f-4972-a161-06742a14d4c7" providerId="ADAL" clId="{CE1C8B88-0719-4E4A-B0E4-7DC533AE261F}" dt="2025-12-16T07:06:01.457" v="4286" actId="47"/>
        <pc:sldMkLst>
          <pc:docMk/>
          <pc:sldMk cId="3744686411" sldId="272"/>
        </pc:sldMkLst>
      </pc:sldChg>
      <pc:sldChg chg="del">
        <pc:chgData name="Danh, Hoàng Duy" userId="3a448fcf-317f-4972-a161-06742a14d4c7" providerId="ADAL" clId="{CE1C8B88-0719-4E4A-B0E4-7DC533AE261F}" dt="2025-12-16T07:05:59.279" v="4285" actId="47"/>
        <pc:sldMkLst>
          <pc:docMk/>
          <pc:sldMk cId="1398100390" sldId="275"/>
        </pc:sldMkLst>
      </pc:sldChg>
      <pc:sldChg chg="del">
        <pc:chgData name="Danh, Hoàng Duy" userId="3a448fcf-317f-4972-a161-06742a14d4c7" providerId="ADAL" clId="{CE1C8B88-0719-4E4A-B0E4-7DC533AE261F}" dt="2025-12-16T09:44:52.421" v="4688" actId="47"/>
        <pc:sldMkLst>
          <pc:docMk/>
          <pc:sldMk cId="3857089500" sldId="276"/>
        </pc:sldMkLst>
      </pc:sldChg>
      <pc:sldChg chg="del">
        <pc:chgData name="Danh, Hoàng Duy" userId="3a448fcf-317f-4972-a161-06742a14d4c7" providerId="ADAL" clId="{CE1C8B88-0719-4E4A-B0E4-7DC533AE261F}" dt="2025-12-16T09:44:52.421" v="4688" actId="47"/>
        <pc:sldMkLst>
          <pc:docMk/>
          <pc:sldMk cId="3338879556" sldId="277"/>
        </pc:sldMkLst>
      </pc:sldChg>
      <pc:sldChg chg="del">
        <pc:chgData name="Danh, Hoàng Duy" userId="3a448fcf-317f-4972-a161-06742a14d4c7" providerId="ADAL" clId="{CE1C8B88-0719-4E4A-B0E4-7DC533AE261F}" dt="2025-12-16T07:05:59.279" v="4285" actId="47"/>
        <pc:sldMkLst>
          <pc:docMk/>
          <pc:sldMk cId="3990294413" sldId="279"/>
        </pc:sldMkLst>
      </pc:sldChg>
      <pc:sldChg chg="del">
        <pc:chgData name="Danh, Hoàng Duy" userId="3a448fcf-317f-4972-a161-06742a14d4c7" providerId="ADAL" clId="{CE1C8B88-0719-4E4A-B0E4-7DC533AE261F}" dt="2025-12-16T07:05:59.279" v="4285" actId="47"/>
        <pc:sldMkLst>
          <pc:docMk/>
          <pc:sldMk cId="728948926" sldId="280"/>
        </pc:sldMkLst>
      </pc:sldChg>
      <pc:sldChg chg="del">
        <pc:chgData name="Danh, Hoàng Duy" userId="3a448fcf-317f-4972-a161-06742a14d4c7" providerId="ADAL" clId="{CE1C8B88-0719-4E4A-B0E4-7DC533AE261F}" dt="2025-12-16T07:05:59.279" v="4285" actId="47"/>
        <pc:sldMkLst>
          <pc:docMk/>
          <pc:sldMk cId="308126683" sldId="295"/>
        </pc:sldMkLst>
      </pc:sldChg>
      <pc:sldChg chg="addSp delSp modSp mod">
        <pc:chgData name="Danh, Hoàng Duy" userId="3a448fcf-317f-4972-a161-06742a14d4c7" providerId="ADAL" clId="{CE1C8B88-0719-4E4A-B0E4-7DC533AE261F}" dt="2025-12-16T07:37:31.127" v="4502" actId="478"/>
        <pc:sldMkLst>
          <pc:docMk/>
          <pc:sldMk cId="3039711019" sldId="297"/>
        </pc:sldMkLst>
        <pc:spChg chg="add del mod">
          <ac:chgData name="Danh, Hoàng Duy" userId="3a448fcf-317f-4972-a161-06742a14d4c7" providerId="ADAL" clId="{CE1C8B88-0719-4E4A-B0E4-7DC533AE261F}" dt="2025-12-16T07:37:31.127" v="4502" actId="478"/>
          <ac:spMkLst>
            <pc:docMk/>
            <pc:sldMk cId="3039711019" sldId="297"/>
            <ac:spMk id="3" creationId="{012A23EF-EA7E-87C2-FC22-11244C3ADD45}"/>
          </ac:spMkLst>
        </pc:spChg>
        <pc:graphicFrameChg chg="mod">
          <ac:chgData name="Danh, Hoàng Duy" userId="3a448fcf-317f-4972-a161-06742a14d4c7" providerId="ADAL" clId="{CE1C8B88-0719-4E4A-B0E4-7DC533AE261F}" dt="2025-12-16T07:22:09.287" v="4315"/>
          <ac:graphicFrameMkLst>
            <pc:docMk/>
            <pc:sldMk cId="3039711019" sldId="297"/>
            <ac:graphicFrameMk id="4" creationId="{C0D84FB5-511B-8165-6333-DC95CA4A2E89}"/>
          </ac:graphicFrameMkLst>
        </pc:graphicFrameChg>
        <pc:graphicFrameChg chg="modGraphic">
          <ac:chgData name="Danh, Hoàng Duy" userId="3a448fcf-317f-4972-a161-06742a14d4c7" providerId="ADAL" clId="{CE1C8B88-0719-4E4A-B0E4-7DC533AE261F}" dt="2025-12-16T07:36:36.769" v="4501" actId="20577"/>
          <ac:graphicFrameMkLst>
            <pc:docMk/>
            <pc:sldMk cId="3039711019" sldId="297"/>
            <ac:graphicFrameMk id="5" creationId="{C9DB754C-E5FF-3F60-70E8-FEBE3F5315E8}"/>
          </ac:graphicFrameMkLst>
        </pc:graphicFrameChg>
        <pc:graphicFrameChg chg="mod">
          <ac:chgData name="Danh, Hoàng Duy" userId="3a448fcf-317f-4972-a161-06742a14d4c7" providerId="ADAL" clId="{CE1C8B88-0719-4E4A-B0E4-7DC533AE261F}" dt="2025-12-16T07:17:23.872" v="4305" actId="108"/>
          <ac:graphicFrameMkLst>
            <pc:docMk/>
            <pc:sldMk cId="3039711019" sldId="297"/>
            <ac:graphicFrameMk id="15" creationId="{A5D34DAE-E6F6-848C-1C73-CCFD3D0F5F15}"/>
          </ac:graphicFrameMkLst>
        </pc:graphicFrameChg>
      </pc:sldChg>
      <pc:sldChg chg="addSp delSp modSp mod">
        <pc:chgData name="Danh, Hoàng Duy" userId="3a448fcf-317f-4972-a161-06742a14d4c7" providerId="ADAL" clId="{CE1C8B88-0719-4E4A-B0E4-7DC533AE261F}" dt="2025-12-17T04:14:41.057" v="4811" actId="1036"/>
        <pc:sldMkLst>
          <pc:docMk/>
          <pc:sldMk cId="2836078639" sldId="303"/>
        </pc:sldMkLst>
        <pc:spChg chg="mod">
          <ac:chgData name="Danh, Hoàng Duy" userId="3a448fcf-317f-4972-a161-06742a14d4c7" providerId="ADAL" clId="{CE1C8B88-0719-4E4A-B0E4-7DC533AE261F}" dt="2025-12-16T09:46:44.854" v="4692" actId="20577"/>
          <ac:spMkLst>
            <pc:docMk/>
            <pc:sldMk cId="2836078639" sldId="303"/>
            <ac:spMk id="2" creationId="{96887BFE-815C-615F-B644-76B304CE4911}"/>
          </ac:spMkLst>
        </pc:spChg>
        <pc:spChg chg="add del mod">
          <ac:chgData name="Danh, Hoàng Duy" userId="3a448fcf-317f-4972-a161-06742a14d4c7" providerId="ADAL" clId="{CE1C8B88-0719-4E4A-B0E4-7DC533AE261F}" dt="2025-12-17T02:23:00.260" v="4779" actId="478"/>
          <ac:spMkLst>
            <pc:docMk/>
            <pc:sldMk cId="2836078639" sldId="303"/>
            <ac:spMk id="3" creationId="{52914C7F-9975-0D3C-A411-97AB27B3EE43}"/>
          </ac:spMkLst>
        </pc:spChg>
        <pc:picChg chg="add del mod">
          <ac:chgData name="Danh, Hoàng Duy" userId="3a448fcf-317f-4972-a161-06742a14d4c7" providerId="ADAL" clId="{CE1C8B88-0719-4E4A-B0E4-7DC533AE261F}" dt="2025-12-17T02:23:01.236" v="4780" actId="478"/>
          <ac:picMkLst>
            <pc:docMk/>
            <pc:sldMk cId="2836078639" sldId="303"/>
            <ac:picMk id="4" creationId="{2F485969-CA41-B3BA-2D53-861222908026}"/>
          </ac:picMkLst>
        </pc:picChg>
        <pc:picChg chg="add del mod">
          <ac:chgData name="Danh, Hoàng Duy" userId="3a448fcf-317f-4972-a161-06742a14d4c7" providerId="ADAL" clId="{CE1C8B88-0719-4E4A-B0E4-7DC533AE261F}" dt="2025-12-17T04:14:22.363" v="4805" actId="478"/>
          <ac:picMkLst>
            <pc:docMk/>
            <pc:sldMk cId="2836078639" sldId="303"/>
            <ac:picMk id="5" creationId="{08C845F3-8D1C-190A-1A9A-0FF741D61588}"/>
          </ac:picMkLst>
        </pc:picChg>
        <pc:picChg chg="add mod">
          <ac:chgData name="Danh, Hoàng Duy" userId="3a448fcf-317f-4972-a161-06742a14d4c7" providerId="ADAL" clId="{CE1C8B88-0719-4E4A-B0E4-7DC533AE261F}" dt="2025-12-17T04:14:41.057" v="4811" actId="1036"/>
          <ac:picMkLst>
            <pc:docMk/>
            <pc:sldMk cId="2836078639" sldId="303"/>
            <ac:picMk id="6" creationId="{3035DE79-1C78-D0E9-8B55-633C4CD34707}"/>
          </ac:picMkLst>
        </pc:picChg>
      </pc:sldChg>
      <pc:sldChg chg="addSp delSp modSp mod">
        <pc:chgData name="Danh, Hoàng Duy" userId="3a448fcf-317f-4972-a161-06742a14d4c7" providerId="ADAL" clId="{CE1C8B88-0719-4E4A-B0E4-7DC533AE261F}" dt="2025-12-16T05:37:12.578" v="3850" actId="1036"/>
        <pc:sldMkLst>
          <pc:docMk/>
          <pc:sldMk cId="3774575398" sldId="304"/>
        </pc:sldMkLst>
        <pc:spChg chg="mod">
          <ac:chgData name="Danh, Hoàng Duy" userId="3a448fcf-317f-4972-a161-06742a14d4c7" providerId="ADAL" clId="{CE1C8B88-0719-4E4A-B0E4-7DC533AE261F}" dt="2025-12-16T05:31:54.226" v="3835" actId="20577"/>
          <ac:spMkLst>
            <pc:docMk/>
            <pc:sldMk cId="3774575398" sldId="304"/>
            <ac:spMk id="2" creationId="{D2170A85-2711-6FB8-2AC6-2C758E78707D}"/>
          </ac:spMkLst>
        </pc:spChg>
        <pc:picChg chg="add del">
          <ac:chgData name="Danh, Hoàng Duy" userId="3a448fcf-317f-4972-a161-06742a14d4c7" providerId="ADAL" clId="{CE1C8B88-0719-4E4A-B0E4-7DC533AE261F}" dt="2025-12-16T05:34:23.836" v="3837" actId="478"/>
          <ac:picMkLst>
            <pc:docMk/>
            <pc:sldMk cId="3774575398" sldId="304"/>
            <ac:picMk id="3" creationId="{D6811600-3410-052F-A359-770198E72CAF}"/>
          </ac:picMkLst>
        </pc:picChg>
        <pc:picChg chg="add del mod">
          <ac:chgData name="Danh, Hoàng Duy" userId="3a448fcf-317f-4972-a161-06742a14d4c7" providerId="ADAL" clId="{CE1C8B88-0719-4E4A-B0E4-7DC533AE261F}" dt="2025-12-16T05:34:28.742" v="3840" actId="478"/>
          <ac:picMkLst>
            <pc:docMk/>
            <pc:sldMk cId="3774575398" sldId="304"/>
            <ac:picMk id="4" creationId="{7064EA71-E390-03C6-E51E-A5BAAFECE0ED}"/>
          </ac:picMkLst>
        </pc:picChg>
        <pc:picChg chg="add del mod">
          <ac:chgData name="Danh, Hoàng Duy" userId="3a448fcf-317f-4972-a161-06742a14d4c7" providerId="ADAL" clId="{CE1C8B88-0719-4E4A-B0E4-7DC533AE261F}" dt="2025-12-16T05:36:11.036" v="3843" actId="478"/>
          <ac:picMkLst>
            <pc:docMk/>
            <pc:sldMk cId="3774575398" sldId="304"/>
            <ac:picMk id="5" creationId="{98054946-E955-507B-4635-D3660A3CD8F9}"/>
          </ac:picMkLst>
        </pc:picChg>
        <pc:picChg chg="add mod">
          <ac:chgData name="Danh, Hoàng Duy" userId="3a448fcf-317f-4972-a161-06742a14d4c7" providerId="ADAL" clId="{CE1C8B88-0719-4E4A-B0E4-7DC533AE261F}" dt="2025-12-16T05:37:12.578" v="3850" actId="1036"/>
          <ac:picMkLst>
            <pc:docMk/>
            <pc:sldMk cId="3774575398" sldId="304"/>
            <ac:picMk id="6" creationId="{09C67BBA-1EC8-FC66-C445-455C6962BFD2}"/>
          </ac:picMkLst>
        </pc:picChg>
        <pc:picChg chg="add del mod">
          <ac:chgData name="Danh, Hoàng Duy" userId="3a448fcf-317f-4972-a161-06742a14d4c7" providerId="ADAL" clId="{CE1C8B88-0719-4E4A-B0E4-7DC533AE261F}" dt="2025-12-16T05:31:51.740" v="3833" actId="478"/>
          <ac:picMkLst>
            <pc:docMk/>
            <pc:sldMk cId="3774575398" sldId="304"/>
            <ac:picMk id="19" creationId="{0F58E3A6-A278-708B-BB66-DD328AD893C7}"/>
          </ac:picMkLst>
        </pc:picChg>
      </pc:sldChg>
      <pc:sldChg chg="addSp delSp modSp add del mod">
        <pc:chgData name="Danh, Hoàng Duy" userId="3a448fcf-317f-4972-a161-06742a14d4c7" providerId="ADAL" clId="{CE1C8B88-0719-4E4A-B0E4-7DC533AE261F}" dt="2025-12-17T04:13:52.411" v="4803" actId="14100"/>
        <pc:sldMkLst>
          <pc:docMk/>
          <pc:sldMk cId="3780282396" sldId="310"/>
        </pc:sldMkLst>
        <pc:spChg chg="add del mod">
          <ac:chgData name="Danh, Hoàng Duy" userId="3a448fcf-317f-4972-a161-06742a14d4c7" providerId="ADAL" clId="{CE1C8B88-0719-4E4A-B0E4-7DC533AE261F}" dt="2025-12-17T04:13:34.891" v="4799" actId="478"/>
          <ac:spMkLst>
            <pc:docMk/>
            <pc:sldMk cId="3780282396" sldId="310"/>
            <ac:spMk id="4" creationId="{DA8FFE14-07D0-A990-CA6F-68D3C1E4979F}"/>
          </ac:spMkLst>
        </pc:spChg>
        <pc:picChg chg="add del mod">
          <ac:chgData name="Danh, Hoàng Duy" userId="3a448fcf-317f-4972-a161-06742a14d4c7" providerId="ADAL" clId="{CE1C8B88-0719-4E4A-B0E4-7DC533AE261F}" dt="2025-12-17T04:13:35.592" v="4800" actId="478"/>
          <ac:picMkLst>
            <pc:docMk/>
            <pc:sldMk cId="3780282396" sldId="310"/>
            <ac:picMk id="3" creationId="{75172039-8DD1-B078-0E2B-0461ECD069BD}"/>
          </ac:picMkLst>
        </pc:picChg>
        <pc:picChg chg="add mod">
          <ac:chgData name="Danh, Hoàng Duy" userId="3a448fcf-317f-4972-a161-06742a14d4c7" providerId="ADAL" clId="{CE1C8B88-0719-4E4A-B0E4-7DC533AE261F}" dt="2025-12-17T04:13:52.411" v="4803" actId="14100"/>
          <ac:picMkLst>
            <pc:docMk/>
            <pc:sldMk cId="3780282396" sldId="310"/>
            <ac:picMk id="5" creationId="{B6F8070A-2677-CD62-FB02-8A44843F1B0F}"/>
          </ac:picMkLst>
        </pc:picChg>
      </pc:sldChg>
      <pc:sldChg chg="addSp delSp modSp mod">
        <pc:chgData name="Danh, Hoàng Duy" userId="3a448fcf-317f-4972-a161-06742a14d4c7" providerId="ADAL" clId="{CE1C8B88-0719-4E4A-B0E4-7DC533AE261F}" dt="2025-12-16T06:48:05.705" v="4284" actId="6549"/>
        <pc:sldMkLst>
          <pc:docMk/>
          <pc:sldMk cId="1484793906" sldId="312"/>
        </pc:sldMkLst>
        <pc:spChg chg="mod">
          <ac:chgData name="Danh, Hoàng Duy" userId="3a448fcf-317f-4972-a161-06742a14d4c7" providerId="ADAL" clId="{CE1C8B88-0719-4E4A-B0E4-7DC533AE261F}" dt="2025-11-22T01:20:58.871" v="3682" actId="6549"/>
          <ac:spMkLst>
            <pc:docMk/>
            <pc:sldMk cId="1484793906" sldId="312"/>
            <ac:spMk id="2" creationId="{12546F3F-20E5-63CB-1983-7C9780A44D37}"/>
          </ac:spMkLst>
        </pc:spChg>
        <pc:spChg chg="mod">
          <ac:chgData name="Danh, Hoàng Duy" userId="3a448fcf-317f-4972-a161-06742a14d4c7" providerId="ADAL" clId="{CE1C8B88-0719-4E4A-B0E4-7DC533AE261F}" dt="2025-12-16T06:48:05.705" v="4284" actId="6549"/>
          <ac:spMkLst>
            <pc:docMk/>
            <pc:sldMk cId="1484793906" sldId="312"/>
            <ac:spMk id="3" creationId="{7648C975-1F6E-4A51-7B7D-8AA3948B7BFF}"/>
          </ac:spMkLst>
        </pc:spChg>
        <pc:spChg chg="add del mod">
          <ac:chgData name="Danh, Hoàng Duy" userId="3a448fcf-317f-4972-a161-06742a14d4c7" providerId="ADAL" clId="{CE1C8B88-0719-4E4A-B0E4-7DC533AE261F}" dt="2025-12-16T06:47:50.289" v="4279" actId="478"/>
          <ac:spMkLst>
            <pc:docMk/>
            <pc:sldMk cId="1484793906" sldId="312"/>
            <ac:spMk id="5" creationId="{AABE34FF-9AC4-8030-56A2-D0ECFE92D8E8}"/>
          </ac:spMkLst>
        </pc:spChg>
        <pc:picChg chg="add del mod">
          <ac:chgData name="Danh, Hoàng Duy" userId="3a448fcf-317f-4972-a161-06742a14d4c7" providerId="ADAL" clId="{CE1C8B88-0719-4E4A-B0E4-7DC533AE261F}" dt="2025-12-16T06:47:51.101" v="4280" actId="478"/>
          <ac:picMkLst>
            <pc:docMk/>
            <pc:sldMk cId="1484793906" sldId="312"/>
            <ac:picMk id="4" creationId="{FF988C7C-1E6D-B098-D3F5-AADD518435CD}"/>
          </ac:picMkLst>
        </pc:picChg>
        <pc:picChg chg="add mod">
          <ac:chgData name="Danh, Hoàng Duy" userId="3a448fcf-317f-4972-a161-06742a14d4c7" providerId="ADAL" clId="{CE1C8B88-0719-4E4A-B0E4-7DC533AE261F}" dt="2025-12-16T06:47:56.423" v="4283" actId="1035"/>
          <ac:picMkLst>
            <pc:docMk/>
            <pc:sldMk cId="1484793906" sldId="312"/>
            <ac:picMk id="6" creationId="{055D7C5D-5A6A-D1B0-D620-26D2AE47FE28}"/>
          </ac:picMkLst>
        </pc:picChg>
      </pc:sldChg>
      <pc:sldChg chg="addSp delSp modSp mod">
        <pc:chgData name="Danh, Hoàng Duy" userId="3a448fcf-317f-4972-a161-06742a14d4c7" providerId="ADAL" clId="{CE1C8B88-0719-4E4A-B0E4-7DC533AE261F}" dt="2025-12-16T06:07:37.240" v="4263" actId="20577"/>
        <pc:sldMkLst>
          <pc:docMk/>
          <pc:sldMk cId="78206668" sldId="315"/>
        </pc:sldMkLst>
        <pc:graphicFrameChg chg="mod">
          <ac:chgData name="Danh, Hoàng Duy" userId="3a448fcf-317f-4972-a161-06742a14d4c7" providerId="ADAL" clId="{CE1C8B88-0719-4E4A-B0E4-7DC533AE261F}" dt="2025-12-16T05:39:42.546" v="3861" actId="113"/>
          <ac:graphicFrameMkLst>
            <pc:docMk/>
            <pc:sldMk cId="78206668" sldId="315"/>
            <ac:graphicFrameMk id="4" creationId="{E130BEDC-8830-AA2C-D6CE-032D13175089}"/>
          </ac:graphicFrameMkLst>
        </pc:graphicFrameChg>
        <pc:graphicFrameChg chg="modGraphic">
          <ac:chgData name="Danh, Hoàng Duy" userId="3a448fcf-317f-4972-a161-06742a14d4c7" providerId="ADAL" clId="{CE1C8B88-0719-4E4A-B0E4-7DC533AE261F}" dt="2025-12-16T06:07:37.240" v="4263" actId="20577"/>
          <ac:graphicFrameMkLst>
            <pc:docMk/>
            <pc:sldMk cId="78206668" sldId="315"/>
            <ac:graphicFrameMk id="5" creationId="{B898A6A7-30C3-9951-E884-FBCDACD14A63}"/>
          </ac:graphicFrameMkLst>
        </pc:graphicFrameChg>
        <pc:graphicFrameChg chg="mod">
          <ac:chgData name="Danh, Hoàng Duy" userId="3a448fcf-317f-4972-a161-06742a14d4c7" providerId="ADAL" clId="{CE1C8B88-0719-4E4A-B0E4-7DC533AE261F}" dt="2025-12-16T05:47:51.839" v="3930"/>
          <ac:graphicFrameMkLst>
            <pc:docMk/>
            <pc:sldMk cId="78206668" sldId="315"/>
            <ac:graphicFrameMk id="15" creationId="{424E2B08-E421-0097-BABF-0E47D73A24B0}"/>
          </ac:graphicFrameMkLst>
        </pc:graphicFrameChg>
      </pc:sldChg>
      <pc:sldChg chg="addSp delSp modSp mod">
        <pc:chgData name="Danh, Hoàng Duy" userId="3a448fcf-317f-4972-a161-06742a14d4c7" providerId="ADAL" clId="{CE1C8B88-0719-4E4A-B0E4-7DC533AE261F}" dt="2025-12-16T08:17:29.042" v="4507" actId="167"/>
        <pc:sldMkLst>
          <pc:docMk/>
          <pc:sldMk cId="762985688" sldId="323"/>
        </pc:sldMkLst>
        <pc:spChg chg="add del mod">
          <ac:chgData name="Danh, Hoàng Duy" userId="3a448fcf-317f-4972-a161-06742a14d4c7" providerId="ADAL" clId="{CE1C8B88-0719-4E4A-B0E4-7DC533AE261F}" dt="2025-12-16T07:37:38.817" v="4504" actId="478"/>
          <ac:spMkLst>
            <pc:docMk/>
            <pc:sldMk cId="762985688" sldId="323"/>
            <ac:spMk id="3" creationId="{80DC528A-1DB1-1072-EE0F-85479E5089C1}"/>
          </ac:spMkLst>
        </pc:spChg>
        <pc:spChg chg="mod">
          <ac:chgData name="Danh, Hoàng Duy" userId="3a448fcf-317f-4972-a161-06742a14d4c7" providerId="ADAL" clId="{CE1C8B88-0719-4E4A-B0E4-7DC533AE261F}" dt="2025-11-21T15:26:06.494" v="3666" actId="20577"/>
          <ac:spMkLst>
            <pc:docMk/>
            <pc:sldMk cId="762985688" sldId="323"/>
            <ac:spMk id="5" creationId="{7F88D789-AB75-CE1E-6AB8-BADB2A74196E}"/>
          </ac:spMkLst>
        </pc:spChg>
        <pc:spChg chg="mod">
          <ac:chgData name="Danh, Hoàng Duy" userId="3a448fcf-317f-4972-a161-06742a14d4c7" providerId="ADAL" clId="{CE1C8B88-0719-4E4A-B0E4-7DC533AE261F}" dt="2025-11-26T02:03:32.501" v="3831" actId="1038"/>
          <ac:spMkLst>
            <pc:docMk/>
            <pc:sldMk cId="762985688" sldId="323"/>
            <ac:spMk id="8" creationId="{5377969E-C334-2E79-2350-BE227F7F594D}"/>
          </ac:spMkLst>
        </pc:spChg>
        <pc:picChg chg="add del ord">
          <ac:chgData name="Danh, Hoàng Duy" userId="3a448fcf-317f-4972-a161-06742a14d4c7" providerId="ADAL" clId="{CE1C8B88-0719-4E4A-B0E4-7DC533AE261F}" dt="2025-12-16T08:17:22.605" v="4505" actId="478"/>
          <ac:picMkLst>
            <pc:docMk/>
            <pc:sldMk cId="762985688" sldId="323"/>
            <ac:picMk id="4" creationId="{A6FC2600-541A-B5B9-1902-B560291B2DD8}"/>
          </ac:picMkLst>
        </pc:picChg>
        <pc:picChg chg="add ord">
          <ac:chgData name="Danh, Hoàng Duy" userId="3a448fcf-317f-4972-a161-06742a14d4c7" providerId="ADAL" clId="{CE1C8B88-0719-4E4A-B0E4-7DC533AE261F}" dt="2025-12-16T08:17:29.042" v="4507" actId="167"/>
          <ac:picMkLst>
            <pc:docMk/>
            <pc:sldMk cId="762985688" sldId="323"/>
            <ac:picMk id="6" creationId="{20575D6F-00C9-D84C-4D8E-1735DF91943D}"/>
          </ac:picMkLst>
        </pc:picChg>
      </pc:sldChg>
      <pc:sldChg chg="addSp delSp modSp mod">
        <pc:chgData name="Danh, Hoàng Duy" userId="3a448fcf-317f-4972-a161-06742a14d4c7" providerId="ADAL" clId="{CE1C8B88-0719-4E4A-B0E4-7DC533AE261F}" dt="2025-12-16T06:27:11.147" v="4278" actId="1035"/>
        <pc:sldMkLst>
          <pc:docMk/>
          <pc:sldMk cId="2986706331" sldId="325"/>
        </pc:sldMkLst>
        <pc:spChg chg="mod">
          <ac:chgData name="Danh, Hoàng Duy" userId="3a448fcf-317f-4972-a161-06742a14d4c7" providerId="ADAL" clId="{CE1C8B88-0719-4E4A-B0E4-7DC533AE261F}" dt="2025-11-22T01:20:26.326" v="3680" actId="6549"/>
          <ac:spMkLst>
            <pc:docMk/>
            <pc:sldMk cId="2986706331" sldId="325"/>
            <ac:spMk id="2" creationId="{7558957F-5186-1C98-EE4C-9C59C2AC2769}"/>
          </ac:spMkLst>
        </pc:spChg>
        <pc:spChg chg="del mod">
          <ac:chgData name="Danh, Hoàng Duy" userId="3a448fcf-317f-4972-a161-06742a14d4c7" providerId="ADAL" clId="{CE1C8B88-0719-4E4A-B0E4-7DC533AE261F}" dt="2025-12-16T06:00:25.667" v="4087" actId="478"/>
          <ac:spMkLst>
            <pc:docMk/>
            <pc:sldMk cId="2986706331" sldId="325"/>
            <ac:spMk id="4" creationId="{197DFB03-0FC0-4B11-1C0D-5EC0320DAED4}"/>
          </ac:spMkLst>
        </pc:spChg>
        <pc:spChg chg="add del mod">
          <ac:chgData name="Danh, Hoàng Duy" userId="3a448fcf-317f-4972-a161-06742a14d4c7" providerId="ADAL" clId="{CE1C8B88-0719-4E4A-B0E4-7DC533AE261F}" dt="2025-12-16T06:20:07.899" v="4271" actId="478"/>
          <ac:spMkLst>
            <pc:docMk/>
            <pc:sldMk cId="2986706331" sldId="325"/>
            <ac:spMk id="5" creationId="{AF778043-7728-0860-0F14-54A4F88DCC7A}"/>
          </ac:spMkLst>
        </pc:spChg>
        <pc:spChg chg="add del mod">
          <ac:chgData name="Danh, Hoàng Duy" userId="3a448fcf-317f-4972-a161-06742a14d4c7" providerId="ADAL" clId="{CE1C8B88-0719-4E4A-B0E4-7DC533AE261F}" dt="2025-12-16T06:00:06.304" v="4086" actId="478"/>
          <ac:spMkLst>
            <pc:docMk/>
            <pc:sldMk cId="2986706331" sldId="325"/>
            <ac:spMk id="6" creationId="{FBD29A1F-9236-16F4-3AFE-4FB5E8F844C3}"/>
          </ac:spMkLst>
        </pc:spChg>
        <pc:spChg chg="del">
          <ac:chgData name="Danh, Hoàng Duy" userId="3a448fcf-317f-4972-a161-06742a14d4c7" providerId="ADAL" clId="{CE1C8B88-0719-4E4A-B0E4-7DC533AE261F}" dt="2025-12-16T05:57:06.230" v="3986" actId="478"/>
          <ac:spMkLst>
            <pc:docMk/>
            <pc:sldMk cId="2986706331" sldId="325"/>
            <ac:spMk id="9" creationId="{6A8B92CA-384F-CC2F-6F21-B02F8E0F7304}"/>
          </ac:spMkLst>
        </pc:spChg>
        <pc:spChg chg="del">
          <ac:chgData name="Danh, Hoàng Duy" userId="3a448fcf-317f-4972-a161-06742a14d4c7" providerId="ADAL" clId="{CE1C8B88-0719-4E4A-B0E4-7DC533AE261F}" dt="2025-12-16T05:57:06.230" v="3986" actId="478"/>
          <ac:spMkLst>
            <pc:docMk/>
            <pc:sldMk cId="2986706331" sldId="325"/>
            <ac:spMk id="10" creationId="{10A62EA6-FF61-0D5A-1BB1-4DBBF7B36281}"/>
          </ac:spMkLst>
        </pc:spChg>
        <pc:graphicFrameChg chg="mod modGraphic">
          <ac:chgData name="Danh, Hoàng Duy" userId="3a448fcf-317f-4972-a161-06742a14d4c7" providerId="ADAL" clId="{CE1C8B88-0719-4E4A-B0E4-7DC533AE261F}" dt="2025-12-16T06:00:02.236" v="4085" actId="20577"/>
          <ac:graphicFrameMkLst>
            <pc:docMk/>
            <pc:sldMk cId="2986706331" sldId="325"/>
            <ac:graphicFrameMk id="13" creationId="{100BE8B6-6083-B7AE-2EFA-0BF3D2170931}"/>
          </ac:graphicFrameMkLst>
        </pc:graphicFrameChg>
        <pc:picChg chg="add del mod">
          <ac:chgData name="Danh, Hoàng Duy" userId="3a448fcf-317f-4972-a161-06742a14d4c7" providerId="ADAL" clId="{CE1C8B88-0719-4E4A-B0E4-7DC533AE261F}" dt="2025-12-16T06:27:05.459" v="4272" actId="478"/>
          <ac:picMkLst>
            <pc:docMk/>
            <pc:sldMk cId="2986706331" sldId="325"/>
            <ac:picMk id="3" creationId="{A2C31F52-EA8F-67D0-DD9B-3A822FBD8071}"/>
          </ac:picMkLst>
        </pc:picChg>
        <pc:picChg chg="del">
          <ac:chgData name="Danh, Hoàng Duy" userId="3a448fcf-317f-4972-a161-06742a14d4c7" providerId="ADAL" clId="{CE1C8B88-0719-4E4A-B0E4-7DC533AE261F}" dt="2025-12-16T05:55:12.947" v="3950" actId="478"/>
          <ac:picMkLst>
            <pc:docMk/>
            <pc:sldMk cId="2986706331" sldId="325"/>
            <ac:picMk id="7" creationId="{599A71C4-C3EA-1072-BD25-ACCA6CDAC16A}"/>
          </ac:picMkLst>
        </pc:picChg>
        <pc:picChg chg="add mod ord">
          <ac:chgData name="Danh, Hoàng Duy" userId="3a448fcf-317f-4972-a161-06742a14d4c7" providerId="ADAL" clId="{CE1C8B88-0719-4E4A-B0E4-7DC533AE261F}" dt="2025-12-16T05:57:04.226" v="3985" actId="167"/>
          <ac:picMkLst>
            <pc:docMk/>
            <pc:sldMk cId="2986706331" sldId="325"/>
            <ac:picMk id="8" creationId="{32879FA8-AFE2-141A-2B4E-446171DF600C}"/>
          </ac:picMkLst>
        </pc:picChg>
        <pc:picChg chg="add mod">
          <ac:chgData name="Danh, Hoàng Duy" userId="3a448fcf-317f-4972-a161-06742a14d4c7" providerId="ADAL" clId="{CE1C8B88-0719-4E4A-B0E4-7DC533AE261F}" dt="2025-12-16T06:27:11.147" v="4278" actId="1035"/>
          <ac:picMkLst>
            <pc:docMk/>
            <pc:sldMk cId="2986706331" sldId="325"/>
            <ac:picMk id="11" creationId="{946A1DA1-D3A9-72AE-A2F3-FF400BC57237}"/>
          </ac:picMkLst>
        </pc:picChg>
      </pc:sldChg>
      <pc:sldChg chg="addSp delSp modSp mod">
        <pc:chgData name="Danh, Hoàng Duy" userId="3a448fcf-317f-4972-a161-06742a14d4c7" providerId="ADAL" clId="{CE1C8B88-0719-4E4A-B0E4-7DC533AE261F}" dt="2025-12-16T08:30:55.591" v="4546" actId="478"/>
        <pc:sldMkLst>
          <pc:docMk/>
          <pc:sldMk cId="1872328076" sldId="339"/>
        </pc:sldMkLst>
        <pc:spChg chg="mod">
          <ac:chgData name="Danh, Hoàng Duy" userId="3a448fcf-317f-4972-a161-06742a14d4c7" providerId="ADAL" clId="{CE1C8B88-0719-4E4A-B0E4-7DC533AE261F}" dt="2025-12-16T08:30:54.179" v="4545" actId="20577"/>
          <ac:spMkLst>
            <pc:docMk/>
            <pc:sldMk cId="1872328076" sldId="339"/>
            <ac:spMk id="2" creationId="{F519E5DA-18D9-3147-64AD-EDD92E484021}"/>
          </ac:spMkLst>
        </pc:spChg>
        <pc:spChg chg="add del mod">
          <ac:chgData name="Danh, Hoàng Duy" userId="3a448fcf-317f-4972-a161-06742a14d4c7" providerId="ADAL" clId="{CE1C8B88-0719-4E4A-B0E4-7DC533AE261F}" dt="2025-12-16T08:30:55.591" v="4546" actId="478"/>
          <ac:spMkLst>
            <pc:docMk/>
            <pc:sldMk cId="1872328076" sldId="339"/>
            <ac:spMk id="4" creationId="{0147D458-C1FE-6AB4-6EE8-E8B4FDEEED68}"/>
          </ac:spMkLst>
        </pc:spChg>
        <pc:spChg chg="mod">
          <ac:chgData name="Danh, Hoàng Duy" userId="3a448fcf-317f-4972-a161-06742a14d4c7" providerId="ADAL" clId="{CE1C8B88-0719-4E4A-B0E4-7DC533AE261F}" dt="2025-12-16T08:22:23.322" v="4536" actId="20577"/>
          <ac:spMkLst>
            <pc:docMk/>
            <pc:sldMk cId="1872328076" sldId="339"/>
            <ac:spMk id="7" creationId="{AD65CEFF-EC41-A226-7607-B551F4DCD2E1}"/>
          </ac:spMkLst>
        </pc:spChg>
        <pc:picChg chg="add mod">
          <ac:chgData name="Danh, Hoàng Duy" userId="3a448fcf-317f-4972-a161-06742a14d4c7" providerId="ADAL" clId="{CE1C8B88-0719-4E4A-B0E4-7DC533AE261F}" dt="2025-12-16T08:30:46.461" v="4542" actId="1036"/>
          <ac:picMkLst>
            <pc:docMk/>
            <pc:sldMk cId="1872328076" sldId="339"/>
            <ac:picMk id="5" creationId="{00573F3E-9544-2CA5-C8E1-028CBFABBD44}"/>
          </ac:picMkLst>
        </pc:picChg>
        <pc:picChg chg="add del mod">
          <ac:chgData name="Danh, Hoàng Duy" userId="3a448fcf-317f-4972-a161-06742a14d4c7" providerId="ADAL" clId="{CE1C8B88-0719-4E4A-B0E4-7DC533AE261F}" dt="2025-12-16T08:30:41.023" v="4537" actId="478"/>
          <ac:picMkLst>
            <pc:docMk/>
            <pc:sldMk cId="1872328076" sldId="339"/>
            <ac:picMk id="8" creationId="{9EA61666-013C-481C-BECB-0E1C27B8490D}"/>
          </ac:picMkLst>
        </pc:picChg>
      </pc:sldChg>
      <pc:sldChg chg="addSp delSp modSp mod">
        <pc:chgData name="Danh, Hoàng Duy" userId="3a448fcf-317f-4972-a161-06742a14d4c7" providerId="ADAL" clId="{CE1C8B88-0719-4E4A-B0E4-7DC533AE261F}" dt="2025-12-16T08:58:44.016" v="4621" actId="1035"/>
        <pc:sldMkLst>
          <pc:docMk/>
          <pc:sldMk cId="770909714" sldId="341"/>
        </pc:sldMkLst>
        <pc:spChg chg="add del mod">
          <ac:chgData name="Danh, Hoàng Duy" userId="3a448fcf-317f-4972-a161-06742a14d4c7" providerId="ADAL" clId="{CE1C8B88-0719-4E4A-B0E4-7DC533AE261F}" dt="2025-12-16T08:31:07.801" v="4547" actId="478"/>
          <ac:spMkLst>
            <pc:docMk/>
            <pc:sldMk cId="770909714" sldId="341"/>
            <ac:spMk id="3" creationId="{F054B6F5-3FAE-28C9-0D04-DB84FEF00D72}"/>
          </ac:spMkLst>
        </pc:spChg>
        <pc:spChg chg="mod">
          <ac:chgData name="Danh, Hoàng Duy" userId="3a448fcf-317f-4972-a161-06742a14d4c7" providerId="ADAL" clId="{CE1C8B88-0719-4E4A-B0E4-7DC533AE261F}" dt="2025-12-16T08:36:14.490" v="4584" actId="20577"/>
          <ac:spMkLst>
            <pc:docMk/>
            <pc:sldMk cId="770909714" sldId="341"/>
            <ac:spMk id="5" creationId="{32ED3F55-C554-FD72-4154-22A4412DC715}"/>
          </ac:spMkLst>
        </pc:spChg>
        <pc:spChg chg="mod">
          <ac:chgData name="Danh, Hoàng Duy" userId="3a448fcf-317f-4972-a161-06742a14d4c7" providerId="ADAL" clId="{CE1C8B88-0719-4E4A-B0E4-7DC533AE261F}" dt="2025-12-16T08:36:05.647" v="4577" actId="20577"/>
          <ac:spMkLst>
            <pc:docMk/>
            <pc:sldMk cId="770909714" sldId="341"/>
            <ac:spMk id="7" creationId="{68DAED6E-468F-A7BD-636D-B6B94CBDCE90}"/>
          </ac:spMkLst>
        </pc:spChg>
        <pc:picChg chg="add mod">
          <ac:chgData name="Danh, Hoàng Duy" userId="3a448fcf-317f-4972-a161-06742a14d4c7" providerId="ADAL" clId="{CE1C8B88-0719-4E4A-B0E4-7DC533AE261F}" dt="2025-12-16T08:58:44.016" v="4621" actId="1035"/>
          <ac:picMkLst>
            <pc:docMk/>
            <pc:sldMk cId="770909714" sldId="341"/>
            <ac:picMk id="4" creationId="{91039879-D823-C443-B1FD-C0F9148AD4A5}"/>
          </ac:picMkLst>
        </pc:picChg>
        <pc:picChg chg="add del mod">
          <ac:chgData name="Danh, Hoàng Duy" userId="3a448fcf-317f-4972-a161-06742a14d4c7" providerId="ADAL" clId="{CE1C8B88-0719-4E4A-B0E4-7DC533AE261F}" dt="2025-12-16T08:58:36.516" v="4586" actId="478"/>
          <ac:picMkLst>
            <pc:docMk/>
            <pc:sldMk cId="770909714" sldId="341"/>
            <ac:picMk id="6" creationId="{52978C4F-0CD3-02E1-4D02-9053DAB66711}"/>
          </ac:picMkLst>
        </pc:picChg>
      </pc:sldChg>
      <pc:sldChg chg="addSp delSp modSp mod">
        <pc:chgData name="Danh, Hoàng Duy" userId="3a448fcf-317f-4972-a161-06742a14d4c7" providerId="ADAL" clId="{CE1C8B88-0719-4E4A-B0E4-7DC533AE261F}" dt="2025-12-16T06:17:32.085" v="4270" actId="1035"/>
        <pc:sldMkLst>
          <pc:docMk/>
          <pc:sldMk cId="2706724751" sldId="344"/>
        </pc:sldMkLst>
        <pc:picChg chg="add mod">
          <ac:chgData name="Danh, Hoàng Duy" userId="3a448fcf-317f-4972-a161-06742a14d4c7" providerId="ADAL" clId="{CE1C8B88-0719-4E4A-B0E4-7DC533AE261F}" dt="2025-12-16T06:17:32.085" v="4270" actId="1035"/>
          <ac:picMkLst>
            <pc:docMk/>
            <pc:sldMk cId="2706724751" sldId="344"/>
            <ac:picMk id="3" creationId="{2213C73C-A91D-7546-14D7-819DFD8A210D}"/>
          </ac:picMkLst>
        </pc:picChg>
        <pc:picChg chg="del">
          <ac:chgData name="Danh, Hoàng Duy" userId="3a448fcf-317f-4972-a161-06742a14d4c7" providerId="ADAL" clId="{CE1C8B88-0719-4E4A-B0E4-7DC533AE261F}" dt="2025-12-16T06:17:26.143" v="4264" actId="478"/>
          <ac:picMkLst>
            <pc:docMk/>
            <pc:sldMk cId="2706724751" sldId="344"/>
            <ac:picMk id="5" creationId="{4E5C3DB8-27FC-EF4D-DEBA-EDC3C0E45A88}"/>
          </ac:picMkLst>
        </pc:picChg>
      </pc:sldChg>
      <pc:sldChg chg="addSp delSp modSp del mod">
        <pc:chgData name="Danh, Hoàng Duy" userId="3a448fcf-317f-4972-a161-06742a14d4c7" providerId="ADAL" clId="{CE1C8B88-0719-4E4A-B0E4-7DC533AE261F}" dt="2025-12-16T08:17:57.276" v="4508" actId="47"/>
        <pc:sldMkLst>
          <pc:docMk/>
          <pc:sldMk cId="885110377" sldId="349"/>
        </pc:sldMkLst>
        <pc:spChg chg="add mod">
          <ac:chgData name="Danh, Hoàng Duy" userId="3a448fcf-317f-4972-a161-06742a14d4c7" providerId="ADAL" clId="{CE1C8B88-0719-4E4A-B0E4-7DC533AE261F}" dt="2025-12-16T05:55:32.946" v="3963"/>
          <ac:spMkLst>
            <pc:docMk/>
            <pc:sldMk cId="885110377" sldId="349"/>
            <ac:spMk id="2" creationId="{853412F5-7B5C-BB53-840F-3391226945D8}"/>
          </ac:spMkLst>
        </pc:spChg>
      </pc:sldChg>
      <pc:sldChg chg="addSp delSp modSp mod">
        <pc:chgData name="Danh, Hoàng Duy" userId="3a448fcf-317f-4972-a161-06742a14d4c7" providerId="ADAL" clId="{CE1C8B88-0719-4E4A-B0E4-7DC533AE261F}" dt="2025-12-17T04:18:55.666" v="4813"/>
        <pc:sldMkLst>
          <pc:docMk/>
          <pc:sldMk cId="209589310" sldId="350"/>
        </pc:sldMkLst>
        <pc:spChg chg="add del mod">
          <ac:chgData name="Danh, Hoàng Duy" userId="3a448fcf-317f-4972-a161-06742a14d4c7" providerId="ADAL" clId="{CE1C8B88-0719-4E4A-B0E4-7DC533AE261F}" dt="2025-12-17T04:13:59.430" v="4804" actId="478"/>
          <ac:spMkLst>
            <pc:docMk/>
            <pc:sldMk cId="209589310" sldId="350"/>
            <ac:spMk id="3" creationId="{DDA090AB-FE1B-B56A-5625-FDEA994D98C5}"/>
          </ac:spMkLst>
        </pc:spChg>
        <pc:picChg chg="add">
          <ac:chgData name="Danh, Hoàng Duy" userId="3a448fcf-317f-4972-a161-06742a14d4c7" providerId="ADAL" clId="{CE1C8B88-0719-4E4A-B0E4-7DC533AE261F}" dt="2025-12-17T04:18:55.666" v="4813"/>
          <ac:picMkLst>
            <pc:docMk/>
            <pc:sldMk cId="209589310" sldId="350"/>
            <ac:picMk id="4" creationId="{C4C768AE-0630-0C02-F5F4-4CAC7859D0E0}"/>
          </ac:picMkLst>
        </pc:picChg>
        <pc:picChg chg="add del mod">
          <ac:chgData name="Danh, Hoàng Duy" userId="3a448fcf-317f-4972-a161-06742a14d4c7" providerId="ADAL" clId="{CE1C8B88-0719-4E4A-B0E4-7DC533AE261F}" dt="2025-12-17T04:18:52.513" v="4812" actId="478"/>
          <ac:picMkLst>
            <pc:docMk/>
            <pc:sldMk cId="209589310" sldId="350"/>
            <ac:picMk id="7" creationId="{45482B73-F46A-00D7-5E7F-B3B6DBF912F7}"/>
          </ac:picMkLst>
        </pc:picChg>
      </pc:sldChg>
      <pc:sldChg chg="addSp delSp modSp mod">
        <pc:chgData name="Danh, Hoàng Duy" userId="3a448fcf-317f-4972-a161-06742a14d4c7" providerId="ADAL" clId="{CE1C8B88-0719-4E4A-B0E4-7DC533AE261F}" dt="2025-12-17T05:40:58.473" v="4834" actId="20577"/>
        <pc:sldMkLst>
          <pc:docMk/>
          <pc:sldMk cId="2816104292" sldId="351"/>
        </pc:sldMkLst>
        <pc:spChg chg="add del mod">
          <ac:chgData name="Danh, Hoàng Duy" userId="3a448fcf-317f-4972-a161-06742a14d4c7" providerId="ADAL" clId="{CE1C8B88-0719-4E4A-B0E4-7DC533AE261F}" dt="2025-12-17T04:19:15.741" v="4814" actId="478"/>
          <ac:spMkLst>
            <pc:docMk/>
            <pc:sldMk cId="2816104292" sldId="351"/>
            <ac:spMk id="2" creationId="{877F8D6A-5BF1-CA2E-254B-4926B4ED9EE1}"/>
          </ac:spMkLst>
        </pc:spChg>
        <pc:spChg chg="mod">
          <ac:chgData name="Danh, Hoàng Duy" userId="3a448fcf-317f-4972-a161-06742a14d4c7" providerId="ADAL" clId="{CE1C8B88-0719-4E4A-B0E4-7DC533AE261F}" dt="2025-12-17T05:40:58.473" v="4834" actId="20577"/>
          <ac:spMkLst>
            <pc:docMk/>
            <pc:sldMk cId="2816104292" sldId="351"/>
            <ac:spMk id="10" creationId="{D826FAFC-8C7B-64A9-F74B-A3039F971874}"/>
          </ac:spMkLst>
        </pc:spChg>
        <pc:picChg chg="add del mod">
          <ac:chgData name="Danh, Hoàng Duy" userId="3a448fcf-317f-4972-a161-06742a14d4c7" providerId="ADAL" clId="{CE1C8B88-0719-4E4A-B0E4-7DC533AE261F}" dt="2025-12-17T05:40:12.187" v="4820" actId="478"/>
          <ac:picMkLst>
            <pc:docMk/>
            <pc:sldMk cId="2816104292" sldId="351"/>
            <ac:picMk id="3" creationId="{BC8FE7D8-AA0C-5928-EC92-13455626D8A7}"/>
          </ac:picMkLst>
        </pc:picChg>
        <pc:picChg chg="del">
          <ac:chgData name="Danh, Hoàng Duy" userId="3a448fcf-317f-4972-a161-06742a14d4c7" providerId="ADAL" clId="{CE1C8B88-0719-4E4A-B0E4-7DC533AE261F}" dt="2025-12-17T04:19:22.351" v="4817" actId="478"/>
          <ac:picMkLst>
            <pc:docMk/>
            <pc:sldMk cId="2816104292" sldId="351"/>
            <ac:picMk id="4" creationId="{5024BEF4-DB3F-248E-320B-03C8684B286B}"/>
          </ac:picMkLst>
        </pc:picChg>
        <pc:picChg chg="add">
          <ac:chgData name="Danh, Hoàng Duy" userId="3a448fcf-317f-4972-a161-06742a14d4c7" providerId="ADAL" clId="{CE1C8B88-0719-4E4A-B0E4-7DC533AE261F}" dt="2025-12-17T05:40:13.473" v="4821"/>
          <ac:picMkLst>
            <pc:docMk/>
            <pc:sldMk cId="2816104292" sldId="351"/>
            <ac:picMk id="5" creationId="{E320F2BF-72B9-E74F-E807-D8C22C23EDB0}"/>
          </ac:picMkLst>
        </pc:picChg>
        <pc:picChg chg="add mod">
          <ac:chgData name="Danh, Hoàng Duy" userId="3a448fcf-317f-4972-a161-06742a14d4c7" providerId="ADAL" clId="{CE1C8B88-0719-4E4A-B0E4-7DC533AE261F}" dt="2025-12-17T05:40:19.791" v="4823" actId="1076"/>
          <ac:picMkLst>
            <pc:docMk/>
            <pc:sldMk cId="2816104292" sldId="351"/>
            <ac:picMk id="6" creationId="{86E21365-8E4D-6893-2F98-19DA57DBB290}"/>
          </ac:picMkLst>
        </pc:picChg>
      </pc:sldChg>
      <pc:sldChg chg="addSp delSp modSp mod">
        <pc:chgData name="Danh, Hoàng Duy" userId="3a448fcf-317f-4972-a161-06742a14d4c7" providerId="ADAL" clId="{CE1C8B88-0719-4E4A-B0E4-7DC533AE261F}" dt="2025-12-16T09:13:34.442" v="4670" actId="1036"/>
        <pc:sldMkLst>
          <pc:docMk/>
          <pc:sldMk cId="3693037521" sldId="355"/>
        </pc:sldMkLst>
        <pc:spChg chg="add del mod">
          <ac:chgData name="Danh, Hoàng Duy" userId="3a448fcf-317f-4972-a161-06742a14d4c7" providerId="ADAL" clId="{CE1C8B88-0719-4E4A-B0E4-7DC533AE261F}" dt="2025-12-16T09:11:04.680" v="4659" actId="478"/>
          <ac:spMkLst>
            <pc:docMk/>
            <pc:sldMk cId="3693037521" sldId="355"/>
            <ac:spMk id="2" creationId="{4F059AFF-36F5-8DB3-AA25-0CBF8B1D38BD}"/>
          </ac:spMkLst>
        </pc:spChg>
        <pc:picChg chg="add mod">
          <ac:chgData name="Danh, Hoàng Duy" userId="3a448fcf-317f-4972-a161-06742a14d4c7" providerId="ADAL" clId="{CE1C8B88-0719-4E4A-B0E4-7DC533AE261F}" dt="2025-12-16T09:13:34.442" v="4670" actId="1036"/>
          <ac:picMkLst>
            <pc:docMk/>
            <pc:sldMk cId="3693037521" sldId="355"/>
            <ac:picMk id="3" creationId="{F50D2887-AA49-0CAA-58AB-F9D65D7254F1}"/>
          </ac:picMkLst>
        </pc:picChg>
        <pc:picChg chg="add del">
          <ac:chgData name="Danh, Hoàng Duy" userId="3a448fcf-317f-4972-a161-06742a14d4c7" providerId="ADAL" clId="{CE1C8B88-0719-4E4A-B0E4-7DC533AE261F}" dt="2025-12-16T09:11:28.855" v="4662" actId="478"/>
          <ac:picMkLst>
            <pc:docMk/>
            <pc:sldMk cId="3693037521" sldId="355"/>
            <ac:picMk id="5" creationId="{B2B30628-9030-20C1-74E1-07B46B2A76E8}"/>
          </ac:picMkLst>
        </pc:picChg>
      </pc:sldChg>
      <pc:sldChg chg="addSp delSp modSp mod">
        <pc:chgData name="Danh, Hoàng Duy" userId="3a448fcf-317f-4972-a161-06742a14d4c7" providerId="ADAL" clId="{CE1C8B88-0719-4E4A-B0E4-7DC533AE261F}" dt="2025-12-17T05:41:28.166" v="4835"/>
        <pc:sldMkLst>
          <pc:docMk/>
          <pc:sldMk cId="1808979813" sldId="356"/>
        </pc:sldMkLst>
        <pc:spChg chg="add del mod">
          <ac:chgData name="Danh, Hoàng Duy" userId="3a448fcf-317f-4972-a161-06742a14d4c7" providerId="ADAL" clId="{CE1C8B88-0719-4E4A-B0E4-7DC533AE261F}" dt="2025-12-17T04:19:19.101" v="4815" actId="478"/>
          <ac:spMkLst>
            <pc:docMk/>
            <pc:sldMk cId="1808979813" sldId="356"/>
            <ac:spMk id="2" creationId="{8D2B2C7A-4EAA-C499-CAB1-E1E84300D105}"/>
          </ac:spMkLst>
        </pc:spChg>
        <pc:picChg chg="add">
          <ac:chgData name="Danh, Hoàng Duy" userId="3a448fcf-317f-4972-a161-06742a14d4c7" providerId="ADAL" clId="{CE1C8B88-0719-4E4A-B0E4-7DC533AE261F}" dt="2025-12-17T05:41:28.166" v="4835"/>
          <ac:picMkLst>
            <pc:docMk/>
            <pc:sldMk cId="1808979813" sldId="356"/>
            <ac:picMk id="3" creationId="{03DEFAD8-E5B5-33CE-26F2-3054EA322430}"/>
          </ac:picMkLst>
        </pc:picChg>
        <pc:picChg chg="del">
          <ac:chgData name="Danh, Hoàng Duy" userId="3a448fcf-317f-4972-a161-06742a14d4c7" providerId="ADAL" clId="{CE1C8B88-0719-4E4A-B0E4-7DC533AE261F}" dt="2025-12-17T04:19:20.014" v="4816" actId="478"/>
          <ac:picMkLst>
            <pc:docMk/>
            <pc:sldMk cId="1808979813" sldId="356"/>
            <ac:picMk id="6" creationId="{13BE348F-6AEE-DA58-4AC8-DF1380058430}"/>
          </ac:picMkLst>
        </pc:picChg>
      </pc:sldChg>
      <pc:sldChg chg="addSp delSp modSp mod">
        <pc:chgData name="Danh, Hoàng Duy" userId="3a448fcf-317f-4972-a161-06742a14d4c7" providerId="ADAL" clId="{CE1C8B88-0719-4E4A-B0E4-7DC533AE261F}" dt="2025-12-16T09:05:48.131" v="4630" actId="1035"/>
        <pc:sldMkLst>
          <pc:docMk/>
          <pc:sldMk cId="3106691853" sldId="359"/>
        </pc:sldMkLst>
        <pc:spChg chg="add del mod">
          <ac:chgData name="Danh, Hoàng Duy" userId="3a448fcf-317f-4972-a161-06742a14d4c7" providerId="ADAL" clId="{CE1C8B88-0719-4E4A-B0E4-7DC533AE261F}" dt="2025-12-16T09:05:39.759" v="4622" actId="478"/>
          <ac:spMkLst>
            <pc:docMk/>
            <pc:sldMk cId="3106691853" sldId="359"/>
            <ac:spMk id="2" creationId="{8B88B8B1-B0C9-CDF0-4D6B-EBD64485B0B3}"/>
          </ac:spMkLst>
        </pc:spChg>
        <pc:picChg chg="del">
          <ac:chgData name="Danh, Hoàng Duy" userId="3a448fcf-317f-4972-a161-06742a14d4c7" providerId="ADAL" clId="{CE1C8B88-0719-4E4A-B0E4-7DC533AE261F}" dt="2025-12-16T09:05:41.506" v="4623" actId="478"/>
          <ac:picMkLst>
            <pc:docMk/>
            <pc:sldMk cId="3106691853" sldId="359"/>
            <ac:picMk id="3" creationId="{3276746B-CD6D-A405-4AEF-A6984E9D08FE}"/>
          </ac:picMkLst>
        </pc:picChg>
        <pc:picChg chg="add mod">
          <ac:chgData name="Danh, Hoàng Duy" userId="3a448fcf-317f-4972-a161-06742a14d4c7" providerId="ADAL" clId="{CE1C8B88-0719-4E4A-B0E4-7DC533AE261F}" dt="2025-12-16T09:05:48.131" v="4630" actId="1035"/>
          <ac:picMkLst>
            <pc:docMk/>
            <pc:sldMk cId="3106691853" sldId="359"/>
            <ac:picMk id="4" creationId="{363BF945-D386-1EAF-4A93-88CC523BAF82}"/>
          </ac:picMkLst>
        </pc:picChg>
      </pc:sldChg>
      <pc:sldChg chg="addSp delSp modSp mod">
        <pc:chgData name="Danh, Hoàng Duy" userId="3a448fcf-317f-4972-a161-06742a14d4c7" providerId="ADAL" clId="{CE1C8B88-0719-4E4A-B0E4-7DC533AE261F}" dt="2025-12-16T09:06:17.176" v="4646" actId="1036"/>
        <pc:sldMkLst>
          <pc:docMk/>
          <pc:sldMk cId="3874143046" sldId="360"/>
        </pc:sldMkLst>
        <pc:spChg chg="add del mod">
          <ac:chgData name="Danh, Hoàng Duy" userId="3a448fcf-317f-4972-a161-06742a14d4c7" providerId="ADAL" clId="{CE1C8B88-0719-4E4A-B0E4-7DC533AE261F}" dt="2025-12-16T09:05:51.588" v="4631" actId="478"/>
          <ac:spMkLst>
            <pc:docMk/>
            <pc:sldMk cId="3874143046" sldId="360"/>
            <ac:spMk id="2" creationId="{57707EB7-0D04-65EA-38CC-52DF1CFD1B01}"/>
          </ac:spMkLst>
        </pc:spChg>
        <pc:picChg chg="add mod">
          <ac:chgData name="Danh, Hoàng Duy" userId="3a448fcf-317f-4972-a161-06742a14d4c7" providerId="ADAL" clId="{CE1C8B88-0719-4E4A-B0E4-7DC533AE261F}" dt="2025-12-16T09:06:17.176" v="4646" actId="1036"/>
          <ac:picMkLst>
            <pc:docMk/>
            <pc:sldMk cId="3874143046" sldId="360"/>
            <ac:picMk id="3" creationId="{D429ECF8-BCB5-6FA8-877C-BBC1040334E5}"/>
          </ac:picMkLst>
        </pc:picChg>
        <pc:picChg chg="del">
          <ac:chgData name="Danh, Hoàng Duy" userId="3a448fcf-317f-4972-a161-06742a14d4c7" providerId="ADAL" clId="{CE1C8B88-0719-4E4A-B0E4-7DC533AE261F}" dt="2025-12-16T09:05:52.501" v="4632" actId="478"/>
          <ac:picMkLst>
            <pc:docMk/>
            <pc:sldMk cId="3874143046" sldId="360"/>
            <ac:picMk id="4" creationId="{32934BAA-48E0-3811-11C2-B158BB93289D}"/>
          </ac:picMkLst>
        </pc:picChg>
      </pc:sldChg>
      <pc:sldChg chg="addSp delSp modSp mod">
        <pc:chgData name="Danh, Hoàng Duy" userId="3a448fcf-317f-4972-a161-06742a14d4c7" providerId="ADAL" clId="{CE1C8B88-0719-4E4A-B0E4-7DC533AE261F}" dt="2025-12-16T09:14:49.409" v="4682" actId="1036"/>
        <pc:sldMkLst>
          <pc:docMk/>
          <pc:sldMk cId="2709438062" sldId="362"/>
        </pc:sldMkLst>
        <pc:spChg chg="add del mod">
          <ac:chgData name="Danh, Hoàng Duy" userId="3a448fcf-317f-4972-a161-06742a14d4c7" providerId="ADAL" clId="{CE1C8B88-0719-4E4A-B0E4-7DC533AE261F}" dt="2025-12-16T09:13:40.755" v="4671" actId="478"/>
          <ac:spMkLst>
            <pc:docMk/>
            <pc:sldMk cId="2709438062" sldId="362"/>
            <ac:spMk id="2" creationId="{6B01677E-ECF3-5693-FA9D-3B3138877974}"/>
          </ac:spMkLst>
        </pc:spChg>
        <pc:picChg chg="add del">
          <ac:chgData name="Danh, Hoàng Duy" userId="3a448fcf-317f-4972-a161-06742a14d4c7" providerId="ADAL" clId="{CE1C8B88-0719-4E4A-B0E4-7DC533AE261F}" dt="2025-12-16T09:14:45.162" v="4674" actId="478"/>
          <ac:picMkLst>
            <pc:docMk/>
            <pc:sldMk cId="2709438062" sldId="362"/>
            <ac:picMk id="3" creationId="{46D71DAF-E39D-86AC-9B38-EED4422AAE58}"/>
          </ac:picMkLst>
        </pc:picChg>
        <pc:picChg chg="add mod">
          <ac:chgData name="Danh, Hoàng Duy" userId="3a448fcf-317f-4972-a161-06742a14d4c7" providerId="ADAL" clId="{CE1C8B88-0719-4E4A-B0E4-7DC533AE261F}" dt="2025-12-16T09:14:49.409" v="4682" actId="1036"/>
          <ac:picMkLst>
            <pc:docMk/>
            <pc:sldMk cId="2709438062" sldId="362"/>
            <ac:picMk id="4" creationId="{511C9A82-35B8-0C17-F45A-541D1CF89100}"/>
          </ac:picMkLst>
        </pc:picChg>
        <pc:picChg chg="del">
          <ac:chgData name="Danh, Hoàng Duy" userId="3a448fcf-317f-4972-a161-06742a14d4c7" providerId="ADAL" clId="{CE1C8B88-0719-4E4A-B0E4-7DC533AE261F}" dt="2025-12-16T09:14:25.446" v="4672" actId="478"/>
          <ac:picMkLst>
            <pc:docMk/>
            <pc:sldMk cId="2709438062" sldId="362"/>
            <ac:picMk id="9" creationId="{A2A97F2D-BCDE-EA4A-96BD-775035E88930}"/>
          </ac:picMkLst>
        </pc:picChg>
      </pc:sldChg>
      <pc:sldChg chg="addSp delSp modSp mod">
        <pc:chgData name="Danh, Hoàng Duy" userId="3a448fcf-317f-4972-a161-06742a14d4c7" providerId="ADAL" clId="{CE1C8B88-0719-4E4A-B0E4-7DC533AE261F}" dt="2025-12-17T02:05:59.381" v="4778" actId="14100"/>
        <pc:sldMkLst>
          <pc:docMk/>
          <pc:sldMk cId="2669735492" sldId="364"/>
        </pc:sldMkLst>
        <pc:spChg chg="add del mod">
          <ac:chgData name="Danh, Hoàng Duy" userId="3a448fcf-317f-4972-a161-06742a14d4c7" providerId="ADAL" clId="{CE1C8B88-0719-4E4A-B0E4-7DC533AE261F}" dt="2025-12-17T02:05:35.930" v="4771" actId="478"/>
          <ac:spMkLst>
            <pc:docMk/>
            <pc:sldMk cId="2669735492" sldId="364"/>
            <ac:spMk id="2" creationId="{CD3CD445-66A0-B3A6-BD14-8DBA84A5061E}"/>
          </ac:spMkLst>
        </pc:spChg>
        <pc:picChg chg="add del mod">
          <ac:chgData name="Danh, Hoàng Duy" userId="3a448fcf-317f-4972-a161-06742a14d4c7" providerId="ADAL" clId="{CE1C8B88-0719-4E4A-B0E4-7DC533AE261F}" dt="2025-12-17T02:05:36.637" v="4772" actId="478"/>
          <ac:picMkLst>
            <pc:docMk/>
            <pc:sldMk cId="2669735492" sldId="364"/>
            <ac:picMk id="4" creationId="{F5BF1AEC-5B3F-D6CD-5BB5-1B15080E84AE}"/>
          </ac:picMkLst>
        </pc:picChg>
        <pc:picChg chg="add del mod">
          <ac:chgData name="Danh, Hoàng Duy" userId="3a448fcf-317f-4972-a161-06742a14d4c7" providerId="ADAL" clId="{CE1C8B88-0719-4E4A-B0E4-7DC533AE261F}" dt="2025-12-17T02:05:45.054" v="4775" actId="478"/>
          <ac:picMkLst>
            <pc:docMk/>
            <pc:sldMk cId="2669735492" sldId="364"/>
            <ac:picMk id="5" creationId="{FA333FD1-7AD7-D70B-EDBD-D8F900C3E8F5}"/>
          </ac:picMkLst>
        </pc:picChg>
        <pc:picChg chg="add mod">
          <ac:chgData name="Danh, Hoàng Duy" userId="3a448fcf-317f-4972-a161-06742a14d4c7" providerId="ADAL" clId="{CE1C8B88-0719-4E4A-B0E4-7DC533AE261F}" dt="2025-12-17T02:05:59.381" v="4778" actId="14100"/>
          <ac:picMkLst>
            <pc:docMk/>
            <pc:sldMk cId="2669735492" sldId="364"/>
            <ac:picMk id="6" creationId="{FA2773BF-9C55-29EC-5857-6C77020F75BE}"/>
          </ac:picMkLst>
        </pc:picChg>
      </pc:sldChg>
      <pc:sldChg chg="del">
        <pc:chgData name="Danh, Hoàng Duy" userId="3a448fcf-317f-4972-a161-06742a14d4c7" providerId="ADAL" clId="{CE1C8B88-0719-4E4A-B0E4-7DC533AE261F}" dt="2025-12-16T07:05:59.279" v="4285" actId="47"/>
        <pc:sldMkLst>
          <pc:docMk/>
          <pc:sldMk cId="2773036605" sldId="365"/>
        </pc:sldMkLst>
      </pc:sldChg>
      <pc:sldChg chg="del">
        <pc:chgData name="Danh, Hoàng Duy" userId="3a448fcf-317f-4972-a161-06742a14d4c7" providerId="ADAL" clId="{CE1C8B88-0719-4E4A-B0E4-7DC533AE261F}" dt="2025-12-16T07:05:59.279" v="4285" actId="47"/>
        <pc:sldMkLst>
          <pc:docMk/>
          <pc:sldMk cId="3177078034" sldId="366"/>
        </pc:sldMkLst>
      </pc:sldChg>
      <pc:sldChg chg="addSp delSp modSp mod">
        <pc:chgData name="Danh, Hoàng Duy" userId="3a448fcf-317f-4972-a161-06742a14d4c7" providerId="ADAL" clId="{CE1C8B88-0719-4E4A-B0E4-7DC533AE261F}" dt="2025-12-17T02:00:46.582" v="4759" actId="122"/>
        <pc:sldMkLst>
          <pc:docMk/>
          <pc:sldMk cId="1583724390" sldId="367"/>
        </pc:sldMkLst>
        <pc:spChg chg="add del mod">
          <ac:chgData name="Danh, Hoàng Duy" userId="3a448fcf-317f-4972-a161-06742a14d4c7" providerId="ADAL" clId="{CE1C8B88-0719-4E4A-B0E4-7DC533AE261F}" dt="2025-12-17T01:58:35.389" v="4709" actId="478"/>
          <ac:spMkLst>
            <pc:docMk/>
            <pc:sldMk cId="1583724390" sldId="367"/>
            <ac:spMk id="4" creationId="{E3103713-5120-7F4C-2DC8-73958E5FAE2D}"/>
          </ac:spMkLst>
        </pc:spChg>
        <pc:spChg chg="mod">
          <ac:chgData name="Danh, Hoàng Duy" userId="3a448fcf-317f-4972-a161-06742a14d4c7" providerId="ADAL" clId="{CE1C8B88-0719-4E4A-B0E4-7DC533AE261F}" dt="2025-12-16T08:20:27.133" v="4515" actId="20577"/>
          <ac:spMkLst>
            <pc:docMk/>
            <pc:sldMk cId="1583724390" sldId="367"/>
            <ac:spMk id="10" creationId="{C5039040-2CA4-4DB2-C986-24CD5EF3F5EF}"/>
          </ac:spMkLst>
        </pc:spChg>
        <pc:graphicFrameChg chg="modGraphic">
          <ac:chgData name="Danh, Hoàng Duy" userId="3a448fcf-317f-4972-a161-06742a14d4c7" providerId="ADAL" clId="{CE1C8B88-0719-4E4A-B0E4-7DC533AE261F}" dt="2025-12-17T01:58:32.446" v="4707" actId="20577"/>
          <ac:graphicFrameMkLst>
            <pc:docMk/>
            <pc:sldMk cId="1583724390" sldId="367"/>
            <ac:graphicFrameMk id="2" creationId="{62D2EB87-4454-DFED-AE7E-01577F63F7CC}"/>
          </ac:graphicFrameMkLst>
        </pc:graphicFrameChg>
        <pc:graphicFrameChg chg="mod modGraphic">
          <ac:chgData name="Danh, Hoàng Duy" userId="3a448fcf-317f-4972-a161-06742a14d4c7" providerId="ADAL" clId="{CE1C8B88-0719-4E4A-B0E4-7DC533AE261F}" dt="2025-12-17T02:00:46.582" v="4759" actId="122"/>
          <ac:graphicFrameMkLst>
            <pc:docMk/>
            <pc:sldMk cId="1583724390" sldId="367"/>
            <ac:graphicFrameMk id="3" creationId="{2EBB7BB0-CADD-AB4E-4E66-F0C62B85A1A6}"/>
          </ac:graphicFrameMkLst>
        </pc:graphicFrameChg>
      </pc:sldChg>
      <pc:sldChg chg="del">
        <pc:chgData name="Danh, Hoàng Duy" userId="3a448fcf-317f-4972-a161-06742a14d4c7" providerId="ADAL" clId="{CE1C8B88-0719-4E4A-B0E4-7DC533AE261F}" dt="2025-12-16T07:05:59.279" v="4285" actId="47"/>
        <pc:sldMkLst>
          <pc:docMk/>
          <pc:sldMk cId="3673531471" sldId="369"/>
        </pc:sldMkLst>
      </pc:sldChg>
      <pc:sldChg chg="addSp delSp modSp mod">
        <pc:chgData name="Danh, Hoàng Duy" userId="3a448fcf-317f-4972-a161-06742a14d4c7" providerId="ADAL" clId="{CE1C8B88-0719-4E4A-B0E4-7DC533AE261F}" dt="2025-12-17T02:01:51.436" v="4768" actId="122"/>
        <pc:sldMkLst>
          <pc:docMk/>
          <pc:sldMk cId="3848988868" sldId="372"/>
        </pc:sldMkLst>
        <pc:spChg chg="add del mod">
          <ac:chgData name="Danh, Hoàng Duy" userId="3a448fcf-317f-4972-a161-06742a14d4c7" providerId="ADAL" clId="{CE1C8B88-0719-4E4A-B0E4-7DC533AE261F}" dt="2025-12-17T02:00:57.932" v="4760" actId="478"/>
          <ac:spMkLst>
            <pc:docMk/>
            <pc:sldMk cId="3848988868" sldId="372"/>
            <ac:spMk id="2" creationId="{E181D3E0-2462-174C-6576-C255C1CE8029}"/>
          </ac:spMkLst>
        </pc:spChg>
        <pc:spChg chg="mod">
          <ac:chgData name="Danh, Hoàng Duy" userId="3a448fcf-317f-4972-a161-06742a14d4c7" providerId="ADAL" clId="{CE1C8B88-0719-4E4A-B0E4-7DC533AE261F}" dt="2025-12-16T08:20:23.565" v="4514" actId="20577"/>
          <ac:spMkLst>
            <pc:docMk/>
            <pc:sldMk cId="3848988868" sldId="372"/>
            <ac:spMk id="10" creationId="{AE809689-470C-089A-DB78-72E4FDFDB399}"/>
          </ac:spMkLst>
        </pc:spChg>
        <pc:graphicFrameChg chg="mod modGraphic">
          <ac:chgData name="Danh, Hoàng Duy" userId="3a448fcf-317f-4972-a161-06742a14d4c7" providerId="ADAL" clId="{CE1C8B88-0719-4E4A-B0E4-7DC533AE261F}" dt="2025-12-17T02:01:51.436" v="4768" actId="122"/>
          <ac:graphicFrameMkLst>
            <pc:docMk/>
            <pc:sldMk cId="3848988868" sldId="372"/>
            <ac:graphicFrameMk id="4" creationId="{72E789B4-3C60-ED46-1CE0-28250ECF6547}"/>
          </ac:graphicFrameMkLst>
        </pc:graphicFrameChg>
      </pc:sldChg>
      <pc:sldChg chg="addSp delSp modSp mod">
        <pc:chgData name="Danh, Hoàng Duy" userId="3a448fcf-317f-4972-a161-06742a14d4c7" providerId="ADAL" clId="{CE1C8B88-0719-4E4A-B0E4-7DC533AE261F}" dt="2025-12-16T09:11:00.054" v="4658" actId="1035"/>
        <pc:sldMkLst>
          <pc:docMk/>
          <pc:sldMk cId="3131429397" sldId="373"/>
        </pc:sldMkLst>
        <pc:spChg chg="add del mod">
          <ac:chgData name="Danh, Hoàng Duy" userId="3a448fcf-317f-4972-a161-06742a14d4c7" providerId="ADAL" clId="{CE1C8B88-0719-4E4A-B0E4-7DC533AE261F}" dt="2025-12-16T09:10:54.680" v="4648" actId="478"/>
          <ac:spMkLst>
            <pc:docMk/>
            <pc:sldMk cId="3131429397" sldId="373"/>
            <ac:spMk id="2" creationId="{10F32B3B-A80C-A7CC-9F69-B0980F69DE92}"/>
          </ac:spMkLst>
        </pc:spChg>
        <pc:picChg chg="del">
          <ac:chgData name="Danh, Hoàng Duy" userId="3a448fcf-317f-4972-a161-06742a14d4c7" providerId="ADAL" clId="{CE1C8B88-0719-4E4A-B0E4-7DC533AE261F}" dt="2025-12-16T09:10:53.951" v="4647" actId="478"/>
          <ac:picMkLst>
            <pc:docMk/>
            <pc:sldMk cId="3131429397" sldId="373"/>
            <ac:picMk id="3" creationId="{942FFF5B-A8EF-6539-FA7D-70794C535760}"/>
          </ac:picMkLst>
        </pc:picChg>
        <pc:picChg chg="add mod">
          <ac:chgData name="Danh, Hoàng Duy" userId="3a448fcf-317f-4972-a161-06742a14d4c7" providerId="ADAL" clId="{CE1C8B88-0719-4E4A-B0E4-7DC533AE261F}" dt="2025-12-16T09:11:00.054" v="4658" actId="1035"/>
          <ac:picMkLst>
            <pc:docMk/>
            <pc:sldMk cId="3131429397" sldId="373"/>
            <ac:picMk id="4" creationId="{0A3B600A-03BB-3631-5E5E-D9DA455122E5}"/>
          </ac:picMkLst>
        </pc:picChg>
      </pc:sldChg>
      <pc:sldChg chg="del">
        <pc:chgData name="Danh, Hoàng Duy" userId="3a448fcf-317f-4972-a161-06742a14d4c7" providerId="ADAL" clId="{CE1C8B88-0719-4E4A-B0E4-7DC533AE261F}" dt="2025-12-16T07:05:59.279" v="4285" actId="47"/>
        <pc:sldMkLst>
          <pc:docMk/>
          <pc:sldMk cId="1159591864" sldId="374"/>
        </pc:sldMkLst>
      </pc:sldChg>
      <pc:sldChg chg="addSp delSp modSp mod">
        <pc:chgData name="Danh, Hoàng Duy" userId="3a448fcf-317f-4972-a161-06742a14d4c7" providerId="ADAL" clId="{CE1C8B88-0719-4E4A-B0E4-7DC533AE261F}" dt="2025-12-16T05:46:38.741" v="3910" actId="1036"/>
        <pc:sldMkLst>
          <pc:docMk/>
          <pc:sldMk cId="3079427638" sldId="377"/>
        </pc:sldMkLst>
        <pc:spChg chg="mod">
          <ac:chgData name="Danh, Hoàng Duy" userId="3a448fcf-317f-4972-a161-06742a14d4c7" providerId="ADAL" clId="{CE1C8B88-0719-4E4A-B0E4-7DC533AE261F}" dt="2025-12-16T05:38:14.484" v="3852" actId="20577"/>
          <ac:spMkLst>
            <pc:docMk/>
            <pc:sldMk cId="3079427638" sldId="377"/>
            <ac:spMk id="2" creationId="{D7AEE103-BE30-6BC1-5184-EF084CD4B6EE}"/>
          </ac:spMkLst>
        </pc:spChg>
        <pc:picChg chg="add del mod">
          <ac:chgData name="Danh, Hoàng Duy" userId="3a448fcf-317f-4972-a161-06742a14d4c7" providerId="ADAL" clId="{CE1C8B88-0719-4E4A-B0E4-7DC533AE261F}" dt="2025-12-16T05:43:52.704" v="3864" actId="478"/>
          <ac:picMkLst>
            <pc:docMk/>
            <pc:sldMk cId="3079427638" sldId="377"/>
            <ac:picMk id="3" creationId="{AE07F576-9DA3-84C6-B463-1FB818A8E75F}"/>
          </ac:picMkLst>
        </pc:picChg>
        <pc:picChg chg="add del">
          <ac:chgData name="Danh, Hoàng Duy" userId="3a448fcf-317f-4972-a161-06742a14d4c7" providerId="ADAL" clId="{CE1C8B88-0719-4E4A-B0E4-7DC533AE261F}" dt="2025-12-16T05:44:20.267" v="3866" actId="478"/>
          <ac:picMkLst>
            <pc:docMk/>
            <pc:sldMk cId="3079427638" sldId="377"/>
            <ac:picMk id="4" creationId="{C2C4A43B-F93F-391A-EBCF-EF39A5664E35}"/>
          </ac:picMkLst>
        </pc:picChg>
        <pc:picChg chg="add del mod">
          <ac:chgData name="Danh, Hoàng Duy" userId="3a448fcf-317f-4972-a161-06742a14d4c7" providerId="ADAL" clId="{CE1C8B88-0719-4E4A-B0E4-7DC533AE261F}" dt="2025-12-16T05:44:37.372" v="3869" actId="478"/>
          <ac:picMkLst>
            <pc:docMk/>
            <pc:sldMk cId="3079427638" sldId="377"/>
            <ac:picMk id="5" creationId="{A2899E74-0DD5-06D6-EBDC-76ECC24BDDD6}"/>
          </ac:picMkLst>
        </pc:picChg>
        <pc:picChg chg="add del mod">
          <ac:chgData name="Danh, Hoàng Duy" userId="3a448fcf-317f-4972-a161-06742a14d4c7" providerId="ADAL" clId="{CE1C8B88-0719-4E4A-B0E4-7DC533AE261F}" dt="2025-12-16T05:44:54.169" v="3871" actId="478"/>
          <ac:picMkLst>
            <pc:docMk/>
            <pc:sldMk cId="3079427638" sldId="377"/>
            <ac:picMk id="6" creationId="{DABB1EAF-C806-6DE8-904B-19D0069E09D6}"/>
          </ac:picMkLst>
        </pc:picChg>
        <pc:picChg chg="add del mod">
          <ac:chgData name="Danh, Hoàng Duy" userId="3a448fcf-317f-4972-a161-06742a14d4c7" providerId="ADAL" clId="{CE1C8B88-0719-4E4A-B0E4-7DC533AE261F}" dt="2025-12-16T05:45:05.287" v="3877" actId="478"/>
          <ac:picMkLst>
            <pc:docMk/>
            <pc:sldMk cId="3079427638" sldId="377"/>
            <ac:picMk id="7" creationId="{D4F5940D-2B7E-9B5F-A8CA-D0BBBC3383EE}"/>
          </ac:picMkLst>
        </pc:picChg>
        <pc:picChg chg="del">
          <ac:chgData name="Danh, Hoàng Duy" userId="3a448fcf-317f-4972-a161-06742a14d4c7" providerId="ADAL" clId="{CE1C8B88-0719-4E4A-B0E4-7DC533AE261F}" dt="2025-12-16T05:38:05.992" v="3851" actId="478"/>
          <ac:picMkLst>
            <pc:docMk/>
            <pc:sldMk cId="3079427638" sldId="377"/>
            <ac:picMk id="8" creationId="{0E479ED7-5B97-95C4-574F-B5565207AC20}"/>
          </ac:picMkLst>
        </pc:picChg>
        <pc:picChg chg="add del mod">
          <ac:chgData name="Danh, Hoàng Duy" userId="3a448fcf-317f-4972-a161-06742a14d4c7" providerId="ADAL" clId="{CE1C8B88-0719-4E4A-B0E4-7DC533AE261F}" dt="2025-12-16T05:45:25.552" v="3880" actId="478"/>
          <ac:picMkLst>
            <pc:docMk/>
            <pc:sldMk cId="3079427638" sldId="377"/>
            <ac:picMk id="9" creationId="{2E3E565A-CD16-FB40-ADE0-D2EAEA472E12}"/>
          </ac:picMkLst>
        </pc:picChg>
        <pc:picChg chg="add del mod">
          <ac:chgData name="Danh, Hoàng Duy" userId="3a448fcf-317f-4972-a161-06742a14d4c7" providerId="ADAL" clId="{CE1C8B88-0719-4E4A-B0E4-7DC533AE261F}" dt="2025-12-16T05:45:48.638" v="3884" actId="478"/>
          <ac:picMkLst>
            <pc:docMk/>
            <pc:sldMk cId="3079427638" sldId="377"/>
            <ac:picMk id="10" creationId="{A40B31D4-1FF4-B0F4-7E6F-D2BE4E9D9CB8}"/>
          </ac:picMkLst>
        </pc:picChg>
        <pc:picChg chg="add del mod">
          <ac:chgData name="Danh, Hoàng Duy" userId="3a448fcf-317f-4972-a161-06742a14d4c7" providerId="ADAL" clId="{CE1C8B88-0719-4E4A-B0E4-7DC533AE261F}" dt="2025-12-16T05:46:11.422" v="3886" actId="478"/>
          <ac:picMkLst>
            <pc:docMk/>
            <pc:sldMk cId="3079427638" sldId="377"/>
            <ac:picMk id="11" creationId="{F4B19A8E-8663-296C-FC3C-6F0F1B7383B5}"/>
          </ac:picMkLst>
        </pc:picChg>
        <pc:picChg chg="add del mod">
          <ac:chgData name="Danh, Hoàng Duy" userId="3a448fcf-317f-4972-a161-06742a14d4c7" providerId="ADAL" clId="{CE1C8B88-0719-4E4A-B0E4-7DC533AE261F}" dt="2025-12-16T05:46:33.114" v="3898" actId="478"/>
          <ac:picMkLst>
            <pc:docMk/>
            <pc:sldMk cId="3079427638" sldId="377"/>
            <ac:picMk id="12" creationId="{458E2422-FC17-C190-78A5-048091A015FB}"/>
          </ac:picMkLst>
        </pc:picChg>
        <pc:picChg chg="add mod">
          <ac:chgData name="Danh, Hoàng Duy" userId="3a448fcf-317f-4972-a161-06742a14d4c7" providerId="ADAL" clId="{CE1C8B88-0719-4E4A-B0E4-7DC533AE261F}" dt="2025-12-16T05:46:38.741" v="3910" actId="1036"/>
          <ac:picMkLst>
            <pc:docMk/>
            <pc:sldMk cId="3079427638" sldId="377"/>
            <ac:picMk id="13" creationId="{887C80F7-6B21-25B9-00E2-EE101E25871C}"/>
          </ac:picMkLst>
        </pc:picChg>
      </pc:sldChg>
      <pc:sldChg chg="addSp delSp modSp add mod">
        <pc:chgData name="Danh, Hoàng Duy" userId="3a448fcf-317f-4972-a161-06742a14d4c7" providerId="ADAL" clId="{CE1C8B88-0719-4E4A-B0E4-7DC533AE261F}" dt="2025-12-16T09:44:33.734" v="4687" actId="1035"/>
        <pc:sldMkLst>
          <pc:docMk/>
          <pc:sldMk cId="448801002" sldId="378"/>
        </pc:sldMkLst>
        <pc:spChg chg="add del mod">
          <ac:chgData name="Danh, Hoàng Duy" userId="3a448fcf-317f-4972-a161-06742a14d4c7" providerId="ADAL" clId="{CE1C8B88-0719-4E4A-B0E4-7DC533AE261F}" dt="2025-12-16T09:44:27.164" v="4683" actId="478"/>
          <ac:spMkLst>
            <pc:docMk/>
            <pc:sldMk cId="448801002" sldId="378"/>
            <ac:spMk id="5" creationId="{A709BB62-A601-574A-0274-CF41F3D921D7}"/>
          </ac:spMkLst>
        </pc:spChg>
        <pc:picChg chg="add del mod">
          <ac:chgData name="Danh, Hoàng Duy" userId="3a448fcf-317f-4972-a161-06742a14d4c7" providerId="ADAL" clId="{CE1C8B88-0719-4E4A-B0E4-7DC533AE261F}" dt="2025-12-16T09:44:27.910" v="4684" actId="478"/>
          <ac:picMkLst>
            <pc:docMk/>
            <pc:sldMk cId="448801002" sldId="378"/>
            <ac:picMk id="4" creationId="{C5C6889D-5243-0CEC-983B-15934E3E9C47}"/>
          </ac:picMkLst>
        </pc:picChg>
        <pc:picChg chg="add mod">
          <ac:chgData name="Danh, Hoàng Duy" userId="3a448fcf-317f-4972-a161-06742a14d4c7" providerId="ADAL" clId="{CE1C8B88-0719-4E4A-B0E4-7DC533AE261F}" dt="2025-12-16T09:44:33.734" v="4687" actId="1035"/>
          <ac:picMkLst>
            <pc:docMk/>
            <pc:sldMk cId="448801002" sldId="378"/>
            <ac:picMk id="6" creationId="{A2529C3B-D9C4-EBFD-22BF-B11F8AD51F90}"/>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9361937535368107E-2"/>
          <c:y val="0.11246337674526766"/>
          <c:w val="0.96127612492926384"/>
          <c:h val="0.74706568774203819"/>
        </c:manualLayout>
      </c:layout>
      <c:barChart>
        <c:barDir val="col"/>
        <c:grouping val="clustered"/>
        <c:varyColors val="0"/>
        <c:ser>
          <c:idx val="0"/>
          <c:order val="0"/>
          <c:tx>
            <c:strRef>
              <c:f>'Vẽ-Phương'!$A$4</c:f>
              <c:strCache>
                <c:ptCount val="1"/>
                <c:pt idx="0">
                  <c:v>2024</c:v>
                </c:pt>
              </c:strCache>
            </c:strRef>
          </c:tx>
          <c:spPr>
            <a:solidFill>
              <a:srgbClr val="E2E7EE"/>
            </a:solidFill>
            <a:ln>
              <a:noFill/>
            </a:ln>
            <a:effectLst/>
          </c:spPr>
          <c:invertIfNegative val="0"/>
          <c:dLbls>
            <c:dLbl>
              <c:idx val="0"/>
              <c:layout>
                <c:manualLayout>
                  <c:x val="-5.7650963815168285E-3"/>
                  <c:y val="0.1130777360988757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312-499F-AD5E-049707D264C7}"/>
                </c:ext>
              </c:extLst>
            </c:dLbl>
            <c:dLbl>
              <c:idx val="3"/>
              <c:layout>
                <c:manualLayout>
                  <c:x val="-1.9216987938389428E-3"/>
                  <c:y val="3.990978921136784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312-499F-AD5E-049707D264C7}"/>
                </c:ext>
              </c:extLst>
            </c:dLbl>
            <c:dLbl>
              <c:idx val="7"/>
              <c:layout>
                <c:manualLayout>
                  <c:x val="0"/>
                  <c:y val="1.33032630704559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312-499F-AD5E-049707D264C7}"/>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'Vẽ-Phương'!$B$4:$M$4</c:f>
              <c:numCache>
                <c:formatCode>_(* #,##0_);_(* \(#,##0\);;_(@_)</c:formatCode>
                <c:ptCount val="12"/>
                <c:pt idx="0">
                  <c:v>95.961616735999996</c:v>
                </c:pt>
                <c:pt idx="1">
                  <c:v>68.939746995999997</c:v>
                </c:pt>
                <c:pt idx="2">
                  <c:v>92.109508133000006</c:v>
                </c:pt>
                <c:pt idx="3">
                  <c:v>97.489092893999995</c:v>
                </c:pt>
                <c:pt idx="4">
                  <c:v>102.364998344</c:v>
                </c:pt>
                <c:pt idx="5">
                  <c:v>68.093170108999999</c:v>
                </c:pt>
                <c:pt idx="6">
                  <c:v>56.451269691999997</c:v>
                </c:pt>
                <c:pt idx="7">
                  <c:v>154.02786817200001</c:v>
                </c:pt>
                <c:pt idx="8">
                  <c:v>156.829896725</c:v>
                </c:pt>
                <c:pt idx="9">
                  <c:v>116.81259874600001</c:v>
                </c:pt>
                <c:pt idx="10">
                  <c:v>76.126139834</c:v>
                </c:pt>
                <c:pt idx="11">
                  <c:v>106.21008868</c:v>
                </c:pt>
              </c:numCache>
            </c:numRef>
          </c:val>
          <c:extLst>
            <c:ext xmlns:c16="http://schemas.microsoft.com/office/drawing/2014/chart" uri="{C3380CC4-5D6E-409C-BE32-E72D297353CC}">
              <c16:uniqueId val="{00000000-5E7F-465E-B3B0-F50084385C9C}"/>
            </c:ext>
          </c:extLst>
        </c:ser>
        <c:ser>
          <c:idx val="1"/>
          <c:order val="1"/>
          <c:tx>
            <c:strRef>
              <c:f>'Vẽ-Phương'!$A$5</c:f>
              <c:strCache>
                <c:ptCount val="1"/>
                <c:pt idx="0">
                  <c:v>2025</c:v>
                </c:pt>
              </c:strCache>
            </c:strRef>
          </c:tx>
          <c:spPr>
            <a:solidFill>
              <a:srgbClr val="74E9AD"/>
            </a:solidFill>
            <a:ln>
              <a:noFill/>
            </a:ln>
            <a:effectLst/>
          </c:spPr>
          <c:invertIfNegative val="0"/>
          <c:dPt>
            <c:idx val="5"/>
            <c:invertIfNegative val="0"/>
            <c:bubble3D val="0"/>
            <c:spPr>
              <a:solidFill>
                <a:srgbClr val="74E9AD"/>
              </a:solidFill>
              <a:ln>
                <a:noFill/>
              </a:ln>
              <a:effectLst/>
            </c:spPr>
            <c:extLst>
              <c:ext xmlns:c16="http://schemas.microsoft.com/office/drawing/2014/chart" uri="{C3380CC4-5D6E-409C-BE32-E72D297353CC}">
                <c16:uniqueId val="{00000004-5E0B-47D6-BAFD-C9F83DD2DA56}"/>
              </c:ext>
            </c:extLst>
          </c:dPt>
          <c:dPt>
            <c:idx val="6"/>
            <c:invertIfNegative val="0"/>
            <c:bubble3D val="0"/>
            <c:spPr>
              <a:solidFill>
                <a:srgbClr val="74E9AD"/>
              </a:solidFill>
              <a:ln>
                <a:noFill/>
              </a:ln>
              <a:effectLst/>
            </c:spPr>
            <c:extLst>
              <c:ext xmlns:c16="http://schemas.microsoft.com/office/drawing/2014/chart" uri="{C3380CC4-5D6E-409C-BE32-E72D297353CC}">
                <c16:uniqueId val="{00000001-5E0B-47D6-BAFD-C9F83DD2DA56}"/>
              </c:ext>
            </c:extLst>
          </c:dPt>
          <c:dPt>
            <c:idx val="7"/>
            <c:invertIfNegative val="0"/>
            <c:bubble3D val="0"/>
            <c:spPr>
              <a:solidFill>
                <a:srgbClr val="74E9AD"/>
              </a:solidFill>
              <a:ln>
                <a:noFill/>
              </a:ln>
              <a:effectLst/>
            </c:spPr>
            <c:extLst>
              <c:ext xmlns:c16="http://schemas.microsoft.com/office/drawing/2014/chart" uri="{C3380CC4-5D6E-409C-BE32-E72D297353CC}">
                <c16:uniqueId val="{00000005-5E0B-47D6-BAFD-C9F83DD2DA56}"/>
              </c:ext>
            </c:extLst>
          </c:dPt>
          <c:dPt>
            <c:idx val="8"/>
            <c:invertIfNegative val="0"/>
            <c:bubble3D val="0"/>
            <c:spPr>
              <a:solidFill>
                <a:srgbClr val="74E9AD"/>
              </a:solidFill>
              <a:ln>
                <a:noFill/>
              </a:ln>
              <a:effectLst/>
            </c:spPr>
            <c:extLst>
              <c:ext xmlns:c16="http://schemas.microsoft.com/office/drawing/2014/chart" uri="{C3380CC4-5D6E-409C-BE32-E72D297353CC}">
                <c16:uniqueId val="{00000006-5E0B-47D6-BAFD-C9F83DD2DA56}"/>
              </c:ext>
            </c:extLst>
          </c:dPt>
          <c:dPt>
            <c:idx val="9"/>
            <c:invertIfNegative val="0"/>
            <c:bubble3D val="0"/>
            <c:spPr>
              <a:solidFill>
                <a:srgbClr val="74E9AD"/>
              </a:solidFill>
              <a:ln>
                <a:noFill/>
              </a:ln>
              <a:effectLst/>
            </c:spPr>
            <c:extLst>
              <c:ext xmlns:c16="http://schemas.microsoft.com/office/drawing/2014/chart" uri="{C3380CC4-5D6E-409C-BE32-E72D297353CC}">
                <c16:uniqueId val="{00000007-5E0B-47D6-BAFD-C9F83DD2DA56}"/>
              </c:ext>
            </c:extLst>
          </c:dPt>
          <c:dPt>
            <c:idx val="10"/>
            <c:invertIfNegative val="0"/>
            <c:bubble3D val="0"/>
            <c:spPr>
              <a:solidFill>
                <a:srgbClr val="74E9AD"/>
              </a:solidFill>
              <a:ln>
                <a:noFill/>
              </a:ln>
              <a:effectLst/>
            </c:spPr>
            <c:extLst>
              <c:ext xmlns:c16="http://schemas.microsoft.com/office/drawing/2014/chart" uri="{C3380CC4-5D6E-409C-BE32-E72D297353CC}">
                <c16:uniqueId val="{00000008-5E0B-47D6-BAFD-C9F83DD2DA56}"/>
              </c:ext>
            </c:extLst>
          </c:dPt>
          <c:dPt>
            <c:idx val="11"/>
            <c:invertIfNegative val="0"/>
            <c:bubble3D val="0"/>
            <c:spPr>
              <a:solidFill>
                <a:srgbClr val="CAF6DF"/>
              </a:solidFill>
              <a:ln>
                <a:noFill/>
              </a:ln>
              <a:effectLst/>
            </c:spPr>
            <c:extLst>
              <c:ext xmlns:c16="http://schemas.microsoft.com/office/drawing/2014/chart" uri="{C3380CC4-5D6E-409C-BE32-E72D297353CC}">
                <c16:uniqueId val="{00000009-5E0B-47D6-BAFD-C9F83DD2DA56}"/>
              </c:ext>
            </c:extLst>
          </c:dPt>
          <c:dLbls>
            <c:dLbl>
              <c:idx val="3"/>
              <c:layout>
                <c:manualLayout>
                  <c:x val="-1.9216987938389428E-3"/>
                  <c:y val="0.11307773609887571"/>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3A8-4656-84F3-1B87E60153DB}"/>
                </c:ext>
              </c:extLst>
            </c:dLbl>
            <c:dLbl>
              <c:idx val="4"/>
              <c:layout>
                <c:manualLayout>
                  <c:x val="0"/>
                  <c:y val="6.65163153522798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312-499F-AD5E-049707D264C7}"/>
                </c:ext>
              </c:extLst>
            </c:dLbl>
            <c:dLbl>
              <c:idx val="6"/>
              <c:layout>
                <c:manualLayout>
                  <c:x val="0"/>
                  <c:y val="1.99548946056838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0B-47D6-BAFD-C9F83DD2DA56}"/>
                </c:ext>
              </c:extLst>
            </c:dLbl>
            <c:dLbl>
              <c:idx val="7"/>
              <c:layout>
                <c:manualLayout>
                  <c:x val="1.7295289144550415E-2"/>
                  <c:y val="6.651631535228013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E0B-47D6-BAFD-C9F83DD2DA56}"/>
                </c:ext>
              </c:extLst>
            </c:dLbl>
            <c:dLbl>
              <c:idx val="8"/>
              <c:layout>
                <c:manualLayout>
                  <c:x val="5.7650963815168285E-3"/>
                  <c:y val="1.33032630704559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E0B-47D6-BAFD-C9F83DD2DA56}"/>
                </c:ext>
              </c:extLst>
            </c:dLbl>
            <c:dLbl>
              <c:idx val="10"/>
              <c:layout>
                <c:manualLayout>
                  <c:x val="1.9216987938389428E-3"/>
                  <c:y val="1.4818473309149965E-2"/>
                </c:manualLayout>
              </c:layout>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rgbClr val="119303"/>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E0B-47D6-BAFD-C9F83DD2DA56}"/>
                </c:ext>
              </c:extLst>
            </c:dLbl>
            <c:dLbl>
              <c:idx val="11"/>
              <c:layout>
                <c:manualLayout>
                  <c:x val="9.608493969194715E-3"/>
                  <c:y val="-1.99548946056839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5E0B-47D6-BAFD-C9F83DD2DA56}"/>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'Vẽ-Phương'!$B$5:$M$5</c:f>
              <c:numCache>
                <c:formatCode>_(* #,##0_);_(* \(#,##0\);;_(@_)</c:formatCode>
                <c:ptCount val="12"/>
                <c:pt idx="0">
                  <c:v>114.46251040200001</c:v>
                </c:pt>
                <c:pt idx="1">
                  <c:v>187.999461059</c:v>
                </c:pt>
                <c:pt idx="2">
                  <c:v>150.25333268</c:v>
                </c:pt>
                <c:pt idx="3">
                  <c:v>125.42964985499999</c:v>
                </c:pt>
                <c:pt idx="4">
                  <c:v>152.06714285207406</c:v>
                </c:pt>
                <c:pt idx="5">
                  <c:v>119.13467279699999</c:v>
                </c:pt>
                <c:pt idx="6">
                  <c:v>137.99140689800001</c:v>
                </c:pt>
                <c:pt idx="7">
                  <c:v>168.44265338299999</c:v>
                </c:pt>
                <c:pt idx="8">
                  <c:v>84.710435067000006</c:v>
                </c:pt>
                <c:pt idx="9">
                  <c:v>108.92855666</c:v>
                </c:pt>
                <c:pt idx="10">
                  <c:v>88.347880802000006</c:v>
                </c:pt>
              </c:numCache>
            </c:numRef>
          </c:val>
          <c:extLst>
            <c:ext xmlns:c16="http://schemas.microsoft.com/office/drawing/2014/chart" uri="{C3380CC4-5D6E-409C-BE32-E72D297353CC}">
              <c16:uniqueId val="{00000001-5E7F-465E-B3B0-F50084385C9C}"/>
            </c:ext>
          </c:extLst>
        </c:ser>
        <c:dLbls>
          <c:showLegendKey val="0"/>
          <c:showVal val="0"/>
          <c:showCatName val="0"/>
          <c:showSerName val="0"/>
          <c:showPercent val="0"/>
          <c:showBubbleSize val="0"/>
        </c:dLbls>
        <c:gapWidth val="80"/>
        <c:axId val="1274894383"/>
        <c:axId val="1274880463"/>
      </c:barChart>
      <c:barChart>
        <c:barDir val="col"/>
        <c:grouping val="clustered"/>
        <c:varyColors val="0"/>
        <c:dLbls>
          <c:showLegendKey val="0"/>
          <c:showVal val="0"/>
          <c:showCatName val="0"/>
          <c:showSerName val="0"/>
          <c:showPercent val="0"/>
          <c:showBubbleSize val="0"/>
        </c:dLbls>
        <c:gapWidth val="150"/>
        <c:axId val="1296630255"/>
        <c:axId val="1296632655"/>
        <c:extLst>
          <c:ext xmlns:c15="http://schemas.microsoft.com/office/drawing/2012/chart" uri="{02D57815-91ED-43cb-92C2-25804820EDAC}">
            <c15:filteredBarSeries>
              <c15:ser>
                <c:idx val="3"/>
                <c:order val="3"/>
                <c:tx>
                  <c:strRef>
                    <c:extLst>
                      <c:ext uri="{02D57815-91ED-43cb-92C2-25804820EDAC}">
                        <c15:formulaRef>
                          <c15:sqref>'Vẽ-Phương'!$A$6</c15:sqref>
                        </c15:formulaRef>
                      </c:ext>
                    </c:extLst>
                    <c:strCache>
                      <c:ptCount val="1"/>
                      <c:pt idx="0">
                        <c:v>Dự báo</c:v>
                      </c:pt>
                    </c:strCache>
                  </c:strRef>
                </c:tx>
                <c:spPr>
                  <a:solidFill>
                    <a:srgbClr val="CAF6DF"/>
                  </a:solidFill>
                  <a:ln>
                    <a:noFill/>
                  </a:ln>
                  <a:effectLst/>
                </c:spPr>
                <c:invertIfNegative val="0"/>
                <c:val>
                  <c:numRef>
                    <c:extLst>
                      <c:ext uri="{02D57815-91ED-43cb-92C2-25804820EDAC}">
                        <c15:formulaRef>
                          <c15:sqref>'Vẽ-Phương'!$B$6:$M$6</c15:sqref>
                        </c15:formulaRef>
                      </c:ext>
                    </c:extLst>
                    <c:numCache>
                      <c:formatCode>General</c:formatCode>
                      <c:ptCount val="12"/>
                    </c:numCache>
                  </c:numRef>
                </c:val>
                <c:extLst>
                  <c:ext xmlns:c16="http://schemas.microsoft.com/office/drawing/2014/chart" uri="{C3380CC4-5D6E-409C-BE32-E72D297353CC}">
                    <c16:uniqueId val="{0000000E-4565-4E12-8476-9225D9072204}"/>
                  </c:ext>
                </c:extLst>
              </c15:ser>
            </c15:filteredBarSeries>
          </c:ext>
        </c:extLst>
      </c:barChart>
      <c:lineChart>
        <c:grouping val="standard"/>
        <c:varyColors val="0"/>
        <c:ser>
          <c:idx val="2"/>
          <c:order val="2"/>
          <c:tx>
            <c:strRef>
              <c:f>'Vẽ-Phương'!$A$7</c:f>
              <c:strCache>
                <c:ptCount val="1"/>
                <c:pt idx="0">
                  <c:v>Chỉ tiêu</c:v>
                </c:pt>
              </c:strCache>
            </c:strRef>
          </c:tx>
          <c:spPr>
            <a:ln w="25400" cap="rnd">
              <a:solidFill>
                <a:srgbClr val="FF0000"/>
              </a:solidFill>
              <a:round/>
            </a:ln>
            <a:effectLst/>
          </c:spPr>
          <c:marker>
            <c:symbol val="none"/>
          </c:marker>
          <c:dLbls>
            <c:spPr>
              <a:solidFill>
                <a:sysClr val="window" lastClr="FFFFFF"/>
              </a:solidFill>
              <a:ln w="19050" cap="flat" cmpd="sng" algn="ctr">
                <a:solidFill>
                  <a:srgbClr val="FF0000"/>
                </a:solidFill>
                <a:prstDash val="solid"/>
                <a:miter lim="800000"/>
              </a:ln>
              <a:effectLst/>
            </c:spPr>
            <c:txPr>
              <a:bodyPr rot="0" spcFirstLastPara="1" vertOverflow="ellipsis" vert="horz" wrap="square" lIns="38100" tIns="19050" rIns="38100" bIns="19050" anchor="ctr" anchorCtr="1">
                <a:spAutoFit/>
              </a:bodyPr>
              <a:lstStyle/>
              <a:p>
                <a:pPr>
                  <a:defRPr sz="700" b="0"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'Vẽ-Phương'!$B$7:$M$7</c:f>
              <c:numCache>
                <c:formatCode>_(* #,##0_);_(* \(#,##0\);;_(@_)</c:formatCode>
                <c:ptCount val="12"/>
                <c:pt idx="0">
                  <c:v>100.82736149999999</c:v>
                </c:pt>
                <c:pt idx="1">
                  <c:v>122.6135349</c:v>
                </c:pt>
                <c:pt idx="2">
                  <c:v>119.5121884</c:v>
                </c:pt>
                <c:pt idx="3">
                  <c:v>131.18180140000001</c:v>
                </c:pt>
                <c:pt idx="4">
                  <c:v>173.33944439999999</c:v>
                </c:pt>
                <c:pt idx="5">
                  <c:v>166.0967229</c:v>
                </c:pt>
                <c:pt idx="6">
                  <c:v>190.7998489</c:v>
                </c:pt>
                <c:pt idx="7">
                  <c:v>189.65059489999999</c:v>
                </c:pt>
                <c:pt idx="8">
                  <c:v>224.39440690000001</c:v>
                </c:pt>
                <c:pt idx="9">
                  <c:v>228.41204289999999</c:v>
                </c:pt>
                <c:pt idx="10">
                  <c:v>209.26195250000001</c:v>
                </c:pt>
                <c:pt idx="11">
                  <c:v>207.8622039</c:v>
                </c:pt>
              </c:numCache>
            </c:numRef>
          </c:val>
          <c:smooth val="0"/>
          <c:extLst>
            <c:ext xmlns:c16="http://schemas.microsoft.com/office/drawing/2014/chart" uri="{C3380CC4-5D6E-409C-BE32-E72D297353CC}">
              <c16:uniqueId val="{00000002-5E7F-465E-B3B0-F50084385C9C}"/>
            </c:ext>
          </c:extLst>
        </c:ser>
        <c:dLbls>
          <c:showLegendKey val="0"/>
          <c:showVal val="0"/>
          <c:showCatName val="0"/>
          <c:showSerName val="0"/>
          <c:showPercent val="0"/>
          <c:showBubbleSize val="0"/>
        </c:dLbls>
        <c:marker val="1"/>
        <c:smooth val="0"/>
        <c:axId val="1274894383"/>
        <c:axId val="1274880463"/>
      </c:lineChart>
      <c:catAx>
        <c:axId val="127489438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880463"/>
        <c:crosses val="autoZero"/>
        <c:auto val="1"/>
        <c:lblAlgn val="ctr"/>
        <c:lblOffset val="100"/>
        <c:noMultiLvlLbl val="0"/>
      </c:catAx>
      <c:valAx>
        <c:axId val="1274880463"/>
        <c:scaling>
          <c:orientation val="minMax"/>
        </c:scaling>
        <c:delete val="0"/>
        <c:axPos val="l"/>
        <c:numFmt formatCode="_(* #,##0_);_(* \(#,##0\);;_(@_)"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894383"/>
        <c:crosses val="autoZero"/>
        <c:crossBetween val="between"/>
      </c:valAx>
      <c:valAx>
        <c:axId val="1296632655"/>
        <c:scaling>
          <c:orientation val="minMax"/>
        </c:scaling>
        <c:delete val="0"/>
        <c:axPos val="r"/>
        <c:numFmt formatCode="_(* #,##0_);_(* \(#,##0\);;_(@_)" sourceLinked="1"/>
        <c:majorTickMark val="out"/>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6630255"/>
        <c:crosses val="max"/>
        <c:crossBetween val="between"/>
      </c:valAx>
      <c:catAx>
        <c:axId val="1296630255"/>
        <c:scaling>
          <c:orientation val="minMax"/>
        </c:scaling>
        <c:delete val="1"/>
        <c:axPos val="b"/>
        <c:majorTickMark val="out"/>
        <c:minorTickMark val="none"/>
        <c:tickLblPos val="nextTo"/>
        <c:crossAx val="1296632655"/>
        <c:crosses val="autoZero"/>
        <c:auto val="1"/>
        <c:lblAlgn val="ctr"/>
        <c:lblOffset val="100"/>
        <c:noMultiLvlLbl val="0"/>
      </c:catAx>
      <c:spPr>
        <a:noFill/>
        <a:ln>
          <a:noFill/>
        </a:ln>
        <a:effectLst/>
      </c:spPr>
    </c:plotArea>
    <c:legend>
      <c:legendPos val="b"/>
      <c:layout>
        <c:manualLayout>
          <c:xMode val="edge"/>
          <c:yMode val="edge"/>
          <c:x val="1.0404410162548235E-3"/>
          <c:y val="2.7729406420351245E-2"/>
          <c:w val="0.40573673997569276"/>
          <c:h val="0.1042132586395266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44959641299032E-4"/>
          <c:y val="0.19893458670323144"/>
          <c:w val="0.99971008071740197"/>
          <c:h val="0.68054937238975821"/>
        </c:manualLayout>
      </c:layout>
      <c:barChart>
        <c:barDir val="col"/>
        <c:grouping val="clustered"/>
        <c:varyColors val="0"/>
        <c:ser>
          <c:idx val="0"/>
          <c:order val="0"/>
          <c:tx>
            <c:strRef>
              <c:f>'Vẽ-Phương'!$A$4</c:f>
              <c:strCache>
                <c:ptCount val="1"/>
                <c:pt idx="0">
                  <c:v>2024</c:v>
                </c:pt>
              </c:strCache>
            </c:strRef>
          </c:tx>
          <c:spPr>
            <a:solidFill>
              <a:srgbClr val="E2E7EE"/>
            </a:solidFill>
            <a:ln>
              <a:noFill/>
            </a:ln>
            <a:effectLst/>
          </c:spPr>
          <c:invertIfNegative val="0"/>
          <c:dLbls>
            <c:dLbl>
              <c:idx val="1"/>
              <c:layout>
                <c:manualLayout>
                  <c:x val="-7.6867951753557713E-3"/>
                  <c:y val="-2.660652614091205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78CF-4721-816B-6F88288B46A3}"/>
                </c:ext>
              </c:extLst>
            </c:dLbl>
            <c:dLbl>
              <c:idx val="2"/>
              <c:layout>
                <c:manualLayout>
                  <c:x val="-1.9216987938389782E-3"/>
                  <c:y val="-3.990978921136802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8CF-4721-816B-6F88288B46A3}"/>
                </c:ext>
              </c:extLst>
            </c:dLbl>
            <c:dLbl>
              <c:idx val="3"/>
              <c:layout>
                <c:manualLayout>
                  <c:x val="-9.6084939691947497E-3"/>
                  <c:y val="9.31228414931916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8CF-4721-816B-6F88288B46A3}"/>
                </c:ext>
              </c:extLst>
            </c:dLbl>
            <c:dLbl>
              <c:idx val="4"/>
              <c:layout>
                <c:manualLayout>
                  <c:x val="1.9216987938388724E-3"/>
                  <c:y val="9.31228414931916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78CF-4721-816B-6F88288B46A3}"/>
                </c:ext>
              </c:extLst>
            </c:dLbl>
            <c:dLbl>
              <c:idx val="5"/>
              <c:layout>
                <c:manualLayout>
                  <c:x val="-1.9216987938390133E-3"/>
                  <c:y val="6.651631535227983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78CF-4721-816B-6F88288B46A3}"/>
                </c:ext>
              </c:extLst>
            </c:dLbl>
            <c:dLbl>
              <c:idx val="6"/>
              <c:layout>
                <c:manualLayout>
                  <c:x val="-7.6867951753558416E-3"/>
                  <c:y val="4.65614207465958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8CF-4721-816B-6F88288B46A3}"/>
                </c:ext>
              </c:extLst>
            </c:dLbl>
            <c:dLbl>
              <c:idx val="7"/>
              <c:layout>
                <c:manualLayout>
                  <c:x val="1.9216987938388724E-3"/>
                  <c:y val="7.981957842273568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78CF-4721-816B-6F88288B46A3}"/>
                </c:ext>
              </c:extLst>
            </c:dLbl>
            <c:dLbl>
              <c:idx val="8"/>
              <c:layout>
                <c:manualLayout>
                  <c:x val="-1.9216987938389428E-3"/>
                  <c:y val="5.32130522818238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9FC-49B1-9E2A-6F8ADAB87AD5}"/>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'Vẽ-Phương'!$B$4:$M$4</c:f>
              <c:numCache>
                <c:formatCode>_(* #,##0_);_(* \(#,##0\);_(* "-"??_);_(@_)</c:formatCode>
                <c:ptCount val="12"/>
                <c:pt idx="0">
                  <c:v>95.961616735999996</c:v>
                </c:pt>
                <c:pt idx="1">
                  <c:v>164.90136373199999</c:v>
                </c:pt>
                <c:pt idx="2">
                  <c:v>257.01087186500001</c:v>
                </c:pt>
                <c:pt idx="3">
                  <c:v>354.49996475900002</c:v>
                </c:pt>
                <c:pt idx="4">
                  <c:v>456.86496310300004</c:v>
                </c:pt>
                <c:pt idx="5">
                  <c:v>524.95813321200001</c:v>
                </c:pt>
                <c:pt idx="6">
                  <c:v>581.40940290399999</c:v>
                </c:pt>
                <c:pt idx="7">
                  <c:v>735.437271076</c:v>
                </c:pt>
                <c:pt idx="8">
                  <c:v>892.26716780100003</c:v>
                </c:pt>
                <c:pt idx="9">
                  <c:v>1009.0797665470001</c:v>
                </c:pt>
                <c:pt idx="10">
                  <c:v>1085.205906381</c:v>
                </c:pt>
                <c:pt idx="11">
                  <c:v>1191.4159950609999</c:v>
                </c:pt>
              </c:numCache>
            </c:numRef>
          </c:val>
          <c:extLst>
            <c:ext xmlns:c16="http://schemas.microsoft.com/office/drawing/2014/chart" uri="{C3380CC4-5D6E-409C-BE32-E72D297353CC}">
              <c16:uniqueId val="{00000000-E9FC-49B1-9E2A-6F8ADAB87AD5}"/>
            </c:ext>
          </c:extLst>
        </c:ser>
        <c:ser>
          <c:idx val="1"/>
          <c:order val="1"/>
          <c:tx>
            <c:strRef>
              <c:f>'Vẽ-Phương'!$A$5</c:f>
              <c:strCache>
                <c:ptCount val="1"/>
                <c:pt idx="0">
                  <c:v>2025</c:v>
                </c:pt>
              </c:strCache>
            </c:strRef>
          </c:tx>
          <c:spPr>
            <a:solidFill>
              <a:srgbClr val="74E9AD"/>
            </a:solidFill>
            <a:ln>
              <a:noFill/>
            </a:ln>
            <a:effectLst/>
          </c:spPr>
          <c:invertIfNegative val="0"/>
          <c:dPt>
            <c:idx val="5"/>
            <c:invertIfNegative val="0"/>
            <c:bubble3D val="0"/>
            <c:spPr>
              <a:solidFill>
                <a:srgbClr val="74E9AD"/>
              </a:solidFill>
              <a:ln>
                <a:noFill/>
              </a:ln>
              <a:effectLst/>
            </c:spPr>
            <c:extLst>
              <c:ext xmlns:c16="http://schemas.microsoft.com/office/drawing/2014/chart" uri="{C3380CC4-5D6E-409C-BE32-E72D297353CC}">
                <c16:uniqueId val="{00000000-F254-4B67-B167-FFF9E994D945}"/>
              </c:ext>
            </c:extLst>
          </c:dPt>
          <c:dPt>
            <c:idx val="6"/>
            <c:invertIfNegative val="0"/>
            <c:bubble3D val="0"/>
            <c:spPr>
              <a:solidFill>
                <a:srgbClr val="74E9AD"/>
              </a:solidFill>
              <a:ln>
                <a:noFill/>
              </a:ln>
              <a:effectLst/>
            </c:spPr>
            <c:extLst>
              <c:ext xmlns:c16="http://schemas.microsoft.com/office/drawing/2014/chart" uri="{C3380CC4-5D6E-409C-BE32-E72D297353CC}">
                <c16:uniqueId val="{00000001-F254-4B67-B167-FFF9E994D945}"/>
              </c:ext>
            </c:extLst>
          </c:dPt>
          <c:dPt>
            <c:idx val="7"/>
            <c:invertIfNegative val="0"/>
            <c:bubble3D val="0"/>
            <c:spPr>
              <a:solidFill>
                <a:srgbClr val="74E9AD"/>
              </a:solidFill>
              <a:ln>
                <a:noFill/>
              </a:ln>
              <a:effectLst/>
            </c:spPr>
            <c:extLst>
              <c:ext xmlns:c16="http://schemas.microsoft.com/office/drawing/2014/chart" uri="{C3380CC4-5D6E-409C-BE32-E72D297353CC}">
                <c16:uniqueId val="{00000002-F254-4B67-B167-FFF9E994D945}"/>
              </c:ext>
            </c:extLst>
          </c:dPt>
          <c:dPt>
            <c:idx val="8"/>
            <c:invertIfNegative val="0"/>
            <c:bubble3D val="0"/>
            <c:spPr>
              <a:solidFill>
                <a:srgbClr val="74E9AD"/>
              </a:solidFill>
              <a:ln>
                <a:noFill/>
              </a:ln>
              <a:effectLst/>
            </c:spPr>
            <c:extLst>
              <c:ext xmlns:c16="http://schemas.microsoft.com/office/drawing/2014/chart" uri="{C3380CC4-5D6E-409C-BE32-E72D297353CC}">
                <c16:uniqueId val="{00000003-F254-4B67-B167-FFF9E994D945}"/>
              </c:ext>
            </c:extLst>
          </c:dPt>
          <c:dPt>
            <c:idx val="9"/>
            <c:invertIfNegative val="0"/>
            <c:bubble3D val="0"/>
            <c:spPr>
              <a:solidFill>
                <a:srgbClr val="74E9AD"/>
              </a:solidFill>
              <a:ln>
                <a:noFill/>
              </a:ln>
              <a:effectLst/>
            </c:spPr>
            <c:extLst>
              <c:ext xmlns:c16="http://schemas.microsoft.com/office/drawing/2014/chart" uri="{C3380CC4-5D6E-409C-BE32-E72D297353CC}">
                <c16:uniqueId val="{00000005-F254-4B67-B167-FFF9E994D945}"/>
              </c:ext>
            </c:extLst>
          </c:dPt>
          <c:dPt>
            <c:idx val="10"/>
            <c:invertIfNegative val="0"/>
            <c:bubble3D val="0"/>
            <c:spPr>
              <a:solidFill>
                <a:srgbClr val="74E9AD"/>
              </a:solidFill>
              <a:ln>
                <a:noFill/>
              </a:ln>
              <a:effectLst/>
            </c:spPr>
            <c:extLst>
              <c:ext xmlns:c16="http://schemas.microsoft.com/office/drawing/2014/chart" uri="{C3380CC4-5D6E-409C-BE32-E72D297353CC}">
                <c16:uniqueId val="{00000006-F254-4B67-B167-FFF9E994D945}"/>
              </c:ext>
            </c:extLst>
          </c:dPt>
          <c:dPt>
            <c:idx val="11"/>
            <c:invertIfNegative val="0"/>
            <c:bubble3D val="0"/>
            <c:spPr>
              <a:solidFill>
                <a:srgbClr val="CAF6DF"/>
              </a:solidFill>
              <a:ln>
                <a:noFill/>
              </a:ln>
              <a:effectLst/>
            </c:spPr>
            <c:extLst>
              <c:ext xmlns:c16="http://schemas.microsoft.com/office/drawing/2014/chart" uri="{C3380CC4-5D6E-409C-BE32-E72D297353CC}">
                <c16:uniqueId val="{00000007-F254-4B67-B167-FFF9E994D945}"/>
              </c:ext>
            </c:extLst>
          </c:dPt>
          <c:dLbls>
            <c:dLbl>
              <c:idx val="3"/>
              <c:spPr>
                <a:noFill/>
                <a:ln>
                  <a:noFill/>
                </a:ln>
                <a:effectLst/>
              </c:spPr>
              <c:txPr>
                <a:bodyPr rot="0" spcFirstLastPara="1" vertOverflow="ellipsis" vert="horz" wrap="square" lIns="38100" tIns="19050" rIns="38100" bIns="19050" anchor="ctr" anchorCtr="0">
                  <a:spAutoFit/>
                </a:bodyPr>
                <a:lstStyle/>
                <a:p>
                  <a:pPr algn="ctr" rtl="0">
                    <a:defRPr lang="en-US"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0-0A93-48C0-B60B-494698818C8D}"/>
                </c:ext>
              </c:extLst>
            </c:dLbl>
            <c:dLbl>
              <c:idx val="4"/>
              <c:spPr>
                <a:noFill/>
                <a:ln>
                  <a:noFill/>
                </a:ln>
                <a:effectLst/>
              </c:spPr>
              <c:txPr>
                <a:bodyPr rot="0" spcFirstLastPara="1" vertOverflow="ellipsis" vert="horz" wrap="square" lIns="38100" tIns="19050" rIns="38100" bIns="19050" anchor="ctr" anchorCtr="0">
                  <a:spAutoFit/>
                </a:bodyPr>
                <a:lstStyle/>
                <a:p>
                  <a:pPr algn="ctr" rtl="0">
                    <a:defRPr lang="en-US"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0-A47A-4EED-AEE9-4740BF362757}"/>
                </c:ext>
              </c:extLst>
            </c:dLbl>
            <c:dLbl>
              <c:idx val="6"/>
              <c:layout>
                <c:manualLayout>
                  <c:x val="1.9216987938389428E-3"/>
                  <c:y val="-1.33032630704559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254-4B67-B167-FFF9E994D945}"/>
                </c:ext>
              </c:extLst>
            </c:dLbl>
            <c:dLbl>
              <c:idx val="7"/>
              <c:layout>
                <c:manualLayout>
                  <c:x val="-7.0461475130454491E-17"/>
                  <c:y val="-1.995489460568395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254-4B67-B167-FFF9E994D945}"/>
                </c:ext>
              </c:extLst>
            </c:dLbl>
            <c:dLbl>
              <c:idx val="8"/>
              <c:layout>
                <c:manualLayout>
                  <c:x val="-1.1530192763033657E-2"/>
                  <c:y val="-5.32130522818238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254-4B67-B167-FFF9E994D945}"/>
                </c:ext>
              </c:extLst>
            </c:dLbl>
            <c:dLbl>
              <c:idx val="9"/>
              <c:layout>
                <c:manualLayout>
                  <c:x val="0"/>
                  <c:y val="5.3213052281823867E-2"/>
                </c:manualLayout>
              </c:layout>
              <c:spPr>
                <a:noFill/>
                <a:ln>
                  <a:noFill/>
                </a:ln>
                <a:effectLst/>
              </c:spPr>
              <c:txPr>
                <a:bodyPr rot="0" spcFirstLastPara="1" vertOverflow="ellipsis" vert="horz" wrap="square" lIns="38100" tIns="19050" rIns="38100" bIns="19050" anchor="ctr" anchorCtr="0">
                  <a:spAutoFit/>
                </a:bodyPr>
                <a:lstStyle/>
                <a:p>
                  <a:pPr algn="ctr" rtl="0">
                    <a:defRPr lang="en-US"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254-4B67-B167-FFF9E994D945}"/>
                </c:ext>
              </c:extLst>
            </c:dLbl>
            <c:dLbl>
              <c:idx val="10"/>
              <c:layout>
                <c:manualLayout>
                  <c:x val="-5.7650963815169699E-3"/>
                  <c:y val="4.6561420746595826E-2"/>
                </c:manualLayout>
              </c:layout>
              <c:spPr>
                <a:noFill/>
                <a:ln>
                  <a:noFill/>
                </a:ln>
                <a:effectLst/>
              </c:spPr>
              <c:txPr>
                <a:bodyPr rot="0" spcFirstLastPara="1" vertOverflow="ellipsis" vert="horz" wrap="square" lIns="38100" tIns="19050" rIns="38100" bIns="19050" anchor="ctr" anchorCtr="0">
                  <a:spAutoFit/>
                </a:bodyPr>
                <a:lstStyle/>
                <a:p>
                  <a:pPr algn="ctr" rtl="0">
                    <a:defRPr lang="en-US" sz="1000" b="1"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254-4B67-B167-FFF9E994D945}"/>
                </c:ext>
              </c:extLst>
            </c:dLbl>
            <c:dLbl>
              <c:idx val="11"/>
              <c:layout>
                <c:manualLayout>
                  <c:x val="-5.7650963815168285E-3"/>
                  <c:y val="-8.6471209957963785E-2"/>
                </c:manualLayout>
              </c:layout>
              <c:spPr>
                <a:noFill/>
                <a:ln>
                  <a:solidFill>
                    <a:srgbClr val="CAF6DF"/>
                  </a:solid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254-4B67-B167-FFF9E994D945}"/>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'Vẽ-Phương'!$B$5:$M$5</c:f>
              <c:numCache>
                <c:formatCode>_(* #,##0_);_(* \(#,##0\);_(* "-"??_);_(@_)</c:formatCode>
                <c:ptCount val="12"/>
                <c:pt idx="0">
                  <c:v>114.46251040200001</c:v>
                </c:pt>
                <c:pt idx="1">
                  <c:v>302.46197146100002</c:v>
                </c:pt>
                <c:pt idx="2">
                  <c:v>452.71530414100005</c:v>
                </c:pt>
                <c:pt idx="3">
                  <c:v>578.14495399600003</c:v>
                </c:pt>
                <c:pt idx="4">
                  <c:v>730.21209684807411</c:v>
                </c:pt>
                <c:pt idx="5">
                  <c:v>849.34676964507412</c:v>
                </c:pt>
                <c:pt idx="6">
                  <c:v>987.33817654307416</c:v>
                </c:pt>
                <c:pt idx="7">
                  <c:v>1155.7808299260741</c:v>
                </c:pt>
                <c:pt idx="8">
                  <c:v>1240.4912649930741</c:v>
                </c:pt>
                <c:pt idx="9">
                  <c:v>1349.419821653074</c:v>
                </c:pt>
                <c:pt idx="10">
                  <c:v>1437.767702455074</c:v>
                </c:pt>
              </c:numCache>
            </c:numRef>
          </c:val>
          <c:extLst>
            <c:ext xmlns:c16="http://schemas.microsoft.com/office/drawing/2014/chart" uri="{C3380CC4-5D6E-409C-BE32-E72D297353CC}">
              <c16:uniqueId val="{00000001-E9FC-49B1-9E2A-6F8ADAB87AD5}"/>
            </c:ext>
          </c:extLst>
        </c:ser>
        <c:dLbls>
          <c:showLegendKey val="0"/>
          <c:showVal val="0"/>
          <c:showCatName val="0"/>
          <c:showSerName val="0"/>
          <c:showPercent val="0"/>
          <c:showBubbleSize val="0"/>
        </c:dLbls>
        <c:gapWidth val="80"/>
        <c:axId val="1274894383"/>
        <c:axId val="1274880463"/>
      </c:barChart>
      <c:barChart>
        <c:barDir val="col"/>
        <c:grouping val="clustered"/>
        <c:varyColors val="0"/>
        <c:ser>
          <c:idx val="3"/>
          <c:order val="3"/>
          <c:tx>
            <c:strRef>
              <c:f>'Vẽ-Phương'!$A$6</c:f>
              <c:strCache>
                <c:ptCount val="1"/>
                <c:pt idx="0">
                  <c:v>Dự báo</c:v>
                </c:pt>
              </c:strCache>
            </c:strRef>
          </c:tx>
          <c:spPr>
            <a:solidFill>
              <a:srgbClr val="CAF6DF"/>
            </a:solidFill>
            <a:ln>
              <a:noFill/>
            </a:ln>
            <a:effectLst/>
          </c:spPr>
          <c:invertIfNegative val="0"/>
          <c:val>
            <c:numRef>
              <c:f>'Vẽ-Phương'!$B$6:$M$6</c:f>
              <c:numCache>
                <c:formatCode>General</c:formatCode>
                <c:ptCount val="12"/>
              </c:numCache>
            </c:numRef>
          </c:val>
          <c:extLst>
            <c:ext xmlns:c16="http://schemas.microsoft.com/office/drawing/2014/chart" uri="{C3380CC4-5D6E-409C-BE32-E72D297353CC}">
              <c16:uniqueId val="{0000000E-24B5-4158-90DB-B7140E262F0E}"/>
            </c:ext>
          </c:extLst>
        </c:ser>
        <c:dLbls>
          <c:showLegendKey val="0"/>
          <c:showVal val="0"/>
          <c:showCatName val="0"/>
          <c:showSerName val="0"/>
          <c:showPercent val="0"/>
          <c:showBubbleSize val="0"/>
        </c:dLbls>
        <c:gapWidth val="150"/>
        <c:axId val="1546951599"/>
        <c:axId val="1546951119"/>
      </c:barChart>
      <c:lineChart>
        <c:grouping val="standard"/>
        <c:varyColors val="0"/>
        <c:ser>
          <c:idx val="2"/>
          <c:order val="2"/>
          <c:tx>
            <c:strRef>
              <c:f>'Vẽ-Phương'!$A$7</c:f>
              <c:strCache>
                <c:ptCount val="1"/>
                <c:pt idx="0">
                  <c:v>Chỉ tiêu</c:v>
                </c:pt>
              </c:strCache>
            </c:strRef>
          </c:tx>
          <c:spPr>
            <a:ln w="25400" cap="rnd">
              <a:solidFill>
                <a:srgbClr val="FF0000"/>
              </a:solidFill>
              <a:round/>
            </a:ln>
            <a:effectLst/>
          </c:spPr>
          <c:marker>
            <c:symbol val="none"/>
          </c:marker>
          <c:dLbls>
            <c:spPr>
              <a:solidFill>
                <a:sysClr val="window" lastClr="FFFFFF"/>
              </a:solidFill>
              <a:ln w="19050" cap="flat" cmpd="sng" algn="ctr">
                <a:solidFill>
                  <a:srgbClr val="FF0000"/>
                </a:solidFill>
                <a:prstDash val="solid"/>
                <a:miter lim="800000"/>
              </a:ln>
              <a:effectLst/>
            </c:spPr>
            <c:txPr>
              <a:bodyPr rot="0" spcFirstLastPara="1" vertOverflow="ellipsis" vert="horz" wrap="square" lIns="38100" tIns="19050" rIns="38100" bIns="19050" anchor="ctr" anchorCtr="1">
                <a:spAutoFit/>
              </a:bodyPr>
              <a:lstStyle/>
              <a:p>
                <a:pPr>
                  <a:defRPr sz="700" b="0"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'Vẽ-Phương'!$B$7:$M$7</c:f>
              <c:numCache>
                <c:formatCode>_(* #,##0_);_(* \(#,##0\);_(* "-"??_);_(@_)</c:formatCode>
                <c:ptCount val="12"/>
                <c:pt idx="0">
                  <c:v>100.82736149999999</c:v>
                </c:pt>
                <c:pt idx="1">
                  <c:v>223.44089639999999</c:v>
                </c:pt>
                <c:pt idx="2">
                  <c:v>342.9530848</c:v>
                </c:pt>
                <c:pt idx="3">
                  <c:v>474.13488619999998</c:v>
                </c:pt>
                <c:pt idx="4">
                  <c:v>647.47433060000003</c:v>
                </c:pt>
                <c:pt idx="5">
                  <c:v>813.57105350000006</c:v>
                </c:pt>
                <c:pt idx="6">
                  <c:v>1004.3709024000001</c:v>
                </c:pt>
                <c:pt idx="7">
                  <c:v>1194.0214973000002</c:v>
                </c:pt>
                <c:pt idx="8">
                  <c:v>1418.4159042000001</c:v>
                </c:pt>
                <c:pt idx="9">
                  <c:v>1646.8279471000001</c:v>
                </c:pt>
                <c:pt idx="10">
                  <c:v>1856.0898996000001</c:v>
                </c:pt>
                <c:pt idx="11">
                  <c:v>2063.9521035000002</c:v>
                </c:pt>
              </c:numCache>
            </c:numRef>
          </c:val>
          <c:smooth val="0"/>
          <c:extLst>
            <c:ext xmlns:c16="http://schemas.microsoft.com/office/drawing/2014/chart" uri="{C3380CC4-5D6E-409C-BE32-E72D297353CC}">
              <c16:uniqueId val="{00000002-E9FC-49B1-9E2A-6F8ADAB87AD5}"/>
            </c:ext>
          </c:extLst>
        </c:ser>
        <c:dLbls>
          <c:showLegendKey val="0"/>
          <c:showVal val="0"/>
          <c:showCatName val="0"/>
          <c:showSerName val="0"/>
          <c:showPercent val="0"/>
          <c:showBubbleSize val="0"/>
        </c:dLbls>
        <c:marker val="1"/>
        <c:smooth val="0"/>
        <c:axId val="1274894383"/>
        <c:axId val="1274880463"/>
      </c:lineChart>
      <c:catAx>
        <c:axId val="12748943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880463"/>
        <c:crosses val="autoZero"/>
        <c:auto val="1"/>
        <c:lblAlgn val="ctr"/>
        <c:lblOffset val="100"/>
        <c:noMultiLvlLbl val="0"/>
      </c:catAx>
      <c:valAx>
        <c:axId val="1274880463"/>
        <c:scaling>
          <c:orientation val="minMax"/>
        </c:scaling>
        <c:delete val="0"/>
        <c:axPos val="l"/>
        <c:numFmt formatCode="_(* #,##0_);_(* \(#,##0\);_(* &quot;-&quot;??_);_(@_)"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894383"/>
        <c:crosses val="autoZero"/>
        <c:crossBetween val="between"/>
      </c:valAx>
      <c:valAx>
        <c:axId val="1546951119"/>
        <c:scaling>
          <c:orientation val="minMax"/>
        </c:scaling>
        <c:delete val="0"/>
        <c:axPos val="r"/>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46951599"/>
        <c:crosses val="max"/>
        <c:crossBetween val="between"/>
      </c:valAx>
      <c:catAx>
        <c:axId val="1546951599"/>
        <c:scaling>
          <c:orientation val="minMax"/>
        </c:scaling>
        <c:delete val="1"/>
        <c:axPos val="b"/>
        <c:majorTickMark val="out"/>
        <c:minorTickMark val="none"/>
        <c:tickLblPos val="nextTo"/>
        <c:crossAx val="1546951119"/>
        <c:crosses val="autoZero"/>
        <c:auto val="1"/>
        <c:lblAlgn val="ctr"/>
        <c:lblOffset val="100"/>
        <c:noMultiLvlLbl val="0"/>
      </c:catAx>
      <c:spPr>
        <a:noFill/>
        <a:ln>
          <a:noFill/>
        </a:ln>
        <a:effectLst/>
      </c:spPr>
    </c:plotArea>
    <c:legend>
      <c:legendPos val="b"/>
      <c:layout>
        <c:manualLayout>
          <c:xMode val="edge"/>
          <c:yMode val="edge"/>
          <c:x val="1.0404410162548235E-3"/>
          <c:y val="2.7729406420351245E-2"/>
          <c:w val="0.40573673997569276"/>
          <c:h val="0.1042132586395266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9361937535368107E-2"/>
          <c:y val="0.11246337674526766"/>
          <c:w val="0.96127612492926384"/>
          <c:h val="0.74706568774203819"/>
        </c:manualLayout>
      </c:layout>
      <c:barChart>
        <c:barDir val="col"/>
        <c:grouping val="clustered"/>
        <c:varyColors val="0"/>
        <c:ser>
          <c:idx val="0"/>
          <c:order val="0"/>
          <c:tx>
            <c:strRef>
              <c:f>'Vẽ-Phương'!$A$4</c:f>
              <c:strCache>
                <c:ptCount val="1"/>
                <c:pt idx="0">
                  <c:v>2024</c:v>
                </c:pt>
              </c:strCache>
            </c:strRef>
          </c:tx>
          <c:spPr>
            <a:solidFill>
              <a:srgbClr val="E2E7EE"/>
            </a:solidFill>
            <a:ln>
              <a:noFill/>
            </a:ln>
            <a:effectLst/>
          </c:spPr>
          <c:invertIfNegative val="0"/>
          <c:dLbls>
            <c:dLbl>
              <c:idx val="8"/>
              <c:layout>
                <c:manualLayout>
                  <c:x val="0"/>
                  <c:y val="5.32130522818238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E437-4395-A92B-98E0BFBDEC8D}"/>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'Vẽ-Phương'!$B$4:$M$4</c:f>
              <c:numCache>
                <c:formatCode>_(* #,##0.00_);_(* \(#,##0.00\);;_(@_)</c:formatCode>
                <c:ptCount val="12"/>
                <c:pt idx="0">
                  <c:v>9.0800504796973041</c:v>
                </c:pt>
                <c:pt idx="1">
                  <c:v>3.3190533488285245</c:v>
                </c:pt>
                <c:pt idx="2">
                  <c:v>5.1693729422120329</c:v>
                </c:pt>
                <c:pt idx="3">
                  <c:v>9.5199529421100326</c:v>
                </c:pt>
                <c:pt idx="4">
                  <c:v>4.213453882338519</c:v>
                </c:pt>
                <c:pt idx="5">
                  <c:v>-0.63945650141911203</c:v>
                </c:pt>
                <c:pt idx="6">
                  <c:v>-3.2886335928136514</c:v>
                </c:pt>
                <c:pt idx="7">
                  <c:v>0.90758720905308432</c:v>
                </c:pt>
                <c:pt idx="8">
                  <c:v>15.28225732846108</c:v>
                </c:pt>
                <c:pt idx="9">
                  <c:v>3.5531821463051609</c:v>
                </c:pt>
                <c:pt idx="10">
                  <c:v>4.9430518446556189</c:v>
                </c:pt>
                <c:pt idx="11">
                  <c:v>1.4574746295717396</c:v>
                </c:pt>
              </c:numCache>
            </c:numRef>
          </c:val>
          <c:extLst>
            <c:ext xmlns:c16="http://schemas.microsoft.com/office/drawing/2014/chart" uri="{C3380CC4-5D6E-409C-BE32-E72D297353CC}">
              <c16:uniqueId val="{00000000-5E7F-465E-B3B0-F50084385C9C}"/>
            </c:ext>
          </c:extLst>
        </c:ser>
        <c:ser>
          <c:idx val="1"/>
          <c:order val="1"/>
          <c:tx>
            <c:strRef>
              <c:f>'Vẽ-Phương'!$A$5</c:f>
              <c:strCache>
                <c:ptCount val="1"/>
                <c:pt idx="0">
                  <c:v>2025</c:v>
                </c:pt>
              </c:strCache>
            </c:strRef>
          </c:tx>
          <c:spPr>
            <a:solidFill>
              <a:srgbClr val="74E9AD"/>
            </a:solidFill>
            <a:ln>
              <a:noFill/>
            </a:ln>
            <a:effectLst/>
          </c:spPr>
          <c:invertIfNegative val="0"/>
          <c:dPt>
            <c:idx val="5"/>
            <c:invertIfNegative val="0"/>
            <c:bubble3D val="0"/>
            <c:spPr>
              <a:solidFill>
                <a:srgbClr val="74E9AD"/>
              </a:solidFill>
              <a:ln>
                <a:noFill/>
              </a:ln>
              <a:effectLst/>
            </c:spPr>
            <c:extLst>
              <c:ext xmlns:c16="http://schemas.microsoft.com/office/drawing/2014/chart" uri="{C3380CC4-5D6E-409C-BE32-E72D297353CC}">
                <c16:uniqueId val="{00000004-5E0B-47D6-BAFD-C9F83DD2DA56}"/>
              </c:ext>
            </c:extLst>
          </c:dPt>
          <c:dPt>
            <c:idx val="6"/>
            <c:invertIfNegative val="0"/>
            <c:bubble3D val="0"/>
            <c:spPr>
              <a:solidFill>
                <a:srgbClr val="74E9AD"/>
              </a:solidFill>
              <a:ln>
                <a:noFill/>
              </a:ln>
              <a:effectLst/>
            </c:spPr>
            <c:extLst>
              <c:ext xmlns:c16="http://schemas.microsoft.com/office/drawing/2014/chart" uri="{C3380CC4-5D6E-409C-BE32-E72D297353CC}">
                <c16:uniqueId val="{00000001-5E0B-47D6-BAFD-C9F83DD2DA56}"/>
              </c:ext>
            </c:extLst>
          </c:dPt>
          <c:dPt>
            <c:idx val="7"/>
            <c:invertIfNegative val="0"/>
            <c:bubble3D val="0"/>
            <c:spPr>
              <a:solidFill>
                <a:srgbClr val="74E9AD"/>
              </a:solidFill>
              <a:ln>
                <a:noFill/>
              </a:ln>
              <a:effectLst/>
            </c:spPr>
            <c:extLst>
              <c:ext xmlns:c16="http://schemas.microsoft.com/office/drawing/2014/chart" uri="{C3380CC4-5D6E-409C-BE32-E72D297353CC}">
                <c16:uniqueId val="{00000005-5E0B-47D6-BAFD-C9F83DD2DA56}"/>
              </c:ext>
            </c:extLst>
          </c:dPt>
          <c:dPt>
            <c:idx val="8"/>
            <c:invertIfNegative val="0"/>
            <c:bubble3D val="0"/>
            <c:spPr>
              <a:solidFill>
                <a:srgbClr val="74E9AD"/>
              </a:solidFill>
              <a:ln>
                <a:noFill/>
              </a:ln>
              <a:effectLst/>
            </c:spPr>
            <c:extLst>
              <c:ext xmlns:c16="http://schemas.microsoft.com/office/drawing/2014/chart" uri="{C3380CC4-5D6E-409C-BE32-E72D297353CC}">
                <c16:uniqueId val="{00000006-5E0B-47D6-BAFD-C9F83DD2DA56}"/>
              </c:ext>
            </c:extLst>
          </c:dPt>
          <c:dPt>
            <c:idx val="9"/>
            <c:invertIfNegative val="0"/>
            <c:bubble3D val="0"/>
            <c:spPr>
              <a:solidFill>
                <a:srgbClr val="74E9AD"/>
              </a:solidFill>
              <a:ln>
                <a:noFill/>
              </a:ln>
              <a:effectLst/>
            </c:spPr>
            <c:extLst>
              <c:ext xmlns:c16="http://schemas.microsoft.com/office/drawing/2014/chart" uri="{C3380CC4-5D6E-409C-BE32-E72D297353CC}">
                <c16:uniqueId val="{00000007-5E0B-47D6-BAFD-C9F83DD2DA56}"/>
              </c:ext>
            </c:extLst>
          </c:dPt>
          <c:dPt>
            <c:idx val="10"/>
            <c:invertIfNegative val="0"/>
            <c:bubble3D val="0"/>
            <c:spPr>
              <a:solidFill>
                <a:srgbClr val="74E9AD"/>
              </a:solidFill>
              <a:ln>
                <a:noFill/>
              </a:ln>
              <a:effectLst/>
            </c:spPr>
            <c:extLst>
              <c:ext xmlns:c16="http://schemas.microsoft.com/office/drawing/2014/chart" uri="{C3380CC4-5D6E-409C-BE32-E72D297353CC}">
                <c16:uniqueId val="{00000008-5E0B-47D6-BAFD-C9F83DD2DA56}"/>
              </c:ext>
            </c:extLst>
          </c:dPt>
          <c:dPt>
            <c:idx val="11"/>
            <c:invertIfNegative val="0"/>
            <c:bubble3D val="0"/>
            <c:spPr>
              <a:solidFill>
                <a:srgbClr val="74E9AD"/>
              </a:solidFill>
              <a:ln>
                <a:noFill/>
              </a:ln>
              <a:effectLst/>
            </c:spPr>
            <c:extLst>
              <c:ext xmlns:c16="http://schemas.microsoft.com/office/drawing/2014/chart" uri="{C3380CC4-5D6E-409C-BE32-E72D297353CC}">
                <c16:uniqueId val="{00000009-5E0B-47D6-BAFD-C9F83DD2DA56}"/>
              </c:ext>
            </c:extLst>
          </c:dPt>
          <c:dLbls>
            <c:dLbl>
              <c:idx val="3"/>
              <c:layout>
                <c:manualLayout>
                  <c:x val="1.9216987938389077E-3"/>
                  <c:y val="3.990978921136790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3A8-4656-84F3-1B87E60153DB}"/>
                </c:ext>
              </c:extLst>
            </c:dLbl>
            <c:dLbl>
              <c:idx val="6"/>
              <c:layout>
                <c:manualLayout>
                  <c:x val="0"/>
                  <c:y val="1.995489460568382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0B-47D6-BAFD-C9F83DD2DA56}"/>
                </c:ext>
              </c:extLst>
            </c:dLbl>
            <c:dLbl>
              <c:idx val="8"/>
              <c:layout>
                <c:manualLayout>
                  <c:x val="3.8433975876777447E-3"/>
                  <c:y val="-6.651107784713398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E0B-47D6-BAFD-C9F83DD2DA56}"/>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'Vẽ-Phương'!$B$5:$M$5</c:f>
              <c:numCache>
                <c:formatCode>_(* #,##0.00_);_(* \(#,##0.00\);;_(@_)</c:formatCode>
                <c:ptCount val="12"/>
                <c:pt idx="0">
                  <c:v>4.8970805519999043</c:v>
                </c:pt>
                <c:pt idx="1">
                  <c:v>20.400796729000039</c:v>
                </c:pt>
                <c:pt idx="2">
                  <c:v>8.3732490589998783</c:v>
                </c:pt>
                <c:pt idx="3">
                  <c:v>5.0259834850001353</c:v>
                </c:pt>
                <c:pt idx="4">
                  <c:v>10.805204304043579</c:v>
                </c:pt>
                <c:pt idx="5">
                  <c:v>2.3475007570001658</c:v>
                </c:pt>
                <c:pt idx="6">
                  <c:v>1.0395178570001145</c:v>
                </c:pt>
                <c:pt idx="7">
                  <c:v>1.116669731</c:v>
                </c:pt>
                <c:pt idx="8">
                  <c:v>-10.202154650999917</c:v>
                </c:pt>
                <c:pt idx="9">
                  <c:v>-1.8172880499999904</c:v>
                </c:pt>
                <c:pt idx="10">
                  <c:v>-6.9202899198636052</c:v>
                </c:pt>
              </c:numCache>
            </c:numRef>
          </c:val>
          <c:extLst>
            <c:ext xmlns:c16="http://schemas.microsoft.com/office/drawing/2014/chart" uri="{C3380CC4-5D6E-409C-BE32-E72D297353CC}">
              <c16:uniqueId val="{00000001-5E7F-465E-B3B0-F50084385C9C}"/>
            </c:ext>
          </c:extLst>
        </c:ser>
        <c:dLbls>
          <c:showLegendKey val="0"/>
          <c:showVal val="0"/>
          <c:showCatName val="0"/>
          <c:showSerName val="0"/>
          <c:showPercent val="0"/>
          <c:showBubbleSize val="0"/>
        </c:dLbls>
        <c:gapWidth val="80"/>
        <c:axId val="1274894383"/>
        <c:axId val="1274880463"/>
      </c:barChart>
      <c:barChart>
        <c:barDir val="col"/>
        <c:grouping val="clustered"/>
        <c:varyColors val="0"/>
        <c:ser>
          <c:idx val="3"/>
          <c:order val="3"/>
          <c:tx>
            <c:strRef>
              <c:f>'Vẽ-Phương'!$A$6</c:f>
              <c:strCache>
                <c:ptCount val="1"/>
                <c:pt idx="0">
                  <c:v>Dự báo</c:v>
                </c:pt>
              </c:strCache>
            </c:strRef>
          </c:tx>
          <c:spPr>
            <a:solidFill>
              <a:srgbClr val="CAF6DF"/>
            </a:solidFill>
            <a:ln>
              <a:noFill/>
            </a:ln>
            <a:effectLst/>
          </c:spPr>
          <c:invertIfNegative val="0"/>
          <c:val>
            <c:numRef>
              <c:f>'Vẽ-Phương'!$B$6:$M$6</c:f>
              <c:numCache>
                <c:formatCode>General</c:formatCode>
                <c:ptCount val="12"/>
              </c:numCache>
            </c:numRef>
          </c:val>
          <c:extLst>
            <c:ext xmlns:c16="http://schemas.microsoft.com/office/drawing/2014/chart" uri="{C3380CC4-5D6E-409C-BE32-E72D297353CC}">
              <c16:uniqueId val="{0000000E-7873-41C8-B971-500DCA179112}"/>
            </c:ext>
          </c:extLst>
        </c:ser>
        <c:dLbls>
          <c:showLegendKey val="0"/>
          <c:showVal val="0"/>
          <c:showCatName val="0"/>
          <c:showSerName val="0"/>
          <c:showPercent val="0"/>
          <c:showBubbleSize val="0"/>
        </c:dLbls>
        <c:gapWidth val="150"/>
        <c:axId val="1300843631"/>
        <c:axId val="1300837391"/>
      </c:barChart>
      <c:lineChart>
        <c:grouping val="standard"/>
        <c:varyColors val="0"/>
        <c:ser>
          <c:idx val="2"/>
          <c:order val="2"/>
          <c:tx>
            <c:strRef>
              <c:f>'Vẽ-Phương'!$A$7</c:f>
              <c:strCache>
                <c:ptCount val="1"/>
                <c:pt idx="0">
                  <c:v>Chỉ tiêu</c:v>
                </c:pt>
              </c:strCache>
            </c:strRef>
          </c:tx>
          <c:spPr>
            <a:ln w="25400" cap="rnd">
              <a:solidFill>
                <a:srgbClr val="FF0000"/>
              </a:solidFill>
              <a:round/>
            </a:ln>
            <a:effectLst/>
          </c:spPr>
          <c:marker>
            <c:symbol val="none"/>
          </c:marker>
          <c:dLbls>
            <c:spPr>
              <a:solidFill>
                <a:sysClr val="window" lastClr="FFFFFF"/>
              </a:solidFill>
              <a:ln w="19050" cap="flat" cmpd="sng" algn="ctr">
                <a:solidFill>
                  <a:srgbClr val="FF0000"/>
                </a:solidFill>
                <a:prstDash val="solid"/>
                <a:miter lim="800000"/>
              </a:ln>
              <a:effectLst/>
            </c:spPr>
            <c:txPr>
              <a:bodyPr rot="0" spcFirstLastPara="1" vertOverflow="ellipsis" vert="horz" wrap="square" lIns="38100" tIns="19050" rIns="38100" bIns="19050" anchor="ctr" anchorCtr="1">
                <a:spAutoFit/>
              </a:bodyPr>
              <a:lstStyle/>
              <a:p>
                <a:pPr>
                  <a:defRPr sz="700" b="0"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'Vẽ-Phương'!$B$7:$M$7</c:f>
              <c:numCache>
                <c:formatCode>_(* #,##0.00_);_(* \(#,##0.00\);;_(@_)</c:formatCode>
                <c:ptCount val="12"/>
                <c:pt idx="0">
                  <c:v>2.4111937592640929</c:v>
                </c:pt>
                <c:pt idx="1">
                  <c:v>2.6345621152224639</c:v>
                </c:pt>
                <c:pt idx="2">
                  <c:v>2.9681729195677673</c:v>
                </c:pt>
                <c:pt idx="3">
                  <c:v>6.7803937217944856</c:v>
                </c:pt>
                <c:pt idx="4">
                  <c:v>10.818290279264012</c:v>
                </c:pt>
                <c:pt idx="5">
                  <c:v>11.02974593104104</c:v>
                </c:pt>
                <c:pt idx="6">
                  <c:v>16.020543129195854</c:v>
                </c:pt>
                <c:pt idx="7">
                  <c:v>20.643156647188363</c:v>
                </c:pt>
                <c:pt idx="8">
                  <c:v>20.573287697521987</c:v>
                </c:pt>
                <c:pt idx="9">
                  <c:v>21.939576399215451</c:v>
                </c:pt>
                <c:pt idx="10">
                  <c:v>18.896186089660162</c:v>
                </c:pt>
                <c:pt idx="11">
                  <c:v>16.908963166037417</c:v>
                </c:pt>
              </c:numCache>
            </c:numRef>
          </c:val>
          <c:smooth val="0"/>
          <c:extLst>
            <c:ext xmlns:c16="http://schemas.microsoft.com/office/drawing/2014/chart" uri="{C3380CC4-5D6E-409C-BE32-E72D297353CC}">
              <c16:uniqueId val="{00000002-5E7F-465E-B3B0-F50084385C9C}"/>
            </c:ext>
          </c:extLst>
        </c:ser>
        <c:dLbls>
          <c:showLegendKey val="0"/>
          <c:showVal val="0"/>
          <c:showCatName val="0"/>
          <c:showSerName val="0"/>
          <c:showPercent val="0"/>
          <c:showBubbleSize val="0"/>
        </c:dLbls>
        <c:marker val="1"/>
        <c:smooth val="0"/>
        <c:axId val="1274894383"/>
        <c:axId val="1274880463"/>
      </c:lineChart>
      <c:catAx>
        <c:axId val="1274894383"/>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880463"/>
        <c:crosses val="autoZero"/>
        <c:auto val="1"/>
        <c:lblAlgn val="ctr"/>
        <c:lblOffset val="100"/>
        <c:noMultiLvlLbl val="0"/>
      </c:catAx>
      <c:valAx>
        <c:axId val="1274880463"/>
        <c:scaling>
          <c:orientation val="minMax"/>
        </c:scaling>
        <c:delete val="0"/>
        <c:axPos val="l"/>
        <c:numFmt formatCode="_(* #,##0.00_);_(* \(#,##0.00\);;_(@_)"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894383"/>
        <c:crosses val="autoZero"/>
        <c:crossBetween val="between"/>
      </c:valAx>
      <c:valAx>
        <c:axId val="1300837391"/>
        <c:scaling>
          <c:orientation val="minMax"/>
        </c:scaling>
        <c:delete val="0"/>
        <c:axPos val="r"/>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00843631"/>
        <c:crosses val="max"/>
        <c:crossBetween val="between"/>
      </c:valAx>
      <c:catAx>
        <c:axId val="1300843631"/>
        <c:scaling>
          <c:orientation val="minMax"/>
        </c:scaling>
        <c:delete val="1"/>
        <c:axPos val="b"/>
        <c:majorTickMark val="out"/>
        <c:minorTickMark val="none"/>
        <c:tickLblPos val="nextTo"/>
        <c:crossAx val="1300837391"/>
        <c:crosses val="autoZero"/>
        <c:auto val="1"/>
        <c:lblAlgn val="ctr"/>
        <c:lblOffset val="100"/>
        <c:noMultiLvlLbl val="0"/>
      </c:catAx>
      <c:spPr>
        <a:noFill/>
        <a:ln>
          <a:noFill/>
        </a:ln>
        <a:effectLst/>
      </c:spPr>
    </c:plotArea>
    <c:legend>
      <c:legendPos val="b"/>
      <c:layout>
        <c:manualLayout>
          <c:xMode val="edge"/>
          <c:yMode val="edge"/>
          <c:x val="1.0404410162548235E-3"/>
          <c:y val="2.7729406420351245E-2"/>
          <c:w val="0.40573673997569276"/>
          <c:h val="0.1042132586395266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1.9361947579688465E-2"/>
          <c:y val="0.19893458670323144"/>
          <c:w val="0.96127612492926384"/>
          <c:h val="0.68054937238975821"/>
        </c:manualLayout>
      </c:layout>
      <c:barChart>
        <c:barDir val="col"/>
        <c:grouping val="clustered"/>
        <c:varyColors val="0"/>
        <c:ser>
          <c:idx val="0"/>
          <c:order val="0"/>
          <c:tx>
            <c:strRef>
              <c:f>'Vẽ-Phương'!$A$4</c:f>
              <c:strCache>
                <c:ptCount val="1"/>
                <c:pt idx="0">
                  <c:v>2024</c:v>
                </c:pt>
              </c:strCache>
            </c:strRef>
          </c:tx>
          <c:spPr>
            <a:solidFill>
              <a:srgbClr val="E2E7EE"/>
            </a:solidFill>
            <a:ln>
              <a:noFill/>
            </a:ln>
            <a:effectLst/>
          </c:spPr>
          <c:invertIfNegative val="0"/>
          <c:dLbls>
            <c:dLbl>
              <c:idx val="8"/>
              <c:layout>
                <c:manualLayout>
                  <c:x val="-1.9216987938389428E-3"/>
                  <c:y val="2.660652614091193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9FC-49B1-9E2A-6F8ADAB87AD5}"/>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'Vẽ-Phương'!$B$4:$M$4</c:f>
              <c:numCache>
                <c:formatCode>_(* #,##0.0_);_(* \(#,##0.0\);_(* "-"??_);_(@_)</c:formatCode>
                <c:ptCount val="12"/>
                <c:pt idx="0">
                  <c:v>9.0800504796973041</c:v>
                </c:pt>
                <c:pt idx="1">
                  <c:v>12.399103828525828</c:v>
                </c:pt>
                <c:pt idx="2">
                  <c:v>17.56847677073786</c:v>
                </c:pt>
                <c:pt idx="3">
                  <c:v>27.088429712847891</c:v>
                </c:pt>
                <c:pt idx="4">
                  <c:v>31.301883595186411</c:v>
                </c:pt>
                <c:pt idx="5">
                  <c:v>30.662427093767299</c:v>
                </c:pt>
                <c:pt idx="6">
                  <c:v>27.373793500953646</c:v>
                </c:pt>
                <c:pt idx="7">
                  <c:v>28.281380710006729</c:v>
                </c:pt>
                <c:pt idx="8">
                  <c:v>43.563638038467808</c:v>
                </c:pt>
                <c:pt idx="9">
                  <c:v>47.116820184772969</c:v>
                </c:pt>
                <c:pt idx="10">
                  <c:v>52.05987202942859</c:v>
                </c:pt>
                <c:pt idx="11">
                  <c:v>53.517346659000331</c:v>
                </c:pt>
              </c:numCache>
            </c:numRef>
          </c:val>
          <c:extLst>
            <c:ext xmlns:c16="http://schemas.microsoft.com/office/drawing/2014/chart" uri="{C3380CC4-5D6E-409C-BE32-E72D297353CC}">
              <c16:uniqueId val="{00000000-E9FC-49B1-9E2A-6F8ADAB87AD5}"/>
            </c:ext>
          </c:extLst>
        </c:ser>
        <c:ser>
          <c:idx val="1"/>
          <c:order val="1"/>
          <c:tx>
            <c:strRef>
              <c:f>'Vẽ-Phương'!$A$5</c:f>
              <c:strCache>
                <c:ptCount val="1"/>
                <c:pt idx="0">
                  <c:v>2025</c:v>
                </c:pt>
              </c:strCache>
            </c:strRef>
          </c:tx>
          <c:spPr>
            <a:solidFill>
              <a:srgbClr val="74E9AD"/>
            </a:solidFill>
            <a:ln>
              <a:noFill/>
            </a:ln>
            <a:effectLst/>
          </c:spPr>
          <c:invertIfNegative val="0"/>
          <c:dPt>
            <c:idx val="5"/>
            <c:invertIfNegative val="0"/>
            <c:bubble3D val="0"/>
            <c:spPr>
              <a:solidFill>
                <a:srgbClr val="74E9AD"/>
              </a:solidFill>
              <a:ln>
                <a:noFill/>
              </a:ln>
              <a:effectLst/>
            </c:spPr>
            <c:extLst>
              <c:ext xmlns:c16="http://schemas.microsoft.com/office/drawing/2014/chart" uri="{C3380CC4-5D6E-409C-BE32-E72D297353CC}">
                <c16:uniqueId val="{00000000-F254-4B67-B167-FFF9E994D945}"/>
              </c:ext>
            </c:extLst>
          </c:dPt>
          <c:dPt>
            <c:idx val="6"/>
            <c:invertIfNegative val="0"/>
            <c:bubble3D val="0"/>
            <c:spPr>
              <a:solidFill>
                <a:srgbClr val="74E9AD"/>
              </a:solidFill>
              <a:ln>
                <a:noFill/>
              </a:ln>
              <a:effectLst/>
            </c:spPr>
            <c:extLst>
              <c:ext xmlns:c16="http://schemas.microsoft.com/office/drawing/2014/chart" uri="{C3380CC4-5D6E-409C-BE32-E72D297353CC}">
                <c16:uniqueId val="{00000001-F254-4B67-B167-FFF9E994D945}"/>
              </c:ext>
            </c:extLst>
          </c:dPt>
          <c:dPt>
            <c:idx val="7"/>
            <c:invertIfNegative val="0"/>
            <c:bubble3D val="0"/>
            <c:spPr>
              <a:solidFill>
                <a:srgbClr val="74E9AD"/>
              </a:solidFill>
              <a:ln>
                <a:noFill/>
              </a:ln>
              <a:effectLst/>
            </c:spPr>
            <c:extLst>
              <c:ext xmlns:c16="http://schemas.microsoft.com/office/drawing/2014/chart" uri="{C3380CC4-5D6E-409C-BE32-E72D297353CC}">
                <c16:uniqueId val="{00000002-F254-4B67-B167-FFF9E994D945}"/>
              </c:ext>
            </c:extLst>
          </c:dPt>
          <c:dPt>
            <c:idx val="8"/>
            <c:invertIfNegative val="0"/>
            <c:bubble3D val="0"/>
            <c:spPr>
              <a:solidFill>
                <a:srgbClr val="74E9AD"/>
              </a:solidFill>
              <a:ln>
                <a:noFill/>
              </a:ln>
              <a:effectLst/>
            </c:spPr>
            <c:extLst>
              <c:ext xmlns:c16="http://schemas.microsoft.com/office/drawing/2014/chart" uri="{C3380CC4-5D6E-409C-BE32-E72D297353CC}">
                <c16:uniqueId val="{00000003-F254-4B67-B167-FFF9E994D945}"/>
              </c:ext>
            </c:extLst>
          </c:dPt>
          <c:dPt>
            <c:idx val="9"/>
            <c:invertIfNegative val="0"/>
            <c:bubble3D val="0"/>
            <c:spPr>
              <a:solidFill>
                <a:srgbClr val="74E9AD"/>
              </a:solidFill>
              <a:ln>
                <a:noFill/>
              </a:ln>
              <a:effectLst/>
            </c:spPr>
            <c:extLst>
              <c:ext xmlns:c16="http://schemas.microsoft.com/office/drawing/2014/chart" uri="{C3380CC4-5D6E-409C-BE32-E72D297353CC}">
                <c16:uniqueId val="{00000005-F254-4B67-B167-FFF9E994D945}"/>
              </c:ext>
            </c:extLst>
          </c:dPt>
          <c:dPt>
            <c:idx val="10"/>
            <c:invertIfNegative val="0"/>
            <c:bubble3D val="0"/>
            <c:spPr>
              <a:solidFill>
                <a:srgbClr val="74E9AD"/>
              </a:solidFill>
              <a:ln>
                <a:noFill/>
              </a:ln>
              <a:effectLst/>
            </c:spPr>
            <c:extLst>
              <c:ext xmlns:c16="http://schemas.microsoft.com/office/drawing/2014/chart" uri="{C3380CC4-5D6E-409C-BE32-E72D297353CC}">
                <c16:uniqueId val="{00000006-F254-4B67-B167-FFF9E994D945}"/>
              </c:ext>
            </c:extLst>
          </c:dPt>
          <c:dPt>
            <c:idx val="11"/>
            <c:invertIfNegative val="0"/>
            <c:bubble3D val="0"/>
            <c:spPr>
              <a:solidFill>
                <a:srgbClr val="74E9AD"/>
              </a:solidFill>
              <a:ln>
                <a:noFill/>
              </a:ln>
              <a:effectLst/>
            </c:spPr>
            <c:extLst>
              <c:ext xmlns:c16="http://schemas.microsoft.com/office/drawing/2014/chart" uri="{C3380CC4-5D6E-409C-BE32-E72D297353CC}">
                <c16:uniqueId val="{00000007-F254-4B67-B167-FFF9E994D945}"/>
              </c:ext>
            </c:extLst>
          </c:dPt>
          <c:dLbls>
            <c:dLbl>
              <c:idx val="3"/>
              <c:spPr>
                <a:noFill/>
                <a:ln>
                  <a:noFill/>
                </a:ln>
                <a:effectLst/>
              </c:spPr>
              <c:txPr>
                <a:bodyPr rot="0" spcFirstLastPara="1" vertOverflow="ellipsis" vert="horz" wrap="square" lIns="38100" tIns="19050" rIns="38100" bIns="19050" anchor="ctr" anchorCtr="0">
                  <a:spAutoFit/>
                </a:bodyPr>
                <a:lstStyle/>
                <a:p>
                  <a:pPr algn="ctr" rtl="0">
                    <a:defRPr lang="en-US"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0-0A93-48C0-B60B-494698818C8D}"/>
                </c:ext>
              </c:extLst>
            </c:dLbl>
            <c:dLbl>
              <c:idx val="4"/>
              <c:spPr>
                <a:noFill/>
                <a:ln>
                  <a:noFill/>
                </a:ln>
                <a:effectLst/>
              </c:spPr>
              <c:txPr>
                <a:bodyPr rot="0" spcFirstLastPara="1" vertOverflow="ellipsis" vert="horz" wrap="square" lIns="38100" tIns="19050" rIns="38100" bIns="19050" anchor="ctr" anchorCtr="0">
                  <a:spAutoFit/>
                </a:bodyPr>
                <a:lstStyle/>
                <a:p>
                  <a:pPr algn="ctr" rtl="0">
                    <a:defRPr lang="en-US"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0-A47A-4EED-AEE9-4740BF362757}"/>
                </c:ext>
              </c:extLst>
            </c:dLbl>
            <c:dLbl>
              <c:idx val="6"/>
              <c:layout>
                <c:manualLayout>
                  <c:x val="1.9216987938389428E-3"/>
                  <c:y val="-1.330326307045596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254-4B67-B167-FFF9E994D945}"/>
                </c:ext>
              </c:extLst>
            </c:dLbl>
            <c:dLbl>
              <c:idx val="7"/>
              <c:layout>
                <c:manualLayout>
                  <c:x val="0"/>
                  <c:y val="4.6561420746595882E-2"/>
                </c:manualLayout>
              </c:layout>
              <c:spPr>
                <a:noFill/>
                <a:ln>
                  <a:noFill/>
                </a:ln>
                <a:effectLst/>
              </c:spPr>
              <c:txPr>
                <a:bodyPr rot="0" spcFirstLastPara="1" vertOverflow="ellipsis" vert="horz" wrap="square" lIns="38100" tIns="19050" rIns="38100" bIns="19050" anchor="ctr" anchorCtr="0">
                  <a:spAutoFit/>
                </a:bodyPr>
                <a:lstStyle/>
                <a:p>
                  <a:pPr algn="ctr" rtl="0">
                    <a:defRPr lang="en-US"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254-4B67-B167-FFF9E994D945}"/>
                </c:ext>
              </c:extLst>
            </c:dLbl>
            <c:dLbl>
              <c:idx val="8"/>
              <c:layout>
                <c:manualLayout>
                  <c:x val="3.8433975876778857E-3"/>
                  <c:y val="-6.6516315352279833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254-4B67-B167-FFF9E994D945}"/>
                </c:ext>
              </c:extLst>
            </c:dLbl>
            <c:dLbl>
              <c:idx val="9"/>
              <c:layout>
                <c:manualLayout>
                  <c:x val="3.8433975876777447E-3"/>
                  <c:y val="3.9909789211367903E-2"/>
                </c:manualLayout>
              </c:layout>
              <c:spPr>
                <a:noFill/>
                <a:ln>
                  <a:noFill/>
                </a:ln>
                <a:effectLst/>
              </c:spPr>
              <c:txPr>
                <a:bodyPr rot="0" spcFirstLastPara="1" vertOverflow="ellipsis" vert="horz" wrap="square" lIns="38100" tIns="19050" rIns="38100" bIns="19050" anchor="ctr" anchorCtr="0">
                  <a:spAutoFit/>
                </a:bodyPr>
                <a:lstStyle/>
                <a:p>
                  <a:pPr algn="ctr" rtl="0">
                    <a:defRPr lang="en-US"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254-4B67-B167-FFF9E994D945}"/>
                </c:ext>
              </c:extLst>
            </c:dLbl>
            <c:dLbl>
              <c:idx val="10"/>
              <c:layout>
                <c:manualLayout>
                  <c:x val="0"/>
                  <c:y val="4.6561420746595882E-2"/>
                </c:manualLayout>
              </c:layout>
              <c:spPr>
                <a:noFill/>
                <a:ln>
                  <a:noFill/>
                </a:ln>
                <a:effectLst/>
              </c:spPr>
              <c:txPr>
                <a:bodyPr rot="0" spcFirstLastPara="1" vertOverflow="ellipsis" vert="horz" wrap="square" lIns="38100" tIns="19050" rIns="38100" bIns="19050" anchor="ctr" anchorCtr="0">
                  <a:spAutoFit/>
                </a:bodyPr>
                <a:lstStyle/>
                <a:p>
                  <a:pPr algn="ctr" rtl="0">
                    <a:defRPr lang="en-US" sz="1000" b="1"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254-4B67-B167-FFF9E994D945}"/>
                </c:ext>
              </c:extLst>
            </c:dLbl>
            <c:dLbl>
              <c:idx val="11"/>
              <c:layout>
                <c:manualLayout>
                  <c:x val="7.6867951753557713E-3"/>
                  <c:y val="-0.15298752531024362"/>
                </c:manualLayout>
              </c:layout>
              <c:spPr>
                <a:noFill/>
                <a:ln>
                  <a:solidFill>
                    <a:srgbClr val="CAF6DF"/>
                  </a:solid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F254-4B67-B167-FFF9E994D945}"/>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119303"/>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'Vẽ-Phương'!$B$5:$M$5</c:f>
              <c:numCache>
                <c:formatCode>_(* #,##0.0_);_(* \(#,##0.0\);_(* "-"??_);_(@_)</c:formatCode>
                <c:ptCount val="12"/>
                <c:pt idx="0">
                  <c:v>4.8970805519999043</c:v>
                </c:pt>
                <c:pt idx="1">
                  <c:v>25.297877280999941</c:v>
                </c:pt>
                <c:pt idx="2">
                  <c:v>33.671126339999816</c:v>
                </c:pt>
                <c:pt idx="3">
                  <c:v>38.697109824999949</c:v>
                </c:pt>
                <c:pt idx="4">
                  <c:v>49.502314129043526</c:v>
                </c:pt>
                <c:pt idx="5">
                  <c:v>51.849814886043688</c:v>
                </c:pt>
                <c:pt idx="6">
                  <c:v>52.889332743043802</c:v>
                </c:pt>
                <c:pt idx="7">
                  <c:v>54.006002474043804</c:v>
                </c:pt>
                <c:pt idx="8">
                  <c:v>43.803847823043888</c:v>
                </c:pt>
                <c:pt idx="9">
                  <c:v>41.986559773043901</c:v>
                </c:pt>
                <c:pt idx="10">
                  <c:v>35.066269853180295</c:v>
                </c:pt>
              </c:numCache>
            </c:numRef>
          </c:val>
          <c:extLst>
            <c:ext xmlns:c16="http://schemas.microsoft.com/office/drawing/2014/chart" uri="{C3380CC4-5D6E-409C-BE32-E72D297353CC}">
              <c16:uniqueId val="{00000001-E9FC-49B1-9E2A-6F8ADAB87AD5}"/>
            </c:ext>
          </c:extLst>
        </c:ser>
        <c:dLbls>
          <c:showLegendKey val="0"/>
          <c:showVal val="0"/>
          <c:showCatName val="0"/>
          <c:showSerName val="0"/>
          <c:showPercent val="0"/>
          <c:showBubbleSize val="0"/>
        </c:dLbls>
        <c:gapWidth val="80"/>
        <c:axId val="1274894383"/>
        <c:axId val="1274880463"/>
      </c:barChart>
      <c:barChart>
        <c:barDir val="col"/>
        <c:grouping val="clustered"/>
        <c:varyColors val="0"/>
        <c:ser>
          <c:idx val="3"/>
          <c:order val="3"/>
          <c:tx>
            <c:strRef>
              <c:f>'Vẽ-Phương'!$A$6</c:f>
              <c:strCache>
                <c:ptCount val="1"/>
                <c:pt idx="0">
                  <c:v>Dự báo</c:v>
                </c:pt>
              </c:strCache>
            </c:strRef>
          </c:tx>
          <c:spPr>
            <a:solidFill>
              <a:srgbClr val="CAF6DF"/>
            </a:solidFill>
            <a:ln>
              <a:noFill/>
            </a:ln>
            <a:effectLst/>
          </c:spPr>
          <c:invertIfNegative val="0"/>
          <c:val>
            <c:numRef>
              <c:f>'Vẽ-Phương'!$B$6:$M$6</c:f>
              <c:numCache>
                <c:formatCode>General</c:formatCode>
                <c:ptCount val="12"/>
              </c:numCache>
            </c:numRef>
          </c:val>
          <c:extLst>
            <c:ext xmlns:c16="http://schemas.microsoft.com/office/drawing/2014/chart" uri="{C3380CC4-5D6E-409C-BE32-E72D297353CC}">
              <c16:uniqueId val="{0000000E-7939-4186-A812-0A26674D7BDA}"/>
            </c:ext>
          </c:extLst>
        </c:ser>
        <c:dLbls>
          <c:showLegendKey val="0"/>
          <c:showVal val="0"/>
          <c:showCatName val="0"/>
          <c:showSerName val="0"/>
          <c:showPercent val="0"/>
          <c:showBubbleSize val="0"/>
        </c:dLbls>
        <c:gapWidth val="150"/>
        <c:axId val="769068735"/>
        <c:axId val="881042095"/>
      </c:barChart>
      <c:lineChart>
        <c:grouping val="standard"/>
        <c:varyColors val="0"/>
        <c:ser>
          <c:idx val="2"/>
          <c:order val="2"/>
          <c:tx>
            <c:strRef>
              <c:f>'Vẽ-Phương'!$A$7</c:f>
              <c:strCache>
                <c:ptCount val="1"/>
                <c:pt idx="0">
                  <c:v>Chỉ tiêu</c:v>
                </c:pt>
              </c:strCache>
            </c:strRef>
          </c:tx>
          <c:spPr>
            <a:ln w="25400" cap="rnd">
              <a:solidFill>
                <a:srgbClr val="FF0000"/>
              </a:solidFill>
              <a:round/>
            </a:ln>
            <a:effectLst/>
          </c:spPr>
          <c:marker>
            <c:symbol val="none"/>
          </c:marker>
          <c:dLbls>
            <c:dLbl>
              <c:idx val="8"/>
              <c:layout>
                <c:manualLayout>
                  <c:x val="-1.7295289144550485E-2"/>
                  <c:y val="-3.325815767613998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254-4B67-B167-FFF9E994D945}"/>
                </c:ext>
              </c:extLst>
            </c:dLbl>
            <c:spPr>
              <a:solidFill>
                <a:sysClr val="window" lastClr="FFFFFF"/>
              </a:solidFill>
              <a:ln w="19050" cap="flat" cmpd="sng" algn="ctr">
                <a:solidFill>
                  <a:srgbClr val="FF0000"/>
                </a:solidFill>
                <a:prstDash val="solid"/>
                <a:miter lim="800000"/>
              </a:ln>
              <a:effectLst/>
            </c:spPr>
            <c:txPr>
              <a:bodyPr rot="0" spcFirstLastPara="1" vertOverflow="ellipsis" vert="horz" wrap="square" lIns="38100" tIns="19050" rIns="38100" bIns="19050" anchor="ctr" anchorCtr="1">
                <a:spAutoFit/>
              </a:bodyPr>
              <a:lstStyle/>
              <a:p>
                <a:pPr>
                  <a:defRPr sz="700" b="0" i="0" u="none" strike="noStrike" kern="1200" baseline="0">
                    <a:solidFill>
                      <a:sysClr val="windowText" lastClr="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'Vẽ-Phương'!$B$3:$M$3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'Vẽ-Phương'!$B$7:$M$7</c:f>
              <c:numCache>
                <c:formatCode>_(* #,##0.0_);_(* \(#,##0.0\);_(* "-"??_);_(@_)</c:formatCode>
                <c:ptCount val="12"/>
                <c:pt idx="0">
                  <c:v>2.4111937592640929</c:v>
                </c:pt>
                <c:pt idx="1">
                  <c:v>5.0457558744865567</c:v>
                </c:pt>
                <c:pt idx="2">
                  <c:v>8.0139287940543245</c:v>
                </c:pt>
                <c:pt idx="3">
                  <c:v>14.79432251584881</c:v>
                </c:pt>
                <c:pt idx="4">
                  <c:v>25.612612795112824</c:v>
                </c:pt>
                <c:pt idx="5">
                  <c:v>36.642358726153866</c:v>
                </c:pt>
                <c:pt idx="6">
                  <c:v>52.662901855349716</c:v>
                </c:pt>
                <c:pt idx="7">
                  <c:v>73.306058502538079</c:v>
                </c:pt>
                <c:pt idx="8">
                  <c:v>93.87934620006007</c:v>
                </c:pt>
                <c:pt idx="9">
                  <c:v>115.81892259927552</c:v>
                </c:pt>
                <c:pt idx="10">
                  <c:v>134.71510868893569</c:v>
                </c:pt>
                <c:pt idx="11">
                  <c:v>151.6240718549731</c:v>
                </c:pt>
              </c:numCache>
            </c:numRef>
          </c:val>
          <c:smooth val="0"/>
          <c:extLst>
            <c:ext xmlns:c16="http://schemas.microsoft.com/office/drawing/2014/chart" uri="{C3380CC4-5D6E-409C-BE32-E72D297353CC}">
              <c16:uniqueId val="{00000002-E9FC-49B1-9E2A-6F8ADAB87AD5}"/>
            </c:ext>
          </c:extLst>
        </c:ser>
        <c:dLbls>
          <c:showLegendKey val="0"/>
          <c:showVal val="0"/>
          <c:showCatName val="0"/>
          <c:showSerName val="0"/>
          <c:showPercent val="0"/>
          <c:showBubbleSize val="0"/>
        </c:dLbls>
        <c:marker val="1"/>
        <c:smooth val="0"/>
        <c:axId val="1274894383"/>
        <c:axId val="1274880463"/>
      </c:lineChart>
      <c:catAx>
        <c:axId val="12748943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880463"/>
        <c:crosses val="autoZero"/>
        <c:auto val="1"/>
        <c:lblAlgn val="ctr"/>
        <c:lblOffset val="100"/>
        <c:noMultiLvlLbl val="0"/>
      </c:catAx>
      <c:valAx>
        <c:axId val="1274880463"/>
        <c:scaling>
          <c:orientation val="minMax"/>
        </c:scaling>
        <c:delete val="0"/>
        <c:axPos val="l"/>
        <c:numFmt formatCode="_(* #,##0.0_);_(* \(#,##0.0\);_(* &quot;-&quot;??_);_(@_)" sourceLinked="1"/>
        <c:majorTickMark val="none"/>
        <c:minorTickMark val="none"/>
        <c:tickLblPos val="none"/>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74894383"/>
        <c:crosses val="autoZero"/>
        <c:crossBetween val="between"/>
      </c:valAx>
      <c:valAx>
        <c:axId val="881042095"/>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9068735"/>
        <c:crosses val="max"/>
        <c:crossBetween val="between"/>
      </c:valAx>
      <c:catAx>
        <c:axId val="769068735"/>
        <c:scaling>
          <c:orientation val="minMax"/>
        </c:scaling>
        <c:delete val="1"/>
        <c:axPos val="b"/>
        <c:majorTickMark val="out"/>
        <c:minorTickMark val="none"/>
        <c:tickLblPos val="nextTo"/>
        <c:crossAx val="881042095"/>
        <c:crosses val="autoZero"/>
        <c:auto val="1"/>
        <c:lblAlgn val="ctr"/>
        <c:lblOffset val="100"/>
        <c:noMultiLvlLbl val="0"/>
      </c:catAx>
      <c:spPr>
        <a:noFill/>
        <a:ln>
          <a:noFill/>
        </a:ln>
        <a:effectLst/>
      </c:spPr>
    </c:plotArea>
    <c:legend>
      <c:legendPos val="b"/>
      <c:layout>
        <c:manualLayout>
          <c:xMode val="edge"/>
          <c:yMode val="edge"/>
          <c:x val="1.0404410162548235E-3"/>
          <c:y val="2.7729406420351245E-2"/>
          <c:w val="0.40573673997569276"/>
          <c:h val="0.1042132586395266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79388" y="1076325"/>
            <a:ext cx="9569450" cy="53832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92664" y="6818988"/>
            <a:ext cx="7941310" cy="6460093"/>
          </a:xfrm>
          <a:prstGeom prst="rect">
            <a:avLst/>
          </a:prstGeom>
          <a:noFill/>
          <a:ln>
            <a:noFill/>
          </a:ln>
        </p:spPr>
        <p:txBody>
          <a:bodyPr spcFirstLastPara="1" wrap="square" lIns="138728" tIns="138728" rIns="138728" bIns="138728"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1594458500_0_149:notes"/>
          <p:cNvSpPr>
            <a:spLocks noGrp="1" noRot="1" noChangeAspect="1"/>
          </p:cNvSpPr>
          <p:nvPr>
            <p:ph type="sldImg" idx="2"/>
          </p:nvPr>
        </p:nvSpPr>
        <p:spPr>
          <a:xfrm>
            <a:off x="179388" y="1076325"/>
            <a:ext cx="9567862" cy="5383213"/>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1594458500_0_149:notes"/>
          <p:cNvSpPr txBox="1">
            <a:spLocks noGrp="1"/>
          </p:cNvSpPr>
          <p:nvPr>
            <p:ph type="body" idx="1"/>
          </p:nvPr>
        </p:nvSpPr>
        <p:spPr>
          <a:xfrm>
            <a:off x="992664" y="6818988"/>
            <a:ext cx="7941310" cy="6460093"/>
          </a:xfrm>
          <a:prstGeom prst="rect">
            <a:avLst/>
          </a:prstGeom>
        </p:spPr>
        <p:txBody>
          <a:bodyPr spcFirstLastPara="1" wrap="square" lIns="138728" tIns="138728" rIns="138728" bIns="138728"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9388" y="1076325"/>
            <a:ext cx="9567862" cy="5383213"/>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03223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9388" y="1076325"/>
            <a:ext cx="9567862" cy="5383213"/>
          </a:xfrm>
        </p:spPr>
      </p:sp>
      <p:sp>
        <p:nvSpPr>
          <p:cNvPr id="3" name="Notes Placeholder 2"/>
          <p:cNvSpPr>
            <a:spLocks noGrp="1"/>
          </p:cNvSpPr>
          <p:nvPr>
            <p:ph type="body" idx="1"/>
          </p:nvPr>
        </p:nvSpPr>
        <p:spPr/>
        <p:txBody>
          <a:bodyPr/>
          <a:lstStyle/>
          <a:p>
            <a:pPr marL="211981" indent="0">
              <a:buNone/>
            </a:pPr>
            <a:r>
              <a:rPr lang="en-US" sz="1100" b="0" i="0" u="none" strike="noStrike" cap="none">
                <a:solidFill>
                  <a:schemeClr val="tx1"/>
                </a:solidFill>
                <a:latin typeface="Arial (Headings)"/>
                <a:cs typeface="Times New Roman"/>
                <a:sym typeface="Arial"/>
              </a:rPr>
              <a:t>giá nhựa </a:t>
            </a:r>
            <a:r>
              <a:rPr lang="en-US" sz="1100" b="0" i="0" u="none" strike="noStrike" cap="none" err="1">
                <a:solidFill>
                  <a:schemeClr val="tx1"/>
                </a:solidFill>
                <a:latin typeface="Arial (Headings)"/>
                <a:cs typeface="Times New Roman"/>
                <a:sym typeface="Arial"/>
              </a:rPr>
              <a:t>vPET</a:t>
            </a:r>
            <a:r>
              <a:rPr lang="en-US" sz="1100" b="0" i="0" u="none" strike="noStrike" cap="none">
                <a:solidFill>
                  <a:schemeClr val="tx1"/>
                </a:solidFill>
                <a:latin typeface="Arial (Headings)"/>
                <a:cs typeface="Times New Roman"/>
                <a:sym typeface="Arial"/>
              </a:rPr>
              <a:t> trung bình theo tháng 770 USD/tấn</a:t>
            </a:r>
            <a:endParaRPr lang="en-US"/>
          </a:p>
        </p:txBody>
      </p:sp>
    </p:spTree>
    <p:extLst>
      <p:ext uri="{BB962C8B-B14F-4D97-AF65-F5344CB8AC3E}">
        <p14:creationId xmlns:p14="http://schemas.microsoft.com/office/powerpoint/2010/main" val="30922694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493629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719720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52AFB-DC0D-1EB4-DE83-50BCE528B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ABDB2-50B2-A217-B635-5434492E705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B1F7EF0-5A2E-4E0F-C2F4-7962BFE65A2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573762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35AF5-B230-C20C-B6F9-44410601A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C77B5-DA70-7333-17C9-D4FDDB4123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CDB07E-FBAB-E07F-9C62-6970DC39B56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74543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35AF5-B230-C20C-B6F9-44410601A1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C77B5-DA70-7333-17C9-D4FDDB4123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CDB07E-FBAB-E07F-9C62-6970DC39B56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745434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757C8-0A45-74DD-E0DA-BFFC631A4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413EF-5FC9-0ED1-F6FC-BE6F2AE7442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EBBD2AE-574B-8527-8FA5-7E65D27C7A6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8332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DB7FF-F0A5-0054-680D-FD8377768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9A455-E64F-A745-3CE2-3E63AF15FF9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644FB0E-B749-1D01-6D73-BDA4A45B87C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09623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CF664-9998-0D38-B5CB-F0805DE25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C6A805-CF01-85B4-8656-E83A47B471D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F521351-3A5D-645D-B37B-797A2BEAC4F6}"/>
              </a:ext>
            </a:extLst>
          </p:cNvPr>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4538817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54500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9086A-C3FA-74F1-AFE5-8C14F7597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FA862-B527-4411-CB7C-DCE3B53A4F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9C32CFC-C4F4-54D2-F19F-DACB4BE07A71}"/>
              </a:ext>
            </a:extLst>
          </p:cNvPr>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1282916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B3D1C-3925-A8DC-CDC0-F48C47637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3698C8-BC2B-0B1D-F7C9-0105E1509B7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F8980AB-FD76-F002-F7AE-96FFE613F077}"/>
              </a:ext>
            </a:extLst>
          </p:cNvPr>
          <p:cNvSpPr>
            <a:spLocks noGrp="1"/>
          </p:cNvSpPr>
          <p:nvPr>
            <p:ph type="body" idx="1"/>
          </p:nvPr>
        </p:nvSpPr>
        <p:spPr/>
        <p:txBody>
          <a:bodyPr/>
          <a:lstStyle/>
          <a:p>
            <a:pPr marL="139700" indent="0">
              <a:buNone/>
            </a:pPr>
            <a:endParaRPr lang="en-US"/>
          </a:p>
        </p:txBody>
      </p:sp>
    </p:spTree>
    <p:extLst>
      <p:ext uri="{BB962C8B-B14F-4D97-AF65-F5344CB8AC3E}">
        <p14:creationId xmlns:p14="http://schemas.microsoft.com/office/powerpoint/2010/main" val="40424823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58675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2018964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59993-AA81-B221-ACAB-5558EF92E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A9E215-7EDD-345F-05BD-8E1966D722F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3D2F252-C894-D94D-4DF4-73D689CF29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223418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A4F4E-B4E9-B27A-8B4C-C9E24A5C1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CB041-3F04-B1E7-DF74-EE01F91D281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710AFD9-E449-0CCE-CC09-C4AA4DDC312B}"/>
              </a:ext>
            </a:extLst>
          </p:cNvPr>
          <p:cNvSpPr>
            <a:spLocks noGrp="1"/>
          </p:cNvSpPr>
          <p:nvPr>
            <p:ph type="body" idx="1"/>
          </p:nvPr>
        </p:nvSpPr>
        <p:spPr/>
        <p:txBody>
          <a:bodyPr/>
          <a:lstStyle/>
          <a:p>
            <a:r>
              <a:rPr lang="en-US"/>
              <a:t>Chi phí Thuê xưởng, thuê máy T08 tăng so với T07 (giá trị tuyệt đối lần lượt: 9.1 tỷ và 8.6 tỷ) là do trong tháng 7 có hoàn nhập 450 triệu ghi nhận chi phí thuê xưởng Q1 cao hơn so với hợp đồng </a:t>
            </a:r>
          </a:p>
        </p:txBody>
      </p:sp>
    </p:spTree>
    <p:extLst>
      <p:ext uri="{BB962C8B-B14F-4D97-AF65-F5344CB8AC3E}">
        <p14:creationId xmlns:p14="http://schemas.microsoft.com/office/powerpoint/2010/main" val="645183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6FBA0-8B0E-AD00-8ED8-BAE2BAC05E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0E09B-D9E4-8BF1-BA77-72B153058F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969F8EC-CB5D-0E6C-9784-385A57888B17}"/>
              </a:ext>
            </a:extLst>
          </p:cNvPr>
          <p:cNvSpPr>
            <a:spLocks noGrp="1"/>
          </p:cNvSpPr>
          <p:nvPr>
            <p:ph type="body" idx="1"/>
          </p:nvPr>
        </p:nvSpPr>
        <p:spPr/>
        <p:txBody>
          <a:bodyPr/>
          <a:lstStyle/>
          <a:p>
            <a:r>
              <a:rPr lang="en-US" err="1"/>
              <a:t>Điều</a:t>
            </a:r>
            <a:r>
              <a:rPr lang="en-US"/>
              <a:t> </a:t>
            </a:r>
            <a:r>
              <a:rPr lang="en-US" err="1"/>
              <a:t>chỉnh</a:t>
            </a:r>
            <a:r>
              <a:rPr lang="en-US"/>
              <a:t> </a:t>
            </a:r>
            <a:r>
              <a:rPr lang="en-US" err="1"/>
              <a:t>trình</a:t>
            </a:r>
            <a:r>
              <a:rPr lang="en-US"/>
              <a:t> </a:t>
            </a:r>
            <a:r>
              <a:rPr lang="en-US" err="1"/>
              <a:t>bày</a:t>
            </a:r>
            <a:r>
              <a:rPr lang="en-US"/>
              <a:t> </a:t>
            </a:r>
            <a:r>
              <a:rPr lang="en-US" err="1"/>
              <a:t>phần</a:t>
            </a:r>
            <a:r>
              <a:rPr lang="en-US"/>
              <a:t> </a:t>
            </a:r>
            <a:r>
              <a:rPr lang="en-US" err="1"/>
              <a:t>khấu</a:t>
            </a:r>
            <a:r>
              <a:rPr lang="en-US"/>
              <a:t> hao &lt;-&gt; </a:t>
            </a:r>
            <a:r>
              <a:rPr lang="en-US" err="1"/>
              <a:t>thuê</a:t>
            </a:r>
            <a:endParaRPr lang="en-US"/>
          </a:p>
        </p:txBody>
      </p:sp>
    </p:spTree>
    <p:extLst>
      <p:ext uri="{BB962C8B-B14F-4D97-AF65-F5344CB8AC3E}">
        <p14:creationId xmlns:p14="http://schemas.microsoft.com/office/powerpoint/2010/main" val="28994181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530F3-96BE-4594-7650-0C8497F08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98421-48AC-3C31-F5ED-D4C6241F4D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805235-A4D5-46A4-F238-E2A4BF6C8A3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65345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userDrawn="1">
  <p:cSld name="TITLE_1">
    <p:bg>
      <p:bgPr>
        <a:noFill/>
        <a:effectLst/>
      </p:bgPr>
    </p:bg>
    <p:spTree>
      <p:nvGrpSpPr>
        <p:cNvPr id="1" name="Shape 13"/>
        <p:cNvGrpSpPr/>
        <p:nvPr/>
      </p:nvGrpSpPr>
      <p:grpSpPr>
        <a:xfrm>
          <a:off x="0" y="0"/>
          <a:ext cx="0" cy="0"/>
          <a:chOff x="0" y="0"/>
          <a:chExt cx="0" cy="0"/>
        </a:xfrm>
      </p:grpSpPr>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91"/>
        <p:cNvGrpSpPr/>
        <p:nvPr/>
      </p:nvGrpSpPr>
      <p:grpSpPr>
        <a:xfrm>
          <a:off x="0" y="0"/>
          <a:ext cx="0" cy="0"/>
          <a:chOff x="0" y="0"/>
          <a:chExt cx="0" cy="0"/>
        </a:xfrm>
      </p:grpSpPr>
      <p:sp>
        <p:nvSpPr>
          <p:cNvPr id="92" name="Google Shape;92;p11"/>
          <p:cNvSpPr txBox="1">
            <a:spLocks noGrp="1"/>
          </p:cNvSpPr>
          <p:nvPr>
            <p:ph type="title"/>
          </p:nvPr>
        </p:nvSpPr>
        <p:spPr>
          <a:xfrm>
            <a:off x="370483" y="445025"/>
            <a:ext cx="8460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4E6F9B"/>
              </a:buClr>
              <a:buSzPts val="2800"/>
              <a:buFont typeface="Muli"/>
              <a:buNone/>
              <a:defRPr>
                <a:solidFill>
                  <a:srgbClr val="4E6F9B"/>
                </a:solidFill>
                <a:latin typeface="Muli"/>
                <a:ea typeface="Muli"/>
                <a:cs typeface="Muli"/>
                <a:sym typeface="Muli"/>
              </a:defRPr>
            </a:lvl1pPr>
            <a:lvl2pPr lvl="1" rtl="0">
              <a:spcBef>
                <a:spcPts val="0"/>
              </a:spcBef>
              <a:spcAft>
                <a:spcPts val="0"/>
              </a:spcAft>
              <a:buClr>
                <a:srgbClr val="4E6F9B"/>
              </a:buClr>
              <a:buSzPts val="2800"/>
              <a:buFont typeface="Muli"/>
              <a:buNone/>
              <a:defRPr>
                <a:solidFill>
                  <a:srgbClr val="4E6F9B"/>
                </a:solidFill>
                <a:latin typeface="Muli"/>
                <a:ea typeface="Muli"/>
                <a:cs typeface="Muli"/>
                <a:sym typeface="Muli"/>
              </a:defRPr>
            </a:lvl2pPr>
            <a:lvl3pPr lvl="2" rtl="0">
              <a:spcBef>
                <a:spcPts val="0"/>
              </a:spcBef>
              <a:spcAft>
                <a:spcPts val="0"/>
              </a:spcAft>
              <a:buClr>
                <a:srgbClr val="4E6F9B"/>
              </a:buClr>
              <a:buSzPts val="2800"/>
              <a:buFont typeface="Muli"/>
              <a:buNone/>
              <a:defRPr>
                <a:solidFill>
                  <a:srgbClr val="4E6F9B"/>
                </a:solidFill>
                <a:latin typeface="Muli"/>
                <a:ea typeface="Muli"/>
                <a:cs typeface="Muli"/>
                <a:sym typeface="Muli"/>
              </a:defRPr>
            </a:lvl3pPr>
            <a:lvl4pPr lvl="3" rtl="0">
              <a:spcBef>
                <a:spcPts val="0"/>
              </a:spcBef>
              <a:spcAft>
                <a:spcPts val="0"/>
              </a:spcAft>
              <a:buClr>
                <a:srgbClr val="4E6F9B"/>
              </a:buClr>
              <a:buSzPts val="2800"/>
              <a:buFont typeface="Muli"/>
              <a:buNone/>
              <a:defRPr>
                <a:solidFill>
                  <a:srgbClr val="4E6F9B"/>
                </a:solidFill>
                <a:latin typeface="Muli"/>
                <a:ea typeface="Muli"/>
                <a:cs typeface="Muli"/>
                <a:sym typeface="Muli"/>
              </a:defRPr>
            </a:lvl4pPr>
            <a:lvl5pPr lvl="4" rtl="0">
              <a:spcBef>
                <a:spcPts val="0"/>
              </a:spcBef>
              <a:spcAft>
                <a:spcPts val="0"/>
              </a:spcAft>
              <a:buClr>
                <a:srgbClr val="4E6F9B"/>
              </a:buClr>
              <a:buSzPts val="2800"/>
              <a:buFont typeface="Muli"/>
              <a:buNone/>
              <a:defRPr>
                <a:solidFill>
                  <a:srgbClr val="4E6F9B"/>
                </a:solidFill>
                <a:latin typeface="Muli"/>
                <a:ea typeface="Muli"/>
                <a:cs typeface="Muli"/>
                <a:sym typeface="Muli"/>
              </a:defRPr>
            </a:lvl5pPr>
            <a:lvl6pPr lvl="5" rtl="0">
              <a:spcBef>
                <a:spcPts val="0"/>
              </a:spcBef>
              <a:spcAft>
                <a:spcPts val="0"/>
              </a:spcAft>
              <a:buClr>
                <a:srgbClr val="4E6F9B"/>
              </a:buClr>
              <a:buSzPts val="2800"/>
              <a:buFont typeface="Muli"/>
              <a:buNone/>
              <a:defRPr>
                <a:solidFill>
                  <a:srgbClr val="4E6F9B"/>
                </a:solidFill>
                <a:latin typeface="Muli"/>
                <a:ea typeface="Muli"/>
                <a:cs typeface="Muli"/>
                <a:sym typeface="Muli"/>
              </a:defRPr>
            </a:lvl6pPr>
            <a:lvl7pPr lvl="6" rtl="0">
              <a:spcBef>
                <a:spcPts val="0"/>
              </a:spcBef>
              <a:spcAft>
                <a:spcPts val="0"/>
              </a:spcAft>
              <a:buClr>
                <a:srgbClr val="4E6F9B"/>
              </a:buClr>
              <a:buSzPts val="2800"/>
              <a:buFont typeface="Muli"/>
              <a:buNone/>
              <a:defRPr>
                <a:solidFill>
                  <a:srgbClr val="4E6F9B"/>
                </a:solidFill>
                <a:latin typeface="Muli"/>
                <a:ea typeface="Muli"/>
                <a:cs typeface="Muli"/>
                <a:sym typeface="Muli"/>
              </a:defRPr>
            </a:lvl7pPr>
            <a:lvl8pPr lvl="7" rtl="0">
              <a:spcBef>
                <a:spcPts val="0"/>
              </a:spcBef>
              <a:spcAft>
                <a:spcPts val="0"/>
              </a:spcAft>
              <a:buClr>
                <a:srgbClr val="4E6F9B"/>
              </a:buClr>
              <a:buSzPts val="2800"/>
              <a:buFont typeface="Muli"/>
              <a:buNone/>
              <a:defRPr>
                <a:solidFill>
                  <a:srgbClr val="4E6F9B"/>
                </a:solidFill>
                <a:latin typeface="Muli"/>
                <a:ea typeface="Muli"/>
                <a:cs typeface="Muli"/>
                <a:sym typeface="Muli"/>
              </a:defRPr>
            </a:lvl8pPr>
            <a:lvl9pPr lvl="8" rtl="0">
              <a:spcBef>
                <a:spcPts val="0"/>
              </a:spcBef>
              <a:spcAft>
                <a:spcPts val="0"/>
              </a:spcAft>
              <a:buClr>
                <a:srgbClr val="4E6F9B"/>
              </a:buClr>
              <a:buSzPts val="2800"/>
              <a:buFont typeface="Muli"/>
              <a:buNone/>
              <a:defRPr>
                <a:solidFill>
                  <a:srgbClr val="4E6F9B"/>
                </a:solidFill>
                <a:latin typeface="Muli"/>
                <a:ea typeface="Muli"/>
                <a:cs typeface="Muli"/>
                <a:sym typeface="Muli"/>
              </a:defRPr>
            </a:lvl9pPr>
          </a:lstStyle>
          <a:p>
            <a:endParaRPr/>
          </a:p>
        </p:txBody>
      </p:sp>
      <p:sp>
        <p:nvSpPr>
          <p:cNvPr id="93" name="Google Shape;93;p11"/>
          <p:cNvSpPr txBox="1">
            <a:spLocks noGrp="1"/>
          </p:cNvSpPr>
          <p:nvPr>
            <p:ph type="body" idx="1"/>
          </p:nvPr>
        </p:nvSpPr>
        <p:spPr>
          <a:xfrm>
            <a:off x="370475" y="1348400"/>
            <a:ext cx="38913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Muli"/>
              <a:buChar char="●"/>
              <a:defRPr>
                <a:latin typeface="Muli"/>
                <a:ea typeface="Muli"/>
                <a:cs typeface="Muli"/>
                <a:sym typeface="Muli"/>
              </a:defRPr>
            </a:lvl1pPr>
            <a:lvl2pPr marL="914400" lvl="1" indent="-317500" rtl="0">
              <a:spcBef>
                <a:spcPts val="1600"/>
              </a:spcBef>
              <a:spcAft>
                <a:spcPts val="0"/>
              </a:spcAft>
              <a:buSzPts val="1400"/>
              <a:buFont typeface="Muli"/>
              <a:buChar char="○"/>
              <a:defRPr>
                <a:latin typeface="Muli"/>
                <a:ea typeface="Muli"/>
                <a:cs typeface="Muli"/>
                <a:sym typeface="Muli"/>
              </a:defRPr>
            </a:lvl2pPr>
            <a:lvl3pPr marL="1371600" lvl="2" indent="-317500" rtl="0">
              <a:spcBef>
                <a:spcPts val="1600"/>
              </a:spcBef>
              <a:spcAft>
                <a:spcPts val="0"/>
              </a:spcAft>
              <a:buSzPts val="1400"/>
              <a:buFont typeface="Muli"/>
              <a:buChar char="■"/>
              <a:defRPr>
                <a:latin typeface="Muli"/>
                <a:ea typeface="Muli"/>
                <a:cs typeface="Muli"/>
                <a:sym typeface="Muli"/>
              </a:defRPr>
            </a:lvl3pPr>
            <a:lvl4pPr marL="1828800" lvl="3" indent="-317500" rtl="0">
              <a:spcBef>
                <a:spcPts val="1600"/>
              </a:spcBef>
              <a:spcAft>
                <a:spcPts val="0"/>
              </a:spcAft>
              <a:buSzPts val="1400"/>
              <a:buFont typeface="Muli"/>
              <a:buChar char="●"/>
              <a:defRPr>
                <a:latin typeface="Muli"/>
                <a:ea typeface="Muli"/>
                <a:cs typeface="Muli"/>
                <a:sym typeface="Muli"/>
              </a:defRPr>
            </a:lvl4pPr>
            <a:lvl5pPr marL="2286000" lvl="4" indent="-317500" rtl="0">
              <a:spcBef>
                <a:spcPts val="1600"/>
              </a:spcBef>
              <a:spcAft>
                <a:spcPts val="0"/>
              </a:spcAft>
              <a:buSzPts val="1400"/>
              <a:buFont typeface="Muli"/>
              <a:buChar char="○"/>
              <a:defRPr>
                <a:latin typeface="Muli"/>
                <a:ea typeface="Muli"/>
                <a:cs typeface="Muli"/>
                <a:sym typeface="Muli"/>
              </a:defRPr>
            </a:lvl5pPr>
            <a:lvl6pPr marL="2743200" lvl="5" indent="-317500" rtl="0">
              <a:spcBef>
                <a:spcPts val="1600"/>
              </a:spcBef>
              <a:spcAft>
                <a:spcPts val="0"/>
              </a:spcAft>
              <a:buSzPts val="1400"/>
              <a:buFont typeface="Muli"/>
              <a:buChar char="■"/>
              <a:defRPr>
                <a:latin typeface="Muli"/>
                <a:ea typeface="Muli"/>
                <a:cs typeface="Muli"/>
                <a:sym typeface="Muli"/>
              </a:defRPr>
            </a:lvl6pPr>
            <a:lvl7pPr marL="3200400" lvl="6" indent="-317500" rtl="0">
              <a:spcBef>
                <a:spcPts val="1600"/>
              </a:spcBef>
              <a:spcAft>
                <a:spcPts val="0"/>
              </a:spcAft>
              <a:buSzPts val="1400"/>
              <a:buFont typeface="Muli"/>
              <a:buChar char="●"/>
              <a:defRPr>
                <a:latin typeface="Muli"/>
                <a:ea typeface="Muli"/>
                <a:cs typeface="Muli"/>
                <a:sym typeface="Muli"/>
              </a:defRPr>
            </a:lvl7pPr>
            <a:lvl8pPr marL="3657600" lvl="7" indent="-317500" rtl="0">
              <a:spcBef>
                <a:spcPts val="1600"/>
              </a:spcBef>
              <a:spcAft>
                <a:spcPts val="0"/>
              </a:spcAft>
              <a:buSzPts val="1400"/>
              <a:buFont typeface="Muli"/>
              <a:buChar char="○"/>
              <a:defRPr>
                <a:latin typeface="Muli"/>
                <a:ea typeface="Muli"/>
                <a:cs typeface="Muli"/>
                <a:sym typeface="Muli"/>
              </a:defRPr>
            </a:lvl8pPr>
            <a:lvl9pPr marL="4114800" lvl="8" indent="-317500" rtl="0">
              <a:spcBef>
                <a:spcPts val="1600"/>
              </a:spcBef>
              <a:spcAft>
                <a:spcPts val="1600"/>
              </a:spcAft>
              <a:buSzPts val="1400"/>
              <a:buFont typeface="Muli"/>
              <a:buChar char="■"/>
              <a:defRPr>
                <a:latin typeface="Muli"/>
                <a:ea typeface="Muli"/>
                <a:cs typeface="Muli"/>
                <a:sym typeface="Muli"/>
              </a:defRPr>
            </a:lvl9pPr>
          </a:lstStyle>
          <a:p>
            <a:endParaRPr/>
          </a:p>
        </p:txBody>
      </p:sp>
      <p:sp>
        <p:nvSpPr>
          <p:cNvPr id="94" name="Google Shape;94;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smtClean="0"/>
              <a:t>‹#›</a:t>
            </a:fld>
            <a:endParaRPr/>
          </a:p>
        </p:txBody>
      </p:sp>
      <p:sp>
        <p:nvSpPr>
          <p:cNvPr id="100" name="Google Shape;100;p11"/>
          <p:cNvSpPr txBox="1">
            <a:spLocks noGrp="1"/>
          </p:cNvSpPr>
          <p:nvPr>
            <p:ph type="subTitle" idx="2"/>
          </p:nvPr>
        </p:nvSpPr>
        <p:spPr>
          <a:xfrm>
            <a:off x="370483" y="941525"/>
            <a:ext cx="8460000" cy="3936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01" name="Google Shape;101;p11"/>
          <p:cNvSpPr txBox="1">
            <a:spLocks noGrp="1"/>
          </p:cNvSpPr>
          <p:nvPr>
            <p:ph type="body" idx="3"/>
          </p:nvPr>
        </p:nvSpPr>
        <p:spPr>
          <a:xfrm>
            <a:off x="4581150" y="1348400"/>
            <a:ext cx="3891300" cy="34164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Muli"/>
              <a:buChar char="●"/>
              <a:defRPr>
                <a:latin typeface="Muli"/>
                <a:ea typeface="Muli"/>
                <a:cs typeface="Muli"/>
                <a:sym typeface="Muli"/>
              </a:defRPr>
            </a:lvl1pPr>
            <a:lvl2pPr marL="914400" lvl="1" indent="-317500" rtl="0">
              <a:spcBef>
                <a:spcPts val="1600"/>
              </a:spcBef>
              <a:spcAft>
                <a:spcPts val="0"/>
              </a:spcAft>
              <a:buSzPts val="1400"/>
              <a:buFont typeface="Muli"/>
              <a:buChar char="○"/>
              <a:defRPr>
                <a:latin typeface="Muli"/>
                <a:ea typeface="Muli"/>
                <a:cs typeface="Muli"/>
                <a:sym typeface="Muli"/>
              </a:defRPr>
            </a:lvl2pPr>
            <a:lvl3pPr marL="1371600" lvl="2" indent="-317500" rtl="0">
              <a:spcBef>
                <a:spcPts val="1600"/>
              </a:spcBef>
              <a:spcAft>
                <a:spcPts val="0"/>
              </a:spcAft>
              <a:buSzPts val="1400"/>
              <a:buFont typeface="Muli"/>
              <a:buChar char="■"/>
              <a:defRPr>
                <a:latin typeface="Muli"/>
                <a:ea typeface="Muli"/>
                <a:cs typeface="Muli"/>
                <a:sym typeface="Muli"/>
              </a:defRPr>
            </a:lvl3pPr>
            <a:lvl4pPr marL="1828800" lvl="3" indent="-317500" rtl="0">
              <a:spcBef>
                <a:spcPts val="1600"/>
              </a:spcBef>
              <a:spcAft>
                <a:spcPts val="0"/>
              </a:spcAft>
              <a:buSzPts val="1400"/>
              <a:buFont typeface="Muli"/>
              <a:buChar char="●"/>
              <a:defRPr>
                <a:latin typeface="Muli"/>
                <a:ea typeface="Muli"/>
                <a:cs typeface="Muli"/>
                <a:sym typeface="Muli"/>
              </a:defRPr>
            </a:lvl4pPr>
            <a:lvl5pPr marL="2286000" lvl="4" indent="-317500" rtl="0">
              <a:spcBef>
                <a:spcPts val="1600"/>
              </a:spcBef>
              <a:spcAft>
                <a:spcPts val="0"/>
              </a:spcAft>
              <a:buSzPts val="1400"/>
              <a:buFont typeface="Muli"/>
              <a:buChar char="○"/>
              <a:defRPr>
                <a:latin typeface="Muli"/>
                <a:ea typeface="Muli"/>
                <a:cs typeface="Muli"/>
                <a:sym typeface="Muli"/>
              </a:defRPr>
            </a:lvl5pPr>
            <a:lvl6pPr marL="2743200" lvl="5" indent="-317500" rtl="0">
              <a:spcBef>
                <a:spcPts val="1600"/>
              </a:spcBef>
              <a:spcAft>
                <a:spcPts val="0"/>
              </a:spcAft>
              <a:buSzPts val="1400"/>
              <a:buFont typeface="Muli"/>
              <a:buChar char="■"/>
              <a:defRPr>
                <a:latin typeface="Muli"/>
                <a:ea typeface="Muli"/>
                <a:cs typeface="Muli"/>
                <a:sym typeface="Muli"/>
              </a:defRPr>
            </a:lvl6pPr>
            <a:lvl7pPr marL="3200400" lvl="6" indent="-317500" rtl="0">
              <a:spcBef>
                <a:spcPts val="1600"/>
              </a:spcBef>
              <a:spcAft>
                <a:spcPts val="0"/>
              </a:spcAft>
              <a:buSzPts val="1400"/>
              <a:buFont typeface="Muli"/>
              <a:buChar char="●"/>
              <a:defRPr>
                <a:latin typeface="Muli"/>
                <a:ea typeface="Muli"/>
                <a:cs typeface="Muli"/>
                <a:sym typeface="Muli"/>
              </a:defRPr>
            </a:lvl7pPr>
            <a:lvl8pPr marL="3657600" lvl="7" indent="-317500" rtl="0">
              <a:spcBef>
                <a:spcPts val="1600"/>
              </a:spcBef>
              <a:spcAft>
                <a:spcPts val="0"/>
              </a:spcAft>
              <a:buSzPts val="1400"/>
              <a:buFont typeface="Muli"/>
              <a:buChar char="○"/>
              <a:defRPr>
                <a:latin typeface="Muli"/>
                <a:ea typeface="Muli"/>
                <a:cs typeface="Muli"/>
                <a:sym typeface="Muli"/>
              </a:defRPr>
            </a:lvl8pPr>
            <a:lvl9pPr marL="4114800" lvl="8" indent="-317500" rtl="0">
              <a:spcBef>
                <a:spcPts val="1600"/>
              </a:spcBef>
              <a:spcAft>
                <a:spcPts val="1600"/>
              </a:spcAft>
              <a:buSzPts val="1400"/>
              <a:buFont typeface="Muli"/>
              <a:buChar char="■"/>
              <a:defRPr>
                <a:latin typeface="Muli"/>
                <a:ea typeface="Muli"/>
                <a:cs typeface="Muli"/>
                <a:sym typeface="Mul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Picture 8">
            <a:extLst>
              <a:ext uri="{FF2B5EF4-FFF2-40B4-BE49-F238E27FC236}">
                <a16:creationId xmlns:a16="http://schemas.microsoft.com/office/drawing/2014/main" id="{2BB179A5-D0A4-9731-C600-FE4696F7F508}"/>
              </a:ext>
            </a:extLst>
          </p:cNvPr>
          <p:cNvPicPr>
            <a:picLocks noChangeAspect="1"/>
          </p:cNvPicPr>
          <p:nvPr userDrawn="1"/>
        </p:nvPicPr>
        <p:blipFill>
          <a:blip r:embed="rId4"/>
          <a:srcRect/>
          <a:stretch/>
        </p:blipFill>
        <p:spPr>
          <a:xfrm>
            <a:off x="106280" y="4990267"/>
            <a:ext cx="614635" cy="94248"/>
          </a:xfrm>
          <a:prstGeom prst="rect">
            <a:avLst/>
          </a:prstGeom>
        </p:spPr>
      </p:pic>
      <p:sp>
        <p:nvSpPr>
          <p:cNvPr id="10" name="Rectangle 9">
            <a:extLst>
              <a:ext uri="{FF2B5EF4-FFF2-40B4-BE49-F238E27FC236}">
                <a16:creationId xmlns:a16="http://schemas.microsoft.com/office/drawing/2014/main" id="{0C258937-FB5A-DD24-8D91-AB27D66988BB}"/>
              </a:ext>
            </a:extLst>
          </p:cNvPr>
          <p:cNvSpPr/>
          <p:nvPr userDrawn="1"/>
        </p:nvSpPr>
        <p:spPr>
          <a:xfrm>
            <a:off x="789947" y="4924412"/>
            <a:ext cx="8354053" cy="219088"/>
          </a:xfrm>
          <a:prstGeom prst="rect">
            <a:avLst/>
          </a:prstGeom>
          <a:solidFill>
            <a:srgbClr val="11930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95FDBB7-518F-CF9E-A68A-F9C0D8F4D028}"/>
              </a:ext>
            </a:extLst>
          </p:cNvPr>
          <p:cNvSpPr txBox="1"/>
          <p:nvPr userDrawn="1"/>
        </p:nvSpPr>
        <p:spPr>
          <a:xfrm>
            <a:off x="720914" y="4880067"/>
            <a:ext cx="8423085" cy="307777"/>
          </a:xfrm>
          <a:prstGeom prst="rect">
            <a:avLst/>
          </a:prstGeom>
          <a:noFill/>
        </p:spPr>
        <p:txBody>
          <a:bodyPr wrap="square">
            <a:spAutoFit/>
          </a:bodyPr>
          <a:lstStyle/>
          <a:p>
            <a:pPr algn="r"/>
            <a:fld id="{D57F1E4F-1CFF-5643-939E-217C01CDF565}" type="slidenum">
              <a:rPr lang="en-US" b="1" smtClean="0">
                <a:solidFill>
                  <a:schemeClr val="bg1"/>
                </a:solidFill>
                <a:latin typeface="Times New Roman" panose="02020603050405020304" pitchFamily="18" charset="0"/>
                <a:cs typeface="Times New Roman" panose="02020603050405020304" pitchFamily="18" charset="0"/>
              </a:rPr>
              <a:pPr algn="r"/>
              <a:t>‹#›</a:t>
            </a:fld>
            <a:r>
              <a:rPr lang="en-US" b="1">
                <a:solidFill>
                  <a:schemeClr val="bg1"/>
                </a:solidFill>
                <a:latin typeface="Times New Roman" panose="02020603050405020304" pitchFamily="18" charset="0"/>
                <a:cs typeface="Times New Roman" panose="02020603050405020304" pitchFamily="18" charset="0"/>
              </a:rPr>
              <a:t>/41</a:t>
            </a: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2" name="Picture 1">
            <a:extLst>
              <a:ext uri="{FF2B5EF4-FFF2-40B4-BE49-F238E27FC236}">
                <a16:creationId xmlns:a16="http://schemas.microsoft.com/office/drawing/2014/main" id="{6616916C-7009-04E1-731D-9E41C40778B3}"/>
              </a:ext>
            </a:extLst>
          </p:cNvPr>
          <p:cNvPicPr>
            <a:picLocks noChangeAspect="1"/>
          </p:cNvPicPr>
          <p:nvPr/>
        </p:nvPicPr>
        <p:blipFill>
          <a:blip r:embed="rId3"/>
          <a:srcRect/>
          <a:stretch/>
        </p:blipFill>
        <p:spPr>
          <a:xfrm>
            <a:off x="386116" y="211188"/>
            <a:ext cx="1195080" cy="183253"/>
          </a:xfrm>
          <a:prstGeom prst="rect">
            <a:avLst/>
          </a:prstGeom>
        </p:spPr>
      </p:pic>
      <p:sp>
        <p:nvSpPr>
          <p:cNvPr id="4" name="Title 1">
            <a:extLst>
              <a:ext uri="{FF2B5EF4-FFF2-40B4-BE49-F238E27FC236}">
                <a16:creationId xmlns:a16="http://schemas.microsoft.com/office/drawing/2014/main" id="{13148EE7-E1D9-202D-F123-9FB8B8BF279B}"/>
              </a:ext>
            </a:extLst>
          </p:cNvPr>
          <p:cNvSpPr txBox="1">
            <a:spLocks/>
          </p:cNvSpPr>
          <p:nvPr/>
        </p:nvSpPr>
        <p:spPr>
          <a:xfrm>
            <a:off x="107952" y="2996711"/>
            <a:ext cx="8978747" cy="1872163"/>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ctr" defTabSz="457200" rtl="0" eaLnBrk="1" fontAlgn="auto" latinLnBrk="0" hangingPunct="1">
              <a:lnSpc>
                <a:spcPct val="100000"/>
              </a:lnSpc>
              <a:spcBef>
                <a:spcPct val="0"/>
              </a:spcBef>
              <a:spcAft>
                <a:spcPts val="0"/>
              </a:spcAft>
              <a:buClrTx/>
              <a:buSzTx/>
              <a:buFontTx/>
              <a:buNone/>
              <a:tabLst/>
              <a:defRPr/>
            </a:pPr>
            <a:endParaRPr kumimoji="0" lang="en-US" sz="1600" b="1" i="0" u="none" strike="noStrike" kern="1200" cap="none" spc="0" normalizeH="0" baseline="0" noProof="0">
              <a:ln>
                <a:noFill/>
              </a:ln>
              <a:solidFill>
                <a:srgbClr val="90C226"/>
              </a:solidFill>
              <a:effectLst/>
              <a:uLnTx/>
              <a:uFillTx/>
              <a:latin typeface="Times New Roman" panose="02020603050405020304" pitchFamily="18" charset="0"/>
              <a:ea typeface="+mj-ea"/>
              <a:cs typeface="Times New Roman" panose="02020603050405020304" pitchFamily="18" charset="0"/>
            </a:endParaRPr>
          </a:p>
        </p:txBody>
      </p:sp>
      <p:sp>
        <p:nvSpPr>
          <p:cNvPr id="7" name="Rectangle 6">
            <a:extLst>
              <a:ext uri="{FF2B5EF4-FFF2-40B4-BE49-F238E27FC236}">
                <a16:creationId xmlns:a16="http://schemas.microsoft.com/office/drawing/2014/main" id="{B0E32C53-F9F6-E860-9F82-A8EA53A25691}"/>
              </a:ext>
            </a:extLst>
          </p:cNvPr>
          <p:cNvSpPr/>
          <p:nvPr/>
        </p:nvSpPr>
        <p:spPr>
          <a:xfrm>
            <a:off x="0" y="1627910"/>
            <a:ext cx="9144000" cy="1173268"/>
          </a:xfrm>
          <a:prstGeom prst="rect">
            <a:avLst/>
          </a:prstGeom>
          <a:solidFill>
            <a:srgbClr val="11930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Google Shape;170;p19">
            <a:extLst>
              <a:ext uri="{FF2B5EF4-FFF2-40B4-BE49-F238E27FC236}">
                <a16:creationId xmlns:a16="http://schemas.microsoft.com/office/drawing/2014/main" id="{6D0DFC0C-E3A7-AC85-8C7C-C6BD6BEC71AB}"/>
              </a:ext>
            </a:extLst>
          </p:cNvPr>
          <p:cNvSpPr txBox="1">
            <a:spLocks/>
          </p:cNvSpPr>
          <p:nvPr/>
        </p:nvSpPr>
        <p:spPr>
          <a:xfrm>
            <a:off x="1" y="1697182"/>
            <a:ext cx="9143999" cy="100327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1pPr>
            <a:lvl2pPr marR="0" lvl="1"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2pPr>
            <a:lvl3pPr marR="0" lvl="2"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3pPr>
            <a:lvl4pPr marR="0" lvl="3"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4pPr>
            <a:lvl5pPr marR="0" lvl="4"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5pPr>
            <a:lvl6pPr marR="0" lvl="5"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6pPr>
            <a:lvl7pPr marR="0" lvl="6"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7pPr>
            <a:lvl8pPr marR="0" lvl="7"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8pPr>
            <a:lvl9pPr marR="0" lvl="8" algn="l" rtl="0">
              <a:lnSpc>
                <a:spcPct val="100000"/>
              </a:lnSpc>
              <a:spcBef>
                <a:spcPts val="0"/>
              </a:spcBef>
              <a:spcAft>
                <a:spcPts val="0"/>
              </a:spcAft>
              <a:buClr>
                <a:schemeClr val="lt1"/>
              </a:buClr>
              <a:buSzPts val="1800"/>
              <a:buFont typeface="Roboto Slab"/>
              <a:buNone/>
              <a:defRPr sz="1800" b="1" i="0" u="none" strike="noStrike" cap="none">
                <a:solidFill>
                  <a:schemeClr val="lt1"/>
                </a:solidFill>
                <a:latin typeface="Roboto Slab"/>
                <a:ea typeface="Roboto Slab"/>
                <a:cs typeface="Roboto Slab"/>
                <a:sym typeface="Roboto Slab"/>
              </a:defRPr>
            </a:lvl9pPr>
          </a:lstStyle>
          <a:p>
            <a:pPr algn="ctr">
              <a:spcBef>
                <a:spcPts val="600"/>
              </a:spcBef>
            </a:pPr>
            <a:r>
              <a:rPr lang="en" sz="2400" dirty="0">
                <a:solidFill>
                  <a:schemeClr val="bg1"/>
                </a:solidFill>
                <a:latin typeface="+mn-lt"/>
                <a:cs typeface="Arial" panose="020B0604020202020204" pitchFamily="34" charset="0"/>
              </a:rPr>
              <a:t>CÔNG TY CỔ PHẦN NHỰA TÁI CHẾ DUY TÂN</a:t>
            </a:r>
          </a:p>
          <a:p>
            <a:pPr algn="ctr">
              <a:spcBef>
                <a:spcPts val="600"/>
              </a:spcBef>
            </a:pPr>
            <a:r>
              <a:rPr lang="en" sz="2400" dirty="0">
                <a:solidFill>
                  <a:schemeClr val="bg1"/>
                </a:solidFill>
                <a:latin typeface="+mn-lt"/>
                <a:cs typeface="Arial" panose="020B0604020202020204" pitchFamily="34" charset="0"/>
              </a:rPr>
              <a:t>BÁO CÁO THÁNG 12 NĂM 2025 &amp; Q4.2025</a:t>
            </a:r>
            <a:endParaRPr lang="en-US" sz="2400" dirty="0">
              <a:solidFill>
                <a:schemeClr val="bg1"/>
              </a:solidFill>
              <a:latin typeface="+mn-lt"/>
              <a:cs typeface="Arial" panose="020B0604020202020204" pitchFamily="34" charset="0"/>
            </a:endParaRPr>
          </a:p>
        </p:txBody>
      </p:sp>
      <p:sp>
        <p:nvSpPr>
          <p:cNvPr id="9" name="Google Shape;111;p13">
            <a:extLst>
              <a:ext uri="{FF2B5EF4-FFF2-40B4-BE49-F238E27FC236}">
                <a16:creationId xmlns:a16="http://schemas.microsoft.com/office/drawing/2014/main" id="{0C454FAF-64C6-8169-39AC-7716333EF97F}"/>
              </a:ext>
            </a:extLst>
          </p:cNvPr>
          <p:cNvSpPr txBox="1">
            <a:spLocks/>
          </p:cNvSpPr>
          <p:nvPr/>
        </p:nvSpPr>
        <p:spPr>
          <a:xfrm>
            <a:off x="-13204" y="3940822"/>
            <a:ext cx="9157204" cy="8082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spcBef>
                <a:spcPts val="600"/>
              </a:spcBef>
              <a:buFont typeface="Arial"/>
              <a:buNone/>
            </a:pPr>
            <a:r>
              <a:rPr lang="vi-VN" sz="1050" i="1" dirty="0">
                <a:latin typeface="Open Sans" panose="020B0606030504020204" pitchFamily="34" charset="0"/>
              </a:rPr>
              <a:t>Ngườ</a:t>
            </a:r>
            <a:r>
              <a:rPr lang="en-US" sz="1050" i="1" dirty="0" err="1">
                <a:latin typeface="Open Sans" panose="020B0606030504020204" pitchFamily="34" charset="0"/>
              </a:rPr>
              <a:t>i</a:t>
            </a:r>
            <a:r>
              <a:rPr lang="en-US" sz="1050" i="1" dirty="0">
                <a:latin typeface="Open Sans" panose="020B0606030504020204" pitchFamily="34" charset="0"/>
              </a:rPr>
              <a:t> </a:t>
            </a:r>
            <a:r>
              <a:rPr lang="en-US" sz="1050" i="1" dirty="0" err="1">
                <a:latin typeface="Open Sans" panose="020B0606030504020204" pitchFamily="34" charset="0"/>
              </a:rPr>
              <a:t>báo</a:t>
            </a:r>
            <a:r>
              <a:rPr lang="en-US" sz="1050" i="1" dirty="0">
                <a:latin typeface="Open Sans" panose="020B0606030504020204" pitchFamily="34" charset="0"/>
              </a:rPr>
              <a:t> </a:t>
            </a:r>
            <a:r>
              <a:rPr lang="en-US" sz="1050" i="1" dirty="0" err="1">
                <a:latin typeface="Open Sans" panose="020B0606030504020204" pitchFamily="34" charset="0"/>
              </a:rPr>
              <a:t>cáo</a:t>
            </a:r>
            <a:r>
              <a:rPr lang="en-US" sz="1050" i="1" dirty="0">
                <a:latin typeface="Open Sans" panose="020B0606030504020204" pitchFamily="34" charset="0"/>
              </a:rPr>
              <a:t>: </a:t>
            </a:r>
            <a:r>
              <a:rPr lang="en-US" sz="1050" b="1" i="1" dirty="0">
                <a:latin typeface="Open Sans" panose="020B0606030504020204" pitchFamily="34" charset="0"/>
              </a:rPr>
              <a:t> </a:t>
            </a:r>
          </a:p>
          <a:p>
            <a:pPr marL="0" indent="0" algn="ctr">
              <a:spcBef>
                <a:spcPts val="600"/>
              </a:spcBef>
              <a:buNone/>
            </a:pPr>
            <a:r>
              <a:rPr lang="vi-VN" sz="1050" i="1" dirty="0">
                <a:latin typeface="Open Sans" panose="020B0606030504020204" pitchFamily="34" charset="0"/>
              </a:rPr>
              <a:t>Ng</a:t>
            </a:r>
            <a:r>
              <a:rPr lang="en-US" sz="1050" i="1" dirty="0" err="1">
                <a:latin typeface="Open Sans" panose="020B0606030504020204" pitchFamily="34" charset="0"/>
              </a:rPr>
              <a:t>ày</a:t>
            </a:r>
            <a:r>
              <a:rPr lang="en-US" sz="1050" i="1" dirty="0">
                <a:latin typeface="Open Sans" panose="020B0606030504020204" pitchFamily="34" charset="0"/>
              </a:rPr>
              <a:t> </a:t>
            </a:r>
            <a:r>
              <a:rPr lang="en-US" sz="1050" i="1" dirty="0" err="1">
                <a:latin typeface="Open Sans" panose="020B0606030504020204" pitchFamily="34" charset="0"/>
              </a:rPr>
              <a:t>báo</a:t>
            </a:r>
            <a:r>
              <a:rPr lang="en-US" sz="1050" i="1" dirty="0">
                <a:latin typeface="Open Sans" panose="020B0606030504020204" pitchFamily="34" charset="0"/>
              </a:rPr>
              <a:t> </a:t>
            </a:r>
            <a:r>
              <a:rPr lang="en-US" sz="1050" i="1" dirty="0" err="1">
                <a:latin typeface="Open Sans" panose="020B0606030504020204" pitchFamily="34" charset="0"/>
              </a:rPr>
              <a:t>cáo</a:t>
            </a:r>
            <a:r>
              <a:rPr lang="en-US" sz="1050" i="1" dirty="0">
                <a:latin typeface="Open Sans" panose="020B0606030504020204" pitchFamily="34" charset="0"/>
              </a:rPr>
              <a:t>: </a:t>
            </a:r>
            <a:r>
              <a:rPr lang="en-US" sz="1050" b="1" i="1" dirty="0">
                <a:latin typeface="Open Sans" panose="020B0606030504020204" pitchFamily="34" charset="0"/>
              </a:rPr>
              <a:t>12/01/2026</a:t>
            </a:r>
            <a:endParaRPr lang="vi-VN" sz="1050" b="1" i="1" dirty="0"/>
          </a:p>
          <a:p>
            <a:pPr marL="0" indent="0" algn="ctr">
              <a:spcBef>
                <a:spcPts val="600"/>
              </a:spcBef>
              <a:buFont typeface="Arial"/>
              <a:buNone/>
            </a:pPr>
            <a:endParaRPr lang="vi-VN" sz="1050" b="1"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E90BB-D9F0-B7E7-7B76-250D366B2F01}"/>
              </a:ext>
            </a:extLst>
          </p:cNvPr>
          <p:cNvSpPr>
            <a:spLocks noGrp="1"/>
          </p:cNvSpPr>
          <p:nvPr>
            <p:ph type="title"/>
          </p:nvPr>
        </p:nvSpPr>
        <p:spPr>
          <a:xfrm>
            <a:off x="405119" y="15534"/>
            <a:ext cx="8460000" cy="572700"/>
          </a:xfrm>
        </p:spPr>
        <p:txBody>
          <a:bodyPr/>
          <a:lstStyle/>
          <a:p>
            <a:pPr algn="ctr"/>
            <a:r>
              <a:rPr lang="en-US" sz="2400" b="1">
                <a:solidFill>
                  <a:srgbClr val="00B050"/>
                </a:solidFill>
                <a:latin typeface="+mn-lt"/>
              </a:rPr>
              <a:t>NỘI DUNG BÁO CÁO</a:t>
            </a:r>
          </a:p>
        </p:txBody>
      </p:sp>
      <p:sp>
        <p:nvSpPr>
          <p:cNvPr id="7" name="TextBox 6">
            <a:extLst>
              <a:ext uri="{FF2B5EF4-FFF2-40B4-BE49-F238E27FC236}">
                <a16:creationId xmlns:a16="http://schemas.microsoft.com/office/drawing/2014/main" id="{C2E20B2F-6A38-A8B9-FB20-F00D5E47BEA5}"/>
              </a:ext>
            </a:extLst>
          </p:cNvPr>
          <p:cNvSpPr txBox="1"/>
          <p:nvPr/>
        </p:nvSpPr>
        <p:spPr>
          <a:xfrm>
            <a:off x="1634836" y="940534"/>
            <a:ext cx="6300850" cy="2510303"/>
          </a:xfrm>
          <a:prstGeom prst="rect">
            <a:avLst/>
          </a:prstGeom>
          <a:noFill/>
        </p:spPr>
        <p:txBody>
          <a:bodyPr wrap="square" rtlCol="0">
            <a:spAutoFit/>
          </a:bodyPr>
          <a:lstStyle/>
          <a:p>
            <a:pPr marL="342900" marR="0" lvl="0" indent="-342900">
              <a:lnSpc>
                <a:spcPct val="150000"/>
              </a:lnSpc>
              <a:spcBef>
                <a:spcPts val="600"/>
              </a:spcBef>
              <a:spcAft>
                <a:spcPts val="600"/>
              </a:spcAft>
              <a:buFont typeface="+mj-lt"/>
              <a:buAutoNum type="arabicPeriod"/>
            </a:pP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Báo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cáo</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tổng</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quan</a:t>
            </a:r>
            <a:endPar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marR="0" lvl="0" indent="-342900">
              <a:lnSpc>
                <a:spcPct val="150000"/>
              </a:lnSpc>
              <a:spcBef>
                <a:spcPts val="600"/>
              </a:spcBef>
              <a:spcAft>
                <a:spcPts val="600"/>
              </a:spcAft>
              <a:buFont typeface="+mj-lt"/>
              <a:buAutoNum type="arabicPeriod"/>
            </a:pP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Kết</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quả</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thực</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hiện</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mục</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tiêu</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marR="0" lvl="0" indent="-342900">
              <a:lnSpc>
                <a:spcPct val="150000"/>
              </a:lnSpc>
              <a:spcBef>
                <a:spcPts val="600"/>
              </a:spcBef>
              <a:spcAft>
                <a:spcPts val="600"/>
              </a:spcAft>
              <a:buFont typeface="+mj-lt"/>
              <a:buAutoNum type="arabicPeriod"/>
            </a:pP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Báo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cáo</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thực</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hiện</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ngân</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sách</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p>
          <a:p>
            <a:pPr marL="342900" marR="0" lvl="0" indent="-342900">
              <a:lnSpc>
                <a:spcPct val="150000"/>
              </a:lnSpc>
              <a:spcBef>
                <a:spcPts val="600"/>
              </a:spcBef>
              <a:spcAft>
                <a:spcPts val="600"/>
              </a:spcAft>
              <a:buFont typeface="+mj-lt"/>
              <a:buAutoNum type="arabicPeriod"/>
            </a:pP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Kế</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hoạch</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hành</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động</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tiếp</a:t>
            </a:r>
            <a:r>
              <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 </a:t>
            </a:r>
            <a:r>
              <a:rPr lang="en-US" sz="1600" dirty="0" err="1">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rPr>
              <a:t>theo</a:t>
            </a:r>
            <a:endParaRPr lang="en-US" sz="1600" dirty="0">
              <a:solidFill>
                <a:schemeClr val="tx1">
                  <a:lumMod val="75000"/>
                  <a:lumOff val="25000"/>
                </a:schemeClr>
              </a:solidFill>
              <a:effectLst/>
              <a:latin typeface="Times New Roman" panose="02020603050405020304" pitchFamily="18" charset="0"/>
              <a:ea typeface="Aptos" panose="020B0004020202020204" pitchFamily="34" charset="0"/>
              <a:cs typeface="Times New Roman" panose="02020603050405020304" pitchFamily="18" charset="0"/>
            </a:endParaRPr>
          </a:p>
          <a:p>
            <a:pPr marL="342900" indent="-342900">
              <a:lnSpc>
                <a:spcPct val="150000"/>
              </a:lnSpc>
              <a:spcBef>
                <a:spcPts val="600"/>
              </a:spcBef>
              <a:spcAft>
                <a:spcPts val="600"/>
              </a:spcAft>
              <a:buFont typeface="+mj-lt"/>
              <a:buAutoNum type="arabicPeriod"/>
            </a:pPr>
            <a:r>
              <a:rPr lang="en-US" sz="1600" dirty="0" err="1">
                <a:solidFill>
                  <a:schemeClr val="tx1">
                    <a:lumMod val="75000"/>
                    <a:lumOff val="25000"/>
                  </a:schemeClr>
                </a:solidFill>
                <a:latin typeface="Times New Roman" panose="02020603050405020304" pitchFamily="18" charset="0"/>
                <a:cs typeface="Times New Roman" panose="02020603050405020304" pitchFamily="18" charset="0"/>
              </a:rPr>
              <a:t>Đề</a:t>
            </a: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1600" dirty="0" err="1">
                <a:solidFill>
                  <a:schemeClr val="tx1">
                    <a:lumMod val="75000"/>
                    <a:lumOff val="25000"/>
                  </a:schemeClr>
                </a:solidFill>
                <a:latin typeface="Times New Roman" panose="02020603050405020304" pitchFamily="18" charset="0"/>
                <a:cs typeface="Times New Roman" panose="02020603050405020304" pitchFamily="18" charset="0"/>
              </a:rPr>
              <a:t>xuất</a:t>
            </a: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1600" dirty="0" err="1">
                <a:solidFill>
                  <a:schemeClr val="tx1">
                    <a:lumMod val="75000"/>
                    <a:lumOff val="25000"/>
                  </a:schemeClr>
                </a:solidFill>
                <a:latin typeface="Times New Roman" panose="02020603050405020304" pitchFamily="18" charset="0"/>
                <a:cs typeface="Times New Roman" panose="02020603050405020304" pitchFamily="18" charset="0"/>
              </a:rPr>
              <a:t>yêu</a:t>
            </a: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1600" dirty="0" err="1">
                <a:solidFill>
                  <a:schemeClr val="tx1">
                    <a:lumMod val="75000"/>
                    <a:lumOff val="25000"/>
                  </a:schemeClr>
                </a:solidFill>
                <a:latin typeface="Times New Roman" panose="02020603050405020304" pitchFamily="18" charset="0"/>
                <a:cs typeface="Times New Roman" panose="02020603050405020304" pitchFamily="18" charset="0"/>
              </a:rPr>
              <a:t>cầu</a:t>
            </a: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1600" dirty="0" err="1">
                <a:solidFill>
                  <a:schemeClr val="tx1">
                    <a:lumMod val="75000"/>
                    <a:lumOff val="25000"/>
                  </a:schemeClr>
                </a:solidFill>
                <a:latin typeface="Times New Roman" panose="02020603050405020304" pitchFamily="18" charset="0"/>
                <a:cs typeface="Times New Roman" panose="02020603050405020304" pitchFamily="18" charset="0"/>
              </a:rPr>
              <a:t>hỗ</a:t>
            </a:r>
            <a:r>
              <a:rPr lang="en-US" sz="1600" dirty="0">
                <a:solidFill>
                  <a:schemeClr val="tx1">
                    <a:lumMod val="75000"/>
                    <a:lumOff val="25000"/>
                  </a:schemeClr>
                </a:solidFill>
                <a:latin typeface="Times New Roman" panose="02020603050405020304" pitchFamily="18" charset="0"/>
                <a:cs typeface="Times New Roman" panose="02020603050405020304" pitchFamily="18" charset="0"/>
              </a:rPr>
              <a:t> </a:t>
            </a:r>
            <a:r>
              <a:rPr lang="en-US" sz="1600" dirty="0" err="1">
                <a:solidFill>
                  <a:schemeClr val="tx1">
                    <a:lumMod val="75000"/>
                    <a:lumOff val="25000"/>
                  </a:schemeClr>
                </a:solidFill>
                <a:latin typeface="Times New Roman" panose="02020603050405020304" pitchFamily="18" charset="0"/>
                <a:cs typeface="Times New Roman" panose="02020603050405020304" pitchFamily="18" charset="0"/>
              </a:rPr>
              <a:t>trợ</a:t>
            </a:r>
            <a:endParaRPr lang="en-US" sz="16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597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6C620-B5B8-8229-6F4E-F017228D8D32}"/>
              </a:ext>
            </a:extLst>
          </p:cNvPr>
          <p:cNvSpPr>
            <a:spLocks noGrp="1"/>
          </p:cNvSpPr>
          <p:nvPr>
            <p:ph type="title"/>
          </p:nvPr>
        </p:nvSpPr>
        <p:spPr>
          <a:xfrm>
            <a:off x="286808" y="1977684"/>
            <a:ext cx="8460000" cy="572700"/>
          </a:xfrm>
        </p:spPr>
        <p:txBody>
          <a:bodyPr/>
          <a:lstStyle/>
          <a:p>
            <a:pPr algn="ctr"/>
            <a:r>
              <a:rPr lang="en-US" b="1">
                <a:solidFill>
                  <a:schemeClr val="tx1">
                    <a:lumMod val="65000"/>
                    <a:lumOff val="35000"/>
                  </a:schemeClr>
                </a:solidFill>
              </a:rPr>
              <a:t>1. BÁO CÁO TỔNG QUAN</a:t>
            </a:r>
          </a:p>
        </p:txBody>
      </p:sp>
    </p:spTree>
    <p:extLst>
      <p:ext uri="{BB962C8B-B14F-4D97-AF65-F5344CB8AC3E}">
        <p14:creationId xmlns:p14="http://schemas.microsoft.com/office/powerpoint/2010/main" val="3857089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2D03-C918-3113-DD08-0D471E814B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86A76E-1BB6-382C-309B-778247C86585}"/>
              </a:ext>
            </a:extLst>
          </p:cNvPr>
          <p:cNvSpPr>
            <a:spLocks noGrp="1"/>
          </p:cNvSpPr>
          <p:nvPr>
            <p:ph type="title"/>
          </p:nvPr>
        </p:nvSpPr>
        <p:spPr>
          <a:xfrm>
            <a:off x="405119" y="-60165"/>
            <a:ext cx="8460000" cy="486885"/>
          </a:xfrm>
        </p:spPr>
        <p:txBody>
          <a:bodyPr/>
          <a:lstStyle/>
          <a:p>
            <a:pPr algn="ctr"/>
            <a:r>
              <a:rPr lang="en-US" sz="2000" b="1">
                <a:solidFill>
                  <a:srgbClr val="00B050"/>
                </a:solidFill>
                <a:latin typeface="+mn-lt"/>
              </a:rPr>
              <a:t>1. BÁO CÁO TÓM LƯỢC THÁNG 11 NĂM 2025</a:t>
            </a:r>
          </a:p>
        </p:txBody>
      </p:sp>
      <p:graphicFrame>
        <p:nvGraphicFramePr>
          <p:cNvPr id="5" name="Table 4">
            <a:extLst>
              <a:ext uri="{FF2B5EF4-FFF2-40B4-BE49-F238E27FC236}">
                <a16:creationId xmlns:a16="http://schemas.microsoft.com/office/drawing/2014/main" id="{17C53689-0168-930B-1F51-158FF63374AC}"/>
              </a:ext>
            </a:extLst>
          </p:cNvPr>
          <p:cNvGraphicFramePr>
            <a:graphicFrameLocks noGrp="1"/>
          </p:cNvGraphicFramePr>
          <p:nvPr/>
        </p:nvGraphicFramePr>
        <p:xfrm>
          <a:off x="1" y="313977"/>
          <a:ext cx="9144000" cy="4398344"/>
        </p:xfrm>
        <a:graphic>
          <a:graphicData uri="http://schemas.openxmlformats.org/drawingml/2006/table">
            <a:tbl>
              <a:tblPr firstRow="1" bandRow="1">
                <a:tableStyleId>{6A077030-E235-474E-B3E8-3EB61F41259E}</a:tableStyleId>
              </a:tblPr>
              <a:tblGrid>
                <a:gridCol w="5690506">
                  <a:extLst>
                    <a:ext uri="{9D8B030D-6E8A-4147-A177-3AD203B41FA5}">
                      <a16:colId xmlns:a16="http://schemas.microsoft.com/office/drawing/2014/main" val="1284830113"/>
                    </a:ext>
                  </a:extLst>
                </a:gridCol>
                <a:gridCol w="3453494">
                  <a:extLst>
                    <a:ext uri="{9D8B030D-6E8A-4147-A177-3AD203B41FA5}">
                      <a16:colId xmlns:a16="http://schemas.microsoft.com/office/drawing/2014/main" val="3451182414"/>
                    </a:ext>
                  </a:extLst>
                </a:gridCol>
              </a:tblGrid>
              <a:tr h="228322">
                <a:tc>
                  <a:txBody>
                    <a:bodyPr/>
                    <a:lstStyle/>
                    <a:p>
                      <a:pPr algn="just"/>
                      <a:r>
                        <a:rPr lang="en-US" sz="1050">
                          <a:solidFill>
                            <a:schemeClr val="bg1"/>
                          </a:solidFill>
                        </a:rPr>
                        <a:t>1. CÁC ĐIỂM NỔI BẬT</a:t>
                      </a:r>
                    </a:p>
                  </a:txBody>
                  <a:tcPr anchor="ctr">
                    <a:solidFill>
                      <a:srgbClr val="119303"/>
                    </a:solidFill>
                  </a:tcPr>
                </a:tc>
                <a:tc>
                  <a:txBody>
                    <a:bodyPr/>
                    <a:lstStyle/>
                    <a:p>
                      <a:pPr algn="just"/>
                      <a:r>
                        <a:rPr lang="en-US" sz="1050">
                          <a:solidFill>
                            <a:schemeClr val="bg1"/>
                          </a:solidFill>
                        </a:rPr>
                        <a:t>2. CÁC ĐIỂM CẦN CẢI THIỆN</a:t>
                      </a:r>
                    </a:p>
                  </a:txBody>
                  <a:tcPr anchor="ctr">
                    <a:solidFill>
                      <a:srgbClr val="119303"/>
                    </a:solidFill>
                  </a:tcPr>
                </a:tc>
                <a:extLst>
                  <a:ext uri="{0D108BD9-81ED-4DB2-BD59-A6C34878D82A}">
                    <a16:rowId xmlns:a16="http://schemas.microsoft.com/office/drawing/2014/main" val="2949376492"/>
                  </a:ext>
                </a:extLst>
              </a:tr>
              <a:tr h="1904583">
                <a:tc>
                  <a:txBody>
                    <a:bodyPr/>
                    <a:lstStyle/>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050" b="0" i="0" u="none" strike="noStrike" cap="none">
                          <a:solidFill>
                            <a:srgbClr val="000000"/>
                          </a:solidFill>
                          <a:effectLst/>
                          <a:latin typeface="Arial (Headings)"/>
                          <a:cs typeface="Arial"/>
                          <a:sym typeface="Arial"/>
                        </a:rPr>
                        <a:t>Đàm phán thành công với</a:t>
                      </a:r>
                      <a:r>
                        <a:rPr lang="en-US" sz="1050" b="1" i="0" u="none" strike="noStrike" cap="none">
                          <a:solidFill>
                            <a:srgbClr val="000000"/>
                          </a:solidFill>
                          <a:effectLst/>
                          <a:latin typeface="Arial (Headings)"/>
                          <a:cs typeface="Arial"/>
                          <a:sym typeface="Arial"/>
                        </a:rPr>
                        <a:t> Niagara </a:t>
                      </a:r>
                      <a:r>
                        <a:rPr lang="en-US" sz="1050" b="0" i="0" u="none" strike="noStrike" cap="none">
                          <a:solidFill>
                            <a:srgbClr val="000000"/>
                          </a:solidFill>
                          <a:effectLst/>
                          <a:latin typeface="Arial (Headings)"/>
                          <a:cs typeface="Arial"/>
                          <a:sym typeface="Arial"/>
                        </a:rPr>
                        <a:t>và có đơn hàng trở lại, </a:t>
                      </a:r>
                      <a:r>
                        <a:rPr lang="vi-VN" sz="1050" b="0" i="0" u="none" strike="noStrike" cap="none">
                          <a:solidFill>
                            <a:srgbClr val="000000"/>
                          </a:solidFill>
                          <a:effectLst/>
                          <a:latin typeface="Arial (Headings)"/>
                          <a:cs typeface="Arial"/>
                          <a:sym typeface="Arial"/>
                        </a:rPr>
                        <a:t>tháng 12 lấy đơn hàng </a:t>
                      </a:r>
                      <a:r>
                        <a:rPr lang="vi-VN" sz="1050" b="1" i="0" u="none" strike="noStrike" cap="none">
                          <a:solidFill>
                            <a:srgbClr val="000000"/>
                          </a:solidFill>
                          <a:effectLst/>
                          <a:latin typeface="Arial (Headings)"/>
                          <a:cs typeface="Arial"/>
                          <a:sym typeface="Arial"/>
                        </a:rPr>
                        <a:t>~750 tấn</a:t>
                      </a:r>
                      <a:r>
                        <a:rPr lang="en-US" sz="1050" b="0" i="0" u="none" strike="noStrike" cap="none">
                          <a:solidFill>
                            <a:srgbClr val="000000"/>
                          </a:solidFill>
                          <a:effectLst/>
                          <a:latin typeface="Arial (Headings)"/>
                          <a:cs typeface="Arial"/>
                          <a:sym typeface="Arial"/>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vi-VN" sz="1050" b="1" i="0" u="none" strike="noStrike" cap="none">
                          <a:solidFill>
                            <a:srgbClr val="000000"/>
                          </a:solidFill>
                          <a:effectLst/>
                          <a:latin typeface="Arial (Headings)"/>
                          <a:ea typeface="Arial"/>
                          <a:cs typeface="Arial"/>
                          <a:sym typeface="Arial"/>
                        </a:rPr>
                        <a:t>Suntory Pepsi</a:t>
                      </a:r>
                      <a:r>
                        <a:rPr lang="en-US" sz="1050" b="1" i="0" u="none" strike="noStrike" cap="none">
                          <a:solidFill>
                            <a:srgbClr val="000000"/>
                          </a:solidFill>
                          <a:effectLst/>
                          <a:latin typeface="Arial (Headings)"/>
                          <a:ea typeface="Arial"/>
                          <a:cs typeface="Arial"/>
                          <a:sym typeface="Arial"/>
                        </a:rPr>
                        <a:t> </a:t>
                      </a:r>
                      <a:r>
                        <a:rPr lang="vi-VN" sz="1050" b="0" i="0" u="none" strike="noStrike" cap="none">
                          <a:solidFill>
                            <a:srgbClr val="000000"/>
                          </a:solidFill>
                          <a:effectLst/>
                          <a:latin typeface="Arial (Headings)"/>
                          <a:ea typeface="Arial"/>
                          <a:cs typeface="Arial"/>
                          <a:sym typeface="Arial"/>
                        </a:rPr>
                        <a:t>kết quả silicone sau thử ổn định tăng nhu cầu lấy hàng</a:t>
                      </a:r>
                      <a:r>
                        <a:rPr lang="en-US" sz="1050" b="0" i="0" u="none" strike="noStrike" cap="none">
                          <a:solidFill>
                            <a:srgbClr val="000000"/>
                          </a:solidFill>
                          <a:effectLst/>
                          <a:latin typeface="Arial (Headings)"/>
                          <a:ea typeface="Arial"/>
                          <a:cs typeface="Arial"/>
                          <a:sym typeface="Arial"/>
                        </a:rPr>
                        <a:t>,</a:t>
                      </a:r>
                      <a:r>
                        <a:rPr lang="vi-VN" sz="1050" b="0" i="0" u="none" strike="noStrike" cap="none">
                          <a:solidFill>
                            <a:srgbClr val="000000"/>
                          </a:solidFill>
                          <a:effectLst/>
                          <a:latin typeface="Arial (Headings)"/>
                          <a:ea typeface="Arial"/>
                          <a:cs typeface="Arial"/>
                          <a:sym typeface="Arial"/>
                        </a:rPr>
                        <a:t> </a:t>
                      </a:r>
                      <a:r>
                        <a:rPr lang="en-US" sz="1050" b="0" i="0" u="none" strike="noStrike" cap="none">
                          <a:solidFill>
                            <a:srgbClr val="000000"/>
                          </a:solidFill>
                          <a:effectLst/>
                          <a:latin typeface="Arial (Headings)"/>
                          <a:ea typeface="Arial"/>
                          <a:cs typeface="Arial"/>
                          <a:sym typeface="Arial"/>
                        </a:rPr>
                        <a:t>~</a:t>
                      </a:r>
                      <a:r>
                        <a:rPr lang="vi-VN" sz="1050" b="1" i="0" u="none" strike="noStrike" cap="none">
                          <a:solidFill>
                            <a:srgbClr val="000000"/>
                          </a:solidFill>
                          <a:effectLst/>
                          <a:latin typeface="Arial (Headings)"/>
                          <a:ea typeface="Arial"/>
                          <a:cs typeface="Arial"/>
                          <a:sym typeface="Arial"/>
                        </a:rPr>
                        <a:t>700 tấn/ tháng</a:t>
                      </a:r>
                      <a:r>
                        <a:rPr lang="en-US" sz="1050" b="0" i="0" u="none" strike="noStrike" cap="none">
                          <a:solidFill>
                            <a:srgbClr val="000000"/>
                          </a:solidFill>
                          <a:effectLst/>
                          <a:latin typeface="Arial (Headings)"/>
                          <a:ea typeface="Arial"/>
                          <a:cs typeface="Arial"/>
                          <a:sym typeface="Arial"/>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vi-VN" sz="1050" b="0" i="0" u="none" strike="noStrike" cap="none">
                          <a:solidFill>
                            <a:srgbClr val="000000"/>
                          </a:solidFill>
                          <a:effectLst/>
                          <a:latin typeface="Arial (Headings)"/>
                          <a:ea typeface="Arial"/>
                          <a:cs typeface="Arial"/>
                          <a:sym typeface="Arial"/>
                        </a:rPr>
                        <a:t>Bán </a:t>
                      </a:r>
                      <a:r>
                        <a:rPr lang="vi-VN" sz="1050" b="1" i="0" u="none" strike="noStrike" cap="none">
                          <a:solidFill>
                            <a:srgbClr val="000000"/>
                          </a:solidFill>
                          <a:effectLst/>
                          <a:latin typeface="Arial (Headings)"/>
                          <a:ea typeface="Arial"/>
                          <a:cs typeface="Arial"/>
                          <a:sym typeface="Arial"/>
                        </a:rPr>
                        <a:t>cont hàng </a:t>
                      </a:r>
                      <a:r>
                        <a:rPr lang="en-US" sz="1050" b="1" i="0" u="none" strike="noStrike" cap="none">
                          <a:solidFill>
                            <a:srgbClr val="000000"/>
                          </a:solidFill>
                          <a:effectLst/>
                          <a:latin typeface="Arial (Headings)"/>
                          <a:ea typeface="Arial"/>
                          <a:cs typeface="Arial"/>
                          <a:sym typeface="Arial"/>
                        </a:rPr>
                        <a:t>chứng nhận </a:t>
                      </a:r>
                      <a:r>
                        <a:rPr lang="vi-VN" sz="1050" b="1" i="0" u="none" strike="noStrike" cap="none">
                          <a:solidFill>
                            <a:srgbClr val="000000"/>
                          </a:solidFill>
                          <a:effectLst/>
                          <a:latin typeface="Arial (Headings)"/>
                          <a:ea typeface="Arial"/>
                          <a:cs typeface="Arial"/>
                          <a:sym typeface="Arial"/>
                        </a:rPr>
                        <a:t>O</a:t>
                      </a:r>
                      <a:r>
                        <a:rPr lang="en-US" sz="1050" b="1" i="0" u="none" strike="noStrike" cap="none">
                          <a:solidFill>
                            <a:srgbClr val="000000"/>
                          </a:solidFill>
                          <a:effectLst/>
                          <a:latin typeface="Arial (Headings)"/>
                          <a:ea typeface="Arial"/>
                          <a:cs typeface="Arial"/>
                          <a:sym typeface="Arial"/>
                        </a:rPr>
                        <a:t>BP</a:t>
                      </a:r>
                      <a:r>
                        <a:rPr lang="vi-VN" sz="1050" b="1" i="0" u="none" strike="noStrike" cap="none">
                          <a:solidFill>
                            <a:srgbClr val="000000"/>
                          </a:solidFill>
                          <a:effectLst/>
                          <a:latin typeface="Arial (Headings)"/>
                          <a:ea typeface="Arial"/>
                          <a:cs typeface="Arial"/>
                          <a:sym typeface="Arial"/>
                        </a:rPr>
                        <a:t> đầu </a:t>
                      </a:r>
                      <a:r>
                        <a:rPr lang="en-US" sz="1050" b="1" i="0" u="none" strike="noStrike" cap="none">
                          <a:solidFill>
                            <a:srgbClr val="000000"/>
                          </a:solidFill>
                          <a:effectLst/>
                          <a:latin typeface="Arial (Headings)"/>
                          <a:ea typeface="Arial"/>
                          <a:cs typeface="Arial"/>
                          <a:sym typeface="Arial"/>
                        </a:rPr>
                        <a:t>tiên</a:t>
                      </a:r>
                      <a:r>
                        <a:rPr lang="vi-VN" sz="1050" b="1" i="0" u="none" strike="noStrike" cap="none">
                          <a:solidFill>
                            <a:srgbClr val="000000"/>
                          </a:solidFill>
                          <a:effectLst/>
                          <a:latin typeface="Arial (Headings)"/>
                          <a:ea typeface="Arial"/>
                          <a:cs typeface="Arial"/>
                          <a:sym typeface="Arial"/>
                        </a:rPr>
                        <a:t> </a:t>
                      </a:r>
                      <a:r>
                        <a:rPr lang="vi-VN" sz="1050" b="0" i="0" u="none" strike="noStrike" cap="none">
                          <a:solidFill>
                            <a:srgbClr val="000000"/>
                          </a:solidFill>
                          <a:effectLst/>
                          <a:latin typeface="Arial (Headings)"/>
                          <a:ea typeface="Arial"/>
                          <a:cs typeface="Arial"/>
                          <a:sym typeface="Arial"/>
                        </a:rPr>
                        <a:t>cho thị trường Mỹ giá </a:t>
                      </a:r>
                      <a:r>
                        <a:rPr lang="vi-VN" sz="1050" b="1" i="0" u="none" strike="noStrike" cap="none">
                          <a:solidFill>
                            <a:srgbClr val="000000"/>
                          </a:solidFill>
                          <a:effectLst/>
                          <a:latin typeface="Arial (Headings)"/>
                          <a:ea typeface="Arial"/>
                          <a:cs typeface="Arial"/>
                          <a:sym typeface="Arial"/>
                        </a:rPr>
                        <a:t>1</a:t>
                      </a:r>
                      <a:r>
                        <a:rPr lang="en-US" sz="1050" b="1" i="0" u="none" strike="noStrike" cap="none">
                          <a:solidFill>
                            <a:srgbClr val="000000"/>
                          </a:solidFill>
                          <a:effectLst/>
                          <a:latin typeface="Arial (Headings)"/>
                          <a:ea typeface="Arial"/>
                          <a:cs typeface="Arial"/>
                          <a:sym typeface="Arial"/>
                        </a:rPr>
                        <a:t>,</a:t>
                      </a:r>
                      <a:r>
                        <a:rPr lang="vi-VN" sz="1050" b="1" i="0" u="none" strike="noStrike" cap="none">
                          <a:solidFill>
                            <a:srgbClr val="000000"/>
                          </a:solidFill>
                          <a:effectLst/>
                          <a:latin typeface="Arial (Headings)"/>
                          <a:ea typeface="Arial"/>
                          <a:cs typeface="Arial"/>
                          <a:sym typeface="Arial"/>
                        </a:rPr>
                        <a:t>400</a:t>
                      </a:r>
                      <a:r>
                        <a:rPr lang="en-US" sz="1050" b="1" i="0" u="none" strike="noStrike" cap="none">
                          <a:solidFill>
                            <a:srgbClr val="000000"/>
                          </a:solidFill>
                          <a:effectLst/>
                          <a:latin typeface="Arial (Headings)"/>
                          <a:ea typeface="Arial"/>
                          <a:cs typeface="Arial"/>
                          <a:sym typeface="Arial"/>
                        </a:rPr>
                        <a:t> USD</a:t>
                      </a:r>
                      <a:r>
                        <a:rPr lang="vi-VN" sz="1050" b="1" i="0" u="none" strike="noStrike" cap="none">
                          <a:solidFill>
                            <a:srgbClr val="000000"/>
                          </a:solidFill>
                          <a:effectLst/>
                          <a:latin typeface="Arial (Headings)"/>
                          <a:ea typeface="Arial"/>
                          <a:cs typeface="Arial"/>
                          <a:sym typeface="Arial"/>
                        </a:rPr>
                        <a:t>/</a:t>
                      </a:r>
                      <a:r>
                        <a:rPr lang="en-US" sz="1050" b="1" i="0" u="none" strike="noStrike" cap="none">
                          <a:solidFill>
                            <a:srgbClr val="000000"/>
                          </a:solidFill>
                          <a:effectLst/>
                          <a:latin typeface="Arial (Headings)"/>
                          <a:ea typeface="Arial"/>
                          <a:cs typeface="Arial"/>
                          <a:sym typeface="Arial"/>
                        </a:rPr>
                        <a:t>tấn</a:t>
                      </a:r>
                      <a:r>
                        <a:rPr lang="en-US" sz="1050" b="0" i="0" u="none" strike="noStrike" cap="none">
                          <a:solidFill>
                            <a:srgbClr val="000000"/>
                          </a:solidFill>
                          <a:effectLst/>
                          <a:latin typeface="Arial (Headings)"/>
                          <a:ea typeface="Arial"/>
                          <a:cs typeface="Arial"/>
                          <a:sym typeface="Arial"/>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050" b="0" i="0" u="none" strike="noStrike" cap="none">
                          <a:solidFill>
                            <a:srgbClr val="000000"/>
                          </a:solidFill>
                          <a:effectLst/>
                          <a:latin typeface="Arial (Headings)"/>
                          <a:ea typeface="Arial"/>
                          <a:cs typeface="Arial"/>
                          <a:sym typeface="Arial"/>
                        </a:rPr>
                        <a:t>Báo cáo kết quả nghiên cứu: cracking, nghiền bột cho nhãn, dây giả mây cho HDPE, màng và dây đai cho PET.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050" b="1"/>
                        <a:t>Chuyền </a:t>
                      </a:r>
                      <a:r>
                        <a:rPr lang="en-US" sz="1050" b="1" err="1"/>
                        <a:t>Starlinger</a:t>
                      </a:r>
                      <a:r>
                        <a:rPr lang="en-US" sz="1050" b="1"/>
                        <a:t> 1,2,3</a:t>
                      </a:r>
                      <a:r>
                        <a:rPr lang="en-US" sz="1050"/>
                        <a:t>: Hoàn thành lắp đặt sàn rung hạt, Dosing unit, radar sensor và Bộ hút hạt cho SSP-01.</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vi-VN" sz="1050" b="1"/>
                        <a:t>Điện năng lượng mặt trời</a:t>
                      </a:r>
                      <a:r>
                        <a:rPr lang="vi-VN" sz="1050"/>
                        <a:t>: Đấu nối điện năng lượng mặt trời vào hệ thống điện nhà máy.</a:t>
                      </a:r>
                      <a:endParaRPr lang="en-US" sz="1050" b="0">
                        <a:effectLst/>
                      </a:endParaRP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vi-VN" sz="1050" b="0">
                          <a:effectLst/>
                        </a:rPr>
                        <a:t>Cải tiến sàn rung vảy </a:t>
                      </a:r>
                      <a:r>
                        <a:rPr lang="vi-VN" sz="1050">
                          <a:effectLst/>
                        </a:rPr>
                        <a:t>để chuyển đổi nhanh theo kế hoạch </a:t>
                      </a:r>
                      <a:r>
                        <a:rPr lang="en-US" sz="1050">
                          <a:effectLst/>
                        </a:rPr>
                        <a:t>sản xuất và theo </a:t>
                      </a:r>
                      <a:r>
                        <a:rPr lang="en-US" sz="1050" b="1">
                          <a:effectLst/>
                        </a:rPr>
                        <a:t>kiểm soát chất lượng online</a:t>
                      </a:r>
                      <a:r>
                        <a:rPr lang="en-US" sz="1050">
                          <a:effectLst/>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vi-VN" sz="1050">
                          <a:effectLst/>
                        </a:rPr>
                        <a:t>Đã đưa </a:t>
                      </a:r>
                      <a:r>
                        <a:rPr lang="vi-VN" sz="1050" b="1">
                          <a:effectLst/>
                        </a:rPr>
                        <a:t>Cân trạm AI </a:t>
                      </a:r>
                      <a:r>
                        <a:rPr lang="vi-VN" sz="1050">
                          <a:effectLst/>
                        </a:rPr>
                        <a:t>kiểm soát hoạt động cân hàng, đang hoàn thiện nghiệm thu</a:t>
                      </a:r>
                      <a:r>
                        <a:rPr lang="en-US" sz="1050">
                          <a:effectLst/>
                        </a:rPr>
                        <a:t>.</a:t>
                      </a:r>
                    </a:p>
                    <a:p>
                      <a:pPr marL="228600" marR="0" lvl="0" indent="-228600" algn="l" defTabSz="914400" rtl="0" eaLnBrk="1" fontAlgn="auto" latinLnBrk="0" hangingPunct="1">
                        <a:lnSpc>
                          <a:spcPct val="100000"/>
                        </a:lnSpc>
                        <a:spcBef>
                          <a:spcPts val="0"/>
                        </a:spcBef>
                        <a:spcAft>
                          <a:spcPts val="0"/>
                        </a:spcAft>
                        <a:buClr>
                          <a:srgbClr val="000000"/>
                        </a:buClr>
                        <a:buSzTx/>
                        <a:buFont typeface="+mj-lt"/>
                        <a:buAutoNum type="arabicPeriod"/>
                        <a:tabLst/>
                        <a:defRPr/>
                      </a:pPr>
                      <a:r>
                        <a:rPr lang="en-US" sz="1050" b="1" i="0" u="none" strike="noStrike" cap="none" noProof="0">
                          <a:solidFill>
                            <a:srgbClr val="000000"/>
                          </a:solidFill>
                          <a:latin typeface="Arial (Headings)"/>
                          <a:ea typeface="Arial"/>
                          <a:cs typeface="Arial"/>
                          <a:sym typeface="Arial"/>
                        </a:rPr>
                        <a:t>Không có </a:t>
                      </a:r>
                      <a:r>
                        <a:rPr lang="en-US" sz="1050" b="0" i="0" u="none" strike="noStrike" cap="none" noProof="0">
                          <a:solidFill>
                            <a:srgbClr val="000000"/>
                          </a:solidFill>
                          <a:latin typeface="Arial (Headings)"/>
                          <a:ea typeface="Arial"/>
                          <a:cs typeface="Arial"/>
                          <a:sym typeface="Arial"/>
                        </a:rPr>
                        <a:t>tai nạn lao động.</a:t>
                      </a:r>
                    </a:p>
                  </a:txBody>
                  <a:tcPr/>
                </a:tc>
                <a:tc>
                  <a:txBody>
                    <a:bodyPr/>
                    <a:lstStyle/>
                    <a:p>
                      <a:pPr marL="0" marR="0" lvl="0" indent="115888" algn="just" defTabSz="914400" rtl="0" eaLnBrk="1" fontAlgn="auto" latinLnBrk="0" hangingPunct="1">
                        <a:lnSpc>
                          <a:spcPct val="114000"/>
                        </a:lnSpc>
                        <a:spcBef>
                          <a:spcPts val="0"/>
                        </a:spcBef>
                        <a:spcAft>
                          <a:spcPts val="0"/>
                        </a:spcAft>
                        <a:buClr>
                          <a:srgbClr val="000000"/>
                        </a:buClr>
                        <a:buSzTx/>
                        <a:buFont typeface="Arial"/>
                        <a:buAutoNum type="arabicPeriod"/>
                        <a:tabLst/>
                        <a:defRPr/>
                      </a:pPr>
                      <a:r>
                        <a:rPr lang="en-US" sz="1050" b="0" i="0" u="none" strike="noStrike" cap="none">
                          <a:solidFill>
                            <a:schemeClr val="tx1"/>
                          </a:solidFill>
                          <a:latin typeface="Arial (Headings)"/>
                          <a:ea typeface="Arial"/>
                          <a:cs typeface="Times New Roman"/>
                          <a:sym typeface="Arial"/>
                        </a:rPr>
                        <a:t>Tăng sản lượng mua và chất lượng, giảm hao hụt nhưng không tăng giá</a:t>
                      </a:r>
                    </a:p>
                    <a:p>
                      <a:pPr marL="0" marR="0" lvl="0" indent="115888" algn="just" defTabSz="914400" rtl="0" eaLnBrk="1" fontAlgn="auto" latinLnBrk="0" hangingPunct="1">
                        <a:lnSpc>
                          <a:spcPct val="114000"/>
                        </a:lnSpc>
                        <a:spcBef>
                          <a:spcPts val="0"/>
                        </a:spcBef>
                        <a:spcAft>
                          <a:spcPts val="0"/>
                        </a:spcAft>
                        <a:buClr>
                          <a:srgbClr val="000000"/>
                        </a:buClr>
                        <a:buSzTx/>
                        <a:buFont typeface="Arial"/>
                        <a:buAutoNum type="arabicPeriod"/>
                        <a:tabLst/>
                        <a:defRPr/>
                      </a:pPr>
                      <a:r>
                        <a:rPr lang="en-US" sz="1050" b="0" i="0" u="none" strike="noStrike" cap="none">
                          <a:solidFill>
                            <a:schemeClr val="tx1"/>
                          </a:solidFill>
                          <a:latin typeface="+mj-lt"/>
                          <a:ea typeface="Arial"/>
                          <a:cs typeface="Times New Roman"/>
                          <a:sym typeface="Arial"/>
                        </a:rPr>
                        <a:t>Xử lý phó sản và chậm luận chuyển giải quyết tồn kho</a:t>
                      </a:r>
                    </a:p>
                    <a:p>
                      <a:pPr marL="0" marR="0" lvl="0" indent="115888" algn="just" defTabSz="914400" rtl="0" eaLnBrk="1" fontAlgn="auto" latinLnBrk="0" hangingPunct="1">
                        <a:lnSpc>
                          <a:spcPct val="114000"/>
                        </a:lnSpc>
                        <a:spcBef>
                          <a:spcPts val="0"/>
                        </a:spcBef>
                        <a:spcAft>
                          <a:spcPts val="0"/>
                        </a:spcAft>
                        <a:buClr>
                          <a:srgbClr val="000000"/>
                        </a:buClr>
                        <a:buSzTx/>
                        <a:buFont typeface="Arial"/>
                        <a:buAutoNum type="arabicPeriod"/>
                        <a:tabLst/>
                        <a:defRPr/>
                      </a:pPr>
                      <a:r>
                        <a:rPr lang="en-US" sz="1050" b="0" i="0" u="none" strike="noStrike" cap="none">
                          <a:solidFill>
                            <a:schemeClr val="tx1"/>
                          </a:solidFill>
                          <a:latin typeface="+mj-lt"/>
                          <a:ea typeface="Arial"/>
                          <a:cs typeface="Times New Roman"/>
                          <a:sym typeface="Arial"/>
                        </a:rPr>
                        <a:t>Đảm bảo kế hoạch vận hành dự án </a:t>
                      </a:r>
                      <a:r>
                        <a:rPr lang="en-US" sz="1050" b="0" i="0" u="none" strike="noStrike" cap="none" noProof="0">
                          <a:solidFill>
                            <a:srgbClr val="000000"/>
                          </a:solidFill>
                          <a:latin typeface="Arial"/>
                          <a:ea typeface="Arial"/>
                          <a:cs typeface="Arial"/>
                          <a:sym typeface="Arial"/>
                        </a:rPr>
                        <a:t>giảm giá thành 200 USD/Tấn</a:t>
                      </a:r>
                    </a:p>
                  </a:txBody>
                  <a:tcPr/>
                </a:tc>
                <a:extLst>
                  <a:ext uri="{0D108BD9-81ED-4DB2-BD59-A6C34878D82A}">
                    <a16:rowId xmlns:a16="http://schemas.microsoft.com/office/drawing/2014/main" val="591752262"/>
                  </a:ext>
                </a:extLst>
              </a:tr>
              <a:tr h="241106">
                <a:tc>
                  <a:txBody>
                    <a:bodyPr/>
                    <a:lstStyle/>
                    <a:p>
                      <a:pPr algn="just">
                        <a:lnSpc>
                          <a:spcPct val="120000"/>
                        </a:lnSpc>
                      </a:pPr>
                      <a:r>
                        <a:rPr lang="en-US" sz="1050">
                          <a:solidFill>
                            <a:schemeClr val="bg1"/>
                          </a:solidFill>
                        </a:rPr>
                        <a:t>3. CÁC SỰ KIỆN/SỰ CỐ</a:t>
                      </a:r>
                    </a:p>
                  </a:txBody>
                  <a:tcPr anchor="ctr">
                    <a:solidFill>
                      <a:srgbClr val="119303"/>
                    </a:solidFill>
                  </a:tcPr>
                </a:tc>
                <a:tc>
                  <a:txBody>
                    <a:bodyPr/>
                    <a:lstStyle/>
                    <a:p>
                      <a:pPr algn="just">
                        <a:lnSpc>
                          <a:spcPct val="120000"/>
                        </a:lnSpc>
                      </a:pPr>
                      <a:r>
                        <a:rPr lang="en-US" sz="1050">
                          <a:solidFill>
                            <a:schemeClr val="bg1"/>
                          </a:solidFill>
                          <a:latin typeface="+mj-lt"/>
                        </a:rPr>
                        <a:t>4. CÁC YÊU CẦU HỖ TRỢ TỪ TGĐ</a:t>
                      </a:r>
                    </a:p>
                  </a:txBody>
                  <a:tcPr anchor="ctr">
                    <a:solidFill>
                      <a:srgbClr val="119303"/>
                    </a:solidFill>
                  </a:tcPr>
                </a:tc>
                <a:extLst>
                  <a:ext uri="{0D108BD9-81ED-4DB2-BD59-A6C34878D82A}">
                    <a16:rowId xmlns:a16="http://schemas.microsoft.com/office/drawing/2014/main" val="3437542108"/>
                  </a:ext>
                </a:extLst>
              </a:tr>
              <a:tr h="1549353">
                <a:tc>
                  <a:txBody>
                    <a:bodyPr/>
                    <a:lstStyle/>
                    <a:p>
                      <a:pPr marL="0" indent="0" algn="just">
                        <a:lnSpc>
                          <a:spcPct val="110000"/>
                        </a:lnSpc>
                        <a:buFont typeface="+mj-lt"/>
                        <a:buNone/>
                      </a:pPr>
                      <a:r>
                        <a:rPr lang="en-US" sz="1050" b="1" i="0">
                          <a:solidFill>
                            <a:schemeClr val="tx1"/>
                          </a:solidFill>
                          <a:latin typeface="+mj-lt"/>
                        </a:rPr>
                        <a:t>3.1. Sự cố</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50" b="0">
                          <a:solidFill>
                            <a:schemeClr val="tx1"/>
                          </a:solidFill>
                          <a:latin typeface="Arial (Headings)"/>
                          <a:cs typeface="Times New Roman"/>
                          <a:sym typeface="Wingdings" panose="05000000000000000000" pitchFamily="2" charset="2"/>
                        </a:rPr>
                        <a:t>Tiếp tục chịu ả</a:t>
                      </a:r>
                      <a:r>
                        <a:rPr lang="vi-VN" sz="1050" b="0">
                          <a:solidFill>
                            <a:schemeClr val="tx1"/>
                          </a:solidFill>
                          <a:latin typeface="Arial (Headings)"/>
                          <a:cs typeface="Times New Roman"/>
                          <a:sym typeface="Wingdings" panose="05000000000000000000" pitchFamily="2" charset="2"/>
                        </a:rPr>
                        <a:t>nh hưởng từ chính sách thuế đối ứng Mỹ và chống phá giá châu Âu, tác động giảm </a:t>
                      </a:r>
                      <a:r>
                        <a:rPr lang="en-US" sz="1050" b="0">
                          <a:solidFill>
                            <a:schemeClr val="tx1"/>
                          </a:solidFill>
                          <a:latin typeface="Arial (Headings)"/>
                          <a:cs typeface="Times New Roman"/>
                          <a:sym typeface="Wingdings" panose="05000000000000000000" pitchFamily="2" charset="2"/>
                        </a:rPr>
                        <a:t>~60-</a:t>
                      </a:r>
                      <a:r>
                        <a:rPr lang="vi-VN" sz="1050" b="0">
                          <a:solidFill>
                            <a:schemeClr val="tx1"/>
                          </a:solidFill>
                          <a:latin typeface="Arial (Headings)"/>
                          <a:cs typeface="Times New Roman"/>
                          <a:sym typeface="Wingdings" panose="05000000000000000000" pitchFamily="2" charset="2"/>
                        </a:rPr>
                        <a:t>70% sản lượng bá</a:t>
                      </a:r>
                      <a:r>
                        <a:rPr lang="en-US" sz="1050" b="0">
                          <a:solidFill>
                            <a:schemeClr val="tx1"/>
                          </a:solidFill>
                          <a:latin typeface="Arial (Headings)"/>
                          <a:cs typeface="Times New Roman"/>
                          <a:sym typeface="Wingdings" panose="05000000000000000000" pitchFamily="2" charset="2"/>
                        </a:rPr>
                        <a:t>n,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50" b="0">
                          <a:solidFill>
                            <a:schemeClr val="tx1"/>
                          </a:solidFill>
                          <a:latin typeface="Arial (Headings)"/>
                          <a:cs typeface="Times New Roman"/>
                          <a:sym typeface="Wingdings" panose="05000000000000000000" pitchFamily="2" charset="2"/>
                        </a:rPr>
                        <a:t>Dự kiến 22/12/2025 có kết quả chống phá giá EU</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50" b="0" i="0" u="none" strike="noStrike" cap="none">
                          <a:solidFill>
                            <a:schemeClr val="tx1"/>
                          </a:solidFill>
                          <a:latin typeface="Arial (Headings)"/>
                          <a:cs typeface="Times New Roman"/>
                          <a:sym typeface="Arial"/>
                        </a:rPr>
                        <a:t>2 đối thủ: FENC đã bán hàng từ VN và CPC đang vận hành thử nghiệm.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50" b="0" i="0" u="none" strike="noStrike" cap="none">
                          <a:solidFill>
                            <a:schemeClr val="tx1"/>
                          </a:solidFill>
                          <a:latin typeface="Arial (Headings)"/>
                          <a:cs typeface="Times New Roman"/>
                          <a:sym typeface="Arial"/>
                        </a:rPr>
                        <a:t>Mỹ đánh thuế Trung Quốc, dẫn đến khủng hoảng giá nhựa nguyên sinh tại Việt Nam, lần đầu tiên giá nhựa </a:t>
                      </a:r>
                      <a:r>
                        <a:rPr lang="en-US" sz="1050" b="0" i="0" u="none" strike="noStrike" cap="none" err="1">
                          <a:solidFill>
                            <a:schemeClr val="tx1"/>
                          </a:solidFill>
                          <a:latin typeface="Arial (Headings)"/>
                          <a:cs typeface="Times New Roman"/>
                          <a:sym typeface="Arial"/>
                        </a:rPr>
                        <a:t>vPET</a:t>
                      </a:r>
                      <a:r>
                        <a:rPr lang="en-US" sz="1050" b="0" i="0" u="none" strike="noStrike" cap="none">
                          <a:solidFill>
                            <a:schemeClr val="tx1"/>
                          </a:solidFill>
                          <a:latin typeface="Arial (Headings)"/>
                          <a:cs typeface="Times New Roman"/>
                          <a:sym typeface="Arial"/>
                        </a:rPr>
                        <a:t> giảm còn 760 USD/tấn (đáy trong 10 năm gần đây).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050" b="0" i="0" u="none" strike="noStrike" cap="none">
                          <a:solidFill>
                            <a:schemeClr val="tx1"/>
                          </a:solidFill>
                          <a:latin typeface="Arial (Headings)"/>
                          <a:cs typeface="Times New Roman"/>
                          <a:sym typeface="Arial"/>
                        </a:rPr>
                        <a:t>Châu Âu yêu cầu tiêu chuẩn BPA rất thấp, tới hiện tại DTR vẫn chưa làm được mẫu đạt được theo yêu cầu này cho Nestle (theo chuẩn Châu Âu).</a:t>
                      </a:r>
                    </a:p>
                  </a:txBody>
                  <a:tcPr/>
                </a:tc>
                <a:tc>
                  <a:txBody>
                    <a:bodyPr/>
                    <a:lstStyle/>
                    <a:p>
                      <a:pPr algn="just">
                        <a:lnSpc>
                          <a:spcPct val="120000"/>
                        </a:lnSpc>
                      </a:pPr>
                      <a:endParaRPr lang="en-US" sz="1050">
                        <a:latin typeface="+mj-lt"/>
                      </a:endParaRPr>
                    </a:p>
                  </a:txBody>
                  <a:tcPr/>
                </a:tc>
                <a:extLst>
                  <a:ext uri="{0D108BD9-81ED-4DB2-BD59-A6C34878D82A}">
                    <a16:rowId xmlns:a16="http://schemas.microsoft.com/office/drawing/2014/main" val="4050742481"/>
                  </a:ext>
                </a:extLst>
              </a:tr>
            </a:tbl>
          </a:graphicData>
        </a:graphic>
      </p:graphicFrame>
    </p:spTree>
    <p:extLst>
      <p:ext uri="{BB962C8B-B14F-4D97-AF65-F5344CB8AC3E}">
        <p14:creationId xmlns:p14="http://schemas.microsoft.com/office/powerpoint/2010/main" val="3400095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24C79-ED90-B1CC-A6A5-8BFA5EBB3B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66B6A-A1C0-143B-AB2C-F88EF4903694}"/>
              </a:ext>
            </a:extLst>
          </p:cNvPr>
          <p:cNvSpPr>
            <a:spLocks noGrp="1"/>
          </p:cNvSpPr>
          <p:nvPr>
            <p:ph type="title"/>
          </p:nvPr>
        </p:nvSpPr>
        <p:spPr>
          <a:xfrm>
            <a:off x="286808" y="1977684"/>
            <a:ext cx="8460000" cy="572700"/>
          </a:xfrm>
        </p:spPr>
        <p:txBody>
          <a:bodyPr/>
          <a:lstStyle/>
          <a:p>
            <a:pPr algn="ctr"/>
            <a:r>
              <a:rPr lang="en-US" b="1">
                <a:solidFill>
                  <a:schemeClr val="tx1">
                    <a:lumMod val="65000"/>
                    <a:lumOff val="35000"/>
                  </a:schemeClr>
                </a:solidFill>
              </a:rPr>
              <a:t>2. BÁO CÁO KẾT QUẢ SẢN XUẤT KINH DOANH</a:t>
            </a:r>
            <a:br>
              <a:rPr lang="en-US" b="1">
                <a:solidFill>
                  <a:schemeClr val="tx1">
                    <a:lumMod val="65000"/>
                    <a:lumOff val="35000"/>
                  </a:schemeClr>
                </a:solidFill>
              </a:rPr>
            </a:br>
            <a:r>
              <a:rPr lang="en-US" b="1">
                <a:solidFill>
                  <a:schemeClr val="tx1">
                    <a:lumMod val="65000"/>
                    <a:lumOff val="35000"/>
                  </a:schemeClr>
                </a:solidFill>
              </a:rPr>
              <a:t> (KPIs)</a:t>
            </a:r>
          </a:p>
        </p:txBody>
      </p:sp>
    </p:spTree>
    <p:extLst>
      <p:ext uri="{BB962C8B-B14F-4D97-AF65-F5344CB8AC3E}">
        <p14:creationId xmlns:p14="http://schemas.microsoft.com/office/powerpoint/2010/main" val="3338879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EF367-FEC4-0ABF-BA02-11AD00E5892F}"/>
            </a:ext>
          </a:extLst>
        </p:cNvPr>
        <p:cNvGrpSpPr/>
        <p:nvPr/>
      </p:nvGrpSpPr>
      <p:grpSpPr>
        <a:xfrm>
          <a:off x="0" y="0"/>
          <a:ext cx="0" cy="0"/>
          <a:chOff x="0" y="0"/>
          <a:chExt cx="0" cy="0"/>
        </a:xfrm>
      </p:grpSpPr>
      <p:pic>
        <p:nvPicPr>
          <p:cNvPr id="20" name="Picture 19" descr="A grid of colorful squares&#10;&#10;AI-generated content may be incorrect.">
            <a:extLst>
              <a:ext uri="{FF2B5EF4-FFF2-40B4-BE49-F238E27FC236}">
                <a16:creationId xmlns:a16="http://schemas.microsoft.com/office/drawing/2014/main" id="{FB77A50D-4B8C-3BEB-FDB4-5213BD29C270}"/>
              </a:ext>
            </a:extLst>
          </p:cNvPr>
          <p:cNvPicPr>
            <a:picLocks noChangeAspect="1"/>
          </p:cNvPicPr>
          <p:nvPr/>
        </p:nvPicPr>
        <p:blipFill>
          <a:blip r:embed="rId3"/>
          <a:stretch>
            <a:fillRect/>
          </a:stretch>
        </p:blipFill>
        <p:spPr>
          <a:xfrm>
            <a:off x="729169" y="626001"/>
            <a:ext cx="9144000" cy="4503604"/>
          </a:xfrm>
          <a:prstGeom prst="rect">
            <a:avLst/>
          </a:prstGeom>
        </p:spPr>
      </p:pic>
      <p:sp>
        <p:nvSpPr>
          <p:cNvPr id="2" name="Title 1">
            <a:extLst>
              <a:ext uri="{FF2B5EF4-FFF2-40B4-BE49-F238E27FC236}">
                <a16:creationId xmlns:a16="http://schemas.microsoft.com/office/drawing/2014/main" id="{90ACA015-8532-21B5-2FAA-EAFCD71A1456}"/>
              </a:ext>
            </a:extLst>
          </p:cNvPr>
          <p:cNvSpPr>
            <a:spLocks noGrp="1"/>
          </p:cNvSpPr>
          <p:nvPr>
            <p:ph type="title"/>
          </p:nvPr>
        </p:nvSpPr>
        <p:spPr>
          <a:xfrm>
            <a:off x="405119" y="-45424"/>
            <a:ext cx="8460000" cy="572700"/>
          </a:xfrm>
        </p:spPr>
        <p:txBody>
          <a:bodyPr/>
          <a:lstStyle/>
          <a:p>
            <a:pPr algn="ctr"/>
            <a:r>
              <a:rPr lang="en-US" sz="2200" b="1">
                <a:solidFill>
                  <a:srgbClr val="00B050"/>
                </a:solidFill>
                <a:latin typeface="+mn-lt"/>
              </a:rPr>
              <a:t>2.1 KẾT QUẢ KPIs THÁNG 11 NĂM 2025</a:t>
            </a:r>
          </a:p>
        </p:txBody>
      </p:sp>
      <p:grpSp>
        <p:nvGrpSpPr>
          <p:cNvPr id="4" name="Group 3">
            <a:extLst>
              <a:ext uri="{FF2B5EF4-FFF2-40B4-BE49-F238E27FC236}">
                <a16:creationId xmlns:a16="http://schemas.microsoft.com/office/drawing/2014/main" id="{EA7D07F6-F531-6F0A-3178-9952EA427910}"/>
              </a:ext>
            </a:extLst>
          </p:cNvPr>
          <p:cNvGrpSpPr/>
          <p:nvPr/>
        </p:nvGrpSpPr>
        <p:grpSpPr>
          <a:xfrm>
            <a:off x="729168" y="465854"/>
            <a:ext cx="9135556" cy="4566384"/>
            <a:chOff x="114301" y="397239"/>
            <a:chExt cx="8833756" cy="4415529"/>
          </a:xfrm>
        </p:grpSpPr>
        <p:sp>
          <p:nvSpPr>
            <p:cNvPr id="10" name="Rectangle 9">
              <a:extLst>
                <a:ext uri="{FF2B5EF4-FFF2-40B4-BE49-F238E27FC236}">
                  <a16:creationId xmlns:a16="http://schemas.microsoft.com/office/drawing/2014/main" id="{83BAA446-0732-C0F5-1CA0-2916822F0775}"/>
                </a:ext>
              </a:extLst>
            </p:cNvPr>
            <p:cNvSpPr/>
            <p:nvPr/>
          </p:nvSpPr>
          <p:spPr>
            <a:xfrm>
              <a:off x="6488179" y="4645478"/>
              <a:ext cx="441886" cy="89825"/>
            </a:xfrm>
            <a:prstGeom prst="rect">
              <a:avLst/>
            </a:prstGeom>
            <a:solidFill>
              <a:schemeClr val="accent2">
                <a:alpha val="15000"/>
              </a:schemeClr>
            </a:solidFill>
            <a:ln>
              <a:solidFill>
                <a:srgbClr val="80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947CE7-7580-E350-DBFB-C5C08E752B0D}"/>
                </a:ext>
              </a:extLst>
            </p:cNvPr>
            <p:cNvSpPr/>
            <p:nvPr/>
          </p:nvSpPr>
          <p:spPr>
            <a:xfrm>
              <a:off x="114301" y="567484"/>
              <a:ext cx="8833756" cy="1098398"/>
            </a:xfrm>
            <a:prstGeom prst="rect">
              <a:avLst/>
            </a:prstGeom>
            <a:solidFill>
              <a:schemeClr val="accent2">
                <a:alpha val="15000"/>
              </a:schemeClr>
            </a:solidFill>
            <a:ln>
              <a:solidFill>
                <a:srgbClr val="80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D64D0D9-8E5E-2BE4-99EC-F64C21AFA337}"/>
                </a:ext>
              </a:extLst>
            </p:cNvPr>
            <p:cNvSpPr/>
            <p:nvPr/>
          </p:nvSpPr>
          <p:spPr>
            <a:xfrm>
              <a:off x="114301" y="1935700"/>
              <a:ext cx="8833755" cy="276472"/>
            </a:xfrm>
            <a:prstGeom prst="rect">
              <a:avLst/>
            </a:prstGeom>
            <a:solidFill>
              <a:schemeClr val="accent2">
                <a:alpha val="15000"/>
              </a:schemeClr>
            </a:solidFill>
            <a:ln>
              <a:solidFill>
                <a:srgbClr val="80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62A06FD-7D93-0301-7268-BB42FA90EBF2}"/>
                </a:ext>
              </a:extLst>
            </p:cNvPr>
            <p:cNvSpPr/>
            <p:nvPr/>
          </p:nvSpPr>
          <p:spPr>
            <a:xfrm>
              <a:off x="114302" y="3019149"/>
              <a:ext cx="8833754" cy="276472"/>
            </a:xfrm>
            <a:prstGeom prst="rect">
              <a:avLst/>
            </a:prstGeom>
            <a:solidFill>
              <a:schemeClr val="accent2">
                <a:alpha val="15000"/>
              </a:schemeClr>
            </a:solidFill>
            <a:ln>
              <a:solidFill>
                <a:srgbClr val="80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47B8F19-7E28-75A6-585B-70A31B5BC075}"/>
                </a:ext>
              </a:extLst>
            </p:cNvPr>
            <p:cNvSpPr/>
            <p:nvPr/>
          </p:nvSpPr>
          <p:spPr>
            <a:xfrm>
              <a:off x="114301" y="3550032"/>
              <a:ext cx="8833755" cy="276472"/>
            </a:xfrm>
            <a:prstGeom prst="rect">
              <a:avLst/>
            </a:prstGeom>
            <a:solidFill>
              <a:schemeClr val="accent2">
                <a:alpha val="15000"/>
              </a:schemeClr>
            </a:solidFill>
            <a:ln>
              <a:solidFill>
                <a:srgbClr val="80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52EE13B-95A2-7570-FDD0-7E65E785F50C}"/>
                </a:ext>
              </a:extLst>
            </p:cNvPr>
            <p:cNvSpPr/>
            <p:nvPr/>
          </p:nvSpPr>
          <p:spPr>
            <a:xfrm>
              <a:off x="6489382" y="397239"/>
              <a:ext cx="441886" cy="441552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8070D689-0C6C-8CAA-FB91-0F8881C3C1B6}"/>
              </a:ext>
            </a:extLst>
          </p:cNvPr>
          <p:cNvSpPr/>
          <p:nvPr/>
        </p:nvSpPr>
        <p:spPr>
          <a:xfrm>
            <a:off x="174581" y="4411951"/>
            <a:ext cx="9135555" cy="574763"/>
          </a:xfrm>
          <a:prstGeom prst="rect">
            <a:avLst/>
          </a:prstGeom>
          <a:solidFill>
            <a:schemeClr val="accent2">
              <a:alpha val="15000"/>
            </a:schemeClr>
          </a:solidFill>
          <a:ln>
            <a:solidFill>
              <a:srgbClr val="80CC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2831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D3B4F-002D-409B-2342-EED09F17D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70A85-2711-6FB8-2AC6-2C758E78707D}"/>
              </a:ext>
            </a:extLst>
          </p:cNvPr>
          <p:cNvSpPr>
            <a:spLocks noGrp="1"/>
          </p:cNvSpPr>
          <p:nvPr>
            <p:ph type="title"/>
          </p:nvPr>
        </p:nvSpPr>
        <p:spPr>
          <a:xfrm>
            <a:off x="0" y="27452"/>
            <a:ext cx="8738881" cy="337163"/>
          </a:xfrm>
        </p:spPr>
        <p:txBody>
          <a:bodyPr anchor="ctr"/>
          <a:lstStyle/>
          <a:p>
            <a:pPr algn="ctr"/>
            <a:r>
              <a:rPr lang="en-US" sz="2400" b="1" dirty="0">
                <a:solidFill>
                  <a:srgbClr val="119303"/>
                </a:solidFill>
              </a:rPr>
              <a:t>2.2. KẾT QUẢ HOẠT ĐỘNG KINH DOANH – </a:t>
            </a:r>
            <a:r>
              <a:rPr lang="en-US" sz="2400" b="1" dirty="0">
                <a:solidFill>
                  <a:schemeClr val="accent2">
                    <a:lumMod val="75000"/>
                  </a:schemeClr>
                </a:solidFill>
              </a:rPr>
              <a:t>LÃI LỖ THÁNG 12 – DTR</a:t>
            </a:r>
            <a:endParaRPr lang="en-US" sz="2200" b="1" dirty="0">
              <a:solidFill>
                <a:schemeClr val="accent2">
                  <a:lumMod val="75000"/>
                </a:schemeClr>
              </a:solidFill>
              <a:latin typeface="+mn-lt"/>
            </a:endParaRPr>
          </a:p>
        </p:txBody>
      </p:sp>
      <p:pic>
        <p:nvPicPr>
          <p:cNvPr id="6" name="Picture 5">
            <a:extLst>
              <a:ext uri="{FF2B5EF4-FFF2-40B4-BE49-F238E27FC236}">
                <a16:creationId xmlns:a16="http://schemas.microsoft.com/office/drawing/2014/main" id="{09C67BBA-1EC8-FC66-C445-455C6962BFD2}"/>
              </a:ext>
            </a:extLst>
          </p:cNvPr>
          <p:cNvPicPr>
            <a:picLocks noChangeAspect="1"/>
          </p:cNvPicPr>
          <p:nvPr/>
        </p:nvPicPr>
        <p:blipFill>
          <a:blip r:embed="rId3"/>
          <a:stretch>
            <a:fillRect/>
          </a:stretch>
        </p:blipFill>
        <p:spPr>
          <a:xfrm>
            <a:off x="0" y="388762"/>
            <a:ext cx="9144000" cy="4447864"/>
          </a:xfrm>
          <a:prstGeom prst="rect">
            <a:avLst/>
          </a:prstGeom>
        </p:spPr>
      </p:pic>
    </p:spTree>
    <p:extLst>
      <p:ext uri="{BB962C8B-B14F-4D97-AF65-F5344CB8AC3E}">
        <p14:creationId xmlns:p14="http://schemas.microsoft.com/office/powerpoint/2010/main" val="3774575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C3E62-F273-018C-E333-A3985A1BEB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EE103-BE30-6BC1-5184-EF084CD4B6EE}"/>
              </a:ext>
            </a:extLst>
          </p:cNvPr>
          <p:cNvSpPr>
            <a:spLocks noGrp="1"/>
          </p:cNvSpPr>
          <p:nvPr>
            <p:ph type="title"/>
          </p:nvPr>
        </p:nvSpPr>
        <p:spPr>
          <a:xfrm>
            <a:off x="0" y="15534"/>
            <a:ext cx="9143999" cy="337163"/>
          </a:xfrm>
        </p:spPr>
        <p:txBody>
          <a:bodyPr anchor="ctr"/>
          <a:lstStyle/>
          <a:p>
            <a:pPr algn="ctr"/>
            <a:r>
              <a:rPr lang="en-US" sz="2400" b="1" dirty="0">
                <a:solidFill>
                  <a:srgbClr val="119303"/>
                </a:solidFill>
              </a:rPr>
              <a:t>2.3. KẾT QUẢ HOẠT ĐỘNG KINH DOANH – </a:t>
            </a:r>
            <a:r>
              <a:rPr lang="en-US" sz="2400" b="1" dirty="0">
                <a:solidFill>
                  <a:schemeClr val="accent2">
                    <a:lumMod val="75000"/>
                  </a:schemeClr>
                </a:solidFill>
              </a:rPr>
              <a:t>LÃI LỖ THÁNG 11 – 3 TRẠM</a:t>
            </a:r>
            <a:endParaRPr lang="en-US" sz="2200" b="1" dirty="0">
              <a:solidFill>
                <a:schemeClr val="accent2">
                  <a:lumMod val="75000"/>
                </a:schemeClr>
              </a:solidFill>
              <a:latin typeface="+mn-lt"/>
            </a:endParaRPr>
          </a:p>
        </p:txBody>
      </p:sp>
      <p:pic>
        <p:nvPicPr>
          <p:cNvPr id="13" name="Picture 12">
            <a:extLst>
              <a:ext uri="{FF2B5EF4-FFF2-40B4-BE49-F238E27FC236}">
                <a16:creationId xmlns:a16="http://schemas.microsoft.com/office/drawing/2014/main" id="{887C80F7-6B21-25B9-00E2-EE101E25871C}"/>
              </a:ext>
            </a:extLst>
          </p:cNvPr>
          <p:cNvPicPr>
            <a:picLocks noChangeAspect="1"/>
          </p:cNvPicPr>
          <p:nvPr/>
        </p:nvPicPr>
        <p:blipFill>
          <a:blip r:embed="rId3"/>
          <a:stretch>
            <a:fillRect/>
          </a:stretch>
        </p:blipFill>
        <p:spPr>
          <a:xfrm>
            <a:off x="0" y="360408"/>
            <a:ext cx="9144000" cy="4590324"/>
          </a:xfrm>
          <a:prstGeom prst="rect">
            <a:avLst/>
          </a:prstGeom>
        </p:spPr>
      </p:pic>
    </p:spTree>
    <p:extLst>
      <p:ext uri="{BB962C8B-B14F-4D97-AF65-F5344CB8AC3E}">
        <p14:creationId xmlns:p14="http://schemas.microsoft.com/office/powerpoint/2010/main" val="3079427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F1069-A6E7-141D-0B07-AE4A4E1C1507}"/>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898A6A7-30C3-9951-E884-FBCDACD14A63}"/>
              </a:ext>
            </a:extLst>
          </p:cNvPr>
          <p:cNvGraphicFramePr>
            <a:graphicFrameLocks noGrp="1"/>
          </p:cNvGraphicFramePr>
          <p:nvPr>
            <p:extLst>
              <p:ext uri="{D42A27DB-BD31-4B8C-83A1-F6EECF244321}">
                <p14:modId xmlns:p14="http://schemas.microsoft.com/office/powerpoint/2010/main" val="1384725285"/>
              </p:ext>
            </p:extLst>
          </p:nvPr>
        </p:nvGraphicFramePr>
        <p:xfrm>
          <a:off x="58194" y="588234"/>
          <a:ext cx="9085805" cy="4313478"/>
        </p:xfrm>
        <a:graphic>
          <a:graphicData uri="http://schemas.openxmlformats.org/drawingml/2006/table">
            <a:tbl>
              <a:tblPr firstRow="1" bandRow="1">
                <a:tableStyleId>{6A077030-E235-474E-B3E8-3EB61F41259E}</a:tableStyleId>
              </a:tblPr>
              <a:tblGrid>
                <a:gridCol w="6640454">
                  <a:extLst>
                    <a:ext uri="{9D8B030D-6E8A-4147-A177-3AD203B41FA5}">
                      <a16:colId xmlns:a16="http://schemas.microsoft.com/office/drawing/2014/main" val="569245144"/>
                    </a:ext>
                  </a:extLst>
                </a:gridCol>
                <a:gridCol w="2445351">
                  <a:extLst>
                    <a:ext uri="{9D8B030D-6E8A-4147-A177-3AD203B41FA5}">
                      <a16:colId xmlns:a16="http://schemas.microsoft.com/office/drawing/2014/main" val="653644736"/>
                    </a:ext>
                  </a:extLst>
                </a:gridCol>
              </a:tblGrid>
              <a:tr h="2007994">
                <a:tc>
                  <a:txBody>
                    <a:bodyPr/>
                    <a:lstStyle/>
                    <a:p>
                      <a:pPr algn="ctr"/>
                      <a:endParaRPr lang="en-US"/>
                    </a:p>
                  </a:txBody>
                  <a:tcPr>
                    <a:lnB w="9525" cap="flat" cmpd="sng">
                      <a:noFill/>
                      <a:prstDash val="solid"/>
                      <a:round/>
                      <a:headEnd type="none" w="sm" len="sm"/>
                      <a:tailEnd type="none" w="sm" len="sm"/>
                    </a:lnB>
                  </a:tcPr>
                </a:tc>
                <a:tc rowSpan="2">
                  <a:txBody>
                    <a:bodyPr/>
                    <a:lstStyle/>
                    <a:p>
                      <a:pPr algn="ctr"/>
                      <a:r>
                        <a:rPr lang="en-US" u="sng"/>
                        <a:t>NGUYÊN NHÂN GỐC RỄ</a:t>
                      </a:r>
                    </a:p>
                    <a:p>
                      <a:pPr algn="ctr"/>
                      <a:endParaRPr lang="en-US" sz="1200" u="sng"/>
                    </a:p>
                    <a:p>
                      <a:pPr marL="0" indent="0" algn="l">
                        <a:buFontTx/>
                        <a:buNone/>
                      </a:pPr>
                      <a:r>
                        <a:rPr lang="en-US" sz="1000" u="none"/>
                        <a:t>Doanh </a:t>
                      </a:r>
                      <a:r>
                        <a:rPr lang="en-US" sz="1000" u="none" err="1"/>
                        <a:t>thu</a:t>
                      </a:r>
                      <a:r>
                        <a:rPr lang="en-US" sz="1000" u="none"/>
                        <a:t> </a:t>
                      </a:r>
                      <a:r>
                        <a:rPr lang="en-US" sz="1000" u="none" err="1"/>
                        <a:t>thuần</a:t>
                      </a:r>
                      <a:r>
                        <a:rPr lang="en-US" sz="1000" u="none"/>
                        <a:t> T11 </a:t>
                      </a:r>
                      <a:r>
                        <a:rPr lang="en-US" sz="1000" u="none" err="1"/>
                        <a:t>đạt</a:t>
                      </a:r>
                      <a:r>
                        <a:rPr lang="en-US" sz="1000" u="none"/>
                        <a:t> </a:t>
                      </a:r>
                      <a:r>
                        <a:rPr lang="en-US" sz="1000" b="1" u="none"/>
                        <a:t>88</a:t>
                      </a:r>
                      <a:r>
                        <a:rPr lang="en-US" sz="1000" u="none"/>
                        <a:t>/228 tỷ (42.2%). Nguyên </a:t>
                      </a:r>
                      <a:r>
                        <a:rPr lang="en-US" sz="1000" u="none" err="1"/>
                        <a:t>nhân</a:t>
                      </a:r>
                      <a:r>
                        <a:rPr lang="en-US" sz="1000" u="none"/>
                        <a:t> </a:t>
                      </a:r>
                      <a:r>
                        <a:rPr lang="en-US" sz="1000" u="none" err="1"/>
                        <a:t>không</a:t>
                      </a:r>
                      <a:r>
                        <a:rPr lang="en-US" sz="1000" u="none"/>
                        <a:t> </a:t>
                      </a:r>
                      <a:r>
                        <a:rPr lang="en-US" sz="1000" u="none" err="1"/>
                        <a:t>đạt</a:t>
                      </a:r>
                      <a:r>
                        <a:rPr lang="en-US" sz="1000" u="none"/>
                        <a:t> </a:t>
                      </a:r>
                      <a:r>
                        <a:rPr lang="en-US" sz="1000" u="none" err="1"/>
                        <a:t>là</a:t>
                      </a:r>
                      <a:r>
                        <a:rPr lang="en-US" sz="1000" u="none"/>
                        <a:t> do:</a:t>
                      </a:r>
                    </a:p>
                    <a:p>
                      <a:pPr marL="0" indent="0" algn="l">
                        <a:buFontTx/>
                        <a:buNone/>
                      </a:pPr>
                      <a:endParaRPr lang="en-US" sz="1000" u="none"/>
                    </a:p>
                    <a:p>
                      <a:pPr marL="0" indent="0" algn="l">
                        <a:buFontTx/>
                        <a:buNone/>
                      </a:pPr>
                      <a:r>
                        <a:rPr lang="en-US" sz="1000" u="none"/>
                        <a:t>+ </a:t>
                      </a:r>
                      <a:r>
                        <a:rPr lang="en-US" sz="1000" u="none" err="1"/>
                        <a:t>Sản</a:t>
                      </a:r>
                      <a:r>
                        <a:rPr lang="en-US" sz="1000" u="none"/>
                        <a:t> </a:t>
                      </a:r>
                      <a:r>
                        <a:rPr lang="en-US" sz="1000" u="none" err="1"/>
                        <a:t>lượng</a:t>
                      </a:r>
                      <a:r>
                        <a:rPr lang="en-US" sz="1000" u="none"/>
                        <a:t> </a:t>
                      </a:r>
                      <a:r>
                        <a:rPr lang="en-US" sz="1000" u="none" err="1"/>
                        <a:t>bán</a:t>
                      </a:r>
                      <a:r>
                        <a:rPr lang="en-US" sz="1000" u="none"/>
                        <a:t> </a:t>
                      </a:r>
                      <a:r>
                        <a:rPr lang="en-US" sz="1000" u="none" err="1"/>
                        <a:t>sản</a:t>
                      </a:r>
                      <a:r>
                        <a:rPr lang="en-US" sz="1000" u="none"/>
                        <a:t> </a:t>
                      </a:r>
                      <a:r>
                        <a:rPr lang="en-US" sz="1000" u="none" err="1"/>
                        <a:t>phẩm</a:t>
                      </a:r>
                      <a:r>
                        <a:rPr lang="en-US" sz="1000" u="none"/>
                        <a:t> </a:t>
                      </a:r>
                      <a:r>
                        <a:rPr lang="en-US" sz="1000" u="none" err="1"/>
                        <a:t>chính</a:t>
                      </a:r>
                      <a:r>
                        <a:rPr lang="en-US" sz="1000" u="none"/>
                        <a:t> </a:t>
                      </a:r>
                      <a:r>
                        <a:rPr lang="en-US" sz="1000" u="none" err="1"/>
                        <a:t>chỉ</a:t>
                      </a:r>
                      <a:r>
                        <a:rPr lang="en-US" sz="1000" u="none"/>
                        <a:t> </a:t>
                      </a:r>
                      <a:r>
                        <a:rPr lang="en-US" sz="1000" u="none" err="1"/>
                        <a:t>đạt</a:t>
                      </a:r>
                      <a:r>
                        <a:rPr lang="en-US" sz="1000" u="none"/>
                        <a:t> </a:t>
                      </a:r>
                      <a:r>
                        <a:rPr lang="en-US" sz="1100" b="1" u="none"/>
                        <a:t>2.51</a:t>
                      </a:r>
                      <a:r>
                        <a:rPr lang="en-US" sz="1000" u="none"/>
                        <a:t>/5.97 </a:t>
                      </a:r>
                      <a:r>
                        <a:rPr lang="en-US" sz="1000" u="none" err="1"/>
                        <a:t>ngàn</a:t>
                      </a:r>
                      <a:r>
                        <a:rPr lang="en-US" sz="1000" u="none"/>
                        <a:t> </a:t>
                      </a:r>
                      <a:r>
                        <a:rPr lang="en-US" sz="1000" u="none" err="1"/>
                        <a:t>tấn</a:t>
                      </a:r>
                      <a:r>
                        <a:rPr lang="en-US" sz="1000" u="none"/>
                        <a:t> (49.8%): </a:t>
                      </a:r>
                      <a:r>
                        <a:rPr lang="en-US" sz="1000" u="none" err="1"/>
                        <a:t>tác</a:t>
                      </a:r>
                      <a:r>
                        <a:rPr lang="en-US" sz="1000" u="none"/>
                        <a:t> </a:t>
                      </a:r>
                      <a:r>
                        <a:rPr lang="en-US" sz="1000" u="none" err="1"/>
                        <a:t>động</a:t>
                      </a:r>
                      <a:r>
                        <a:rPr lang="en-US" sz="1000" u="none"/>
                        <a:t> </a:t>
                      </a:r>
                      <a:r>
                        <a:rPr lang="en-US" sz="1000" b="1" u="none" err="1"/>
                        <a:t>giảm</a:t>
                      </a:r>
                      <a:r>
                        <a:rPr lang="en-US" sz="1000" b="1" u="none"/>
                        <a:t> 115 tỷ. </a:t>
                      </a:r>
                      <a:r>
                        <a:rPr lang="en-US" sz="1000" b="0" u="none"/>
                        <a:t>Nguyên nhân chủ yếu là do khách Mỹ (Niagara) lo ngại thuế quan và khách châu Âu cũng ngưng vì ADD</a:t>
                      </a:r>
                      <a:endParaRPr lang="en-US" sz="1000" b="1" u="none"/>
                    </a:p>
                    <a:p>
                      <a:pPr marL="0" indent="0" algn="l">
                        <a:buFontTx/>
                        <a:buNone/>
                      </a:pPr>
                      <a:endParaRPr lang="en-US" sz="1000" u="none"/>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000" u="none"/>
                        <a:t>+ </a:t>
                      </a:r>
                      <a:r>
                        <a:rPr lang="en-US" sz="1000" b="1" u="none" err="1"/>
                        <a:t>Giá</a:t>
                      </a:r>
                      <a:r>
                        <a:rPr lang="en-US" sz="1000" b="1" u="none"/>
                        <a:t> </a:t>
                      </a:r>
                      <a:r>
                        <a:rPr lang="en-US" sz="1000" b="1" u="none" err="1"/>
                        <a:t>bán</a:t>
                      </a:r>
                      <a:r>
                        <a:rPr lang="en-US" sz="1000" b="1" u="none"/>
                        <a:t> EXW </a:t>
                      </a:r>
                      <a:r>
                        <a:rPr lang="en-US" sz="1000" b="1" u="none" err="1"/>
                        <a:t>trung</a:t>
                      </a:r>
                      <a:r>
                        <a:rPr lang="en-US" sz="1000" b="1" u="none"/>
                        <a:t> </a:t>
                      </a:r>
                      <a:r>
                        <a:rPr lang="en-US" sz="1000" b="1" u="none" err="1"/>
                        <a:t>bình</a:t>
                      </a:r>
                      <a:r>
                        <a:rPr lang="en-US" sz="1000" b="1" u="none"/>
                        <a:t> </a:t>
                      </a:r>
                      <a:r>
                        <a:rPr lang="en-US" sz="1000" b="1" u="none" err="1"/>
                        <a:t>các</a:t>
                      </a:r>
                      <a:r>
                        <a:rPr lang="en-US" sz="1000" b="1" u="none"/>
                        <a:t> </a:t>
                      </a:r>
                      <a:r>
                        <a:rPr lang="en-US" sz="1000" b="1" u="none" err="1"/>
                        <a:t>ngành</a:t>
                      </a:r>
                      <a:r>
                        <a:rPr lang="en-US" sz="1000" b="1" u="none"/>
                        <a:t> </a:t>
                      </a:r>
                      <a:r>
                        <a:rPr lang="en-US" sz="1000" b="1" u="none" err="1"/>
                        <a:t>hàng</a:t>
                      </a:r>
                      <a:r>
                        <a:rPr lang="en-US" sz="1000" b="1" u="none"/>
                        <a:t> </a:t>
                      </a:r>
                      <a:r>
                        <a:rPr lang="en-US" sz="1000" b="1" u="none" err="1"/>
                        <a:t>đều</a:t>
                      </a:r>
                      <a:r>
                        <a:rPr lang="en-US" sz="1000" b="1" u="none"/>
                        <a:t> </a:t>
                      </a:r>
                      <a:r>
                        <a:rPr lang="en-US" sz="1000" b="1" u="none" err="1"/>
                        <a:t>giảm</a:t>
                      </a:r>
                      <a:r>
                        <a:rPr lang="en-US" sz="1000" b="1" u="none"/>
                        <a:t>: </a:t>
                      </a:r>
                      <a:r>
                        <a:rPr lang="en-US" sz="1000" u="none" err="1"/>
                        <a:t>tác</a:t>
                      </a:r>
                      <a:r>
                        <a:rPr lang="en-US" sz="1000" u="none"/>
                        <a:t> </a:t>
                      </a:r>
                      <a:r>
                        <a:rPr lang="en-US" sz="1000" u="none" err="1"/>
                        <a:t>động</a:t>
                      </a:r>
                      <a:r>
                        <a:rPr lang="en-US" sz="1000" u="none"/>
                        <a:t> </a:t>
                      </a:r>
                      <a:r>
                        <a:rPr lang="en-US" sz="1000" b="1" u="none" err="1"/>
                        <a:t>giảm</a:t>
                      </a:r>
                      <a:r>
                        <a:rPr lang="en-US" sz="1000" b="1" u="none"/>
                        <a:t> 7 </a:t>
                      </a:r>
                      <a:r>
                        <a:rPr lang="en-US" sz="1000" b="1" u="none" err="1"/>
                        <a:t>tỷ</a:t>
                      </a:r>
                      <a:r>
                        <a:rPr lang="en-US" sz="1000" b="0" u="none"/>
                        <a:t> </a:t>
                      </a:r>
                      <a:r>
                        <a:rPr lang="en-US" sz="1000" b="0" i="1" u="none">
                          <a:solidFill>
                            <a:schemeClr val="accent1">
                              <a:lumMod val="60000"/>
                              <a:lumOff val="40000"/>
                            </a:schemeClr>
                          </a:solidFill>
                          <a:sym typeface="Wingdings" panose="05000000000000000000" pitchFamily="2" charset="2"/>
                        </a:rPr>
                        <a:t> </a:t>
                      </a:r>
                      <a:r>
                        <a:rPr lang="en-US" sz="1000" b="0" i="1" u="none" err="1">
                          <a:solidFill>
                            <a:schemeClr val="accent1">
                              <a:lumMod val="60000"/>
                              <a:lumOff val="40000"/>
                            </a:schemeClr>
                          </a:solidFill>
                          <a:sym typeface="Wingdings" panose="05000000000000000000" pitchFamily="2" charset="2"/>
                        </a:rPr>
                        <a:t>Biểu</a:t>
                      </a:r>
                      <a:r>
                        <a:rPr lang="en-US" sz="1000" b="0" i="1" u="none">
                          <a:solidFill>
                            <a:schemeClr val="accent1">
                              <a:lumMod val="60000"/>
                              <a:lumOff val="40000"/>
                            </a:schemeClr>
                          </a:solidFill>
                          <a:sym typeface="Wingdings" panose="05000000000000000000" pitchFamily="2" charset="2"/>
                        </a:rPr>
                        <a:t> </a:t>
                      </a:r>
                      <a:r>
                        <a:rPr lang="en-US" sz="1000" b="0" i="1" u="none" err="1">
                          <a:solidFill>
                            <a:schemeClr val="accent1">
                              <a:lumMod val="60000"/>
                              <a:lumOff val="40000"/>
                            </a:schemeClr>
                          </a:solidFill>
                          <a:sym typeface="Wingdings" panose="05000000000000000000" pitchFamily="2" charset="2"/>
                        </a:rPr>
                        <a:t>đồ</a:t>
                      </a:r>
                      <a:r>
                        <a:rPr lang="en-US" sz="1000" b="0" i="1" u="none">
                          <a:solidFill>
                            <a:schemeClr val="accent1">
                              <a:lumMod val="60000"/>
                              <a:lumOff val="40000"/>
                            </a:schemeClr>
                          </a:solidFill>
                          <a:sym typeface="Wingdings" panose="05000000000000000000" pitchFamily="2" charset="2"/>
                        </a:rPr>
                        <a:t> </a:t>
                      </a:r>
                      <a:r>
                        <a:rPr lang="en-US" sz="1000" b="0" i="1" u="none" err="1">
                          <a:solidFill>
                            <a:schemeClr val="accent1">
                              <a:lumMod val="60000"/>
                              <a:lumOff val="40000"/>
                            </a:schemeClr>
                          </a:solidFill>
                          <a:sym typeface="Wingdings" panose="05000000000000000000" pitchFamily="2" charset="2"/>
                        </a:rPr>
                        <a:t>rPET</a:t>
                      </a:r>
                      <a:endParaRPr lang="en-US" sz="1000" b="0" i="1" u="none">
                        <a:solidFill>
                          <a:schemeClr val="accent1">
                            <a:lumMod val="60000"/>
                            <a:lumOff val="40000"/>
                          </a:schemeClr>
                        </a:solidFill>
                      </a:endParaRPr>
                    </a:p>
                    <a:p>
                      <a:pPr marL="0" indent="0" algn="l">
                        <a:buFontTx/>
                        <a:buNone/>
                      </a:pPr>
                      <a:endParaRPr lang="en-US" sz="1000" b="1" u="none"/>
                    </a:p>
                    <a:p>
                      <a:pPr marL="0" indent="0" algn="l">
                        <a:buFontTx/>
                        <a:buNone/>
                      </a:pPr>
                      <a:r>
                        <a:rPr lang="en-US" sz="1000" b="0" u="none"/>
                        <a:t>+ </a:t>
                      </a:r>
                      <a:r>
                        <a:rPr lang="en-US" sz="1000" b="1" u="none"/>
                        <a:t>Kế hoạch </a:t>
                      </a:r>
                      <a:r>
                        <a:rPr lang="en-US" sz="1000" b="0" u="none"/>
                        <a:t>có lập bán xuất khẩu </a:t>
                      </a:r>
                      <a:r>
                        <a:rPr lang="en-US" sz="1000" b="1" u="none"/>
                        <a:t>giá CIF/DPP </a:t>
                      </a:r>
                      <a:r>
                        <a:rPr lang="en-US" sz="1000" b="0" u="none"/>
                        <a:t>cho một số khách hàng </a:t>
                      </a:r>
                      <a:r>
                        <a:rPr lang="en-US" sz="1000" b="0" i="1" u="none"/>
                        <a:t>nhưng thực tế không phát sinh </a:t>
                      </a:r>
                      <a:r>
                        <a:rPr lang="en-US" sz="1000" b="0" u="none"/>
                        <a:t>(Pepsi Bắc Mỹ, Ravago, Amcor, Outerinho …): tác động </a:t>
                      </a:r>
                      <a:r>
                        <a:rPr lang="en-US" sz="1000" b="1" u="none"/>
                        <a:t>giảm 10 tỷ</a:t>
                      </a:r>
                      <a:r>
                        <a:rPr lang="en-US" sz="1000" b="0" u="none"/>
                        <a:t>.</a:t>
                      </a:r>
                    </a:p>
                    <a:p>
                      <a:pPr marL="0" indent="0" algn="l">
                        <a:buFontTx/>
                        <a:buNone/>
                      </a:pPr>
                      <a:endParaRPr lang="en-US" sz="1000" b="1" u="none"/>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lang="en-US" sz="1000" b="1" i="0" u="none"/>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lang="en-US" sz="1000" b="1" i="1" u="none"/>
                    </a:p>
                  </a:txBody>
                  <a:tcPr/>
                </a:tc>
                <a:extLst>
                  <a:ext uri="{0D108BD9-81ED-4DB2-BD59-A6C34878D82A}">
                    <a16:rowId xmlns:a16="http://schemas.microsoft.com/office/drawing/2014/main" val="2801659027"/>
                  </a:ext>
                </a:extLst>
              </a:tr>
              <a:tr h="2305484">
                <a:tc>
                  <a:txBody>
                    <a:bodyPr/>
                    <a:lstStyle/>
                    <a:p>
                      <a:endParaRPr lang="en-US"/>
                    </a:p>
                  </a:txBody>
                  <a:tcPr>
                    <a:lnT w="9525" cap="flat" cmpd="sng">
                      <a:noFill/>
                      <a:prstDash val="solid"/>
                      <a:round/>
                      <a:headEnd type="none" w="sm" len="sm"/>
                      <a:tailEnd type="none" w="sm" len="sm"/>
                    </a:lnT>
                  </a:tcPr>
                </a:tc>
                <a:tc vMerge="1">
                  <a:txBody>
                    <a:bodyPr/>
                    <a:lstStyle/>
                    <a:p>
                      <a:endParaRPr lang="en-US"/>
                    </a:p>
                  </a:txBody>
                  <a:tcPr/>
                </a:tc>
                <a:extLst>
                  <a:ext uri="{0D108BD9-81ED-4DB2-BD59-A6C34878D82A}">
                    <a16:rowId xmlns:a16="http://schemas.microsoft.com/office/drawing/2014/main" val="3019797017"/>
                  </a:ext>
                </a:extLst>
              </a:tr>
            </a:tbl>
          </a:graphicData>
        </a:graphic>
      </p:graphicFrame>
      <p:sp>
        <p:nvSpPr>
          <p:cNvPr id="2" name="Title 1">
            <a:extLst>
              <a:ext uri="{FF2B5EF4-FFF2-40B4-BE49-F238E27FC236}">
                <a16:creationId xmlns:a16="http://schemas.microsoft.com/office/drawing/2014/main" id="{4BD14D59-E52C-4AEC-E23F-A01EDF0CB9F9}"/>
              </a:ext>
            </a:extLst>
          </p:cNvPr>
          <p:cNvSpPr>
            <a:spLocks noGrp="1"/>
          </p:cNvSpPr>
          <p:nvPr>
            <p:ph type="title"/>
          </p:nvPr>
        </p:nvSpPr>
        <p:spPr>
          <a:xfrm>
            <a:off x="0" y="15534"/>
            <a:ext cx="9085805" cy="572700"/>
          </a:xfrm>
        </p:spPr>
        <p:txBody>
          <a:bodyPr/>
          <a:lstStyle/>
          <a:p>
            <a:pPr algn="ctr"/>
            <a:r>
              <a:rPr lang="en-US" sz="2000" b="1" dirty="0">
                <a:solidFill>
                  <a:srgbClr val="119303"/>
                </a:solidFill>
              </a:rPr>
              <a:t>2.4.1</a:t>
            </a:r>
            <a:r>
              <a:rPr lang="en-US" sz="2300" b="1" dirty="0">
                <a:solidFill>
                  <a:srgbClr val="119303"/>
                </a:solidFill>
              </a:rPr>
              <a:t>. KẾT QUẢ HOẠT ĐỘNG KINH DOANH – </a:t>
            </a:r>
            <a:r>
              <a:rPr lang="en-US" sz="2300" b="1" dirty="0">
                <a:solidFill>
                  <a:schemeClr val="accent2">
                    <a:lumMod val="75000"/>
                  </a:schemeClr>
                </a:solidFill>
              </a:rPr>
              <a:t>GIẢI TRÌNH DOANH THU</a:t>
            </a:r>
            <a:endParaRPr lang="en-US" sz="2300" b="1" dirty="0">
              <a:solidFill>
                <a:schemeClr val="tx1">
                  <a:lumMod val="65000"/>
                  <a:lumOff val="35000"/>
                </a:schemeClr>
              </a:solidFill>
              <a:latin typeface="+mn-lt"/>
            </a:endParaRPr>
          </a:p>
        </p:txBody>
      </p:sp>
      <p:graphicFrame>
        <p:nvGraphicFramePr>
          <p:cNvPr id="4" name="Chart 3">
            <a:extLst>
              <a:ext uri="{FF2B5EF4-FFF2-40B4-BE49-F238E27FC236}">
                <a16:creationId xmlns:a16="http://schemas.microsoft.com/office/drawing/2014/main" id="{E130BEDC-8830-AA2C-D6CE-032D13175089}"/>
              </a:ext>
            </a:extLst>
          </p:cNvPr>
          <p:cNvGraphicFramePr>
            <a:graphicFrameLocks/>
          </p:cNvGraphicFramePr>
          <p:nvPr>
            <p:extLst>
              <p:ext uri="{D42A27DB-BD31-4B8C-83A1-F6EECF244321}">
                <p14:modId xmlns:p14="http://schemas.microsoft.com/office/powerpoint/2010/main" val="3178720055"/>
              </p:ext>
            </p:extLst>
          </p:nvPr>
        </p:nvGraphicFramePr>
        <p:xfrm>
          <a:off x="58195" y="806598"/>
          <a:ext cx="6608736" cy="1909306"/>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5B237680-819E-EC6E-D41F-B19E93EC7702}"/>
              </a:ext>
            </a:extLst>
          </p:cNvPr>
          <p:cNvSpPr/>
          <p:nvPr/>
        </p:nvSpPr>
        <p:spPr>
          <a:xfrm>
            <a:off x="58195" y="588234"/>
            <a:ext cx="6608736" cy="218364"/>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DOANH THU THUẦN</a:t>
            </a:r>
          </a:p>
        </p:txBody>
      </p:sp>
      <p:sp>
        <p:nvSpPr>
          <p:cNvPr id="14" name="Rectangle 13">
            <a:extLst>
              <a:ext uri="{FF2B5EF4-FFF2-40B4-BE49-F238E27FC236}">
                <a16:creationId xmlns:a16="http://schemas.microsoft.com/office/drawing/2014/main" id="{9510EA6F-2D53-E4B7-293E-26704F295D36}"/>
              </a:ext>
            </a:extLst>
          </p:cNvPr>
          <p:cNvSpPr/>
          <p:nvPr/>
        </p:nvSpPr>
        <p:spPr>
          <a:xfrm>
            <a:off x="58195" y="2695291"/>
            <a:ext cx="6608736" cy="218364"/>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LŨY KẾ DOANH THU THUẦN</a:t>
            </a:r>
          </a:p>
        </p:txBody>
      </p:sp>
      <p:graphicFrame>
        <p:nvGraphicFramePr>
          <p:cNvPr id="15" name="Chart 14">
            <a:extLst>
              <a:ext uri="{FF2B5EF4-FFF2-40B4-BE49-F238E27FC236}">
                <a16:creationId xmlns:a16="http://schemas.microsoft.com/office/drawing/2014/main" id="{424E2B08-E421-0097-BABF-0E47D73A24B0}"/>
              </a:ext>
            </a:extLst>
          </p:cNvPr>
          <p:cNvGraphicFramePr>
            <a:graphicFrameLocks/>
          </p:cNvGraphicFramePr>
          <p:nvPr>
            <p:extLst>
              <p:ext uri="{D42A27DB-BD31-4B8C-83A1-F6EECF244321}">
                <p14:modId xmlns:p14="http://schemas.microsoft.com/office/powerpoint/2010/main" val="1243205113"/>
              </p:ext>
            </p:extLst>
          </p:nvPr>
        </p:nvGraphicFramePr>
        <p:xfrm>
          <a:off x="58195" y="2913373"/>
          <a:ext cx="6608736" cy="1909306"/>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795E6761-BEB0-E07D-620F-3E30380E5176}"/>
              </a:ext>
            </a:extLst>
          </p:cNvPr>
          <p:cNvSpPr txBox="1"/>
          <p:nvPr/>
        </p:nvSpPr>
        <p:spPr>
          <a:xfrm>
            <a:off x="5896612" y="586941"/>
            <a:ext cx="665567" cy="200055"/>
          </a:xfrm>
          <a:prstGeom prst="rect">
            <a:avLst/>
          </a:prstGeom>
          <a:noFill/>
        </p:spPr>
        <p:txBody>
          <a:bodyPr wrap="none" rtlCol="0">
            <a:spAutoFit/>
          </a:bodyPr>
          <a:lstStyle/>
          <a:p>
            <a:r>
              <a:rPr lang="en-US" sz="700" i="1" err="1"/>
              <a:t>Đvt</a:t>
            </a:r>
            <a:r>
              <a:rPr lang="en-US" sz="700" i="1"/>
              <a:t>: </a:t>
            </a:r>
            <a:r>
              <a:rPr lang="en-US" sz="700" i="1" err="1"/>
              <a:t>tỷ</a:t>
            </a:r>
            <a:r>
              <a:rPr lang="en-US" sz="700" i="1"/>
              <a:t> </a:t>
            </a:r>
            <a:r>
              <a:rPr lang="en-US" sz="700" i="1" err="1"/>
              <a:t>đồng</a:t>
            </a:r>
            <a:endParaRPr lang="en-US" sz="700" i="1"/>
          </a:p>
        </p:txBody>
      </p:sp>
      <p:sp>
        <p:nvSpPr>
          <p:cNvPr id="17" name="TextBox 16">
            <a:extLst>
              <a:ext uri="{FF2B5EF4-FFF2-40B4-BE49-F238E27FC236}">
                <a16:creationId xmlns:a16="http://schemas.microsoft.com/office/drawing/2014/main" id="{6791F701-DD65-569C-8158-7E7319F27F65}"/>
              </a:ext>
            </a:extLst>
          </p:cNvPr>
          <p:cNvSpPr txBox="1"/>
          <p:nvPr/>
        </p:nvSpPr>
        <p:spPr>
          <a:xfrm>
            <a:off x="5896613" y="2704445"/>
            <a:ext cx="665567" cy="200055"/>
          </a:xfrm>
          <a:prstGeom prst="rect">
            <a:avLst/>
          </a:prstGeom>
          <a:noFill/>
        </p:spPr>
        <p:txBody>
          <a:bodyPr wrap="none" rtlCol="0">
            <a:spAutoFit/>
          </a:bodyPr>
          <a:lstStyle/>
          <a:p>
            <a:r>
              <a:rPr lang="en-US" sz="700" i="1" err="1"/>
              <a:t>Đvt</a:t>
            </a:r>
            <a:r>
              <a:rPr lang="en-US" sz="700" i="1"/>
              <a:t>: </a:t>
            </a:r>
            <a:r>
              <a:rPr lang="en-US" sz="700" i="1" err="1"/>
              <a:t>tỷ</a:t>
            </a:r>
            <a:r>
              <a:rPr lang="en-US" sz="700" i="1"/>
              <a:t> </a:t>
            </a:r>
            <a:r>
              <a:rPr lang="en-US" sz="700" i="1" err="1"/>
              <a:t>đồng</a:t>
            </a:r>
            <a:endParaRPr lang="en-US" sz="700" i="1"/>
          </a:p>
        </p:txBody>
      </p:sp>
    </p:spTree>
    <p:extLst>
      <p:ext uri="{BB962C8B-B14F-4D97-AF65-F5344CB8AC3E}">
        <p14:creationId xmlns:p14="http://schemas.microsoft.com/office/powerpoint/2010/main" val="78206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F1069-A6E7-141D-0B07-AE4A4E1C1507}"/>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898A6A7-30C3-9951-E884-FBCDACD14A63}"/>
              </a:ext>
            </a:extLst>
          </p:cNvPr>
          <p:cNvGraphicFramePr>
            <a:graphicFrameLocks noGrp="1"/>
          </p:cNvGraphicFramePr>
          <p:nvPr/>
        </p:nvGraphicFramePr>
        <p:xfrm>
          <a:off x="58194" y="588234"/>
          <a:ext cx="9085805" cy="4286166"/>
        </p:xfrm>
        <a:graphic>
          <a:graphicData uri="http://schemas.openxmlformats.org/drawingml/2006/table">
            <a:tbl>
              <a:tblPr firstRow="1" bandRow="1">
                <a:tableStyleId>{6A077030-E235-474E-B3E8-3EB61F41259E}</a:tableStyleId>
              </a:tblPr>
              <a:tblGrid>
                <a:gridCol w="6640454">
                  <a:extLst>
                    <a:ext uri="{9D8B030D-6E8A-4147-A177-3AD203B41FA5}">
                      <a16:colId xmlns:a16="http://schemas.microsoft.com/office/drawing/2014/main" val="569245144"/>
                    </a:ext>
                  </a:extLst>
                </a:gridCol>
                <a:gridCol w="2445351">
                  <a:extLst>
                    <a:ext uri="{9D8B030D-6E8A-4147-A177-3AD203B41FA5}">
                      <a16:colId xmlns:a16="http://schemas.microsoft.com/office/drawing/2014/main" val="653644736"/>
                    </a:ext>
                  </a:extLst>
                </a:gridCol>
              </a:tblGrid>
              <a:tr h="1934032">
                <a:tc>
                  <a:txBody>
                    <a:bodyPr/>
                    <a:lstStyle/>
                    <a:p>
                      <a:pPr algn="ctr"/>
                      <a:endParaRPr lang="en-US"/>
                    </a:p>
                  </a:txBody>
                  <a:tcPr>
                    <a:lnB w="9525" cap="flat" cmpd="sng">
                      <a:noFill/>
                      <a:prstDash val="solid"/>
                      <a:round/>
                      <a:headEnd type="none" w="sm" len="sm"/>
                      <a:tailEnd type="none" w="sm" len="sm"/>
                    </a:lnB>
                  </a:tcPr>
                </a:tc>
                <a:tc rowSpan="2">
                  <a:txBody>
                    <a:bodyPr/>
                    <a:lstStyle/>
                    <a:p>
                      <a:pPr algn="ctr"/>
                      <a:r>
                        <a:rPr lang="en-US" u="sng"/>
                        <a:t>NGUYÊN NHÂN GỐC RỄ</a:t>
                      </a:r>
                    </a:p>
                    <a:p>
                      <a:pPr algn="ctr"/>
                      <a:endParaRPr lang="en-US" sz="1200" u="sng"/>
                    </a:p>
                    <a:p>
                      <a:pPr marL="0" indent="0" algn="l">
                        <a:buFontTx/>
                        <a:buNone/>
                      </a:pPr>
                      <a:r>
                        <a:rPr lang="en-US" sz="1000" u="none"/>
                        <a:t>1. Sản lượng bán sản phẩm chính chỉ đạt </a:t>
                      </a:r>
                      <a:r>
                        <a:rPr lang="en-US" sz="1100" b="1" u="none"/>
                        <a:t>2.51</a:t>
                      </a:r>
                      <a:r>
                        <a:rPr lang="en-US" sz="1000" u="none"/>
                        <a:t>/5.97 ngàn tấn (49.8%): tác động </a:t>
                      </a:r>
                      <a:r>
                        <a:rPr lang="en-US" sz="1000" b="1" u="none"/>
                        <a:t>giảm 115 </a:t>
                      </a:r>
                      <a:r>
                        <a:rPr lang="en-US" sz="1000" b="1" u="none" err="1"/>
                        <a:t>tỷ</a:t>
                      </a:r>
                      <a:r>
                        <a:rPr lang="en-US" sz="1000" b="1" u="none"/>
                        <a:t>. </a:t>
                      </a:r>
                      <a:r>
                        <a:rPr lang="en-US" sz="1000" b="0" u="none"/>
                        <a:t>Nguyên nhân chủ yếu là do </a:t>
                      </a:r>
                      <a:r>
                        <a:rPr lang="vi-VN" sz="1000" b="0" u="none"/>
                        <a:t>chịu ảnh hưởng từ chính sách thuế đối ứng Mỹ và chống phá giá châu Âu, tác động giảm ~60-70% sản lượng bán</a:t>
                      </a:r>
                      <a:r>
                        <a:rPr lang="en-US" sz="1000" b="0" u="none"/>
                        <a:t>.</a:t>
                      </a:r>
                      <a:endParaRPr lang="en-US" sz="1000" u="none"/>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000" u="none"/>
                        <a:t>2. </a:t>
                      </a:r>
                      <a:r>
                        <a:rPr lang="en-US" sz="1000" b="1" u="none"/>
                        <a:t>Giá bán EXW trung bình các ngành hàng đều giảm: </a:t>
                      </a:r>
                      <a:r>
                        <a:rPr lang="en-US" sz="1000" u="none"/>
                        <a:t>tác động </a:t>
                      </a:r>
                      <a:r>
                        <a:rPr lang="en-US" sz="1000" b="1" u="none"/>
                        <a:t>giảm 7 </a:t>
                      </a:r>
                      <a:r>
                        <a:rPr lang="en-US" sz="1000" b="1" u="none" err="1"/>
                        <a:t>tỷ</a:t>
                      </a:r>
                      <a:r>
                        <a:rPr lang="en-US" sz="1000" b="0" u="none"/>
                        <a:t> </a:t>
                      </a:r>
                      <a:r>
                        <a:rPr lang="en-US" sz="1000" b="0" i="1" u="none">
                          <a:solidFill>
                            <a:schemeClr val="accent1">
                              <a:lumMod val="60000"/>
                              <a:lumOff val="40000"/>
                            </a:schemeClr>
                          </a:solidFill>
                          <a:sym typeface="Wingdings" panose="05000000000000000000" pitchFamily="2" charset="2"/>
                        </a:rPr>
                        <a:t> Biểu đồ </a:t>
                      </a:r>
                      <a:r>
                        <a:rPr lang="en-US" sz="1000" b="0" i="1" u="none" err="1">
                          <a:solidFill>
                            <a:schemeClr val="accent1">
                              <a:lumMod val="60000"/>
                              <a:lumOff val="40000"/>
                            </a:schemeClr>
                          </a:solidFill>
                          <a:sym typeface="Wingdings" panose="05000000000000000000" pitchFamily="2" charset="2"/>
                        </a:rPr>
                        <a:t>rPET</a:t>
                      </a:r>
                      <a:endParaRPr lang="en-US" sz="1000" b="0" i="1" u="none">
                        <a:solidFill>
                          <a:schemeClr val="accent1">
                            <a:lumMod val="60000"/>
                            <a:lumOff val="40000"/>
                          </a:schemeClr>
                        </a:solidFill>
                      </a:endParaRPr>
                    </a:p>
                    <a:p>
                      <a:pPr marL="0" indent="0" algn="l">
                        <a:buFontTx/>
                        <a:buNone/>
                      </a:pPr>
                      <a:endParaRPr lang="en-US" sz="1000" b="1" u="none"/>
                    </a:p>
                    <a:p>
                      <a:pPr marL="0" indent="0" algn="l">
                        <a:buFontTx/>
                        <a:buNone/>
                      </a:pPr>
                      <a:r>
                        <a:rPr lang="en-US" sz="1000" b="0" u="none"/>
                        <a:t>3. </a:t>
                      </a:r>
                      <a:r>
                        <a:rPr lang="en-US" sz="1000" b="1" u="none"/>
                        <a:t>Kế hoạch </a:t>
                      </a:r>
                      <a:r>
                        <a:rPr lang="en-US" sz="1000" b="0" u="none"/>
                        <a:t>có lập bán xuất khẩu </a:t>
                      </a:r>
                      <a:r>
                        <a:rPr lang="en-US" sz="1000" b="1" u="none"/>
                        <a:t>giá CIF/DPP </a:t>
                      </a:r>
                      <a:r>
                        <a:rPr lang="en-US" sz="1000" b="0" u="none"/>
                        <a:t>cho một số khách hàng </a:t>
                      </a:r>
                      <a:r>
                        <a:rPr lang="en-US" sz="1000" b="0" i="1" u="none"/>
                        <a:t>nhưng thực tế không phát sinh </a:t>
                      </a:r>
                      <a:r>
                        <a:rPr lang="en-US" sz="1000" b="0" u="none"/>
                        <a:t>(Pepsi Bắc Mỹ, Ravago, Amcor, </a:t>
                      </a:r>
                      <a:r>
                        <a:rPr lang="en-US" sz="1000" b="0" u="none" err="1"/>
                        <a:t>Outerinho</a:t>
                      </a:r>
                      <a:r>
                        <a:rPr lang="en-US" sz="1000" b="0" u="none"/>
                        <a:t> …): tác động </a:t>
                      </a:r>
                      <a:r>
                        <a:rPr lang="en-US" sz="1000" b="1" u="none"/>
                        <a:t>giảm 10 </a:t>
                      </a:r>
                      <a:r>
                        <a:rPr lang="en-US" sz="1000" b="1" u="none" err="1"/>
                        <a:t>tỷ</a:t>
                      </a:r>
                      <a:r>
                        <a:rPr lang="en-US" sz="1000" b="0" u="none"/>
                        <a:t>.</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lang="en-US" sz="1000" b="1" i="1" u="none"/>
                    </a:p>
                  </a:txBody>
                  <a:tcPr/>
                </a:tc>
                <a:extLst>
                  <a:ext uri="{0D108BD9-81ED-4DB2-BD59-A6C34878D82A}">
                    <a16:rowId xmlns:a16="http://schemas.microsoft.com/office/drawing/2014/main" val="2801659027"/>
                  </a:ext>
                </a:extLst>
              </a:tr>
              <a:tr h="2352134">
                <a:tc>
                  <a:txBody>
                    <a:bodyPr/>
                    <a:lstStyle/>
                    <a:p>
                      <a:endParaRPr lang="en-US"/>
                    </a:p>
                  </a:txBody>
                  <a:tcPr>
                    <a:lnT w="9525" cap="flat" cmpd="sng">
                      <a:noFill/>
                      <a:prstDash val="solid"/>
                      <a:round/>
                      <a:headEnd type="none" w="sm" len="sm"/>
                      <a:tailEnd type="none" w="sm" len="sm"/>
                    </a:lnT>
                  </a:tcPr>
                </a:tc>
                <a:tc vMerge="1">
                  <a:txBody>
                    <a:bodyPr/>
                    <a:lstStyle/>
                    <a:p>
                      <a:endParaRPr lang="en-US"/>
                    </a:p>
                  </a:txBody>
                  <a:tcPr/>
                </a:tc>
                <a:extLst>
                  <a:ext uri="{0D108BD9-81ED-4DB2-BD59-A6C34878D82A}">
                    <a16:rowId xmlns:a16="http://schemas.microsoft.com/office/drawing/2014/main" val="3019797017"/>
                  </a:ext>
                </a:extLst>
              </a:tr>
            </a:tbl>
          </a:graphicData>
        </a:graphic>
      </p:graphicFrame>
      <p:sp>
        <p:nvSpPr>
          <p:cNvPr id="2" name="Title 1">
            <a:extLst>
              <a:ext uri="{FF2B5EF4-FFF2-40B4-BE49-F238E27FC236}">
                <a16:creationId xmlns:a16="http://schemas.microsoft.com/office/drawing/2014/main" id="{4BD14D59-E52C-4AEC-E23F-A01EDF0CB9F9}"/>
              </a:ext>
            </a:extLst>
          </p:cNvPr>
          <p:cNvSpPr>
            <a:spLocks noGrp="1"/>
          </p:cNvSpPr>
          <p:nvPr>
            <p:ph type="title"/>
          </p:nvPr>
        </p:nvSpPr>
        <p:spPr>
          <a:xfrm>
            <a:off x="0" y="15534"/>
            <a:ext cx="9085805" cy="572700"/>
          </a:xfrm>
        </p:spPr>
        <p:txBody>
          <a:bodyPr/>
          <a:lstStyle/>
          <a:p>
            <a:pPr algn="ctr"/>
            <a:r>
              <a:rPr lang="en-US" sz="2000" b="1" dirty="0">
                <a:solidFill>
                  <a:srgbClr val="00B050"/>
                </a:solidFill>
                <a:latin typeface="+mn-lt"/>
              </a:rPr>
              <a:t>2.4.2 GIẢI TRÌNH </a:t>
            </a:r>
            <a:r>
              <a:rPr lang="en-US" sz="2000" b="1" dirty="0">
                <a:solidFill>
                  <a:schemeClr val="tx1">
                    <a:lumMod val="65000"/>
                    <a:lumOff val="35000"/>
                  </a:schemeClr>
                </a:solidFill>
                <a:latin typeface="+mn-lt"/>
              </a:rPr>
              <a:t>DOANH THU THUẦN – </a:t>
            </a:r>
            <a:r>
              <a:rPr lang="en-US" sz="2000" b="1" dirty="0">
                <a:solidFill>
                  <a:srgbClr val="C00000"/>
                </a:solidFill>
                <a:latin typeface="+mn-lt"/>
              </a:rPr>
              <a:t>Đạt 43%</a:t>
            </a:r>
            <a:endParaRPr lang="en-US" sz="2300" b="1" dirty="0">
              <a:solidFill>
                <a:schemeClr val="tx1">
                  <a:lumMod val="65000"/>
                  <a:lumOff val="35000"/>
                </a:schemeClr>
              </a:solidFill>
              <a:latin typeface="+mn-lt"/>
            </a:endParaRPr>
          </a:p>
        </p:txBody>
      </p:sp>
      <p:pic>
        <p:nvPicPr>
          <p:cNvPr id="4" name="Picture 3" descr="A screenshot of a graph&#10;&#10;AI-generated content may be incorrect.">
            <a:extLst>
              <a:ext uri="{FF2B5EF4-FFF2-40B4-BE49-F238E27FC236}">
                <a16:creationId xmlns:a16="http://schemas.microsoft.com/office/drawing/2014/main" id="{0D81F5FE-8194-1999-2C5B-F4F94501D026}"/>
              </a:ext>
            </a:extLst>
          </p:cNvPr>
          <p:cNvPicPr>
            <a:picLocks noChangeAspect="1"/>
          </p:cNvPicPr>
          <p:nvPr/>
        </p:nvPicPr>
        <p:blipFill>
          <a:blip r:embed="rId3"/>
          <a:stretch>
            <a:fillRect/>
          </a:stretch>
        </p:blipFill>
        <p:spPr>
          <a:xfrm>
            <a:off x="58194" y="588234"/>
            <a:ext cx="6645638" cy="4286166"/>
          </a:xfrm>
          <a:prstGeom prst="rect">
            <a:avLst/>
          </a:prstGeom>
        </p:spPr>
      </p:pic>
    </p:spTree>
    <p:extLst>
      <p:ext uri="{BB962C8B-B14F-4D97-AF65-F5344CB8AC3E}">
        <p14:creationId xmlns:p14="http://schemas.microsoft.com/office/powerpoint/2010/main" val="28218304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DE1A1-2B3E-8A44-EA21-6B32CBC49D1D}"/>
              </a:ext>
            </a:extLst>
          </p:cNvPr>
          <p:cNvSpPr>
            <a:spLocks noGrp="1"/>
          </p:cNvSpPr>
          <p:nvPr>
            <p:ph type="title"/>
          </p:nvPr>
        </p:nvSpPr>
        <p:spPr>
          <a:xfrm>
            <a:off x="0" y="-6767"/>
            <a:ext cx="9144000" cy="333440"/>
          </a:xfrm>
        </p:spPr>
        <p:txBody>
          <a:bodyPr anchor="ctr"/>
          <a:lstStyle/>
          <a:p>
            <a:pPr algn="ctr"/>
            <a:r>
              <a:rPr lang="en-US" sz="2000" b="1" dirty="0">
                <a:solidFill>
                  <a:srgbClr val="119303"/>
                </a:solidFill>
              </a:rPr>
              <a:t>2.5</a:t>
            </a:r>
            <a:r>
              <a:rPr lang="en-US" sz="2200" b="1" dirty="0">
                <a:solidFill>
                  <a:srgbClr val="119303"/>
                </a:solidFill>
              </a:rPr>
              <a:t>. KẾT QUẢ HOẠT ĐỘNG KINH DOANH – </a:t>
            </a:r>
            <a:r>
              <a:rPr lang="en-US" sz="2200" b="1" dirty="0">
                <a:solidFill>
                  <a:schemeClr val="accent2">
                    <a:lumMod val="75000"/>
                  </a:schemeClr>
                </a:solidFill>
              </a:rPr>
              <a:t>GIÁ BÁN</a:t>
            </a:r>
            <a:endParaRPr lang="en-US" sz="2200" b="1" dirty="0">
              <a:solidFill>
                <a:schemeClr val="tx1">
                  <a:lumMod val="65000"/>
                  <a:lumOff val="35000"/>
                </a:schemeClr>
              </a:solidFill>
              <a:latin typeface="+mn-lt"/>
            </a:endParaRPr>
          </a:p>
        </p:txBody>
      </p:sp>
      <p:sp>
        <p:nvSpPr>
          <p:cNvPr id="4" name="TextBox 3">
            <a:extLst>
              <a:ext uri="{FF2B5EF4-FFF2-40B4-BE49-F238E27FC236}">
                <a16:creationId xmlns:a16="http://schemas.microsoft.com/office/drawing/2014/main" id="{1DAC6F4F-DCC0-F9AC-B309-0D22409660BC}"/>
              </a:ext>
            </a:extLst>
          </p:cNvPr>
          <p:cNvSpPr txBox="1"/>
          <p:nvPr/>
        </p:nvSpPr>
        <p:spPr>
          <a:xfrm>
            <a:off x="0" y="4701859"/>
            <a:ext cx="1165704" cy="215444"/>
          </a:xfrm>
          <a:prstGeom prst="rect">
            <a:avLst/>
          </a:prstGeom>
          <a:noFill/>
        </p:spPr>
        <p:txBody>
          <a:bodyPr wrap="none" rtlCol="0">
            <a:spAutoFit/>
          </a:bodyPr>
          <a:lstStyle/>
          <a:p>
            <a:r>
              <a:rPr lang="en-US" sz="800" i="1" u="sng" err="1"/>
              <a:t>Ghi</a:t>
            </a:r>
            <a:r>
              <a:rPr lang="en-US" sz="800" i="1" u="sng"/>
              <a:t> </a:t>
            </a:r>
            <a:r>
              <a:rPr lang="en-US" sz="800" i="1" u="sng" err="1"/>
              <a:t>chú</a:t>
            </a:r>
            <a:r>
              <a:rPr lang="en-US" sz="800" i="1"/>
              <a:t>: </a:t>
            </a:r>
            <a:r>
              <a:rPr lang="en-US" sz="800" i="1" err="1"/>
              <a:t>lấy</a:t>
            </a:r>
            <a:r>
              <a:rPr lang="en-US" sz="800" i="1"/>
              <a:t> </a:t>
            </a:r>
            <a:r>
              <a:rPr lang="en-US" sz="800" i="1" err="1"/>
              <a:t>hạt</a:t>
            </a:r>
            <a:r>
              <a:rPr lang="en-US" sz="800" i="1"/>
              <a:t> </a:t>
            </a:r>
            <a:r>
              <a:rPr lang="en-US" sz="800" i="1" err="1"/>
              <a:t>rPET</a:t>
            </a:r>
            <a:endParaRPr lang="en-US" sz="800" i="1"/>
          </a:p>
        </p:txBody>
      </p:sp>
      <p:pic>
        <p:nvPicPr>
          <p:cNvPr id="3" name="Picture 2">
            <a:extLst>
              <a:ext uri="{FF2B5EF4-FFF2-40B4-BE49-F238E27FC236}">
                <a16:creationId xmlns:a16="http://schemas.microsoft.com/office/drawing/2014/main" id="{2213C73C-A91D-7546-14D7-819DFD8A210D}"/>
              </a:ext>
            </a:extLst>
          </p:cNvPr>
          <p:cNvPicPr>
            <a:picLocks noChangeAspect="1"/>
          </p:cNvPicPr>
          <p:nvPr/>
        </p:nvPicPr>
        <p:blipFill>
          <a:blip r:embed="rId2"/>
          <a:stretch>
            <a:fillRect/>
          </a:stretch>
        </p:blipFill>
        <p:spPr>
          <a:xfrm>
            <a:off x="0" y="336121"/>
            <a:ext cx="9144000" cy="4395057"/>
          </a:xfrm>
          <a:prstGeom prst="rect">
            <a:avLst/>
          </a:prstGeom>
        </p:spPr>
      </p:pic>
    </p:spTree>
    <p:extLst>
      <p:ext uri="{BB962C8B-B14F-4D97-AF65-F5344CB8AC3E}">
        <p14:creationId xmlns:p14="http://schemas.microsoft.com/office/powerpoint/2010/main" val="2706724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00A90-5405-EB02-E8A6-C76DA193C0A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2879FA8-AFE2-141A-2B4E-446171DF600C}"/>
              </a:ext>
            </a:extLst>
          </p:cNvPr>
          <p:cNvPicPr>
            <a:picLocks noChangeAspect="1"/>
          </p:cNvPicPr>
          <p:nvPr/>
        </p:nvPicPr>
        <p:blipFill>
          <a:blip r:embed="rId3"/>
          <a:stretch>
            <a:fillRect/>
          </a:stretch>
        </p:blipFill>
        <p:spPr>
          <a:xfrm>
            <a:off x="1" y="2627178"/>
            <a:ext cx="4610100" cy="2277438"/>
          </a:xfrm>
          <a:prstGeom prst="rect">
            <a:avLst/>
          </a:prstGeom>
        </p:spPr>
      </p:pic>
      <p:sp>
        <p:nvSpPr>
          <p:cNvPr id="2" name="Title 1">
            <a:extLst>
              <a:ext uri="{FF2B5EF4-FFF2-40B4-BE49-F238E27FC236}">
                <a16:creationId xmlns:a16="http://schemas.microsoft.com/office/drawing/2014/main" id="{7558957F-5186-1C98-EE4C-9C59C2AC2769}"/>
              </a:ext>
            </a:extLst>
          </p:cNvPr>
          <p:cNvSpPr>
            <a:spLocks noGrp="1"/>
          </p:cNvSpPr>
          <p:nvPr>
            <p:ph type="title"/>
          </p:nvPr>
        </p:nvSpPr>
        <p:spPr>
          <a:xfrm>
            <a:off x="0" y="0"/>
            <a:ext cx="9167521" cy="348975"/>
          </a:xfrm>
        </p:spPr>
        <p:txBody>
          <a:bodyPr anchor="ctr"/>
          <a:lstStyle/>
          <a:p>
            <a:pPr algn="ctr"/>
            <a:r>
              <a:rPr lang="en-US" sz="2000" b="1" dirty="0">
                <a:solidFill>
                  <a:srgbClr val="119303"/>
                </a:solidFill>
              </a:rPr>
              <a:t>2.6. KẾT QUẢ HOẠT ĐỘNG KINH DOANH – </a:t>
            </a:r>
            <a:r>
              <a:rPr lang="en-US" sz="2000" b="1" dirty="0">
                <a:solidFill>
                  <a:schemeClr val="accent2">
                    <a:lumMod val="75000"/>
                  </a:schemeClr>
                </a:solidFill>
              </a:rPr>
              <a:t>BIẾN ĐỘNG D.THU </a:t>
            </a:r>
            <a:r>
              <a:rPr lang="en-US" sz="2000" b="1" dirty="0">
                <a:solidFill>
                  <a:srgbClr val="C00000"/>
                </a:solidFill>
              </a:rPr>
              <a:t>EXW </a:t>
            </a:r>
            <a:r>
              <a:rPr lang="en-US" sz="2000" b="1" dirty="0">
                <a:solidFill>
                  <a:schemeClr val="accent2">
                    <a:lumMod val="75000"/>
                  </a:schemeClr>
                </a:solidFill>
              </a:rPr>
              <a:t>THEO YẾU TỐ</a:t>
            </a:r>
            <a:endParaRPr lang="en-US" sz="2000" b="1" dirty="0">
              <a:solidFill>
                <a:schemeClr val="tx1">
                  <a:lumMod val="65000"/>
                  <a:lumOff val="35000"/>
                </a:schemeClr>
              </a:solidFill>
              <a:latin typeface="+mn-lt"/>
            </a:endParaRPr>
          </a:p>
        </p:txBody>
      </p:sp>
      <p:graphicFrame>
        <p:nvGraphicFramePr>
          <p:cNvPr id="13" name="Table 12">
            <a:extLst>
              <a:ext uri="{FF2B5EF4-FFF2-40B4-BE49-F238E27FC236}">
                <a16:creationId xmlns:a16="http://schemas.microsoft.com/office/drawing/2014/main" id="{100BE8B6-6083-B7AE-2EFA-0BF3D2170931}"/>
              </a:ext>
            </a:extLst>
          </p:cNvPr>
          <p:cNvGraphicFramePr>
            <a:graphicFrameLocks noGrp="1"/>
          </p:cNvGraphicFramePr>
          <p:nvPr>
            <p:extLst>
              <p:ext uri="{D42A27DB-BD31-4B8C-83A1-F6EECF244321}">
                <p14:modId xmlns:p14="http://schemas.microsoft.com/office/powerpoint/2010/main" val="187194527"/>
              </p:ext>
            </p:extLst>
          </p:nvPr>
        </p:nvGraphicFramePr>
        <p:xfrm>
          <a:off x="4648200" y="2627178"/>
          <a:ext cx="4407310" cy="2280344"/>
        </p:xfrm>
        <a:graphic>
          <a:graphicData uri="http://schemas.openxmlformats.org/drawingml/2006/table">
            <a:tbl>
              <a:tblPr firstRow="1" bandRow="1">
                <a:tableStyleId>{6A077030-E235-474E-B3E8-3EB61F41259E}</a:tableStyleId>
              </a:tblPr>
              <a:tblGrid>
                <a:gridCol w="881462">
                  <a:extLst>
                    <a:ext uri="{9D8B030D-6E8A-4147-A177-3AD203B41FA5}">
                      <a16:colId xmlns:a16="http://schemas.microsoft.com/office/drawing/2014/main" val="1717908629"/>
                    </a:ext>
                  </a:extLst>
                </a:gridCol>
                <a:gridCol w="881462">
                  <a:extLst>
                    <a:ext uri="{9D8B030D-6E8A-4147-A177-3AD203B41FA5}">
                      <a16:colId xmlns:a16="http://schemas.microsoft.com/office/drawing/2014/main" val="3559197361"/>
                    </a:ext>
                  </a:extLst>
                </a:gridCol>
                <a:gridCol w="881462">
                  <a:extLst>
                    <a:ext uri="{9D8B030D-6E8A-4147-A177-3AD203B41FA5}">
                      <a16:colId xmlns:a16="http://schemas.microsoft.com/office/drawing/2014/main" val="3363158761"/>
                    </a:ext>
                  </a:extLst>
                </a:gridCol>
                <a:gridCol w="881462">
                  <a:extLst>
                    <a:ext uri="{9D8B030D-6E8A-4147-A177-3AD203B41FA5}">
                      <a16:colId xmlns:a16="http://schemas.microsoft.com/office/drawing/2014/main" val="1671578071"/>
                    </a:ext>
                  </a:extLst>
                </a:gridCol>
                <a:gridCol w="881462">
                  <a:extLst>
                    <a:ext uri="{9D8B030D-6E8A-4147-A177-3AD203B41FA5}">
                      <a16:colId xmlns:a16="http://schemas.microsoft.com/office/drawing/2014/main" val="337286103"/>
                    </a:ext>
                  </a:extLst>
                </a:gridCol>
              </a:tblGrid>
              <a:tr h="622083">
                <a:tc>
                  <a:txBody>
                    <a:bodyPr/>
                    <a:lstStyle/>
                    <a:p>
                      <a:pPr algn="ctr"/>
                      <a:r>
                        <a:rPr lang="en-US" sz="1300" b="1" err="1">
                          <a:solidFill>
                            <a:schemeClr val="bg1"/>
                          </a:solidFill>
                          <a:latin typeface="Aptos Narrow" panose="020B0004020202020204" pitchFamily="34" charset="0"/>
                        </a:rPr>
                        <a:t>Đơn</a:t>
                      </a:r>
                      <a:r>
                        <a:rPr lang="en-US" sz="1300" b="1">
                          <a:solidFill>
                            <a:schemeClr val="bg1"/>
                          </a:solidFill>
                          <a:latin typeface="Aptos Narrow" panose="020B0004020202020204" pitchFamily="34" charset="0"/>
                        </a:rPr>
                        <a:t> </a:t>
                      </a:r>
                      <a:r>
                        <a:rPr lang="en-US" sz="1300" b="1" err="1">
                          <a:solidFill>
                            <a:schemeClr val="bg1"/>
                          </a:solidFill>
                          <a:latin typeface="Aptos Narrow" panose="020B0004020202020204" pitchFamily="34" charset="0"/>
                        </a:rPr>
                        <a:t>giá</a:t>
                      </a:r>
                      <a:r>
                        <a:rPr lang="en-US" sz="1300" b="1">
                          <a:solidFill>
                            <a:schemeClr val="bg1"/>
                          </a:solidFill>
                          <a:latin typeface="Aptos Narrow" panose="020B0004020202020204" pitchFamily="34" charset="0"/>
                        </a:rPr>
                        <a:t> EXW </a:t>
                      </a:r>
                      <a:r>
                        <a:rPr lang="en-US" sz="900" b="1" i="1">
                          <a:solidFill>
                            <a:schemeClr val="bg1"/>
                          </a:solidFill>
                          <a:latin typeface="Aptos Narrow" panose="020B0004020202020204" pitchFamily="34" charset="0"/>
                        </a:rPr>
                        <a:t>(USD/</a:t>
                      </a:r>
                      <a:r>
                        <a:rPr lang="en-US" sz="900" b="1" i="1" err="1">
                          <a:solidFill>
                            <a:schemeClr val="bg1"/>
                          </a:solidFill>
                          <a:latin typeface="Aptos Narrow" panose="020B0004020202020204" pitchFamily="34" charset="0"/>
                        </a:rPr>
                        <a:t>tấn</a:t>
                      </a:r>
                      <a:r>
                        <a:rPr lang="en-US" sz="900" b="1" i="1">
                          <a:solidFill>
                            <a:schemeClr val="bg1"/>
                          </a:solidFill>
                          <a:latin typeface="Aptos Narrow" panose="020B0004020202020204" pitchFamily="34"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119303"/>
                    </a:solidFill>
                  </a:tcPr>
                </a:tc>
                <a:tc>
                  <a:txBody>
                    <a:bodyPr/>
                    <a:lstStyle/>
                    <a:p>
                      <a:pPr algn="ctr"/>
                      <a:r>
                        <a:rPr lang="en-US" b="1" err="1">
                          <a:solidFill>
                            <a:schemeClr val="bg1"/>
                          </a:solidFill>
                          <a:latin typeface="Aptos Narrow" panose="020B0004020202020204" pitchFamily="34" charset="0"/>
                        </a:rPr>
                        <a:t>Kế</a:t>
                      </a:r>
                      <a:r>
                        <a:rPr lang="en-US" b="1">
                          <a:solidFill>
                            <a:schemeClr val="bg1"/>
                          </a:solidFill>
                          <a:latin typeface="Aptos Narrow" panose="020B0004020202020204" pitchFamily="34" charset="0"/>
                        </a:rPr>
                        <a:t> </a:t>
                      </a:r>
                      <a:r>
                        <a:rPr lang="en-US" b="1" err="1">
                          <a:solidFill>
                            <a:schemeClr val="bg1"/>
                          </a:solidFill>
                          <a:latin typeface="Aptos Narrow" panose="020B0004020202020204" pitchFamily="34" charset="0"/>
                        </a:rPr>
                        <a:t>hoạch</a:t>
                      </a:r>
                      <a:endParaRPr lang="en-US" b="1">
                        <a:solidFill>
                          <a:schemeClr val="bg1"/>
                        </a:solidFill>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119303"/>
                    </a:solidFill>
                  </a:tcPr>
                </a:tc>
                <a:tc>
                  <a:txBody>
                    <a:bodyPr/>
                    <a:lstStyle/>
                    <a:p>
                      <a:pPr algn="ctr"/>
                      <a:r>
                        <a:rPr lang="en-US" b="1" err="1">
                          <a:solidFill>
                            <a:schemeClr val="bg1"/>
                          </a:solidFill>
                          <a:latin typeface="Aptos Narrow" panose="020B0004020202020204" pitchFamily="34" charset="0"/>
                        </a:rPr>
                        <a:t>Thực</a:t>
                      </a:r>
                      <a:r>
                        <a:rPr lang="en-US" b="1">
                          <a:solidFill>
                            <a:schemeClr val="bg1"/>
                          </a:solidFill>
                          <a:latin typeface="Aptos Narrow" panose="020B0004020202020204" pitchFamily="34" charset="0"/>
                        </a:rPr>
                        <a:t> </a:t>
                      </a:r>
                      <a:r>
                        <a:rPr lang="en-US" b="1" err="1">
                          <a:solidFill>
                            <a:schemeClr val="bg1"/>
                          </a:solidFill>
                          <a:latin typeface="Aptos Narrow" panose="020B0004020202020204" pitchFamily="34" charset="0"/>
                        </a:rPr>
                        <a:t>tế</a:t>
                      </a:r>
                      <a:endParaRPr lang="en-US" b="1">
                        <a:solidFill>
                          <a:schemeClr val="bg1"/>
                        </a:solidFill>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119303"/>
                    </a:solidFill>
                  </a:tcPr>
                </a:tc>
                <a:tc>
                  <a:txBody>
                    <a:bodyPr/>
                    <a:lstStyle/>
                    <a:p>
                      <a:pPr algn="ctr"/>
                      <a:r>
                        <a:rPr lang="en-US" b="1">
                          <a:solidFill>
                            <a:schemeClr val="bg1"/>
                          </a:solidFill>
                          <a:latin typeface="Aptos Narrow" panose="020B0004020202020204" pitchFamily="34"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119303"/>
                    </a:solidFill>
                  </a:tcPr>
                </a:tc>
                <a:tc>
                  <a:txBody>
                    <a:bodyPr/>
                    <a:lstStyle/>
                    <a:p>
                      <a:pPr algn="ctr"/>
                      <a:r>
                        <a:rPr lang="en-US" b="1">
                          <a:solidFill>
                            <a:schemeClr val="bg1"/>
                          </a:solidFill>
                          <a:latin typeface="Aptos Narrow" panose="020B0004020202020204" pitchFamily="34"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119303"/>
                    </a:solidFill>
                  </a:tcPr>
                </a:tc>
                <a:extLst>
                  <a:ext uri="{0D108BD9-81ED-4DB2-BD59-A6C34878D82A}">
                    <a16:rowId xmlns:a16="http://schemas.microsoft.com/office/drawing/2014/main" val="1314691827"/>
                  </a:ext>
                </a:extLst>
              </a:tr>
              <a:tr h="291664">
                <a:tc>
                  <a:txBody>
                    <a:bodyPr/>
                    <a:lstStyle/>
                    <a:p>
                      <a:pPr algn="ctr"/>
                      <a:r>
                        <a:rPr lang="en-US" err="1">
                          <a:latin typeface="Aptos Narrow" panose="020B0004020202020204" pitchFamily="34" charset="0"/>
                        </a:rPr>
                        <a:t>rPET</a:t>
                      </a:r>
                      <a:endParaRPr lang="en-US">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a:latin typeface="Aptos Narrow" panose="020B0004020202020204" pitchFamily="34" charset="0"/>
                        </a:rPr>
                        <a:t>$1,294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a:latin typeface="Aptos Narrow" panose="020B0004020202020204" pitchFamily="34" charset="0"/>
                        </a:rPr>
                        <a:t>$1,224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000">
                          <a:solidFill>
                            <a:srgbClr val="FF0000"/>
                          </a:solidFill>
                          <a:latin typeface="Aptos Narrow" panose="020B0004020202020204" pitchFamily="34" charset="0"/>
                        </a:rPr>
                        <a:t>-$70</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000">
                          <a:solidFill>
                            <a:srgbClr val="FF0000"/>
                          </a:solidFill>
                          <a:latin typeface="Aptos Narrow" panose="020B0004020202020204" pitchFamily="34" charset="0"/>
                        </a:rPr>
                        <a:t>-5.42%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53171756"/>
                  </a:ext>
                </a:extLst>
              </a:tr>
              <a:tr h="436304">
                <a:tc>
                  <a:txBody>
                    <a:bodyPr/>
                    <a:lstStyle/>
                    <a:p>
                      <a:pPr algn="ctr"/>
                      <a:r>
                        <a:rPr lang="en-US" sz="1200" err="1">
                          <a:latin typeface="Aptos Narrow" panose="020B0004020202020204" pitchFamily="34" charset="0"/>
                        </a:rPr>
                        <a:t>rHDPE</a:t>
                      </a:r>
                      <a:r>
                        <a:rPr lang="en-US" sz="1200">
                          <a:latin typeface="Aptos Narrow" panose="020B0004020202020204" pitchFamily="34" charset="0"/>
                        </a:rPr>
                        <a:t> </a:t>
                      </a:r>
                      <a:r>
                        <a:rPr lang="en-US" sz="1200" err="1">
                          <a:latin typeface="Aptos Narrow" panose="020B0004020202020204" pitchFamily="34" charset="0"/>
                        </a:rPr>
                        <a:t>thổi</a:t>
                      </a:r>
                      <a:endParaRPr lang="en-US" sz="1200">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a:latin typeface="Aptos Narrow" panose="020B0004020202020204" pitchFamily="34" charset="0"/>
                        </a:rPr>
                        <a:t>$1,337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a:latin typeface="Aptos Narrow" panose="020B0004020202020204" pitchFamily="34" charset="0"/>
                        </a:rPr>
                        <a:t>$1,010</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000">
                          <a:solidFill>
                            <a:srgbClr val="FF0000"/>
                          </a:solidFill>
                          <a:latin typeface="Aptos Narrow" panose="020B0004020202020204" pitchFamily="34" charset="0"/>
                        </a:rPr>
                        <a:t>-$327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000">
                          <a:solidFill>
                            <a:srgbClr val="FF0000"/>
                          </a:solidFill>
                          <a:latin typeface="Aptos Narrow" panose="020B0004020202020204" pitchFamily="34" charset="0"/>
                        </a:rPr>
                        <a:t>-24.46%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7950092"/>
                  </a:ext>
                </a:extLst>
              </a:tr>
              <a:tr h="29166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err="1">
                          <a:latin typeface="Aptos Narrow" panose="020B0004020202020204" pitchFamily="34" charset="0"/>
                        </a:rPr>
                        <a:t>rHDPE</a:t>
                      </a:r>
                      <a:r>
                        <a:rPr lang="en-US" sz="1200">
                          <a:latin typeface="Aptos Narrow" panose="020B0004020202020204" pitchFamily="34" charset="0"/>
                        </a:rPr>
                        <a:t> </a:t>
                      </a:r>
                      <a:r>
                        <a:rPr lang="en-US" sz="1200" err="1">
                          <a:latin typeface="Aptos Narrow" panose="020B0004020202020204" pitchFamily="34" charset="0"/>
                        </a:rPr>
                        <a:t>ép</a:t>
                      </a:r>
                      <a:endParaRPr lang="en-US" sz="1200">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Aptos Narrow" panose="020B0004020202020204" pitchFamily="34" charset="0"/>
                        </a:rPr>
                        <a:t>$834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Aptos Narrow" panose="020B0004020202020204" pitchFamily="34" charset="0"/>
                        </a:rPr>
                        <a:t>$636</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000">
                          <a:solidFill>
                            <a:srgbClr val="FF0000"/>
                          </a:solidFill>
                          <a:latin typeface="Aptos Narrow" panose="020B0004020202020204" pitchFamily="34" charset="0"/>
                        </a:rPr>
                        <a:t>-$198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sz="1000">
                          <a:solidFill>
                            <a:srgbClr val="FF0000"/>
                          </a:solidFill>
                          <a:latin typeface="Aptos Narrow" panose="020B0004020202020204" pitchFamily="34" charset="0"/>
                        </a:rPr>
                        <a:t>-23.71%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7803400"/>
                  </a:ext>
                </a:extLst>
              </a:tr>
              <a:tr h="291664">
                <a:tc>
                  <a:txBody>
                    <a:bodyPr/>
                    <a:lstStyle/>
                    <a:p>
                      <a:pPr algn="ctr"/>
                      <a:r>
                        <a:rPr lang="en-US" err="1">
                          <a:latin typeface="Aptos Narrow" panose="020B0004020202020204" pitchFamily="34" charset="0"/>
                        </a:rPr>
                        <a:t>rPP</a:t>
                      </a:r>
                      <a:endParaRPr lang="en-US">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atin typeface="Aptos Narrow" panose="020B0004020202020204" pitchFamily="34" charset="0"/>
                        </a:rPr>
                        <a:t>$885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r>
                        <a:rPr lang="en-US">
                          <a:latin typeface="Aptos Narrow" panose="020B0004020202020204" pitchFamily="34"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rgbClr val="FF0000"/>
                        </a:solidFill>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a:endParaRPr lang="en-US" sz="1000">
                        <a:solidFill>
                          <a:srgbClr val="FF0000"/>
                        </a:solidFill>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9525"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61698325"/>
                  </a:ext>
                </a:extLst>
              </a:tr>
              <a:tr h="291664">
                <a:tc>
                  <a:txBody>
                    <a:bodyPr/>
                    <a:lstStyle/>
                    <a:p>
                      <a:pPr algn="ctr"/>
                      <a:r>
                        <a:rPr lang="en-US" err="1">
                          <a:latin typeface="Aptos Narrow" panose="020B0004020202020204" pitchFamily="34" charset="0"/>
                        </a:rPr>
                        <a:t>Xơ</a:t>
                      </a:r>
                      <a:r>
                        <a:rPr lang="en-US">
                          <a:latin typeface="Aptos Narrow" panose="020B0004020202020204" pitchFamily="34" charset="0"/>
                        </a:rPr>
                        <a:t> </a:t>
                      </a:r>
                      <a:r>
                        <a:rPr lang="en-US" err="1">
                          <a:latin typeface="Aptos Narrow" panose="020B0004020202020204" pitchFamily="34" charset="0"/>
                        </a:rPr>
                        <a:t>sợi</a:t>
                      </a:r>
                      <a:endParaRPr lang="en-US">
                        <a:latin typeface="Aptos Narrow" panose="020B0004020202020204" pitchFamily="34"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atin typeface="Aptos Narrow" panose="020B0004020202020204" pitchFamily="34" charset="0"/>
                        </a:rPr>
                        <a:t>$1,100</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atin typeface="Aptos Narrow" panose="020B0004020202020204" pitchFamily="34" charset="0"/>
                        </a:rPr>
                        <a:t>$631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a:solidFill>
                            <a:srgbClr val="FF0000"/>
                          </a:solidFill>
                          <a:latin typeface="Aptos Narrow" panose="020B0004020202020204" pitchFamily="34" charset="0"/>
                        </a:rPr>
                        <a:t>-$469</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a:solidFill>
                            <a:srgbClr val="FF0000"/>
                          </a:solidFill>
                          <a:latin typeface="Aptos Narrow" panose="020B0004020202020204" pitchFamily="34" charset="0"/>
                        </a:rPr>
                        <a:t>-42.65%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8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74600945"/>
                  </a:ext>
                </a:extLst>
              </a:tr>
            </a:tbl>
          </a:graphicData>
        </a:graphic>
      </p:graphicFrame>
      <p:pic>
        <p:nvPicPr>
          <p:cNvPr id="11" name="Picture 10">
            <a:extLst>
              <a:ext uri="{FF2B5EF4-FFF2-40B4-BE49-F238E27FC236}">
                <a16:creationId xmlns:a16="http://schemas.microsoft.com/office/drawing/2014/main" id="{946A1DA1-D3A9-72AE-A2F3-FF400BC57237}"/>
              </a:ext>
            </a:extLst>
          </p:cNvPr>
          <p:cNvPicPr>
            <a:picLocks noChangeAspect="1"/>
          </p:cNvPicPr>
          <p:nvPr/>
        </p:nvPicPr>
        <p:blipFill>
          <a:blip r:embed="rId4"/>
          <a:stretch>
            <a:fillRect/>
          </a:stretch>
        </p:blipFill>
        <p:spPr>
          <a:xfrm>
            <a:off x="-1" y="323549"/>
            <a:ext cx="9144000" cy="2273149"/>
          </a:xfrm>
          <a:prstGeom prst="rect">
            <a:avLst/>
          </a:prstGeom>
        </p:spPr>
      </p:pic>
    </p:spTree>
    <p:extLst>
      <p:ext uri="{BB962C8B-B14F-4D97-AF65-F5344CB8AC3E}">
        <p14:creationId xmlns:p14="http://schemas.microsoft.com/office/powerpoint/2010/main" val="2986706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2FDD3-7510-78FD-575E-2C825D4C7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46F3F-20E5-63CB-1983-7C9780A44D37}"/>
              </a:ext>
            </a:extLst>
          </p:cNvPr>
          <p:cNvSpPr>
            <a:spLocks noGrp="1"/>
          </p:cNvSpPr>
          <p:nvPr>
            <p:ph type="title"/>
          </p:nvPr>
        </p:nvSpPr>
        <p:spPr>
          <a:xfrm>
            <a:off x="0" y="0"/>
            <a:ext cx="9167521" cy="348975"/>
          </a:xfrm>
        </p:spPr>
        <p:txBody>
          <a:bodyPr anchor="ctr"/>
          <a:lstStyle/>
          <a:p>
            <a:pPr algn="ctr"/>
            <a:r>
              <a:rPr lang="en-US" sz="1600" b="1" dirty="0">
                <a:solidFill>
                  <a:srgbClr val="119303"/>
                </a:solidFill>
              </a:rPr>
              <a:t>2.7. KẾT QUẢ HOẠT ĐỘNG KINH DOANH – </a:t>
            </a:r>
            <a:r>
              <a:rPr lang="en-US" sz="1600" b="1" dirty="0">
                <a:solidFill>
                  <a:schemeClr val="accent2">
                    <a:lumMod val="75000"/>
                  </a:schemeClr>
                </a:solidFill>
              </a:rPr>
              <a:t>BIẾN ĐỘNG DOANH THU THEO YẾU TỐ &amp; NGÀNH</a:t>
            </a:r>
            <a:endParaRPr lang="en-US" sz="1600" b="1" dirty="0">
              <a:solidFill>
                <a:schemeClr val="tx1">
                  <a:lumMod val="65000"/>
                  <a:lumOff val="35000"/>
                </a:schemeClr>
              </a:solidFill>
              <a:latin typeface="+mn-lt"/>
            </a:endParaRPr>
          </a:p>
        </p:txBody>
      </p:sp>
      <p:sp>
        <p:nvSpPr>
          <p:cNvPr id="3" name="TextBox 2">
            <a:extLst>
              <a:ext uri="{FF2B5EF4-FFF2-40B4-BE49-F238E27FC236}">
                <a16:creationId xmlns:a16="http://schemas.microsoft.com/office/drawing/2014/main" id="{7648C975-1F6E-4A51-7B7D-8AA3948B7BFF}"/>
              </a:ext>
            </a:extLst>
          </p:cNvPr>
          <p:cNvSpPr txBox="1"/>
          <p:nvPr/>
        </p:nvSpPr>
        <p:spPr>
          <a:xfrm>
            <a:off x="-23521" y="4769799"/>
            <a:ext cx="9167521" cy="200055"/>
          </a:xfrm>
          <a:prstGeom prst="rect">
            <a:avLst/>
          </a:prstGeom>
          <a:noFill/>
        </p:spPr>
        <p:txBody>
          <a:bodyPr wrap="square">
            <a:spAutoFit/>
          </a:bodyPr>
          <a:lstStyle/>
          <a:p>
            <a:r>
              <a:rPr lang="vi-VN" sz="700" b="0" i="1" u="sng" strike="noStrike">
                <a:solidFill>
                  <a:srgbClr val="000000"/>
                </a:solidFill>
                <a:effectLst/>
                <a:latin typeface="Aptos Display" panose="020B0004020202020204" pitchFamily="34" charset="0"/>
              </a:rPr>
              <a:t>Ghi chú:</a:t>
            </a:r>
            <a:r>
              <a:rPr lang="vi-VN" sz="700" b="0" i="1" u="none" strike="noStrike">
                <a:solidFill>
                  <a:srgbClr val="000000"/>
                </a:solidFill>
                <a:effectLst/>
                <a:latin typeface="Aptos Display" panose="020B0004020202020204" pitchFamily="34" charset="0"/>
              </a:rPr>
              <a:t> </a:t>
            </a:r>
            <a:r>
              <a:rPr lang="en-US" sz="700" i="1">
                <a:latin typeface="Aptos Display" panose="020B0004020202020204" pitchFamily="34" charset="0"/>
              </a:rPr>
              <a:t>Tác </a:t>
            </a:r>
            <a:r>
              <a:rPr lang="en-US" sz="700" i="1" err="1">
                <a:latin typeface="Aptos Display" panose="020B0004020202020204" pitchFamily="34" charset="0"/>
              </a:rPr>
              <a:t>động</a:t>
            </a:r>
            <a:r>
              <a:rPr lang="en-US" sz="700" i="1">
                <a:latin typeface="Aptos Display" panose="020B0004020202020204" pitchFamily="34" charset="0"/>
              </a:rPr>
              <a:t> </a:t>
            </a:r>
            <a:r>
              <a:rPr lang="en-US" sz="700" i="1" err="1">
                <a:latin typeface="Aptos Display" panose="020B0004020202020204" pitchFamily="34" charset="0"/>
              </a:rPr>
              <a:t>đang</a:t>
            </a:r>
            <a:r>
              <a:rPr lang="en-US" sz="700" i="1">
                <a:latin typeface="Aptos Display" panose="020B0004020202020204" pitchFamily="34" charset="0"/>
              </a:rPr>
              <a:t> </a:t>
            </a:r>
            <a:r>
              <a:rPr lang="en-US" sz="700" i="1" err="1">
                <a:latin typeface="Aptos Display" panose="020B0004020202020204" pitchFamily="34" charset="0"/>
              </a:rPr>
              <a:t>tính</a:t>
            </a:r>
            <a:r>
              <a:rPr lang="en-US" sz="700" i="1">
                <a:latin typeface="Aptos Display" panose="020B0004020202020204" pitchFamily="34" charset="0"/>
              </a:rPr>
              <a:t> </a:t>
            </a:r>
            <a:r>
              <a:rPr lang="en-US" sz="700" i="1" err="1">
                <a:latin typeface="Aptos Display" panose="020B0004020202020204" pitchFamily="34" charset="0"/>
              </a:rPr>
              <a:t>theo</a:t>
            </a:r>
            <a:r>
              <a:rPr lang="en-US" sz="700" i="1">
                <a:latin typeface="Aptos Display" panose="020B0004020202020204" pitchFamily="34" charset="0"/>
              </a:rPr>
              <a:t> </a:t>
            </a:r>
            <a:r>
              <a:rPr lang="en-US" sz="700" i="1" err="1">
                <a:latin typeface="Aptos Display" panose="020B0004020202020204" pitchFamily="34" charset="0"/>
              </a:rPr>
              <a:t>nhóm</a:t>
            </a:r>
            <a:r>
              <a:rPr lang="en-US" sz="700" i="1">
                <a:latin typeface="Aptos Display" panose="020B0004020202020204" pitchFamily="34" charset="0"/>
              </a:rPr>
              <a:t> </a:t>
            </a:r>
            <a:r>
              <a:rPr lang="en-US" sz="700" i="1" err="1">
                <a:latin typeface="Aptos Display" panose="020B0004020202020204" pitchFamily="34" charset="0"/>
              </a:rPr>
              <a:t>sản</a:t>
            </a:r>
            <a:r>
              <a:rPr lang="en-US" sz="700" i="1">
                <a:latin typeface="Aptos Display" panose="020B0004020202020204" pitchFamily="34" charset="0"/>
              </a:rPr>
              <a:t> </a:t>
            </a:r>
            <a:r>
              <a:rPr lang="en-US" sz="700" i="1" err="1">
                <a:latin typeface="Aptos Display" panose="020B0004020202020204" pitchFamily="34" charset="0"/>
              </a:rPr>
              <a:t>phẩm</a:t>
            </a:r>
            <a:r>
              <a:rPr lang="en-US" sz="700" i="1">
                <a:latin typeface="Aptos Display" panose="020B0004020202020204" pitchFamily="34" charset="0"/>
              </a:rPr>
              <a:t>.</a:t>
            </a:r>
            <a:endParaRPr lang="en-US" sz="700"/>
          </a:p>
        </p:txBody>
      </p:sp>
      <p:pic>
        <p:nvPicPr>
          <p:cNvPr id="6" name="Picture 5">
            <a:extLst>
              <a:ext uri="{FF2B5EF4-FFF2-40B4-BE49-F238E27FC236}">
                <a16:creationId xmlns:a16="http://schemas.microsoft.com/office/drawing/2014/main" id="{055D7C5D-5A6A-D1B0-D620-26D2AE47FE28}"/>
              </a:ext>
            </a:extLst>
          </p:cNvPr>
          <p:cNvPicPr>
            <a:picLocks noChangeAspect="1"/>
          </p:cNvPicPr>
          <p:nvPr/>
        </p:nvPicPr>
        <p:blipFill>
          <a:blip r:embed="rId3"/>
          <a:stretch>
            <a:fillRect/>
          </a:stretch>
        </p:blipFill>
        <p:spPr>
          <a:xfrm>
            <a:off x="0" y="297692"/>
            <a:ext cx="9144000" cy="4517636"/>
          </a:xfrm>
          <a:prstGeom prst="rect">
            <a:avLst/>
          </a:prstGeom>
        </p:spPr>
      </p:pic>
    </p:spTree>
    <p:extLst>
      <p:ext uri="{BB962C8B-B14F-4D97-AF65-F5344CB8AC3E}">
        <p14:creationId xmlns:p14="http://schemas.microsoft.com/office/powerpoint/2010/main" val="1484793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7B46-5433-74AF-79C5-EED6E3D57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2BAB18-0938-5852-B406-5122DCBB085A}"/>
              </a:ext>
            </a:extLst>
          </p:cNvPr>
          <p:cNvSpPr>
            <a:spLocks noGrp="1"/>
          </p:cNvSpPr>
          <p:nvPr>
            <p:ph type="title"/>
          </p:nvPr>
        </p:nvSpPr>
        <p:spPr>
          <a:xfrm>
            <a:off x="405119" y="-6767"/>
            <a:ext cx="8460000" cy="333440"/>
          </a:xfrm>
        </p:spPr>
        <p:txBody>
          <a:bodyPr anchor="ctr"/>
          <a:lstStyle/>
          <a:p>
            <a:pPr algn="ctr"/>
            <a:r>
              <a:rPr lang="en-US" sz="2000" b="1" dirty="0">
                <a:solidFill>
                  <a:srgbClr val="119303"/>
                </a:solidFill>
              </a:rPr>
              <a:t>2.8. KẾT QUẢ HOẠT ĐỘNG KINH DOANH – </a:t>
            </a:r>
            <a:r>
              <a:rPr lang="en-US" sz="2000" b="1" dirty="0">
                <a:solidFill>
                  <a:schemeClr val="accent2">
                    <a:lumMod val="75000"/>
                  </a:schemeClr>
                </a:solidFill>
              </a:rPr>
              <a:t>BIẾN ĐỘNG </a:t>
            </a:r>
            <a:r>
              <a:rPr lang="vi-VN" sz="2000" b="1" dirty="0">
                <a:solidFill>
                  <a:schemeClr val="accent2">
                    <a:lumMod val="75000"/>
                  </a:schemeClr>
                </a:solidFill>
              </a:rPr>
              <a:t>LÃI GỘP </a:t>
            </a:r>
            <a:r>
              <a:rPr lang="en-US" sz="2000" b="1" dirty="0">
                <a:solidFill>
                  <a:schemeClr val="accent2">
                    <a:lumMod val="75000"/>
                  </a:schemeClr>
                </a:solidFill>
              </a:rPr>
              <a:t>THEO YẾU TỐ</a:t>
            </a:r>
            <a:endParaRPr lang="en-US" sz="2000" b="1" dirty="0">
              <a:solidFill>
                <a:schemeClr val="tx1">
                  <a:lumMod val="65000"/>
                  <a:lumOff val="35000"/>
                </a:schemeClr>
              </a:solidFill>
              <a:latin typeface="+mn-lt"/>
            </a:endParaRPr>
          </a:p>
        </p:txBody>
      </p:sp>
      <p:sp>
        <p:nvSpPr>
          <p:cNvPr id="3" name="TextBox 2">
            <a:extLst>
              <a:ext uri="{FF2B5EF4-FFF2-40B4-BE49-F238E27FC236}">
                <a16:creationId xmlns:a16="http://schemas.microsoft.com/office/drawing/2014/main" id="{3E2327C9-F5D3-FC0B-7B66-80421CBFE746}"/>
              </a:ext>
            </a:extLst>
          </p:cNvPr>
          <p:cNvSpPr txBox="1"/>
          <p:nvPr/>
        </p:nvSpPr>
        <p:spPr>
          <a:xfrm>
            <a:off x="-23521" y="4770799"/>
            <a:ext cx="9167521" cy="200055"/>
          </a:xfrm>
          <a:prstGeom prst="rect">
            <a:avLst/>
          </a:prstGeom>
          <a:noFill/>
        </p:spPr>
        <p:txBody>
          <a:bodyPr wrap="square">
            <a:spAutoFit/>
          </a:bodyPr>
          <a:lstStyle/>
          <a:p>
            <a:r>
              <a:rPr lang="vi-VN" sz="700" b="0" i="1" u="sng" strike="noStrike">
                <a:solidFill>
                  <a:srgbClr val="000000"/>
                </a:solidFill>
                <a:effectLst/>
                <a:latin typeface="Aptos Display" panose="020B0004020202020204" pitchFamily="34" charset="0"/>
              </a:rPr>
              <a:t>Ghi chú:</a:t>
            </a:r>
            <a:r>
              <a:rPr lang="vi-VN"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Lãi</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gộp</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đơn</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vị</a:t>
            </a:r>
            <a:r>
              <a:rPr lang="en-US" sz="700" b="0" i="1" u="none" strike="noStrike">
                <a:solidFill>
                  <a:srgbClr val="000000"/>
                </a:solidFill>
                <a:effectLst/>
                <a:latin typeface="Aptos Display" panose="020B0004020202020204" pitchFamily="34" charset="0"/>
              </a:rPr>
              <a:t> = (Doanh </a:t>
            </a:r>
            <a:r>
              <a:rPr lang="en-US" sz="700" b="0" i="1" u="none" strike="noStrike" err="1">
                <a:solidFill>
                  <a:srgbClr val="000000"/>
                </a:solidFill>
                <a:effectLst/>
                <a:latin typeface="Aptos Display" panose="020B0004020202020204" pitchFamily="34" charset="0"/>
              </a:rPr>
              <a:t>thu</a:t>
            </a:r>
            <a:r>
              <a:rPr lang="en-US" sz="700" b="0" i="1" u="none" strike="noStrike">
                <a:solidFill>
                  <a:srgbClr val="000000"/>
                </a:solidFill>
                <a:effectLst/>
                <a:latin typeface="Aptos Display" panose="020B0004020202020204" pitchFamily="34" charset="0"/>
              </a:rPr>
              <a:t> EXW </a:t>
            </a:r>
            <a:r>
              <a:rPr lang="en-US" sz="700" b="0" i="1" u="none" strike="noStrike" err="1">
                <a:solidFill>
                  <a:srgbClr val="000000"/>
                </a:solidFill>
                <a:effectLst/>
                <a:latin typeface="Aptos Display" panose="020B0004020202020204" pitchFamily="34" charset="0"/>
              </a:rPr>
              <a:t>trừ</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cho</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giá</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vốn</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xuất</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kho</a:t>
            </a:r>
            <a:r>
              <a:rPr lang="en-US" sz="700" i="1">
                <a:latin typeface="Aptos Display" panose="020B0004020202020204" pitchFamily="34" charset="0"/>
              </a:rPr>
              <a:t>)/</a:t>
            </a:r>
            <a:r>
              <a:rPr lang="en-US" sz="700" i="1" err="1">
                <a:latin typeface="Aptos Display" panose="020B0004020202020204" pitchFamily="34" charset="0"/>
              </a:rPr>
              <a:t>Sản</a:t>
            </a:r>
            <a:r>
              <a:rPr lang="en-US" sz="700" i="1">
                <a:latin typeface="Aptos Display" panose="020B0004020202020204" pitchFamily="34" charset="0"/>
              </a:rPr>
              <a:t> </a:t>
            </a:r>
            <a:r>
              <a:rPr lang="en-US" sz="700" i="1" err="1">
                <a:latin typeface="Aptos Display" panose="020B0004020202020204" pitchFamily="34" charset="0"/>
              </a:rPr>
              <a:t>lượng</a:t>
            </a:r>
            <a:r>
              <a:rPr lang="en-US" sz="700" i="1">
                <a:latin typeface="Aptos Display" panose="020B0004020202020204" pitchFamily="34" charset="0"/>
              </a:rPr>
              <a:t> </a:t>
            </a:r>
            <a:r>
              <a:rPr lang="en-US" sz="700" i="1" err="1">
                <a:latin typeface="Aptos Display" panose="020B0004020202020204" pitchFamily="34" charset="0"/>
              </a:rPr>
              <a:t>bán</a:t>
            </a:r>
            <a:r>
              <a:rPr lang="en-US" sz="700" i="1">
                <a:latin typeface="Aptos Display" panose="020B0004020202020204" pitchFamily="34" charset="0"/>
              </a:rPr>
              <a:t>. </a:t>
            </a:r>
            <a:r>
              <a:rPr lang="en-US" sz="700" i="1" err="1">
                <a:latin typeface="Aptos Display" panose="020B0004020202020204" pitchFamily="34" charset="0"/>
              </a:rPr>
              <a:t>Tác</a:t>
            </a:r>
            <a:r>
              <a:rPr lang="en-US" sz="700" i="1">
                <a:latin typeface="Aptos Display" panose="020B0004020202020204" pitchFamily="34" charset="0"/>
              </a:rPr>
              <a:t> </a:t>
            </a:r>
            <a:r>
              <a:rPr lang="en-US" sz="700" i="1" err="1">
                <a:latin typeface="Aptos Display" panose="020B0004020202020204" pitchFamily="34" charset="0"/>
              </a:rPr>
              <a:t>động</a:t>
            </a:r>
            <a:r>
              <a:rPr lang="en-US" sz="700" i="1">
                <a:latin typeface="Aptos Display" panose="020B0004020202020204" pitchFamily="34" charset="0"/>
              </a:rPr>
              <a:t> </a:t>
            </a:r>
            <a:r>
              <a:rPr lang="en-US" sz="700" i="1" err="1">
                <a:latin typeface="Aptos Display" panose="020B0004020202020204" pitchFamily="34" charset="0"/>
              </a:rPr>
              <a:t>đang</a:t>
            </a:r>
            <a:r>
              <a:rPr lang="en-US" sz="700" i="1">
                <a:latin typeface="Aptos Display" panose="020B0004020202020204" pitchFamily="34" charset="0"/>
              </a:rPr>
              <a:t> </a:t>
            </a:r>
            <a:r>
              <a:rPr lang="en-US" sz="700" i="1" err="1">
                <a:latin typeface="Aptos Display" panose="020B0004020202020204" pitchFamily="34" charset="0"/>
              </a:rPr>
              <a:t>tính</a:t>
            </a:r>
            <a:r>
              <a:rPr lang="en-US" sz="700" i="1">
                <a:latin typeface="Aptos Display" panose="020B0004020202020204" pitchFamily="34" charset="0"/>
              </a:rPr>
              <a:t> </a:t>
            </a:r>
            <a:r>
              <a:rPr lang="en-US" sz="700" i="1" err="1">
                <a:latin typeface="Aptos Display" panose="020B0004020202020204" pitchFamily="34" charset="0"/>
              </a:rPr>
              <a:t>theo</a:t>
            </a:r>
            <a:r>
              <a:rPr lang="en-US" sz="700" i="1">
                <a:latin typeface="Aptos Display" panose="020B0004020202020204" pitchFamily="34" charset="0"/>
              </a:rPr>
              <a:t> </a:t>
            </a:r>
            <a:r>
              <a:rPr lang="en-US" sz="700" i="1" err="1">
                <a:latin typeface="Aptos Display" panose="020B0004020202020204" pitchFamily="34" charset="0"/>
              </a:rPr>
              <a:t>nhóm</a:t>
            </a:r>
            <a:r>
              <a:rPr lang="en-US" sz="700" i="1">
                <a:latin typeface="Aptos Display" panose="020B0004020202020204" pitchFamily="34" charset="0"/>
              </a:rPr>
              <a:t> </a:t>
            </a:r>
            <a:r>
              <a:rPr lang="en-US" sz="700" i="1" err="1">
                <a:latin typeface="Aptos Display" panose="020B0004020202020204" pitchFamily="34" charset="0"/>
              </a:rPr>
              <a:t>sản</a:t>
            </a:r>
            <a:r>
              <a:rPr lang="en-US" sz="700" i="1">
                <a:latin typeface="Aptos Display" panose="020B0004020202020204" pitchFamily="34" charset="0"/>
              </a:rPr>
              <a:t> </a:t>
            </a:r>
            <a:r>
              <a:rPr lang="en-US" sz="700" i="1" err="1">
                <a:latin typeface="Aptos Display" panose="020B0004020202020204" pitchFamily="34" charset="0"/>
              </a:rPr>
              <a:t>phẩm</a:t>
            </a:r>
            <a:r>
              <a:rPr lang="en-US" sz="700" i="1">
                <a:latin typeface="Aptos Display" panose="020B0004020202020204" pitchFamily="34" charset="0"/>
              </a:rPr>
              <a:t>. </a:t>
            </a:r>
            <a:r>
              <a:rPr lang="en-US" sz="700" i="1" err="1">
                <a:latin typeface="Aptos Display" panose="020B0004020202020204" pitchFamily="34" charset="0"/>
              </a:rPr>
              <a:t>Phần</a:t>
            </a:r>
            <a:r>
              <a:rPr lang="en-US" sz="700" i="1">
                <a:latin typeface="Aptos Display" panose="020B0004020202020204" pitchFamily="34" charset="0"/>
              </a:rPr>
              <a:t> </a:t>
            </a:r>
            <a:r>
              <a:rPr lang="en-US" sz="700" i="1" err="1">
                <a:latin typeface="Aptos Display" panose="020B0004020202020204" pitchFamily="34" charset="0"/>
              </a:rPr>
              <a:t>ghi</a:t>
            </a:r>
            <a:r>
              <a:rPr lang="en-US" sz="700" i="1">
                <a:latin typeface="Aptos Display" panose="020B0004020202020204" pitchFamily="34" charset="0"/>
              </a:rPr>
              <a:t> </a:t>
            </a:r>
            <a:r>
              <a:rPr lang="en-US" sz="700" i="1" err="1">
                <a:latin typeface="Aptos Display" panose="020B0004020202020204" pitchFamily="34" charset="0"/>
              </a:rPr>
              <a:t>chú</a:t>
            </a:r>
            <a:r>
              <a:rPr lang="en-US" sz="700" i="1">
                <a:latin typeface="Aptos Display" panose="020B0004020202020204" pitchFamily="34" charset="0"/>
              </a:rPr>
              <a:t> LG EXW (</a:t>
            </a:r>
            <a:r>
              <a:rPr lang="en-US" sz="700" i="1" err="1">
                <a:latin typeface="Aptos Display" panose="020B0004020202020204" pitchFamily="34" charset="0"/>
              </a:rPr>
              <a:t>tỷ</a:t>
            </a:r>
            <a:r>
              <a:rPr lang="en-US" sz="700" i="1">
                <a:latin typeface="Aptos Display" panose="020B0004020202020204" pitchFamily="34" charset="0"/>
              </a:rPr>
              <a:t> VND) </a:t>
            </a:r>
            <a:r>
              <a:rPr lang="en-US" sz="700" i="1" u="sng" err="1">
                <a:latin typeface="Aptos Display" panose="020B0004020202020204" pitchFamily="34" charset="0"/>
              </a:rPr>
              <a:t>đã</a:t>
            </a:r>
            <a:r>
              <a:rPr lang="en-US" sz="700" i="1" u="sng">
                <a:latin typeface="Aptos Display" panose="020B0004020202020204" pitchFamily="34" charset="0"/>
              </a:rPr>
              <a:t> </a:t>
            </a:r>
            <a:r>
              <a:rPr lang="en-US" sz="700" i="1" u="sng" err="1">
                <a:latin typeface="Aptos Display" panose="020B0004020202020204" pitchFamily="34" charset="0"/>
              </a:rPr>
              <a:t>loại</a:t>
            </a:r>
            <a:r>
              <a:rPr lang="en-US" sz="700" i="1" u="sng">
                <a:latin typeface="Aptos Display" panose="020B0004020202020204" pitchFamily="34" charset="0"/>
              </a:rPr>
              <a:t> </a:t>
            </a:r>
            <a:r>
              <a:rPr lang="en-US" sz="700" i="1" u="sng" err="1">
                <a:latin typeface="Aptos Display" panose="020B0004020202020204" pitchFamily="34" charset="0"/>
              </a:rPr>
              <a:t>trừ</a:t>
            </a:r>
            <a:r>
              <a:rPr lang="en-US" sz="700" i="1" u="sng">
                <a:latin typeface="Aptos Display" panose="020B0004020202020204" pitchFamily="34" charset="0"/>
              </a:rPr>
              <a:t> </a:t>
            </a:r>
            <a:r>
              <a:rPr lang="en-US" sz="700" i="1" err="1">
                <a:latin typeface="Aptos Display" panose="020B0004020202020204" pitchFamily="34" charset="0"/>
              </a:rPr>
              <a:t>phần</a:t>
            </a:r>
            <a:r>
              <a:rPr lang="en-US" sz="700" i="1">
                <a:latin typeface="Aptos Display" panose="020B0004020202020204" pitchFamily="34" charset="0"/>
              </a:rPr>
              <a:t> </a:t>
            </a:r>
            <a:r>
              <a:rPr lang="en-US" sz="700" i="1" err="1">
                <a:latin typeface="Aptos Display" panose="020B0004020202020204" pitchFamily="34" charset="0"/>
              </a:rPr>
              <a:t>chênh</a:t>
            </a:r>
            <a:r>
              <a:rPr lang="en-US" sz="700" i="1">
                <a:latin typeface="Aptos Display" panose="020B0004020202020204" pitchFamily="34" charset="0"/>
              </a:rPr>
              <a:t> </a:t>
            </a:r>
            <a:r>
              <a:rPr lang="en-US" sz="700" i="1" err="1">
                <a:latin typeface="Aptos Display" panose="020B0004020202020204" pitchFamily="34" charset="0"/>
              </a:rPr>
              <a:t>lệch</a:t>
            </a:r>
            <a:r>
              <a:rPr lang="en-US" sz="700" i="1">
                <a:latin typeface="Aptos Display" panose="020B0004020202020204" pitchFamily="34" charset="0"/>
              </a:rPr>
              <a:t> </a:t>
            </a:r>
            <a:r>
              <a:rPr lang="en-US" sz="700" i="1" err="1">
                <a:latin typeface="Aptos Display" panose="020B0004020202020204" pitchFamily="34" charset="0"/>
              </a:rPr>
              <a:t>tỷ</a:t>
            </a:r>
            <a:r>
              <a:rPr lang="en-US" sz="700" i="1">
                <a:latin typeface="Aptos Display" panose="020B0004020202020204" pitchFamily="34" charset="0"/>
              </a:rPr>
              <a:t> </a:t>
            </a:r>
            <a:r>
              <a:rPr lang="en-US" sz="700" i="1" err="1">
                <a:latin typeface="Aptos Display" panose="020B0004020202020204" pitchFamily="34" charset="0"/>
              </a:rPr>
              <a:t>giá</a:t>
            </a:r>
            <a:r>
              <a:rPr lang="en-US" sz="700" i="1">
                <a:latin typeface="Aptos Display" panose="020B0004020202020204" pitchFamily="34" charset="0"/>
              </a:rPr>
              <a:t>.</a:t>
            </a:r>
            <a:endParaRPr lang="en-US" sz="700"/>
          </a:p>
        </p:txBody>
      </p:sp>
      <p:pic>
        <p:nvPicPr>
          <p:cNvPr id="6" name="Picture 5">
            <a:extLst>
              <a:ext uri="{FF2B5EF4-FFF2-40B4-BE49-F238E27FC236}">
                <a16:creationId xmlns:a16="http://schemas.microsoft.com/office/drawing/2014/main" id="{A2529C3B-D9C4-EBFD-22BF-B11F8AD51F90}"/>
              </a:ext>
            </a:extLst>
          </p:cNvPr>
          <p:cNvPicPr>
            <a:picLocks noChangeAspect="1"/>
          </p:cNvPicPr>
          <p:nvPr/>
        </p:nvPicPr>
        <p:blipFill>
          <a:blip r:embed="rId3"/>
          <a:stretch>
            <a:fillRect/>
          </a:stretch>
        </p:blipFill>
        <p:spPr>
          <a:xfrm>
            <a:off x="0" y="294723"/>
            <a:ext cx="9144000" cy="4523574"/>
          </a:xfrm>
          <a:prstGeom prst="rect">
            <a:avLst/>
          </a:prstGeom>
        </p:spPr>
      </p:pic>
    </p:spTree>
    <p:extLst>
      <p:ext uri="{BB962C8B-B14F-4D97-AF65-F5344CB8AC3E}">
        <p14:creationId xmlns:p14="http://schemas.microsoft.com/office/powerpoint/2010/main" val="448801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E1FFD-18F0-A905-24F8-1C93BB5BE32E}"/>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C9DB754C-E5FF-3F60-70E8-FEBE3F5315E8}"/>
              </a:ext>
            </a:extLst>
          </p:cNvPr>
          <p:cNvGraphicFramePr>
            <a:graphicFrameLocks noGrp="1"/>
          </p:cNvGraphicFramePr>
          <p:nvPr>
            <p:extLst>
              <p:ext uri="{D42A27DB-BD31-4B8C-83A1-F6EECF244321}">
                <p14:modId xmlns:p14="http://schemas.microsoft.com/office/powerpoint/2010/main" val="3976635290"/>
              </p:ext>
            </p:extLst>
          </p:nvPr>
        </p:nvGraphicFramePr>
        <p:xfrm>
          <a:off x="58194" y="462594"/>
          <a:ext cx="9085805" cy="4313478"/>
        </p:xfrm>
        <a:graphic>
          <a:graphicData uri="http://schemas.openxmlformats.org/drawingml/2006/table">
            <a:tbl>
              <a:tblPr firstRow="1" bandRow="1">
                <a:tableStyleId>{6A077030-E235-474E-B3E8-3EB61F41259E}</a:tableStyleId>
              </a:tblPr>
              <a:tblGrid>
                <a:gridCol w="6640454">
                  <a:extLst>
                    <a:ext uri="{9D8B030D-6E8A-4147-A177-3AD203B41FA5}">
                      <a16:colId xmlns:a16="http://schemas.microsoft.com/office/drawing/2014/main" val="569245144"/>
                    </a:ext>
                  </a:extLst>
                </a:gridCol>
                <a:gridCol w="2445351">
                  <a:extLst>
                    <a:ext uri="{9D8B030D-6E8A-4147-A177-3AD203B41FA5}">
                      <a16:colId xmlns:a16="http://schemas.microsoft.com/office/drawing/2014/main" val="653644736"/>
                    </a:ext>
                  </a:extLst>
                </a:gridCol>
              </a:tblGrid>
              <a:tr h="2007994">
                <a:tc>
                  <a:txBody>
                    <a:bodyPr/>
                    <a:lstStyle/>
                    <a:p>
                      <a:pPr algn="ctr"/>
                      <a:endParaRPr lang="en-US"/>
                    </a:p>
                  </a:txBody>
                  <a:tcPr>
                    <a:lnB w="9525" cap="flat" cmpd="sng">
                      <a:noFill/>
                      <a:prstDash val="solid"/>
                      <a:round/>
                      <a:headEnd type="none" w="sm" len="sm"/>
                      <a:tailEnd type="none" w="sm" len="sm"/>
                    </a:lnB>
                  </a:tcPr>
                </a:tc>
                <a:tc rowSpan="2">
                  <a:txBody>
                    <a:bodyPr/>
                    <a:lstStyle/>
                    <a:p>
                      <a:pPr algn="ctr"/>
                      <a:r>
                        <a:rPr lang="en-US" u="sng"/>
                        <a:t>NGUYÊN NHÂN GỐC RỄ</a:t>
                      </a:r>
                    </a:p>
                    <a:p>
                      <a:pPr algn="ctr"/>
                      <a:endParaRPr lang="en-US" sz="1200" u="sng"/>
                    </a:p>
                    <a:p>
                      <a:pPr marL="0" indent="0" algn="l">
                        <a:buFontTx/>
                        <a:buNone/>
                      </a:pPr>
                      <a:r>
                        <a:rPr lang="en-US" sz="1000" u="none"/>
                        <a:t>Lợi </a:t>
                      </a:r>
                      <a:r>
                        <a:rPr lang="en-US" sz="1000" u="none" err="1"/>
                        <a:t>nhuận</a:t>
                      </a:r>
                      <a:r>
                        <a:rPr lang="en-US" sz="1000" u="none"/>
                        <a:t> </a:t>
                      </a:r>
                      <a:r>
                        <a:rPr lang="en-US" sz="1000" u="none" err="1"/>
                        <a:t>sau</a:t>
                      </a:r>
                      <a:r>
                        <a:rPr lang="en-US" sz="1000" u="none"/>
                        <a:t> </a:t>
                      </a:r>
                      <a:r>
                        <a:rPr lang="en-US" sz="1000" u="none" err="1"/>
                        <a:t>thuế</a:t>
                      </a:r>
                      <a:r>
                        <a:rPr lang="en-US" sz="1000" u="none"/>
                        <a:t> T11 </a:t>
                      </a:r>
                      <a:r>
                        <a:rPr lang="en-US" sz="1000" u="none" err="1"/>
                        <a:t>đạt</a:t>
                      </a:r>
                      <a:r>
                        <a:rPr lang="en-US" sz="1000" u="none"/>
                        <a:t> </a:t>
                      </a:r>
                      <a:r>
                        <a:rPr lang="en-US" sz="1000" b="1" u="none"/>
                        <a:t>-6.9/</a:t>
                      </a:r>
                      <a:r>
                        <a:rPr lang="en-US" sz="1000" u="none"/>
                        <a:t>18.9 </a:t>
                      </a:r>
                      <a:r>
                        <a:rPr lang="en-US" sz="1000" u="none" err="1"/>
                        <a:t>tỷ</a:t>
                      </a:r>
                      <a:r>
                        <a:rPr lang="en-US" sz="1000" u="none"/>
                        <a:t>. Nguyên </a:t>
                      </a:r>
                      <a:r>
                        <a:rPr lang="en-US" sz="1000" u="none" err="1"/>
                        <a:t>nhân</a:t>
                      </a:r>
                      <a:r>
                        <a:rPr lang="en-US" sz="1000" u="none"/>
                        <a:t> </a:t>
                      </a:r>
                      <a:r>
                        <a:rPr lang="en-US" sz="1000" u="none" err="1"/>
                        <a:t>không</a:t>
                      </a:r>
                      <a:r>
                        <a:rPr lang="en-US" sz="1000" u="none"/>
                        <a:t> </a:t>
                      </a:r>
                      <a:r>
                        <a:rPr lang="en-US" sz="1000" u="none" err="1"/>
                        <a:t>đạt</a:t>
                      </a:r>
                      <a:r>
                        <a:rPr lang="en-US" sz="1000" u="none"/>
                        <a:t> </a:t>
                      </a:r>
                      <a:r>
                        <a:rPr lang="en-US" sz="1000" u="none" err="1"/>
                        <a:t>là</a:t>
                      </a:r>
                      <a:r>
                        <a:rPr lang="en-US" sz="1000" u="none"/>
                        <a:t> do:</a:t>
                      </a:r>
                    </a:p>
                    <a:p>
                      <a:pPr marL="0" indent="0" algn="l">
                        <a:buFontTx/>
                        <a:buNone/>
                      </a:pPr>
                      <a:endParaRPr lang="en-US" sz="1000" u="none"/>
                    </a:p>
                    <a:p>
                      <a:pPr marL="0" indent="0" algn="l">
                        <a:buFontTx/>
                        <a:buNone/>
                      </a:pPr>
                      <a:r>
                        <a:rPr lang="en-US" sz="950" u="none"/>
                        <a:t>+ </a:t>
                      </a:r>
                      <a:r>
                        <a:rPr lang="en-US" sz="950" u="none" err="1"/>
                        <a:t>Sản</a:t>
                      </a:r>
                      <a:r>
                        <a:rPr lang="en-US" sz="950" u="none"/>
                        <a:t> </a:t>
                      </a:r>
                      <a:r>
                        <a:rPr lang="en-US" sz="950" u="none" err="1"/>
                        <a:t>lượng</a:t>
                      </a:r>
                      <a:r>
                        <a:rPr lang="en-US" sz="950" u="none"/>
                        <a:t> </a:t>
                      </a:r>
                      <a:r>
                        <a:rPr lang="en-US" sz="950" u="none" err="1"/>
                        <a:t>bán</a:t>
                      </a:r>
                      <a:r>
                        <a:rPr lang="en-US" sz="950" u="none"/>
                        <a:t> </a:t>
                      </a:r>
                      <a:r>
                        <a:rPr lang="en-US" sz="950" u="none" err="1"/>
                        <a:t>sản</a:t>
                      </a:r>
                      <a:r>
                        <a:rPr lang="en-US" sz="950" u="none"/>
                        <a:t> </a:t>
                      </a:r>
                      <a:r>
                        <a:rPr lang="en-US" sz="950" u="none" err="1"/>
                        <a:t>phẩm</a:t>
                      </a:r>
                      <a:r>
                        <a:rPr lang="en-US" sz="950" u="none"/>
                        <a:t> chính </a:t>
                      </a:r>
                      <a:r>
                        <a:rPr lang="en-US" sz="950" u="none" err="1"/>
                        <a:t>đạt</a:t>
                      </a:r>
                      <a:r>
                        <a:rPr lang="en-US" sz="950" u="none"/>
                        <a:t> </a:t>
                      </a:r>
                      <a:r>
                        <a:rPr lang="en-US" sz="1000" b="1" u="none"/>
                        <a:t>2.51</a:t>
                      </a:r>
                      <a:r>
                        <a:rPr lang="en-US" sz="950" u="none"/>
                        <a:t>/5.97 </a:t>
                      </a:r>
                      <a:r>
                        <a:rPr lang="en-US" sz="950" u="none" err="1"/>
                        <a:t>ngàn</a:t>
                      </a:r>
                      <a:r>
                        <a:rPr lang="en-US" sz="950" u="none"/>
                        <a:t> </a:t>
                      </a:r>
                      <a:r>
                        <a:rPr lang="en-US" sz="950" u="none" err="1"/>
                        <a:t>tấn</a:t>
                      </a:r>
                      <a:r>
                        <a:rPr lang="en-US" sz="950" u="none"/>
                        <a:t>: </a:t>
                      </a:r>
                      <a:r>
                        <a:rPr lang="en-US" sz="950" u="none" err="1"/>
                        <a:t>tác</a:t>
                      </a:r>
                      <a:r>
                        <a:rPr lang="en-US" sz="950" u="none"/>
                        <a:t> </a:t>
                      </a:r>
                      <a:r>
                        <a:rPr lang="en-US" sz="950" u="none" err="1"/>
                        <a:t>động</a:t>
                      </a:r>
                      <a:r>
                        <a:rPr lang="en-US" sz="950" u="none"/>
                        <a:t> </a:t>
                      </a:r>
                      <a:r>
                        <a:rPr lang="en-US" sz="950" b="1" u="none" err="1"/>
                        <a:t>giảm</a:t>
                      </a:r>
                      <a:r>
                        <a:rPr lang="en-US" sz="950" b="1" u="none"/>
                        <a:t> 16.9 </a:t>
                      </a:r>
                      <a:r>
                        <a:rPr lang="en-US" sz="950" b="1" u="none" err="1"/>
                        <a:t>tỷ</a:t>
                      </a:r>
                      <a:endParaRPr lang="en-US" sz="950" b="1" u="none"/>
                    </a:p>
                    <a:p>
                      <a:pPr marL="0" indent="0" algn="l">
                        <a:buFontTx/>
                        <a:buNone/>
                      </a:pPr>
                      <a:endParaRPr lang="en-US" sz="950" u="none"/>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950" u="none"/>
                        <a:t>+ </a:t>
                      </a:r>
                      <a:r>
                        <a:rPr lang="en-US" sz="950" b="1" u="none" err="1"/>
                        <a:t>Giá</a:t>
                      </a:r>
                      <a:r>
                        <a:rPr lang="en-US" sz="950" b="1" u="none"/>
                        <a:t> </a:t>
                      </a:r>
                      <a:r>
                        <a:rPr lang="en-US" sz="950" b="1" u="none" err="1"/>
                        <a:t>bán</a:t>
                      </a:r>
                      <a:r>
                        <a:rPr lang="en-US" sz="950" b="1" u="none"/>
                        <a:t> EXW </a:t>
                      </a:r>
                      <a:r>
                        <a:rPr lang="en-US" sz="950" b="1" u="none" err="1"/>
                        <a:t>trung</a:t>
                      </a:r>
                      <a:r>
                        <a:rPr lang="en-US" sz="950" b="1" u="none"/>
                        <a:t> </a:t>
                      </a:r>
                      <a:r>
                        <a:rPr lang="en-US" sz="950" b="1" u="none" err="1"/>
                        <a:t>bình</a:t>
                      </a:r>
                      <a:r>
                        <a:rPr lang="en-US" sz="950" b="1" u="none"/>
                        <a:t> </a:t>
                      </a:r>
                      <a:r>
                        <a:rPr lang="en-US" sz="950" b="1" u="none" err="1"/>
                        <a:t>rPET</a:t>
                      </a:r>
                      <a:r>
                        <a:rPr lang="en-US" sz="950" b="1" u="none"/>
                        <a:t> </a:t>
                      </a:r>
                      <a:r>
                        <a:rPr lang="en-US" sz="950" b="1" u="none" err="1"/>
                        <a:t>giảm</a:t>
                      </a:r>
                      <a:r>
                        <a:rPr lang="en-US" sz="950" u="none"/>
                        <a:t> (</a:t>
                      </a:r>
                      <a:r>
                        <a:rPr lang="en-US" sz="950" u="none" err="1"/>
                        <a:t>đạt</a:t>
                      </a:r>
                      <a:r>
                        <a:rPr lang="en-US" sz="950" u="none"/>
                        <a:t> $1,224/ton; Ngân </a:t>
                      </a:r>
                      <a:r>
                        <a:rPr lang="en-US" sz="950" u="none" err="1"/>
                        <a:t>sách</a:t>
                      </a:r>
                      <a:r>
                        <a:rPr lang="en-US" sz="950" u="none"/>
                        <a:t> </a:t>
                      </a:r>
                      <a:r>
                        <a:rPr lang="en-US" sz="950" u="none" err="1"/>
                        <a:t>là</a:t>
                      </a:r>
                      <a:r>
                        <a:rPr lang="en-US" sz="950" u="none"/>
                        <a:t> $1,294/ton; tức -$70 ~ </a:t>
                      </a:r>
                      <a:r>
                        <a:rPr lang="en-US" sz="950" i="1" u="none"/>
                        <a:t>-5.4%</a:t>
                      </a:r>
                      <a:r>
                        <a:rPr lang="en-US" sz="950" u="none"/>
                        <a:t>): </a:t>
                      </a:r>
                      <a:r>
                        <a:rPr lang="en-US" sz="950" u="none" err="1"/>
                        <a:t>tác</a:t>
                      </a:r>
                      <a:r>
                        <a:rPr lang="en-US" sz="950" u="none"/>
                        <a:t> </a:t>
                      </a:r>
                      <a:r>
                        <a:rPr lang="en-US" sz="950" u="none" err="1"/>
                        <a:t>động</a:t>
                      </a:r>
                      <a:r>
                        <a:rPr lang="en-US" sz="950" u="none"/>
                        <a:t> </a:t>
                      </a:r>
                      <a:r>
                        <a:rPr lang="en-US" sz="950" b="1" u="none" err="1"/>
                        <a:t>giảm</a:t>
                      </a:r>
                      <a:r>
                        <a:rPr lang="en-US" sz="950" b="1" u="none"/>
                        <a:t> 3 </a:t>
                      </a:r>
                      <a:r>
                        <a:rPr lang="en-US" sz="950" b="1" u="none" err="1"/>
                        <a:t>tỷ</a:t>
                      </a:r>
                      <a:r>
                        <a:rPr lang="en-US" sz="950" b="0" u="none"/>
                        <a:t>. </a:t>
                      </a:r>
                      <a:r>
                        <a:rPr lang="en-US" sz="950" b="0" i="1" u="none" err="1"/>
                        <a:t>Giá</a:t>
                      </a:r>
                      <a:r>
                        <a:rPr lang="en-US" sz="950" b="0" i="1" u="none"/>
                        <a:t> ICIS </a:t>
                      </a:r>
                      <a:r>
                        <a:rPr lang="en-US" sz="950" b="0" i="1" u="none" err="1"/>
                        <a:t>giảm</a:t>
                      </a:r>
                      <a:r>
                        <a:rPr lang="en-US" sz="950" b="0" i="1" u="none"/>
                        <a:t> </a:t>
                      </a:r>
                      <a:r>
                        <a:rPr lang="en-US" sz="950" b="0" i="1" u="none" err="1"/>
                        <a:t>dẫn</a:t>
                      </a:r>
                      <a:r>
                        <a:rPr lang="en-US" sz="950" b="0" i="1" u="none"/>
                        <a:t> </a:t>
                      </a:r>
                      <a:r>
                        <a:rPr lang="en-US" sz="950" b="0" i="1" u="none" err="1"/>
                        <a:t>tới</a:t>
                      </a:r>
                      <a:r>
                        <a:rPr lang="en-US" sz="950" b="0" i="1" u="none"/>
                        <a:t> </a:t>
                      </a:r>
                      <a:r>
                        <a:rPr lang="en-US" sz="950" b="0" i="1" u="none" err="1"/>
                        <a:t>giá</a:t>
                      </a:r>
                      <a:r>
                        <a:rPr lang="en-US" sz="950" b="0" i="1" u="none"/>
                        <a:t> </a:t>
                      </a:r>
                      <a:r>
                        <a:rPr lang="en-US" sz="950" b="0" i="1" u="none" err="1"/>
                        <a:t>bán</a:t>
                      </a:r>
                      <a:r>
                        <a:rPr lang="en-US" sz="950" b="0" i="1" u="none"/>
                        <a:t> </a:t>
                      </a:r>
                      <a:r>
                        <a:rPr lang="en-US" sz="950" b="0" i="1" u="none" err="1"/>
                        <a:t>cho</a:t>
                      </a:r>
                      <a:r>
                        <a:rPr lang="en-US" sz="950" b="0" i="1" u="none"/>
                        <a:t> Niagara </a:t>
                      </a:r>
                      <a:r>
                        <a:rPr lang="en-US" sz="950" b="0" i="1" u="none" err="1"/>
                        <a:t>giảm</a:t>
                      </a:r>
                      <a:r>
                        <a:rPr lang="en-US" sz="950" b="0" i="1" u="none"/>
                        <a:t> (</a:t>
                      </a:r>
                      <a:r>
                        <a:rPr lang="en-US" sz="950" b="0" i="1" u="none" err="1"/>
                        <a:t>đạt</a:t>
                      </a:r>
                      <a:r>
                        <a:rPr lang="en-US" sz="950" b="0" i="1" u="none"/>
                        <a:t> $1,166/ton; Ngân </a:t>
                      </a:r>
                      <a:r>
                        <a:rPr lang="en-US" sz="950" b="0" i="1" u="none" err="1"/>
                        <a:t>sách</a:t>
                      </a:r>
                      <a:r>
                        <a:rPr lang="en-US" sz="950" b="0" i="1" u="none"/>
                        <a:t> </a:t>
                      </a:r>
                      <a:r>
                        <a:rPr lang="en-US" sz="950" b="0" i="1" u="none" err="1"/>
                        <a:t>là</a:t>
                      </a:r>
                      <a:r>
                        <a:rPr lang="en-US" sz="950" b="0" i="1" u="none"/>
                        <a:t> $1,281/ton – Dthu EXW Niagara T11 chiếm 15.5% thực tế ngành PET)</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lang="en-US" sz="950" b="0" i="1" u="none"/>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950" u="none"/>
                        <a:t>+ </a:t>
                      </a:r>
                      <a:r>
                        <a:rPr lang="en-US" sz="950" b="1" u="none" err="1"/>
                        <a:t>Giá</a:t>
                      </a:r>
                      <a:r>
                        <a:rPr lang="en-US" sz="950" b="1" u="none"/>
                        <a:t> </a:t>
                      </a:r>
                      <a:r>
                        <a:rPr lang="en-US" sz="950" b="1" u="none" err="1"/>
                        <a:t>vốn</a:t>
                      </a:r>
                      <a:r>
                        <a:rPr lang="en-US" sz="950" b="1" u="none"/>
                        <a:t> </a:t>
                      </a:r>
                      <a:r>
                        <a:rPr lang="en-US" sz="950" b="1" u="none" err="1"/>
                        <a:t>đơn</a:t>
                      </a:r>
                      <a:r>
                        <a:rPr lang="en-US" sz="950" b="1" u="none"/>
                        <a:t> </a:t>
                      </a:r>
                      <a:r>
                        <a:rPr lang="en-US" sz="950" b="1" u="none" err="1"/>
                        <a:t>vị</a:t>
                      </a:r>
                      <a:r>
                        <a:rPr lang="en-US" sz="950" b="1" u="none"/>
                        <a:t> </a:t>
                      </a:r>
                      <a:r>
                        <a:rPr lang="en-US" sz="950" b="1" u="none" err="1"/>
                        <a:t>trung</a:t>
                      </a:r>
                      <a:r>
                        <a:rPr lang="en-US" sz="950" b="1" u="none"/>
                        <a:t> </a:t>
                      </a:r>
                      <a:r>
                        <a:rPr lang="en-US" sz="950" b="1" u="none" err="1"/>
                        <a:t>bình</a:t>
                      </a:r>
                      <a:r>
                        <a:rPr lang="en-US" sz="950" b="1" u="none"/>
                        <a:t> </a:t>
                      </a:r>
                      <a:r>
                        <a:rPr lang="en-US" sz="950" b="1" u="none" err="1"/>
                        <a:t>rPET</a:t>
                      </a:r>
                      <a:r>
                        <a:rPr lang="en-US" sz="950" b="1" u="none"/>
                        <a:t> </a:t>
                      </a:r>
                      <a:r>
                        <a:rPr lang="en-US" sz="950" b="1" u="none" err="1"/>
                        <a:t>tăng</a:t>
                      </a:r>
                      <a:r>
                        <a:rPr lang="en-US" sz="950" b="1" u="none"/>
                        <a:t>: </a:t>
                      </a:r>
                      <a:r>
                        <a:rPr lang="en-US" sz="950" u="none" err="1"/>
                        <a:t>tác</a:t>
                      </a:r>
                      <a:r>
                        <a:rPr lang="en-US" sz="950" u="none"/>
                        <a:t> </a:t>
                      </a:r>
                      <a:r>
                        <a:rPr lang="en-US" sz="950" u="none" err="1"/>
                        <a:t>động</a:t>
                      </a:r>
                      <a:r>
                        <a:rPr lang="en-US" sz="950" u="none"/>
                        <a:t> </a:t>
                      </a:r>
                      <a:r>
                        <a:rPr lang="en-US" sz="950" b="1" u="none" err="1"/>
                        <a:t>giảm</a:t>
                      </a:r>
                      <a:r>
                        <a:rPr lang="en-US" sz="950" b="1" u="none"/>
                        <a:t> 4.3 </a:t>
                      </a:r>
                      <a:r>
                        <a:rPr lang="en-US" sz="950" b="1" u="none" err="1"/>
                        <a:t>tỷ</a:t>
                      </a:r>
                      <a:r>
                        <a:rPr lang="en-US" sz="950" b="0" u="none"/>
                        <a:t>. </a:t>
                      </a:r>
                      <a:r>
                        <a:rPr lang="en-US" sz="950" b="0" u="none" err="1"/>
                        <a:t>Giá</a:t>
                      </a:r>
                      <a:r>
                        <a:rPr lang="en-US" sz="950" b="0" u="none"/>
                        <a:t> </a:t>
                      </a:r>
                      <a:r>
                        <a:rPr lang="en-US" sz="950" b="0" u="none" err="1"/>
                        <a:t>mua</a:t>
                      </a:r>
                      <a:r>
                        <a:rPr lang="en-US" sz="950" b="0" u="none"/>
                        <a:t> chai/</a:t>
                      </a:r>
                      <a:r>
                        <a:rPr lang="en-US" sz="950" b="0" u="none" err="1"/>
                        <a:t>vảy</a:t>
                      </a:r>
                      <a:r>
                        <a:rPr lang="en-US" sz="950" b="0" u="none"/>
                        <a:t> T11 có xu hướng giảm từ T09 nhưng thực tế vẫn còn Hàng tồn kho giá cao.</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lang="en-US" sz="950" b="0" u="none"/>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950" b="0" u="none"/>
                        <a:t>+ Ghi nhận chi phí tư vấn ADD châu Âu: tác động </a:t>
                      </a:r>
                      <a:r>
                        <a:rPr lang="en-US" sz="950" b="1" u="none"/>
                        <a:t>giảm 1.26 tỷ.</a:t>
                      </a: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endParaRPr lang="en-US" sz="1000" b="0" i="1" u="none">
                        <a:solidFill>
                          <a:schemeClr val="bg1">
                            <a:lumMod val="50000"/>
                          </a:schemeClr>
                        </a:solidFill>
                      </a:endParaRPr>
                    </a:p>
                    <a:p>
                      <a:pPr marL="0" marR="0" lvl="0" indent="0" algn="l" defTabSz="914400" rtl="0" eaLnBrk="1" fontAlgn="auto" latinLnBrk="0" hangingPunct="1">
                        <a:lnSpc>
                          <a:spcPct val="100000"/>
                        </a:lnSpc>
                        <a:spcBef>
                          <a:spcPts val="0"/>
                        </a:spcBef>
                        <a:spcAft>
                          <a:spcPts val="0"/>
                        </a:spcAft>
                        <a:buClr>
                          <a:srgbClr val="000000"/>
                        </a:buClr>
                        <a:buSzTx/>
                        <a:buFontTx/>
                        <a:buNone/>
                        <a:tabLst/>
                        <a:defRPr/>
                      </a:pPr>
                      <a:r>
                        <a:rPr lang="en-US" sz="1000" b="0" i="1" u="none">
                          <a:solidFill>
                            <a:schemeClr val="bg1">
                              <a:lumMod val="50000"/>
                            </a:schemeClr>
                          </a:solidFill>
                        </a:rPr>
                        <a:t>(</a:t>
                      </a:r>
                      <a:r>
                        <a:rPr lang="en-US" sz="1000" b="0" i="1" u="none" err="1">
                          <a:solidFill>
                            <a:schemeClr val="bg1">
                              <a:lumMod val="50000"/>
                            </a:schemeClr>
                          </a:solidFill>
                        </a:rPr>
                        <a:t>Số</a:t>
                      </a:r>
                      <a:r>
                        <a:rPr lang="en-US" sz="1000" b="0" i="1" u="none">
                          <a:solidFill>
                            <a:schemeClr val="bg1">
                              <a:lumMod val="50000"/>
                            </a:schemeClr>
                          </a:solidFill>
                        </a:rPr>
                        <a:t> </a:t>
                      </a:r>
                      <a:r>
                        <a:rPr lang="en-US" sz="1000" b="0" i="1" u="none" err="1">
                          <a:solidFill>
                            <a:schemeClr val="bg1">
                              <a:lumMod val="50000"/>
                            </a:schemeClr>
                          </a:solidFill>
                        </a:rPr>
                        <a:t>liệu</a:t>
                      </a:r>
                      <a:r>
                        <a:rPr lang="en-US" sz="1000" b="0" i="1" u="none">
                          <a:solidFill>
                            <a:schemeClr val="bg1">
                              <a:lumMod val="50000"/>
                            </a:schemeClr>
                          </a:solidFill>
                        </a:rPr>
                        <a:t> </a:t>
                      </a:r>
                      <a:r>
                        <a:rPr lang="en-US" sz="1000" b="0" i="1" u="none" err="1">
                          <a:solidFill>
                            <a:schemeClr val="bg1">
                              <a:lumMod val="50000"/>
                            </a:schemeClr>
                          </a:solidFill>
                        </a:rPr>
                        <a:t>tác</a:t>
                      </a:r>
                      <a:r>
                        <a:rPr lang="en-US" sz="1000" b="0" i="1" u="none">
                          <a:solidFill>
                            <a:schemeClr val="bg1">
                              <a:lumMod val="50000"/>
                            </a:schemeClr>
                          </a:solidFill>
                        </a:rPr>
                        <a:t> </a:t>
                      </a:r>
                      <a:r>
                        <a:rPr lang="en-US" sz="1000" b="0" i="1" u="none" err="1">
                          <a:solidFill>
                            <a:schemeClr val="bg1">
                              <a:lumMod val="50000"/>
                            </a:schemeClr>
                          </a:solidFill>
                        </a:rPr>
                        <a:t>động</a:t>
                      </a:r>
                      <a:r>
                        <a:rPr lang="en-US" sz="1000" b="0" i="1" u="none">
                          <a:solidFill>
                            <a:schemeClr val="bg1">
                              <a:lumMod val="50000"/>
                            </a:schemeClr>
                          </a:solidFill>
                        </a:rPr>
                        <a:t> </a:t>
                      </a:r>
                      <a:r>
                        <a:rPr lang="en-US" sz="1000" b="0" i="1" u="none" err="1">
                          <a:solidFill>
                            <a:schemeClr val="bg1">
                              <a:lumMod val="50000"/>
                            </a:schemeClr>
                          </a:solidFill>
                        </a:rPr>
                        <a:t>đã</a:t>
                      </a:r>
                      <a:r>
                        <a:rPr lang="en-US" sz="1000" b="0" i="1" u="none">
                          <a:solidFill>
                            <a:schemeClr val="bg1">
                              <a:lumMod val="50000"/>
                            </a:schemeClr>
                          </a:solidFill>
                        </a:rPr>
                        <a:t> </a:t>
                      </a:r>
                      <a:r>
                        <a:rPr lang="en-US" sz="1000" b="0" i="1" u="none" err="1">
                          <a:solidFill>
                            <a:schemeClr val="bg1">
                              <a:lumMod val="50000"/>
                            </a:schemeClr>
                          </a:solidFill>
                        </a:rPr>
                        <a:t>tính</a:t>
                      </a:r>
                      <a:r>
                        <a:rPr lang="en-US" sz="1000" b="0" i="1" u="none">
                          <a:solidFill>
                            <a:schemeClr val="bg1">
                              <a:lumMod val="50000"/>
                            </a:schemeClr>
                          </a:solidFill>
                        </a:rPr>
                        <a:t> </a:t>
                      </a:r>
                      <a:r>
                        <a:rPr lang="en-US" sz="1000" b="0" i="1" u="none" err="1">
                          <a:solidFill>
                            <a:schemeClr val="bg1">
                              <a:lumMod val="50000"/>
                            </a:schemeClr>
                          </a:solidFill>
                        </a:rPr>
                        <a:t>thuế</a:t>
                      </a:r>
                      <a:r>
                        <a:rPr lang="en-US" sz="1000" b="0" i="1" u="none">
                          <a:solidFill>
                            <a:schemeClr val="bg1">
                              <a:lumMod val="50000"/>
                            </a:schemeClr>
                          </a:solidFill>
                        </a:rPr>
                        <a:t> TNDN)</a:t>
                      </a:r>
                      <a:endParaRPr lang="en-US" sz="1000" b="0" i="0" u="none">
                        <a:solidFill>
                          <a:schemeClr val="bg1">
                            <a:lumMod val="50000"/>
                          </a:schemeClr>
                        </a:solidFill>
                      </a:endParaRPr>
                    </a:p>
                  </a:txBody>
                  <a:tcPr/>
                </a:tc>
                <a:extLst>
                  <a:ext uri="{0D108BD9-81ED-4DB2-BD59-A6C34878D82A}">
                    <a16:rowId xmlns:a16="http://schemas.microsoft.com/office/drawing/2014/main" val="2801659027"/>
                  </a:ext>
                </a:extLst>
              </a:tr>
              <a:tr h="2305484">
                <a:tc>
                  <a:txBody>
                    <a:bodyPr/>
                    <a:lstStyle/>
                    <a:p>
                      <a:endParaRPr lang="en-US"/>
                    </a:p>
                  </a:txBody>
                  <a:tcPr>
                    <a:lnT w="9525" cap="flat" cmpd="sng">
                      <a:noFill/>
                      <a:prstDash val="solid"/>
                      <a:round/>
                      <a:headEnd type="none" w="sm" len="sm"/>
                      <a:tailEnd type="none" w="sm" len="sm"/>
                    </a:lnT>
                  </a:tcPr>
                </a:tc>
                <a:tc vMerge="1">
                  <a:txBody>
                    <a:bodyPr/>
                    <a:lstStyle/>
                    <a:p>
                      <a:endParaRPr lang="en-US"/>
                    </a:p>
                  </a:txBody>
                  <a:tcPr/>
                </a:tc>
                <a:extLst>
                  <a:ext uri="{0D108BD9-81ED-4DB2-BD59-A6C34878D82A}">
                    <a16:rowId xmlns:a16="http://schemas.microsoft.com/office/drawing/2014/main" val="3019797017"/>
                  </a:ext>
                </a:extLst>
              </a:tr>
            </a:tbl>
          </a:graphicData>
        </a:graphic>
      </p:graphicFrame>
      <p:sp>
        <p:nvSpPr>
          <p:cNvPr id="2" name="Title 1">
            <a:extLst>
              <a:ext uri="{FF2B5EF4-FFF2-40B4-BE49-F238E27FC236}">
                <a16:creationId xmlns:a16="http://schemas.microsoft.com/office/drawing/2014/main" id="{CEFDE5E7-7896-7282-4466-39062B15904D}"/>
              </a:ext>
            </a:extLst>
          </p:cNvPr>
          <p:cNvSpPr>
            <a:spLocks noGrp="1"/>
          </p:cNvSpPr>
          <p:nvPr>
            <p:ph type="title"/>
          </p:nvPr>
        </p:nvSpPr>
        <p:spPr>
          <a:xfrm>
            <a:off x="0" y="15534"/>
            <a:ext cx="9143999" cy="572700"/>
          </a:xfrm>
        </p:spPr>
        <p:txBody>
          <a:bodyPr/>
          <a:lstStyle/>
          <a:p>
            <a:pPr algn="ctr"/>
            <a:r>
              <a:rPr lang="en-US" sz="2000" b="1" dirty="0">
                <a:solidFill>
                  <a:srgbClr val="119303"/>
                </a:solidFill>
              </a:rPr>
              <a:t>2.9</a:t>
            </a:r>
            <a:r>
              <a:rPr lang="en-US" sz="2200" b="1" dirty="0">
                <a:solidFill>
                  <a:srgbClr val="119303"/>
                </a:solidFill>
              </a:rPr>
              <a:t>. KẾT QUẢ HOẠT ĐỘNG KINH DOANH – </a:t>
            </a:r>
            <a:r>
              <a:rPr lang="en-US" sz="2200" b="1" dirty="0">
                <a:solidFill>
                  <a:schemeClr val="accent2">
                    <a:lumMod val="75000"/>
                  </a:schemeClr>
                </a:solidFill>
              </a:rPr>
              <a:t>GIẢI TRÌNH LỢI NHUẬN SAU THUẾ</a:t>
            </a:r>
            <a:endParaRPr lang="en-US" sz="2200" b="1" dirty="0">
              <a:solidFill>
                <a:schemeClr val="tx1">
                  <a:lumMod val="65000"/>
                  <a:lumOff val="35000"/>
                </a:schemeClr>
              </a:solidFill>
              <a:latin typeface="+mn-lt"/>
            </a:endParaRPr>
          </a:p>
        </p:txBody>
      </p:sp>
      <p:graphicFrame>
        <p:nvGraphicFramePr>
          <p:cNvPr id="4" name="Chart 3">
            <a:extLst>
              <a:ext uri="{FF2B5EF4-FFF2-40B4-BE49-F238E27FC236}">
                <a16:creationId xmlns:a16="http://schemas.microsoft.com/office/drawing/2014/main" id="{C0D84FB5-511B-8165-6333-DC95CA4A2E89}"/>
              </a:ext>
            </a:extLst>
          </p:cNvPr>
          <p:cNvGraphicFramePr>
            <a:graphicFrameLocks/>
          </p:cNvGraphicFramePr>
          <p:nvPr>
            <p:extLst>
              <p:ext uri="{D42A27DB-BD31-4B8C-83A1-F6EECF244321}">
                <p14:modId xmlns:p14="http://schemas.microsoft.com/office/powerpoint/2010/main" val="1860965824"/>
              </p:ext>
            </p:extLst>
          </p:nvPr>
        </p:nvGraphicFramePr>
        <p:xfrm>
          <a:off x="58195" y="694918"/>
          <a:ext cx="6608736" cy="1909306"/>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5417B495-6270-A9AF-8058-B3675D531042}"/>
              </a:ext>
            </a:extLst>
          </p:cNvPr>
          <p:cNvSpPr/>
          <p:nvPr/>
        </p:nvSpPr>
        <p:spPr>
          <a:xfrm>
            <a:off x="58195" y="476554"/>
            <a:ext cx="6608736" cy="218364"/>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LỢI NHUẬN SAU THUẾ</a:t>
            </a:r>
          </a:p>
        </p:txBody>
      </p:sp>
      <p:sp>
        <p:nvSpPr>
          <p:cNvPr id="14" name="Rectangle 13">
            <a:extLst>
              <a:ext uri="{FF2B5EF4-FFF2-40B4-BE49-F238E27FC236}">
                <a16:creationId xmlns:a16="http://schemas.microsoft.com/office/drawing/2014/main" id="{4E6A6C04-91EA-C523-DE43-9E8DF5124EE7}"/>
              </a:ext>
            </a:extLst>
          </p:cNvPr>
          <p:cNvSpPr/>
          <p:nvPr/>
        </p:nvSpPr>
        <p:spPr>
          <a:xfrm>
            <a:off x="58195" y="2583611"/>
            <a:ext cx="6608736" cy="218364"/>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b="1">
                <a:solidFill>
                  <a:schemeClr val="tx1"/>
                </a:solidFill>
              </a:rPr>
              <a:t>LŨY KẾ LỢI NHUẬN SAU THUẾ</a:t>
            </a:r>
          </a:p>
        </p:txBody>
      </p:sp>
      <p:graphicFrame>
        <p:nvGraphicFramePr>
          <p:cNvPr id="15" name="Chart 14">
            <a:extLst>
              <a:ext uri="{FF2B5EF4-FFF2-40B4-BE49-F238E27FC236}">
                <a16:creationId xmlns:a16="http://schemas.microsoft.com/office/drawing/2014/main" id="{A5D34DAE-E6F6-848C-1C73-CCFD3D0F5F15}"/>
              </a:ext>
            </a:extLst>
          </p:cNvPr>
          <p:cNvGraphicFramePr>
            <a:graphicFrameLocks/>
          </p:cNvGraphicFramePr>
          <p:nvPr>
            <p:extLst>
              <p:ext uri="{D42A27DB-BD31-4B8C-83A1-F6EECF244321}">
                <p14:modId xmlns:p14="http://schemas.microsoft.com/office/powerpoint/2010/main" val="3252473250"/>
              </p:ext>
            </p:extLst>
          </p:nvPr>
        </p:nvGraphicFramePr>
        <p:xfrm>
          <a:off x="20094" y="2801693"/>
          <a:ext cx="6608736" cy="1909306"/>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5">
            <a:extLst>
              <a:ext uri="{FF2B5EF4-FFF2-40B4-BE49-F238E27FC236}">
                <a16:creationId xmlns:a16="http://schemas.microsoft.com/office/drawing/2014/main" id="{488B3D74-C421-7BFA-EDEC-F96FB195D97E}"/>
              </a:ext>
            </a:extLst>
          </p:cNvPr>
          <p:cNvSpPr txBox="1"/>
          <p:nvPr/>
        </p:nvSpPr>
        <p:spPr>
          <a:xfrm>
            <a:off x="5896612" y="475261"/>
            <a:ext cx="665567" cy="200055"/>
          </a:xfrm>
          <a:prstGeom prst="rect">
            <a:avLst/>
          </a:prstGeom>
          <a:noFill/>
        </p:spPr>
        <p:txBody>
          <a:bodyPr wrap="none" rtlCol="0">
            <a:spAutoFit/>
          </a:bodyPr>
          <a:lstStyle/>
          <a:p>
            <a:r>
              <a:rPr lang="en-US" sz="700" i="1" err="1"/>
              <a:t>Đvt</a:t>
            </a:r>
            <a:r>
              <a:rPr lang="en-US" sz="700" i="1"/>
              <a:t>: </a:t>
            </a:r>
            <a:r>
              <a:rPr lang="en-US" sz="700" i="1" err="1"/>
              <a:t>tỷ</a:t>
            </a:r>
            <a:r>
              <a:rPr lang="en-US" sz="700" i="1"/>
              <a:t> </a:t>
            </a:r>
            <a:r>
              <a:rPr lang="en-US" sz="700" i="1" err="1"/>
              <a:t>đồng</a:t>
            </a:r>
            <a:endParaRPr lang="en-US" sz="700" i="1"/>
          </a:p>
        </p:txBody>
      </p:sp>
      <p:sp>
        <p:nvSpPr>
          <p:cNvPr id="17" name="TextBox 16">
            <a:extLst>
              <a:ext uri="{FF2B5EF4-FFF2-40B4-BE49-F238E27FC236}">
                <a16:creationId xmlns:a16="http://schemas.microsoft.com/office/drawing/2014/main" id="{D94C7409-5B55-B71A-252B-5D90B1EF90D3}"/>
              </a:ext>
            </a:extLst>
          </p:cNvPr>
          <p:cNvSpPr txBox="1"/>
          <p:nvPr/>
        </p:nvSpPr>
        <p:spPr>
          <a:xfrm>
            <a:off x="5896613" y="2592765"/>
            <a:ext cx="665567" cy="200055"/>
          </a:xfrm>
          <a:prstGeom prst="rect">
            <a:avLst/>
          </a:prstGeom>
          <a:noFill/>
        </p:spPr>
        <p:txBody>
          <a:bodyPr wrap="none" rtlCol="0">
            <a:spAutoFit/>
          </a:bodyPr>
          <a:lstStyle/>
          <a:p>
            <a:r>
              <a:rPr lang="en-US" sz="700" i="1" err="1"/>
              <a:t>Đvt</a:t>
            </a:r>
            <a:r>
              <a:rPr lang="en-US" sz="700" i="1"/>
              <a:t>: </a:t>
            </a:r>
            <a:r>
              <a:rPr lang="en-US" sz="700" i="1" err="1"/>
              <a:t>tỷ</a:t>
            </a:r>
            <a:r>
              <a:rPr lang="en-US" sz="700" i="1"/>
              <a:t> </a:t>
            </a:r>
            <a:r>
              <a:rPr lang="en-US" sz="700" i="1" err="1"/>
              <a:t>đồng</a:t>
            </a:r>
            <a:endParaRPr lang="en-US" sz="700" i="1"/>
          </a:p>
        </p:txBody>
      </p:sp>
    </p:spTree>
    <p:extLst>
      <p:ext uri="{BB962C8B-B14F-4D97-AF65-F5344CB8AC3E}">
        <p14:creationId xmlns:p14="http://schemas.microsoft.com/office/powerpoint/2010/main" val="3039711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8AFA9-8F67-7E7E-1CC8-EA981403180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0575D6F-00C9-D84C-4D8E-1735DF91943D}"/>
              </a:ext>
            </a:extLst>
          </p:cNvPr>
          <p:cNvPicPr>
            <a:picLocks noChangeAspect="1"/>
          </p:cNvPicPr>
          <p:nvPr/>
        </p:nvPicPr>
        <p:blipFill>
          <a:blip r:embed="rId3"/>
          <a:stretch>
            <a:fillRect/>
          </a:stretch>
        </p:blipFill>
        <p:spPr>
          <a:xfrm>
            <a:off x="0" y="336884"/>
            <a:ext cx="9144000" cy="4469732"/>
          </a:xfrm>
          <a:prstGeom prst="rect">
            <a:avLst/>
          </a:prstGeom>
        </p:spPr>
      </p:pic>
      <p:sp>
        <p:nvSpPr>
          <p:cNvPr id="2" name="Title 1">
            <a:extLst>
              <a:ext uri="{FF2B5EF4-FFF2-40B4-BE49-F238E27FC236}">
                <a16:creationId xmlns:a16="http://schemas.microsoft.com/office/drawing/2014/main" id="{626799AB-999F-4AFF-78C8-117DA812F6F4}"/>
              </a:ext>
            </a:extLst>
          </p:cNvPr>
          <p:cNvSpPr>
            <a:spLocks noGrp="1"/>
          </p:cNvSpPr>
          <p:nvPr>
            <p:ph type="title"/>
          </p:nvPr>
        </p:nvSpPr>
        <p:spPr>
          <a:xfrm>
            <a:off x="0" y="-6767"/>
            <a:ext cx="9144000" cy="333440"/>
          </a:xfrm>
        </p:spPr>
        <p:txBody>
          <a:bodyPr anchor="ctr"/>
          <a:lstStyle/>
          <a:p>
            <a:pPr algn="ctr"/>
            <a:r>
              <a:rPr lang="en-US" sz="2000" b="1" dirty="0">
                <a:solidFill>
                  <a:srgbClr val="119303"/>
                </a:solidFill>
              </a:rPr>
              <a:t>2.10</a:t>
            </a:r>
            <a:r>
              <a:rPr lang="en-US" sz="2200" b="1" dirty="0">
                <a:solidFill>
                  <a:srgbClr val="119303"/>
                </a:solidFill>
              </a:rPr>
              <a:t>. KẾT QUẢ HOẠT ĐỘNG KINH DOANH–</a:t>
            </a:r>
            <a:r>
              <a:rPr lang="en-US" sz="2200" b="1" dirty="0">
                <a:solidFill>
                  <a:schemeClr val="accent2">
                    <a:lumMod val="75000"/>
                  </a:schemeClr>
                </a:solidFill>
              </a:rPr>
              <a:t>BIẾN ĐỘNG LỢI NHUẬN SAU THUẾ</a:t>
            </a:r>
            <a:endParaRPr lang="en-US" sz="2200" b="1" dirty="0">
              <a:solidFill>
                <a:schemeClr val="tx1">
                  <a:lumMod val="65000"/>
                  <a:lumOff val="35000"/>
                </a:schemeClr>
              </a:solidFill>
              <a:latin typeface="+mn-lt"/>
            </a:endParaRPr>
          </a:p>
        </p:txBody>
      </p:sp>
      <p:sp>
        <p:nvSpPr>
          <p:cNvPr id="8" name="Rectangle: Rounded Corners 7">
            <a:extLst>
              <a:ext uri="{FF2B5EF4-FFF2-40B4-BE49-F238E27FC236}">
                <a16:creationId xmlns:a16="http://schemas.microsoft.com/office/drawing/2014/main" id="{5377969E-C334-2E79-2350-BE227F7F594D}"/>
              </a:ext>
            </a:extLst>
          </p:cNvPr>
          <p:cNvSpPr/>
          <p:nvPr/>
        </p:nvSpPr>
        <p:spPr>
          <a:xfrm>
            <a:off x="1010816" y="559557"/>
            <a:ext cx="730044" cy="3766783"/>
          </a:xfrm>
          <a:prstGeom prst="roundRect">
            <a:avLst/>
          </a:prstGeom>
          <a:noFill/>
          <a:ln w="28575">
            <a:solidFill>
              <a:srgbClr val="BE3455"/>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F88D789-AB75-CE1E-6AB8-BADB2A74196E}"/>
              </a:ext>
            </a:extLst>
          </p:cNvPr>
          <p:cNvSpPr txBox="1"/>
          <p:nvPr/>
        </p:nvSpPr>
        <p:spPr>
          <a:xfrm>
            <a:off x="-23521" y="4769799"/>
            <a:ext cx="9167521" cy="200055"/>
          </a:xfrm>
          <a:prstGeom prst="rect">
            <a:avLst/>
          </a:prstGeom>
          <a:noFill/>
        </p:spPr>
        <p:txBody>
          <a:bodyPr wrap="square">
            <a:spAutoFit/>
          </a:bodyPr>
          <a:lstStyle/>
          <a:p>
            <a:r>
              <a:rPr lang="vi-VN" sz="700" b="0" i="1" u="sng" strike="noStrike">
                <a:solidFill>
                  <a:srgbClr val="000000"/>
                </a:solidFill>
                <a:effectLst/>
                <a:latin typeface="Aptos Display" panose="020B0004020202020204" pitchFamily="34" charset="0"/>
              </a:rPr>
              <a:t>Ghi chú:</a:t>
            </a:r>
            <a:r>
              <a:rPr lang="vi-VN" sz="700" b="0" i="1" u="none" strike="noStrike">
                <a:solidFill>
                  <a:srgbClr val="000000"/>
                </a:solidFill>
                <a:effectLst/>
                <a:latin typeface="Aptos Display" panose="020B0004020202020204" pitchFamily="34" charset="0"/>
              </a:rPr>
              <a:t> </a:t>
            </a:r>
            <a:r>
              <a:rPr lang="en-US" sz="700" i="1">
                <a:latin typeface="Aptos Display" panose="020B0004020202020204" pitchFamily="34" charset="0"/>
              </a:rPr>
              <a:t>LG EXW </a:t>
            </a:r>
            <a:r>
              <a:rPr lang="en-US" sz="700" b="0" i="1" u="none" strike="noStrike">
                <a:solidFill>
                  <a:srgbClr val="000000"/>
                </a:solidFill>
                <a:effectLst/>
                <a:latin typeface="Aptos Display" panose="020B0004020202020204" pitchFamily="34" charset="0"/>
              </a:rPr>
              <a:t>= Doanh thu thuần trừ cho các biến phí bán hàng (chi </a:t>
            </a:r>
            <a:r>
              <a:rPr lang="en-US" sz="700" b="0" i="1" u="none" strike="noStrike" err="1">
                <a:solidFill>
                  <a:srgbClr val="000000"/>
                </a:solidFill>
                <a:effectLst/>
                <a:latin typeface="Aptos Display" panose="020B0004020202020204" pitchFamily="34" charset="0"/>
              </a:rPr>
              <a:t>phí</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xuất</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khẩu</a:t>
            </a:r>
            <a:r>
              <a:rPr lang="en-US" sz="700" b="0" i="1" u="none" strike="noStrike">
                <a:solidFill>
                  <a:srgbClr val="000000"/>
                </a:solidFill>
                <a:effectLst/>
                <a:latin typeface="Aptos Display" panose="020B0004020202020204" pitchFamily="34" charset="0"/>
              </a:rPr>
              <a:t>, chi </a:t>
            </a:r>
            <a:r>
              <a:rPr lang="en-US" sz="700" b="0" i="1" u="none" strike="noStrike" err="1">
                <a:solidFill>
                  <a:srgbClr val="000000"/>
                </a:solidFill>
                <a:effectLst/>
                <a:latin typeface="Aptos Display" panose="020B0004020202020204" pitchFamily="34" charset="0"/>
              </a:rPr>
              <a:t>phí</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thuê</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xe</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hoa</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hồng</a:t>
            </a:r>
            <a:r>
              <a:rPr lang="en-US" sz="700" b="0" i="1" u="none" strike="noStrike">
                <a:solidFill>
                  <a:srgbClr val="000000"/>
                </a:solidFill>
                <a:effectLst/>
                <a:latin typeface="Aptos Display" panose="020B0004020202020204" pitchFamily="34" charset="0"/>
              </a:rPr>
              <a:t> </a:t>
            </a:r>
            <a:r>
              <a:rPr lang="en-US" sz="700" b="0" i="1" u="none" strike="noStrike" err="1">
                <a:solidFill>
                  <a:srgbClr val="000000"/>
                </a:solidFill>
                <a:effectLst/>
                <a:latin typeface="Aptos Display" panose="020B0004020202020204" pitchFamily="34" charset="0"/>
              </a:rPr>
              <a:t>và</a:t>
            </a:r>
            <a:r>
              <a:rPr lang="en-US" sz="700" b="0" i="1" u="none" strike="noStrike">
                <a:solidFill>
                  <a:srgbClr val="000000"/>
                </a:solidFill>
                <a:effectLst/>
                <a:latin typeface="Aptos Display" panose="020B0004020202020204" pitchFamily="34" charset="0"/>
              </a:rPr>
              <a:t> pallet </a:t>
            </a:r>
            <a:r>
              <a:rPr lang="en-US" sz="700" b="0" i="1" u="none" strike="noStrike" err="1">
                <a:solidFill>
                  <a:srgbClr val="000000"/>
                </a:solidFill>
                <a:effectLst/>
                <a:latin typeface="Aptos Display" panose="020B0004020202020204" pitchFamily="34" charset="0"/>
              </a:rPr>
              <a:t>xuất</a:t>
            </a:r>
            <a:r>
              <a:rPr lang="en-US" sz="700" b="0" i="1" u="none" strike="noStrike">
                <a:solidFill>
                  <a:srgbClr val="000000"/>
                </a:solidFill>
                <a:effectLst/>
                <a:latin typeface="Aptos Display" panose="020B0004020202020204" pitchFamily="34" charset="0"/>
              </a:rPr>
              <a:t> hàng) và Giá vốn hàng bán</a:t>
            </a:r>
            <a:endParaRPr lang="en-US" sz="700"/>
          </a:p>
        </p:txBody>
      </p:sp>
    </p:spTree>
    <p:extLst>
      <p:ext uri="{BB962C8B-B14F-4D97-AF65-F5344CB8AC3E}">
        <p14:creationId xmlns:p14="http://schemas.microsoft.com/office/powerpoint/2010/main" val="762985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C4CEAB8-EC10-4046-1224-12D7A8AA5BB3}"/>
              </a:ext>
            </a:extLst>
          </p:cNvPr>
          <p:cNvSpPr>
            <a:spLocks noGrp="1"/>
          </p:cNvSpPr>
          <p:nvPr>
            <p:ph type="title"/>
          </p:nvPr>
        </p:nvSpPr>
        <p:spPr>
          <a:xfrm>
            <a:off x="0" y="1344"/>
            <a:ext cx="9143999" cy="333440"/>
          </a:xfrm>
        </p:spPr>
        <p:txBody>
          <a:bodyPr anchor="ctr"/>
          <a:lstStyle/>
          <a:p>
            <a:pPr algn="ctr"/>
            <a:r>
              <a:rPr lang="en-US" sz="2000" b="1" dirty="0">
                <a:solidFill>
                  <a:srgbClr val="00B050"/>
                </a:solidFill>
              </a:rPr>
              <a:t>2.11. GIẢI TRÌNH </a:t>
            </a:r>
            <a:r>
              <a:rPr lang="en-US" sz="2000" b="1" dirty="0">
                <a:solidFill>
                  <a:schemeClr val="tx1">
                    <a:lumMod val="65000"/>
                    <a:lumOff val="35000"/>
                  </a:schemeClr>
                </a:solidFill>
              </a:rPr>
              <a:t>LỢI NHUẬN SAU THUẾ - </a:t>
            </a:r>
            <a:r>
              <a:rPr lang="en-US" sz="2000" b="1" dirty="0">
                <a:solidFill>
                  <a:srgbClr val="C00000"/>
                </a:solidFill>
              </a:rPr>
              <a:t>MỘT SỐ KHÁCH HÀNG BỊ LỖ THÁNG 10</a:t>
            </a:r>
            <a:endParaRPr lang="en-US" sz="2000" b="1" dirty="0">
              <a:solidFill>
                <a:srgbClr val="C00000"/>
              </a:solidFill>
              <a:latin typeface="+mn-lt"/>
            </a:endParaRPr>
          </a:p>
        </p:txBody>
      </p:sp>
      <p:pic>
        <p:nvPicPr>
          <p:cNvPr id="4" name="Picture 3">
            <a:extLst>
              <a:ext uri="{FF2B5EF4-FFF2-40B4-BE49-F238E27FC236}">
                <a16:creationId xmlns:a16="http://schemas.microsoft.com/office/drawing/2014/main" id="{692706BA-0A5E-37F2-1854-B5BB16179C30}"/>
              </a:ext>
            </a:extLst>
          </p:cNvPr>
          <p:cNvPicPr>
            <a:picLocks noChangeAspect="1"/>
          </p:cNvPicPr>
          <p:nvPr/>
        </p:nvPicPr>
        <p:blipFill>
          <a:blip r:embed="rId2"/>
          <a:stretch>
            <a:fillRect/>
          </a:stretch>
        </p:blipFill>
        <p:spPr>
          <a:xfrm>
            <a:off x="0" y="366101"/>
            <a:ext cx="9144000" cy="4411297"/>
          </a:xfrm>
          <a:prstGeom prst="rect">
            <a:avLst/>
          </a:prstGeom>
        </p:spPr>
      </p:pic>
    </p:spTree>
    <p:extLst>
      <p:ext uri="{BB962C8B-B14F-4D97-AF65-F5344CB8AC3E}">
        <p14:creationId xmlns:p14="http://schemas.microsoft.com/office/powerpoint/2010/main" val="452687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35F49-DFFB-AFC3-3508-8A173897FAD1}"/>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4DA0F10-1DA6-D1A8-144C-C8696E1B9BFD}"/>
              </a:ext>
            </a:extLst>
          </p:cNvPr>
          <p:cNvGraphicFramePr>
            <a:graphicFrameLocks noGrp="1"/>
          </p:cNvGraphicFramePr>
          <p:nvPr/>
        </p:nvGraphicFramePr>
        <p:xfrm>
          <a:off x="77372" y="517281"/>
          <a:ext cx="8982222" cy="4214114"/>
        </p:xfrm>
        <a:graphic>
          <a:graphicData uri="http://schemas.openxmlformats.org/drawingml/2006/table">
            <a:tbl>
              <a:tblPr firstRow="1" bandRow="1">
                <a:tableStyleId>{6A077030-E235-474E-B3E8-3EB61F41259E}</a:tableStyleId>
              </a:tblPr>
              <a:tblGrid>
                <a:gridCol w="6564749">
                  <a:extLst>
                    <a:ext uri="{9D8B030D-6E8A-4147-A177-3AD203B41FA5}">
                      <a16:colId xmlns:a16="http://schemas.microsoft.com/office/drawing/2014/main" val="569245144"/>
                    </a:ext>
                  </a:extLst>
                </a:gridCol>
                <a:gridCol w="2417473">
                  <a:extLst>
                    <a:ext uri="{9D8B030D-6E8A-4147-A177-3AD203B41FA5}">
                      <a16:colId xmlns:a16="http://schemas.microsoft.com/office/drawing/2014/main" val="653644736"/>
                    </a:ext>
                  </a:extLst>
                </a:gridCol>
              </a:tblGrid>
              <a:tr h="2107057">
                <a:tc>
                  <a:txBody>
                    <a:bodyPr/>
                    <a:lstStyle/>
                    <a:p>
                      <a:pPr algn="ctr"/>
                      <a:endParaRPr lang="en-US"/>
                    </a:p>
                  </a:txBody>
                  <a:tcPr/>
                </a:tc>
                <a:tc rowSpan="2">
                  <a:txBody>
                    <a:bodyPr/>
                    <a:lstStyle/>
                    <a:p>
                      <a:pPr marL="0" marR="0" lvl="0" indent="0" algn="just" defTabSz="914400" rtl="0" eaLnBrk="1" fontAlgn="auto" latinLnBrk="0" hangingPunct="1">
                        <a:lnSpc>
                          <a:spcPct val="100000"/>
                        </a:lnSpc>
                        <a:spcBef>
                          <a:spcPts val="0"/>
                        </a:spcBef>
                        <a:spcAft>
                          <a:spcPts val="0"/>
                        </a:spcAft>
                        <a:buClr>
                          <a:srgbClr val="000000"/>
                        </a:buClr>
                        <a:buSzTx/>
                        <a:buFont typeface="Arial"/>
                        <a:buNone/>
                        <a:tabLst/>
                        <a:defRPr/>
                      </a:pPr>
                      <a:r>
                        <a:rPr lang="en-US" sz="1100" u="sng"/>
                        <a:t>NGUYÊN NHÂN GỐC RỄ</a:t>
                      </a:r>
                    </a:p>
                    <a:p>
                      <a:pPr marL="0" indent="0" algn="just">
                        <a:lnSpc>
                          <a:spcPct val="150000"/>
                        </a:lnSpc>
                        <a:buFont typeface="+mj-lt"/>
                        <a:buNone/>
                      </a:pPr>
                      <a:endParaRPr lang="en-US" sz="1100" u="none"/>
                    </a:p>
                    <a:p>
                      <a:r>
                        <a:rPr lang="vi-VN" sz="1100">
                          <a:effectLst/>
                        </a:rPr>
                        <a:t>1.Đơn hàng giảm </a:t>
                      </a:r>
                      <a:r>
                        <a:rPr lang="en-US" sz="1100">
                          <a:effectLst/>
                        </a:rPr>
                        <a:t>do biến động thị trường Mỹ</a:t>
                      </a:r>
                      <a:r>
                        <a:rPr lang="vi-VN" sz="1100">
                          <a:effectLst/>
                        </a:rPr>
                        <a:t> và </a:t>
                      </a:r>
                      <a:r>
                        <a:rPr lang="en-US" sz="1100">
                          <a:effectLst/>
                        </a:rPr>
                        <a:t>C</a:t>
                      </a:r>
                      <a:r>
                        <a:rPr lang="vi-VN" sz="1100">
                          <a:effectLst/>
                        </a:rPr>
                        <a:t>hâu </a:t>
                      </a:r>
                      <a:r>
                        <a:rPr lang="en-US" sz="1100">
                          <a:effectLst/>
                        </a:rPr>
                        <a:t>Â</a:t>
                      </a:r>
                      <a:r>
                        <a:rPr lang="vi-VN" sz="1100">
                          <a:effectLst/>
                        </a:rPr>
                        <a:t>u. </a:t>
                      </a:r>
                      <a:endParaRPr lang="en-US" sz="1100">
                        <a:effectLst/>
                      </a:endParaRPr>
                    </a:p>
                    <a:p>
                      <a:r>
                        <a:rPr lang="en-US" sz="1100">
                          <a:effectLst/>
                        </a:rPr>
                        <a:t>2. </a:t>
                      </a:r>
                      <a:r>
                        <a:rPr lang="vi-VN" sz="1100">
                          <a:effectLst/>
                        </a:rPr>
                        <a:t>Hàng tồn kho còn nhiều</a:t>
                      </a:r>
                      <a:r>
                        <a:rPr lang="en-US" sz="1100">
                          <a:effectLst/>
                        </a:rPr>
                        <a:t> không sản xuất thêm</a:t>
                      </a:r>
                      <a:endParaRPr lang="vi-VN" sz="1100">
                        <a:effectLst/>
                      </a:endParaRPr>
                    </a:p>
                    <a:p>
                      <a:r>
                        <a:rPr lang="vi-VN" sz="1100">
                          <a:effectLst/>
                        </a:rPr>
                        <a:t>2.Ngưng máy lắp đặt thiết bị xử lý </a:t>
                      </a:r>
                      <a:endParaRPr lang="en-US" sz="1100">
                        <a:effectLst/>
                      </a:endParaRPr>
                    </a:p>
                    <a:p>
                      <a:r>
                        <a:rPr lang="en-US" sz="1100">
                          <a:effectLst/>
                        </a:rPr>
                        <a:t>p</a:t>
                      </a:r>
                      <a:r>
                        <a:rPr lang="vi-VN" sz="1100">
                          <a:effectLst/>
                        </a:rPr>
                        <a:t>hó sản hạt rPET: </a:t>
                      </a:r>
                    </a:p>
                    <a:p>
                      <a:pPr marR="0" algn="l" rtl="0">
                        <a:lnSpc>
                          <a:spcPct val="100000"/>
                        </a:lnSpc>
                        <a:spcBef>
                          <a:spcPts val="0"/>
                        </a:spcBef>
                        <a:spcAft>
                          <a:spcPts val="0"/>
                        </a:spcAft>
                        <a:buClr>
                          <a:srgbClr val="000000"/>
                        </a:buClr>
                        <a:buFont typeface="Arial"/>
                      </a:pPr>
                      <a:r>
                        <a:rPr lang="vi-VN" sz="1100" b="0" i="0" u="none" strike="noStrike" cap="none">
                          <a:solidFill>
                            <a:srgbClr val="000000"/>
                          </a:solidFill>
                          <a:effectLst/>
                          <a:latin typeface="Arial"/>
                          <a:cs typeface="Arial"/>
                          <a:sym typeface="Arial"/>
                        </a:rPr>
                        <a:t>      +</a:t>
                      </a:r>
                      <a:r>
                        <a:rPr lang="en-US" sz="1100" b="0" i="0" u="none" strike="noStrike" cap="none">
                          <a:solidFill>
                            <a:srgbClr val="000000"/>
                          </a:solidFill>
                          <a:effectLst/>
                          <a:latin typeface="Arial"/>
                          <a:cs typeface="Arial"/>
                          <a:sym typeface="Arial"/>
                        </a:rPr>
                        <a:t> </a:t>
                      </a:r>
                      <a:r>
                        <a:rPr lang="vi-VN" sz="1100" b="0" i="0" u="none" strike="noStrike" cap="none">
                          <a:solidFill>
                            <a:srgbClr val="000000"/>
                          </a:solidFill>
                          <a:effectLst/>
                          <a:latin typeface="Arial"/>
                          <a:cs typeface="Arial"/>
                          <a:sym typeface="Arial"/>
                        </a:rPr>
                        <a:t>Máy star-01 : </a:t>
                      </a:r>
                      <a:r>
                        <a:rPr lang="en-US" sz="1100" b="0" i="0" u="none" strike="noStrike" cap="none">
                          <a:solidFill>
                            <a:srgbClr val="000000"/>
                          </a:solidFill>
                          <a:effectLst/>
                          <a:latin typeface="Arial"/>
                          <a:cs typeface="Arial"/>
                          <a:sym typeface="Arial"/>
                        </a:rPr>
                        <a:t>N</a:t>
                      </a:r>
                      <a:r>
                        <a:rPr lang="vi-VN" sz="1100" b="0" i="0" u="none" strike="noStrike" cap="none">
                          <a:solidFill>
                            <a:srgbClr val="000000"/>
                          </a:solidFill>
                          <a:effectLst/>
                          <a:latin typeface="Arial"/>
                          <a:cs typeface="Arial"/>
                          <a:sym typeface="Arial"/>
                        </a:rPr>
                        <a:t>gưng từ 26/10 đến</a:t>
                      </a:r>
                      <a:r>
                        <a:rPr lang="en-US" sz="1100" b="0" i="0" u="none" strike="noStrike" cap="none">
                          <a:solidFill>
                            <a:srgbClr val="000000"/>
                          </a:solidFill>
                          <a:effectLst/>
                          <a:latin typeface="Arial"/>
                          <a:cs typeface="Arial"/>
                          <a:sym typeface="Arial"/>
                        </a:rPr>
                        <a:t> </a:t>
                      </a:r>
                      <a:r>
                        <a:rPr lang="vi-VN" sz="1100" b="0" i="0" u="none" strike="noStrike" cap="none">
                          <a:solidFill>
                            <a:srgbClr val="000000"/>
                          </a:solidFill>
                          <a:effectLst/>
                          <a:latin typeface="Arial"/>
                          <a:cs typeface="Arial"/>
                          <a:sym typeface="Arial"/>
                        </a:rPr>
                        <a:t>31/10</a:t>
                      </a:r>
                      <a:r>
                        <a:rPr lang="en-US" sz="1100" b="0" i="0" u="none" strike="noStrike" cap="none">
                          <a:solidFill>
                            <a:srgbClr val="000000"/>
                          </a:solidFill>
                          <a:effectLst/>
                          <a:latin typeface="Arial"/>
                          <a:cs typeface="Arial"/>
                          <a:sym typeface="Arial"/>
                        </a:rPr>
                        <a:t> </a:t>
                      </a:r>
                      <a:r>
                        <a:rPr lang="vi-VN" sz="1100" b="0" i="0" u="none" strike="noStrike" cap="none">
                          <a:solidFill>
                            <a:srgbClr val="000000"/>
                          </a:solidFill>
                          <a:effectLst/>
                          <a:latin typeface="Arial"/>
                          <a:cs typeface="Arial"/>
                          <a:sym typeface="Arial"/>
                        </a:rPr>
                        <a:t> lắp đặt hệ nạp hạt hút hạt SSP </a:t>
                      </a:r>
                      <a:r>
                        <a:rPr lang="en-US" sz="1100" b="0" i="0" u="none" strike="noStrike" cap="none">
                          <a:solidFill>
                            <a:srgbClr val="000000"/>
                          </a:solidFill>
                          <a:effectLst/>
                          <a:latin typeface="Arial"/>
                          <a:cs typeface="Arial"/>
                          <a:sym typeface="Arial"/>
                        </a:rPr>
                        <a:t> và s</a:t>
                      </a:r>
                      <a:r>
                        <a:rPr lang="vi-VN" sz="1100" b="0" i="0" u="none" strike="noStrike" cap="none">
                          <a:solidFill>
                            <a:srgbClr val="000000"/>
                          </a:solidFill>
                          <a:effectLst/>
                          <a:latin typeface="Arial"/>
                          <a:cs typeface="Arial"/>
                          <a:sym typeface="Arial"/>
                        </a:rPr>
                        <a:t>àn rung </a:t>
                      </a:r>
                    </a:p>
                    <a:p>
                      <a:pPr marR="0" algn="l" rtl="0">
                        <a:lnSpc>
                          <a:spcPct val="100000"/>
                        </a:lnSpc>
                        <a:spcBef>
                          <a:spcPts val="0"/>
                        </a:spcBef>
                        <a:spcAft>
                          <a:spcPts val="0"/>
                        </a:spcAft>
                        <a:buClr>
                          <a:srgbClr val="000000"/>
                        </a:buClr>
                        <a:buFont typeface="Arial"/>
                      </a:pPr>
                      <a:r>
                        <a:rPr lang="vi-VN" sz="1100" b="0" i="0" u="none" strike="noStrike" cap="none">
                          <a:solidFill>
                            <a:srgbClr val="000000"/>
                          </a:solidFill>
                          <a:effectLst/>
                          <a:latin typeface="Arial"/>
                          <a:cs typeface="Arial"/>
                          <a:sym typeface="Arial"/>
                        </a:rPr>
                        <a:t>       + Máy Star-03 ngưng</a:t>
                      </a:r>
                      <a:r>
                        <a:rPr lang="en-US" sz="1100" b="0" i="0" u="none" strike="noStrike" cap="none">
                          <a:solidFill>
                            <a:srgbClr val="000000"/>
                          </a:solidFill>
                          <a:effectLst/>
                          <a:latin typeface="Arial"/>
                          <a:cs typeface="Arial"/>
                          <a:sym typeface="Arial"/>
                        </a:rPr>
                        <a:t> từ </a:t>
                      </a:r>
                      <a:r>
                        <a:rPr lang="vi-VN" sz="1100" b="0" i="0" u="none" strike="noStrike" cap="none">
                          <a:solidFill>
                            <a:srgbClr val="000000"/>
                          </a:solidFill>
                          <a:effectLst/>
                          <a:latin typeface="Arial"/>
                          <a:cs typeface="Arial"/>
                          <a:sym typeface="Arial"/>
                        </a:rPr>
                        <a:t>20/10 đến 21/10 &amp; 29/10 đến</a:t>
                      </a:r>
                      <a:r>
                        <a:rPr lang="en-US" sz="1100" b="0" i="0" u="none" strike="noStrike" cap="none">
                          <a:solidFill>
                            <a:srgbClr val="000000"/>
                          </a:solidFill>
                          <a:effectLst/>
                          <a:latin typeface="Arial"/>
                          <a:cs typeface="Arial"/>
                          <a:sym typeface="Arial"/>
                        </a:rPr>
                        <a:t> </a:t>
                      </a:r>
                      <a:r>
                        <a:rPr lang="vi-VN" sz="1100" b="0" i="0" u="none" strike="noStrike" cap="none">
                          <a:solidFill>
                            <a:srgbClr val="000000"/>
                          </a:solidFill>
                          <a:effectLst/>
                          <a:latin typeface="Arial"/>
                          <a:cs typeface="Arial"/>
                          <a:sym typeface="Arial"/>
                        </a:rPr>
                        <a:t>31/10 lắp đặt hệ nạp hạt +</a:t>
                      </a:r>
                      <a:r>
                        <a:rPr lang="en-US" sz="1100" b="0" i="0" u="none" strike="noStrike" cap="none">
                          <a:solidFill>
                            <a:srgbClr val="000000"/>
                          </a:solidFill>
                          <a:effectLst/>
                          <a:latin typeface="Arial"/>
                          <a:cs typeface="Arial"/>
                          <a:sym typeface="Arial"/>
                        </a:rPr>
                        <a:t> </a:t>
                      </a:r>
                      <a:r>
                        <a:rPr lang="vi-VN" sz="1100" b="0" i="0" u="none" strike="noStrike" cap="none">
                          <a:solidFill>
                            <a:srgbClr val="000000"/>
                          </a:solidFill>
                          <a:effectLst/>
                          <a:latin typeface="Arial"/>
                          <a:cs typeface="Arial"/>
                          <a:sym typeface="Arial"/>
                        </a:rPr>
                        <a:t>Radar sensor</a:t>
                      </a:r>
                    </a:p>
                    <a:p>
                      <a:pPr marR="0" algn="l" rtl="0">
                        <a:lnSpc>
                          <a:spcPct val="100000"/>
                        </a:lnSpc>
                        <a:spcBef>
                          <a:spcPts val="0"/>
                        </a:spcBef>
                        <a:spcAft>
                          <a:spcPts val="0"/>
                        </a:spcAft>
                        <a:buClr>
                          <a:srgbClr val="000000"/>
                        </a:buClr>
                        <a:buFont typeface="Arial"/>
                      </a:pPr>
                      <a:r>
                        <a:rPr lang="vi-VN" sz="1100" b="0" i="0" u="none" strike="noStrike" cap="none">
                          <a:solidFill>
                            <a:srgbClr val="000000"/>
                          </a:solidFill>
                          <a:effectLst/>
                          <a:latin typeface="Arial"/>
                          <a:cs typeface="Arial"/>
                          <a:sym typeface="Arial"/>
                        </a:rPr>
                        <a:t>3.  Sự cố dừng ngắn nhiều lần do lỗi li tâm</a:t>
                      </a:r>
                      <a:r>
                        <a:rPr lang="en-US" sz="1100" b="0" i="0" u="none" strike="noStrike" cap="none">
                          <a:solidFill>
                            <a:srgbClr val="000000"/>
                          </a:solidFill>
                          <a:effectLst/>
                          <a:latin typeface="Arial"/>
                          <a:cs typeface="Arial"/>
                          <a:sym typeface="Arial"/>
                        </a:rPr>
                        <a:t> và lỗi</a:t>
                      </a:r>
                      <a:r>
                        <a:rPr lang="vi-VN" sz="1100" b="0" i="0" u="none" strike="noStrike" cap="none">
                          <a:solidFill>
                            <a:srgbClr val="000000"/>
                          </a:solidFill>
                          <a:effectLst/>
                          <a:latin typeface="Arial"/>
                          <a:cs typeface="Arial"/>
                          <a:sym typeface="Arial"/>
                        </a:rPr>
                        <a:t> trục vít ngang trên máy Star-03</a:t>
                      </a:r>
                    </a:p>
                  </a:txBody>
                  <a:tcPr/>
                </a:tc>
                <a:extLst>
                  <a:ext uri="{0D108BD9-81ED-4DB2-BD59-A6C34878D82A}">
                    <a16:rowId xmlns:a16="http://schemas.microsoft.com/office/drawing/2014/main" val="2801659027"/>
                  </a:ext>
                </a:extLst>
              </a:tr>
              <a:tr h="2107057">
                <a:tc>
                  <a:txBody>
                    <a:bodyPr/>
                    <a:lstStyle/>
                    <a:p>
                      <a:endParaRPr lang="en-US"/>
                    </a:p>
                  </a:txBody>
                  <a:tcPr/>
                </a:tc>
                <a:tc vMerge="1">
                  <a:txBody>
                    <a:bodyPr/>
                    <a:lstStyle/>
                    <a:p>
                      <a:endParaRPr lang="en-US"/>
                    </a:p>
                  </a:txBody>
                  <a:tcPr/>
                </a:tc>
                <a:extLst>
                  <a:ext uri="{0D108BD9-81ED-4DB2-BD59-A6C34878D82A}">
                    <a16:rowId xmlns:a16="http://schemas.microsoft.com/office/drawing/2014/main" val="3019797017"/>
                  </a:ext>
                </a:extLst>
              </a:tr>
            </a:tbl>
          </a:graphicData>
        </a:graphic>
      </p:graphicFrame>
      <p:sp>
        <p:nvSpPr>
          <p:cNvPr id="2" name="Title 1">
            <a:extLst>
              <a:ext uri="{FF2B5EF4-FFF2-40B4-BE49-F238E27FC236}">
                <a16:creationId xmlns:a16="http://schemas.microsoft.com/office/drawing/2014/main" id="{0FDB7D6E-C1EA-A97B-EC72-87CEB4FB4FD9}"/>
              </a:ext>
            </a:extLst>
          </p:cNvPr>
          <p:cNvSpPr>
            <a:spLocks noGrp="1"/>
          </p:cNvSpPr>
          <p:nvPr>
            <p:ph type="title"/>
          </p:nvPr>
        </p:nvSpPr>
        <p:spPr>
          <a:xfrm>
            <a:off x="405119" y="15534"/>
            <a:ext cx="8460000" cy="572700"/>
          </a:xfrm>
        </p:spPr>
        <p:txBody>
          <a:bodyPr/>
          <a:lstStyle/>
          <a:p>
            <a:pPr algn="ctr"/>
            <a:r>
              <a:rPr lang="en-US" sz="2200" b="1" dirty="0">
                <a:solidFill>
                  <a:srgbClr val="00B050"/>
                </a:solidFill>
                <a:latin typeface="+mn-lt"/>
              </a:rPr>
              <a:t>2.12.</a:t>
            </a:r>
            <a:r>
              <a:rPr lang="en-US" sz="2200" b="1" dirty="0">
                <a:solidFill>
                  <a:schemeClr val="tx1">
                    <a:lumMod val="65000"/>
                    <a:lumOff val="35000"/>
                  </a:schemeClr>
                </a:solidFill>
                <a:latin typeface="+mn-lt"/>
              </a:rPr>
              <a:t> </a:t>
            </a:r>
            <a:r>
              <a:rPr lang="en-US" sz="2200" b="1" dirty="0">
                <a:solidFill>
                  <a:srgbClr val="00B050"/>
                </a:solidFill>
                <a:latin typeface="+mn-lt"/>
              </a:rPr>
              <a:t>GIẢI TRÌNH </a:t>
            </a:r>
            <a:r>
              <a:rPr lang="en-US" sz="2200" b="1" dirty="0">
                <a:solidFill>
                  <a:schemeClr val="tx1">
                    <a:lumMod val="65000"/>
                    <a:lumOff val="35000"/>
                  </a:schemeClr>
                </a:solidFill>
                <a:latin typeface="+mn-lt"/>
              </a:rPr>
              <a:t>HIỆU SUẤT MÁY TẠO HẠT – </a:t>
            </a:r>
            <a:r>
              <a:rPr lang="en-US" sz="2200" b="1" dirty="0">
                <a:solidFill>
                  <a:srgbClr val="C00000"/>
                </a:solidFill>
                <a:latin typeface="+mn-lt"/>
              </a:rPr>
              <a:t>Đạt 62%</a:t>
            </a:r>
          </a:p>
        </p:txBody>
      </p:sp>
      <p:sp>
        <p:nvSpPr>
          <p:cNvPr id="9" name="Rectangle 8">
            <a:extLst>
              <a:ext uri="{FF2B5EF4-FFF2-40B4-BE49-F238E27FC236}">
                <a16:creationId xmlns:a16="http://schemas.microsoft.com/office/drawing/2014/main" id="{32B338D8-415C-F60C-3FD9-7DF605F7D8F1}"/>
              </a:ext>
            </a:extLst>
          </p:cNvPr>
          <p:cNvSpPr/>
          <p:nvPr/>
        </p:nvSpPr>
        <p:spPr>
          <a:xfrm>
            <a:off x="8581292" y="4944794"/>
            <a:ext cx="562708" cy="183172"/>
          </a:xfrm>
          <a:prstGeom prst="rect">
            <a:avLst/>
          </a:prstGeom>
          <a:solidFill>
            <a:srgbClr val="1193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graph&#10;&#10;AI-generated content may be incorrect.">
            <a:extLst>
              <a:ext uri="{FF2B5EF4-FFF2-40B4-BE49-F238E27FC236}">
                <a16:creationId xmlns:a16="http://schemas.microsoft.com/office/drawing/2014/main" id="{87331EA1-E9DF-EB82-B0F7-E429EB6C758B}"/>
              </a:ext>
            </a:extLst>
          </p:cNvPr>
          <p:cNvPicPr>
            <a:picLocks noChangeAspect="1"/>
          </p:cNvPicPr>
          <p:nvPr/>
        </p:nvPicPr>
        <p:blipFill>
          <a:blip r:embed="rId2"/>
          <a:stretch>
            <a:fillRect/>
          </a:stretch>
        </p:blipFill>
        <p:spPr>
          <a:xfrm>
            <a:off x="91607" y="538881"/>
            <a:ext cx="6532394" cy="4157347"/>
          </a:xfrm>
          <a:prstGeom prst="rect">
            <a:avLst/>
          </a:prstGeom>
        </p:spPr>
      </p:pic>
    </p:spTree>
    <p:extLst>
      <p:ext uri="{BB962C8B-B14F-4D97-AF65-F5344CB8AC3E}">
        <p14:creationId xmlns:p14="http://schemas.microsoft.com/office/powerpoint/2010/main" val="2197369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735FA-85C3-6AF4-3CDA-F14E3862F4C5}"/>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2C9B6104-000E-0231-8B89-91EC0ACC7B6B}"/>
              </a:ext>
            </a:extLst>
          </p:cNvPr>
          <p:cNvGraphicFramePr>
            <a:graphicFrameLocks noGrp="1"/>
          </p:cNvGraphicFramePr>
          <p:nvPr/>
        </p:nvGraphicFramePr>
        <p:xfrm>
          <a:off x="77372" y="517281"/>
          <a:ext cx="8982222" cy="4214114"/>
        </p:xfrm>
        <a:graphic>
          <a:graphicData uri="http://schemas.openxmlformats.org/drawingml/2006/table">
            <a:tbl>
              <a:tblPr firstRow="1" bandRow="1">
                <a:tableStyleId>{6A077030-E235-474E-B3E8-3EB61F41259E}</a:tableStyleId>
              </a:tblPr>
              <a:tblGrid>
                <a:gridCol w="6564749">
                  <a:extLst>
                    <a:ext uri="{9D8B030D-6E8A-4147-A177-3AD203B41FA5}">
                      <a16:colId xmlns:a16="http://schemas.microsoft.com/office/drawing/2014/main" val="569245144"/>
                    </a:ext>
                  </a:extLst>
                </a:gridCol>
                <a:gridCol w="2417473">
                  <a:extLst>
                    <a:ext uri="{9D8B030D-6E8A-4147-A177-3AD203B41FA5}">
                      <a16:colId xmlns:a16="http://schemas.microsoft.com/office/drawing/2014/main" val="653644736"/>
                    </a:ext>
                  </a:extLst>
                </a:gridCol>
              </a:tblGrid>
              <a:tr h="2107057">
                <a:tc>
                  <a:txBody>
                    <a:bodyPr/>
                    <a:lstStyle/>
                    <a:p>
                      <a:pPr algn="ctr"/>
                      <a:endParaRPr lang="en-US"/>
                    </a:p>
                  </a:txBody>
                  <a:tcPr/>
                </a:tc>
                <a:tc rowSpan="2">
                  <a:txBody>
                    <a:bodyPr/>
                    <a:lstStyle/>
                    <a:p>
                      <a:pPr algn="just"/>
                      <a:r>
                        <a:rPr lang="en-US" u="sng"/>
                        <a:t>NGUYÊN NHÂN GỐC RỄ</a:t>
                      </a:r>
                    </a:p>
                    <a:p>
                      <a:pPr marL="0" indent="0" algn="just">
                        <a:lnSpc>
                          <a:spcPct val="150000"/>
                        </a:lnSpc>
                        <a:buFont typeface="+mj-lt"/>
                        <a:buNone/>
                      </a:pPr>
                      <a:endParaRPr lang="en-US" sz="1400" u="none"/>
                    </a:p>
                    <a:p>
                      <a:pPr marL="0" indent="0" algn="just">
                        <a:lnSpc>
                          <a:spcPct val="150000"/>
                        </a:lnSpc>
                        <a:buFont typeface="+mj-lt"/>
                        <a:buNone/>
                      </a:pPr>
                      <a:r>
                        <a:rPr lang="vi-VN" sz="1200" u="none"/>
                        <a:t>Ứng phó theo tình hình bán hàng, thực hiện mua theo nhu cầu S&amp;OP kết hợp giảm giá để điều tiết giá thị trường</a:t>
                      </a:r>
                      <a:r>
                        <a:rPr lang="en-US" sz="1200" u="none"/>
                        <a:t>.</a:t>
                      </a:r>
                    </a:p>
                    <a:p>
                      <a:pPr marL="0" indent="0" algn="just">
                        <a:lnSpc>
                          <a:spcPct val="150000"/>
                        </a:lnSpc>
                        <a:buFont typeface="+mj-lt"/>
                        <a:buNone/>
                      </a:pPr>
                      <a:r>
                        <a:rPr lang="en-US" sz="1200" u="none"/>
                        <a:t>Vẫn duy trì mức giá </a:t>
                      </a:r>
                    </a:p>
                    <a:p>
                      <a:pPr marL="0" indent="0" algn="just">
                        <a:lnSpc>
                          <a:spcPct val="150000"/>
                        </a:lnSpc>
                        <a:buFont typeface="+mj-lt"/>
                        <a:buNone/>
                      </a:pPr>
                      <a:r>
                        <a:rPr lang="en-US" sz="1200" u="none"/>
                        <a:t>Chai B0: </a:t>
                      </a:r>
                    </a:p>
                    <a:p>
                      <a:pPr marL="285750" indent="-285750" algn="just">
                        <a:lnSpc>
                          <a:spcPct val="150000"/>
                        </a:lnSpc>
                        <a:buFontTx/>
                        <a:buChar char="-"/>
                      </a:pPr>
                      <a:r>
                        <a:rPr lang="en-US" sz="1200" u="none"/>
                        <a:t>Trung bình 9.600đ/kg </a:t>
                      </a:r>
                    </a:p>
                    <a:p>
                      <a:pPr marL="285750" indent="-285750" algn="just">
                        <a:lnSpc>
                          <a:spcPct val="150000"/>
                        </a:lnSpc>
                        <a:buFontTx/>
                        <a:buChar char="-"/>
                      </a:pPr>
                      <a:r>
                        <a:rPr lang="en-US" sz="1200" u="none"/>
                        <a:t>Cao nhất 10.000 đ/kg </a:t>
                      </a:r>
                    </a:p>
                    <a:p>
                      <a:pPr marL="0" indent="0" algn="just">
                        <a:lnSpc>
                          <a:spcPct val="150000"/>
                        </a:lnSpc>
                        <a:buFontTx/>
                        <a:buNone/>
                      </a:pPr>
                      <a:r>
                        <a:rPr lang="en-US" sz="1200" u="none"/>
                        <a:t>Vảy </a:t>
                      </a:r>
                    </a:p>
                    <a:p>
                      <a:pPr marL="285750" indent="-285750" algn="just">
                        <a:lnSpc>
                          <a:spcPct val="150000"/>
                        </a:lnSpc>
                        <a:buFontTx/>
                        <a:buChar char="-"/>
                      </a:pPr>
                      <a:r>
                        <a:rPr lang="en-US" sz="1200" u="none"/>
                        <a:t>Trung bình: 15.800 đ/kg </a:t>
                      </a:r>
                    </a:p>
                    <a:p>
                      <a:pPr marL="285750" indent="-285750" algn="just">
                        <a:lnSpc>
                          <a:spcPct val="150000"/>
                        </a:lnSpc>
                        <a:buFontTx/>
                        <a:buChar char="-"/>
                      </a:pPr>
                      <a:r>
                        <a:rPr lang="en-US" sz="1200" u="none"/>
                        <a:t>Cao nhất 16.300 đ/kg</a:t>
                      </a:r>
                    </a:p>
                  </a:txBody>
                  <a:tcPr/>
                </a:tc>
                <a:extLst>
                  <a:ext uri="{0D108BD9-81ED-4DB2-BD59-A6C34878D82A}">
                    <a16:rowId xmlns:a16="http://schemas.microsoft.com/office/drawing/2014/main" val="2801659027"/>
                  </a:ext>
                </a:extLst>
              </a:tr>
              <a:tr h="2107057">
                <a:tc>
                  <a:txBody>
                    <a:bodyPr/>
                    <a:lstStyle/>
                    <a:p>
                      <a:endParaRPr lang="en-US"/>
                    </a:p>
                  </a:txBody>
                  <a:tcPr/>
                </a:tc>
                <a:tc vMerge="1">
                  <a:txBody>
                    <a:bodyPr/>
                    <a:lstStyle/>
                    <a:p>
                      <a:endParaRPr lang="en-US"/>
                    </a:p>
                  </a:txBody>
                  <a:tcPr/>
                </a:tc>
                <a:extLst>
                  <a:ext uri="{0D108BD9-81ED-4DB2-BD59-A6C34878D82A}">
                    <a16:rowId xmlns:a16="http://schemas.microsoft.com/office/drawing/2014/main" val="3019797017"/>
                  </a:ext>
                </a:extLst>
              </a:tr>
            </a:tbl>
          </a:graphicData>
        </a:graphic>
      </p:graphicFrame>
      <p:sp>
        <p:nvSpPr>
          <p:cNvPr id="2" name="Title 1">
            <a:extLst>
              <a:ext uri="{FF2B5EF4-FFF2-40B4-BE49-F238E27FC236}">
                <a16:creationId xmlns:a16="http://schemas.microsoft.com/office/drawing/2014/main" id="{9B7ABAC0-8165-2352-5038-149CD6A20938}"/>
              </a:ext>
            </a:extLst>
          </p:cNvPr>
          <p:cNvSpPr>
            <a:spLocks noGrp="1"/>
          </p:cNvSpPr>
          <p:nvPr>
            <p:ph type="title"/>
          </p:nvPr>
        </p:nvSpPr>
        <p:spPr>
          <a:xfrm>
            <a:off x="405119" y="15534"/>
            <a:ext cx="8460000" cy="572700"/>
          </a:xfrm>
        </p:spPr>
        <p:txBody>
          <a:bodyPr/>
          <a:lstStyle/>
          <a:p>
            <a:pPr algn="ctr"/>
            <a:r>
              <a:rPr lang="en-US" sz="2200" b="1" dirty="0">
                <a:solidFill>
                  <a:srgbClr val="00B050"/>
                </a:solidFill>
                <a:latin typeface="+mn-lt"/>
              </a:rPr>
              <a:t>2.13 GIẢI TRÌNH </a:t>
            </a:r>
            <a:r>
              <a:rPr lang="en-US" sz="2200" b="1" dirty="0">
                <a:solidFill>
                  <a:schemeClr val="tx1">
                    <a:lumMod val="65000"/>
                    <a:lumOff val="35000"/>
                  </a:schemeClr>
                </a:solidFill>
                <a:latin typeface="+mn-lt"/>
              </a:rPr>
              <a:t>SẢN LƯỢNG MUA – </a:t>
            </a:r>
            <a:r>
              <a:rPr lang="en-US" sz="2200" b="1" dirty="0">
                <a:solidFill>
                  <a:srgbClr val="C00000"/>
                </a:solidFill>
                <a:latin typeface="+mn-lt"/>
              </a:rPr>
              <a:t>Đạt 60%</a:t>
            </a:r>
          </a:p>
        </p:txBody>
      </p:sp>
      <p:sp>
        <p:nvSpPr>
          <p:cNvPr id="3" name="Rectangle 2">
            <a:extLst>
              <a:ext uri="{FF2B5EF4-FFF2-40B4-BE49-F238E27FC236}">
                <a16:creationId xmlns:a16="http://schemas.microsoft.com/office/drawing/2014/main" id="{97FF2636-87D7-6AA3-E65C-5CB3D6A67750}"/>
              </a:ext>
            </a:extLst>
          </p:cNvPr>
          <p:cNvSpPr/>
          <p:nvPr/>
        </p:nvSpPr>
        <p:spPr>
          <a:xfrm>
            <a:off x="8581292" y="4944794"/>
            <a:ext cx="562708" cy="183172"/>
          </a:xfrm>
          <a:prstGeom prst="rect">
            <a:avLst/>
          </a:prstGeom>
          <a:solidFill>
            <a:srgbClr val="1193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shot of a graph&#10;&#10;AI-generated content may be incorrect.">
            <a:extLst>
              <a:ext uri="{FF2B5EF4-FFF2-40B4-BE49-F238E27FC236}">
                <a16:creationId xmlns:a16="http://schemas.microsoft.com/office/drawing/2014/main" id="{61901160-4ED7-1CF6-185C-7420690410A0}"/>
              </a:ext>
            </a:extLst>
          </p:cNvPr>
          <p:cNvPicPr>
            <a:picLocks noChangeAspect="1"/>
          </p:cNvPicPr>
          <p:nvPr/>
        </p:nvPicPr>
        <p:blipFill>
          <a:blip r:embed="rId2"/>
          <a:stretch>
            <a:fillRect/>
          </a:stretch>
        </p:blipFill>
        <p:spPr>
          <a:xfrm>
            <a:off x="91772" y="546081"/>
            <a:ext cx="6539428" cy="4140954"/>
          </a:xfrm>
          <a:prstGeom prst="rect">
            <a:avLst/>
          </a:prstGeom>
        </p:spPr>
      </p:pic>
    </p:spTree>
    <p:extLst>
      <p:ext uri="{BB962C8B-B14F-4D97-AF65-F5344CB8AC3E}">
        <p14:creationId xmlns:p14="http://schemas.microsoft.com/office/powerpoint/2010/main" val="11213025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B6FAC-1F56-D86C-172B-14C75A2ADAA7}"/>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AD65CEFF-EC41-A226-7607-B551F4DCD2E1}"/>
              </a:ext>
            </a:extLst>
          </p:cNvPr>
          <p:cNvSpPr/>
          <p:nvPr/>
        </p:nvSpPr>
        <p:spPr>
          <a:xfrm>
            <a:off x="0" y="4490571"/>
            <a:ext cx="9144000" cy="403150"/>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 </a:t>
            </a:r>
            <a:r>
              <a:rPr lang="en-US" sz="1000" b="1" err="1">
                <a:solidFill>
                  <a:schemeClr val="tx1"/>
                </a:solidFill>
              </a:rPr>
              <a:t>Giá</a:t>
            </a:r>
            <a:r>
              <a:rPr lang="en-US" sz="1000" b="1">
                <a:solidFill>
                  <a:schemeClr val="tx1"/>
                </a:solidFill>
              </a:rPr>
              <a:t> </a:t>
            </a:r>
            <a:r>
              <a:rPr lang="en-US" sz="1000" b="1" err="1">
                <a:solidFill>
                  <a:schemeClr val="tx1"/>
                </a:solidFill>
              </a:rPr>
              <a:t>mua</a:t>
            </a:r>
            <a:r>
              <a:rPr lang="en-US" sz="1000" b="1">
                <a:solidFill>
                  <a:schemeClr val="tx1"/>
                </a:solidFill>
              </a:rPr>
              <a:t> chai B1 </a:t>
            </a:r>
            <a:r>
              <a:rPr lang="en-US" sz="1000" b="1" err="1">
                <a:solidFill>
                  <a:schemeClr val="tx1"/>
                </a:solidFill>
              </a:rPr>
              <a:t>tăng</a:t>
            </a:r>
            <a:r>
              <a:rPr lang="en-US" sz="1000">
                <a:solidFill>
                  <a:schemeClr val="tx1"/>
                </a:solidFill>
              </a:rPr>
              <a:t> </a:t>
            </a:r>
            <a:r>
              <a:rPr lang="en-US" sz="1000" err="1">
                <a:solidFill>
                  <a:schemeClr val="tx1"/>
                </a:solidFill>
              </a:rPr>
              <a:t>từ</a:t>
            </a:r>
            <a:r>
              <a:rPr lang="en-US" sz="1000">
                <a:solidFill>
                  <a:schemeClr val="tx1"/>
                </a:solidFill>
              </a:rPr>
              <a:t> </a:t>
            </a:r>
            <a:r>
              <a:rPr lang="en-US" sz="1000" err="1">
                <a:solidFill>
                  <a:schemeClr val="tx1"/>
                </a:solidFill>
              </a:rPr>
              <a:t>đầu</a:t>
            </a:r>
            <a:r>
              <a:rPr lang="en-US" sz="1000">
                <a:solidFill>
                  <a:schemeClr val="tx1"/>
                </a:solidFill>
              </a:rPr>
              <a:t> </a:t>
            </a:r>
            <a:r>
              <a:rPr lang="en-US" sz="1000" err="1">
                <a:solidFill>
                  <a:schemeClr val="tx1"/>
                </a:solidFill>
              </a:rPr>
              <a:t>năm</a:t>
            </a:r>
            <a:r>
              <a:rPr lang="en-US" sz="1000">
                <a:solidFill>
                  <a:schemeClr val="tx1"/>
                </a:solidFill>
              </a:rPr>
              <a:t> nhưng </a:t>
            </a:r>
            <a:r>
              <a:rPr lang="en-US" sz="1000" err="1">
                <a:solidFill>
                  <a:schemeClr val="tx1"/>
                </a:solidFill>
              </a:rPr>
              <a:t>đã</a:t>
            </a:r>
            <a:r>
              <a:rPr lang="en-US" sz="1000">
                <a:solidFill>
                  <a:schemeClr val="tx1"/>
                </a:solidFill>
              </a:rPr>
              <a:t> </a:t>
            </a:r>
            <a:r>
              <a:rPr lang="en-US" sz="1000" b="1" err="1">
                <a:solidFill>
                  <a:schemeClr val="tx1"/>
                </a:solidFill>
              </a:rPr>
              <a:t>giảm</a:t>
            </a:r>
            <a:r>
              <a:rPr lang="en-US" sz="1000">
                <a:solidFill>
                  <a:schemeClr val="tx1"/>
                </a:solidFill>
              </a:rPr>
              <a:t> </a:t>
            </a:r>
            <a:r>
              <a:rPr lang="en-US" sz="1000" err="1">
                <a:solidFill>
                  <a:schemeClr val="tx1"/>
                </a:solidFill>
              </a:rPr>
              <a:t>lại</a:t>
            </a:r>
            <a:r>
              <a:rPr lang="en-US" sz="1000">
                <a:solidFill>
                  <a:schemeClr val="tx1"/>
                </a:solidFill>
              </a:rPr>
              <a:t> từ T08, </a:t>
            </a:r>
            <a:r>
              <a:rPr lang="en-US" sz="1000" b="1" err="1">
                <a:solidFill>
                  <a:schemeClr val="tx1"/>
                </a:solidFill>
              </a:rPr>
              <a:t>trung</a:t>
            </a:r>
            <a:r>
              <a:rPr lang="en-US" sz="1000" b="1">
                <a:solidFill>
                  <a:schemeClr val="tx1"/>
                </a:solidFill>
              </a:rPr>
              <a:t> </a:t>
            </a:r>
            <a:r>
              <a:rPr lang="en-US" sz="1000" b="1" err="1">
                <a:solidFill>
                  <a:schemeClr val="tx1"/>
                </a:solidFill>
              </a:rPr>
              <a:t>bình</a:t>
            </a:r>
            <a:r>
              <a:rPr lang="en-US" sz="1000" b="1">
                <a:solidFill>
                  <a:schemeClr val="tx1"/>
                </a:solidFill>
              </a:rPr>
              <a:t> T11</a:t>
            </a:r>
            <a:r>
              <a:rPr lang="en-US" sz="1000">
                <a:solidFill>
                  <a:schemeClr val="tx1"/>
                </a:solidFill>
              </a:rPr>
              <a:t>: </a:t>
            </a:r>
            <a:r>
              <a:rPr lang="en-US" sz="1000" b="1">
                <a:solidFill>
                  <a:schemeClr val="tx1"/>
                </a:solidFill>
              </a:rPr>
              <a:t>14,872 đ/kg </a:t>
            </a:r>
            <a:r>
              <a:rPr lang="en-US" sz="1000">
                <a:solidFill>
                  <a:schemeClr val="tx1"/>
                </a:solidFill>
              </a:rPr>
              <a:t>(KH </a:t>
            </a:r>
            <a:r>
              <a:rPr lang="en-US" sz="1000" err="1">
                <a:solidFill>
                  <a:schemeClr val="tx1"/>
                </a:solidFill>
              </a:rPr>
              <a:t>là</a:t>
            </a:r>
            <a:r>
              <a:rPr lang="en-US" sz="1000">
                <a:solidFill>
                  <a:schemeClr val="tx1"/>
                </a:solidFill>
              </a:rPr>
              <a:t> 17,400 đ/kg ~ </a:t>
            </a:r>
            <a:r>
              <a:rPr lang="en-US" sz="1000" i="1">
                <a:solidFill>
                  <a:schemeClr val="tx1"/>
                </a:solidFill>
              </a:rPr>
              <a:t>-2,528 đ/kg; -14.5%</a:t>
            </a:r>
            <a:r>
              <a:rPr lang="en-US" sz="1000">
                <a:solidFill>
                  <a:schemeClr val="tx1"/>
                </a:solidFill>
              </a:rPr>
              <a:t>). </a:t>
            </a:r>
          </a:p>
          <a:p>
            <a:r>
              <a:rPr lang="en-US" sz="1000">
                <a:solidFill>
                  <a:schemeClr val="tx1"/>
                </a:solidFill>
              </a:rPr>
              <a:t>- </a:t>
            </a:r>
            <a:r>
              <a:rPr lang="en-US" sz="1000" b="1" err="1">
                <a:solidFill>
                  <a:schemeClr val="tx1"/>
                </a:solidFill>
              </a:rPr>
              <a:t>Lũy</a:t>
            </a:r>
            <a:r>
              <a:rPr lang="en-US" sz="1000" b="1">
                <a:solidFill>
                  <a:schemeClr val="tx1"/>
                </a:solidFill>
              </a:rPr>
              <a:t> </a:t>
            </a:r>
            <a:r>
              <a:rPr lang="en-US" sz="1000" b="1" err="1">
                <a:solidFill>
                  <a:schemeClr val="tx1"/>
                </a:solidFill>
              </a:rPr>
              <a:t>kế</a:t>
            </a:r>
            <a:r>
              <a:rPr lang="en-US" sz="1000" b="1">
                <a:solidFill>
                  <a:schemeClr val="tx1"/>
                </a:solidFill>
              </a:rPr>
              <a:t> </a:t>
            </a:r>
            <a:r>
              <a:rPr lang="en-US" sz="1000" b="1" err="1">
                <a:solidFill>
                  <a:schemeClr val="tx1"/>
                </a:solidFill>
              </a:rPr>
              <a:t>từ</a:t>
            </a:r>
            <a:r>
              <a:rPr lang="en-US" sz="1000" b="1">
                <a:solidFill>
                  <a:schemeClr val="tx1"/>
                </a:solidFill>
              </a:rPr>
              <a:t> </a:t>
            </a:r>
            <a:r>
              <a:rPr lang="en-US" sz="1000" b="1" err="1">
                <a:solidFill>
                  <a:schemeClr val="tx1"/>
                </a:solidFill>
              </a:rPr>
              <a:t>đầu</a:t>
            </a:r>
            <a:r>
              <a:rPr lang="en-US" sz="1000" b="1">
                <a:solidFill>
                  <a:schemeClr val="tx1"/>
                </a:solidFill>
              </a:rPr>
              <a:t> </a:t>
            </a:r>
            <a:r>
              <a:rPr lang="en-US" sz="1000" b="1" err="1">
                <a:solidFill>
                  <a:schemeClr val="tx1"/>
                </a:solidFill>
              </a:rPr>
              <a:t>năm</a:t>
            </a:r>
            <a:r>
              <a:rPr lang="en-US" sz="1000" b="1">
                <a:solidFill>
                  <a:schemeClr val="tx1"/>
                </a:solidFill>
              </a:rPr>
              <a:t> </a:t>
            </a:r>
            <a:r>
              <a:rPr lang="en-US" sz="1000" b="1" err="1">
                <a:solidFill>
                  <a:schemeClr val="tx1"/>
                </a:solidFill>
              </a:rPr>
              <a:t>đến</a:t>
            </a:r>
            <a:r>
              <a:rPr lang="en-US" sz="1000" b="1">
                <a:solidFill>
                  <a:schemeClr val="tx1"/>
                </a:solidFill>
              </a:rPr>
              <a:t> T11, </a:t>
            </a:r>
            <a:r>
              <a:rPr lang="en-US" sz="1000" err="1">
                <a:solidFill>
                  <a:schemeClr val="tx1"/>
                </a:solidFill>
              </a:rPr>
              <a:t>giá</a:t>
            </a:r>
            <a:r>
              <a:rPr lang="en-US" sz="1000">
                <a:solidFill>
                  <a:schemeClr val="tx1"/>
                </a:solidFill>
              </a:rPr>
              <a:t> </a:t>
            </a:r>
            <a:r>
              <a:rPr lang="en-US" sz="1000" err="1">
                <a:solidFill>
                  <a:schemeClr val="tx1"/>
                </a:solidFill>
              </a:rPr>
              <a:t>mua</a:t>
            </a:r>
            <a:r>
              <a:rPr lang="en-US" sz="1000">
                <a:solidFill>
                  <a:schemeClr val="tx1"/>
                </a:solidFill>
              </a:rPr>
              <a:t> B1 </a:t>
            </a:r>
            <a:r>
              <a:rPr lang="en-US" sz="1000" err="1">
                <a:solidFill>
                  <a:schemeClr val="tx1"/>
                </a:solidFill>
              </a:rPr>
              <a:t>trung</a:t>
            </a:r>
            <a:r>
              <a:rPr lang="en-US" sz="1000">
                <a:solidFill>
                  <a:schemeClr val="tx1"/>
                </a:solidFill>
              </a:rPr>
              <a:t> </a:t>
            </a:r>
            <a:r>
              <a:rPr lang="en-US" sz="1000" err="1">
                <a:solidFill>
                  <a:schemeClr val="tx1"/>
                </a:solidFill>
              </a:rPr>
              <a:t>bình</a:t>
            </a:r>
            <a:r>
              <a:rPr lang="en-US" sz="1000">
                <a:solidFill>
                  <a:schemeClr val="tx1"/>
                </a:solidFill>
              </a:rPr>
              <a:t> </a:t>
            </a:r>
            <a:r>
              <a:rPr lang="en-US" sz="1000" err="1">
                <a:solidFill>
                  <a:schemeClr val="tx1"/>
                </a:solidFill>
              </a:rPr>
              <a:t>là</a:t>
            </a:r>
            <a:r>
              <a:rPr lang="en-US" sz="1000">
                <a:solidFill>
                  <a:schemeClr val="tx1"/>
                </a:solidFill>
              </a:rPr>
              <a:t> </a:t>
            </a:r>
            <a:r>
              <a:rPr lang="en-US" sz="1000" b="1">
                <a:solidFill>
                  <a:schemeClr val="tx1"/>
                </a:solidFill>
              </a:rPr>
              <a:t>17,597 đ/kg </a:t>
            </a:r>
            <a:r>
              <a:rPr lang="en-US" sz="1000">
                <a:solidFill>
                  <a:schemeClr val="tx1"/>
                </a:solidFill>
              </a:rPr>
              <a:t>(KH </a:t>
            </a:r>
            <a:r>
              <a:rPr lang="en-US" sz="1000" err="1">
                <a:solidFill>
                  <a:schemeClr val="tx1"/>
                </a:solidFill>
              </a:rPr>
              <a:t>là</a:t>
            </a:r>
            <a:r>
              <a:rPr lang="en-US" sz="1000">
                <a:solidFill>
                  <a:schemeClr val="tx1"/>
                </a:solidFill>
              </a:rPr>
              <a:t> 17,213 đ/kg ~ </a:t>
            </a:r>
            <a:r>
              <a:rPr lang="en-US" sz="1000" i="1">
                <a:solidFill>
                  <a:schemeClr val="tx1"/>
                </a:solidFill>
              </a:rPr>
              <a:t>+384 đ/kg; +2.2%</a:t>
            </a:r>
            <a:r>
              <a:rPr lang="en-US" sz="1000">
                <a:solidFill>
                  <a:schemeClr val="tx1"/>
                </a:solidFill>
              </a:rPr>
              <a:t>)</a:t>
            </a:r>
          </a:p>
        </p:txBody>
      </p:sp>
      <p:sp>
        <p:nvSpPr>
          <p:cNvPr id="3" name="TextBox 2">
            <a:extLst>
              <a:ext uri="{FF2B5EF4-FFF2-40B4-BE49-F238E27FC236}">
                <a16:creationId xmlns:a16="http://schemas.microsoft.com/office/drawing/2014/main" id="{78E58BC5-3373-4576-436B-0280D68C57A8}"/>
              </a:ext>
            </a:extLst>
          </p:cNvPr>
          <p:cNvSpPr txBox="1"/>
          <p:nvPr/>
        </p:nvSpPr>
        <p:spPr>
          <a:xfrm>
            <a:off x="0" y="-20940"/>
            <a:ext cx="9144000" cy="307777"/>
          </a:xfrm>
          <a:prstGeom prst="rect">
            <a:avLst/>
          </a:prstGeom>
          <a:noFill/>
        </p:spPr>
        <p:txBody>
          <a:bodyPr wrap="square">
            <a:spAutoFit/>
          </a:bodyPr>
          <a:lstStyle/>
          <a:p>
            <a:r>
              <a:rPr lang="en-US" b="1" dirty="0">
                <a:solidFill>
                  <a:srgbClr val="119303"/>
                </a:solidFill>
              </a:rPr>
              <a:t>2.14</a:t>
            </a:r>
            <a:r>
              <a:rPr lang="en-US" sz="1400" b="1" dirty="0">
                <a:solidFill>
                  <a:srgbClr val="119303"/>
                </a:solidFill>
              </a:rPr>
              <a:t>. CHI PHÍ – </a:t>
            </a:r>
            <a:r>
              <a:rPr lang="en-US" sz="1400" b="1" dirty="0">
                <a:solidFill>
                  <a:schemeClr val="accent2">
                    <a:lumMod val="75000"/>
                  </a:schemeClr>
                </a:solidFill>
              </a:rPr>
              <a:t>GIÁ NGUYÊN VẬT LIỆU</a:t>
            </a:r>
            <a:endParaRPr lang="en-US" dirty="0"/>
          </a:p>
        </p:txBody>
      </p:sp>
      <p:sp>
        <p:nvSpPr>
          <p:cNvPr id="2" name="Rectangle 1">
            <a:extLst>
              <a:ext uri="{FF2B5EF4-FFF2-40B4-BE49-F238E27FC236}">
                <a16:creationId xmlns:a16="http://schemas.microsoft.com/office/drawing/2014/main" id="{F519E5DA-18D9-3147-64AD-EDD92E484021}"/>
              </a:ext>
            </a:extLst>
          </p:cNvPr>
          <p:cNvSpPr/>
          <p:nvPr/>
        </p:nvSpPr>
        <p:spPr>
          <a:xfrm>
            <a:off x="9208990" y="1152888"/>
            <a:ext cx="2592977" cy="6414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UPDATED: 16/12/25</a:t>
            </a:r>
          </a:p>
        </p:txBody>
      </p:sp>
      <p:pic>
        <p:nvPicPr>
          <p:cNvPr id="5" name="Picture 4">
            <a:extLst>
              <a:ext uri="{FF2B5EF4-FFF2-40B4-BE49-F238E27FC236}">
                <a16:creationId xmlns:a16="http://schemas.microsoft.com/office/drawing/2014/main" id="{00573F3E-9544-2CA5-C8E1-028CBFABBD44}"/>
              </a:ext>
            </a:extLst>
          </p:cNvPr>
          <p:cNvPicPr>
            <a:picLocks noChangeAspect="1"/>
          </p:cNvPicPr>
          <p:nvPr/>
        </p:nvPicPr>
        <p:blipFill>
          <a:blip r:embed="rId3"/>
          <a:stretch>
            <a:fillRect/>
          </a:stretch>
        </p:blipFill>
        <p:spPr>
          <a:xfrm>
            <a:off x="0" y="256778"/>
            <a:ext cx="9144000" cy="4210154"/>
          </a:xfrm>
          <a:prstGeom prst="rect">
            <a:avLst/>
          </a:prstGeom>
        </p:spPr>
      </p:pic>
    </p:spTree>
    <p:extLst>
      <p:ext uri="{BB962C8B-B14F-4D97-AF65-F5344CB8AC3E}">
        <p14:creationId xmlns:p14="http://schemas.microsoft.com/office/powerpoint/2010/main" val="1872328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8DAED6E-468F-A7BD-636D-B6B94CBDCE90}"/>
              </a:ext>
            </a:extLst>
          </p:cNvPr>
          <p:cNvSpPr/>
          <p:nvPr/>
        </p:nvSpPr>
        <p:spPr>
          <a:xfrm>
            <a:off x="0" y="4480790"/>
            <a:ext cx="9144000" cy="428773"/>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a:solidFill>
                  <a:schemeClr val="tx1"/>
                </a:solidFill>
              </a:rPr>
              <a:t>- </a:t>
            </a:r>
            <a:r>
              <a:rPr lang="en-US" sz="1000" b="1" err="1">
                <a:solidFill>
                  <a:schemeClr val="tx1"/>
                </a:solidFill>
              </a:rPr>
              <a:t>Giá</a:t>
            </a:r>
            <a:r>
              <a:rPr lang="en-US" sz="1000" b="1">
                <a:solidFill>
                  <a:schemeClr val="tx1"/>
                </a:solidFill>
              </a:rPr>
              <a:t> </a:t>
            </a:r>
            <a:r>
              <a:rPr lang="en-US" sz="1000" b="1" err="1">
                <a:solidFill>
                  <a:schemeClr val="tx1"/>
                </a:solidFill>
              </a:rPr>
              <a:t>mua</a:t>
            </a:r>
            <a:r>
              <a:rPr lang="en-US" sz="1000" b="1">
                <a:solidFill>
                  <a:schemeClr val="tx1"/>
                </a:solidFill>
              </a:rPr>
              <a:t> </a:t>
            </a:r>
            <a:r>
              <a:rPr lang="en-US" sz="1000" b="1" err="1">
                <a:solidFill>
                  <a:schemeClr val="tx1"/>
                </a:solidFill>
              </a:rPr>
              <a:t>Vảy</a:t>
            </a:r>
            <a:r>
              <a:rPr lang="en-US" sz="1000" b="1">
                <a:solidFill>
                  <a:schemeClr val="tx1"/>
                </a:solidFill>
              </a:rPr>
              <a:t> B1 tăng</a:t>
            </a:r>
            <a:r>
              <a:rPr lang="en-US" sz="1000">
                <a:solidFill>
                  <a:schemeClr val="tx1"/>
                </a:solidFill>
              </a:rPr>
              <a:t> </a:t>
            </a:r>
            <a:r>
              <a:rPr lang="en-US" sz="1000" err="1">
                <a:solidFill>
                  <a:schemeClr val="tx1"/>
                </a:solidFill>
              </a:rPr>
              <a:t>từ</a:t>
            </a:r>
            <a:r>
              <a:rPr lang="en-US" sz="1000">
                <a:solidFill>
                  <a:schemeClr val="tx1"/>
                </a:solidFill>
              </a:rPr>
              <a:t> </a:t>
            </a:r>
            <a:r>
              <a:rPr lang="en-US" sz="1000" err="1">
                <a:solidFill>
                  <a:schemeClr val="tx1"/>
                </a:solidFill>
              </a:rPr>
              <a:t>đầu</a:t>
            </a:r>
            <a:r>
              <a:rPr lang="en-US" sz="1000">
                <a:solidFill>
                  <a:schemeClr val="tx1"/>
                </a:solidFill>
              </a:rPr>
              <a:t> </a:t>
            </a:r>
            <a:r>
              <a:rPr lang="en-US" sz="1000" err="1">
                <a:solidFill>
                  <a:schemeClr val="tx1"/>
                </a:solidFill>
              </a:rPr>
              <a:t>năm</a:t>
            </a:r>
            <a:r>
              <a:rPr lang="en-US" sz="1000">
                <a:solidFill>
                  <a:schemeClr val="tx1"/>
                </a:solidFill>
              </a:rPr>
              <a:t> nhưng </a:t>
            </a:r>
            <a:r>
              <a:rPr lang="en-US" sz="1000" err="1">
                <a:solidFill>
                  <a:schemeClr val="tx1"/>
                </a:solidFill>
              </a:rPr>
              <a:t>đã</a:t>
            </a:r>
            <a:r>
              <a:rPr lang="en-US" sz="1000">
                <a:solidFill>
                  <a:schemeClr val="tx1"/>
                </a:solidFill>
              </a:rPr>
              <a:t> </a:t>
            </a:r>
            <a:r>
              <a:rPr lang="en-US" sz="1000" b="1" err="1">
                <a:solidFill>
                  <a:schemeClr val="tx1"/>
                </a:solidFill>
              </a:rPr>
              <a:t>giảm</a:t>
            </a:r>
            <a:r>
              <a:rPr lang="en-US" sz="1000">
                <a:solidFill>
                  <a:schemeClr val="tx1"/>
                </a:solidFill>
              </a:rPr>
              <a:t> </a:t>
            </a:r>
            <a:r>
              <a:rPr lang="en-US" sz="1000" err="1">
                <a:solidFill>
                  <a:schemeClr val="tx1"/>
                </a:solidFill>
              </a:rPr>
              <a:t>lại</a:t>
            </a:r>
            <a:r>
              <a:rPr lang="en-US" sz="1000">
                <a:solidFill>
                  <a:schemeClr val="tx1"/>
                </a:solidFill>
              </a:rPr>
              <a:t> từ T08, </a:t>
            </a:r>
            <a:r>
              <a:rPr lang="en-US" sz="1000" b="1" err="1">
                <a:solidFill>
                  <a:schemeClr val="tx1"/>
                </a:solidFill>
              </a:rPr>
              <a:t>đạt</a:t>
            </a:r>
            <a:r>
              <a:rPr lang="en-US" sz="1000" b="1">
                <a:solidFill>
                  <a:schemeClr val="tx1"/>
                </a:solidFill>
              </a:rPr>
              <a:t> </a:t>
            </a:r>
            <a:r>
              <a:rPr lang="en-US" sz="1000" b="1" err="1">
                <a:solidFill>
                  <a:schemeClr val="tx1"/>
                </a:solidFill>
              </a:rPr>
              <a:t>trung</a:t>
            </a:r>
            <a:r>
              <a:rPr lang="en-US" sz="1000" b="1">
                <a:solidFill>
                  <a:schemeClr val="tx1"/>
                </a:solidFill>
              </a:rPr>
              <a:t> bìnhT11</a:t>
            </a:r>
            <a:r>
              <a:rPr lang="en-US" sz="1000">
                <a:solidFill>
                  <a:schemeClr val="tx1"/>
                </a:solidFill>
              </a:rPr>
              <a:t>: </a:t>
            </a:r>
            <a:r>
              <a:rPr lang="en-US" sz="1000" b="1">
                <a:solidFill>
                  <a:schemeClr val="tx1"/>
                </a:solidFill>
              </a:rPr>
              <a:t>15,748 đ/kg </a:t>
            </a:r>
            <a:r>
              <a:rPr lang="en-US" sz="1000">
                <a:solidFill>
                  <a:schemeClr val="tx1"/>
                </a:solidFill>
              </a:rPr>
              <a:t>(KH </a:t>
            </a:r>
            <a:r>
              <a:rPr lang="en-US" sz="1000" err="1">
                <a:solidFill>
                  <a:schemeClr val="tx1"/>
                </a:solidFill>
              </a:rPr>
              <a:t>là</a:t>
            </a:r>
            <a:r>
              <a:rPr lang="en-US" sz="1000">
                <a:solidFill>
                  <a:schemeClr val="tx1"/>
                </a:solidFill>
              </a:rPr>
              <a:t> 19,300 đ/kg ~ </a:t>
            </a:r>
            <a:r>
              <a:rPr lang="en-US" sz="1000" i="1">
                <a:solidFill>
                  <a:schemeClr val="tx1"/>
                </a:solidFill>
              </a:rPr>
              <a:t>-3,552 đ/kg; -18.4%</a:t>
            </a:r>
            <a:r>
              <a:rPr lang="en-US" sz="1000">
                <a:solidFill>
                  <a:schemeClr val="tx1"/>
                </a:solidFill>
              </a:rPr>
              <a:t>)</a:t>
            </a:r>
          </a:p>
          <a:p>
            <a:r>
              <a:rPr lang="en-US" sz="1000">
                <a:solidFill>
                  <a:schemeClr val="tx1"/>
                </a:solidFill>
              </a:rPr>
              <a:t>- </a:t>
            </a:r>
            <a:r>
              <a:rPr lang="en-US" sz="1000" b="1" err="1">
                <a:solidFill>
                  <a:schemeClr val="tx1"/>
                </a:solidFill>
              </a:rPr>
              <a:t>Lũy</a:t>
            </a:r>
            <a:r>
              <a:rPr lang="en-US" sz="1000" b="1">
                <a:solidFill>
                  <a:schemeClr val="tx1"/>
                </a:solidFill>
              </a:rPr>
              <a:t> </a:t>
            </a:r>
            <a:r>
              <a:rPr lang="en-US" sz="1000" b="1" err="1">
                <a:solidFill>
                  <a:schemeClr val="tx1"/>
                </a:solidFill>
              </a:rPr>
              <a:t>kế</a:t>
            </a:r>
            <a:r>
              <a:rPr lang="en-US" sz="1000" b="1">
                <a:solidFill>
                  <a:schemeClr val="tx1"/>
                </a:solidFill>
              </a:rPr>
              <a:t> </a:t>
            </a:r>
            <a:r>
              <a:rPr lang="en-US" sz="1000" b="1" err="1">
                <a:solidFill>
                  <a:schemeClr val="tx1"/>
                </a:solidFill>
              </a:rPr>
              <a:t>từ</a:t>
            </a:r>
            <a:r>
              <a:rPr lang="en-US" sz="1000" b="1">
                <a:solidFill>
                  <a:schemeClr val="tx1"/>
                </a:solidFill>
              </a:rPr>
              <a:t> </a:t>
            </a:r>
            <a:r>
              <a:rPr lang="en-US" sz="1000" b="1" err="1">
                <a:solidFill>
                  <a:schemeClr val="tx1"/>
                </a:solidFill>
              </a:rPr>
              <a:t>đầu</a:t>
            </a:r>
            <a:r>
              <a:rPr lang="en-US" sz="1000" b="1">
                <a:solidFill>
                  <a:schemeClr val="tx1"/>
                </a:solidFill>
              </a:rPr>
              <a:t> </a:t>
            </a:r>
            <a:r>
              <a:rPr lang="en-US" sz="1000" b="1" err="1">
                <a:solidFill>
                  <a:schemeClr val="tx1"/>
                </a:solidFill>
              </a:rPr>
              <a:t>năm</a:t>
            </a:r>
            <a:r>
              <a:rPr lang="en-US" sz="1000" b="1">
                <a:solidFill>
                  <a:schemeClr val="tx1"/>
                </a:solidFill>
              </a:rPr>
              <a:t> </a:t>
            </a:r>
            <a:r>
              <a:rPr lang="en-US" sz="1000" b="1" err="1">
                <a:solidFill>
                  <a:schemeClr val="tx1"/>
                </a:solidFill>
              </a:rPr>
              <a:t>đến</a:t>
            </a:r>
            <a:r>
              <a:rPr lang="en-US" sz="1000" b="1">
                <a:solidFill>
                  <a:schemeClr val="tx1"/>
                </a:solidFill>
              </a:rPr>
              <a:t> T10, </a:t>
            </a:r>
            <a:r>
              <a:rPr lang="en-US" sz="1000" err="1">
                <a:solidFill>
                  <a:schemeClr val="tx1"/>
                </a:solidFill>
              </a:rPr>
              <a:t>giá</a:t>
            </a:r>
            <a:r>
              <a:rPr lang="en-US" sz="1000">
                <a:solidFill>
                  <a:schemeClr val="tx1"/>
                </a:solidFill>
              </a:rPr>
              <a:t> </a:t>
            </a:r>
            <a:r>
              <a:rPr lang="en-US" sz="1000" err="1">
                <a:solidFill>
                  <a:schemeClr val="tx1"/>
                </a:solidFill>
              </a:rPr>
              <a:t>mua</a:t>
            </a:r>
            <a:r>
              <a:rPr lang="en-US" sz="1000">
                <a:solidFill>
                  <a:schemeClr val="tx1"/>
                </a:solidFill>
              </a:rPr>
              <a:t> </a:t>
            </a:r>
            <a:r>
              <a:rPr lang="en-US" sz="1000" err="1">
                <a:solidFill>
                  <a:schemeClr val="tx1"/>
                </a:solidFill>
              </a:rPr>
              <a:t>Vảy</a:t>
            </a:r>
            <a:r>
              <a:rPr lang="en-US" sz="1000">
                <a:solidFill>
                  <a:schemeClr val="tx1"/>
                </a:solidFill>
              </a:rPr>
              <a:t> </a:t>
            </a:r>
            <a:r>
              <a:rPr lang="en-US" sz="1000" err="1">
                <a:solidFill>
                  <a:schemeClr val="tx1"/>
                </a:solidFill>
              </a:rPr>
              <a:t>trung</a:t>
            </a:r>
            <a:r>
              <a:rPr lang="en-US" sz="1000">
                <a:solidFill>
                  <a:schemeClr val="tx1"/>
                </a:solidFill>
              </a:rPr>
              <a:t> </a:t>
            </a:r>
            <a:r>
              <a:rPr lang="en-US" sz="1000" err="1">
                <a:solidFill>
                  <a:schemeClr val="tx1"/>
                </a:solidFill>
              </a:rPr>
              <a:t>bình</a:t>
            </a:r>
            <a:r>
              <a:rPr lang="en-US" sz="1000">
                <a:solidFill>
                  <a:schemeClr val="tx1"/>
                </a:solidFill>
              </a:rPr>
              <a:t> </a:t>
            </a:r>
            <a:r>
              <a:rPr lang="en-US" sz="1000" err="1">
                <a:solidFill>
                  <a:schemeClr val="tx1"/>
                </a:solidFill>
              </a:rPr>
              <a:t>là</a:t>
            </a:r>
            <a:r>
              <a:rPr lang="en-US" sz="1000">
                <a:solidFill>
                  <a:schemeClr val="tx1"/>
                </a:solidFill>
              </a:rPr>
              <a:t> </a:t>
            </a:r>
            <a:r>
              <a:rPr lang="en-US" sz="1000" b="1">
                <a:solidFill>
                  <a:schemeClr val="tx1"/>
                </a:solidFill>
              </a:rPr>
              <a:t>19,042</a:t>
            </a:r>
            <a:r>
              <a:rPr lang="en-US" sz="1000">
                <a:solidFill>
                  <a:schemeClr val="tx1"/>
                </a:solidFill>
              </a:rPr>
              <a:t> đ/kg (KH </a:t>
            </a:r>
            <a:r>
              <a:rPr lang="en-US" sz="1000" err="1">
                <a:solidFill>
                  <a:schemeClr val="tx1"/>
                </a:solidFill>
              </a:rPr>
              <a:t>là</a:t>
            </a:r>
            <a:r>
              <a:rPr lang="en-US" sz="1000">
                <a:solidFill>
                  <a:schemeClr val="tx1"/>
                </a:solidFill>
              </a:rPr>
              <a:t> 19,133 đ/kg ~ </a:t>
            </a:r>
            <a:r>
              <a:rPr lang="en-US" sz="1000" i="1">
                <a:solidFill>
                  <a:schemeClr val="tx1"/>
                </a:solidFill>
              </a:rPr>
              <a:t>-91 đ/kg; -0.47%</a:t>
            </a:r>
            <a:r>
              <a:rPr lang="en-US" sz="1000">
                <a:solidFill>
                  <a:schemeClr val="tx1"/>
                </a:solidFill>
              </a:rPr>
              <a:t>)</a:t>
            </a:r>
          </a:p>
        </p:txBody>
      </p:sp>
      <p:sp>
        <p:nvSpPr>
          <p:cNvPr id="2" name="TextBox 1">
            <a:extLst>
              <a:ext uri="{FF2B5EF4-FFF2-40B4-BE49-F238E27FC236}">
                <a16:creationId xmlns:a16="http://schemas.microsoft.com/office/drawing/2014/main" id="{0F16480B-76E8-2CA7-FA98-9974A68CEA81}"/>
              </a:ext>
            </a:extLst>
          </p:cNvPr>
          <p:cNvSpPr txBox="1"/>
          <p:nvPr/>
        </p:nvSpPr>
        <p:spPr>
          <a:xfrm>
            <a:off x="0" y="-20940"/>
            <a:ext cx="9144000" cy="307777"/>
          </a:xfrm>
          <a:prstGeom prst="rect">
            <a:avLst/>
          </a:prstGeom>
          <a:noFill/>
        </p:spPr>
        <p:txBody>
          <a:bodyPr wrap="square">
            <a:spAutoFit/>
          </a:bodyPr>
          <a:lstStyle/>
          <a:p>
            <a:r>
              <a:rPr lang="en-US" b="1" dirty="0">
                <a:solidFill>
                  <a:srgbClr val="119303"/>
                </a:solidFill>
              </a:rPr>
              <a:t>2.15</a:t>
            </a:r>
            <a:r>
              <a:rPr lang="en-US" sz="1400" b="1" dirty="0">
                <a:solidFill>
                  <a:srgbClr val="119303"/>
                </a:solidFill>
              </a:rPr>
              <a:t>. CHI PHÍ – </a:t>
            </a:r>
            <a:r>
              <a:rPr lang="en-US" sz="1400" b="1" dirty="0">
                <a:solidFill>
                  <a:schemeClr val="accent2">
                    <a:lumMod val="75000"/>
                  </a:schemeClr>
                </a:solidFill>
              </a:rPr>
              <a:t>GIÁ NGUYÊN VẬT LIỆU</a:t>
            </a:r>
            <a:endParaRPr lang="en-US" dirty="0"/>
          </a:p>
        </p:txBody>
      </p:sp>
      <p:sp>
        <p:nvSpPr>
          <p:cNvPr id="5" name="Rectangle 4">
            <a:extLst>
              <a:ext uri="{FF2B5EF4-FFF2-40B4-BE49-F238E27FC236}">
                <a16:creationId xmlns:a16="http://schemas.microsoft.com/office/drawing/2014/main" id="{32ED3F55-C554-FD72-4154-22A4412DC715}"/>
              </a:ext>
            </a:extLst>
          </p:cNvPr>
          <p:cNvSpPr/>
          <p:nvPr/>
        </p:nvSpPr>
        <p:spPr>
          <a:xfrm>
            <a:off x="9285530" y="947498"/>
            <a:ext cx="2592977" cy="6414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UPDATED: 16/12</a:t>
            </a:r>
          </a:p>
        </p:txBody>
      </p:sp>
      <p:pic>
        <p:nvPicPr>
          <p:cNvPr id="4" name="Picture 3">
            <a:extLst>
              <a:ext uri="{FF2B5EF4-FFF2-40B4-BE49-F238E27FC236}">
                <a16:creationId xmlns:a16="http://schemas.microsoft.com/office/drawing/2014/main" id="{91039879-D823-C443-B1FD-C0F9148AD4A5}"/>
              </a:ext>
            </a:extLst>
          </p:cNvPr>
          <p:cNvPicPr>
            <a:picLocks noChangeAspect="1"/>
          </p:cNvPicPr>
          <p:nvPr/>
        </p:nvPicPr>
        <p:blipFill>
          <a:blip r:embed="rId2"/>
          <a:stretch>
            <a:fillRect/>
          </a:stretch>
        </p:blipFill>
        <p:spPr>
          <a:xfrm>
            <a:off x="0" y="256499"/>
            <a:ext cx="9144000" cy="4188542"/>
          </a:xfrm>
          <a:prstGeom prst="rect">
            <a:avLst/>
          </a:prstGeom>
        </p:spPr>
      </p:pic>
    </p:spTree>
    <p:extLst>
      <p:ext uri="{BB962C8B-B14F-4D97-AF65-F5344CB8AC3E}">
        <p14:creationId xmlns:p14="http://schemas.microsoft.com/office/powerpoint/2010/main" val="770909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C1857-6F0B-7376-C9F1-0A030AE5A620}"/>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CD5CEB3-97F0-39C9-0F30-8387B4D02B67}"/>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2.16. CHI PHÍ – </a:t>
            </a:r>
            <a:r>
              <a:rPr lang="en-US" sz="2000" b="1" dirty="0">
                <a:solidFill>
                  <a:schemeClr val="accent2">
                    <a:lumMod val="75000"/>
                  </a:schemeClr>
                </a:solidFill>
              </a:rPr>
              <a:t>ĐƠN GIÁ ĐIỆN </a:t>
            </a:r>
            <a:r>
              <a:rPr lang="en-US" sz="2000" b="1" i="1" dirty="0">
                <a:solidFill>
                  <a:schemeClr val="accent2">
                    <a:lumMod val="75000"/>
                  </a:schemeClr>
                </a:solidFill>
              </a:rPr>
              <a:t>(</a:t>
            </a:r>
            <a:r>
              <a:rPr lang="en-US" sz="2000" b="1" i="1" dirty="0" err="1">
                <a:solidFill>
                  <a:schemeClr val="accent2">
                    <a:lumMod val="75000"/>
                  </a:schemeClr>
                </a:solidFill>
              </a:rPr>
              <a:t>đồng</a:t>
            </a:r>
            <a:r>
              <a:rPr lang="en-US" sz="2000" b="1" i="1" dirty="0">
                <a:solidFill>
                  <a:schemeClr val="accent2">
                    <a:lumMod val="75000"/>
                  </a:schemeClr>
                </a:solidFill>
              </a:rPr>
              <a:t>/kwh)</a:t>
            </a:r>
            <a:endParaRPr lang="en-US" sz="2000" i="1" dirty="0"/>
          </a:p>
        </p:txBody>
      </p:sp>
      <p:pic>
        <p:nvPicPr>
          <p:cNvPr id="4" name="Picture 3">
            <a:extLst>
              <a:ext uri="{FF2B5EF4-FFF2-40B4-BE49-F238E27FC236}">
                <a16:creationId xmlns:a16="http://schemas.microsoft.com/office/drawing/2014/main" id="{363BF945-D386-1EAF-4A93-88CC523BAF82}"/>
              </a:ext>
            </a:extLst>
          </p:cNvPr>
          <p:cNvPicPr>
            <a:picLocks noChangeAspect="1"/>
          </p:cNvPicPr>
          <p:nvPr/>
        </p:nvPicPr>
        <p:blipFill>
          <a:blip r:embed="rId2"/>
          <a:stretch>
            <a:fillRect/>
          </a:stretch>
        </p:blipFill>
        <p:spPr>
          <a:xfrm>
            <a:off x="0" y="364483"/>
            <a:ext cx="9144000" cy="4544696"/>
          </a:xfrm>
          <a:prstGeom prst="rect">
            <a:avLst/>
          </a:prstGeom>
        </p:spPr>
      </p:pic>
    </p:spTree>
    <p:extLst>
      <p:ext uri="{BB962C8B-B14F-4D97-AF65-F5344CB8AC3E}">
        <p14:creationId xmlns:p14="http://schemas.microsoft.com/office/powerpoint/2010/main" val="3106691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0F42D-3B7F-48EE-08D3-FABD9A012B2F}"/>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137A9566-84CF-FBFE-1A57-9C1983CB30E8}"/>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2.17. CHI PHÍ – </a:t>
            </a:r>
            <a:r>
              <a:rPr lang="en-US" sz="2000" b="1" dirty="0">
                <a:solidFill>
                  <a:schemeClr val="accent2">
                    <a:lumMod val="75000"/>
                  </a:schemeClr>
                </a:solidFill>
              </a:rPr>
              <a:t>CHỈ TIÊU TRÊN TẤN THÀNH PHẨM</a:t>
            </a:r>
            <a:endParaRPr lang="en-US" sz="2000" i="1" dirty="0"/>
          </a:p>
        </p:txBody>
      </p:sp>
      <p:pic>
        <p:nvPicPr>
          <p:cNvPr id="3" name="Picture 2">
            <a:extLst>
              <a:ext uri="{FF2B5EF4-FFF2-40B4-BE49-F238E27FC236}">
                <a16:creationId xmlns:a16="http://schemas.microsoft.com/office/drawing/2014/main" id="{D429ECF8-BCB5-6FA8-877C-BBC1040334E5}"/>
              </a:ext>
            </a:extLst>
          </p:cNvPr>
          <p:cNvPicPr>
            <a:picLocks noChangeAspect="1"/>
          </p:cNvPicPr>
          <p:nvPr/>
        </p:nvPicPr>
        <p:blipFill>
          <a:blip r:embed="rId2"/>
          <a:stretch>
            <a:fillRect/>
          </a:stretch>
        </p:blipFill>
        <p:spPr>
          <a:xfrm>
            <a:off x="0" y="372473"/>
            <a:ext cx="9144000" cy="4535714"/>
          </a:xfrm>
          <a:prstGeom prst="rect">
            <a:avLst/>
          </a:prstGeom>
        </p:spPr>
      </p:pic>
    </p:spTree>
    <p:extLst>
      <p:ext uri="{BB962C8B-B14F-4D97-AF65-F5344CB8AC3E}">
        <p14:creationId xmlns:p14="http://schemas.microsoft.com/office/powerpoint/2010/main" val="3874143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AA78-6AB8-D053-B719-894A49D6ADEC}"/>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01D2FACB-AB93-6054-9B35-DD18DEF57CF0}"/>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2.18. CHI PHÍ – </a:t>
            </a:r>
            <a:r>
              <a:rPr lang="en-US" sz="2000" b="1" dirty="0">
                <a:solidFill>
                  <a:schemeClr val="accent2">
                    <a:lumMod val="75000"/>
                  </a:schemeClr>
                </a:solidFill>
              </a:rPr>
              <a:t>CHI PHÍ LƯƠNG </a:t>
            </a:r>
            <a:r>
              <a:rPr lang="en-US" sz="2000" b="1" i="1" dirty="0">
                <a:solidFill>
                  <a:schemeClr val="accent2">
                    <a:lumMod val="75000"/>
                  </a:schemeClr>
                </a:solidFill>
              </a:rPr>
              <a:t>(</a:t>
            </a:r>
            <a:r>
              <a:rPr lang="en-US" sz="2000" b="1" i="1" dirty="0" err="1">
                <a:solidFill>
                  <a:schemeClr val="accent2">
                    <a:lumMod val="75000"/>
                  </a:schemeClr>
                </a:solidFill>
              </a:rPr>
              <a:t>triệu</a:t>
            </a:r>
            <a:r>
              <a:rPr lang="en-US" sz="2000" b="1" i="1" dirty="0">
                <a:solidFill>
                  <a:schemeClr val="accent2">
                    <a:lumMod val="75000"/>
                  </a:schemeClr>
                </a:solidFill>
              </a:rPr>
              <a:t> </a:t>
            </a:r>
            <a:r>
              <a:rPr lang="en-US" sz="2000" b="1" i="1" dirty="0" err="1">
                <a:solidFill>
                  <a:schemeClr val="accent2">
                    <a:lumMod val="75000"/>
                  </a:schemeClr>
                </a:solidFill>
              </a:rPr>
              <a:t>đồng</a:t>
            </a:r>
            <a:r>
              <a:rPr lang="en-US" sz="2000" b="1" i="1" dirty="0">
                <a:solidFill>
                  <a:schemeClr val="accent2">
                    <a:lumMod val="75000"/>
                  </a:schemeClr>
                </a:solidFill>
              </a:rPr>
              <a:t>)</a:t>
            </a:r>
            <a:endParaRPr lang="en-US" sz="2000" i="1" dirty="0"/>
          </a:p>
        </p:txBody>
      </p:sp>
      <p:pic>
        <p:nvPicPr>
          <p:cNvPr id="4" name="Picture 3">
            <a:extLst>
              <a:ext uri="{FF2B5EF4-FFF2-40B4-BE49-F238E27FC236}">
                <a16:creationId xmlns:a16="http://schemas.microsoft.com/office/drawing/2014/main" id="{0A3B600A-03BB-3631-5E5E-D9DA455122E5}"/>
              </a:ext>
            </a:extLst>
          </p:cNvPr>
          <p:cNvPicPr>
            <a:picLocks noChangeAspect="1"/>
          </p:cNvPicPr>
          <p:nvPr/>
        </p:nvPicPr>
        <p:blipFill>
          <a:blip r:embed="rId2"/>
          <a:stretch>
            <a:fillRect/>
          </a:stretch>
        </p:blipFill>
        <p:spPr>
          <a:xfrm>
            <a:off x="0" y="357792"/>
            <a:ext cx="9144000" cy="4534595"/>
          </a:xfrm>
          <a:prstGeom prst="rect">
            <a:avLst/>
          </a:prstGeom>
        </p:spPr>
      </p:pic>
    </p:spTree>
    <p:extLst>
      <p:ext uri="{BB962C8B-B14F-4D97-AF65-F5344CB8AC3E}">
        <p14:creationId xmlns:p14="http://schemas.microsoft.com/office/powerpoint/2010/main" val="31314293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57EC2-FBBC-37A0-23E3-10D38A6B4F4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96839EA4-D1DC-33AD-735F-4432DB2DFCA4}"/>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2.19. CHI PHÍ – </a:t>
            </a:r>
            <a:r>
              <a:rPr lang="en-US" sz="2000" b="1" dirty="0">
                <a:solidFill>
                  <a:schemeClr val="accent2">
                    <a:lumMod val="75000"/>
                  </a:schemeClr>
                </a:solidFill>
              </a:rPr>
              <a:t>CHI PHÍ LƯƠNG/TẤN </a:t>
            </a:r>
            <a:r>
              <a:rPr lang="en-US" sz="2000" b="1" i="1" dirty="0">
                <a:solidFill>
                  <a:schemeClr val="accent2">
                    <a:lumMod val="75000"/>
                  </a:schemeClr>
                </a:solidFill>
              </a:rPr>
              <a:t>(</a:t>
            </a:r>
            <a:r>
              <a:rPr lang="en-US" sz="2000" b="1" i="1" dirty="0" err="1">
                <a:solidFill>
                  <a:schemeClr val="accent2">
                    <a:lumMod val="75000"/>
                  </a:schemeClr>
                </a:solidFill>
              </a:rPr>
              <a:t>triệu</a:t>
            </a:r>
            <a:r>
              <a:rPr lang="en-US" sz="2000" b="1" i="1" dirty="0">
                <a:solidFill>
                  <a:schemeClr val="accent2">
                    <a:lumMod val="75000"/>
                  </a:schemeClr>
                </a:solidFill>
              </a:rPr>
              <a:t> </a:t>
            </a:r>
            <a:r>
              <a:rPr lang="en-US" sz="2000" b="1" i="1" dirty="0" err="1">
                <a:solidFill>
                  <a:schemeClr val="accent2">
                    <a:lumMod val="75000"/>
                  </a:schemeClr>
                </a:solidFill>
              </a:rPr>
              <a:t>đồng</a:t>
            </a:r>
            <a:r>
              <a:rPr lang="en-US" sz="2000" b="1" i="1" dirty="0">
                <a:solidFill>
                  <a:schemeClr val="accent2">
                    <a:lumMod val="75000"/>
                  </a:schemeClr>
                </a:solidFill>
              </a:rPr>
              <a:t>/</a:t>
            </a:r>
            <a:r>
              <a:rPr lang="en-US" sz="2000" b="1" i="1" dirty="0" err="1">
                <a:solidFill>
                  <a:schemeClr val="accent2">
                    <a:lumMod val="75000"/>
                  </a:schemeClr>
                </a:solidFill>
              </a:rPr>
              <a:t>tấn</a:t>
            </a:r>
            <a:r>
              <a:rPr lang="en-US" sz="2000" b="1" i="1" dirty="0">
                <a:solidFill>
                  <a:schemeClr val="accent2">
                    <a:lumMod val="75000"/>
                  </a:schemeClr>
                </a:solidFill>
              </a:rPr>
              <a:t>)</a:t>
            </a:r>
            <a:endParaRPr lang="en-US" sz="2000" i="1" dirty="0"/>
          </a:p>
        </p:txBody>
      </p:sp>
      <p:pic>
        <p:nvPicPr>
          <p:cNvPr id="3" name="Picture 2">
            <a:extLst>
              <a:ext uri="{FF2B5EF4-FFF2-40B4-BE49-F238E27FC236}">
                <a16:creationId xmlns:a16="http://schemas.microsoft.com/office/drawing/2014/main" id="{F50D2887-AA49-0CAA-58AB-F9D65D7254F1}"/>
              </a:ext>
            </a:extLst>
          </p:cNvPr>
          <p:cNvPicPr>
            <a:picLocks noChangeAspect="1"/>
          </p:cNvPicPr>
          <p:nvPr/>
        </p:nvPicPr>
        <p:blipFill>
          <a:blip r:embed="rId2"/>
          <a:stretch>
            <a:fillRect/>
          </a:stretch>
        </p:blipFill>
        <p:spPr>
          <a:xfrm>
            <a:off x="0" y="366321"/>
            <a:ext cx="9144000" cy="4517537"/>
          </a:xfrm>
          <a:prstGeom prst="rect">
            <a:avLst/>
          </a:prstGeom>
        </p:spPr>
      </p:pic>
    </p:spTree>
    <p:extLst>
      <p:ext uri="{BB962C8B-B14F-4D97-AF65-F5344CB8AC3E}">
        <p14:creationId xmlns:p14="http://schemas.microsoft.com/office/powerpoint/2010/main" val="3693037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35373-5D56-01B8-436D-42E726B31A18}"/>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194AADFA-2C04-CB0C-1990-7E170ED72408}"/>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2.20. CHI PHÍ – </a:t>
            </a:r>
            <a:r>
              <a:rPr lang="en-US" sz="2000" b="1" dirty="0">
                <a:solidFill>
                  <a:schemeClr val="accent2">
                    <a:lumMod val="75000"/>
                  </a:schemeClr>
                </a:solidFill>
              </a:rPr>
              <a:t>SỐ NHÂN VIÊN THEO BỘ PHẬN</a:t>
            </a:r>
            <a:endParaRPr lang="en-US" sz="2000" i="1" dirty="0"/>
          </a:p>
        </p:txBody>
      </p:sp>
      <p:pic>
        <p:nvPicPr>
          <p:cNvPr id="4" name="Picture 3">
            <a:extLst>
              <a:ext uri="{FF2B5EF4-FFF2-40B4-BE49-F238E27FC236}">
                <a16:creationId xmlns:a16="http://schemas.microsoft.com/office/drawing/2014/main" id="{511C9A82-35B8-0C17-F45A-541D1CF89100}"/>
              </a:ext>
            </a:extLst>
          </p:cNvPr>
          <p:cNvPicPr>
            <a:picLocks noChangeAspect="1"/>
          </p:cNvPicPr>
          <p:nvPr/>
        </p:nvPicPr>
        <p:blipFill>
          <a:blip r:embed="rId2"/>
          <a:stretch>
            <a:fillRect/>
          </a:stretch>
        </p:blipFill>
        <p:spPr>
          <a:xfrm>
            <a:off x="0" y="372726"/>
            <a:ext cx="9144000" cy="4504728"/>
          </a:xfrm>
          <a:prstGeom prst="rect">
            <a:avLst/>
          </a:prstGeom>
        </p:spPr>
      </p:pic>
    </p:spTree>
    <p:extLst>
      <p:ext uri="{BB962C8B-B14F-4D97-AF65-F5344CB8AC3E}">
        <p14:creationId xmlns:p14="http://schemas.microsoft.com/office/powerpoint/2010/main" val="2709438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E0265-9204-FE3C-1167-B5B23294119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0DB6611-E9E3-4E94-60DD-B3C8D9A4A09C}"/>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2.21. CHI PHÍ – </a:t>
            </a:r>
            <a:r>
              <a:rPr lang="vi-VN" sz="2000" b="1" dirty="0">
                <a:solidFill>
                  <a:schemeClr val="accent2">
                    <a:lumMod val="75000"/>
                  </a:schemeClr>
                </a:solidFill>
              </a:rPr>
              <a:t>%TỶ LỆ HAO HỤT – SẢN LƯỢNG</a:t>
            </a:r>
            <a:endParaRPr lang="en-US" sz="2000" i="1" dirty="0"/>
          </a:p>
        </p:txBody>
      </p:sp>
      <p:sp>
        <p:nvSpPr>
          <p:cNvPr id="3" name="TextBox 2">
            <a:extLst>
              <a:ext uri="{FF2B5EF4-FFF2-40B4-BE49-F238E27FC236}">
                <a16:creationId xmlns:a16="http://schemas.microsoft.com/office/drawing/2014/main" id="{344108D6-802A-45CE-8198-3A85F189DB74}"/>
              </a:ext>
            </a:extLst>
          </p:cNvPr>
          <p:cNvSpPr txBox="1"/>
          <p:nvPr/>
        </p:nvSpPr>
        <p:spPr>
          <a:xfrm>
            <a:off x="-1" y="4725258"/>
            <a:ext cx="2821577" cy="200055"/>
          </a:xfrm>
          <a:prstGeom prst="rect">
            <a:avLst/>
          </a:prstGeom>
          <a:noFill/>
        </p:spPr>
        <p:txBody>
          <a:bodyPr wrap="square" rtlCol="0">
            <a:spAutoFit/>
          </a:bodyPr>
          <a:lstStyle/>
          <a:p>
            <a:r>
              <a:rPr lang="en-US" sz="700" i="1" u="sng" err="1">
                <a:solidFill>
                  <a:schemeClr val="bg1">
                    <a:lumMod val="50000"/>
                  </a:schemeClr>
                </a:solidFill>
              </a:rPr>
              <a:t>Ghi</a:t>
            </a:r>
            <a:r>
              <a:rPr lang="en-US" sz="700" i="1" u="sng">
                <a:solidFill>
                  <a:schemeClr val="bg1">
                    <a:lumMod val="50000"/>
                  </a:schemeClr>
                </a:solidFill>
              </a:rPr>
              <a:t> </a:t>
            </a:r>
            <a:r>
              <a:rPr lang="en-US" sz="700" i="1" u="sng" err="1">
                <a:solidFill>
                  <a:schemeClr val="bg1">
                    <a:lumMod val="50000"/>
                  </a:schemeClr>
                </a:solidFill>
              </a:rPr>
              <a:t>chú</a:t>
            </a:r>
            <a:r>
              <a:rPr lang="en-US" sz="700" i="1" u="sng">
                <a:solidFill>
                  <a:schemeClr val="bg1">
                    <a:lumMod val="50000"/>
                  </a:schemeClr>
                </a:solidFill>
              </a:rPr>
              <a:t>: </a:t>
            </a:r>
            <a:r>
              <a:rPr lang="en-US" sz="700" i="1" err="1">
                <a:solidFill>
                  <a:schemeClr val="bg1">
                    <a:lumMod val="50000"/>
                  </a:schemeClr>
                </a:solidFill>
              </a:rPr>
              <a:t>ước</a:t>
            </a:r>
            <a:r>
              <a:rPr lang="en-US" sz="700" i="1">
                <a:solidFill>
                  <a:schemeClr val="bg1">
                    <a:lumMod val="50000"/>
                  </a:schemeClr>
                </a:solidFill>
              </a:rPr>
              <a:t> </a:t>
            </a:r>
            <a:r>
              <a:rPr lang="en-US" sz="700" i="1" err="1">
                <a:solidFill>
                  <a:schemeClr val="bg1">
                    <a:lumMod val="50000"/>
                  </a:schemeClr>
                </a:solidFill>
              </a:rPr>
              <a:t>tính</a:t>
            </a:r>
            <a:r>
              <a:rPr lang="en-US" sz="700" i="1">
                <a:solidFill>
                  <a:schemeClr val="bg1">
                    <a:lumMod val="50000"/>
                  </a:schemeClr>
                </a:solidFill>
              </a:rPr>
              <a:t> </a:t>
            </a:r>
            <a:r>
              <a:rPr lang="en-US" sz="700" i="1" err="1">
                <a:solidFill>
                  <a:schemeClr val="bg1">
                    <a:lumMod val="50000"/>
                  </a:schemeClr>
                </a:solidFill>
              </a:rPr>
              <a:t>phó</a:t>
            </a:r>
            <a:r>
              <a:rPr lang="en-US" sz="700" i="1">
                <a:solidFill>
                  <a:schemeClr val="bg1">
                    <a:lumMod val="50000"/>
                  </a:schemeClr>
                </a:solidFill>
              </a:rPr>
              <a:t> </a:t>
            </a:r>
            <a:r>
              <a:rPr lang="en-US" sz="700" i="1" err="1">
                <a:solidFill>
                  <a:schemeClr val="bg1">
                    <a:lumMod val="50000"/>
                  </a:schemeClr>
                </a:solidFill>
              </a:rPr>
              <a:t>sản</a:t>
            </a:r>
            <a:r>
              <a:rPr lang="en-US" sz="700" i="1">
                <a:solidFill>
                  <a:schemeClr val="bg1">
                    <a:lumMod val="50000"/>
                  </a:schemeClr>
                </a:solidFill>
              </a:rPr>
              <a:t> </a:t>
            </a:r>
            <a:r>
              <a:rPr lang="en-US" sz="700" i="1" err="1">
                <a:solidFill>
                  <a:schemeClr val="bg1">
                    <a:lumMod val="50000"/>
                  </a:schemeClr>
                </a:solidFill>
              </a:rPr>
              <a:t>tiếp</a:t>
            </a:r>
            <a:r>
              <a:rPr lang="en-US" sz="700" i="1">
                <a:solidFill>
                  <a:schemeClr val="bg1">
                    <a:lumMod val="50000"/>
                  </a:schemeClr>
                </a:solidFill>
              </a:rPr>
              <a:t> </a:t>
            </a:r>
            <a:r>
              <a:rPr lang="en-US" sz="700" i="1" err="1">
                <a:solidFill>
                  <a:schemeClr val="bg1">
                    <a:lumMod val="50000"/>
                  </a:schemeClr>
                </a:solidFill>
              </a:rPr>
              <a:t>tục</a:t>
            </a:r>
            <a:r>
              <a:rPr lang="en-US" sz="700" i="1">
                <a:solidFill>
                  <a:schemeClr val="bg1">
                    <a:lumMod val="50000"/>
                  </a:schemeClr>
                </a:solidFill>
              </a:rPr>
              <a:t> </a:t>
            </a:r>
            <a:r>
              <a:rPr lang="en-US" sz="700" i="1" err="1">
                <a:solidFill>
                  <a:schemeClr val="bg1">
                    <a:lumMod val="50000"/>
                  </a:schemeClr>
                </a:solidFill>
              </a:rPr>
              <a:t>làm</a:t>
            </a:r>
            <a:r>
              <a:rPr lang="en-US" sz="700" i="1">
                <a:solidFill>
                  <a:schemeClr val="bg1">
                    <a:lumMod val="50000"/>
                  </a:schemeClr>
                </a:solidFill>
              </a:rPr>
              <a:t> </a:t>
            </a:r>
            <a:r>
              <a:rPr lang="en-US" sz="700" i="1" err="1">
                <a:solidFill>
                  <a:schemeClr val="bg1">
                    <a:lumMod val="50000"/>
                  </a:schemeClr>
                </a:solidFill>
              </a:rPr>
              <a:t>công</a:t>
            </a:r>
            <a:r>
              <a:rPr lang="en-US" sz="700" i="1">
                <a:solidFill>
                  <a:schemeClr val="bg1">
                    <a:lumMod val="50000"/>
                  </a:schemeClr>
                </a:solidFill>
              </a:rPr>
              <a:t> </a:t>
            </a:r>
            <a:r>
              <a:rPr lang="en-US" sz="700" i="1" err="1">
                <a:solidFill>
                  <a:schemeClr val="bg1">
                    <a:lumMod val="50000"/>
                  </a:schemeClr>
                </a:solidFill>
              </a:rPr>
              <a:t>đoạn</a:t>
            </a:r>
            <a:r>
              <a:rPr lang="en-US" sz="700" i="1">
                <a:solidFill>
                  <a:schemeClr val="bg1">
                    <a:lumMod val="50000"/>
                  </a:schemeClr>
                </a:solidFill>
              </a:rPr>
              <a:t> </a:t>
            </a:r>
            <a:r>
              <a:rPr lang="en-US" sz="700" i="1" err="1">
                <a:solidFill>
                  <a:schemeClr val="bg1">
                    <a:lumMod val="50000"/>
                  </a:schemeClr>
                </a:solidFill>
              </a:rPr>
              <a:t>tiếp</a:t>
            </a:r>
            <a:r>
              <a:rPr lang="en-US" sz="700" i="1">
                <a:solidFill>
                  <a:schemeClr val="bg1">
                    <a:lumMod val="50000"/>
                  </a:schemeClr>
                </a:solidFill>
              </a:rPr>
              <a:t> </a:t>
            </a:r>
            <a:r>
              <a:rPr lang="en-US" sz="700" i="1" err="1">
                <a:solidFill>
                  <a:schemeClr val="bg1">
                    <a:lumMod val="50000"/>
                  </a:schemeClr>
                </a:solidFill>
              </a:rPr>
              <a:t>theo</a:t>
            </a:r>
            <a:endParaRPr lang="en-US" sz="700" i="1">
              <a:solidFill>
                <a:schemeClr val="bg1">
                  <a:lumMod val="50000"/>
                </a:schemeClr>
              </a:solidFill>
            </a:endParaRPr>
          </a:p>
        </p:txBody>
      </p:sp>
      <p:pic>
        <p:nvPicPr>
          <p:cNvPr id="6" name="Picture 5">
            <a:extLst>
              <a:ext uri="{FF2B5EF4-FFF2-40B4-BE49-F238E27FC236}">
                <a16:creationId xmlns:a16="http://schemas.microsoft.com/office/drawing/2014/main" id="{FA2773BF-9C55-29EC-5857-6C77020F75BE}"/>
              </a:ext>
            </a:extLst>
          </p:cNvPr>
          <p:cNvPicPr>
            <a:picLocks noChangeAspect="1"/>
          </p:cNvPicPr>
          <p:nvPr/>
        </p:nvPicPr>
        <p:blipFill>
          <a:blip r:embed="rId3"/>
          <a:stretch>
            <a:fillRect/>
          </a:stretch>
        </p:blipFill>
        <p:spPr>
          <a:xfrm>
            <a:off x="0" y="402583"/>
            <a:ext cx="9144000" cy="4374133"/>
          </a:xfrm>
          <a:prstGeom prst="rect">
            <a:avLst/>
          </a:prstGeom>
        </p:spPr>
      </p:pic>
    </p:spTree>
    <p:extLst>
      <p:ext uri="{BB962C8B-B14F-4D97-AF65-F5344CB8AC3E}">
        <p14:creationId xmlns:p14="http://schemas.microsoft.com/office/powerpoint/2010/main" val="26697354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826FAFC-8C7B-64A9-F74B-A3039F971874}"/>
              </a:ext>
            </a:extLst>
          </p:cNvPr>
          <p:cNvSpPr/>
          <p:nvPr/>
        </p:nvSpPr>
        <p:spPr>
          <a:xfrm>
            <a:off x="0" y="4118274"/>
            <a:ext cx="9144000" cy="687055"/>
          </a:xfrm>
          <a:prstGeom prst="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u="sng">
                <a:solidFill>
                  <a:schemeClr val="tx1"/>
                </a:solidFill>
              </a:rPr>
              <a:t>Giải thích:</a:t>
            </a:r>
          </a:p>
          <a:p>
            <a:r>
              <a:rPr lang="vi-VN">
                <a:solidFill>
                  <a:schemeClr val="tx1"/>
                </a:solidFill>
              </a:rPr>
              <a:t>- </a:t>
            </a:r>
            <a:r>
              <a:rPr lang="en-US" err="1">
                <a:solidFill>
                  <a:schemeClr val="tx1"/>
                </a:solidFill>
              </a:rPr>
              <a:t>Tháng</a:t>
            </a:r>
            <a:r>
              <a:rPr lang="en-US">
                <a:solidFill>
                  <a:schemeClr val="tx1"/>
                </a:solidFill>
              </a:rPr>
              <a:t> 8-10, vẫn có những container xuất bán cho Suntory Bắc Ninh bằng đường bộ nên chi phí còn cao.</a:t>
            </a:r>
          </a:p>
        </p:txBody>
      </p:sp>
      <p:sp>
        <p:nvSpPr>
          <p:cNvPr id="8" name="TextBox 7">
            <a:extLst>
              <a:ext uri="{FF2B5EF4-FFF2-40B4-BE49-F238E27FC236}">
                <a16:creationId xmlns:a16="http://schemas.microsoft.com/office/drawing/2014/main" id="{CF2E3E43-2EB7-35C4-B710-23AF991DCF2D}"/>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2.22. CHI PHÍ – </a:t>
            </a:r>
            <a:r>
              <a:rPr lang="en-US" sz="2000" b="1" dirty="0">
                <a:solidFill>
                  <a:schemeClr val="accent2">
                    <a:lumMod val="75000"/>
                  </a:schemeClr>
                </a:solidFill>
              </a:rPr>
              <a:t>CƯỚC VẬN CHUYỂN NỘI ĐỊA</a:t>
            </a:r>
            <a:endParaRPr lang="en-US" sz="2000" dirty="0"/>
          </a:p>
        </p:txBody>
      </p:sp>
      <p:pic>
        <p:nvPicPr>
          <p:cNvPr id="6" name="Picture 5">
            <a:extLst>
              <a:ext uri="{FF2B5EF4-FFF2-40B4-BE49-F238E27FC236}">
                <a16:creationId xmlns:a16="http://schemas.microsoft.com/office/drawing/2014/main" id="{86E21365-8E4D-6893-2F98-19DA57DBB290}"/>
              </a:ext>
            </a:extLst>
          </p:cNvPr>
          <p:cNvPicPr>
            <a:picLocks noChangeAspect="1"/>
          </p:cNvPicPr>
          <p:nvPr/>
        </p:nvPicPr>
        <p:blipFill>
          <a:blip r:embed="rId3"/>
          <a:stretch>
            <a:fillRect/>
          </a:stretch>
        </p:blipFill>
        <p:spPr>
          <a:xfrm>
            <a:off x="0" y="402583"/>
            <a:ext cx="9144000" cy="3465559"/>
          </a:xfrm>
          <a:prstGeom prst="rect">
            <a:avLst/>
          </a:prstGeom>
        </p:spPr>
      </p:pic>
    </p:spTree>
    <p:extLst>
      <p:ext uri="{BB962C8B-B14F-4D97-AF65-F5344CB8AC3E}">
        <p14:creationId xmlns:p14="http://schemas.microsoft.com/office/powerpoint/2010/main" val="28161042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1C2E-FEC6-9F6D-9C60-EDC3135DE2D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9496D8A-4AB1-024B-2110-6F7C03065214}"/>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2.23. CHI PHÍ – </a:t>
            </a:r>
            <a:r>
              <a:rPr lang="en-US" sz="2000" b="1" dirty="0">
                <a:solidFill>
                  <a:schemeClr val="accent2">
                    <a:lumMod val="75000"/>
                  </a:schemeClr>
                </a:solidFill>
              </a:rPr>
              <a:t>CƯỚC TÀU</a:t>
            </a:r>
            <a:endParaRPr lang="en-US" sz="2000" dirty="0"/>
          </a:p>
        </p:txBody>
      </p:sp>
      <p:pic>
        <p:nvPicPr>
          <p:cNvPr id="3" name="Picture 2">
            <a:extLst>
              <a:ext uri="{FF2B5EF4-FFF2-40B4-BE49-F238E27FC236}">
                <a16:creationId xmlns:a16="http://schemas.microsoft.com/office/drawing/2014/main" id="{03DEFAD8-E5B5-33CE-26F2-3054EA322430}"/>
              </a:ext>
            </a:extLst>
          </p:cNvPr>
          <p:cNvPicPr>
            <a:picLocks noChangeAspect="1"/>
          </p:cNvPicPr>
          <p:nvPr/>
        </p:nvPicPr>
        <p:blipFill>
          <a:blip r:embed="rId2"/>
          <a:stretch>
            <a:fillRect/>
          </a:stretch>
        </p:blipFill>
        <p:spPr>
          <a:xfrm>
            <a:off x="0" y="524366"/>
            <a:ext cx="9144000" cy="4094768"/>
          </a:xfrm>
          <a:prstGeom prst="rect">
            <a:avLst/>
          </a:prstGeom>
        </p:spPr>
      </p:pic>
    </p:spTree>
    <p:extLst>
      <p:ext uri="{BB962C8B-B14F-4D97-AF65-F5344CB8AC3E}">
        <p14:creationId xmlns:p14="http://schemas.microsoft.com/office/powerpoint/2010/main" val="1808979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6AC2B-16B2-9372-1E65-AB45CBD6FE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88444-E6F3-3101-B2AF-3B455F2BBD35}"/>
              </a:ext>
            </a:extLst>
          </p:cNvPr>
          <p:cNvSpPr>
            <a:spLocks noGrp="1"/>
          </p:cNvSpPr>
          <p:nvPr>
            <p:ph type="title"/>
          </p:nvPr>
        </p:nvSpPr>
        <p:spPr>
          <a:xfrm>
            <a:off x="286808" y="1977684"/>
            <a:ext cx="8460000" cy="572700"/>
          </a:xfrm>
        </p:spPr>
        <p:txBody>
          <a:bodyPr/>
          <a:lstStyle/>
          <a:p>
            <a:pPr algn="ctr"/>
            <a:r>
              <a:rPr lang="en-US" b="1">
                <a:solidFill>
                  <a:schemeClr val="tx1">
                    <a:lumMod val="65000"/>
                    <a:lumOff val="35000"/>
                  </a:schemeClr>
                </a:solidFill>
              </a:rPr>
              <a:t>3. BÁO CÁO THỰC HIỆN NGÂN SÁCH</a:t>
            </a:r>
          </a:p>
        </p:txBody>
      </p:sp>
    </p:spTree>
    <p:extLst>
      <p:ext uri="{BB962C8B-B14F-4D97-AF65-F5344CB8AC3E}">
        <p14:creationId xmlns:p14="http://schemas.microsoft.com/office/powerpoint/2010/main" val="3853856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23D81-70D2-7F9F-B75C-EA1654DF0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887BFE-815C-615F-B644-76B304CE4911}"/>
              </a:ext>
            </a:extLst>
          </p:cNvPr>
          <p:cNvSpPr>
            <a:spLocks noGrp="1"/>
          </p:cNvSpPr>
          <p:nvPr>
            <p:ph type="title"/>
          </p:nvPr>
        </p:nvSpPr>
        <p:spPr>
          <a:xfrm>
            <a:off x="0" y="-59530"/>
            <a:ext cx="9126329" cy="395111"/>
          </a:xfrm>
        </p:spPr>
        <p:txBody>
          <a:bodyPr/>
          <a:lstStyle/>
          <a:p>
            <a:pPr algn="ctr"/>
            <a:r>
              <a:rPr lang="en-US" sz="1800" b="1" dirty="0">
                <a:solidFill>
                  <a:srgbClr val="00B050"/>
                </a:solidFill>
              </a:rPr>
              <a:t>3.1 TÌNH HÌNH THỰC HIỆN NGÂN SÁCH THÁNG 12 NĂM 2025 </a:t>
            </a:r>
            <a:r>
              <a:rPr lang="en-US" sz="1800" dirty="0">
                <a:solidFill>
                  <a:srgbClr val="00B050"/>
                </a:solidFill>
              </a:rPr>
              <a:t>(ĐVT: Triệu </a:t>
            </a:r>
            <a:r>
              <a:rPr lang="en-US" sz="1800" dirty="0" err="1">
                <a:solidFill>
                  <a:srgbClr val="00B050"/>
                </a:solidFill>
              </a:rPr>
              <a:t>đồng</a:t>
            </a:r>
            <a:r>
              <a:rPr lang="en-US" sz="1800" dirty="0">
                <a:solidFill>
                  <a:srgbClr val="00B050"/>
                </a:solidFill>
              </a:rPr>
              <a:t>)</a:t>
            </a:r>
            <a:endParaRPr lang="en-US" sz="1800" i="1" dirty="0"/>
          </a:p>
        </p:txBody>
      </p:sp>
      <p:sp>
        <p:nvSpPr>
          <p:cNvPr id="22" name="TextBox 21">
            <a:extLst>
              <a:ext uri="{FF2B5EF4-FFF2-40B4-BE49-F238E27FC236}">
                <a16:creationId xmlns:a16="http://schemas.microsoft.com/office/drawing/2014/main" id="{E81E2252-842F-B8CD-C22C-65CAF6EF6E09}"/>
              </a:ext>
            </a:extLst>
          </p:cNvPr>
          <p:cNvSpPr txBox="1"/>
          <p:nvPr/>
        </p:nvSpPr>
        <p:spPr>
          <a:xfrm>
            <a:off x="-54593" y="4734539"/>
            <a:ext cx="6503159" cy="8125301"/>
          </a:xfrm>
          <a:prstGeom prst="rect">
            <a:avLst/>
          </a:prstGeom>
          <a:noFill/>
        </p:spPr>
        <p:txBody>
          <a:bodyPr wrap="square">
            <a:spAutoFit/>
          </a:bodyPr>
          <a:lstStyle/>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a:p>
            <a:endParaRPr lang="en-US" sz="900" i="1" u="sng">
              <a:latin typeface="+mn-lt"/>
            </a:endParaRPr>
          </a:p>
          <a:p>
            <a:endParaRPr lang="en-US" sz="900" b="0" i="1" u="sng" strike="noStrike">
              <a:solidFill>
                <a:srgbClr val="000000"/>
              </a:solidFill>
              <a:effectLst/>
              <a:latin typeface="+mn-lt"/>
            </a:endParaRPr>
          </a:p>
        </p:txBody>
      </p:sp>
      <p:pic>
        <p:nvPicPr>
          <p:cNvPr id="6" name="Picture 5">
            <a:extLst>
              <a:ext uri="{FF2B5EF4-FFF2-40B4-BE49-F238E27FC236}">
                <a16:creationId xmlns:a16="http://schemas.microsoft.com/office/drawing/2014/main" id="{3035DE79-1C78-D0E9-8B55-633C4CD34707}"/>
              </a:ext>
            </a:extLst>
          </p:cNvPr>
          <p:cNvPicPr>
            <a:picLocks noChangeAspect="1"/>
          </p:cNvPicPr>
          <p:nvPr/>
        </p:nvPicPr>
        <p:blipFill>
          <a:blip r:embed="rId3"/>
          <a:stretch>
            <a:fillRect/>
          </a:stretch>
        </p:blipFill>
        <p:spPr>
          <a:xfrm>
            <a:off x="-17671" y="268932"/>
            <a:ext cx="9144000" cy="4660227"/>
          </a:xfrm>
          <a:prstGeom prst="rect">
            <a:avLst/>
          </a:prstGeom>
        </p:spPr>
      </p:pic>
    </p:spTree>
    <p:extLst>
      <p:ext uri="{BB962C8B-B14F-4D97-AF65-F5344CB8AC3E}">
        <p14:creationId xmlns:p14="http://schemas.microsoft.com/office/powerpoint/2010/main" val="28360786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84431-5FCB-FAC0-41C8-6F19602E1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F65962-D058-F07F-DC04-EFA665BB7B3C}"/>
              </a:ext>
            </a:extLst>
          </p:cNvPr>
          <p:cNvSpPr>
            <a:spLocks noGrp="1"/>
          </p:cNvSpPr>
          <p:nvPr>
            <p:ph type="title"/>
          </p:nvPr>
        </p:nvSpPr>
        <p:spPr>
          <a:xfrm>
            <a:off x="0" y="-94596"/>
            <a:ext cx="9143999" cy="395111"/>
          </a:xfrm>
        </p:spPr>
        <p:txBody>
          <a:bodyPr/>
          <a:lstStyle/>
          <a:p>
            <a:pPr algn="ctr"/>
            <a:r>
              <a:rPr lang="en-US" sz="2000" b="1">
                <a:solidFill>
                  <a:srgbClr val="119303"/>
                </a:solidFill>
              </a:rPr>
              <a:t>3.2. CHI PHÍ – </a:t>
            </a:r>
            <a:r>
              <a:rPr lang="en-US" sz="2000" b="1">
                <a:solidFill>
                  <a:schemeClr val="accent2">
                    <a:lumMod val="75000"/>
                  </a:schemeClr>
                </a:solidFill>
              </a:rPr>
              <a:t>CHI PHÍ TRÊN TẤN </a:t>
            </a:r>
            <a:r>
              <a:rPr lang="en-US" sz="2000" b="1" i="1">
                <a:solidFill>
                  <a:schemeClr val="accent2">
                    <a:lumMod val="75000"/>
                  </a:schemeClr>
                </a:solidFill>
              </a:rPr>
              <a:t>(</a:t>
            </a:r>
            <a:r>
              <a:rPr lang="en-US" sz="2000" b="1" i="1" err="1">
                <a:solidFill>
                  <a:schemeClr val="accent2">
                    <a:lumMod val="75000"/>
                  </a:schemeClr>
                </a:solidFill>
              </a:rPr>
              <a:t>triệu</a:t>
            </a:r>
            <a:r>
              <a:rPr lang="en-US" sz="2000" b="1" i="1">
                <a:solidFill>
                  <a:schemeClr val="accent2">
                    <a:lumMod val="75000"/>
                  </a:schemeClr>
                </a:solidFill>
              </a:rPr>
              <a:t> </a:t>
            </a:r>
            <a:r>
              <a:rPr lang="en-US" sz="2000" b="1" i="1" err="1">
                <a:solidFill>
                  <a:schemeClr val="accent2">
                    <a:lumMod val="75000"/>
                  </a:schemeClr>
                </a:solidFill>
              </a:rPr>
              <a:t>đồng</a:t>
            </a:r>
            <a:r>
              <a:rPr lang="en-US" sz="2000" b="1" i="1">
                <a:solidFill>
                  <a:schemeClr val="accent2">
                    <a:lumMod val="75000"/>
                  </a:schemeClr>
                </a:solidFill>
              </a:rPr>
              <a:t>/</a:t>
            </a:r>
            <a:r>
              <a:rPr lang="en-US" sz="2000" b="1" i="1" err="1">
                <a:solidFill>
                  <a:schemeClr val="accent2">
                    <a:lumMod val="75000"/>
                  </a:schemeClr>
                </a:solidFill>
              </a:rPr>
              <a:t>tấn</a:t>
            </a:r>
            <a:r>
              <a:rPr lang="en-US" sz="2000" b="1" i="1">
                <a:solidFill>
                  <a:schemeClr val="accent2">
                    <a:lumMod val="75000"/>
                  </a:schemeClr>
                </a:solidFill>
              </a:rPr>
              <a:t>)</a:t>
            </a:r>
            <a:endParaRPr lang="en-US" sz="1500">
              <a:solidFill>
                <a:srgbClr val="00B050"/>
              </a:solidFill>
              <a:latin typeface="+mn-lt"/>
            </a:endParaRPr>
          </a:p>
        </p:txBody>
      </p:sp>
      <p:pic>
        <p:nvPicPr>
          <p:cNvPr id="5" name="Picture 4">
            <a:extLst>
              <a:ext uri="{FF2B5EF4-FFF2-40B4-BE49-F238E27FC236}">
                <a16:creationId xmlns:a16="http://schemas.microsoft.com/office/drawing/2014/main" id="{B6F8070A-2677-CD62-FB02-8A44843F1B0F}"/>
              </a:ext>
            </a:extLst>
          </p:cNvPr>
          <p:cNvPicPr>
            <a:picLocks noChangeAspect="1"/>
          </p:cNvPicPr>
          <p:nvPr/>
        </p:nvPicPr>
        <p:blipFill>
          <a:blip r:embed="rId3"/>
          <a:stretch>
            <a:fillRect/>
          </a:stretch>
        </p:blipFill>
        <p:spPr>
          <a:xfrm>
            <a:off x="0" y="300515"/>
            <a:ext cx="9144000" cy="4544440"/>
          </a:xfrm>
          <a:prstGeom prst="rect">
            <a:avLst/>
          </a:prstGeom>
        </p:spPr>
      </p:pic>
    </p:spTree>
    <p:extLst>
      <p:ext uri="{BB962C8B-B14F-4D97-AF65-F5344CB8AC3E}">
        <p14:creationId xmlns:p14="http://schemas.microsoft.com/office/powerpoint/2010/main" val="37802823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BA4B8-CE3A-010D-D81A-D65D79E09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B56372-A22E-C300-03BE-857E86678CDB}"/>
              </a:ext>
            </a:extLst>
          </p:cNvPr>
          <p:cNvSpPr>
            <a:spLocks noGrp="1"/>
          </p:cNvSpPr>
          <p:nvPr>
            <p:ph type="title"/>
          </p:nvPr>
        </p:nvSpPr>
        <p:spPr>
          <a:xfrm>
            <a:off x="0" y="-59530"/>
            <a:ext cx="9144000" cy="395111"/>
          </a:xfrm>
        </p:spPr>
        <p:txBody>
          <a:bodyPr/>
          <a:lstStyle/>
          <a:p>
            <a:pPr algn="ctr"/>
            <a:r>
              <a:rPr lang="en-US" sz="2000" b="1" dirty="0">
                <a:solidFill>
                  <a:srgbClr val="119303"/>
                </a:solidFill>
              </a:rPr>
              <a:t>3.3. CHI PHÍ – </a:t>
            </a:r>
            <a:r>
              <a:rPr lang="en-US" sz="2000" b="1" dirty="0">
                <a:solidFill>
                  <a:schemeClr val="accent2">
                    <a:lumMod val="75000"/>
                  </a:schemeClr>
                </a:solidFill>
              </a:rPr>
              <a:t>TỶ TRỌNG CHI PHÍ TRÊN TẤN</a:t>
            </a:r>
            <a:endParaRPr lang="en-US" sz="1500" dirty="0">
              <a:solidFill>
                <a:srgbClr val="00B050"/>
              </a:solidFill>
              <a:latin typeface="+mn-lt"/>
            </a:endParaRPr>
          </a:p>
        </p:txBody>
      </p:sp>
      <p:pic>
        <p:nvPicPr>
          <p:cNvPr id="4" name="Picture 3">
            <a:extLst>
              <a:ext uri="{FF2B5EF4-FFF2-40B4-BE49-F238E27FC236}">
                <a16:creationId xmlns:a16="http://schemas.microsoft.com/office/drawing/2014/main" id="{C4C768AE-0630-0C02-F5F4-4CAC7859D0E0}"/>
              </a:ext>
            </a:extLst>
          </p:cNvPr>
          <p:cNvPicPr>
            <a:picLocks noChangeAspect="1"/>
          </p:cNvPicPr>
          <p:nvPr/>
        </p:nvPicPr>
        <p:blipFill>
          <a:blip r:embed="rId3"/>
          <a:stretch>
            <a:fillRect/>
          </a:stretch>
        </p:blipFill>
        <p:spPr>
          <a:xfrm>
            <a:off x="0" y="433072"/>
            <a:ext cx="9144000" cy="4277356"/>
          </a:xfrm>
          <a:prstGeom prst="rect">
            <a:avLst/>
          </a:prstGeom>
        </p:spPr>
      </p:pic>
      <p:sp>
        <p:nvSpPr>
          <p:cNvPr id="5" name="Rectangle 4">
            <a:extLst>
              <a:ext uri="{FF2B5EF4-FFF2-40B4-BE49-F238E27FC236}">
                <a16:creationId xmlns:a16="http://schemas.microsoft.com/office/drawing/2014/main" id="{2E68F7D9-3C7D-46AC-B3D3-881A5CB7AC44}"/>
              </a:ext>
            </a:extLst>
          </p:cNvPr>
          <p:cNvSpPr/>
          <p:nvPr/>
        </p:nvSpPr>
        <p:spPr>
          <a:xfrm>
            <a:off x="2456962" y="363570"/>
            <a:ext cx="1128638" cy="449192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518C9F8-C7BA-09BF-A6C3-F4F8DA8C8CC6}"/>
              </a:ext>
            </a:extLst>
          </p:cNvPr>
          <p:cNvSpPr/>
          <p:nvPr/>
        </p:nvSpPr>
        <p:spPr>
          <a:xfrm>
            <a:off x="8078400" y="335581"/>
            <a:ext cx="1065599" cy="451991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589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06BA7-0079-4869-7D55-5FDDA922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2625F-58E7-2ECA-229D-BE00776849B7}"/>
              </a:ext>
            </a:extLst>
          </p:cNvPr>
          <p:cNvSpPr>
            <a:spLocks noGrp="1"/>
          </p:cNvSpPr>
          <p:nvPr>
            <p:ph type="title"/>
          </p:nvPr>
        </p:nvSpPr>
        <p:spPr>
          <a:xfrm>
            <a:off x="286808" y="1977684"/>
            <a:ext cx="8460000" cy="572700"/>
          </a:xfrm>
        </p:spPr>
        <p:txBody>
          <a:bodyPr/>
          <a:lstStyle/>
          <a:p>
            <a:pPr algn="ctr"/>
            <a:r>
              <a:rPr lang="en-US" b="1">
                <a:solidFill>
                  <a:schemeClr val="tx1">
                    <a:lumMod val="65000"/>
                    <a:lumOff val="35000"/>
                  </a:schemeClr>
                </a:solidFill>
              </a:rPr>
              <a:t>4. KẾ HOẠCH HÀNH ĐỘNG</a:t>
            </a:r>
          </a:p>
        </p:txBody>
      </p:sp>
    </p:spTree>
    <p:extLst>
      <p:ext uri="{BB962C8B-B14F-4D97-AF65-F5344CB8AC3E}">
        <p14:creationId xmlns:p14="http://schemas.microsoft.com/office/powerpoint/2010/main" val="3990294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C8F84-ADF0-6867-BA61-177E9C2ED985}"/>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C5039040-2CA4-4DB2-C986-24CD5EF3F5EF}"/>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4.1</a:t>
            </a:r>
            <a:r>
              <a:rPr lang="vi-VN" sz="2000" b="1" dirty="0">
                <a:solidFill>
                  <a:srgbClr val="119303"/>
                </a:solidFill>
              </a:rPr>
              <a:t>. KẾ HOẠCH HÀNH ĐỘNG </a:t>
            </a:r>
            <a:r>
              <a:rPr lang="en-US" sz="2000" b="1" dirty="0">
                <a:solidFill>
                  <a:srgbClr val="119303"/>
                </a:solidFill>
              </a:rPr>
              <a:t>– </a:t>
            </a:r>
            <a:r>
              <a:rPr lang="vi-VN" sz="2000" b="1" dirty="0">
                <a:solidFill>
                  <a:schemeClr val="accent2">
                    <a:lumMod val="75000"/>
                  </a:schemeClr>
                </a:solidFill>
              </a:rPr>
              <a:t>GIÁ TRỊ CẢI TIẾN </a:t>
            </a:r>
            <a:r>
              <a:rPr lang="en-US" sz="2000" b="1" dirty="0">
                <a:solidFill>
                  <a:schemeClr val="accent2">
                    <a:lumMod val="75000"/>
                  </a:schemeClr>
                </a:solidFill>
              </a:rPr>
              <a:t>11</a:t>
            </a:r>
            <a:r>
              <a:rPr lang="vi-VN" sz="2000" b="1" dirty="0">
                <a:solidFill>
                  <a:schemeClr val="accent2">
                    <a:lumMod val="75000"/>
                  </a:schemeClr>
                </a:solidFill>
              </a:rPr>
              <a:t> THÁNG ĐẦU NĂM</a:t>
            </a:r>
            <a:endParaRPr lang="en-US" sz="2000" i="1" dirty="0"/>
          </a:p>
        </p:txBody>
      </p:sp>
      <p:graphicFrame>
        <p:nvGraphicFramePr>
          <p:cNvPr id="2" name="Table 1">
            <a:extLst>
              <a:ext uri="{FF2B5EF4-FFF2-40B4-BE49-F238E27FC236}">
                <a16:creationId xmlns:a16="http://schemas.microsoft.com/office/drawing/2014/main" id="{62D2EB87-4454-DFED-AE7E-01577F63F7CC}"/>
              </a:ext>
            </a:extLst>
          </p:cNvPr>
          <p:cNvGraphicFramePr>
            <a:graphicFrameLocks noGrp="1"/>
          </p:cNvGraphicFramePr>
          <p:nvPr>
            <p:extLst>
              <p:ext uri="{D42A27DB-BD31-4B8C-83A1-F6EECF244321}">
                <p14:modId xmlns:p14="http://schemas.microsoft.com/office/powerpoint/2010/main" val="4282571074"/>
              </p:ext>
            </p:extLst>
          </p:nvPr>
        </p:nvGraphicFramePr>
        <p:xfrm>
          <a:off x="35337" y="530082"/>
          <a:ext cx="5983325" cy="1464110"/>
        </p:xfrm>
        <a:graphic>
          <a:graphicData uri="http://schemas.openxmlformats.org/drawingml/2006/table">
            <a:tbl>
              <a:tblPr>
                <a:tableStyleId>{6A077030-E235-474E-B3E8-3EB61F41259E}</a:tableStyleId>
              </a:tblPr>
              <a:tblGrid>
                <a:gridCol w="408474">
                  <a:extLst>
                    <a:ext uri="{9D8B030D-6E8A-4147-A177-3AD203B41FA5}">
                      <a16:colId xmlns:a16="http://schemas.microsoft.com/office/drawing/2014/main" val="536542625"/>
                    </a:ext>
                  </a:extLst>
                </a:gridCol>
                <a:gridCol w="4552569">
                  <a:extLst>
                    <a:ext uri="{9D8B030D-6E8A-4147-A177-3AD203B41FA5}">
                      <a16:colId xmlns:a16="http://schemas.microsoft.com/office/drawing/2014/main" val="2931250246"/>
                    </a:ext>
                  </a:extLst>
                </a:gridCol>
                <a:gridCol w="1022282">
                  <a:extLst>
                    <a:ext uri="{9D8B030D-6E8A-4147-A177-3AD203B41FA5}">
                      <a16:colId xmlns:a16="http://schemas.microsoft.com/office/drawing/2014/main" val="56905692"/>
                    </a:ext>
                  </a:extLst>
                </a:gridCol>
              </a:tblGrid>
              <a:tr h="333920">
                <a:tc>
                  <a:txBody>
                    <a:bodyPr/>
                    <a:lstStyle/>
                    <a:p>
                      <a:pPr algn="ctr" fontAlgn="b">
                        <a:buNone/>
                      </a:pPr>
                      <a:r>
                        <a:rPr lang="en-US" sz="1300" b="1" u="none" strike="noStrike">
                          <a:solidFill>
                            <a:schemeClr val="bg1"/>
                          </a:solidFill>
                          <a:effectLst/>
                          <a:latin typeface="Aptos Display" panose="020B0004020202020204" pitchFamily="34" charset="0"/>
                        </a:rPr>
                        <a:t>STT</a:t>
                      </a:r>
                      <a:endParaRPr lang="en-US" sz="1300" b="1" i="0" u="none" strike="noStrike">
                        <a:solidFill>
                          <a:schemeClr val="bg1"/>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119303"/>
                    </a:solidFill>
                  </a:tcPr>
                </a:tc>
                <a:tc>
                  <a:txBody>
                    <a:bodyPr/>
                    <a:lstStyle/>
                    <a:p>
                      <a:pPr algn="ctr" fontAlgn="b">
                        <a:buNone/>
                      </a:pPr>
                      <a:r>
                        <a:rPr lang="en-US" sz="1300" b="1" u="none" strike="noStrike" err="1">
                          <a:solidFill>
                            <a:schemeClr val="bg1"/>
                          </a:solidFill>
                          <a:effectLst/>
                          <a:latin typeface="Aptos Display" panose="020B0004020202020204" pitchFamily="34" charset="0"/>
                        </a:rPr>
                        <a:t>Nội</a:t>
                      </a:r>
                      <a:r>
                        <a:rPr lang="en-US" sz="1300" b="1" u="none" strike="noStrike">
                          <a:solidFill>
                            <a:schemeClr val="bg1"/>
                          </a:solidFill>
                          <a:effectLst/>
                          <a:latin typeface="Aptos Display" panose="020B0004020202020204" pitchFamily="34" charset="0"/>
                        </a:rPr>
                        <a:t> dung</a:t>
                      </a:r>
                      <a:endParaRPr lang="en-US" sz="1300" b="1" i="0" u="none" strike="noStrike">
                        <a:solidFill>
                          <a:schemeClr val="bg1"/>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119303"/>
                    </a:solidFill>
                  </a:tcPr>
                </a:tc>
                <a:tc>
                  <a:txBody>
                    <a:bodyPr/>
                    <a:lstStyle/>
                    <a:p>
                      <a:pPr algn="ctr" fontAlgn="b">
                        <a:buNone/>
                      </a:pPr>
                      <a:r>
                        <a:rPr lang="en-US" sz="1300" b="1" u="none" strike="noStrike" err="1">
                          <a:solidFill>
                            <a:schemeClr val="bg1"/>
                          </a:solidFill>
                          <a:effectLst/>
                          <a:latin typeface="Aptos Display" panose="020B0004020202020204" pitchFamily="34" charset="0"/>
                        </a:rPr>
                        <a:t>Giá</a:t>
                      </a:r>
                      <a:r>
                        <a:rPr lang="en-US" sz="1300" b="1" u="none" strike="noStrike">
                          <a:solidFill>
                            <a:schemeClr val="bg1"/>
                          </a:solidFill>
                          <a:effectLst/>
                          <a:latin typeface="Aptos Display" panose="020B0004020202020204" pitchFamily="34" charset="0"/>
                        </a:rPr>
                        <a:t> </a:t>
                      </a:r>
                      <a:r>
                        <a:rPr lang="en-US" sz="1300" b="1" u="none" strike="noStrike" err="1">
                          <a:solidFill>
                            <a:schemeClr val="bg1"/>
                          </a:solidFill>
                          <a:effectLst/>
                          <a:latin typeface="Aptos Display" panose="020B0004020202020204" pitchFamily="34" charset="0"/>
                        </a:rPr>
                        <a:t>trị</a:t>
                      </a:r>
                      <a:endParaRPr lang="en-US" sz="1300" b="1" i="0" u="none" strike="noStrike">
                        <a:solidFill>
                          <a:schemeClr val="bg1"/>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solidFill>
                      <a:srgbClr val="119303"/>
                    </a:solidFill>
                  </a:tcPr>
                </a:tc>
                <a:extLst>
                  <a:ext uri="{0D108BD9-81ED-4DB2-BD59-A6C34878D82A}">
                    <a16:rowId xmlns:a16="http://schemas.microsoft.com/office/drawing/2014/main" val="3270704536"/>
                  </a:ext>
                </a:extLst>
              </a:tr>
              <a:tr h="226038">
                <a:tc>
                  <a:txBody>
                    <a:bodyPr/>
                    <a:lstStyle/>
                    <a:p>
                      <a:pPr algn="ctr" fontAlgn="b">
                        <a:buNone/>
                      </a:pPr>
                      <a:r>
                        <a:rPr lang="en-US" sz="1300" b="1" u="none" strike="noStrike">
                          <a:effectLst/>
                          <a:latin typeface="Aptos Display" panose="020B0004020202020204" pitchFamily="34" charset="0"/>
                        </a:rPr>
                        <a:t>1</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US" sz="1300" b="1" u="none" strike="noStrike" err="1">
                          <a:effectLst/>
                          <a:latin typeface="Aptos Display" panose="020B0004020202020204" pitchFamily="34" charset="0"/>
                        </a:rPr>
                        <a:t>Mục</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tiêu</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giá</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trị</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cải</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tiến</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tiết</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kiệm</a:t>
                      </a:r>
                      <a:r>
                        <a:rPr lang="en-US" sz="1300" b="1" u="none" strike="noStrike">
                          <a:effectLst/>
                          <a:latin typeface="Aptos Display" panose="020B0004020202020204" pitchFamily="34" charset="0"/>
                        </a:rPr>
                        <a:t> 2025 (</a:t>
                      </a:r>
                      <a:r>
                        <a:rPr lang="en-US" sz="1300" b="1" u="none" strike="noStrike" err="1">
                          <a:effectLst/>
                          <a:latin typeface="Aptos Display" panose="020B0004020202020204" pitchFamily="34" charset="0"/>
                        </a:rPr>
                        <a:t>tỷ</a:t>
                      </a:r>
                      <a:r>
                        <a:rPr lang="en-US" sz="1300" b="1" u="none" strike="noStrike">
                          <a:effectLst/>
                          <a:latin typeface="Aptos Display" panose="020B0004020202020204" pitchFamily="34" charset="0"/>
                        </a:rPr>
                        <a:t>)</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300" b="1" u="none" strike="noStrike">
                          <a:effectLst/>
                          <a:latin typeface="Aptos Display" panose="020B0004020202020204" pitchFamily="34" charset="0"/>
                        </a:rPr>
                        <a:t>50,000 </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0492500"/>
                  </a:ext>
                </a:extLst>
              </a:tr>
              <a:tr h="226038">
                <a:tc>
                  <a:txBody>
                    <a:bodyPr/>
                    <a:lstStyle/>
                    <a:p>
                      <a:pPr algn="ctr" fontAlgn="b">
                        <a:buNone/>
                      </a:pPr>
                      <a:r>
                        <a:rPr lang="en-US" sz="1300" u="none" strike="noStrike">
                          <a:effectLst/>
                          <a:latin typeface="Aptos Display" panose="020B0004020202020204" pitchFamily="34" charset="0"/>
                        </a:rPr>
                        <a:t>2</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Mục</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tiêu</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giá</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trị</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tiết</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kiệm</a:t>
                      </a:r>
                      <a:r>
                        <a:rPr lang="en-US" sz="1300" u="none" strike="noStrike">
                          <a:effectLst/>
                          <a:latin typeface="Aptos Display" panose="020B0004020202020204" pitchFamily="34" charset="0"/>
                        </a:rPr>
                        <a:t> / </a:t>
                      </a:r>
                      <a:r>
                        <a:rPr lang="en-US" sz="1300" u="none" strike="noStrike" err="1">
                          <a:effectLst/>
                          <a:latin typeface="Aptos Display" panose="020B0004020202020204" pitchFamily="34" charset="0"/>
                        </a:rPr>
                        <a:t>doanh</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thu</a:t>
                      </a:r>
                      <a:r>
                        <a:rPr lang="en-US" sz="1300" u="none" strike="noStrike">
                          <a:effectLst/>
                          <a:latin typeface="Aptos Display" panose="020B0004020202020204" pitchFamily="34" charset="0"/>
                        </a:rPr>
                        <a:t> 2025</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300" u="none" strike="noStrike">
                          <a:effectLst/>
                          <a:latin typeface="Aptos Display" panose="020B0004020202020204" pitchFamily="34" charset="0"/>
                        </a:rPr>
                        <a:t>2.4%</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83351141"/>
                  </a:ext>
                </a:extLst>
              </a:tr>
              <a:tr h="226038">
                <a:tc>
                  <a:txBody>
                    <a:bodyPr/>
                    <a:lstStyle/>
                    <a:p>
                      <a:pPr algn="ctr" fontAlgn="b">
                        <a:buNone/>
                      </a:pPr>
                      <a:r>
                        <a:rPr lang="en-US" sz="1300" b="1" u="none" strike="noStrike">
                          <a:effectLst/>
                          <a:latin typeface="Aptos Display" panose="020B0004020202020204" pitchFamily="34" charset="0"/>
                        </a:rPr>
                        <a:t>3</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US" sz="1300" b="1" u="none" strike="noStrike" err="1">
                          <a:effectLst/>
                          <a:latin typeface="Aptos Display" panose="020B0004020202020204" pitchFamily="34" charset="0"/>
                        </a:rPr>
                        <a:t>Giá</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trị</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tiết</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kiệm</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thực</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hiện</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lũy</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kế</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đến</a:t>
                      </a:r>
                      <a:r>
                        <a:rPr lang="en-US" sz="1300" b="1" u="none" strike="noStrike">
                          <a:effectLst/>
                          <a:latin typeface="Aptos Display" panose="020B0004020202020204" pitchFamily="34" charset="0"/>
                        </a:rPr>
                        <a:t> T10/2025 (</a:t>
                      </a:r>
                      <a:r>
                        <a:rPr lang="en-US" sz="1300" b="1" u="none" strike="noStrike" err="1">
                          <a:effectLst/>
                          <a:latin typeface="Aptos Display" panose="020B0004020202020204" pitchFamily="34" charset="0"/>
                        </a:rPr>
                        <a:t>tỷ</a:t>
                      </a:r>
                      <a:r>
                        <a:rPr lang="en-US" sz="1300" b="1" u="none" strike="noStrike">
                          <a:effectLst/>
                          <a:latin typeface="Aptos Display" panose="020B0004020202020204" pitchFamily="34" charset="0"/>
                        </a:rPr>
                        <a:t>)</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300" b="1" u="none" strike="noStrike">
                          <a:effectLst/>
                          <a:latin typeface="Aptos Display" panose="020B0004020202020204" pitchFamily="34" charset="0"/>
                        </a:rPr>
                        <a:t>37,323</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17392740"/>
                  </a:ext>
                </a:extLst>
              </a:tr>
              <a:tr h="226038">
                <a:tc>
                  <a:txBody>
                    <a:bodyPr/>
                    <a:lstStyle/>
                    <a:p>
                      <a:pPr algn="ctr" fontAlgn="b">
                        <a:buNone/>
                      </a:pPr>
                      <a:r>
                        <a:rPr lang="en-US" sz="1300" u="none" strike="noStrike">
                          <a:effectLst/>
                          <a:latin typeface="Aptos Display" panose="020B0004020202020204" pitchFamily="34" charset="0"/>
                        </a:rPr>
                        <a:t>4</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thực</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hiện</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giá</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trị</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tiết</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kiệm</a:t>
                      </a:r>
                      <a:r>
                        <a:rPr lang="en-US" sz="1300" u="none" strike="noStrike">
                          <a:effectLst/>
                          <a:latin typeface="Aptos Display" panose="020B0004020202020204" pitchFamily="34" charset="0"/>
                        </a:rPr>
                        <a:t> / </a:t>
                      </a:r>
                      <a:r>
                        <a:rPr lang="en-US" sz="1300" u="none" strike="noStrike" err="1">
                          <a:effectLst/>
                          <a:latin typeface="Aptos Display" panose="020B0004020202020204" pitchFamily="34" charset="0"/>
                        </a:rPr>
                        <a:t>doanh</a:t>
                      </a:r>
                      <a:r>
                        <a:rPr lang="en-US" sz="1300" u="none" strike="noStrike">
                          <a:effectLst/>
                          <a:latin typeface="Aptos Display" panose="020B0004020202020204" pitchFamily="34" charset="0"/>
                        </a:rPr>
                        <a:t> </a:t>
                      </a:r>
                      <a:r>
                        <a:rPr lang="en-US" sz="1300" u="none" strike="noStrike" err="1">
                          <a:effectLst/>
                          <a:latin typeface="Aptos Display" panose="020B0004020202020204" pitchFamily="34" charset="0"/>
                        </a:rPr>
                        <a:t>thu</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300" u="none" strike="noStrike">
                          <a:effectLst/>
                          <a:latin typeface="Aptos Display" panose="020B0004020202020204" pitchFamily="34" charset="0"/>
                        </a:rPr>
                        <a:t>2.6%</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bg1">
                          <a:lumMod val="85000"/>
                        </a:schemeClr>
                      </a:solidFill>
                      <a:prstDash val="sysDot"/>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97659080"/>
                  </a:ext>
                </a:extLst>
              </a:tr>
              <a:tr h="226038">
                <a:tc>
                  <a:txBody>
                    <a:bodyPr/>
                    <a:lstStyle/>
                    <a:p>
                      <a:pPr algn="ctr" fontAlgn="b">
                        <a:buNone/>
                      </a:pPr>
                      <a:r>
                        <a:rPr lang="en-US" sz="1300" b="1" u="none" strike="noStrike">
                          <a:effectLst/>
                          <a:latin typeface="Aptos Display" panose="020B0004020202020204" pitchFamily="34" charset="0"/>
                        </a:rPr>
                        <a:t>5</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r>
                        <a:rPr lang="en-US" sz="1300" b="1" u="none" strike="noStrike" err="1">
                          <a:effectLst/>
                          <a:latin typeface="Aptos Display" panose="020B0004020202020204" pitchFamily="34" charset="0"/>
                        </a:rPr>
                        <a:t>Đến</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tháng</a:t>
                      </a:r>
                      <a:r>
                        <a:rPr lang="en-US" sz="1300" b="1" u="none" strike="noStrike">
                          <a:effectLst/>
                          <a:latin typeface="Aptos Display" panose="020B0004020202020204" pitchFamily="34" charset="0"/>
                        </a:rPr>
                        <a:t> 10 </a:t>
                      </a:r>
                      <a:r>
                        <a:rPr lang="en-US" sz="1300" b="1" u="none" strike="noStrike" err="1">
                          <a:effectLst/>
                          <a:latin typeface="Aptos Display" panose="020B0004020202020204" pitchFamily="34" charset="0"/>
                        </a:rPr>
                        <a:t>tỷ</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lệ</a:t>
                      </a:r>
                      <a:r>
                        <a:rPr lang="en-US" sz="1300" b="1" u="none" strike="noStrike">
                          <a:effectLst/>
                          <a:latin typeface="Aptos Display" panose="020B0004020202020204" pitchFamily="34" charset="0"/>
                        </a:rPr>
                        <a:t> % </a:t>
                      </a:r>
                      <a:r>
                        <a:rPr lang="en-US" sz="1300" b="1" u="none" strike="noStrike" err="1">
                          <a:effectLst/>
                          <a:latin typeface="Aptos Display" panose="020B0004020202020204" pitchFamily="34" charset="0"/>
                        </a:rPr>
                        <a:t>hoàn</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thành</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mục</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tiêu</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giá</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trị</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tiết</a:t>
                      </a:r>
                      <a:r>
                        <a:rPr lang="en-US" sz="1300" b="1" u="none" strike="noStrike">
                          <a:effectLst/>
                          <a:latin typeface="Aptos Display" panose="020B0004020202020204" pitchFamily="34" charset="0"/>
                        </a:rPr>
                        <a:t> </a:t>
                      </a:r>
                      <a:r>
                        <a:rPr lang="en-US" sz="1300" b="1" u="none" strike="noStrike" err="1">
                          <a:effectLst/>
                          <a:latin typeface="Aptos Display" panose="020B0004020202020204" pitchFamily="34" charset="0"/>
                        </a:rPr>
                        <a:t>kiệm</a:t>
                      </a:r>
                      <a:r>
                        <a:rPr lang="en-US" sz="1300" b="1" u="none" strike="noStrike">
                          <a:effectLst/>
                          <a:latin typeface="Aptos Display" panose="020B0004020202020204" pitchFamily="34" charset="0"/>
                        </a:rPr>
                        <a:t> 2025:</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sz="1300" b="1" u="none" strike="noStrike">
                          <a:effectLst/>
                          <a:latin typeface="Aptos Display" panose="020B0004020202020204" pitchFamily="34" charset="0"/>
                        </a:rPr>
                        <a:t>74.6%</a:t>
                      </a:r>
                      <a:endParaRPr lang="en-US" sz="1300" b="1" i="0" u="none" strike="noStrike">
                        <a:solidFill>
                          <a:srgbClr val="000000"/>
                        </a:solidFill>
                        <a:effectLst/>
                        <a:latin typeface="Aptos Display" panose="020B0004020202020204"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85000"/>
                        </a:schemeClr>
                      </a:solidFill>
                      <a:prstDash val="sysDot"/>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49241709"/>
                  </a:ext>
                </a:extLst>
              </a:tr>
            </a:tbl>
          </a:graphicData>
        </a:graphic>
      </p:graphicFrame>
      <p:graphicFrame>
        <p:nvGraphicFramePr>
          <p:cNvPr id="3" name="Table 2">
            <a:extLst>
              <a:ext uri="{FF2B5EF4-FFF2-40B4-BE49-F238E27FC236}">
                <a16:creationId xmlns:a16="http://schemas.microsoft.com/office/drawing/2014/main" id="{2EBB7BB0-CADD-AB4E-4E66-F0C62B85A1A6}"/>
              </a:ext>
            </a:extLst>
          </p:cNvPr>
          <p:cNvGraphicFramePr>
            <a:graphicFrameLocks noGrp="1"/>
          </p:cNvGraphicFramePr>
          <p:nvPr>
            <p:extLst>
              <p:ext uri="{D42A27DB-BD31-4B8C-83A1-F6EECF244321}">
                <p14:modId xmlns:p14="http://schemas.microsoft.com/office/powerpoint/2010/main" val="845573166"/>
              </p:ext>
            </p:extLst>
          </p:nvPr>
        </p:nvGraphicFramePr>
        <p:xfrm>
          <a:off x="35337" y="2223606"/>
          <a:ext cx="9102883" cy="2486943"/>
        </p:xfrm>
        <a:graphic>
          <a:graphicData uri="http://schemas.openxmlformats.org/drawingml/2006/table">
            <a:tbl>
              <a:tblPr/>
              <a:tblGrid>
                <a:gridCol w="205558">
                  <a:extLst>
                    <a:ext uri="{9D8B030D-6E8A-4147-A177-3AD203B41FA5}">
                      <a16:colId xmlns:a16="http://schemas.microsoft.com/office/drawing/2014/main" val="2190533613"/>
                    </a:ext>
                  </a:extLst>
                </a:gridCol>
                <a:gridCol w="1703911">
                  <a:extLst>
                    <a:ext uri="{9D8B030D-6E8A-4147-A177-3AD203B41FA5}">
                      <a16:colId xmlns:a16="http://schemas.microsoft.com/office/drawing/2014/main" val="1205506433"/>
                    </a:ext>
                  </a:extLst>
                </a:gridCol>
                <a:gridCol w="496887">
                  <a:extLst>
                    <a:ext uri="{9D8B030D-6E8A-4147-A177-3AD203B41FA5}">
                      <a16:colId xmlns:a16="http://schemas.microsoft.com/office/drawing/2014/main" val="1774894779"/>
                    </a:ext>
                  </a:extLst>
                </a:gridCol>
                <a:gridCol w="604837">
                  <a:extLst>
                    <a:ext uri="{9D8B030D-6E8A-4147-A177-3AD203B41FA5}">
                      <a16:colId xmlns:a16="http://schemas.microsoft.com/office/drawing/2014/main" val="2746590539"/>
                    </a:ext>
                  </a:extLst>
                </a:gridCol>
                <a:gridCol w="573947">
                  <a:extLst>
                    <a:ext uri="{9D8B030D-6E8A-4147-A177-3AD203B41FA5}">
                      <a16:colId xmlns:a16="http://schemas.microsoft.com/office/drawing/2014/main" val="721843985"/>
                    </a:ext>
                  </a:extLst>
                </a:gridCol>
                <a:gridCol w="475983">
                  <a:extLst>
                    <a:ext uri="{9D8B030D-6E8A-4147-A177-3AD203B41FA5}">
                      <a16:colId xmlns:a16="http://schemas.microsoft.com/office/drawing/2014/main" val="2383482243"/>
                    </a:ext>
                  </a:extLst>
                </a:gridCol>
                <a:gridCol w="504176">
                  <a:extLst>
                    <a:ext uri="{9D8B030D-6E8A-4147-A177-3AD203B41FA5}">
                      <a16:colId xmlns:a16="http://schemas.microsoft.com/office/drawing/2014/main" val="3478345667"/>
                    </a:ext>
                  </a:extLst>
                </a:gridCol>
                <a:gridCol w="504176">
                  <a:extLst>
                    <a:ext uri="{9D8B030D-6E8A-4147-A177-3AD203B41FA5}">
                      <a16:colId xmlns:a16="http://schemas.microsoft.com/office/drawing/2014/main" val="176113189"/>
                    </a:ext>
                  </a:extLst>
                </a:gridCol>
                <a:gridCol w="504176">
                  <a:extLst>
                    <a:ext uri="{9D8B030D-6E8A-4147-A177-3AD203B41FA5}">
                      <a16:colId xmlns:a16="http://schemas.microsoft.com/office/drawing/2014/main" val="1848105192"/>
                    </a:ext>
                  </a:extLst>
                </a:gridCol>
                <a:gridCol w="504176">
                  <a:extLst>
                    <a:ext uri="{9D8B030D-6E8A-4147-A177-3AD203B41FA5}">
                      <a16:colId xmlns:a16="http://schemas.microsoft.com/office/drawing/2014/main" val="3351964617"/>
                    </a:ext>
                  </a:extLst>
                </a:gridCol>
                <a:gridCol w="504176">
                  <a:extLst>
                    <a:ext uri="{9D8B030D-6E8A-4147-A177-3AD203B41FA5}">
                      <a16:colId xmlns:a16="http://schemas.microsoft.com/office/drawing/2014/main" val="2890988335"/>
                    </a:ext>
                  </a:extLst>
                </a:gridCol>
                <a:gridCol w="504176">
                  <a:extLst>
                    <a:ext uri="{9D8B030D-6E8A-4147-A177-3AD203B41FA5}">
                      <a16:colId xmlns:a16="http://schemas.microsoft.com/office/drawing/2014/main" val="4227921369"/>
                    </a:ext>
                  </a:extLst>
                </a:gridCol>
                <a:gridCol w="504176">
                  <a:extLst>
                    <a:ext uri="{9D8B030D-6E8A-4147-A177-3AD203B41FA5}">
                      <a16:colId xmlns:a16="http://schemas.microsoft.com/office/drawing/2014/main" val="3781636684"/>
                    </a:ext>
                  </a:extLst>
                </a:gridCol>
                <a:gridCol w="504176">
                  <a:extLst>
                    <a:ext uri="{9D8B030D-6E8A-4147-A177-3AD203B41FA5}">
                      <a16:colId xmlns:a16="http://schemas.microsoft.com/office/drawing/2014/main" val="221502697"/>
                    </a:ext>
                  </a:extLst>
                </a:gridCol>
                <a:gridCol w="504176">
                  <a:extLst>
                    <a:ext uri="{9D8B030D-6E8A-4147-A177-3AD203B41FA5}">
                      <a16:colId xmlns:a16="http://schemas.microsoft.com/office/drawing/2014/main" val="2262579697"/>
                    </a:ext>
                  </a:extLst>
                </a:gridCol>
                <a:gridCol w="504176">
                  <a:extLst>
                    <a:ext uri="{9D8B030D-6E8A-4147-A177-3AD203B41FA5}">
                      <a16:colId xmlns:a16="http://schemas.microsoft.com/office/drawing/2014/main" val="1851265406"/>
                    </a:ext>
                  </a:extLst>
                </a:gridCol>
              </a:tblGrid>
              <a:tr h="417989">
                <a:tc>
                  <a:txBody>
                    <a:bodyPr/>
                    <a:lstStyle/>
                    <a:p>
                      <a:pPr algn="l" fontAlgn="ctr"/>
                      <a:r>
                        <a:rPr lang="en-US" sz="1100" b="1" i="0" u="none" strike="noStrike">
                          <a:solidFill>
                            <a:srgbClr val="FFFFFF"/>
                          </a:solidFill>
                          <a:effectLst/>
                          <a:latin typeface="Aptos Display" panose="020B0004020202020204" pitchFamily="34" charset="0"/>
                        </a:rPr>
                        <a:t>STT</a:t>
                      </a:r>
                    </a:p>
                  </a:txBody>
                  <a:tcPr marL="5260" marR="5260" marT="5260" marB="0" anchor="ctr">
                    <a:lnL w="12700" cap="flat" cmpd="sng" algn="ctr">
                      <a:solidFill>
                        <a:schemeClr val="tx1"/>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l" fontAlgn="ctr"/>
                      <a:r>
                        <a:rPr lang="en-US" sz="1100" b="1" i="0" u="none" strike="noStrike" err="1">
                          <a:solidFill>
                            <a:srgbClr val="FFFFFF"/>
                          </a:solidFill>
                          <a:effectLst/>
                          <a:latin typeface="Aptos Display" panose="020B0004020202020204" pitchFamily="34" charset="0"/>
                        </a:rPr>
                        <a:t>Diễn</a:t>
                      </a:r>
                      <a:r>
                        <a:rPr lang="en-US" sz="1100" b="1" i="0" u="none" strike="noStrike">
                          <a:solidFill>
                            <a:srgbClr val="FFFFFF"/>
                          </a:solidFill>
                          <a:effectLst/>
                          <a:latin typeface="Aptos Display" panose="020B0004020202020204" pitchFamily="34" charset="0"/>
                        </a:rPr>
                        <a:t> </a:t>
                      </a:r>
                      <a:r>
                        <a:rPr lang="en-US" sz="1100" b="1" i="0" u="none" strike="noStrike" err="1">
                          <a:solidFill>
                            <a:srgbClr val="FFFFFF"/>
                          </a:solidFill>
                          <a:effectLst/>
                          <a:latin typeface="Aptos Display" panose="020B0004020202020204" pitchFamily="34" charset="0"/>
                        </a:rPr>
                        <a:t>giải</a:t>
                      </a:r>
                      <a:endParaRPr lang="en-US" sz="1100" b="1" i="0" u="none" strike="noStrike">
                        <a:solidFill>
                          <a:srgbClr val="FFFFFF"/>
                        </a:solidFill>
                        <a:effectLst/>
                        <a:latin typeface="Aptos Display" panose="020B0004020202020204" pitchFamily="34" charset="0"/>
                      </a:endParaRP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ctr"/>
                      <a:r>
                        <a:rPr lang="en-US" sz="1100" b="1" i="0" u="none" strike="noStrike">
                          <a:solidFill>
                            <a:srgbClr val="FFFFFF"/>
                          </a:solidFill>
                          <a:effectLst/>
                          <a:latin typeface="Aptos Display" panose="020B0004020202020204" pitchFamily="34" charset="0"/>
                        </a:rPr>
                        <a:t>2023</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50000"/>
                      </a:schemeClr>
                    </a:solidFill>
                  </a:tcPr>
                </a:tc>
                <a:tc>
                  <a:txBody>
                    <a:bodyPr/>
                    <a:lstStyle/>
                    <a:p>
                      <a:pPr algn="ctr" fontAlgn="ctr"/>
                      <a:r>
                        <a:rPr lang="en-US" sz="1100" b="1" i="0" u="none" strike="noStrike">
                          <a:solidFill>
                            <a:srgbClr val="FFFFFF"/>
                          </a:solidFill>
                          <a:effectLst/>
                          <a:latin typeface="Aptos Display" panose="020B0004020202020204" pitchFamily="34" charset="0"/>
                        </a:rPr>
                        <a:t>2024</a:t>
                      </a:r>
                    </a:p>
                  </a:txBody>
                  <a:tcPr marL="5260" marR="5260" marT="5260" marB="0" anchor="ctr">
                    <a:lnL w="6350" cap="flat" cmpd="sng" algn="ctr">
                      <a:solidFill>
                        <a:srgbClr val="FFFFFF"/>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50000"/>
                      </a:schemeClr>
                    </a:solidFill>
                  </a:tcPr>
                </a:tc>
                <a:tc>
                  <a:txBody>
                    <a:bodyPr/>
                    <a:lstStyle/>
                    <a:p>
                      <a:pPr algn="ctr" fontAlgn="ctr"/>
                      <a:r>
                        <a:rPr lang="en-US" sz="1100" b="1" i="0" u="none" strike="noStrike">
                          <a:solidFill>
                            <a:srgbClr val="FFFFFF"/>
                          </a:solidFill>
                          <a:effectLst/>
                          <a:latin typeface="Aptos Display" panose="020B0004020202020204" pitchFamily="34" charset="0"/>
                        </a:rPr>
                        <a:t>LŨY KẾ</a:t>
                      </a:r>
                    </a:p>
                    <a:p>
                      <a:pPr algn="ctr" fontAlgn="ctr"/>
                      <a:r>
                        <a:rPr lang="en-US" sz="1100" b="1" i="0" u="none" strike="noStrike">
                          <a:solidFill>
                            <a:srgbClr val="FFFFFF"/>
                          </a:solidFill>
                          <a:effectLst/>
                          <a:latin typeface="Aptos Display" panose="020B0004020202020204" pitchFamily="34" charset="0"/>
                        </a:rPr>
                        <a:t>2025</a:t>
                      </a:r>
                    </a:p>
                  </a:txBody>
                  <a:tcPr marL="5260" marR="5260" marT="526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ctr"/>
                      <a:r>
                        <a:rPr lang="en-US" sz="1100" b="1" i="0" u="none" strike="noStrike">
                          <a:solidFill>
                            <a:srgbClr val="FFFFFF"/>
                          </a:solidFill>
                          <a:effectLst/>
                          <a:latin typeface="Aptos Display" panose="020B0004020202020204" pitchFamily="34" charset="0"/>
                        </a:rPr>
                        <a:t>T1/25</a:t>
                      </a:r>
                    </a:p>
                  </a:txBody>
                  <a:tcPr marL="5260" marR="5260" marT="5260" marB="0" anchor="ctr">
                    <a:lnL w="28575" cap="flat" cmpd="sng" algn="ctr">
                      <a:solidFill>
                        <a:schemeClr val="tx1"/>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ctr"/>
                      <a:r>
                        <a:rPr lang="en-US" sz="1100" b="1" i="0" u="none" strike="noStrike">
                          <a:solidFill>
                            <a:srgbClr val="FFFFFF"/>
                          </a:solidFill>
                          <a:effectLst/>
                          <a:latin typeface="Aptos Display" panose="020B0004020202020204" pitchFamily="34" charset="0"/>
                        </a:rPr>
                        <a:t>T2/25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T3/25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T4/25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T5/25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T6/25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T7/25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T8/25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T9/25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T10/25</a:t>
                      </a:r>
                    </a:p>
                  </a:txBody>
                  <a:tcPr marL="5260" marR="5260" marT="526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1100" b="1" i="0" u="none" strike="noStrike">
                          <a:solidFill>
                            <a:srgbClr val="FFFFFF"/>
                          </a:solidFill>
                          <a:effectLst/>
                          <a:latin typeface="Aptos Display" panose="020B0004020202020204" pitchFamily="34" charset="0"/>
                        </a:rPr>
                        <a:t>T11/25</a:t>
                      </a:r>
                    </a:p>
                  </a:txBody>
                  <a:tcPr marL="5260" marR="5260" marT="5260" marB="0" anchor="ctr">
                    <a:lnL w="635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extLst>
                  <a:ext uri="{0D108BD9-81ED-4DB2-BD59-A6C34878D82A}">
                    <a16:rowId xmlns:a16="http://schemas.microsoft.com/office/drawing/2014/main" val="404611666"/>
                  </a:ext>
                </a:extLst>
              </a:tr>
              <a:tr h="319969">
                <a:tc>
                  <a:txBody>
                    <a:bodyPr/>
                    <a:lstStyle/>
                    <a:p>
                      <a:pPr algn="ctr" fontAlgn="ctr"/>
                      <a:r>
                        <a:rPr lang="en-US" sz="1100" b="0" i="0" u="none" strike="noStrike">
                          <a:solidFill>
                            <a:srgbClr val="000000"/>
                          </a:solidFill>
                          <a:effectLst/>
                          <a:latin typeface="Aptos Display" panose="020B0004020202020204" pitchFamily="34" charset="0"/>
                        </a:rPr>
                        <a:t>1</a:t>
                      </a:r>
                    </a:p>
                  </a:txBody>
                  <a:tcPr marL="5260" marR="5260" marT="526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vi-VN" sz="1100" b="0" i="0" u="none" strike="noStrike">
                          <a:solidFill>
                            <a:srgbClr val="000000"/>
                          </a:solidFill>
                          <a:effectLst/>
                          <a:latin typeface="Aptos Display" panose="020B0004020202020204" pitchFamily="34" charset="0"/>
                        </a:rPr>
                        <a:t>Số ý tưởng cải tiến khả thi</a:t>
                      </a:r>
                    </a:p>
                  </a:txBody>
                  <a:tcPr marL="5260" marR="5260" marT="52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267</a:t>
                      </a:r>
                    </a:p>
                  </a:txBody>
                  <a:tcPr marL="0" marR="0" marT="0" marB="0" anchor="ctr">
                    <a:lnL w="635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225</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44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25</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025879181"/>
                  </a:ext>
                </a:extLst>
              </a:tr>
              <a:tr h="281689">
                <a:tc>
                  <a:txBody>
                    <a:bodyPr/>
                    <a:lstStyle/>
                    <a:p>
                      <a:pPr algn="ctr" fontAlgn="ctr"/>
                      <a:r>
                        <a:rPr lang="en-US" sz="900" b="0" i="1" u="none" strike="noStrike">
                          <a:solidFill>
                            <a:srgbClr val="727376"/>
                          </a:solidFill>
                          <a:effectLst/>
                          <a:latin typeface="Aptos Display" panose="020B0004020202020204" pitchFamily="34" charset="0"/>
                        </a:rPr>
                        <a:t>2</a:t>
                      </a:r>
                    </a:p>
                  </a:txBody>
                  <a:tcPr marL="5260" marR="5260" marT="526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vi-VN" sz="900" b="0" i="1" u="none" strike="noStrike">
                          <a:solidFill>
                            <a:srgbClr val="727376"/>
                          </a:solidFill>
                          <a:effectLst/>
                          <a:latin typeface="Aptos Display" panose="020B0004020202020204" pitchFamily="34" charset="0"/>
                        </a:rPr>
                        <a:t>- Trong đó số ý tưởng đem lại giá trị tiết kiệm</a:t>
                      </a:r>
                    </a:p>
                  </a:txBody>
                  <a:tcPr marL="5260" marR="5260" marT="52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45</a:t>
                      </a:r>
                    </a:p>
                  </a:txBody>
                  <a:tcPr marL="0" marR="0" marT="0" marB="0" anchor="ctr">
                    <a:lnL w="635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71</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3</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727376"/>
                          </a:solidFill>
                          <a:effectLst/>
                          <a:latin typeface="Atops display"/>
                        </a:rPr>
                        <a:t>6</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110844809"/>
                  </a:ext>
                </a:extLst>
              </a:tr>
              <a:tr h="281689">
                <a:tc>
                  <a:txBody>
                    <a:bodyPr/>
                    <a:lstStyle/>
                    <a:p>
                      <a:pPr algn="ctr" fontAlgn="ctr"/>
                      <a:r>
                        <a:rPr lang="en-US" sz="1100" b="0" i="0" u="none" strike="noStrike">
                          <a:solidFill>
                            <a:srgbClr val="000000"/>
                          </a:solidFill>
                          <a:effectLst/>
                          <a:latin typeface="Aptos Display" panose="020B0004020202020204" pitchFamily="34" charset="0"/>
                        </a:rPr>
                        <a:t>3</a:t>
                      </a:r>
                    </a:p>
                  </a:txBody>
                  <a:tcPr marL="5260" marR="5260" marT="526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en-US" sz="1100" b="0" i="0" u="none" strike="noStrike" err="1">
                          <a:solidFill>
                            <a:srgbClr val="000000"/>
                          </a:solidFill>
                          <a:effectLst/>
                          <a:latin typeface="Aptos Display" panose="020B0004020202020204" pitchFamily="34" charset="0"/>
                        </a:rPr>
                        <a:t>Giá</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trị</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tiết</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kiệm</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đã</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thực</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hiện</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trđ</a:t>
                      </a:r>
                      <a:r>
                        <a:rPr lang="en-US" sz="1100" b="0" i="0" u="none" strike="noStrike">
                          <a:solidFill>
                            <a:srgbClr val="000000"/>
                          </a:solidFill>
                          <a:effectLst/>
                          <a:latin typeface="Aptos Display" panose="020B0004020202020204" pitchFamily="34" charset="0"/>
                        </a:rPr>
                        <a:t>)</a:t>
                      </a:r>
                    </a:p>
                  </a:txBody>
                  <a:tcPr marL="5260" marR="5260" marT="52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8,910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35,633</a:t>
                      </a:r>
                    </a:p>
                  </a:txBody>
                  <a:tcPr marL="0" marR="0" marT="0" marB="0" anchor="ctr">
                    <a:lnL w="635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37,323</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2,819</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1,384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2,451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6,343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3,560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3,635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5,612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2,951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2,937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2,090</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00905511"/>
                  </a:ext>
                </a:extLst>
              </a:tr>
              <a:tr h="281689">
                <a:tc>
                  <a:txBody>
                    <a:bodyPr/>
                    <a:lstStyle/>
                    <a:p>
                      <a:pPr algn="ctr" fontAlgn="ctr"/>
                      <a:r>
                        <a:rPr lang="en-US" sz="1100" b="0" i="0" u="none" strike="noStrike">
                          <a:solidFill>
                            <a:srgbClr val="000000"/>
                          </a:solidFill>
                          <a:effectLst/>
                          <a:latin typeface="Aptos Display" panose="020B0004020202020204" pitchFamily="34" charset="0"/>
                        </a:rPr>
                        <a:t>4</a:t>
                      </a:r>
                    </a:p>
                  </a:txBody>
                  <a:tcPr marL="5260" marR="5260" marT="526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en-US" sz="1100" b="0" i="0" u="none" strike="noStrike" err="1">
                          <a:solidFill>
                            <a:srgbClr val="000000"/>
                          </a:solidFill>
                          <a:effectLst/>
                          <a:latin typeface="Aptos Display" panose="020B0004020202020204" pitchFamily="34" charset="0"/>
                        </a:rPr>
                        <a:t>Giá</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trị</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tiết</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kiệm</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kế</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hoạch</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trđ</a:t>
                      </a:r>
                      <a:r>
                        <a:rPr lang="en-US" sz="1100" b="0" i="0" u="none" strike="noStrike">
                          <a:solidFill>
                            <a:srgbClr val="000000"/>
                          </a:solidFill>
                          <a:effectLst/>
                          <a:latin typeface="Aptos Display" panose="020B0004020202020204" pitchFamily="34" charset="0"/>
                        </a:rPr>
                        <a:t>)</a:t>
                      </a:r>
                    </a:p>
                  </a:txBody>
                  <a:tcPr marL="5260" marR="5260" marT="52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FF"/>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22,804</a:t>
                      </a:r>
                    </a:p>
                  </a:txBody>
                  <a:tcPr marL="0" marR="0" marT="0" marB="0" anchor="ctr">
                    <a:lnL w="635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41,632</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2,980</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2,990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4,459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3,365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3,355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6,159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3,415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4,614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3,365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3,420</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715902909"/>
                  </a:ext>
                </a:extLst>
              </a:tr>
              <a:tr h="281689">
                <a:tc>
                  <a:txBody>
                    <a:bodyPr/>
                    <a:lstStyle/>
                    <a:p>
                      <a:pPr algn="ctr" fontAlgn="ctr"/>
                      <a:r>
                        <a:rPr lang="en-US" sz="1100" b="0" i="1" u="none" strike="noStrike">
                          <a:solidFill>
                            <a:srgbClr val="FF33CC"/>
                          </a:solidFill>
                          <a:effectLst/>
                          <a:latin typeface="Aptos Display" panose="020B0004020202020204" pitchFamily="34" charset="0"/>
                        </a:rPr>
                        <a:t>5</a:t>
                      </a:r>
                    </a:p>
                  </a:txBody>
                  <a:tcPr marL="5260" marR="5260" marT="526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Giá</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trị</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tiết</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kiệm</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đã</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thực</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hiện</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sv</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kế</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hoạch</a:t>
                      </a:r>
                      <a:endParaRPr lang="en-US" sz="900" b="0" i="1" u="none" strike="noStrike">
                        <a:solidFill>
                          <a:srgbClr val="FF33CC"/>
                        </a:solidFill>
                        <a:effectLst/>
                        <a:latin typeface="Aptos Display" panose="020B0004020202020204" pitchFamily="34" charset="0"/>
                      </a:endParaRPr>
                    </a:p>
                  </a:txBody>
                  <a:tcPr marL="5260" marR="5260" marT="52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156.3%</a:t>
                      </a:r>
                    </a:p>
                  </a:txBody>
                  <a:tcPr marL="0" marR="0" marT="0" marB="0" anchor="ctr">
                    <a:lnL w="635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1" i="1" u="none" strike="noStrike">
                          <a:solidFill>
                            <a:srgbClr val="FF33CC"/>
                          </a:solidFill>
                          <a:effectLst/>
                          <a:latin typeface="Atops display"/>
                        </a:rPr>
                        <a:t>89.6%</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94.6%</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118.4%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31.0%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72.9%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189.1%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57.8%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106.4%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159.9%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64.0%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87.3%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61.1%</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63479636"/>
                  </a:ext>
                </a:extLst>
              </a:tr>
              <a:tr h="281689">
                <a:tc>
                  <a:txBody>
                    <a:bodyPr/>
                    <a:lstStyle/>
                    <a:p>
                      <a:pPr algn="ctr" fontAlgn="ctr"/>
                      <a:r>
                        <a:rPr lang="en-US" sz="1100" b="0" i="0" u="none" strike="noStrike">
                          <a:solidFill>
                            <a:srgbClr val="000000"/>
                          </a:solidFill>
                          <a:effectLst/>
                          <a:latin typeface="Aptos Display" panose="020B0004020202020204" pitchFamily="34" charset="0"/>
                        </a:rPr>
                        <a:t>6</a:t>
                      </a:r>
                    </a:p>
                  </a:txBody>
                  <a:tcPr marL="5260" marR="5260" marT="526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ctr"/>
                      <a:r>
                        <a:rPr lang="en-US" sz="1100" b="0" i="0" u="none" strike="noStrike" err="1">
                          <a:solidFill>
                            <a:srgbClr val="000000"/>
                          </a:solidFill>
                          <a:effectLst/>
                          <a:latin typeface="Aptos Display" panose="020B0004020202020204" pitchFamily="34" charset="0"/>
                        </a:rPr>
                        <a:t>Doanh</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thu</a:t>
                      </a:r>
                      <a:r>
                        <a:rPr lang="en-US" sz="1100" b="0" i="0" u="none" strike="noStrike">
                          <a:solidFill>
                            <a:srgbClr val="000000"/>
                          </a:solidFill>
                          <a:effectLst/>
                          <a:latin typeface="Aptos Display" panose="020B0004020202020204" pitchFamily="34" charset="0"/>
                        </a:rPr>
                        <a:t> (</a:t>
                      </a:r>
                      <a:r>
                        <a:rPr lang="en-US" sz="1100" b="0" i="0" u="none" strike="noStrike" err="1">
                          <a:solidFill>
                            <a:srgbClr val="000000"/>
                          </a:solidFill>
                          <a:effectLst/>
                          <a:latin typeface="Aptos Display" panose="020B0004020202020204" pitchFamily="34" charset="0"/>
                        </a:rPr>
                        <a:t>trđ</a:t>
                      </a:r>
                      <a:r>
                        <a:rPr lang="en-US" sz="1100" b="0" i="0" u="none" strike="noStrike">
                          <a:solidFill>
                            <a:srgbClr val="000000"/>
                          </a:solidFill>
                          <a:effectLst/>
                          <a:latin typeface="Aptos Display" panose="020B0004020202020204" pitchFamily="34" charset="0"/>
                        </a:rPr>
                        <a:t>)</a:t>
                      </a:r>
                    </a:p>
                  </a:txBody>
                  <a:tcPr marL="5260" marR="5260" marT="52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685,519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1,191,021</a:t>
                      </a:r>
                    </a:p>
                  </a:txBody>
                  <a:tcPr marL="0" marR="0" marT="0" marB="0" anchor="ctr">
                    <a:lnL w="635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1" i="0" u="none" strike="noStrike">
                          <a:solidFill>
                            <a:srgbClr val="0000FF"/>
                          </a:solidFill>
                          <a:effectLst/>
                          <a:latin typeface="Atops display"/>
                        </a:rPr>
                        <a:t>1,437,768</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114,463</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187,999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150,253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125,430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152,067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119,135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137,991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168,443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84,710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108,929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ctr">
                        <a:buNone/>
                      </a:pPr>
                      <a:r>
                        <a:rPr lang="en-US" sz="1100" b="0" i="0" u="none" strike="noStrike">
                          <a:solidFill>
                            <a:srgbClr val="000000"/>
                          </a:solidFill>
                          <a:effectLst/>
                          <a:latin typeface="Atops display"/>
                        </a:rPr>
                        <a:t>88,348</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957023562"/>
                  </a:ext>
                </a:extLst>
              </a:tr>
              <a:tr h="281689">
                <a:tc>
                  <a:txBody>
                    <a:bodyPr/>
                    <a:lstStyle/>
                    <a:p>
                      <a:pPr algn="ctr" fontAlgn="ctr"/>
                      <a:r>
                        <a:rPr lang="en-US" sz="900" b="0" i="1" u="none" strike="noStrike">
                          <a:solidFill>
                            <a:srgbClr val="FF33CC"/>
                          </a:solidFill>
                          <a:effectLst/>
                          <a:latin typeface="Aptos Display" panose="020B0004020202020204" pitchFamily="34" charset="0"/>
                        </a:rPr>
                        <a:t>7</a:t>
                      </a:r>
                    </a:p>
                  </a:txBody>
                  <a:tcPr marL="5260" marR="5260" marT="526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Giá</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trị</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cải</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tiến</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tiết</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kiệm</a:t>
                      </a:r>
                      <a:r>
                        <a:rPr lang="en-US" sz="900" b="0" i="1" u="none" strike="noStrike">
                          <a:solidFill>
                            <a:srgbClr val="FF33CC"/>
                          </a:solidFill>
                          <a:effectLst/>
                          <a:latin typeface="Aptos Display" panose="020B0004020202020204" pitchFamily="34" charset="0"/>
                        </a:rPr>
                        <a:t> / </a:t>
                      </a:r>
                      <a:r>
                        <a:rPr lang="en-US" sz="900" b="0" i="1" u="none" strike="noStrike" err="1">
                          <a:solidFill>
                            <a:srgbClr val="FF33CC"/>
                          </a:solidFill>
                          <a:effectLst/>
                          <a:latin typeface="Aptos Display" panose="020B0004020202020204" pitchFamily="34" charset="0"/>
                        </a:rPr>
                        <a:t>doanh</a:t>
                      </a:r>
                      <a:r>
                        <a:rPr lang="en-US" sz="900" b="0" i="1" u="none" strike="noStrike">
                          <a:solidFill>
                            <a:srgbClr val="FF33CC"/>
                          </a:solidFill>
                          <a:effectLst/>
                          <a:latin typeface="Aptos Display" panose="020B0004020202020204" pitchFamily="34" charset="0"/>
                        </a:rPr>
                        <a:t> </a:t>
                      </a:r>
                      <a:r>
                        <a:rPr lang="en-US" sz="900" b="0" i="1" u="none" strike="noStrike" err="1">
                          <a:solidFill>
                            <a:srgbClr val="FF33CC"/>
                          </a:solidFill>
                          <a:effectLst/>
                          <a:latin typeface="Aptos Display" panose="020B0004020202020204" pitchFamily="34" charset="0"/>
                        </a:rPr>
                        <a:t>thu</a:t>
                      </a:r>
                      <a:endParaRPr lang="en-US" sz="900" b="0" i="1" u="none" strike="noStrike">
                        <a:solidFill>
                          <a:srgbClr val="FF33CC"/>
                        </a:solidFill>
                        <a:effectLst/>
                        <a:latin typeface="Aptos Display" panose="020B0004020202020204" pitchFamily="34" charset="0"/>
                      </a:endParaRPr>
                    </a:p>
                  </a:txBody>
                  <a:tcPr marL="5260" marR="5260" marT="52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3.0%</a:t>
                      </a:r>
                    </a:p>
                  </a:txBody>
                  <a:tcPr marL="0" marR="0" marT="0" marB="0" anchor="ctr">
                    <a:lnL w="6350" cap="flat" cmpd="sng" algn="ctr">
                      <a:solidFill>
                        <a:srgbClr val="000000"/>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1" i="1" u="none" strike="noStrike">
                          <a:solidFill>
                            <a:srgbClr val="FF33CC"/>
                          </a:solidFill>
                          <a:effectLst/>
                          <a:latin typeface="Atops display"/>
                        </a:rPr>
                        <a:t>2.6%</a:t>
                      </a:r>
                    </a:p>
                  </a:txBody>
                  <a:tcPr marL="0" marR="0" marT="0" marB="0"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2.5%</a:t>
                      </a:r>
                    </a:p>
                  </a:txBody>
                  <a:tcPr marL="0" marR="0" marT="0" marB="0" anchor="ctr">
                    <a:lnL w="285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2.0%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buNone/>
                      </a:pPr>
                      <a:r>
                        <a:rPr lang="en-US" sz="1000" b="0" i="1" u="none" strike="noStrike">
                          <a:solidFill>
                            <a:srgbClr val="FF33CC"/>
                          </a:solidFill>
                          <a:effectLst/>
                          <a:latin typeface="Atops display"/>
                        </a:rPr>
                        <a:t>3.7%</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8430615"/>
                  </a:ext>
                </a:extLst>
              </a:tr>
            </a:tbl>
          </a:graphicData>
        </a:graphic>
      </p:graphicFrame>
    </p:spTree>
    <p:extLst>
      <p:ext uri="{BB962C8B-B14F-4D97-AF65-F5344CB8AC3E}">
        <p14:creationId xmlns:p14="http://schemas.microsoft.com/office/powerpoint/2010/main" val="15837243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17778-FDA3-2646-D0EB-B7CB040AE926}"/>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E809689-470C-089A-DB78-72E4FDFDB399}"/>
              </a:ext>
            </a:extLst>
          </p:cNvPr>
          <p:cNvSpPr txBox="1"/>
          <p:nvPr/>
        </p:nvSpPr>
        <p:spPr>
          <a:xfrm>
            <a:off x="0" y="2473"/>
            <a:ext cx="9144000" cy="400110"/>
          </a:xfrm>
          <a:prstGeom prst="rect">
            <a:avLst/>
          </a:prstGeom>
          <a:noFill/>
        </p:spPr>
        <p:txBody>
          <a:bodyPr wrap="square">
            <a:spAutoFit/>
          </a:bodyPr>
          <a:lstStyle/>
          <a:p>
            <a:pPr algn="ctr"/>
            <a:r>
              <a:rPr lang="en-US" sz="2000" b="1" dirty="0">
                <a:solidFill>
                  <a:srgbClr val="119303"/>
                </a:solidFill>
              </a:rPr>
              <a:t>4.2</a:t>
            </a:r>
            <a:r>
              <a:rPr lang="vi-VN" sz="2000" b="1" dirty="0">
                <a:solidFill>
                  <a:srgbClr val="119303"/>
                </a:solidFill>
              </a:rPr>
              <a:t>. KẾ HOẠCH HÀNH ĐỘNG </a:t>
            </a:r>
            <a:r>
              <a:rPr lang="en-US" sz="2000" b="1" dirty="0">
                <a:solidFill>
                  <a:srgbClr val="119303"/>
                </a:solidFill>
              </a:rPr>
              <a:t>– </a:t>
            </a:r>
            <a:r>
              <a:rPr lang="vi-VN" sz="2000" b="1" dirty="0">
                <a:solidFill>
                  <a:schemeClr val="accent2">
                    <a:lumMod val="75000"/>
                  </a:schemeClr>
                </a:solidFill>
              </a:rPr>
              <a:t>GIÁ TRỊ CẢI TIẾN </a:t>
            </a:r>
            <a:r>
              <a:rPr lang="en-US" sz="2000" b="1" dirty="0">
                <a:solidFill>
                  <a:schemeClr val="accent2">
                    <a:lumMod val="75000"/>
                  </a:schemeClr>
                </a:solidFill>
              </a:rPr>
              <a:t>11</a:t>
            </a:r>
            <a:r>
              <a:rPr lang="vi-VN" sz="2000" b="1" dirty="0">
                <a:solidFill>
                  <a:schemeClr val="accent2">
                    <a:lumMod val="75000"/>
                  </a:schemeClr>
                </a:solidFill>
              </a:rPr>
              <a:t> THÁNG ĐẦU NĂM</a:t>
            </a:r>
            <a:r>
              <a:rPr lang="en-US" sz="2000" b="1" dirty="0">
                <a:solidFill>
                  <a:schemeClr val="accent2">
                    <a:lumMod val="75000"/>
                  </a:schemeClr>
                </a:solidFill>
              </a:rPr>
              <a:t> </a:t>
            </a:r>
            <a:r>
              <a:rPr lang="en-US" sz="1500" b="1" dirty="0">
                <a:solidFill>
                  <a:schemeClr val="accent2">
                    <a:lumMod val="75000"/>
                  </a:schemeClr>
                </a:solidFill>
              </a:rPr>
              <a:t>(</a:t>
            </a:r>
            <a:r>
              <a:rPr lang="en-US" sz="1500" b="1" dirty="0" err="1">
                <a:solidFill>
                  <a:schemeClr val="accent2">
                    <a:lumMod val="75000"/>
                  </a:schemeClr>
                </a:solidFill>
              </a:rPr>
              <a:t>tt</a:t>
            </a:r>
            <a:r>
              <a:rPr lang="en-US" sz="1500" b="1" dirty="0">
                <a:solidFill>
                  <a:schemeClr val="accent2">
                    <a:lumMod val="75000"/>
                  </a:schemeClr>
                </a:solidFill>
              </a:rPr>
              <a:t>)</a:t>
            </a:r>
            <a:endParaRPr lang="en-US" sz="1500" i="1" dirty="0"/>
          </a:p>
        </p:txBody>
      </p:sp>
      <p:graphicFrame>
        <p:nvGraphicFramePr>
          <p:cNvPr id="4" name="Table 3">
            <a:extLst>
              <a:ext uri="{FF2B5EF4-FFF2-40B4-BE49-F238E27FC236}">
                <a16:creationId xmlns:a16="http://schemas.microsoft.com/office/drawing/2014/main" id="{72E789B4-3C60-ED46-1CE0-28250ECF6547}"/>
              </a:ext>
            </a:extLst>
          </p:cNvPr>
          <p:cNvGraphicFramePr>
            <a:graphicFrameLocks noGrp="1"/>
          </p:cNvGraphicFramePr>
          <p:nvPr>
            <p:extLst>
              <p:ext uri="{D42A27DB-BD31-4B8C-83A1-F6EECF244321}">
                <p14:modId xmlns:p14="http://schemas.microsoft.com/office/powerpoint/2010/main" val="3167485160"/>
              </p:ext>
            </p:extLst>
          </p:nvPr>
        </p:nvGraphicFramePr>
        <p:xfrm>
          <a:off x="52472" y="885815"/>
          <a:ext cx="9055152" cy="3378684"/>
        </p:xfrm>
        <a:graphic>
          <a:graphicData uri="http://schemas.openxmlformats.org/drawingml/2006/table">
            <a:tbl>
              <a:tblPr/>
              <a:tblGrid>
                <a:gridCol w="280951">
                  <a:extLst>
                    <a:ext uri="{9D8B030D-6E8A-4147-A177-3AD203B41FA5}">
                      <a16:colId xmlns:a16="http://schemas.microsoft.com/office/drawing/2014/main" val="888385041"/>
                    </a:ext>
                  </a:extLst>
                </a:gridCol>
                <a:gridCol w="1464258">
                  <a:extLst>
                    <a:ext uri="{9D8B030D-6E8A-4147-A177-3AD203B41FA5}">
                      <a16:colId xmlns:a16="http://schemas.microsoft.com/office/drawing/2014/main" val="1905473852"/>
                    </a:ext>
                  </a:extLst>
                </a:gridCol>
                <a:gridCol w="482809">
                  <a:extLst>
                    <a:ext uri="{9D8B030D-6E8A-4147-A177-3AD203B41FA5}">
                      <a16:colId xmlns:a16="http://schemas.microsoft.com/office/drawing/2014/main" val="1572949946"/>
                    </a:ext>
                  </a:extLst>
                </a:gridCol>
                <a:gridCol w="482809">
                  <a:extLst>
                    <a:ext uri="{9D8B030D-6E8A-4147-A177-3AD203B41FA5}">
                      <a16:colId xmlns:a16="http://schemas.microsoft.com/office/drawing/2014/main" val="1902124056"/>
                    </a:ext>
                  </a:extLst>
                </a:gridCol>
                <a:gridCol w="482809">
                  <a:extLst>
                    <a:ext uri="{9D8B030D-6E8A-4147-A177-3AD203B41FA5}">
                      <a16:colId xmlns:a16="http://schemas.microsoft.com/office/drawing/2014/main" val="2498538126"/>
                    </a:ext>
                  </a:extLst>
                </a:gridCol>
                <a:gridCol w="550616">
                  <a:extLst>
                    <a:ext uri="{9D8B030D-6E8A-4147-A177-3AD203B41FA5}">
                      <a16:colId xmlns:a16="http://schemas.microsoft.com/office/drawing/2014/main" val="43615107"/>
                    </a:ext>
                  </a:extLst>
                </a:gridCol>
                <a:gridCol w="482809">
                  <a:extLst>
                    <a:ext uri="{9D8B030D-6E8A-4147-A177-3AD203B41FA5}">
                      <a16:colId xmlns:a16="http://schemas.microsoft.com/office/drawing/2014/main" val="358733497"/>
                    </a:ext>
                  </a:extLst>
                </a:gridCol>
                <a:gridCol w="493287">
                  <a:extLst>
                    <a:ext uri="{9D8B030D-6E8A-4147-A177-3AD203B41FA5}">
                      <a16:colId xmlns:a16="http://schemas.microsoft.com/office/drawing/2014/main" val="3360032919"/>
                    </a:ext>
                  </a:extLst>
                </a:gridCol>
                <a:gridCol w="472332">
                  <a:extLst>
                    <a:ext uri="{9D8B030D-6E8A-4147-A177-3AD203B41FA5}">
                      <a16:colId xmlns:a16="http://schemas.microsoft.com/office/drawing/2014/main" val="802699820"/>
                    </a:ext>
                  </a:extLst>
                </a:gridCol>
                <a:gridCol w="482809">
                  <a:extLst>
                    <a:ext uri="{9D8B030D-6E8A-4147-A177-3AD203B41FA5}">
                      <a16:colId xmlns:a16="http://schemas.microsoft.com/office/drawing/2014/main" val="3595372614"/>
                    </a:ext>
                  </a:extLst>
                </a:gridCol>
                <a:gridCol w="482809">
                  <a:extLst>
                    <a:ext uri="{9D8B030D-6E8A-4147-A177-3AD203B41FA5}">
                      <a16:colId xmlns:a16="http://schemas.microsoft.com/office/drawing/2014/main" val="1757654074"/>
                    </a:ext>
                  </a:extLst>
                </a:gridCol>
                <a:gridCol w="482809">
                  <a:extLst>
                    <a:ext uri="{9D8B030D-6E8A-4147-A177-3AD203B41FA5}">
                      <a16:colId xmlns:a16="http://schemas.microsoft.com/office/drawing/2014/main" val="2679522590"/>
                    </a:ext>
                  </a:extLst>
                </a:gridCol>
                <a:gridCol w="482809">
                  <a:extLst>
                    <a:ext uri="{9D8B030D-6E8A-4147-A177-3AD203B41FA5}">
                      <a16:colId xmlns:a16="http://schemas.microsoft.com/office/drawing/2014/main" val="4089513924"/>
                    </a:ext>
                  </a:extLst>
                </a:gridCol>
                <a:gridCol w="482809">
                  <a:extLst>
                    <a:ext uri="{9D8B030D-6E8A-4147-A177-3AD203B41FA5}">
                      <a16:colId xmlns:a16="http://schemas.microsoft.com/office/drawing/2014/main" val="3417488039"/>
                    </a:ext>
                  </a:extLst>
                </a:gridCol>
                <a:gridCol w="482809">
                  <a:extLst>
                    <a:ext uri="{9D8B030D-6E8A-4147-A177-3AD203B41FA5}">
                      <a16:colId xmlns:a16="http://schemas.microsoft.com/office/drawing/2014/main" val="831076204"/>
                    </a:ext>
                  </a:extLst>
                </a:gridCol>
                <a:gridCol w="482809">
                  <a:extLst>
                    <a:ext uri="{9D8B030D-6E8A-4147-A177-3AD203B41FA5}">
                      <a16:colId xmlns:a16="http://schemas.microsoft.com/office/drawing/2014/main" val="96505482"/>
                    </a:ext>
                  </a:extLst>
                </a:gridCol>
                <a:gridCol w="482809">
                  <a:extLst>
                    <a:ext uri="{9D8B030D-6E8A-4147-A177-3AD203B41FA5}">
                      <a16:colId xmlns:a16="http://schemas.microsoft.com/office/drawing/2014/main" val="3536189668"/>
                    </a:ext>
                  </a:extLst>
                </a:gridCol>
              </a:tblGrid>
              <a:tr h="209468">
                <a:tc>
                  <a:txBody>
                    <a:bodyPr/>
                    <a:lstStyle/>
                    <a:p>
                      <a:pPr algn="ctr" fontAlgn="b"/>
                      <a:r>
                        <a:rPr lang="en-US" sz="1100" b="1" i="0" u="none" strike="noStrike">
                          <a:solidFill>
                            <a:srgbClr val="FFFFFF"/>
                          </a:solidFill>
                          <a:effectLst/>
                          <a:latin typeface="+mj-lt"/>
                        </a:rPr>
                        <a:t>STT</a:t>
                      </a:r>
                    </a:p>
                  </a:txBody>
                  <a:tcPr marL="5637" marR="5637" marT="5637" marB="0" anchor="ctr">
                    <a:lnL w="12700" cap="flat" cmpd="sng" algn="ctr">
                      <a:solidFill>
                        <a:schemeClr val="tx1"/>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Bộ phận</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TT 24</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50000"/>
                      </a:schemeClr>
                    </a:solidFill>
                  </a:tcPr>
                </a:tc>
                <a:tc>
                  <a:txBody>
                    <a:bodyPr/>
                    <a:lstStyle/>
                    <a:p>
                      <a:pPr algn="ctr" fontAlgn="b"/>
                      <a:r>
                        <a:rPr lang="en-US" sz="1100" b="1" i="0" u="none" strike="noStrike">
                          <a:solidFill>
                            <a:srgbClr val="FFFFFF"/>
                          </a:solidFill>
                          <a:effectLst/>
                          <a:latin typeface="Aptos Display" panose="020B0004020202020204" pitchFamily="34" charset="0"/>
                        </a:rPr>
                        <a:t>KH 25</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TT 25</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900" b="1" i="0" u="none" strike="noStrike">
                          <a:solidFill>
                            <a:srgbClr val="FFFFFF"/>
                          </a:solidFill>
                          <a:effectLst/>
                          <a:latin typeface="Aptos Display" panose="020B0004020202020204" pitchFamily="34" charset="0"/>
                        </a:rPr>
                        <a:t>%TT </a:t>
                      </a:r>
                      <a:r>
                        <a:rPr lang="en-US" sz="900" b="1" i="0" u="none" strike="noStrike" err="1">
                          <a:solidFill>
                            <a:srgbClr val="FFFFFF"/>
                          </a:solidFill>
                          <a:effectLst/>
                          <a:latin typeface="Aptos Display" panose="020B0004020202020204" pitchFamily="34" charset="0"/>
                        </a:rPr>
                        <a:t>sv</a:t>
                      </a:r>
                      <a:r>
                        <a:rPr lang="en-US" sz="900" b="1" i="0" u="none" strike="noStrike">
                          <a:solidFill>
                            <a:srgbClr val="FFFFFF"/>
                          </a:solidFill>
                          <a:effectLst/>
                          <a:latin typeface="Aptos Display" panose="020B0004020202020204" pitchFamily="34" charset="0"/>
                        </a:rPr>
                        <a:t> KH</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1.25</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2</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3</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4</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5</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6</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7</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8</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9</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10</a:t>
                      </a:r>
                    </a:p>
                  </a:txBody>
                  <a:tcPr marL="5637" marR="5637" marT="5637"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tc>
                  <a:txBody>
                    <a:bodyPr/>
                    <a:lstStyle/>
                    <a:p>
                      <a:pPr algn="ctr" fontAlgn="b"/>
                      <a:r>
                        <a:rPr lang="en-US" sz="1100" b="1" i="0" u="none" strike="noStrike">
                          <a:solidFill>
                            <a:srgbClr val="FFFFFF"/>
                          </a:solidFill>
                          <a:effectLst/>
                          <a:latin typeface="Aptos Display" panose="020B0004020202020204" pitchFamily="34" charset="0"/>
                        </a:rPr>
                        <a:t>11</a:t>
                      </a:r>
                    </a:p>
                  </a:txBody>
                  <a:tcPr marL="5637" marR="5637" marT="5637" marB="0" anchor="ctr">
                    <a:lnL w="635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19303"/>
                    </a:solidFill>
                  </a:tcPr>
                </a:tc>
                <a:extLst>
                  <a:ext uri="{0D108BD9-81ED-4DB2-BD59-A6C34878D82A}">
                    <a16:rowId xmlns:a16="http://schemas.microsoft.com/office/drawing/2014/main" val="1674715066"/>
                  </a:ext>
                </a:extLst>
              </a:tr>
              <a:tr h="209468">
                <a:tc>
                  <a:txBody>
                    <a:bodyPr/>
                    <a:lstStyle/>
                    <a:p>
                      <a:pPr algn="ctr" fontAlgn="b">
                        <a:buNone/>
                      </a:pPr>
                      <a:r>
                        <a:rPr lang="en-US" sz="1100" b="1" i="0" u="none" strike="noStrike">
                          <a:solidFill>
                            <a:srgbClr val="000000"/>
                          </a:solidFill>
                          <a:effectLst/>
                          <a:latin typeface="Atops display"/>
                        </a:rPr>
                        <a:t>1</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Kỹ Thuật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6,207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7,250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8,076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111.4%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2,686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1,818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874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124</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743194381"/>
                  </a:ext>
                </a:extLst>
              </a:tr>
              <a:tr h="209468">
                <a:tc>
                  <a:txBody>
                    <a:bodyPr/>
                    <a:lstStyle/>
                    <a:p>
                      <a:pPr algn="ctr" fontAlgn="b">
                        <a:buNone/>
                      </a:pPr>
                      <a:r>
                        <a:rPr lang="en-US" sz="1100" b="1" i="0" u="none" strike="noStrike">
                          <a:solidFill>
                            <a:srgbClr val="000000"/>
                          </a:solidFill>
                          <a:effectLst/>
                          <a:latin typeface="Atops display"/>
                        </a:rPr>
                        <a:t>2</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Phòng Mua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10,060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7,250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7,689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106.0%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1,471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442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1,012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440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1,514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2,023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92</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786059588"/>
                  </a:ext>
                </a:extLst>
              </a:tr>
              <a:tr h="209468">
                <a:tc>
                  <a:txBody>
                    <a:bodyPr/>
                    <a:lstStyle/>
                    <a:p>
                      <a:pPr algn="ctr" fontAlgn="b">
                        <a:buNone/>
                      </a:pPr>
                      <a:r>
                        <a:rPr lang="en-US" sz="1100" b="1" i="0" u="none" strike="noStrike">
                          <a:solidFill>
                            <a:srgbClr val="000000"/>
                          </a:solidFill>
                          <a:effectLst/>
                          <a:latin typeface="Atops display"/>
                        </a:rPr>
                        <a:t>3</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SX PET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2,456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3,500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5,284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151.0%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145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1,027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608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1,412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311</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45181746"/>
                  </a:ext>
                </a:extLst>
              </a:tr>
              <a:tr h="209468">
                <a:tc>
                  <a:txBody>
                    <a:bodyPr/>
                    <a:lstStyle/>
                    <a:p>
                      <a:pPr algn="ctr" fontAlgn="b">
                        <a:buNone/>
                      </a:pPr>
                      <a:r>
                        <a:rPr lang="en-US" sz="1100" b="1" i="0" u="none" strike="noStrike">
                          <a:solidFill>
                            <a:srgbClr val="000000"/>
                          </a:solidFill>
                          <a:effectLst/>
                          <a:latin typeface="Atops display"/>
                        </a:rPr>
                        <a:t>4</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SX HDPE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1,591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2,000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3,219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161.0%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92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328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230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117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960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535</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88162459"/>
                  </a:ext>
                </a:extLst>
              </a:tr>
              <a:tr h="209468">
                <a:tc>
                  <a:txBody>
                    <a:bodyPr/>
                    <a:lstStyle/>
                    <a:p>
                      <a:pPr algn="ctr" fontAlgn="b">
                        <a:buNone/>
                      </a:pPr>
                      <a:r>
                        <a:rPr lang="en-US" sz="1100" b="1" i="0" u="none" strike="noStrike">
                          <a:solidFill>
                            <a:srgbClr val="000000"/>
                          </a:solidFill>
                          <a:effectLst/>
                          <a:latin typeface="Atops display"/>
                        </a:rPr>
                        <a:t>5</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vi-VN" sz="1100" b="0" i="0" u="none" strike="noStrike">
                          <a:solidFill>
                            <a:srgbClr val="000000"/>
                          </a:solidFill>
                          <a:effectLst/>
                          <a:latin typeface="Atops display"/>
                        </a:rPr>
                        <a:t>Quản Lý Chất Lượng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1,504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4,250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2,870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67.5%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278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255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394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347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233</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315391633"/>
                  </a:ext>
                </a:extLst>
              </a:tr>
              <a:tr h="209468">
                <a:tc>
                  <a:txBody>
                    <a:bodyPr/>
                    <a:lstStyle/>
                    <a:p>
                      <a:pPr algn="ctr" fontAlgn="b">
                        <a:buNone/>
                      </a:pPr>
                      <a:r>
                        <a:rPr lang="en-US" sz="1100" b="1" i="0" u="none" strike="noStrike">
                          <a:solidFill>
                            <a:srgbClr val="000000"/>
                          </a:solidFill>
                          <a:effectLst/>
                          <a:latin typeface="Atops display"/>
                        </a:rPr>
                        <a:t>6</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Kế hoạch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750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2,469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329.3%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831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227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398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311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131</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454742945"/>
                  </a:ext>
                </a:extLst>
              </a:tr>
              <a:tr h="209468">
                <a:tc>
                  <a:txBody>
                    <a:bodyPr/>
                    <a:lstStyle/>
                    <a:p>
                      <a:pPr algn="ctr" fontAlgn="b">
                        <a:buNone/>
                      </a:pPr>
                      <a:r>
                        <a:rPr lang="en-US" sz="1100" b="1" i="0" u="none" strike="noStrike">
                          <a:solidFill>
                            <a:srgbClr val="000000"/>
                          </a:solidFill>
                          <a:effectLst/>
                          <a:latin typeface="Atops display"/>
                        </a:rPr>
                        <a:t>7</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Kế Toán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6,637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4,250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2,175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51.2%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73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86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967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55</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791318455"/>
                  </a:ext>
                </a:extLst>
              </a:tr>
              <a:tr h="209468">
                <a:tc>
                  <a:txBody>
                    <a:bodyPr/>
                    <a:lstStyle/>
                    <a:p>
                      <a:pPr algn="ctr" fontAlgn="b">
                        <a:buNone/>
                      </a:pPr>
                      <a:r>
                        <a:rPr lang="en-US" sz="1100" b="1" i="0" u="none" strike="noStrike">
                          <a:solidFill>
                            <a:srgbClr val="000000"/>
                          </a:solidFill>
                          <a:effectLst/>
                          <a:latin typeface="Atops display"/>
                        </a:rPr>
                        <a:t>8</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Tự động hóa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2,454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5,250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1,741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33.2%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154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88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80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195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171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191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339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131</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715392543"/>
                  </a:ext>
                </a:extLst>
              </a:tr>
              <a:tr h="209468">
                <a:tc>
                  <a:txBody>
                    <a:bodyPr/>
                    <a:lstStyle/>
                    <a:p>
                      <a:pPr algn="ctr" fontAlgn="b">
                        <a:buNone/>
                      </a:pPr>
                      <a:r>
                        <a:rPr lang="en-US" sz="1100" b="1" i="0" u="none" strike="noStrike">
                          <a:solidFill>
                            <a:srgbClr val="000000"/>
                          </a:solidFill>
                          <a:effectLst/>
                          <a:latin typeface="Atops display"/>
                        </a:rPr>
                        <a:t>9</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R&amp;D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3,346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7,250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1,709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23.6%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515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309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134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248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183</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551110919"/>
                  </a:ext>
                </a:extLst>
              </a:tr>
              <a:tr h="236664">
                <a:tc>
                  <a:txBody>
                    <a:bodyPr/>
                    <a:lstStyle/>
                    <a:p>
                      <a:pPr algn="ctr" fontAlgn="b">
                        <a:buNone/>
                      </a:pPr>
                      <a:r>
                        <a:rPr lang="en-US" sz="1100" b="1" i="0" u="none" strike="noStrike">
                          <a:solidFill>
                            <a:srgbClr val="000000"/>
                          </a:solidFill>
                          <a:effectLst/>
                          <a:latin typeface="Atops display"/>
                        </a:rPr>
                        <a:t>10</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Cung ứng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1,379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4,750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624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13.1%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458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167</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1846245190"/>
                  </a:ext>
                </a:extLst>
              </a:tr>
              <a:tr h="209468">
                <a:tc>
                  <a:txBody>
                    <a:bodyPr/>
                    <a:lstStyle/>
                    <a:p>
                      <a:pPr algn="ctr" fontAlgn="b">
                        <a:buNone/>
                      </a:pPr>
                      <a:r>
                        <a:rPr lang="en-US" sz="1100" b="1" i="0" u="none" strike="noStrike">
                          <a:solidFill>
                            <a:srgbClr val="000000"/>
                          </a:solidFill>
                          <a:effectLst/>
                          <a:latin typeface="Atops display"/>
                        </a:rPr>
                        <a:t>11</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Kho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1,250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624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49.9%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156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104</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479248147"/>
                  </a:ext>
                </a:extLst>
              </a:tr>
              <a:tr h="209468">
                <a:tc>
                  <a:txBody>
                    <a:bodyPr/>
                    <a:lstStyle/>
                    <a:p>
                      <a:pPr algn="ctr" fontAlgn="b">
                        <a:buNone/>
                      </a:pPr>
                      <a:r>
                        <a:rPr lang="en-US" sz="1100" b="1" i="0" u="none" strike="noStrike">
                          <a:solidFill>
                            <a:srgbClr val="000000"/>
                          </a:solidFill>
                          <a:effectLst/>
                          <a:latin typeface="Atops display"/>
                        </a:rPr>
                        <a:t>12</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Kinh doanh</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750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426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56.8%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206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20</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4217500437"/>
                  </a:ext>
                </a:extLst>
              </a:tr>
              <a:tr h="209468">
                <a:tc>
                  <a:txBody>
                    <a:bodyPr/>
                    <a:lstStyle/>
                    <a:p>
                      <a:pPr algn="ctr" fontAlgn="b">
                        <a:buNone/>
                      </a:pPr>
                      <a:r>
                        <a:rPr lang="en-US" sz="1100" b="1" i="0" u="none" strike="noStrike">
                          <a:solidFill>
                            <a:srgbClr val="000000"/>
                          </a:solidFill>
                          <a:effectLst/>
                          <a:latin typeface="Atops display"/>
                        </a:rPr>
                        <a:t>13</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Nhân sự</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500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216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43.2%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16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61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4</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2995925388"/>
                  </a:ext>
                </a:extLst>
              </a:tr>
              <a:tr h="209468">
                <a:tc>
                  <a:txBody>
                    <a:bodyPr/>
                    <a:lstStyle/>
                    <a:p>
                      <a:pPr algn="ctr" fontAlgn="b">
                        <a:buNone/>
                      </a:pPr>
                      <a:r>
                        <a:rPr lang="en-US" sz="1100" b="1" i="0" u="none" strike="noStrike">
                          <a:solidFill>
                            <a:srgbClr val="000000"/>
                          </a:solidFill>
                          <a:effectLst/>
                          <a:latin typeface="Atops display"/>
                        </a:rPr>
                        <a:t>14</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l" fontAlgn="b">
                        <a:buNone/>
                      </a:pPr>
                      <a:r>
                        <a:rPr lang="en-US" sz="1100" b="0" i="0" u="none" strike="noStrike">
                          <a:solidFill>
                            <a:srgbClr val="000000"/>
                          </a:solidFill>
                          <a:effectLst/>
                          <a:latin typeface="Atops display"/>
                        </a:rPr>
                        <a:t>VPGĐ</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0000"/>
                          </a:solidFill>
                          <a:effectLst/>
                          <a:latin typeface="Atops display"/>
                        </a:rPr>
                        <a:t>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201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1" i="0" u="none" strike="noStrike">
                          <a:solidFill>
                            <a:srgbClr val="008000"/>
                          </a:solidFill>
                          <a:effectLst/>
                          <a:latin typeface="Atops display"/>
                        </a:rPr>
                        <a:t>20.1%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201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tc>
                  <a:txBody>
                    <a:bodyPr/>
                    <a:lstStyle/>
                    <a:p>
                      <a:pPr algn="ctr" fontAlgn="b">
                        <a:buNone/>
                      </a:pPr>
                      <a:r>
                        <a:rPr lang="en-US" sz="1100" b="0" i="0" u="none" strike="noStrike">
                          <a:solidFill>
                            <a:srgbClr val="000000"/>
                          </a:solidFill>
                          <a:effectLst/>
                          <a:latin typeface="Atops display"/>
                        </a:rPr>
                        <a:t> </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6350" cap="flat" cmpd="sng" algn="ctr">
                      <a:solidFill>
                        <a:srgbClr val="000000"/>
                      </a:solidFill>
                      <a:prstDash val="dot"/>
                      <a:round/>
                      <a:headEnd type="none" w="med" len="med"/>
                      <a:tailEnd type="none" w="med" len="med"/>
                    </a:lnB>
                    <a:noFill/>
                  </a:tcPr>
                </a:tc>
                <a:extLst>
                  <a:ext uri="{0D108BD9-81ED-4DB2-BD59-A6C34878D82A}">
                    <a16:rowId xmlns:a16="http://schemas.microsoft.com/office/drawing/2014/main" val="310153108"/>
                  </a:ext>
                </a:extLst>
              </a:tr>
              <a:tr h="209468">
                <a:tc>
                  <a:txBody>
                    <a:bodyPr/>
                    <a:lstStyle/>
                    <a:p>
                      <a:pPr algn="ctr" fontAlgn="b">
                        <a:buNone/>
                      </a:pPr>
                      <a:r>
                        <a:rPr lang="en-US" sz="1100" b="1" i="0" u="none" strike="noStrike">
                          <a:solidFill>
                            <a:srgbClr val="008000"/>
                          </a:solidFill>
                          <a:effectLst/>
                          <a:latin typeface="Atops display"/>
                        </a:rPr>
                        <a:t> </a:t>
                      </a:r>
                    </a:p>
                  </a:txBody>
                  <a:tcPr marL="0" marR="0" marT="0"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l" fontAlgn="b">
                        <a:buNone/>
                      </a:pPr>
                      <a:r>
                        <a:rPr lang="en-US" sz="1100" b="1" i="0" u="none" strike="noStrike">
                          <a:solidFill>
                            <a:srgbClr val="008000"/>
                          </a:solidFill>
                          <a:effectLst/>
                          <a:latin typeface="Atops display"/>
                        </a:rPr>
                        <a:t>CỘNG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35,633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50,000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37,323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74.6%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2,819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3,541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1,384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2,451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6,343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3,560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3,635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5,612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2,951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2,937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tc>
                  <a:txBody>
                    <a:bodyPr/>
                    <a:lstStyle/>
                    <a:p>
                      <a:pPr algn="ctr" fontAlgn="b">
                        <a:buNone/>
                      </a:pPr>
                      <a:r>
                        <a:rPr lang="en-US" sz="1100" b="1" i="0" u="none" strike="noStrike">
                          <a:solidFill>
                            <a:srgbClr val="008000"/>
                          </a:solidFill>
                          <a:effectLst/>
                          <a:latin typeface="Atops display"/>
                        </a:rPr>
                        <a:t>2,090</a:t>
                      </a:r>
                    </a:p>
                  </a:txBody>
                  <a:tcPr marL="0" marR="0" marT="0"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rgbClr val="EBF1DE"/>
                    </a:solidFill>
                  </a:tcPr>
                </a:tc>
                <a:extLst>
                  <a:ext uri="{0D108BD9-81ED-4DB2-BD59-A6C34878D82A}">
                    <a16:rowId xmlns:a16="http://schemas.microsoft.com/office/drawing/2014/main" val="1897060262"/>
                  </a:ext>
                </a:extLst>
              </a:tr>
            </a:tbl>
          </a:graphicData>
        </a:graphic>
      </p:graphicFrame>
    </p:spTree>
    <p:extLst>
      <p:ext uri="{BB962C8B-B14F-4D97-AF65-F5344CB8AC3E}">
        <p14:creationId xmlns:p14="http://schemas.microsoft.com/office/powerpoint/2010/main" val="38489888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2AF25-FB19-8B41-0EB4-D91611E4816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CE93FDE-E648-895B-9418-4013176A667B}"/>
              </a:ext>
            </a:extLst>
          </p:cNvPr>
          <p:cNvSpPr>
            <a:spLocks noGrp="1"/>
          </p:cNvSpPr>
          <p:nvPr>
            <p:ph type="title"/>
          </p:nvPr>
        </p:nvSpPr>
        <p:spPr>
          <a:xfrm>
            <a:off x="-2" y="-104775"/>
            <a:ext cx="9144001" cy="438149"/>
          </a:xfrm>
        </p:spPr>
        <p:txBody>
          <a:bodyPr/>
          <a:lstStyle/>
          <a:p>
            <a:pPr algn="ctr"/>
            <a:r>
              <a:rPr lang="en-US" sz="2200" b="1" dirty="0">
                <a:solidFill>
                  <a:srgbClr val="00B050"/>
                </a:solidFill>
                <a:latin typeface="+mn-lt"/>
              </a:rPr>
              <a:t>4.3. KẾ HOẠCH HÀNH ĐỘNG</a:t>
            </a:r>
          </a:p>
        </p:txBody>
      </p:sp>
      <p:graphicFrame>
        <p:nvGraphicFramePr>
          <p:cNvPr id="3" name="Table 2">
            <a:extLst>
              <a:ext uri="{FF2B5EF4-FFF2-40B4-BE49-F238E27FC236}">
                <a16:creationId xmlns:a16="http://schemas.microsoft.com/office/drawing/2014/main" id="{DB1951C8-ED2D-A99F-8427-B7043FE9F4FA}"/>
              </a:ext>
            </a:extLst>
          </p:cNvPr>
          <p:cNvGraphicFramePr>
            <a:graphicFrameLocks noGrp="1"/>
          </p:cNvGraphicFramePr>
          <p:nvPr>
            <p:extLst>
              <p:ext uri="{D42A27DB-BD31-4B8C-83A1-F6EECF244321}">
                <p14:modId xmlns:p14="http://schemas.microsoft.com/office/powerpoint/2010/main" val="3551472986"/>
              </p:ext>
            </p:extLst>
          </p:nvPr>
        </p:nvGraphicFramePr>
        <p:xfrm>
          <a:off x="-2" y="342908"/>
          <a:ext cx="9144001" cy="4545884"/>
        </p:xfrm>
        <a:graphic>
          <a:graphicData uri="http://schemas.openxmlformats.org/drawingml/2006/table">
            <a:tbl>
              <a:tblPr>
                <a:tableStyleId>{6A077030-E235-474E-B3E8-3EB61F41259E}</a:tableStyleId>
              </a:tblPr>
              <a:tblGrid>
                <a:gridCol w="311575">
                  <a:extLst>
                    <a:ext uri="{9D8B030D-6E8A-4147-A177-3AD203B41FA5}">
                      <a16:colId xmlns:a16="http://schemas.microsoft.com/office/drawing/2014/main" val="3140975103"/>
                    </a:ext>
                  </a:extLst>
                </a:gridCol>
                <a:gridCol w="657014">
                  <a:extLst>
                    <a:ext uri="{9D8B030D-6E8A-4147-A177-3AD203B41FA5}">
                      <a16:colId xmlns:a16="http://schemas.microsoft.com/office/drawing/2014/main" val="129686387"/>
                    </a:ext>
                  </a:extLst>
                </a:gridCol>
                <a:gridCol w="1083733">
                  <a:extLst>
                    <a:ext uri="{9D8B030D-6E8A-4147-A177-3AD203B41FA5}">
                      <a16:colId xmlns:a16="http://schemas.microsoft.com/office/drawing/2014/main" val="2243805795"/>
                    </a:ext>
                  </a:extLst>
                </a:gridCol>
                <a:gridCol w="345440">
                  <a:extLst>
                    <a:ext uri="{9D8B030D-6E8A-4147-A177-3AD203B41FA5}">
                      <a16:colId xmlns:a16="http://schemas.microsoft.com/office/drawing/2014/main" val="1178152909"/>
                    </a:ext>
                  </a:extLst>
                </a:gridCol>
                <a:gridCol w="6184053">
                  <a:extLst>
                    <a:ext uri="{9D8B030D-6E8A-4147-A177-3AD203B41FA5}">
                      <a16:colId xmlns:a16="http://schemas.microsoft.com/office/drawing/2014/main" val="805808850"/>
                    </a:ext>
                  </a:extLst>
                </a:gridCol>
                <a:gridCol w="562186">
                  <a:extLst>
                    <a:ext uri="{9D8B030D-6E8A-4147-A177-3AD203B41FA5}">
                      <a16:colId xmlns:a16="http://schemas.microsoft.com/office/drawing/2014/main" val="3959918316"/>
                    </a:ext>
                  </a:extLst>
                </a:gridCol>
              </a:tblGrid>
              <a:tr h="163504">
                <a:tc>
                  <a:txBody>
                    <a:bodyPr/>
                    <a:lstStyle/>
                    <a:p>
                      <a:pPr algn="ctr" fontAlgn="ctr">
                        <a:buNone/>
                      </a:pPr>
                      <a:r>
                        <a:rPr lang="en-US" sz="900" b="1" u="none" strike="noStrike">
                          <a:solidFill>
                            <a:schemeClr val="bg1"/>
                          </a:solidFill>
                          <a:effectLst/>
                        </a:rPr>
                        <a:t>STT</a:t>
                      </a:r>
                      <a:endParaRPr lang="en-US" sz="900" b="1" i="0" u="none" strike="noStrike">
                        <a:solidFill>
                          <a:schemeClr val="bg1"/>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19303"/>
                    </a:solidFill>
                  </a:tcPr>
                </a:tc>
                <a:tc>
                  <a:txBody>
                    <a:bodyPr/>
                    <a:lstStyle/>
                    <a:p>
                      <a:pPr algn="ctr" fontAlgn="ctr">
                        <a:buNone/>
                      </a:pPr>
                      <a:r>
                        <a:rPr lang="en-US" sz="900" b="1" u="none" strike="noStrike">
                          <a:solidFill>
                            <a:schemeClr val="bg1"/>
                          </a:solidFill>
                          <a:effectLst/>
                        </a:rPr>
                        <a:t>BỘ PHẬN</a:t>
                      </a:r>
                      <a:endParaRPr lang="en-US" sz="900" b="1" i="0" u="none" strike="noStrike">
                        <a:solidFill>
                          <a:schemeClr val="bg1"/>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19303"/>
                    </a:solidFill>
                  </a:tcPr>
                </a:tc>
                <a:tc>
                  <a:txBody>
                    <a:bodyPr/>
                    <a:lstStyle/>
                    <a:p>
                      <a:pPr algn="ctr" fontAlgn="ctr">
                        <a:buNone/>
                      </a:pPr>
                      <a:r>
                        <a:rPr lang="vi-VN" sz="900" b="1" u="none" strike="noStrike">
                          <a:solidFill>
                            <a:schemeClr val="bg1"/>
                          </a:solidFill>
                          <a:effectLst/>
                        </a:rPr>
                        <a:t>PHỤ TRÁCH</a:t>
                      </a:r>
                      <a:endParaRPr lang="vi-VN" sz="900" b="1" i="0" u="none" strike="noStrike">
                        <a:solidFill>
                          <a:schemeClr val="bg1"/>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19303"/>
                    </a:solidFill>
                  </a:tcPr>
                </a:tc>
                <a:tc gridSpan="2">
                  <a:txBody>
                    <a:bodyPr/>
                    <a:lstStyle/>
                    <a:p>
                      <a:pPr algn="ctr" fontAlgn="ctr">
                        <a:buNone/>
                      </a:pPr>
                      <a:r>
                        <a:rPr lang="en-US" sz="900" b="1" u="none" strike="noStrike">
                          <a:solidFill>
                            <a:schemeClr val="bg1"/>
                          </a:solidFill>
                          <a:effectLst/>
                        </a:rPr>
                        <a:t>NỘI DUNG CÔNG VIỆC</a:t>
                      </a:r>
                      <a:endParaRPr lang="en-US" sz="900" b="1" i="0" u="none" strike="noStrike">
                        <a:solidFill>
                          <a:schemeClr val="bg1"/>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19303"/>
                    </a:solidFill>
                  </a:tcPr>
                </a:tc>
                <a:tc h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19303"/>
                    </a:solidFill>
                  </a:tcPr>
                </a:tc>
                <a:tc>
                  <a:txBody>
                    <a:bodyPr/>
                    <a:lstStyle/>
                    <a:p>
                      <a:pPr algn="ctr" fontAlgn="ctr">
                        <a:buNone/>
                      </a:pPr>
                      <a:r>
                        <a:rPr lang="en-US" sz="1000" b="1" i="0" u="none" strike="noStrike">
                          <a:solidFill>
                            <a:schemeClr val="bg1"/>
                          </a:solidFill>
                          <a:effectLst/>
                          <a:latin typeface="Times New Roman" panose="02020603050405020304" pitchFamily="18" charset="0"/>
                        </a:rPr>
                        <a:t>Thời hạn</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rgbClr val="119303"/>
                    </a:solidFill>
                  </a:tcPr>
                </a:tc>
                <a:extLst>
                  <a:ext uri="{0D108BD9-81ED-4DB2-BD59-A6C34878D82A}">
                    <a16:rowId xmlns:a16="http://schemas.microsoft.com/office/drawing/2014/main" val="1967999669"/>
                  </a:ext>
                </a:extLst>
              </a:tr>
              <a:tr h="239886">
                <a:tc>
                  <a:txBody>
                    <a:bodyPr/>
                    <a:lstStyle/>
                    <a:p>
                      <a:pPr algn="ctr" fontAlgn="ctr">
                        <a:buNone/>
                      </a:pPr>
                      <a:r>
                        <a:rPr lang="en-US" sz="800" b="1" u="none" strike="noStrike">
                          <a:effectLst/>
                        </a:rPr>
                        <a:t>1</a:t>
                      </a:r>
                      <a:endParaRPr lang="vi-VN"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b="1" u="none" strike="noStrike">
                          <a:effectLst/>
                        </a:rPr>
                        <a:t>Chất lượng</a:t>
                      </a:r>
                      <a:endParaRPr lang="vi-VN"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u="none" strike="noStrike">
                          <a:effectLst/>
                        </a:rPr>
                        <a:t>Võ Thị Bích</a:t>
                      </a:r>
                      <a:r>
                        <a:rPr lang="en-US" sz="800" u="none" strike="noStrike">
                          <a:effectLst/>
                        </a:rPr>
                        <a:t> </a:t>
                      </a:r>
                      <a:r>
                        <a:rPr lang="vi-VN" sz="800" u="none" strike="noStrike">
                          <a:effectLst/>
                        </a:rPr>
                        <a:t>Phượng</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1.1</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Kiểm soát, tuân thủ tiêu chuẩn </a:t>
                      </a:r>
                      <a:r>
                        <a:rPr lang="en-US" sz="800" u="none" strike="noStrike">
                          <a:effectLst/>
                        </a:rPr>
                        <a:t>nguyên liệu </a:t>
                      </a:r>
                      <a:r>
                        <a:rPr lang="en-US" sz="800" i="1" u="none" strike="noStrike">
                          <a:effectLst/>
                        </a:rPr>
                        <a:t>đầu vào</a:t>
                      </a:r>
                      <a:endParaRPr lang="en-US" sz="800" b="0" i="1"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i="1" u="none" strike="noStrike">
                          <a:solidFill>
                            <a:srgbClr val="000000"/>
                          </a:solidFill>
                          <a:effectLst/>
                          <a:latin typeface="+mj-lt"/>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6147953"/>
                  </a:ext>
                </a:extLst>
              </a:tr>
              <a:tr h="140924">
                <a:tc rowSpan="5">
                  <a:txBody>
                    <a:bodyPr/>
                    <a:lstStyle/>
                    <a:p>
                      <a:pPr algn="ctr" fontAlgn="ctr">
                        <a:buNone/>
                      </a:pPr>
                      <a:r>
                        <a:rPr lang="en-US" sz="800" b="1" u="none" strike="noStrike">
                          <a:effectLst/>
                        </a:rPr>
                        <a:t>2</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buNone/>
                      </a:pPr>
                      <a:r>
                        <a:rPr lang="en-US" sz="800" b="1" u="none" strike="noStrike">
                          <a:effectLst/>
                        </a:rPr>
                        <a:t>Cung </a:t>
                      </a:r>
                      <a:r>
                        <a:rPr lang="en-US" sz="800" b="1" u="none" strike="noStrike" err="1">
                          <a:effectLst/>
                        </a:rPr>
                        <a:t>ứng</a:t>
                      </a:r>
                      <a:endParaRPr lang="en-US" sz="800" b="1" u="none" strike="noStrike">
                        <a:effectLs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l" fontAlgn="ctr">
                        <a:buNone/>
                      </a:pPr>
                      <a:r>
                        <a:rPr lang="vi-VN" sz="800" u="none" strike="noStrike">
                          <a:effectLst/>
                        </a:rPr>
                        <a:t>Trần Phước An</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2.1</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sng" strike="noStrike" dirty="0" err="1">
                          <a:effectLst/>
                        </a:rPr>
                        <a:t>Giảm</a:t>
                      </a:r>
                      <a:r>
                        <a:rPr lang="en-US" sz="800" u="none" strike="noStrike" dirty="0">
                          <a:effectLst/>
                        </a:rPr>
                        <a:t> </a:t>
                      </a:r>
                      <a:r>
                        <a:rPr lang="en-US" sz="800" i="1" u="none" strike="noStrike" dirty="0" err="1">
                          <a:effectLst/>
                        </a:rPr>
                        <a:t>giá</a:t>
                      </a:r>
                      <a:r>
                        <a:rPr lang="en-US" sz="800" i="1" u="none" strike="noStrike" dirty="0">
                          <a:effectLst/>
                        </a:rPr>
                        <a:t> </a:t>
                      </a:r>
                      <a:r>
                        <a:rPr lang="en-US" sz="800" i="1" u="none" strike="noStrike" dirty="0" err="1">
                          <a:effectLst/>
                        </a:rPr>
                        <a:t>mua</a:t>
                      </a:r>
                      <a:r>
                        <a:rPr lang="en-US" sz="800" u="none" strike="noStrike" dirty="0">
                          <a:effectLst/>
                        </a:rPr>
                        <a:t>, </a:t>
                      </a:r>
                      <a:r>
                        <a:rPr lang="en-US" sz="800" u="none" strike="noStrike" dirty="0" err="1">
                          <a:effectLst/>
                        </a:rPr>
                        <a:t>không</a:t>
                      </a:r>
                      <a:r>
                        <a:rPr lang="en-US" sz="800" u="none" strike="noStrike" dirty="0">
                          <a:effectLst/>
                        </a:rPr>
                        <a:t> </a:t>
                      </a:r>
                      <a:r>
                        <a:rPr lang="en-US" sz="800" u="none" strike="noStrike" dirty="0" err="1">
                          <a:effectLst/>
                        </a:rPr>
                        <a:t>tăng</a:t>
                      </a:r>
                      <a:r>
                        <a:rPr lang="en-US" sz="800" u="none" strike="noStrike" dirty="0">
                          <a:effectLst/>
                        </a:rPr>
                        <a:t> </a:t>
                      </a:r>
                      <a:r>
                        <a:rPr lang="en-US" sz="800" u="none" strike="noStrike" dirty="0" err="1">
                          <a:effectLst/>
                        </a:rPr>
                        <a:t>giá</a:t>
                      </a:r>
                      <a:r>
                        <a:rPr lang="en-US" sz="800" u="none" strike="noStrike" dirty="0">
                          <a:effectLst/>
                        </a:rPr>
                        <a:t>, </a:t>
                      </a:r>
                      <a:r>
                        <a:rPr lang="en-US" sz="800" i="1" u="none" strike="noStrike" dirty="0" err="1">
                          <a:effectLst/>
                        </a:rPr>
                        <a:t>giảm</a:t>
                      </a:r>
                      <a:r>
                        <a:rPr lang="en-US" sz="800" i="1" u="none" strike="noStrike" dirty="0">
                          <a:effectLst/>
                        </a:rPr>
                        <a:t> </a:t>
                      </a:r>
                      <a:r>
                        <a:rPr lang="en-US" sz="800" i="1" u="none" strike="noStrike" dirty="0" err="1">
                          <a:effectLst/>
                        </a:rPr>
                        <a:t>xô</a:t>
                      </a:r>
                      <a:r>
                        <a:rPr lang="en-US" sz="800" i="1" u="none" strike="noStrike" dirty="0">
                          <a:effectLst/>
                        </a:rPr>
                        <a:t> </a:t>
                      </a:r>
                      <a:r>
                        <a:rPr lang="en-US" sz="800" i="1" u="none" strike="noStrike" dirty="0" err="1">
                          <a:effectLst/>
                        </a:rPr>
                        <a:t>tuyển</a:t>
                      </a:r>
                      <a:endParaRPr lang="en-US" sz="800" b="0" i="1" u="none" strike="noStrike" dirty="0">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4255331"/>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2.2</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Kiểm soát </a:t>
                      </a:r>
                      <a:r>
                        <a:rPr lang="en-US" sz="800" u="none" strike="noStrike" err="1">
                          <a:effectLst/>
                        </a:rPr>
                        <a:t>tỷ</a:t>
                      </a:r>
                      <a:r>
                        <a:rPr lang="en-US" sz="800" u="none" strike="noStrike">
                          <a:effectLst/>
                        </a:rPr>
                        <a:t> lệ </a:t>
                      </a:r>
                      <a:r>
                        <a:rPr lang="en-US" sz="800" b="1" u="none" strike="noStrike">
                          <a:effectLst/>
                        </a:rPr>
                        <a:t>chai/vảy</a:t>
                      </a:r>
                      <a:endParaRPr lang="en-US"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00946"/>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2.3</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b="1" u="none" strike="noStrike">
                          <a:effectLst/>
                        </a:rPr>
                        <a:t>Kiểm soát chất lượng </a:t>
                      </a:r>
                      <a:r>
                        <a:rPr lang="vi-VN" sz="800" u="none" strike="noStrike">
                          <a:effectLst/>
                        </a:rPr>
                        <a:t>nguyên liệu</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49262507"/>
                  </a:ext>
                </a:extLst>
              </a:tr>
              <a:tr h="14092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0" i="0" u="none" strike="noStrike">
                          <a:solidFill>
                            <a:schemeClr val="bg1">
                              <a:lumMod val="50000"/>
                            </a:schemeClr>
                          </a:solidFill>
                          <a:effectLst/>
                          <a:latin typeface="+mj-lt"/>
                        </a:rPr>
                        <a:t>2.4</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vi-VN" sz="800" b="1" u="none" strike="noStrike">
                          <a:effectLst/>
                        </a:rPr>
                        <a:t>Sản lượng </a:t>
                      </a:r>
                      <a:r>
                        <a:rPr lang="vi-VN" sz="800" u="none" strike="noStrike">
                          <a:effectLst/>
                        </a:rPr>
                        <a:t>mua </a:t>
                      </a:r>
                      <a:r>
                        <a:rPr lang="vi-VN" sz="800" b="1" u="none" strike="noStrike">
                          <a:effectLst/>
                        </a:rPr>
                        <a:t>theo S&amp;OP</a:t>
                      </a:r>
                      <a:r>
                        <a:rPr lang="vi-VN" sz="800" u="none" strike="noStrike">
                          <a:effectLst/>
                        </a:rPr>
                        <a:t>,</a:t>
                      </a:r>
                      <a:r>
                        <a:rPr lang="vi-VN" sz="800" i="1" u="none" strike="noStrike">
                          <a:effectLst/>
                        </a:rPr>
                        <a:t>không mua vượt</a:t>
                      </a:r>
                      <a:endParaRPr lang="vi-VN" sz="800" b="0" i="1"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7200102"/>
                  </a:ext>
                </a:extLst>
              </a:tr>
              <a:tr h="276405">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lnL w="9525" cap="flat" cmpd="sng">
                      <a:noFill/>
                      <a:prstDash val="solid"/>
                      <a:round/>
                      <a:headEnd type="none" w="sm" len="sm"/>
                      <a:tailEnd type="none" w="sm" len="sm"/>
                    </a:lnL>
                    <a:lnT w="12700" cap="flat" cmpd="sng" algn="ctr">
                      <a:solidFill>
                        <a:schemeClr val="bg1">
                          <a:lumMod val="50000"/>
                        </a:schemeClr>
                      </a:solidFill>
                      <a:prstDash val="solid"/>
                      <a:round/>
                      <a:headEnd type="none" w="med" len="med"/>
                      <a:tailEnd type="none" w="med" len="med"/>
                    </a:lnT>
                  </a:tcPr>
                </a:tc>
                <a:tc vMerge="1">
                  <a:txBody>
                    <a:bodyPr/>
                    <a:lstStyle/>
                    <a:p>
                      <a:endParaRPr/>
                    </a:p>
                  </a:txBody>
                  <a:tcPr marL="5510" marR="5510" marT="5510" marB="0" anchor="ctr">
                    <a:lnT w="12700" cap="flat" cmpd="sng" algn="ctr">
                      <a:solidFill>
                        <a:schemeClr val="bg1">
                          <a:lumMod val="50000"/>
                        </a:schemeClr>
                      </a:solidFill>
                      <a:prstDash val="solid"/>
                      <a:round/>
                      <a:headEnd type="none" w="med" len="med"/>
                      <a:tailEnd type="none" w="med" len="med"/>
                    </a:lnT>
                  </a:tcPr>
                </a:tc>
                <a:tc>
                  <a:txBody>
                    <a:bodyPr/>
                    <a:lstStyle/>
                    <a:p>
                      <a:pPr algn="ctr" fontAlgn="ctr">
                        <a:buNone/>
                      </a:pPr>
                      <a:r>
                        <a:rPr lang="en-US" sz="800" b="0" i="0" u="none" strike="noStrike">
                          <a:solidFill>
                            <a:schemeClr val="bg1">
                              <a:lumMod val="50000"/>
                            </a:schemeClr>
                          </a:solidFill>
                          <a:effectLst/>
                          <a:latin typeface="+mj-lt"/>
                        </a:rPr>
                        <a:t>2.5</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b="0" u="none" strike="noStrike">
                          <a:effectLst/>
                        </a:rPr>
                        <a:t>Tổ chức các </a:t>
                      </a:r>
                      <a:r>
                        <a:rPr lang="vi-VN" sz="800" b="1" u="none" strike="noStrike">
                          <a:effectLst/>
                        </a:rPr>
                        <a:t>kênh nắm bắt thông tin thị trường</a:t>
                      </a:r>
                      <a:r>
                        <a:rPr lang="vi-VN" sz="800" b="0" u="none" strike="noStrike">
                          <a:effectLst/>
                        </a:rPr>
                        <a:t>, phản ứng giá kịp thời, phù hợp, trao thưởng cho các NCC cung cấp giá gần với giá thị trường nhất</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4863503"/>
                  </a:ext>
                </a:extLst>
              </a:tr>
              <a:tr h="140924">
                <a:tc rowSpan="2">
                  <a:txBody>
                    <a:bodyPr/>
                    <a:lstStyle/>
                    <a:p>
                      <a:pPr algn="ctr" fontAlgn="ctr">
                        <a:buNone/>
                      </a:pPr>
                      <a:r>
                        <a:rPr lang="en-US" sz="800" b="1" u="none" strike="noStrike">
                          <a:effectLst/>
                        </a:rPr>
                        <a:t>3</a:t>
                      </a:r>
                      <a:endParaRPr lang="vi-VN"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buNone/>
                      </a:pPr>
                      <a:r>
                        <a:rPr lang="vi-VN" sz="800" b="1" u="none" strike="noStrike">
                          <a:effectLst/>
                        </a:rPr>
                        <a:t>Chiến lược CCU</a:t>
                      </a:r>
                      <a:endParaRPr lang="vi-VN"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buNone/>
                      </a:pPr>
                      <a:r>
                        <a:rPr lang="en-US" sz="800" u="none" strike="noStrike">
                          <a:effectLst/>
                        </a:rPr>
                        <a:t>Trần Nhựt Hiện</a:t>
                      </a:r>
                      <a:endParaRPr lang="en-US"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3.1</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DBDBDB"/>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Xúc tiến thành lập trạm tại HCM</a:t>
                      </a:r>
                      <a:endParaRPr lang="vi-VN" sz="800" b="0" i="1"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DBDBDB"/>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31/01/2026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DBDBDB"/>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3561540"/>
                  </a:ext>
                </a:extLst>
              </a:tr>
              <a:tr h="254743">
                <a:tc vMerge="1">
                  <a:txBody>
                    <a:bodyPr/>
                    <a:lstStyle/>
                    <a:p>
                      <a:pPr algn="ctr" fontAlgn="ctr">
                        <a:buNone/>
                      </a:pPr>
                      <a:endParaRPr lang="vi-VN" sz="9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buNone/>
                      </a:pPr>
                      <a:endParaRPr lang="vi-VN" sz="9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buNone/>
                      </a:pPr>
                      <a:endParaRPr lang="en-US" sz="9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3.2</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DBDBDB"/>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b="0" i="0" u="none" strike="noStrike">
                          <a:solidFill>
                            <a:srgbClr val="000000"/>
                          </a:solidFill>
                          <a:effectLst/>
                          <a:latin typeface="+mn-lt"/>
                        </a:rPr>
                        <a:t>Hoàn thiện sơ đồ tuyến, mở rộng nguồn cung để giảm phụ thuộc, </a:t>
                      </a:r>
                      <a:r>
                        <a:rPr lang="en-US" sz="800" b="0" i="0" u="none" strike="noStrike">
                          <a:solidFill>
                            <a:srgbClr val="000000"/>
                          </a:solidFill>
                          <a:effectLst/>
                          <a:latin typeface="+mn-lt"/>
                        </a:rPr>
                        <a:t>tiếp cận NCC tuyến dưới, giảm giá mua, xếp hạng NCC, đưa ra chính sách phù hợp</a:t>
                      </a:r>
                      <a:endParaRPr lang="vi-VN" sz="800" b="0" i="0" u="none" strike="noStrike">
                        <a:solidFill>
                          <a:srgbClr val="000000"/>
                        </a:solidFill>
                        <a:effectLst/>
                        <a:latin typeface="+mn-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DBDBDB"/>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DBDBDB"/>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7513378"/>
                  </a:ext>
                </a:extLst>
              </a:tr>
              <a:tr h="151010">
                <a:tc>
                  <a:txBody>
                    <a:bodyPr/>
                    <a:lstStyle/>
                    <a:p>
                      <a:pPr algn="ctr" fontAlgn="ctr">
                        <a:buNone/>
                      </a:pPr>
                      <a:r>
                        <a:rPr lang="en-US" sz="800" b="1" u="none" strike="noStrike">
                          <a:effectLst/>
                        </a:rPr>
                        <a:t>4</a:t>
                      </a:r>
                      <a:endParaRPr lang="en-US"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Nhân </a:t>
                      </a:r>
                      <a:r>
                        <a:rPr lang="en-US" sz="800" b="1" u="none" strike="noStrike" err="1">
                          <a:effectLst/>
                        </a:rPr>
                        <a:t>sự</a:t>
                      </a:r>
                      <a:endParaRPr lang="en-US"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u="none" strike="noStrike">
                          <a:effectLst/>
                        </a:rPr>
                        <a:t>Lưu Thị Kim Liên</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4.1</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Phối hợp </a:t>
                      </a:r>
                      <a:r>
                        <a:rPr lang="en-US" sz="800" u="none" strike="noStrike">
                          <a:effectLst/>
                        </a:rPr>
                        <a:t>sản xuất, giảm tăng ca, outsource phù hợp, giảm các chi phí hành chính, sự kiện</a:t>
                      </a:r>
                      <a:endParaRPr lang="en-US"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800" b="0" i="1" u="none" strike="noStrike">
                          <a:solidFill>
                            <a:srgbClr val="000000"/>
                          </a:solidFill>
                          <a:effectLst/>
                          <a:latin typeface="+mj-lt"/>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9210328"/>
                  </a:ext>
                </a:extLst>
              </a:tr>
              <a:tr h="254743">
                <a:tc rowSpan="2">
                  <a:txBody>
                    <a:bodyPr/>
                    <a:lstStyle/>
                    <a:p>
                      <a:pPr algn="ctr" fontAlgn="ctr">
                        <a:buNone/>
                      </a:pPr>
                      <a:r>
                        <a:rPr lang="en-US" sz="800" b="1" i="0" u="none" strike="noStrike">
                          <a:solidFill>
                            <a:srgbClr val="000000"/>
                          </a:solidFill>
                          <a:effectLst/>
                          <a:latin typeface="Times New Roman" panose="02020603050405020304" pitchFamily="18" charset="0"/>
                        </a:rPr>
                        <a:t>5</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buNone/>
                      </a:pPr>
                      <a:r>
                        <a:rPr lang="en-US" sz="800" b="1" u="none" strike="noStrike">
                          <a:effectLst/>
                        </a:rPr>
                        <a:t>Kinh doanh</a:t>
                      </a:r>
                      <a:endParaRPr lang="en-US"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buNone/>
                      </a:pPr>
                      <a:r>
                        <a:rPr lang="vi-VN" sz="800" u="none" strike="noStrike">
                          <a:effectLst/>
                        </a:rPr>
                        <a:t>Dương Từ Uyên Thảo</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0" i="0" u="none" strike="noStrike" cap="none">
                          <a:solidFill>
                            <a:schemeClr val="bg1">
                              <a:lumMod val="50000"/>
                            </a:schemeClr>
                          </a:solidFill>
                          <a:effectLst/>
                          <a:latin typeface="+mj-lt"/>
                          <a:cs typeface="Arial"/>
                          <a:sym typeface="Arial"/>
                        </a:rPr>
                        <a:t>5.1</a:t>
                      </a:r>
                      <a:endParaRPr lang="vi-VN" sz="800" b="0" i="0" u="none" strike="noStrike" cap="none">
                        <a:solidFill>
                          <a:schemeClr val="bg1">
                            <a:lumMod val="50000"/>
                          </a:schemeClr>
                        </a:solidFill>
                        <a:effectLst/>
                        <a:latin typeface="+mj-lt"/>
                        <a:cs typeface="Arial"/>
                        <a:sym typeface="Arial"/>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DBDBDB"/>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b="1" u="none" strike="noStrike">
                          <a:effectLst/>
                        </a:rPr>
                        <a:t>Nhận </a:t>
                      </a:r>
                      <a:r>
                        <a:rPr lang="vi-VN" sz="800" u="none" strike="noStrike">
                          <a:effectLst/>
                        </a:rPr>
                        <a:t>tỷ lệ </a:t>
                      </a:r>
                      <a:r>
                        <a:rPr lang="vi-VN" sz="800" b="1" u="none" strike="noStrike">
                          <a:effectLst/>
                        </a:rPr>
                        <a:t>hỗ trợ thuế </a:t>
                      </a:r>
                      <a:r>
                        <a:rPr lang="vi-VN" sz="800" u="none" strike="noStrike">
                          <a:effectLst/>
                        </a:rPr>
                        <a:t>tối đa </a:t>
                      </a:r>
                      <a:r>
                        <a:rPr lang="vi-VN" sz="800" i="1" u="none" strike="noStrike">
                          <a:effectLst/>
                        </a:rPr>
                        <a:t>từ kế toán</a:t>
                      </a:r>
                      <a:r>
                        <a:rPr lang="vi-VN" sz="800" u="none" strike="noStrike">
                          <a:effectLst/>
                        </a:rPr>
                        <a:t>, </a:t>
                      </a:r>
                      <a:r>
                        <a:rPr lang="vi-VN" sz="800" b="1" u="none" strike="noStrike">
                          <a:effectLst/>
                        </a:rPr>
                        <a:t>thỏa thuận </a:t>
                      </a:r>
                      <a:r>
                        <a:rPr lang="vi-VN" sz="800" u="none" strike="noStrike">
                          <a:effectLst/>
                        </a:rPr>
                        <a:t>với </a:t>
                      </a:r>
                      <a:r>
                        <a:rPr lang="vi-VN" sz="800" i="1" u="none" strike="noStrike">
                          <a:effectLst/>
                        </a:rPr>
                        <a:t>khách hàng </a:t>
                      </a:r>
                      <a:r>
                        <a:rPr lang="vi-VN" sz="800" u="none" strike="noStrike">
                          <a:effectLst/>
                        </a:rPr>
                        <a:t>mức </a:t>
                      </a:r>
                      <a:r>
                        <a:rPr lang="vi-VN" sz="800" b="1" u="none" strike="noStrike">
                          <a:effectLst/>
                        </a:rPr>
                        <a:t>tối ưu nhất</a:t>
                      </a:r>
                      <a:r>
                        <a:rPr lang="en-US" sz="800" b="1" u="none" strike="noStrike">
                          <a:effectLst/>
                        </a:rPr>
                        <a:t>, </a:t>
                      </a:r>
                      <a:r>
                        <a:rPr lang="en-US" sz="800" b="0" u="none" strike="noStrike">
                          <a:effectLst/>
                        </a:rPr>
                        <a:t>đàm phán theo điều kiện FOB/EXW phù hợp tình hình vận tải và thuế đối ứng.</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DBDBDB"/>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800" b="0" i="1" u="none" strike="noStrike">
                          <a:solidFill>
                            <a:srgbClr val="000000"/>
                          </a:solidFill>
                          <a:effectLst/>
                          <a:latin typeface="+mj-lt"/>
                        </a:rPr>
                        <a:t>30/06/2026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DBDBDB"/>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3239000"/>
                  </a:ext>
                </a:extLst>
              </a:tr>
              <a:tr h="239886">
                <a:tc vMerge="1">
                  <a:txBody>
                    <a:bodyPr/>
                    <a:lstStyle/>
                    <a:p>
                      <a:pPr algn="ctr" fontAlgn="ctr">
                        <a:buNone/>
                      </a:pPr>
                      <a:endParaRPr lang="en-US" sz="9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buNone/>
                      </a:pPr>
                      <a:endParaRPr lang="en-US" sz="9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l" fontAlgn="ctr">
                        <a:buNone/>
                      </a:pPr>
                      <a:endParaRPr lang="vi-VN" sz="9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
                          <a:srgbClr val="000000"/>
                        </a:buClr>
                        <a:buSzTx/>
                        <a:buFont typeface="Arial"/>
                        <a:buNone/>
                        <a:tabLst/>
                        <a:defRPr/>
                      </a:pPr>
                      <a:r>
                        <a:rPr lang="en-US" sz="800" b="0" i="0" u="none" strike="noStrike" cap="none">
                          <a:solidFill>
                            <a:schemeClr val="bg1">
                              <a:lumMod val="50000"/>
                            </a:schemeClr>
                          </a:solidFill>
                          <a:effectLst/>
                          <a:latin typeface="+mj-lt"/>
                          <a:cs typeface="Arial"/>
                          <a:sym typeface="Arial"/>
                        </a:rPr>
                        <a:t>5.2</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DBDBDB"/>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0" u="none" strike="noStrike">
                          <a:effectLst/>
                        </a:rPr>
                        <a:t>Phát triển thị trường </a:t>
                      </a:r>
                      <a:r>
                        <a:rPr lang="en-US" sz="800" b="1" u="none" strike="noStrike">
                          <a:effectLst/>
                        </a:rPr>
                        <a:t>nội địa</a:t>
                      </a:r>
                      <a:r>
                        <a:rPr lang="en-US" sz="800" b="0" u="none" strike="noStrike">
                          <a:effectLst/>
                        </a:rPr>
                        <a:t>; tiếp cận, mở rộng sang các thị trường Mexico, Canada, </a:t>
                      </a:r>
                      <a:r>
                        <a:rPr lang="en-US" sz="800" b="0" u="none" strike="noStrike" err="1">
                          <a:effectLst/>
                        </a:rPr>
                        <a:t>Úc</a:t>
                      </a:r>
                      <a:r>
                        <a:rPr lang="en-US" sz="800" b="0" u="none" strike="noStrike">
                          <a:effectLst/>
                        </a:rPr>
                        <a:t>, Anh, Hàn, Nhật, Nam Mỹ, Trung Đông</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DBDBDB"/>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800" b="0" i="1" u="none" strike="noStrike">
                          <a:solidFill>
                            <a:srgbClr val="000000"/>
                          </a:solidFill>
                          <a:effectLst/>
                          <a:latin typeface="+mj-lt"/>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DBDBDB"/>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1233525"/>
                  </a:ext>
                </a:extLst>
              </a:tr>
              <a:tr h="276405">
                <a:tc rowSpan="3">
                  <a:txBody>
                    <a:bodyPr/>
                    <a:lstStyle/>
                    <a:p>
                      <a:pPr algn="ctr" fontAlgn="ctr">
                        <a:buNone/>
                      </a:pPr>
                      <a:r>
                        <a:rPr lang="en-US" sz="800" b="1" u="none" strike="noStrike">
                          <a:effectLst/>
                        </a:rPr>
                        <a:t>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buNone/>
                      </a:pPr>
                      <a:r>
                        <a:rPr lang="en-US" sz="800" b="1" u="none" strike="noStrike">
                          <a:effectLst/>
                        </a:rPr>
                        <a:t>Tài chính</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l" fontAlgn="ctr">
                        <a:buNone/>
                      </a:pPr>
                      <a:r>
                        <a:rPr lang="en-US" sz="800" u="none" strike="noStrike" dirty="0">
                          <a:effectLst/>
                        </a:rPr>
                        <a:t>Lê Hoành Cư</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6.1</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b="1" u="none" strike="noStrike" dirty="0">
                          <a:effectLst/>
                        </a:rPr>
                        <a:t>Kiểm soát </a:t>
                      </a:r>
                      <a:r>
                        <a:rPr lang="vi-VN" sz="800" u="none" strike="noStrike" dirty="0">
                          <a:effectLst/>
                        </a:rPr>
                        <a:t>kế hoạch dự án </a:t>
                      </a:r>
                      <a:r>
                        <a:rPr lang="vi-VN" sz="800" b="1" u="none" strike="noStrike" dirty="0">
                          <a:effectLst/>
                        </a:rPr>
                        <a:t>giảm giá thành </a:t>
                      </a:r>
                      <a:r>
                        <a:rPr lang="vi-VN" sz="800" b="1" u="sng" strike="noStrike" dirty="0">
                          <a:effectLst/>
                        </a:rPr>
                        <a:t>200 USD/tấn</a:t>
                      </a:r>
                      <a:r>
                        <a:rPr lang="vi-VN" sz="800" u="none" strike="noStrike" dirty="0">
                          <a:effectLst/>
                        </a:rPr>
                        <a:t>, tổng kết hàng tháng, bắt đầu thông báo kết quả vào giữa tháng 10, để đưa ra tỷ lệ hỗ trợ thuế cho khách hàng, xác nhận với GĐĐH, chuyển thông tin cho kinh doanh</a:t>
                      </a:r>
                      <a:endParaRPr lang="vi-VN" sz="800" b="0" i="0" u="none" strike="noStrike" dirty="0">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0784668"/>
                  </a:ext>
                </a:extLst>
              </a:tr>
              <a:tr h="14092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buNone/>
                      </a:pPr>
                      <a:r>
                        <a:rPr lang="en-US" sz="800" b="0" i="0" u="none" strike="noStrike">
                          <a:solidFill>
                            <a:schemeClr val="bg1">
                              <a:lumMod val="50000"/>
                            </a:schemeClr>
                          </a:solidFill>
                          <a:effectLst/>
                          <a:latin typeface="+mj-lt"/>
                        </a:rPr>
                        <a:t>6.2</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dirty="0" err="1">
                          <a:effectLst/>
                        </a:rPr>
                        <a:t>Thiết</a:t>
                      </a:r>
                      <a:r>
                        <a:rPr lang="en-US" sz="800" b="1" u="none" strike="noStrike" dirty="0">
                          <a:effectLst/>
                        </a:rPr>
                        <a:t> </a:t>
                      </a:r>
                      <a:r>
                        <a:rPr lang="en-US" sz="800" b="1" u="none" strike="noStrike" dirty="0" err="1">
                          <a:effectLst/>
                        </a:rPr>
                        <a:t>lập</a:t>
                      </a:r>
                      <a:r>
                        <a:rPr lang="en-US" sz="800" b="1" u="none" strike="noStrike" dirty="0">
                          <a:effectLst/>
                        </a:rPr>
                        <a:t> </a:t>
                      </a:r>
                      <a:r>
                        <a:rPr lang="en-US" sz="800" i="1" u="none" strike="noStrike" dirty="0" err="1">
                          <a:effectLst/>
                        </a:rPr>
                        <a:t>định</a:t>
                      </a:r>
                      <a:r>
                        <a:rPr lang="en-US" sz="800" i="1" u="none" strike="noStrike" dirty="0">
                          <a:effectLst/>
                        </a:rPr>
                        <a:t> </a:t>
                      </a:r>
                      <a:r>
                        <a:rPr lang="en-US" sz="800" i="1" u="none" strike="noStrike" dirty="0" err="1">
                          <a:effectLst/>
                        </a:rPr>
                        <a:t>mức</a:t>
                      </a:r>
                      <a:r>
                        <a:rPr lang="en-US" sz="800" i="1" u="none" strike="noStrike" dirty="0">
                          <a:effectLst/>
                        </a:rPr>
                        <a:t> </a:t>
                      </a:r>
                      <a:r>
                        <a:rPr lang="en-US" sz="800" u="none" strike="noStrike" dirty="0" err="1">
                          <a:effectLst/>
                        </a:rPr>
                        <a:t>và</a:t>
                      </a:r>
                      <a:r>
                        <a:rPr lang="en-US" sz="800" u="none" strike="noStrike" dirty="0">
                          <a:effectLst/>
                        </a:rPr>
                        <a:t> </a:t>
                      </a:r>
                      <a:r>
                        <a:rPr lang="en-US" sz="800" b="1" u="none" strike="noStrike" dirty="0" err="1">
                          <a:effectLst/>
                        </a:rPr>
                        <a:t>kiểm</a:t>
                      </a:r>
                      <a:r>
                        <a:rPr lang="en-US" sz="800" b="1" u="none" strike="noStrike" dirty="0">
                          <a:effectLst/>
                        </a:rPr>
                        <a:t> </a:t>
                      </a:r>
                      <a:r>
                        <a:rPr lang="en-US" sz="800" b="1" u="none" strike="noStrike" dirty="0" err="1">
                          <a:effectLst/>
                        </a:rPr>
                        <a:t>soát</a:t>
                      </a:r>
                      <a:r>
                        <a:rPr lang="en-US" sz="800" b="1" u="none" strike="noStrike" dirty="0">
                          <a:effectLst/>
                        </a:rPr>
                        <a:t> </a:t>
                      </a:r>
                      <a:r>
                        <a:rPr lang="en-US" sz="800" i="1" u="none" strike="noStrike" dirty="0">
                          <a:effectLst/>
                        </a:rPr>
                        <a:t>chi </a:t>
                      </a:r>
                      <a:r>
                        <a:rPr lang="en-US" sz="800" i="1" u="none" strike="noStrike" dirty="0" err="1">
                          <a:effectLst/>
                        </a:rPr>
                        <a:t>phí</a:t>
                      </a:r>
                      <a:endParaRPr lang="en-US" sz="800" b="0" i="1" u="none" strike="noStrike" dirty="0">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5633571"/>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6.3</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b="0" i="0" u="none" strike="noStrike" dirty="0">
                          <a:solidFill>
                            <a:srgbClr val="000000"/>
                          </a:solidFill>
                          <a:effectLst/>
                          <a:latin typeface="+mn-lt"/>
                        </a:rPr>
                        <a:t>Tạo kênh kiểm soát giá thị trường chéo từ kế toán</a:t>
                      </a:r>
                      <a:endParaRPr lang="en-US" sz="800" b="0" i="0" u="none" strike="noStrike" dirty="0">
                        <a:solidFill>
                          <a:srgbClr val="000000"/>
                        </a:solidFill>
                        <a:effectLst/>
                        <a:latin typeface="+mn-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30/06/2026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4360215"/>
                  </a:ext>
                </a:extLst>
              </a:tr>
              <a:tr h="140924">
                <a:tc rowSpan="4">
                  <a:txBody>
                    <a:bodyPr/>
                    <a:lstStyle/>
                    <a:p>
                      <a:pPr algn="ctr" fontAlgn="ctr">
                        <a:buNone/>
                      </a:pPr>
                      <a:r>
                        <a:rPr lang="en-US" sz="800" b="1" u="none" strike="noStrike">
                          <a:effectLst/>
                        </a:rPr>
                        <a:t>7</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buNone/>
                      </a:pPr>
                      <a:r>
                        <a:rPr lang="en-US" sz="800" b="1" u="none" strike="noStrike">
                          <a:effectLst/>
                        </a:rPr>
                        <a:t>Kỹ thuật</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buNone/>
                      </a:pPr>
                      <a:r>
                        <a:rPr lang="en-US" sz="800" u="none" strike="noStrike">
                          <a:effectLst/>
                        </a:rPr>
                        <a:t>Đái Trung Quân</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7.1</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Cải thiện </a:t>
                      </a:r>
                      <a:r>
                        <a:rPr lang="en-US" sz="800" i="1" u="none" strike="noStrike">
                          <a:effectLst/>
                        </a:rPr>
                        <a:t>năng suất </a:t>
                      </a:r>
                      <a:r>
                        <a:rPr lang="en-US" sz="800" u="none" strike="noStrike">
                          <a:effectLst/>
                        </a:rPr>
                        <a:t>máy móc thiết bị</a:t>
                      </a:r>
                      <a:endParaRPr lang="en-US"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8726893"/>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7.2</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u="none" strike="noStrike">
                          <a:effectLst/>
                        </a:rPr>
                        <a:t>Kế hoạch </a:t>
                      </a:r>
                      <a:r>
                        <a:rPr lang="vi-VN" sz="800" b="1" u="none" strike="noStrike">
                          <a:effectLst/>
                        </a:rPr>
                        <a:t>chạy máy </a:t>
                      </a:r>
                      <a:r>
                        <a:rPr lang="vi-VN" sz="800" i="1" u="none" strike="noStrike">
                          <a:effectLst/>
                        </a:rPr>
                        <a:t>theo đơn hàng</a:t>
                      </a:r>
                      <a:r>
                        <a:rPr lang="vi-VN" sz="800" u="none" strike="noStrike">
                          <a:effectLst/>
                        </a:rPr>
                        <a:t>, </a:t>
                      </a:r>
                      <a:r>
                        <a:rPr lang="vi-VN" sz="800" b="1" u="none" strike="noStrike">
                          <a:effectLst/>
                        </a:rPr>
                        <a:t>giảm chạy máy </a:t>
                      </a:r>
                      <a:r>
                        <a:rPr lang="vi-VN" sz="800" u="none" strike="noStrike">
                          <a:effectLst/>
                        </a:rPr>
                        <a:t>giờ </a:t>
                      </a:r>
                      <a:r>
                        <a:rPr lang="vi-VN" sz="800" i="1" u="none" strike="noStrike">
                          <a:effectLst/>
                        </a:rPr>
                        <a:t>cao điểm</a:t>
                      </a:r>
                      <a:r>
                        <a:rPr lang="vi-VN" sz="800" u="none" strike="noStrike">
                          <a:effectLst/>
                        </a:rPr>
                        <a:t>, chấp nhận hiệu suất giảm</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6094121"/>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7.3</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u="none" strike="noStrike">
                          <a:effectLst/>
                        </a:rPr>
                        <a:t>Rà soát các thiết bị đảm bảo không phát sinh lỗi, sự cố</a:t>
                      </a:r>
                      <a:endParaRPr lang="en-US"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7196030"/>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lnL>
                      <a:noFill/>
                    </a:lnL>
                    <a:lnT w="12700" cap="flat" cmpd="sng" algn="ctr">
                      <a:solidFill>
                        <a:schemeClr val="bg1">
                          <a:lumMod val="50000"/>
                        </a:schemeClr>
                      </a:solidFill>
                      <a:prstDash val="solid"/>
                      <a:round/>
                      <a:headEnd type="none" w="med" len="med"/>
                      <a:tailEnd type="none" w="med" len="med"/>
                    </a:lnT>
                  </a:tcPr>
                </a:tc>
                <a:tc vMerge="1">
                  <a:txBody>
                    <a:bodyPr/>
                    <a:lstStyle/>
                    <a:p>
                      <a:endParaRPr/>
                    </a:p>
                  </a:txBody>
                  <a:tcPr marL="5510" marR="5510" marT="5510" marB="0" anchor="ctr">
                    <a:lnT w="12700" cap="flat" cmpd="sng" algn="ctr">
                      <a:solidFill>
                        <a:schemeClr val="bg1">
                          <a:lumMod val="50000"/>
                        </a:schemeClr>
                      </a:solidFill>
                      <a:prstDash val="solid"/>
                      <a:round/>
                      <a:headEnd type="none" w="med" len="med"/>
                      <a:tailEnd type="none" w="med" len="med"/>
                    </a:lnT>
                  </a:tcPr>
                </a:tc>
                <a:tc>
                  <a:txBody>
                    <a:bodyPr/>
                    <a:lstStyle/>
                    <a:p>
                      <a:pPr algn="ctr" fontAlgn="ctr">
                        <a:buNone/>
                      </a:pPr>
                      <a:r>
                        <a:rPr lang="en-US" sz="800" b="0" i="0" u="none" strike="noStrike">
                          <a:solidFill>
                            <a:schemeClr val="bg1">
                              <a:lumMod val="50000"/>
                            </a:schemeClr>
                          </a:solidFill>
                          <a:effectLst/>
                          <a:latin typeface="+mj-lt"/>
                        </a:rPr>
                        <a:t>7.4</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X</a:t>
                      </a:r>
                      <a:r>
                        <a:rPr lang="vi-VN" sz="800" b="1" u="none" strike="noStrike">
                          <a:effectLst/>
                        </a:rPr>
                        <a:t>em xét</a:t>
                      </a:r>
                      <a:r>
                        <a:rPr lang="vi-VN" sz="800" u="none" strike="noStrike">
                          <a:effectLst/>
                        </a:rPr>
                        <a:t> </a:t>
                      </a:r>
                      <a:r>
                        <a:rPr lang="en-US" sz="800" u="none" strike="noStrike">
                          <a:effectLst/>
                        </a:rPr>
                        <a:t>c</a:t>
                      </a:r>
                      <a:r>
                        <a:rPr lang="vi-VN" sz="800" u="none" strike="noStrike">
                          <a:effectLst/>
                        </a:rPr>
                        <a:t>ác </a:t>
                      </a:r>
                      <a:r>
                        <a:rPr lang="vi-VN" sz="800" b="1" u="none" strike="noStrike">
                          <a:effectLst/>
                        </a:rPr>
                        <a:t>kế hoạch đầu tư</a:t>
                      </a:r>
                      <a:r>
                        <a:rPr lang="en-US" sz="800" u="none" strike="noStrike">
                          <a:effectLst/>
                        </a:rPr>
                        <a:t>: </a:t>
                      </a:r>
                      <a:r>
                        <a:rPr lang="vi-VN" sz="800" u="none" strike="noStrike">
                          <a:effectLst/>
                        </a:rPr>
                        <a:t>kế hoạch </a:t>
                      </a:r>
                      <a:r>
                        <a:rPr lang="vi-VN" sz="800" i="1" u="none" strike="noStrike">
                          <a:effectLst/>
                        </a:rPr>
                        <a:t>thực hiện</a:t>
                      </a:r>
                      <a:r>
                        <a:rPr lang="vi-VN" sz="800" u="none" strike="noStrike">
                          <a:effectLst/>
                        </a:rPr>
                        <a:t>, </a:t>
                      </a:r>
                      <a:r>
                        <a:rPr lang="vi-VN" sz="800" i="1" u="none" strike="noStrike">
                          <a:effectLst/>
                        </a:rPr>
                        <a:t>nguồn vốn </a:t>
                      </a:r>
                      <a:r>
                        <a:rPr lang="vi-VN" sz="800" u="none" strike="noStrike">
                          <a:effectLst/>
                        </a:rPr>
                        <a:t>sử dụng</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5650412"/>
                  </a:ext>
                </a:extLst>
              </a:tr>
              <a:tr h="140924">
                <a:tc rowSpan="2">
                  <a:txBody>
                    <a:bodyPr/>
                    <a:lstStyle/>
                    <a:p>
                      <a:pPr algn="ctr" fontAlgn="ctr">
                        <a:buNone/>
                      </a:pPr>
                      <a:r>
                        <a:rPr lang="en-US" sz="800" b="1" u="none" strike="noStrike">
                          <a:effectLst/>
                        </a:rPr>
                        <a:t>8</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7F7F7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buNone/>
                      </a:pPr>
                      <a:r>
                        <a:rPr lang="en-US" sz="800" b="1" u="none" strike="noStrike">
                          <a:effectLst/>
                        </a:rPr>
                        <a:t>Sản xuất</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7F7F7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buNone/>
                      </a:pPr>
                      <a:r>
                        <a:rPr lang="en-US" sz="800" u="none" strike="noStrike">
                          <a:effectLst/>
                        </a:rPr>
                        <a:t>Lê Xuân Huy Vũ</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rgbClr val="7F7F7F"/>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8.1</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vi-VN" sz="800" u="none" strike="noStrike">
                          <a:effectLst/>
                        </a:rPr>
                        <a:t>Kế hoạch chạy máy theo đơn hàng, giảm chạy máy giờ cao điểm, chấp nhận hiệu suất giảm</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5721692"/>
                  </a:ext>
                </a:extLst>
              </a:tr>
              <a:tr h="140924">
                <a:tc vMerge="1">
                  <a:txBody>
                    <a:bodyPr/>
                    <a:lstStyle/>
                    <a:p>
                      <a:endParaRPr lang="en-US"/>
                    </a:p>
                  </a:txBody>
                  <a:tcP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lang="en-US"/>
                    </a:p>
                  </a:txBody>
                  <a:tcPr/>
                </a:tc>
                <a:tc vMerge="1">
                  <a:txBody>
                    <a:bodyPr/>
                    <a:lstStyle/>
                    <a:p>
                      <a:endParaRPr lang="en-US"/>
                    </a:p>
                  </a:txBody>
                  <a:tcPr/>
                </a:tc>
                <a:tc>
                  <a:txBody>
                    <a:bodyPr/>
                    <a:lstStyle/>
                    <a:p>
                      <a:pPr algn="ctr" fontAlgn="ctr">
                        <a:buNone/>
                      </a:pPr>
                      <a:r>
                        <a:rPr lang="en-US" sz="800" b="0" i="0" u="none" strike="noStrike">
                          <a:solidFill>
                            <a:schemeClr val="bg1">
                              <a:lumMod val="50000"/>
                            </a:schemeClr>
                          </a:solidFill>
                          <a:effectLst/>
                          <a:latin typeface="+mj-lt"/>
                        </a:rPr>
                        <a:t>8.2</a:t>
                      </a:r>
                      <a:endParaRPr lang="vi-VN" sz="800" b="0" i="0" u="none" strike="noStrike">
                        <a:solidFill>
                          <a:schemeClr val="bg1">
                            <a:lumMod val="50000"/>
                          </a:schemeClr>
                        </a:solidFill>
                        <a:effectLst/>
                        <a:latin typeface="+mj-lt"/>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Phối hợp nhân sự</a:t>
                      </a:r>
                      <a:r>
                        <a:rPr lang="en-US" sz="800" b="0" u="none" strike="noStrike">
                          <a:effectLst/>
                        </a:rPr>
                        <a:t>:</a:t>
                      </a:r>
                      <a:r>
                        <a:rPr lang="en-US" sz="800" u="none" strike="noStrike">
                          <a:effectLst/>
                        </a:rPr>
                        <a:t> giảm tăng ca, outsource phù hợp</a:t>
                      </a:r>
                      <a:endParaRPr lang="vi-VN"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1910801"/>
                  </a:ext>
                </a:extLst>
              </a:tr>
              <a:tr h="140924">
                <a:tc rowSpan="4">
                  <a:txBody>
                    <a:bodyPr/>
                    <a:lstStyle/>
                    <a:p>
                      <a:pPr algn="ctr" fontAlgn="ctr">
                        <a:buNone/>
                      </a:pPr>
                      <a:r>
                        <a:rPr lang="en-US" sz="800" b="1" u="none" strike="noStrike">
                          <a:effectLst/>
                        </a:rPr>
                        <a:t>9</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buNone/>
                      </a:pPr>
                      <a:r>
                        <a:rPr lang="en-US" sz="800" b="1" u="none" strike="noStrike">
                          <a:effectLst/>
                        </a:rPr>
                        <a:t>R&amp;D</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l" fontAlgn="ctr">
                        <a:buNone/>
                      </a:pPr>
                      <a:r>
                        <a:rPr lang="en-US" sz="800" u="none" strike="noStrike">
                          <a:effectLst/>
                        </a:rPr>
                        <a:t>Phạm Thanh Sĩ</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9.1</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Giải quyết </a:t>
                      </a:r>
                      <a:r>
                        <a:rPr lang="en-US" sz="800" u="none" strike="noStrike">
                          <a:effectLst/>
                        </a:rPr>
                        <a:t>hàng </a:t>
                      </a:r>
                      <a:r>
                        <a:rPr lang="en-US" sz="800" i="1" u="none" strike="noStrike">
                          <a:effectLst/>
                        </a:rPr>
                        <a:t>tồn kho, phó sản</a:t>
                      </a:r>
                      <a:endParaRPr lang="en-US" sz="800" b="0" i="1"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2459257"/>
                  </a:ext>
                </a:extLst>
              </a:tr>
              <a:tr h="152670">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9.2</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Cải tiến, tối ưu ông thức sản xuất</a:t>
                      </a:r>
                      <a:endParaRPr lang="en-US" sz="800" b="1"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302034"/>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9.3</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i="0" u="none" strike="noStrike" cap="none">
                          <a:solidFill>
                            <a:srgbClr val="000000"/>
                          </a:solidFill>
                          <a:effectLst/>
                          <a:latin typeface="Arial"/>
                          <a:cs typeface="Arial"/>
                          <a:sym typeface="Arial"/>
                        </a:rPr>
                        <a:t>Bảng thông tin phân loại chai</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6711260"/>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9.4</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err="1">
                          <a:effectLst/>
                        </a:rPr>
                        <a:t>Kiểm</a:t>
                      </a:r>
                      <a:r>
                        <a:rPr lang="en-US" sz="800" b="1" u="none" strike="noStrike">
                          <a:effectLst/>
                        </a:rPr>
                        <a:t> </a:t>
                      </a:r>
                      <a:r>
                        <a:rPr lang="en-US" sz="800" b="1" u="none" strike="noStrike" err="1">
                          <a:effectLst/>
                        </a:rPr>
                        <a:t>soát</a:t>
                      </a:r>
                      <a:r>
                        <a:rPr lang="en-US" sz="800" b="1" u="none" strike="noStrike">
                          <a:effectLst/>
                        </a:rPr>
                        <a:t>, </a:t>
                      </a:r>
                      <a:r>
                        <a:rPr lang="en-US" sz="800" b="1" u="none" strike="noStrike" err="1">
                          <a:effectLst/>
                        </a:rPr>
                        <a:t>tuân</a:t>
                      </a:r>
                      <a:r>
                        <a:rPr lang="en-US" sz="800" b="1" u="none" strike="noStrike">
                          <a:effectLst/>
                        </a:rPr>
                        <a:t> </a:t>
                      </a:r>
                      <a:r>
                        <a:rPr lang="en-US" sz="800" b="1" u="none" strike="noStrike" err="1">
                          <a:effectLst/>
                        </a:rPr>
                        <a:t>thủ</a:t>
                      </a:r>
                      <a:r>
                        <a:rPr lang="en-US" sz="800" b="1" u="none" strike="noStrike">
                          <a:effectLst/>
                        </a:rPr>
                        <a:t> </a:t>
                      </a:r>
                      <a:r>
                        <a:rPr lang="en-US" sz="800" b="1" u="none" strike="noStrike" err="1">
                          <a:effectLst/>
                        </a:rPr>
                        <a:t>tiêu</a:t>
                      </a:r>
                      <a:r>
                        <a:rPr lang="en-US" sz="800" b="1" u="none" strike="noStrike">
                          <a:effectLst/>
                        </a:rPr>
                        <a:t> </a:t>
                      </a:r>
                      <a:r>
                        <a:rPr lang="en-US" sz="800" b="1" u="none" strike="noStrike" err="1">
                          <a:effectLst/>
                        </a:rPr>
                        <a:t>chuẩn</a:t>
                      </a:r>
                      <a:r>
                        <a:rPr lang="en-US" sz="800" b="1" u="none" strike="noStrike">
                          <a:effectLst/>
                        </a:rPr>
                        <a:t> </a:t>
                      </a:r>
                      <a:r>
                        <a:rPr lang="en-US" sz="800" u="none" strike="noStrike" err="1">
                          <a:effectLst/>
                        </a:rPr>
                        <a:t>đầu</a:t>
                      </a:r>
                      <a:r>
                        <a:rPr lang="en-US" sz="800" u="none" strike="noStrike">
                          <a:effectLst/>
                        </a:rPr>
                        <a:t> </a:t>
                      </a:r>
                      <a:r>
                        <a:rPr lang="en-US" sz="800" u="none" strike="noStrike" err="1">
                          <a:effectLst/>
                        </a:rPr>
                        <a:t>vào</a:t>
                      </a:r>
                      <a:endParaRPr lang="en-US"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8270607"/>
                  </a:ext>
                </a:extLst>
              </a:tr>
              <a:tr h="140924">
                <a:tc rowSpan="2">
                  <a:txBody>
                    <a:bodyPr/>
                    <a:lstStyle/>
                    <a:p>
                      <a:pPr algn="ctr" fontAlgn="ctr">
                        <a:buNone/>
                      </a:pPr>
                      <a:r>
                        <a:rPr lang="en-US" sz="800" b="1" u="none" strike="noStrike">
                          <a:effectLst/>
                        </a:rPr>
                        <a:t>10</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buNone/>
                      </a:pPr>
                      <a:r>
                        <a:rPr lang="en-US" sz="800" b="1" u="none" strike="noStrike">
                          <a:effectLst/>
                        </a:rPr>
                        <a:t>Trạm</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l" fontAlgn="ctr">
                        <a:buNone/>
                      </a:pPr>
                      <a:r>
                        <a:rPr lang="en-US" sz="800" u="none" strike="noStrike">
                          <a:effectLst/>
                        </a:rPr>
                        <a:t>Lê Đức Thắng</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en-US" sz="800" b="0" i="0" u="none" strike="noStrike">
                          <a:solidFill>
                            <a:schemeClr val="bg1">
                              <a:lumMod val="50000"/>
                            </a:schemeClr>
                          </a:solidFill>
                          <a:effectLst/>
                          <a:latin typeface="+mj-lt"/>
                        </a:rPr>
                        <a:t>10.1</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err="1">
                          <a:effectLst/>
                        </a:rPr>
                        <a:t>Kiểm</a:t>
                      </a:r>
                      <a:r>
                        <a:rPr lang="en-US" sz="800" b="1" u="none" strike="noStrike">
                          <a:effectLst/>
                        </a:rPr>
                        <a:t> </a:t>
                      </a:r>
                      <a:r>
                        <a:rPr lang="en-US" sz="800" b="1" u="none" strike="noStrike" err="1">
                          <a:effectLst/>
                        </a:rPr>
                        <a:t>soát</a:t>
                      </a:r>
                      <a:r>
                        <a:rPr lang="en-US" sz="800" b="1" u="none" strike="noStrike">
                          <a:effectLst/>
                        </a:rPr>
                        <a:t>, </a:t>
                      </a:r>
                      <a:r>
                        <a:rPr lang="en-US" sz="800" b="1" u="none" strike="noStrike" err="1">
                          <a:effectLst/>
                        </a:rPr>
                        <a:t>tuân</a:t>
                      </a:r>
                      <a:r>
                        <a:rPr lang="en-US" sz="800" b="1" u="none" strike="noStrike">
                          <a:effectLst/>
                        </a:rPr>
                        <a:t> </a:t>
                      </a:r>
                      <a:r>
                        <a:rPr lang="en-US" sz="800" b="1" u="none" strike="noStrike" err="1">
                          <a:effectLst/>
                        </a:rPr>
                        <a:t>thủ</a:t>
                      </a:r>
                      <a:r>
                        <a:rPr lang="en-US" sz="800" b="1" u="none" strike="noStrike">
                          <a:effectLst/>
                        </a:rPr>
                        <a:t> </a:t>
                      </a:r>
                      <a:r>
                        <a:rPr lang="en-US" sz="800" b="1" u="none" strike="noStrike" err="1">
                          <a:effectLst/>
                        </a:rPr>
                        <a:t>tiêu</a:t>
                      </a:r>
                      <a:r>
                        <a:rPr lang="en-US" sz="800" b="1" u="none" strike="noStrike">
                          <a:effectLst/>
                        </a:rPr>
                        <a:t> </a:t>
                      </a:r>
                      <a:r>
                        <a:rPr lang="en-US" sz="800" b="1" u="none" strike="noStrike" err="1">
                          <a:effectLst/>
                        </a:rPr>
                        <a:t>chuẩn</a:t>
                      </a:r>
                      <a:r>
                        <a:rPr lang="en-US" sz="800" b="1" u="none" strike="noStrike">
                          <a:effectLst/>
                        </a:rPr>
                        <a:t> </a:t>
                      </a:r>
                      <a:r>
                        <a:rPr lang="en-US" sz="800" u="none" strike="noStrike" err="1">
                          <a:effectLst/>
                        </a:rPr>
                        <a:t>đầu</a:t>
                      </a:r>
                      <a:r>
                        <a:rPr lang="en-US" sz="800" u="none" strike="noStrike">
                          <a:effectLst/>
                        </a:rPr>
                        <a:t> </a:t>
                      </a:r>
                      <a:r>
                        <a:rPr lang="en-US" sz="800" u="none" strike="noStrike" err="1">
                          <a:effectLst/>
                        </a:rPr>
                        <a:t>vào</a:t>
                      </a:r>
                      <a:endParaRPr lang="en-US"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bg1">
                          <a:lumMod val="50000"/>
                        </a:schemeClr>
                      </a:solidFill>
                      <a:prstDash val="solid"/>
                      <a:round/>
                      <a:headEnd type="none" w="med" len="med"/>
                      <a:tailEnd type="none" w="med" len="med"/>
                    </a:lnT>
                    <a:lnB w="9525" cap="flat" cmpd="sng" algn="ctr">
                      <a:solidFill>
                        <a:schemeClr val="bg1">
                          <a:lumMod val="75000"/>
                        </a:schemeClr>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4962807"/>
                  </a:ext>
                </a:extLst>
              </a:tr>
              <a:tr h="140924">
                <a:tc vMerge="1">
                  <a:txBody>
                    <a:bodyPr/>
                    <a:lstStyle/>
                    <a:p>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vMerge="1">
                  <a:txBody>
                    <a:bodyPr/>
                    <a:lstStyle/>
                    <a:p>
                      <a:endParaRPr/>
                    </a:p>
                  </a:txBody>
                  <a:tcPr marL="5510" marR="5510" marT="5510" marB="0" anchor="ctr"/>
                </a:tc>
                <a:tc vMerge="1">
                  <a:txBody>
                    <a:bodyPr/>
                    <a:lstStyle/>
                    <a:p>
                      <a:endParaRPr/>
                    </a:p>
                  </a:txBody>
                  <a:tcPr marL="5510" marR="5510" marT="5510" marB="0" anchor="ctr"/>
                </a:tc>
                <a:tc>
                  <a:txBody>
                    <a:bodyPr/>
                    <a:lstStyle/>
                    <a:p>
                      <a:pPr algn="ctr" fontAlgn="ctr">
                        <a:buNone/>
                      </a:pPr>
                      <a:r>
                        <a:rPr lang="en-US" sz="800" b="0" i="0" u="none" strike="noStrike">
                          <a:solidFill>
                            <a:schemeClr val="bg1">
                              <a:lumMod val="50000"/>
                            </a:schemeClr>
                          </a:solidFill>
                          <a:effectLst/>
                          <a:latin typeface="+mj-lt"/>
                        </a:rPr>
                        <a:t>10.2</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buNone/>
                      </a:pPr>
                      <a:r>
                        <a:rPr lang="en-US" sz="800" b="1" u="none" strike="noStrike">
                          <a:effectLst/>
                        </a:rPr>
                        <a:t>Kiểm soát chi phí </a:t>
                      </a:r>
                      <a:r>
                        <a:rPr lang="en-US" sz="800" u="none" strike="noStrike">
                          <a:effectLst/>
                        </a:rPr>
                        <a:t>vận hành trạm, </a:t>
                      </a:r>
                      <a:r>
                        <a:rPr lang="en-US" sz="800" b="1" u="none" strike="noStrike">
                          <a:effectLst/>
                        </a:rPr>
                        <a:t>giảm giá </a:t>
                      </a:r>
                      <a:r>
                        <a:rPr lang="en-US" sz="800" i="1" u="none" strike="noStrike">
                          <a:effectLst/>
                        </a:rPr>
                        <a:t>bán về DTR </a:t>
                      </a:r>
                      <a:r>
                        <a:rPr lang="vi-VN" sz="800" i="0" u="none" strike="noStrike">
                          <a:effectLst/>
                        </a:rPr>
                        <a:t>xuống giá tương đương các NCC ngoài</a:t>
                      </a:r>
                      <a:endParaRPr lang="en-US" sz="800" b="0" i="0" u="none" strike="noStrike">
                        <a:solidFill>
                          <a:srgbClr val="000000"/>
                        </a:solidFill>
                        <a:effectLst/>
                        <a:latin typeface="Times New Roman" panose="02020603050405020304" pitchFamily="18" charset="0"/>
                      </a:endParaRP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800" b="0" i="1" u="none" strike="noStrike" kern="0" cap="none" spc="0" normalizeH="0" baseline="0" noProof="0" dirty="0">
                          <a:ln>
                            <a:noFill/>
                          </a:ln>
                          <a:solidFill>
                            <a:srgbClr val="000000"/>
                          </a:solidFill>
                          <a:effectLst/>
                          <a:uLnTx/>
                          <a:uFillTx/>
                          <a:latin typeface="+mj-lt"/>
                          <a:cs typeface="Arial"/>
                          <a:sym typeface="Arial"/>
                        </a:rPr>
                        <a:t>31/12/2026</a:t>
                      </a:r>
                    </a:p>
                  </a:txBody>
                  <a:tcPr marL="5510" marR="5510" marT="551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lgn="ctr">
                      <a:solidFill>
                        <a:schemeClr val="bg1">
                          <a:lumMod val="75000"/>
                        </a:schemeClr>
                      </a:solidFill>
                      <a:prstDash val="sysDash"/>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1803703"/>
                  </a:ext>
                </a:extLst>
              </a:tr>
            </a:tbl>
          </a:graphicData>
        </a:graphic>
      </p:graphicFrame>
    </p:spTree>
    <p:extLst>
      <p:ext uri="{BB962C8B-B14F-4D97-AF65-F5344CB8AC3E}">
        <p14:creationId xmlns:p14="http://schemas.microsoft.com/office/powerpoint/2010/main" val="11595918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C47D6F5-BA83-9EA7-9E34-BC242E2AB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2C7E0-F1C5-D555-5691-E49722EFFBD7}"/>
              </a:ext>
            </a:extLst>
          </p:cNvPr>
          <p:cNvSpPr>
            <a:spLocks noGrp="1"/>
          </p:cNvSpPr>
          <p:nvPr>
            <p:ph type="title"/>
          </p:nvPr>
        </p:nvSpPr>
        <p:spPr>
          <a:xfrm>
            <a:off x="286808" y="1977684"/>
            <a:ext cx="8460000" cy="572700"/>
          </a:xfrm>
        </p:spPr>
        <p:txBody>
          <a:bodyPr/>
          <a:lstStyle/>
          <a:p>
            <a:pPr algn="ctr"/>
            <a:r>
              <a:rPr lang="en-US" b="1">
                <a:solidFill>
                  <a:schemeClr val="tx1">
                    <a:lumMod val="65000"/>
                    <a:lumOff val="35000"/>
                  </a:schemeClr>
                </a:solidFill>
              </a:rPr>
              <a:t>5. CÁC ĐỀ XUẤT/YÊU CẦU HỖ TRỢ</a:t>
            </a:r>
          </a:p>
        </p:txBody>
      </p:sp>
    </p:spTree>
    <p:extLst>
      <p:ext uri="{BB962C8B-B14F-4D97-AF65-F5344CB8AC3E}">
        <p14:creationId xmlns:p14="http://schemas.microsoft.com/office/powerpoint/2010/main" val="728948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B82C79-FC89-844D-C51C-1CD81130AB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80A722-C9E1-37FC-0FC0-318FA6ED9FA6}"/>
              </a:ext>
            </a:extLst>
          </p:cNvPr>
          <p:cNvSpPr>
            <a:spLocks noGrp="1"/>
          </p:cNvSpPr>
          <p:nvPr>
            <p:ph type="title"/>
          </p:nvPr>
        </p:nvSpPr>
        <p:spPr>
          <a:xfrm>
            <a:off x="405119" y="15534"/>
            <a:ext cx="8460000" cy="572700"/>
          </a:xfrm>
        </p:spPr>
        <p:txBody>
          <a:bodyPr/>
          <a:lstStyle/>
          <a:p>
            <a:pPr algn="ctr"/>
            <a:r>
              <a:rPr lang="en-US" sz="2200" b="1">
                <a:solidFill>
                  <a:srgbClr val="00B050"/>
                </a:solidFill>
                <a:latin typeface="+mn-lt"/>
              </a:rPr>
              <a:t>5. CÁC ĐỀ XUẤT/ YÊU CẦU HỖ TRỢ </a:t>
            </a:r>
            <a:r>
              <a:rPr lang="en-US" sz="2400" b="1">
                <a:solidFill>
                  <a:srgbClr val="00B050"/>
                </a:solidFill>
                <a:latin typeface="+mn-lt"/>
              </a:rPr>
              <a:t>THÁNG 11 NĂM 2025</a:t>
            </a:r>
            <a:endParaRPr lang="en-US" sz="2200" b="1">
              <a:solidFill>
                <a:srgbClr val="00B050"/>
              </a:solidFill>
              <a:latin typeface="+mn-lt"/>
            </a:endParaRPr>
          </a:p>
        </p:txBody>
      </p:sp>
      <p:graphicFrame>
        <p:nvGraphicFramePr>
          <p:cNvPr id="5" name="Table 4">
            <a:extLst>
              <a:ext uri="{FF2B5EF4-FFF2-40B4-BE49-F238E27FC236}">
                <a16:creationId xmlns:a16="http://schemas.microsoft.com/office/drawing/2014/main" id="{C8136C05-58FC-B60A-09C9-B8550619408B}"/>
              </a:ext>
            </a:extLst>
          </p:cNvPr>
          <p:cNvGraphicFramePr>
            <a:graphicFrameLocks noGrp="1"/>
          </p:cNvGraphicFramePr>
          <p:nvPr/>
        </p:nvGraphicFramePr>
        <p:xfrm>
          <a:off x="49237" y="588234"/>
          <a:ext cx="9045526" cy="2954219"/>
        </p:xfrm>
        <a:graphic>
          <a:graphicData uri="http://schemas.openxmlformats.org/drawingml/2006/table">
            <a:tbl>
              <a:tblPr firstRow="1" bandRow="1">
                <a:tableStyleId>{6A077030-E235-474E-B3E8-3EB61F41259E}</a:tableStyleId>
              </a:tblPr>
              <a:tblGrid>
                <a:gridCol w="421385">
                  <a:extLst>
                    <a:ext uri="{9D8B030D-6E8A-4147-A177-3AD203B41FA5}">
                      <a16:colId xmlns:a16="http://schemas.microsoft.com/office/drawing/2014/main" val="1284830113"/>
                    </a:ext>
                  </a:extLst>
                </a:gridCol>
                <a:gridCol w="1669751">
                  <a:extLst>
                    <a:ext uri="{9D8B030D-6E8A-4147-A177-3AD203B41FA5}">
                      <a16:colId xmlns:a16="http://schemas.microsoft.com/office/drawing/2014/main" val="760837784"/>
                    </a:ext>
                  </a:extLst>
                </a:gridCol>
                <a:gridCol w="2072640">
                  <a:extLst>
                    <a:ext uri="{9D8B030D-6E8A-4147-A177-3AD203B41FA5}">
                      <a16:colId xmlns:a16="http://schemas.microsoft.com/office/drawing/2014/main" val="2169971334"/>
                    </a:ext>
                  </a:extLst>
                </a:gridCol>
                <a:gridCol w="2336697">
                  <a:extLst>
                    <a:ext uri="{9D8B030D-6E8A-4147-A177-3AD203B41FA5}">
                      <a16:colId xmlns:a16="http://schemas.microsoft.com/office/drawing/2014/main" val="2269053312"/>
                    </a:ext>
                  </a:extLst>
                </a:gridCol>
                <a:gridCol w="2545053">
                  <a:extLst>
                    <a:ext uri="{9D8B030D-6E8A-4147-A177-3AD203B41FA5}">
                      <a16:colId xmlns:a16="http://schemas.microsoft.com/office/drawing/2014/main" val="4009984412"/>
                    </a:ext>
                  </a:extLst>
                </a:gridCol>
              </a:tblGrid>
              <a:tr h="693202">
                <a:tc>
                  <a:txBody>
                    <a:bodyPr/>
                    <a:lstStyle/>
                    <a:p>
                      <a:pPr algn="ctr"/>
                      <a:r>
                        <a:rPr lang="en-US" sz="1200" b="1">
                          <a:solidFill>
                            <a:schemeClr val="bg1"/>
                          </a:solidFill>
                        </a:rPr>
                        <a:t>Stt</a:t>
                      </a:r>
                    </a:p>
                  </a:txBody>
                  <a:tcPr anchor="ctr">
                    <a:solidFill>
                      <a:srgbClr val="119303"/>
                    </a:solidFill>
                  </a:tcPr>
                </a:tc>
                <a:tc>
                  <a:txBody>
                    <a:bodyPr/>
                    <a:lstStyle/>
                    <a:p>
                      <a:pPr algn="ctr"/>
                      <a:r>
                        <a:rPr lang="en-US" sz="1400" b="1">
                          <a:solidFill>
                            <a:schemeClr val="bg1"/>
                          </a:solidFill>
                        </a:rPr>
                        <a:t>Người đề xuất</a:t>
                      </a:r>
                      <a:br>
                        <a:rPr lang="en-US" sz="1400" b="1">
                          <a:solidFill>
                            <a:schemeClr val="bg1"/>
                          </a:solidFill>
                        </a:rPr>
                      </a:br>
                      <a:r>
                        <a:rPr lang="en-US" sz="1050" b="0" i="1">
                          <a:solidFill>
                            <a:schemeClr val="bg1"/>
                          </a:solidFill>
                        </a:rPr>
                        <a:t>(Tên – Chức vụ - Đơn vị)</a:t>
                      </a:r>
                      <a:endParaRPr lang="en-US" sz="1000" b="0" i="1">
                        <a:solidFill>
                          <a:schemeClr val="bg1"/>
                        </a:solidFill>
                      </a:endParaRPr>
                    </a:p>
                  </a:txBody>
                  <a:tcPr anchor="ctr">
                    <a:solidFill>
                      <a:srgbClr val="119303"/>
                    </a:solidFill>
                  </a:tcPr>
                </a:tc>
                <a:tc>
                  <a:txBody>
                    <a:bodyPr/>
                    <a:lstStyle/>
                    <a:p>
                      <a:pPr algn="ctr"/>
                      <a:r>
                        <a:rPr lang="en-US" sz="1400" b="1">
                          <a:solidFill>
                            <a:schemeClr val="bg1"/>
                          </a:solidFill>
                        </a:rPr>
                        <a:t>Nội dung đề xuất/  Yêu cầu hỗ trợ</a:t>
                      </a:r>
                    </a:p>
                  </a:txBody>
                  <a:tcPr anchor="ctr">
                    <a:solidFill>
                      <a:srgbClr val="119303"/>
                    </a:solidFill>
                  </a:tcPr>
                </a:tc>
                <a:tc>
                  <a:txBody>
                    <a:bodyPr/>
                    <a:lstStyle/>
                    <a:p>
                      <a:pPr algn="ctr"/>
                      <a:r>
                        <a:rPr lang="en-US" sz="1400" b="1">
                          <a:solidFill>
                            <a:schemeClr val="bg1"/>
                          </a:solidFill>
                        </a:rPr>
                        <a:t>Lí do đề xuất</a:t>
                      </a:r>
                      <a:br>
                        <a:rPr lang="en-US" sz="1200">
                          <a:solidFill>
                            <a:schemeClr val="bg1"/>
                          </a:solidFill>
                        </a:rPr>
                      </a:br>
                      <a:r>
                        <a:rPr lang="en-US" sz="1100" i="1">
                          <a:solidFill>
                            <a:schemeClr val="bg1"/>
                          </a:solidFill>
                        </a:rPr>
                        <a:t>(Hiện trạng &amp; Lợi mong đợi)</a:t>
                      </a:r>
                      <a:endParaRPr lang="en-US" sz="1200" i="1">
                        <a:solidFill>
                          <a:schemeClr val="bg1"/>
                        </a:solidFill>
                      </a:endParaRPr>
                    </a:p>
                  </a:txBody>
                  <a:tcPr anchor="ctr">
                    <a:solidFill>
                      <a:srgbClr val="119303"/>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a:solidFill>
                            <a:schemeClr val="bg1"/>
                          </a:solidFill>
                        </a:rPr>
                        <a:t>Phương án thực hiện</a:t>
                      </a:r>
                      <a:br>
                        <a:rPr lang="en-US" sz="1200">
                          <a:solidFill>
                            <a:schemeClr val="bg1"/>
                          </a:solidFill>
                        </a:rPr>
                      </a:br>
                      <a:r>
                        <a:rPr lang="en-US" sz="1100" i="1">
                          <a:solidFill>
                            <a:schemeClr val="bg1"/>
                          </a:solidFill>
                        </a:rPr>
                        <a:t>(Ngân sách; Rủi ro &amp; biện pháp giảm thiểu)</a:t>
                      </a:r>
                      <a:endParaRPr lang="en-US" sz="1200" i="1">
                        <a:solidFill>
                          <a:schemeClr val="bg1"/>
                        </a:solidFill>
                      </a:endParaRPr>
                    </a:p>
                  </a:txBody>
                  <a:tcPr anchor="ctr">
                    <a:solidFill>
                      <a:srgbClr val="119303"/>
                    </a:solidFill>
                  </a:tcPr>
                </a:tc>
                <a:extLst>
                  <a:ext uri="{0D108BD9-81ED-4DB2-BD59-A6C34878D82A}">
                    <a16:rowId xmlns:a16="http://schemas.microsoft.com/office/drawing/2014/main" val="2949376492"/>
                  </a:ext>
                </a:extLst>
              </a:tr>
              <a:tr h="1263408">
                <a:tc>
                  <a:txBody>
                    <a:bodyPr/>
                    <a:lstStyle/>
                    <a:p>
                      <a:pPr algn="ctr">
                        <a:lnSpc>
                          <a:spcPct val="120000"/>
                        </a:lnSpc>
                      </a:pPr>
                      <a:endParaRPr lang="en-US" sz="1100"/>
                    </a:p>
                  </a:txBody>
                  <a:tcPr anchor="ctr"/>
                </a:tc>
                <a:tc>
                  <a:txBody>
                    <a:bodyPr/>
                    <a:lstStyle/>
                    <a:p>
                      <a:pPr marL="0" marR="0" lvl="0" indent="0" algn="ctr" defTabSz="914400" rtl="0" eaLnBrk="1" fontAlgn="auto" latinLnBrk="0" hangingPunct="1">
                        <a:lnSpc>
                          <a:spcPct val="120000"/>
                        </a:lnSpc>
                        <a:spcBef>
                          <a:spcPts val="0"/>
                        </a:spcBef>
                        <a:spcAft>
                          <a:spcPts val="0"/>
                        </a:spcAft>
                        <a:buClr>
                          <a:srgbClr val="000000"/>
                        </a:buClr>
                        <a:buSzTx/>
                        <a:buFont typeface="Arial"/>
                        <a:buNone/>
                        <a:tabLst/>
                        <a:defRPr/>
                      </a:pPr>
                      <a:endParaRPr lang="en-US" sz="1100"/>
                    </a:p>
                  </a:txBody>
                  <a:tcPr anchor="ctr"/>
                </a:tc>
                <a:tc>
                  <a:txBody>
                    <a:bodyPr/>
                    <a:lstStyle/>
                    <a:p>
                      <a:pPr algn="just">
                        <a:lnSpc>
                          <a:spcPct val="120000"/>
                        </a:lnSpc>
                      </a:pPr>
                      <a:endParaRPr lang="vi-VN" sz="1100"/>
                    </a:p>
                  </a:txBody>
                  <a:tcPr/>
                </a:tc>
                <a:tc>
                  <a:txBody>
                    <a:bodyPr/>
                    <a:lstStyle/>
                    <a:p>
                      <a:pPr marL="171450" marR="0" lvl="0" indent="-171450" algn="just" defTabSz="914400" rtl="0" eaLnBrk="1" fontAlgn="auto" latinLnBrk="0" hangingPunct="1">
                        <a:lnSpc>
                          <a:spcPct val="120000"/>
                        </a:lnSpc>
                        <a:spcBef>
                          <a:spcPts val="0"/>
                        </a:spcBef>
                        <a:spcAft>
                          <a:spcPts val="0"/>
                        </a:spcAft>
                        <a:buClr>
                          <a:srgbClr val="000000"/>
                        </a:buClr>
                        <a:buSzTx/>
                        <a:buFontTx/>
                        <a:buChar char="-"/>
                        <a:tabLst/>
                        <a:defRPr/>
                      </a:pPr>
                      <a:endParaRPr lang="en-US" sz="1100"/>
                    </a:p>
                  </a:txBody>
                  <a:tcPr/>
                </a:tc>
                <a:tc>
                  <a:txBody>
                    <a:bodyPr/>
                    <a:lstStyle/>
                    <a:p>
                      <a:pPr>
                        <a:lnSpc>
                          <a:spcPct val="120000"/>
                        </a:lnSpc>
                      </a:pPr>
                      <a:endParaRPr lang="en-US" sz="1100"/>
                    </a:p>
                  </a:txBody>
                  <a:tcPr/>
                </a:tc>
                <a:extLst>
                  <a:ext uri="{0D108BD9-81ED-4DB2-BD59-A6C34878D82A}">
                    <a16:rowId xmlns:a16="http://schemas.microsoft.com/office/drawing/2014/main" val="591752262"/>
                  </a:ext>
                </a:extLst>
              </a:tr>
              <a:tr h="997609">
                <a:tc>
                  <a:txBody>
                    <a:bodyPr/>
                    <a:lstStyle/>
                    <a:p>
                      <a:pPr algn="ctr">
                        <a:lnSpc>
                          <a:spcPct val="120000"/>
                        </a:lnSpc>
                      </a:pPr>
                      <a:endParaRPr lang="en-US" sz="1100"/>
                    </a:p>
                  </a:txBody>
                  <a:tcPr anchor="ctr"/>
                </a:tc>
                <a:tc>
                  <a:txBody>
                    <a:bodyPr/>
                    <a:lstStyle/>
                    <a:p>
                      <a:pPr marL="0" marR="0" lvl="0" indent="0" algn="ctr" defTabSz="914400" rtl="0" eaLnBrk="1" fontAlgn="auto" latinLnBrk="0" hangingPunct="1">
                        <a:lnSpc>
                          <a:spcPct val="120000"/>
                        </a:lnSpc>
                        <a:spcBef>
                          <a:spcPts val="0"/>
                        </a:spcBef>
                        <a:spcAft>
                          <a:spcPts val="0"/>
                        </a:spcAft>
                        <a:buClr>
                          <a:srgbClr val="000000"/>
                        </a:buClr>
                        <a:buSzTx/>
                        <a:buFont typeface="Arial"/>
                        <a:buNone/>
                        <a:tabLst/>
                        <a:defRPr/>
                      </a:pPr>
                      <a:endParaRPr lang="en-US" sz="1100"/>
                    </a:p>
                  </a:txBody>
                  <a:tcPr anchor="ctr"/>
                </a:tc>
                <a:tc>
                  <a:txBody>
                    <a:bodyPr/>
                    <a:lstStyle/>
                    <a:p>
                      <a:pPr algn="just">
                        <a:lnSpc>
                          <a:spcPct val="120000"/>
                        </a:lnSpc>
                      </a:pPr>
                      <a:endParaRPr lang="vi-VN" sz="1100"/>
                    </a:p>
                  </a:txBody>
                  <a:tcPr/>
                </a:tc>
                <a:tc>
                  <a:txBody>
                    <a:bodyPr/>
                    <a:lstStyle/>
                    <a:p>
                      <a:pPr marL="171450" marR="0" lvl="0" indent="-171450" algn="just" defTabSz="914400" rtl="0" eaLnBrk="1" fontAlgn="auto" latinLnBrk="0" hangingPunct="1">
                        <a:lnSpc>
                          <a:spcPct val="120000"/>
                        </a:lnSpc>
                        <a:spcBef>
                          <a:spcPts val="0"/>
                        </a:spcBef>
                        <a:spcAft>
                          <a:spcPts val="0"/>
                        </a:spcAft>
                        <a:buClr>
                          <a:srgbClr val="000000"/>
                        </a:buClr>
                        <a:buSzTx/>
                        <a:buFontTx/>
                        <a:buChar char="-"/>
                        <a:tabLst/>
                        <a:defRPr/>
                      </a:pPr>
                      <a:endParaRPr lang="en-US" sz="1100"/>
                    </a:p>
                  </a:txBody>
                  <a:tcPr/>
                </a:tc>
                <a:tc>
                  <a:txBody>
                    <a:bodyPr/>
                    <a:lstStyle/>
                    <a:p>
                      <a:pPr algn="just">
                        <a:lnSpc>
                          <a:spcPct val="120000"/>
                        </a:lnSpc>
                      </a:pPr>
                      <a:endParaRPr lang="en-US" sz="1100"/>
                    </a:p>
                  </a:txBody>
                  <a:tcPr/>
                </a:tc>
                <a:extLst>
                  <a:ext uri="{0D108BD9-81ED-4DB2-BD59-A6C34878D82A}">
                    <a16:rowId xmlns:a16="http://schemas.microsoft.com/office/drawing/2014/main" val="1464745380"/>
                  </a:ext>
                </a:extLst>
              </a:tr>
            </a:tbl>
          </a:graphicData>
        </a:graphic>
      </p:graphicFrame>
    </p:spTree>
    <p:extLst>
      <p:ext uri="{BB962C8B-B14F-4D97-AF65-F5344CB8AC3E}">
        <p14:creationId xmlns:p14="http://schemas.microsoft.com/office/powerpoint/2010/main" val="13981003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1DA6A-77D0-E835-CC01-3FBB1C2C11E2}"/>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A27CDDB1-435B-4261-8956-40C24A3F4CE4}"/>
              </a:ext>
            </a:extLst>
          </p:cNvPr>
          <p:cNvSpPr txBox="1"/>
          <p:nvPr/>
        </p:nvSpPr>
        <p:spPr>
          <a:xfrm>
            <a:off x="2545773" y="2195946"/>
            <a:ext cx="4052454" cy="584775"/>
          </a:xfrm>
          <a:prstGeom prst="rect">
            <a:avLst/>
          </a:prstGeom>
          <a:noFill/>
        </p:spPr>
        <p:txBody>
          <a:bodyPr wrap="square" rtlCol="0">
            <a:spAutoFit/>
          </a:bodyPr>
          <a:lstStyle/>
          <a:p>
            <a:pPr algn="ctr"/>
            <a:r>
              <a:rPr lang="en-US" sz="3200" dirty="0">
                <a:solidFill>
                  <a:srgbClr val="119303"/>
                </a:solidFill>
                <a:latin typeface=".VnArial Narrow" panose="020B7200000000000000" pitchFamily="34" charset="0"/>
              </a:rPr>
              <a:t>Xin </a:t>
            </a:r>
            <a:r>
              <a:rPr lang="en-US" sz="3200" dirty="0" err="1">
                <a:solidFill>
                  <a:srgbClr val="119303"/>
                </a:solidFill>
                <a:latin typeface=".VnArial Narrow" panose="020B7200000000000000" pitchFamily="34" charset="0"/>
              </a:rPr>
              <a:t>cảm</a:t>
            </a:r>
            <a:r>
              <a:rPr lang="en-US" sz="3200" dirty="0">
                <a:solidFill>
                  <a:srgbClr val="119303"/>
                </a:solidFill>
                <a:latin typeface=".VnArial Narrow" panose="020B7200000000000000" pitchFamily="34" charset="0"/>
              </a:rPr>
              <a:t> </a:t>
            </a:r>
            <a:r>
              <a:rPr lang="en-US" sz="3200" dirty="0" err="1">
                <a:solidFill>
                  <a:srgbClr val="119303"/>
                </a:solidFill>
                <a:latin typeface=".VnArial Narrow" panose="020B7200000000000000" pitchFamily="34" charset="0"/>
              </a:rPr>
              <a:t>ơn</a:t>
            </a:r>
            <a:r>
              <a:rPr lang="en-US" sz="3200" dirty="0">
                <a:solidFill>
                  <a:srgbClr val="119303"/>
                </a:solidFill>
                <a:latin typeface=".VnArial Narrow" panose="020B7200000000000000" pitchFamily="34" charset="0"/>
              </a:rPr>
              <a:t>!</a:t>
            </a:r>
          </a:p>
        </p:txBody>
      </p:sp>
    </p:spTree>
    <p:extLst>
      <p:ext uri="{BB962C8B-B14F-4D97-AF65-F5344CB8AC3E}">
        <p14:creationId xmlns:p14="http://schemas.microsoft.com/office/powerpoint/2010/main" val="3744686411"/>
      </p:ext>
    </p:extLst>
  </p:cSld>
  <p:clrMapOvr>
    <a:masterClrMapping/>
  </p:clrMapOvr>
</p:sld>
</file>

<file path=ppt/theme/theme1.xml><?xml version="1.0" encoding="utf-8"?>
<a:theme xmlns:a="http://schemas.openxmlformats.org/drawingml/2006/main" name="Simple Light">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E0127FA9FD6004AB87C3B980CB5D696" ma:contentTypeVersion="15" ma:contentTypeDescription="Create a new document." ma:contentTypeScope="" ma:versionID="fad36eebef4f84df4a45514b7e4630e8">
  <xsd:schema xmlns:xsd="http://www.w3.org/2001/XMLSchema" xmlns:xs="http://www.w3.org/2001/XMLSchema" xmlns:p="http://schemas.microsoft.com/office/2006/metadata/properties" xmlns:ns2="c4b5fce3-9bbc-4429-8073-3ae7a9bcc677" xmlns:ns3="1401b2ec-7936-4f98-86ff-5ef737f58b9c" targetNamespace="http://schemas.microsoft.com/office/2006/metadata/properties" ma:root="true" ma:fieldsID="505b0edaeb28467f2ddb0f2c2f553b17" ns2:_="" ns3:_="">
    <xsd:import namespace="c4b5fce3-9bbc-4429-8073-3ae7a9bcc677"/>
    <xsd:import namespace="1401b2ec-7936-4f98-86ff-5ef737f58b9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3:MediaServiceSearchProperties"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b5fce3-9bbc-4429-8073-3ae7a9bcc67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401b2ec-7936-4f98-86ff-5ef737f58b9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3eac797d-9452-442f-b5f7-665479590df6"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401b2ec-7936-4f98-86ff-5ef737f58b9c">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5162417-D525-4BB1-9667-5B16FD4D9C4E}">
  <ds:schemaRefs>
    <ds:schemaRef ds:uri="1401b2ec-7936-4f98-86ff-5ef737f58b9c"/>
    <ds:schemaRef ds:uri="c4b5fce3-9bbc-4429-8073-3ae7a9bcc67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81F54AB-F4DD-4A82-8DE1-173467F509EA}">
  <ds:schemaRefs>
    <ds:schemaRef ds:uri="http://schemas.microsoft.com/sharepoint/v3/contenttype/forms"/>
  </ds:schemaRefs>
</ds:datastoreItem>
</file>

<file path=customXml/itemProps3.xml><?xml version="1.0" encoding="utf-8"?>
<ds:datastoreItem xmlns:ds="http://schemas.openxmlformats.org/officeDocument/2006/customXml" ds:itemID="{E0BF921B-5040-4D54-A3E7-8C229FB42018}">
  <ds:schemaRefs>
    <ds:schemaRef ds:uri="http://www.w3.org/XML/1998/namespace"/>
    <ds:schemaRef ds:uri="http://purl.org/dc/elements/1.1/"/>
    <ds:schemaRef ds:uri="http://schemas.openxmlformats.org/package/2006/metadata/core-properties"/>
    <ds:schemaRef ds:uri="http://purl.org/dc/dcmitype/"/>
    <ds:schemaRef ds:uri="1401b2ec-7936-4f98-86ff-5ef737f58b9c"/>
    <ds:schemaRef ds:uri="c4b5fce3-9bbc-4429-8073-3ae7a9bcc677"/>
    <ds:schemaRef ds:uri="http://schemas.microsoft.com/office/2006/documentManagement/types"/>
    <ds:schemaRef ds:uri="http://purl.org/dc/term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Gallery</Template>
  <TotalTime>5042</TotalTime>
  <Words>3252</Words>
  <Application>Microsoft Office PowerPoint</Application>
  <PresentationFormat>On-screen Show (16:9)</PresentationFormat>
  <Paragraphs>800</Paragraphs>
  <Slides>40</Slides>
  <Notes>20</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.VnArial Narrow</vt:lpstr>
      <vt:lpstr>Aptos Display</vt:lpstr>
      <vt:lpstr>Aptos Narrow</vt:lpstr>
      <vt:lpstr>Arial</vt:lpstr>
      <vt:lpstr>Arial (Headings)</vt:lpstr>
      <vt:lpstr>Atops display</vt:lpstr>
      <vt:lpstr>Muli</vt:lpstr>
      <vt:lpstr>Open Sans</vt:lpstr>
      <vt:lpstr>Times New Roman</vt:lpstr>
      <vt:lpstr>Wingdings</vt:lpstr>
      <vt:lpstr>Simple Light</vt:lpstr>
      <vt:lpstr>PowerPoint Presentation</vt:lpstr>
      <vt:lpstr>NỘI DUNG BÁO CÁO</vt:lpstr>
      <vt:lpstr>1. BÁO CÁO TỔNG QUAN</vt:lpstr>
      <vt:lpstr>1. BÁO CÁO TÓM LƯỢC THÁNG 11 NĂM 2025</vt:lpstr>
      <vt:lpstr>2. BÁO CÁO KẾT QUẢ SẢN XUẤT KINH DOANH  (KPIs)</vt:lpstr>
      <vt:lpstr>2.1 KẾT QUẢ KPIs THÁNG 11 NĂM 2025</vt:lpstr>
      <vt:lpstr>2.2. KẾT QUẢ HOẠT ĐỘNG KINH DOANH – LÃI LỖ THÁNG 12 – DTR</vt:lpstr>
      <vt:lpstr>2.3. KẾT QUẢ HOẠT ĐỘNG KINH DOANH – LÃI LỖ THÁNG 11 – 3 TRẠM</vt:lpstr>
      <vt:lpstr>2.4.1. KẾT QUẢ HOẠT ĐỘNG KINH DOANH – GIẢI TRÌNH DOANH THU</vt:lpstr>
      <vt:lpstr>2.4.2 GIẢI TRÌNH DOANH THU THUẦN – Đạt 43%</vt:lpstr>
      <vt:lpstr>2.5. KẾT QUẢ HOẠT ĐỘNG KINH DOANH – GIÁ BÁN</vt:lpstr>
      <vt:lpstr>2.6. KẾT QUẢ HOẠT ĐỘNG KINH DOANH – BIẾN ĐỘNG D.THU EXW THEO YẾU TỐ</vt:lpstr>
      <vt:lpstr>2.7. KẾT QUẢ HOẠT ĐỘNG KINH DOANH – BIẾN ĐỘNG DOANH THU THEO YẾU TỐ &amp; NGÀNH</vt:lpstr>
      <vt:lpstr>2.8. KẾT QUẢ HOẠT ĐỘNG KINH DOANH – BIẾN ĐỘNG LÃI GỘP THEO YẾU TỐ</vt:lpstr>
      <vt:lpstr>2.9. KẾT QUẢ HOẠT ĐỘNG KINH DOANH – GIẢI TRÌNH LỢI NHUẬN SAU THUẾ</vt:lpstr>
      <vt:lpstr>2.10. KẾT QUẢ HOẠT ĐỘNG KINH DOANH–BIẾN ĐỘNG LỢI NHUẬN SAU THUẾ</vt:lpstr>
      <vt:lpstr>2.11. GIẢI TRÌNH LỢI NHUẬN SAU THUẾ - MỘT SỐ KHÁCH HÀNG BỊ LỖ THÁNG 10</vt:lpstr>
      <vt:lpstr>2.12. GIẢI TRÌNH HIỆU SUẤT MÁY TẠO HẠT – Đạt 62%</vt:lpstr>
      <vt:lpstr>2.13 GIẢI TRÌNH SẢN LƯỢNG MUA – Đạt 60%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BÁO CÁO THỰC HIỆN NGÂN SÁCH</vt:lpstr>
      <vt:lpstr>3.1 TÌNH HÌNH THỰC HIỆN NGÂN SÁCH THÁNG 12 NĂM 2025 (ĐVT: Triệu đồng)</vt:lpstr>
      <vt:lpstr>3.2. CHI PHÍ – CHI PHÍ TRÊN TẤN (triệu đồng/tấn)</vt:lpstr>
      <vt:lpstr>3.3. CHI PHÍ – TỶ TRỌNG CHI PHÍ TRÊN TẤN</vt:lpstr>
      <vt:lpstr>4. KẾ HOẠCH HÀNH ĐỘNG</vt:lpstr>
      <vt:lpstr>PowerPoint Presentation</vt:lpstr>
      <vt:lpstr>PowerPoint Presentation</vt:lpstr>
      <vt:lpstr>4.3. KẾ HOẠCH HÀNH ĐỘNG</vt:lpstr>
      <vt:lpstr>5. CÁC ĐỀ XUẤT/YÊU CẦU HỖ TRỢ</vt:lpstr>
      <vt:lpstr>5. CÁC ĐỀ XUẤT/ YÊU CẦU HỖ TRỢ THÁNG 11 NĂM 2025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 Focus</dc:title>
  <dc:creator>Nghĩa, Trần Công</dc:creator>
  <cp:lastModifiedBy>Cư, Lê Hoành</cp:lastModifiedBy>
  <cp:revision>19</cp:revision>
  <dcterms:modified xsi:type="dcterms:W3CDTF">2026-01-12T07:49:22Z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0x0101004E0127FA9FD6004AB87C3B980CB5D696</vt:lpwstr>
  </property>
  <property fmtid="{D5CDD505-2E9C-101B-9397-08002B2CF9AE}" pid="3" name="MediaServiceImageTags">
    <vt:lpwstr/>
  </property>
</Properties>
</file>