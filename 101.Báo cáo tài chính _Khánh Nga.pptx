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2.xml" ContentType="application/vnd.openxmlformats-officedocument.presentationml.slide+xml"/>
  <Override PartName="/ppt/notesSlides/notesSlide.xml" ContentType="application/vnd.openxmlformats-officedocument.presentationml.notesSlide+xml"/>
  <Override PartName="/ppt/slides/slide3.xml" ContentType="application/vnd.openxmlformats-officedocument.presentationml.slide+xml"/>
  <Override PartName="/ppt/notesSlides/notesSlide2.xml" ContentType="application/vnd.openxmlformats-officedocument.presentationml.notesSlide+xml"/>
  <Override PartName="/ppt/slides/slide4.xml" ContentType="application/vnd.openxmlformats-officedocument.presentationml.slide+xml"/>
  <Override PartName="/ppt/notesSlides/notesSlide3.xml" ContentType="application/vnd.openxmlformats-officedocument.presentationml.notesSlide+xml"/>
  <Override PartName="/ppt/slides/slide5.xml" ContentType="application/vnd.openxmlformats-officedocument.presentationml.slide+xml"/>
  <Override PartName="/ppt/notesSlides/notesSlide4.xml" ContentType="application/vnd.openxmlformats-officedocument.presentationml.notesSlide+xml"/>
  <Override PartName="/ppt/slides/slide6.xml" ContentType="application/vnd.openxmlformats-officedocument.presentationml.slide+xml"/>
  <Override PartName="/ppt/notesSlides/notesSlide5.xml" ContentType="application/vnd.openxmlformats-officedocument.presentationml.notesSlide+xml"/>
  <Override PartName="/ppt/slides/slide7.xml" ContentType="application/vnd.openxmlformats-officedocument.presentationml.slide+xml"/>
  <Override PartName="/ppt/notesSlides/notesSlide6.xml" ContentType="application/vnd.openxmlformats-officedocument.presentationml.notesSlide+xml"/>
  <Override PartName="/ppt/slides/slide8.xml" ContentType="application/vnd.openxmlformats-officedocument.presentationml.slide+xml"/>
  <Override PartName="/ppt/notesSlides/notesSlide7.xml" ContentType="application/vnd.openxmlformats-officedocument.presentationml.notesSlide+xml"/>
  <Override PartName="/ppt/slides/slide9.xml" ContentType="application/vnd.openxmlformats-officedocument.presentationml.slide+xml"/>
  <Override PartName="/ppt/notesSlides/notesSlide8.xml" ContentType="application/vnd.openxmlformats-officedocument.presentationml.notesSlide+xml"/>
  <Override PartName="/ppt/slides/slidea.xml" ContentType="application/vnd.openxmlformats-officedocument.presentationml.slide+xml"/>
  <Override PartName="/ppt/notesSlides/notesSlide9.xml" ContentType="application/vnd.openxmlformats-officedocument.presentationml.notesSlide+xml"/>
  <Override PartName="/ppt/slides/slideb.xml" ContentType="application/vnd.openxmlformats-officedocument.presentationml.slide+xml"/>
  <Override PartName="/ppt/notesSlides/notesSlidea.xml" ContentType="application/vnd.openxmlformats-officedocument.presentationml.notesSlide+xml"/>
  <Override PartName="/ppt/slides/slidec.xml" ContentType="application/vnd.openxmlformats-officedocument.presentationml.slide+xml"/>
  <Override PartName="/ppt/notesSlides/notesSlideb.xml" ContentType="application/vnd.openxmlformats-officedocument.presentationml.notesSlide+xml"/>
  <Override PartName="/ppt/slides/slided.xml" ContentType="application/vnd.openxmlformats-officedocument.presentationml.slide+xml"/>
  <Override PartName="/ppt/notesSlides/notesSlidec.xml" ContentType="application/vnd.openxmlformats-officedocument.presentationml.notesSlide+xml"/>
  <Override PartName="/ppt/slides/slidee.xml" ContentType="application/vnd.openxmlformats-officedocument.presentationml.slide+xml"/>
  <Override PartName="/ppt/notesSlides/notesSlided.xml" ContentType="application/vnd.openxmlformats-officedocument.presentationml.notesSlide+xml"/>
  <Override PartName="/ppt/slides/slidef.xml" ContentType="application/vnd.openxmlformats-officedocument.presentationml.slide+xml"/>
  <Override PartName="/ppt/notesSlides/notesSlidee.xml" ContentType="application/vnd.openxmlformats-officedocument.presentationml.notesSlide+xml"/>
  <Override PartName="/ppt/slides/slide10.xml" ContentType="application/vnd.openxmlformats-officedocument.presentationml.slide+xml"/>
  <Override PartName="/ppt/notesSlides/notesSlidef.xml" ContentType="application/vnd.openxmlformats-officedocument.presentationml.notesSlide+xml"/>
  <Override PartName="/ppt/slides/slide11.xml" ContentType="application/vnd.openxmlformats-officedocument.presentationml.slide+xml"/>
  <Override PartName="/ppt/notesSlides/notesSlide10.xml" ContentType="application/vnd.openxmlformats-officedocument.presentationml.notesSlide+xml"/>
  <Override PartName="/ppt/slides/slide12.xml" ContentType="application/vnd.openxmlformats-officedocument.presentationml.slide+xml"/>
  <Override PartName="/ppt/notesSlides/notesSlide1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p15="http://schemas.microsoft.com/office/powerpoint/2012/mai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57" r:id="RelId0"/>
    <p:sldId id="258" r:id="RelId1"/>
    <p:sldId id="259" r:id="RelId2"/>
    <p:sldId id="260" r:id="RelId3"/>
    <p:sldId id="261" r:id="RelId4"/>
    <p:sldId id="262" r:id="RelId5"/>
    <p:sldId id="263" r:id="RelId6"/>
    <p:sldId id="264" r:id="RelId7"/>
    <p:sldId id="265" r:id="RelId8"/>
    <p:sldId id="266" r:id="RelId9"/>
    <p:sldId id="267" r:id="RelId10"/>
    <p:sldId id="268" r:id="RelId11"/>
    <p:sldId id="269" r:id="RelId12"/>
    <p:sldId id="270" r:id="RelId13"/>
    <p:sldId id="271" r:id="RelId14"/>
    <p:sldId id="272" r:id="RelId15"/>
    <p:sldId id="273" r:id="Rel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3C910"/>
    <a:srgbClr val="D9D9D9"/>
    <a:srgbClr val="D3D3D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34580" autoAdjust="0"/>
    <p:restoredTop sz="86410" autoAdjust="0"/>
  </p:normalViewPr>
  <p:slideViewPr>
    <p:cSldViewPr snapToGrid="0" snapToObjects="1">
      <p:cViewPr varScale="1">
        <p:scale>
          <a:sx n="72" d="100"/>
          <a:sy n="72" d="100"/>
        </p:scale>
        <p:origin x="84" y="75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&#65279;<?xml version="1.0" encoding="utf-8"?><Relationships xmlns="http://schemas.openxmlformats.org/package/2006/relationships"><Relationship Type="http://schemas.openxmlformats.org/officeDocument/2006/relationships/presProps" Target="presProps.xml" Id="rId3" /><Relationship Type="http://schemas.openxmlformats.org/officeDocument/2006/relationships/slide" Target="slides/slide1.xml" Id="rId2" /><Relationship Type="http://schemas.openxmlformats.org/officeDocument/2006/relationships/slideMaster" Target="slideMasters/slideMaster1.xml" Id="rId1" /><Relationship Type="http://schemas.openxmlformats.org/officeDocument/2006/relationships/tableStyles" Target="tableStyles.xml" Id="rId6" /><Relationship Type="http://schemas.openxmlformats.org/officeDocument/2006/relationships/theme" Target="theme/theme1.xml" Id="rId5" /><Relationship Type="http://schemas.openxmlformats.org/officeDocument/2006/relationships/viewProps" Target="viewProps.xml" Id="rId4" /><Relationship Type="http://schemas.openxmlformats.org/officeDocument/2006/relationships/slide" Target="/ppt/slides/slide2.xml" Id="RelId0" /><Relationship Type="http://schemas.openxmlformats.org/officeDocument/2006/relationships/slide" Target="/ppt/slides/slide3.xml" Id="RelId1" /><Relationship Type="http://schemas.openxmlformats.org/officeDocument/2006/relationships/slide" Target="/ppt/slides/slide4.xml" Id="RelId2" /><Relationship Type="http://schemas.openxmlformats.org/officeDocument/2006/relationships/slide" Target="/ppt/slides/slide5.xml" Id="RelId3" /><Relationship Type="http://schemas.openxmlformats.org/officeDocument/2006/relationships/slide" Target="/ppt/slides/slide6.xml" Id="RelId4" /><Relationship Type="http://schemas.openxmlformats.org/officeDocument/2006/relationships/slide" Target="/ppt/slides/slide7.xml" Id="RelId5" /><Relationship Type="http://schemas.openxmlformats.org/officeDocument/2006/relationships/slide" Target="/ppt/slides/slide8.xml" Id="RelId6" /><Relationship Type="http://schemas.openxmlformats.org/officeDocument/2006/relationships/slide" Target="/ppt/slides/slide9.xml" Id="RelId7" /><Relationship Type="http://schemas.openxmlformats.org/officeDocument/2006/relationships/slide" Target="/ppt/slides/slidea.xml" Id="RelId8" /><Relationship Type="http://schemas.openxmlformats.org/officeDocument/2006/relationships/slide" Target="/ppt/slides/slideb.xml" Id="RelId9" /><Relationship Type="http://schemas.openxmlformats.org/officeDocument/2006/relationships/slide" Target="/ppt/slides/slidec.xml" Id="RelId10" /><Relationship Type="http://schemas.openxmlformats.org/officeDocument/2006/relationships/slide" Target="/ppt/slides/slided.xml" Id="RelId11" /><Relationship Type="http://schemas.openxmlformats.org/officeDocument/2006/relationships/slide" Target="/ppt/slides/slidee.xml" Id="RelId12" /><Relationship Type="http://schemas.openxmlformats.org/officeDocument/2006/relationships/slide" Target="/ppt/slides/slidef.xml" Id="RelId13" /><Relationship Type="http://schemas.openxmlformats.org/officeDocument/2006/relationships/slide" Target="/ppt/slides/slide10.xml" Id="RelId14" /><Relationship Type="http://schemas.openxmlformats.org/officeDocument/2006/relationships/slide" Target="/ppt/slides/slide11.xml" Id="RelId15" /><Relationship Type="http://schemas.openxmlformats.org/officeDocument/2006/relationships/slide" Target="/ppt/slides/slide12.xml" Id="RelId16" /></Relationships>
</file>

<file path=ppt/notesSlides/notesSlid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Cơ cấu Chi phí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(Lũy kế)</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Lợi nhuận sau thuế (Lũy kế)</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LK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2.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LK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Định phí</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cardVisual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Cơ cấu Chi phí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Lợi nhuận sau thuế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3.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Doanh thu thuần - 8 Quý gần nhất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- 8 Quý gần nhất</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- 4 Quý cùng kỳ</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4.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KẾT QUẢ KINH DOANH - THEO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5.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05/2025</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TÌNH HÌNH TÀI CHÍNH_THEO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4/2026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4/2026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 05/2025</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6.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TÌNH HÌNH TÀI CHÍNH_THEO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NGUỒN VỐN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TÀI SẢN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7.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TÌNH HÌNH TÀI CHÍNH_THEO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NGUỒN VỐN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TỔNG TÀI SẢN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8.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lũy kế</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 LK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9.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tệ_Tháng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10.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Tỷ suất lợi nhuận sau thuế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CHỈ SỐ TÀI CHÍNH - LŨY KẾ T05/2026</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11.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Cơ cấu sở hữu</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THÔNG TIN 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image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a.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lũy kế 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TỆ_THEO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b.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Đơn vị tiền tệ</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 lũy kế theo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LƯU CHUYỂN TIỀN TỆ_THEO NĂM</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c.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Tỷ suất lợi nhuận sau thuế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Zscore Thang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Zscore Quy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CHỈ SỐ TÀI CHÍNH - LŨY KẾ 5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 Quý</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Zscore Nam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Z - Score (Sức khỏe tài chính)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d.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KẾT QUẢ KINH DOANH - LŨY KẾ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Doanh thu thuần - 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Xem số liệu</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e.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Tiền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TÌNH HÌNH TÀI CHÍNH -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notesSlides/notesSlidef.xml><?xml version="1.0" encoding="utf-8"?>
<p:notes xmlns:p="http://schemas.openxmlformats.org/presentationml/2006/main">
  <p:cSld>
    <p:spTree>
      <p:nvGrpSpPr>
        <p:cNvPr id="1" name=""/>
        <p:cNvGrpSpPr/>
        <p:nvPr/>
      </p:nvGrpSpPr>
      <p:grpSpPr/>
      <p:sp>
        <p:nvSpPr>
          <p:cNvPr id="2" name="Slide Text"/>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dirty="0"/>
              <a:t>Help</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 </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Matrix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Năm</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slicer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pageNavigator</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Back</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Nguoi phu trach</a:t>
            </a:r>
            <a:endParaRPr dirty="0"/>
          </a:p>
          <a:p xmlns:a="http://schemas.openxmlformats.org/drawingml/2006/main">
            <a:r>
              <a:rPr b="0" dirty="0"/>
              <a:t>Người cập nhật: Trần Hữu Thọ (119). Cấp trên: Nguyễn Bảo Quốc (155). Cập nhật ngày 7 hàng tháng</a:t>
            </a:r>
            <a:endParaRPr dirty="0"/>
          </a:p>
          <a:p xmlns:a="http://schemas.openxmlformats.org/drawingml/2006/main">
            <a:r>
              <a:rPr b="0" dirty="0"/>
              <a:t/>
            </a:r>
            <a:endParaRPr dirty="0"/>
          </a:p>
          <a:p xmlns:a="http://schemas.openxmlformats.org/drawingml/2006/main">
            <a:r>
              <a:rPr b="1" dirty="0"/>
              <a:t>advancedSlicerVisual</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MA TRẬN LƯU CHUYỂN TIỀN TỆ - LŨY KẾ T05/2026</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Người phụ trách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Dòng tiền từ hoạt động kinh doanh</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tableEx</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Xem số liệu</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Công ty</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shape</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Tháng</a:t>
            </a:r>
            <a:endParaRPr dirty="0"/>
          </a:p>
          <a:p xmlns:a="http://schemas.openxmlformats.org/drawingml/2006/main">
            <a:r>
              <a:rPr b="0" dirty="0"/>
              <a:t>No alt text provided</a:t>
            </a:r>
            <a:endParaRPr dirty="0"/>
          </a:p>
          <a:p xmlns:a="http://schemas.openxmlformats.org/drawingml/2006/main">
            <a:r>
              <a:rPr b="0" dirty="0"/>
              <a:t/>
            </a:r>
            <a:endParaRPr dirty="0"/>
          </a:p>
          <a:p xmlns:a="http://schemas.openxmlformats.org/drawingml/2006/main">
            <a:r>
              <a:rPr b="1" dirty="0"/>
              <a:t>actionButton</a:t>
            </a:r>
            <a:endParaRPr dirty="0"/>
          </a:p>
          <a:p xmlns:a="http://schemas.openxmlformats.org/drawingml/2006/main">
            <a:r>
              <a:rPr b="0" dirty="0"/>
              <a:t>No alt text provided</a:t>
            </a:r>
            <a:endParaRPr dirty="0"/>
          </a:p>
          <a:p xmlns:a="http://schemas.openxmlformats.org/drawingml/2006/main">
            <a:r>
              <a:rPr b="0" dirty="0"/>
              <a:t/>
            </a:r>
            <a:endParaRPr dirty="0"/>
          </a:p>
        </p:txBody>
      </p:sp>
    </p:spTree>
    <p:clrMapOvr>
      <a:masterClrMapping xmlns:a="http://schemas.openxmlformats.org/drawingml/2006/main"/>
    </p:clrMapOvr>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7476896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144985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2688143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100433151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627ED9C8-F09A-4D9E-BEC0-4725162E21FF}" type="datetimeFigureOut">
              <a:rPr lang="en-US" smtClean="0"/>
              <a:t>11/25/2020</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256924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627ED9C8-F09A-4D9E-BEC0-4725162E21FF}" type="datetimeFigureOut">
              <a:rPr lang="en-US" smtClean="0"/>
              <a:t>11/25/2020</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28091396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27ED9C8-F09A-4D9E-BEC0-4725162E21FF}" type="datetimeFigureOut">
              <a:rPr lang="en-US" smtClean="0"/>
              <a:t>11/25/2020</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3581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9933904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627ED9C8-F09A-4D9E-BEC0-4725162E21FF}" type="datetimeFigureOut">
              <a:rPr lang="en-US" smtClean="0"/>
              <a:t>11/25/2020</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8848075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5532142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627ED9C8-F09A-4D9E-BEC0-4725162E21FF}" type="datetimeFigureOut">
              <a:rPr lang="en-US" smtClean="0"/>
              <a:t>11/25/2020</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8C7D807A-D3EC-4DEA-86E2-120E4093F1A6}" type="slidenum">
              <a:rPr lang="en-US" smtClean="0"/>
              <a:t>‹#›</a:t>
            </a:fld>
            <a:endParaRPr lang="en-US"/>
          </a:p>
        </p:txBody>
      </p:sp>
    </p:spTree>
    <p:extLst>
      <p:ext uri="{BB962C8B-B14F-4D97-AF65-F5344CB8AC3E}">
        <p14:creationId xmlns:p14="http://schemas.microsoft.com/office/powerpoint/2010/main" val="29826409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p14="http://schemas.microsoft.com/office/powerpoint/2010/main"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27ED9C8-F09A-4D9E-BEC0-4725162E21FF}" type="datetimeFigureOut">
              <a:rPr lang="en-US" smtClean="0"/>
              <a:t>11/25/2020</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C7D807A-D3EC-4DEA-86E2-120E4093F1A6}" type="slidenum">
              <a:rPr lang="en-US" smtClean="0"/>
              <a:t>‹#›</a:t>
            </a:fld>
            <a:endParaRPr lang="en-US"/>
          </a:p>
        </p:txBody>
      </p:sp>
    </p:spTree>
    <p:extLst>
      <p:ext uri="{BB962C8B-B14F-4D97-AF65-F5344CB8AC3E}">
        <p14:creationId xmlns:p14="http://schemas.microsoft.com/office/powerpoint/2010/main" val="14236910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&#65279;<?xml version="1.0" encoding="utf-8"?><Relationships xmlns="http://schemas.openxmlformats.org/package/2006/relationships"><Relationship Type="http://schemas.openxmlformats.org/officeDocument/2006/relationships/image" Target="../media/image1.png" Id="rId2" /><Relationship Type="http://schemas.openxmlformats.org/officeDocument/2006/relationships/slideLayout" Target="../slideLayouts/slideLayout7.xml" Id="rId1" /><Relationship Type="http://schemas.openxmlformats.org/officeDocument/2006/relationships/image" Target="../media/image3.png" Id="rId5" /><Relationship Type="http://schemas.openxmlformats.org/officeDocument/2006/relationships/image" Target="../media/image2.png" Id="rId4" /><Relationship Type="http://schemas.openxmlformats.org/officeDocument/2006/relationships/hyperlink" Target="https://app.powerbi.com/groups/me/reports/5213c890-b9f8-4e32-8ec5-e0094724480d?pbi_source=PowerPoint" TargetMode="External" Id="coverSlideHpLink" /></Relationships>
</file>

<file path=ppt/slides/_rels/slide2.xml.rels>&#65279;<?xml version="1.0" encoding="utf-8"?><Relationships xmlns="http://schemas.openxmlformats.org/package/2006/relationships"><Relationship Type="http://schemas.openxmlformats.org/officeDocument/2006/relationships/notesSlide" Target="/ppt/notesSlides/notesSlide.xml" Id="R7979905e06f24f63" /><Relationship Type="http://schemas.openxmlformats.org/officeDocument/2006/relationships/slideLayout" Target="/ppt/slideLayouts/slideLayout8.xml" Id="Rabfc2ba8cada40f7" /><Relationship Type="http://schemas.openxmlformats.org/officeDocument/2006/relationships/hyperlink" Target="https://app.powerbi.com/groups/me/reports/5213c890-b9f8-4e32-8ec5-e0094724480d/?pbi_source=PowerPoint" TargetMode="External" Id="RelId0" /><Relationship Type="http://schemas.openxmlformats.org/officeDocument/2006/relationships/image" Target="/ppt/media/image4.png" Id="imgId15857483" /></Relationships>
</file>

<file path=ppt/slides/_rels/slide3.xml.rels>&#65279;<?xml version="1.0" encoding="utf-8"?><Relationships xmlns="http://schemas.openxmlformats.org/package/2006/relationships"><Relationship Type="http://schemas.openxmlformats.org/officeDocument/2006/relationships/notesSlide" Target="/ppt/notesSlides/notesSlide2.xml" Id="Re0a45c4546ed438c" /><Relationship Type="http://schemas.openxmlformats.org/officeDocument/2006/relationships/slideLayout" Target="/ppt/slideLayouts/slideLayout8.xml" Id="R577bc9ac0e4d4632" /><Relationship Type="http://schemas.openxmlformats.org/officeDocument/2006/relationships/hyperlink" Target="https://app.powerbi.com/groups/me/reports/5213c890-b9f8-4e32-8ec5-e0094724480d/?pbi_source=PowerPoint" TargetMode="External" Id="RelId1" /><Relationship Type="http://schemas.openxmlformats.org/officeDocument/2006/relationships/image" Target="/ppt/media/image5.png" Id="imgId15857487" /></Relationships>
</file>

<file path=ppt/slides/_rels/slide4.xml.rels>&#65279;<?xml version="1.0" encoding="utf-8"?><Relationships xmlns="http://schemas.openxmlformats.org/package/2006/relationships"><Relationship Type="http://schemas.openxmlformats.org/officeDocument/2006/relationships/notesSlide" Target="/ppt/notesSlides/notesSlide3.xml" Id="R62f1a1dcb2d5496f" /><Relationship Type="http://schemas.openxmlformats.org/officeDocument/2006/relationships/slideLayout" Target="/ppt/slideLayouts/slideLayout8.xml" Id="R6137db2420424d25" /><Relationship Type="http://schemas.openxmlformats.org/officeDocument/2006/relationships/hyperlink" Target="https://app.powerbi.com/groups/me/reports/5213c890-b9f8-4e32-8ec5-e0094724480d/?pbi_source=PowerPoint" TargetMode="External" Id="RelId2" /><Relationship Type="http://schemas.openxmlformats.org/officeDocument/2006/relationships/image" Target="/ppt/media/image6.png" Id="imgId15857480" /></Relationships>
</file>

<file path=ppt/slides/_rels/slide5.xml.rels>&#65279;<?xml version="1.0" encoding="utf-8"?><Relationships xmlns="http://schemas.openxmlformats.org/package/2006/relationships"><Relationship Type="http://schemas.openxmlformats.org/officeDocument/2006/relationships/notesSlide" Target="/ppt/notesSlides/notesSlide4.xml" Id="R7902f1f430d8410d" /><Relationship Type="http://schemas.openxmlformats.org/officeDocument/2006/relationships/slideLayout" Target="/ppt/slideLayouts/slideLayout8.xml" Id="R8ef9fb4bf73f44c7" /><Relationship Type="http://schemas.openxmlformats.org/officeDocument/2006/relationships/hyperlink" Target="https://app.powerbi.com/groups/me/reports/5213c890-b9f8-4e32-8ec5-e0094724480d/?pbi_source=PowerPoint" TargetMode="External" Id="RelId3" /><Relationship Type="http://schemas.openxmlformats.org/officeDocument/2006/relationships/image" Target="/ppt/media/image7.png" Id="imgId15857481" /></Relationships>
</file>

<file path=ppt/slides/_rels/slide6.xml.rels>&#65279;<?xml version="1.0" encoding="utf-8"?><Relationships xmlns="http://schemas.openxmlformats.org/package/2006/relationships"><Relationship Type="http://schemas.openxmlformats.org/officeDocument/2006/relationships/notesSlide" Target="/ppt/notesSlides/notesSlide5.xml" Id="R1d50295ab6464391" /><Relationship Type="http://schemas.openxmlformats.org/officeDocument/2006/relationships/slideLayout" Target="/ppt/slideLayouts/slideLayout8.xml" Id="R51f18116672d42c9" /><Relationship Type="http://schemas.openxmlformats.org/officeDocument/2006/relationships/hyperlink" Target="https://app.powerbi.com/groups/me/reports/5213c890-b9f8-4e32-8ec5-e0094724480d/?pbi_source=PowerPoint" TargetMode="External" Id="RelId4" /><Relationship Type="http://schemas.openxmlformats.org/officeDocument/2006/relationships/image" Target="/ppt/media/image8.png" Id="imgId15857488" /></Relationships>
</file>

<file path=ppt/slides/_rels/slide7.xml.rels>&#65279;<?xml version="1.0" encoding="utf-8"?><Relationships xmlns="http://schemas.openxmlformats.org/package/2006/relationships"><Relationship Type="http://schemas.openxmlformats.org/officeDocument/2006/relationships/notesSlide" Target="/ppt/notesSlides/notesSlide6.xml" Id="Rf734cb5c5dd04b5f" /><Relationship Type="http://schemas.openxmlformats.org/officeDocument/2006/relationships/slideLayout" Target="/ppt/slideLayouts/slideLayout8.xml" Id="R72ccad1a621d488c" /><Relationship Type="http://schemas.openxmlformats.org/officeDocument/2006/relationships/hyperlink" Target="https://app.powerbi.com/groups/me/reports/5213c890-b9f8-4e32-8ec5-e0094724480d/?pbi_source=PowerPoint" TargetMode="External" Id="RelId5" /><Relationship Type="http://schemas.openxmlformats.org/officeDocument/2006/relationships/image" Target="/ppt/media/image9.png" Id="imgId17177227" /></Relationships>
</file>

<file path=ppt/slides/_rels/slide8.xml.rels>&#65279;<?xml version="1.0" encoding="utf-8"?><Relationships xmlns="http://schemas.openxmlformats.org/package/2006/relationships"><Relationship Type="http://schemas.openxmlformats.org/officeDocument/2006/relationships/notesSlide" Target="/ppt/notesSlides/notesSlide7.xml" Id="R805364fc6a3e4caa" /><Relationship Type="http://schemas.openxmlformats.org/officeDocument/2006/relationships/slideLayout" Target="/ppt/slideLayouts/slideLayout8.xml" Id="R7ec6f04a1ced4a7e" /><Relationship Type="http://schemas.openxmlformats.org/officeDocument/2006/relationships/hyperlink" Target="https://app.powerbi.com/groups/me/reports/5213c890-b9f8-4e32-8ec5-e0094724480d/?pbi_source=PowerPoint" TargetMode="External" Id="RelId6" /><Relationship Type="http://schemas.openxmlformats.org/officeDocument/2006/relationships/image" Target="/ppt/media/imagea.png" Id="imgId15857479" /></Relationships>
</file>

<file path=ppt/slides/_rels/slide9.xml.rels>&#65279;<?xml version="1.0" encoding="utf-8"?><Relationships xmlns="http://schemas.openxmlformats.org/package/2006/relationships"><Relationship Type="http://schemas.openxmlformats.org/officeDocument/2006/relationships/notesSlide" Target="/ppt/notesSlides/notesSlide8.xml" Id="R2adca9c0c4904156" /><Relationship Type="http://schemas.openxmlformats.org/officeDocument/2006/relationships/slideLayout" Target="/ppt/slideLayouts/slideLayout8.xml" Id="R6a830d97c73e4183" /><Relationship Type="http://schemas.openxmlformats.org/officeDocument/2006/relationships/hyperlink" Target="https://app.powerbi.com/groups/me/reports/5213c890-b9f8-4e32-8ec5-e0094724480d/?pbi_source=PowerPoint" TargetMode="External" Id="RelId7" /><Relationship Type="http://schemas.openxmlformats.org/officeDocument/2006/relationships/image" Target="/ppt/media/imageb.png" Id="imgId15857492" /></Relationships>
</file>

<file path=ppt/slides/_rels/slide10.xml.rels>&#65279;<?xml version="1.0" encoding="utf-8"?><Relationships xmlns="http://schemas.openxmlformats.org/package/2006/relationships"><Relationship Type="http://schemas.openxmlformats.org/officeDocument/2006/relationships/notesSlide" Target="/ppt/notesSlides/notesSlidef.xml" Id="R644ac14295bc4379" /><Relationship Type="http://schemas.openxmlformats.org/officeDocument/2006/relationships/slideLayout" Target="/ppt/slideLayouts/slideLayout8.xml" Id="Rc9b4323c096444f6" /><Relationship Type="http://schemas.openxmlformats.org/officeDocument/2006/relationships/hyperlink" Target="https://app.powerbi.com/groups/me/reports/5213c890-b9f8-4e32-8ec5-e0094724480d/?pbi_source=PowerPoint" TargetMode="External" Id="RelId14" /><Relationship Type="http://schemas.openxmlformats.org/officeDocument/2006/relationships/image" Target="/ppt/media/image12.png" Id="imgId15857496" /></Relationships>
</file>

<file path=ppt/slides/_rels/slide11.xml.rels>&#65279;<?xml version="1.0" encoding="utf-8"?><Relationships xmlns="http://schemas.openxmlformats.org/package/2006/relationships"><Relationship Type="http://schemas.openxmlformats.org/officeDocument/2006/relationships/notesSlide" Target="/ppt/notesSlides/notesSlide10.xml" Id="Rb7fa2d0a21f34d7a" /><Relationship Type="http://schemas.openxmlformats.org/officeDocument/2006/relationships/slideLayout" Target="/ppt/slideLayouts/slideLayout8.xml" Id="R37492da34e034c0c" /><Relationship Type="http://schemas.openxmlformats.org/officeDocument/2006/relationships/hyperlink" Target="https://app.powerbi.com/groups/me/reports/5213c890-b9f8-4e32-8ec5-e0094724480d/?pbi_source=PowerPoint" TargetMode="External" Id="RelId15" /><Relationship Type="http://schemas.openxmlformats.org/officeDocument/2006/relationships/image" Target="/ppt/media/image13.png" Id="imgId15857491" /></Relationships>
</file>

<file path=ppt/slides/_rels/slide12.xml.rels>&#65279;<?xml version="1.0" encoding="utf-8"?><Relationships xmlns="http://schemas.openxmlformats.org/package/2006/relationships"><Relationship Type="http://schemas.openxmlformats.org/officeDocument/2006/relationships/notesSlide" Target="/ppt/notesSlides/notesSlide11.xml" Id="R95dbb2664e6146c6" /><Relationship Type="http://schemas.openxmlformats.org/officeDocument/2006/relationships/slideLayout" Target="/ppt/slideLayouts/slideLayout8.xml" Id="R82cc6e82bf0742ce" /><Relationship Type="http://schemas.openxmlformats.org/officeDocument/2006/relationships/hyperlink" Target="https://app.powerbi.com/groups/me/reports/5213c890-b9f8-4e32-8ec5-e0094724480d/?pbi_source=PowerPoint" TargetMode="External" Id="RelId16" /><Relationship Type="http://schemas.openxmlformats.org/officeDocument/2006/relationships/image" Target="/ppt/media/image14.png" Id="imgId15857493" /></Relationships>
</file>

<file path=ppt/slides/_rels/slidea.xml.rels>&#65279;<?xml version="1.0" encoding="utf-8"?><Relationships xmlns="http://schemas.openxmlformats.org/package/2006/relationships"><Relationship Type="http://schemas.openxmlformats.org/officeDocument/2006/relationships/notesSlide" Target="/ppt/notesSlides/notesSlide9.xml" Id="R80001edc9337487b" /><Relationship Type="http://schemas.openxmlformats.org/officeDocument/2006/relationships/slideLayout" Target="/ppt/slideLayouts/slideLayout8.xml" Id="R2df9bfbea0a94791" /><Relationship Type="http://schemas.openxmlformats.org/officeDocument/2006/relationships/hyperlink" Target="https://app.powerbi.com/groups/me/reports/5213c890-b9f8-4e32-8ec5-e0094724480d/?pbi_source=PowerPoint" TargetMode="External" Id="RelId8" /><Relationship Type="http://schemas.openxmlformats.org/officeDocument/2006/relationships/image" Target="/ppt/media/imagec.png" Id="imgId15857494" /></Relationships>
</file>

<file path=ppt/slides/_rels/slideb.xml.rels>&#65279;<?xml version="1.0" encoding="utf-8"?><Relationships xmlns="http://schemas.openxmlformats.org/package/2006/relationships"><Relationship Type="http://schemas.openxmlformats.org/officeDocument/2006/relationships/notesSlide" Target="/ppt/notesSlides/notesSlidea.xml" Id="Rbe07bc9267f54f04" /><Relationship Type="http://schemas.openxmlformats.org/officeDocument/2006/relationships/slideLayout" Target="/ppt/slideLayouts/slideLayout8.xml" Id="R2a390ddeb2a848c5" /><Relationship Type="http://schemas.openxmlformats.org/officeDocument/2006/relationships/hyperlink" Target="https://app.powerbi.com/groups/me/reports/5213c890-b9f8-4e32-8ec5-e0094724480d/?pbi_source=PowerPoint" TargetMode="External" Id="RelId9" /><Relationship Type="http://schemas.openxmlformats.org/officeDocument/2006/relationships/image" Target="/ppt/media/imaged.png" Id="imgId17177226" /></Relationships>
</file>

<file path=ppt/slides/_rels/slidec.xml.rels>&#65279;<?xml version="1.0" encoding="utf-8"?><Relationships xmlns="http://schemas.openxmlformats.org/package/2006/relationships"><Relationship Type="http://schemas.openxmlformats.org/officeDocument/2006/relationships/notesSlide" Target="/ppt/notesSlides/notesSlideb.xml" Id="Rddeb1f47910b49ea" /><Relationship Type="http://schemas.openxmlformats.org/officeDocument/2006/relationships/slideLayout" Target="/ppt/slideLayouts/slideLayout8.xml" Id="R709eda0bb7ca436a" /><Relationship Type="http://schemas.openxmlformats.org/officeDocument/2006/relationships/hyperlink" Target="https://app.powerbi.com/groups/me/reports/5213c890-b9f8-4e32-8ec5-e0094724480d/?pbi_source=PowerPoint" TargetMode="External" Id="RelId10" /><Relationship Type="http://schemas.openxmlformats.org/officeDocument/2006/relationships/image" Target="/ppt/media/imagee.png" Id="imgId15857485" /></Relationships>
</file>

<file path=ppt/slides/_rels/slided.xml.rels>&#65279;<?xml version="1.0" encoding="utf-8"?><Relationships xmlns="http://schemas.openxmlformats.org/package/2006/relationships"><Relationship Type="http://schemas.openxmlformats.org/officeDocument/2006/relationships/notesSlide" Target="/ppt/notesSlides/notesSlidec.xml" Id="Rf024f87f874147ce" /><Relationship Type="http://schemas.openxmlformats.org/officeDocument/2006/relationships/slideLayout" Target="/ppt/slideLayouts/slideLayout8.xml" Id="R8740293ef4174b7d" /><Relationship Type="http://schemas.openxmlformats.org/officeDocument/2006/relationships/hyperlink" Target="https://app.powerbi.com/groups/me/reports/5213c890-b9f8-4e32-8ec5-e0094724480d/?pbi_source=PowerPoint" TargetMode="External" Id="RelId11" /><Relationship Type="http://schemas.openxmlformats.org/officeDocument/2006/relationships/image" Target="/ppt/media/imagef.png" Id="imgId15857486" /></Relationships>
</file>

<file path=ppt/slides/_rels/slidee.xml.rels>&#65279;<?xml version="1.0" encoding="utf-8"?><Relationships xmlns="http://schemas.openxmlformats.org/package/2006/relationships"><Relationship Type="http://schemas.openxmlformats.org/officeDocument/2006/relationships/notesSlide" Target="/ppt/notesSlides/notesSlided.xml" Id="R7f4bf6cff4ad4359" /><Relationship Type="http://schemas.openxmlformats.org/officeDocument/2006/relationships/slideLayout" Target="/ppt/slideLayouts/slideLayout8.xml" Id="Rc3f32fb652c1441d" /><Relationship Type="http://schemas.openxmlformats.org/officeDocument/2006/relationships/hyperlink" Target="https://app.powerbi.com/groups/me/reports/5213c890-b9f8-4e32-8ec5-e0094724480d/?pbi_source=PowerPoint" TargetMode="External" Id="RelId12" /><Relationship Type="http://schemas.openxmlformats.org/officeDocument/2006/relationships/image" Target="/ppt/media/image10.png" Id="imgId15857484" /></Relationships>
</file>

<file path=ppt/slides/_rels/slidef.xml.rels>&#65279;<?xml version="1.0" encoding="utf-8"?><Relationships xmlns="http://schemas.openxmlformats.org/package/2006/relationships"><Relationship Type="http://schemas.openxmlformats.org/officeDocument/2006/relationships/notesSlide" Target="/ppt/notesSlides/notesSlidee.xml" Id="Rae4210371bf844eb" /><Relationship Type="http://schemas.openxmlformats.org/officeDocument/2006/relationships/slideLayout" Target="/ppt/slideLayouts/slideLayout8.xml" Id="R59e6d81269c2435b" /><Relationship Type="http://schemas.openxmlformats.org/officeDocument/2006/relationships/hyperlink" Target="https://app.powerbi.com/groups/me/reports/5213c890-b9f8-4e32-8ec5-e0094724480d/?pbi_source=PowerPoint" TargetMode="External" Id="RelId13" /><Relationship Type="http://schemas.openxmlformats.org/officeDocument/2006/relationships/image" Target="/ppt/media/image11.png" Id="imgId15857490" /></Relationships>
</file>

<file path=ppt/slides/slide1.xml><?xml version="1.0" encoding="utf-8"?>
<p:sld xmlns:adec="http://schemas.microsoft.com/office/drawing/2017/decorative" xmlns:a14="http://schemas.microsoft.com/office/drawing/2010/main" xmlns:p14="http://schemas.microsoft.com/office/powerpoint/2010/main"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9" name="Picture 8">
            <a:extLst>
              <a:ext uri="{C183D7F6-B498-43B3-948B-1728B52AA6E4}">
                <adec:decorative xmlns:adec="http://schemas.microsoft.com/office/drawing/2017/decorative" val="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2" name="Title 1"/>
          <p:cNvSpPr txBox="1">
            <a:spLocks noGrp="1"/>
          </p:cNvSpPr>
          <p:nvPr>
            <p:ph type="title" idx="4294967295"/>
          </p:nvPr>
        </p:nvSpPr>
        <p:spPr>
          <a:xfrm>
            <a:off x="810584" y="2982149"/>
            <a:ext cx="6314017" cy="6000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b" anchorCtr="0" forceAA="0" compatLnSpc="1">
            <a:prstTxWarp prst="textNoShape">
              <a:avLst/>
            </a:prstTxWarp>
            <a:normAutofit fontScale="90000"/>
          </a:bodyPr>
          <a:lstStyle>
            <a:lvl1pPr algn="ctr" defTabSz="914400" rtl="0" eaLnBrk="1" latinLnBrk="0" hangingPunct="1">
              <a:lnSpc>
                <a:spcPct val="90000"/>
              </a:lnSpc>
              <a:spcBef>
                <a:spcPct val="0"/>
              </a:spcBef>
              <a:buNone/>
              <a:defRPr sz="4400" b="0" i="0" kern="1200" baseline="0">
                <a:solidFill>
                  <a:schemeClr val="tx1"/>
                </a:solidFill>
                <a:latin typeface="Segoe UI Light" charset="0"/>
                <a:ea typeface="Segoe UI Light" charset="0"/>
                <a:cs typeface="Segoe UI Light" charset="0"/>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4400" b="0" i="0" u="none" strike="noStrike" kern="1200" cap="none" spc="0" normalizeH="0" baseline="0" noProof="0">
                <a:ln>
                  <a:noFill/>
                </a:ln>
                <a:solidFill>
                  <a:srgbClr val="F3C910"/>
                </a:solidFill>
                <a:effectLst/>
                <a:uLnTx/>
                <a:uFillTx/>
                <a:latin typeface="Segoe UI Light" charset="0"/>
                <a:ea typeface="Segoe UI Light" charset="0"/>
                <a:cs typeface="Segoe UI Light" charset="0"/>
              </a:rPr>
              <a:t>101.Báo cáo tài chính</a:t>
            </a:r>
            <a:endParaRPr kumimoji="0" lang="en-US" sz="4400" b="0" i="0" u="none" strike="noStrike" kern="1200" cap="none" spc="0" normalizeH="0" baseline="0" noProof="0" dirty="0">
              <a:ln>
                <a:noFill/>
              </a:ln>
              <a:solidFill>
                <a:srgbClr val="F3C910"/>
              </a:solidFill>
              <a:effectLst/>
              <a:uLnTx/>
              <a:uFillTx/>
              <a:latin typeface="Segoe UI Light" charset="0"/>
              <a:ea typeface="Segoe UI Light" charset="0"/>
              <a:cs typeface="Segoe UI Light" charset="0"/>
            </a:endParaRPr>
          </a:p>
        </p:txBody>
      </p:sp>
      <p:sp>
        <p:nvSpPr>
          <p:cNvPr id="13" name="Text Placeholder 2"/>
          <p:cNvSpPr txBox="1">
            <a:spLocks/>
          </p:cNvSpPr>
          <p:nvPr/>
        </p:nvSpPr>
        <p:spPr>
          <a:xfrm>
            <a:off x="853448" y="3658761"/>
            <a:ext cx="1488017" cy="253470"/>
          </a:xfrm>
          <a:prstGeom prst="rect">
            <a:avLst/>
          </a:prstGeom>
        </p:spPr>
        <p:txBody>
          <a:bodyPr vert="horz" lIns="91440" tIns="45720" rIns="91440" bIns="45720" rtlCol="0">
            <a:normAutofit lnSpcReduction="10000"/>
          </a:bodyPr>
          <a:lstStyle>
            <a:lvl1pPr marL="0" indent="0" algn="ctr" defTabSz="914400" rtl="0" eaLnBrk="1" latinLnBrk="0" hangingPunct="1">
              <a:lnSpc>
                <a:spcPct val="90000"/>
              </a:lnSpc>
              <a:spcBef>
                <a:spcPts val="1000"/>
              </a:spcBef>
              <a:buFont typeface="Arial"/>
              <a:buNone/>
              <a:defRPr sz="1200" b="0" i="0" u="sng" kern="1200">
                <a:solidFill>
                  <a:schemeClr val="tx1"/>
                </a:solidFill>
                <a:latin typeface="Segoe UI" charset="0"/>
                <a:ea typeface="Segoe UI" charset="0"/>
                <a:cs typeface="Segoe UI" charset="0"/>
              </a:defRPr>
            </a:lvl1pPr>
            <a:lvl2pPr marL="457200" indent="0" algn="ctr" defTabSz="914400" rtl="0" eaLnBrk="1" latinLnBrk="0" hangingPunct="1">
              <a:lnSpc>
                <a:spcPct val="90000"/>
              </a:lnSpc>
              <a:spcBef>
                <a:spcPts val="500"/>
              </a:spcBef>
              <a:buFont typeface="Arial"/>
              <a:buNone/>
              <a:defRPr sz="2000" kern="1200">
                <a:solidFill>
                  <a:schemeClr val="tx1">
                    <a:tint val="75000"/>
                  </a:schemeClr>
                </a:solidFill>
                <a:latin typeface="+mn-lt"/>
                <a:ea typeface="+mn-ea"/>
                <a:cs typeface="+mn-cs"/>
              </a:defRPr>
            </a:lvl2pPr>
            <a:lvl3pPr marL="914400" indent="0" algn="ctr" defTabSz="914400" rtl="0" eaLnBrk="1" latinLnBrk="0" hangingPunct="1">
              <a:lnSpc>
                <a:spcPct val="90000"/>
              </a:lnSpc>
              <a:spcBef>
                <a:spcPts val="500"/>
              </a:spcBef>
              <a:buFont typeface="Arial"/>
              <a:buNone/>
              <a:defRPr sz="1800" kern="1200">
                <a:solidFill>
                  <a:schemeClr val="tx1">
                    <a:tint val="75000"/>
                  </a:schemeClr>
                </a:solidFill>
                <a:latin typeface="+mn-lt"/>
                <a:ea typeface="+mn-ea"/>
                <a:cs typeface="+mn-cs"/>
              </a:defRPr>
            </a:lvl3pPr>
            <a:lvl4pPr marL="1371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4pPr>
            <a:lvl5pPr marL="18288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5pPr>
            <a:lvl6pPr marL="22860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6pPr>
            <a:lvl7pPr marL="27432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7pPr>
            <a:lvl8pPr marL="32004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8pPr>
            <a:lvl9pPr marL="3657600" indent="0" algn="ctr" defTabSz="914400" rtl="0" eaLnBrk="1" latinLnBrk="0" hangingPunct="1">
              <a:lnSpc>
                <a:spcPct val="90000"/>
              </a:lnSpc>
              <a:spcBef>
                <a:spcPts val="500"/>
              </a:spcBef>
              <a:buFont typeface="Arial"/>
              <a:buNone/>
              <a:defRPr sz="1600" kern="1200">
                <a:solidFill>
                  <a:schemeClr val="tx1">
                    <a:tint val="75000"/>
                  </a:schemeClr>
                </a:solidFill>
                <a:latin typeface="+mn-lt"/>
                <a:ea typeface="+mn-ea"/>
                <a:cs typeface="+mn-cs"/>
              </a:defRPr>
            </a:lvl9pPr>
          </a:lstStyle>
          <a:p>
            <a:pPr algn="l"/>
            <a:r>
              <a:rPr lang="en-US" dirty="0">
                <a:solidFill>
                  <a:schemeClr val="bg1"/>
                </a:solidFill>
                <a:hlinkClick r:id="coverSlideHpLink"/>
              </a:rPr>
              <a:t>View in Power BI</a:t>
            </a:r>
            <a:endParaRPr lang="en-US" dirty="0">
              <a:solidFill>
                <a:schemeClr val="bg1"/>
              </a:solidFill>
            </a:endParaRPr>
          </a:p>
        </p:txBody>
      </p:sp>
      <p:sp>
        <p:nvSpPr>
          <p:cNvPr id="17" name="TextBox 16"/>
          <p:cNvSpPr txBox="1"/>
          <p:nvPr/>
        </p:nvSpPr>
        <p:spPr>
          <a:xfrm>
            <a:off x="832315" y="5823544"/>
            <a:ext cx="2177716" cy="369332"/>
          </a:xfrm>
          <a:prstGeom prst="rect">
            <a:avLst/>
          </a:prstGeom>
          <a:noFill/>
        </p:spPr>
        <p:txBody>
          <a:bodyPr wrap="square" rtlCol="0">
            <a:spAutoFit/>
          </a:bodyPr>
          <a:lstStyle/>
          <a:p>
            <a:r>
              <a:rPr lang="en-US" sz="900" b="1" i="0" dirty="0">
                <a:solidFill>
                  <a:schemeClr val="bg1"/>
                </a:solidFill>
                <a:latin typeface="Segoe UI Semibold" charset="0"/>
                <a:ea typeface="Segoe UI Semibold" charset="0"/>
                <a:cs typeface="Segoe UI Semibold" charset="0"/>
              </a:rPr>
              <a:t>Downloaded at:</a:t>
            </a:r>
          </a:p>
          <a:p>
            <a:r>
              <a:rPr lang="en-US" sz="900" b="0" i="0" dirty="0">
                <a:solidFill>
                  <a:schemeClr val="bg1"/>
                </a:solidFill>
                <a:latin typeface="Segoe UI" charset="0"/>
                <a:ea typeface="Segoe UI" charset="0"/>
                <a:cs typeface="Segoe UI" charset="0"/>
              </a:rPr>
              <a:t>6/24/2026 9:11:17 AM UTC</a:t>
            </a:r>
          </a:p>
        </p:txBody>
      </p:sp>
      <p:sp>
        <p:nvSpPr>
          <p:cNvPr id="10" name="TextBox 9"/>
          <p:cNvSpPr txBox="1"/>
          <p:nvPr/>
        </p:nvSpPr>
        <p:spPr>
          <a:xfrm>
            <a:off x="828512" y="5407903"/>
            <a:ext cx="2177716" cy="369332"/>
          </a:xfrm>
          <a:prstGeom prst="rect">
            <a:avLst/>
          </a:prstGeom>
          <a:noFill/>
        </p:spPr>
        <p:txBody>
          <a:bodyPr wrap="square" rtlCol="0">
            <a:spAutoFit/>
          </a:bodyPr>
          <a:lstStyle/>
          <a:p>
            <a:r>
              <a:rPr lang="en-US" sz="900" b="1" dirty="0">
                <a:solidFill>
                  <a:schemeClr val="bg1"/>
                </a:solidFill>
                <a:latin typeface="Segoe UI Semibold" charset="0"/>
                <a:ea typeface="Segoe UI Semibold" charset="0"/>
                <a:cs typeface="Segoe UI Semibold" charset="0"/>
              </a:rPr>
              <a:t>Last data refresh:</a:t>
            </a:r>
            <a:endParaRPr lang="en-US" sz="900" b="1" i="0" dirty="0">
              <a:solidFill>
                <a:schemeClr val="bg1"/>
              </a:solidFill>
              <a:latin typeface="Segoe UI Semibold" charset="0"/>
              <a:ea typeface="Segoe UI Semibold" charset="0"/>
              <a:cs typeface="Segoe UI Semibold" charset="0"/>
            </a:endParaRPr>
          </a:p>
          <a:p>
            <a:r>
              <a:rPr lang="en-US" sz="900" dirty="0">
                <a:solidFill>
                  <a:schemeClr val="bg1"/>
                </a:solidFill>
                <a:latin typeface="Segoe UI" charset="0"/>
                <a:ea typeface="Segoe UI" charset="0"/>
                <a:cs typeface="Segoe UI" charset="0"/>
              </a:rPr>
              <a:t>6/6/2026 7:15:54 AM UTC</a:t>
            </a:r>
            <a:endParaRPr lang="en-US" sz="900" b="0" i="0" dirty="0">
              <a:solidFill>
                <a:schemeClr val="bg1"/>
              </a:solidFill>
              <a:latin typeface="Segoe UI" charset="0"/>
              <a:ea typeface="Segoe UI" charset="0"/>
              <a:cs typeface="Segoe UI" charset="0"/>
            </a:endParaRPr>
          </a:p>
        </p:txBody>
      </p:sp>
      <p:pic>
        <p:nvPicPr>
          <p:cNvPr id="16" name="Picture 15" descr="Microsoft Power BI"/>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23544" y="722376"/>
            <a:ext cx="1490690" cy="245805"/>
          </a:xfrm>
          <a:prstGeom prst="rect">
            <a:avLst/>
          </a:prstGeom>
        </p:spPr>
      </p:pic>
      <p:pic>
        <p:nvPicPr>
          <p:cNvPr id="18" name="Picture 17">
            <a:extLst>
              <a:ext uri="{C183D7F6-B498-43B3-948B-1728B52AA6E4}">
                <adec:decorative xmlns:adec="http://schemas.microsoft.com/office/drawing/2017/decorative" val="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139696" y="3694176"/>
            <a:ext cx="162027" cy="153025"/>
          </a:xfrm>
          <a:prstGeom prst="rect">
            <a:avLst/>
          </a:prstGeom>
        </p:spPr>
      </p:pic>
    </p:spTree>
    <p:extLst>
      <p:ext uri="{BB962C8B-B14F-4D97-AF65-F5344CB8AC3E}">
        <p14:creationId xmlns:p14="http://schemas.microsoft.com/office/powerpoint/2010/main" val="7630729"/>
      </p:ext>
    </p:extLst>
  </p:cSld>
  <p:clrMapOvr>
    <a:masterClrMapping/>
  </p:clrMapOvr>
</p:sld>
</file>

<file path=ppt/slides/slide2.xml><?xml version="1.0" encoding="utf-8"?>
<p:sld xmlns:p="http://schemas.openxmlformats.org/presentationml/2006/main">
  <p:cSld>
    <p:spTree>
      <p:nvGrpSpPr>
        <p:cNvPr id="1" name=""/>
        <p:cNvGrpSpPr/>
        <p:nvPr/>
      </p:nvGrpSpPr>
      <p:grpSpPr/>
      <p:pic>
        <p:nvPicPr>
          <p:cNvPr id="3" name="Picture" title="This slide contains the following visuals: Back ,shape ,Cơ cấu Chi phí 👇 ,shape ,pageNavigator ,shape ,shape ,☰  ,actionButton ,actionButton ,Định phí ,actionButton ,Công ty ,Doanh thu thuần (Lũy kế) ,Lợi nhuận sau thuế (Lũy kế) ,Doanh thu thuần - Tháng ,actionButton ,shape ,shape ,Đơn vị tiền tệ ,Công ty ,Người phụ trách ,advancedSlicerVisual ,actionButton ,actionButton ,Tháng ,tableEx ,Help ,shape ,KẾT QUẢ KINH DOANH - LK 5 THÁNG ,Năm ,cardVisual ,Doanh thu thuần - Tháng ,actionButton ,actionButton ,actionButton ,actionButton ,shape ,actionButton ,Matrix ,actionButton ,actionButton ,Nguoi phu trach ,Định phí. Please refer to the notes on this slide for details">
            <a:hlinkClick xmlns:r="http://schemas.openxmlformats.org/officeDocument/2006/relationships" xmlns:a="http://schemas.openxmlformats.org/drawingml/2006/main" r:id="RelId0"/>
          </p:cNvPr>
          <p:cNvPicPr>
            <a:picLocks xmlns:a="http://schemas.openxmlformats.org/drawingml/2006/main" noChangeAspect="1"/>
          </p:cNvPicPr>
          <p:nvPr/>
        </p:nvPicPr>
        <p:blipFill>
          <a:blip xmlns:r="http://schemas.openxmlformats.org/officeDocument/2006/relationships" xmlns:a="http://schemas.openxmlformats.org/drawingml/2006/main" r:embed="imgId15857483"/>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a:t>
            </a:r>
          </a:p>
        </p:txBody>
      </p:sp>
    </p:spTree>
    <p:clrMapOvr>
      <a:masterClrMapping xmlns:a="http://schemas.openxmlformats.org/drawingml/2006/main"/>
    </p:clrMapOvr>
  </p:cSld>
</p:sld>
</file>

<file path=ppt/slides/slide3.xml><?xml version="1.0" encoding="utf-8"?>
<p:sld xmlns:p="http://schemas.openxmlformats.org/presentationml/2006/main">
  <p:cSld>
    <p:spTree>
      <p:nvGrpSpPr>
        <p:cNvPr id="1" name=""/>
        <p:cNvGrpSpPr/>
        <p:nvPr/>
      </p:nvGrpSpPr>
      <p:grpSpPr/>
      <p:pic>
        <p:nvPicPr>
          <p:cNvPr id="3" name="Picture" title="This slide contains the following visuals: Định phí ,Matrix ,Người phụ trách ,KẾT QUẢ KINH DOANH - LK 5 THÁNG ,Back ,shape ,Doanh thu thuần - Tháng ,Công ty ,shape ,tableEx ,Doanh thu thuần (Tháng) ,shape ,actionButton ,advancedSlicerVisual ,Nguoi phu trach ,shape ,Năm ,actionButton ,pageNavigator ,Định phí ,actionButton ,Help ,shape ,shape ,actionButton ,shape ,Công ty ,shape ,Đơn vị tiền tệ ,cardVisual ,actionButton ,actionButton ,actionButton ,actionButton ,Cơ cấu Chi phí 👇 ,Tháng ,Lợi nhuận sau thuế (Tháng) ,actionButton ,Doanh thu thuần - Tháng ,actionButton ,actionButton ,☰  ,actionButton ,actionButton. Please refer to the notes on this slide for details">
            <a:hlinkClick xmlns:r="http://schemas.openxmlformats.org/officeDocument/2006/relationships" xmlns:a="http://schemas.openxmlformats.org/drawingml/2006/main" r:id="RelId1"/>
          </p:cNvPr>
          <p:cNvPicPr>
            <a:picLocks xmlns:a="http://schemas.openxmlformats.org/drawingml/2006/main" noChangeAspect="1"/>
          </p:cNvPicPr>
          <p:nvPr/>
        </p:nvPicPr>
        <p:blipFill>
          <a:blip xmlns:r="http://schemas.openxmlformats.org/officeDocument/2006/relationships" xmlns:a="http://schemas.openxmlformats.org/drawingml/2006/main" r:embed="imgId15857487"/>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doanh_Tháng</a:t>
            </a:r>
          </a:p>
        </p:txBody>
      </p:sp>
    </p:spTree>
    <p:clrMapOvr>
      <a:masterClrMapping xmlns:a="http://schemas.openxmlformats.org/drawingml/2006/main"/>
    </p:clrMapOvr>
  </p:cSld>
</p:sld>
</file>

<file path=ppt/slides/slide4.xml><?xml version="1.0" encoding="utf-8"?>
<p:sld xmlns:p="http://schemas.openxmlformats.org/presentationml/2006/main">
  <p:cSld>
    <p:spTree>
      <p:nvGrpSpPr>
        <p:cNvPr id="1" name=""/>
        <p:cNvGrpSpPr/>
        <p:nvPr/>
      </p:nvGrpSpPr>
      <p:grpSpPr/>
      <p:pic>
        <p:nvPicPr>
          <p:cNvPr id="3" name="Picture" title="This slide contains the following visuals: shape ,shape ,Đơn vị tiền tệ ,actionButton ,shape ,actionButton ,Back ,shape ,actionButton ,Công ty ,shape ,☰  ,shape ,shape ,actionButton ,Help ,shape ,shape ,KẾT QUẢ KINH DOANH - THEO QUÝ ,Nguoi phu trach ,Doanh thu thuần - 8 Quý gần nhất ,actionButton ,shape ,shape ,shape ,Người phụ trách ,Doanh thu thuần - 8 Quý gần nhất ,Công ty ,Tháng ,shape ,shape ,shape ,shape ,Năm ,Doanh thu thuần - 4 Quý cùng kỳ ,actionButton ,tableEx ,shape ,shape ,actionButton ,shape ,shape ,actionButton ,actionButton ,actionButton ,shape ,actionButton ,pageNavigator ,actionButton ,shape ,shape ,actionButton ,Matrix. Please refer to the notes on this slide for details">
            <a:hlinkClick xmlns:r="http://schemas.openxmlformats.org/officeDocument/2006/relationships" xmlns:a="http://schemas.openxmlformats.org/drawingml/2006/main" r:id="RelId2"/>
          </p:cNvPr>
          <p:cNvPicPr>
            <a:picLocks xmlns:a="http://schemas.openxmlformats.org/drawingml/2006/main" noChangeAspect="1"/>
          </p:cNvPicPr>
          <p:nvPr/>
        </p:nvPicPr>
        <p:blipFill>
          <a:blip xmlns:r="http://schemas.openxmlformats.org/officeDocument/2006/relationships" xmlns:a="http://schemas.openxmlformats.org/drawingml/2006/main" r:embed="imgId15857480"/>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doanh_Quý</a:t>
            </a:r>
          </a:p>
        </p:txBody>
      </p:sp>
    </p:spTree>
    <p:clrMapOvr>
      <a:masterClrMapping xmlns:a="http://schemas.openxmlformats.org/drawingml/2006/main"/>
    </p:clrMapOvr>
  </p:cSld>
</p:sld>
</file>

<file path=ppt/slides/slide5.xml><?xml version="1.0" encoding="utf-8"?>
<p:sld xmlns:p="http://schemas.openxmlformats.org/presentationml/2006/main">
  <p:cSld>
    <p:spTree>
      <p:nvGrpSpPr>
        <p:cNvPr id="1" name=""/>
        <p:cNvGrpSpPr/>
        <p:nvPr/>
      </p:nvGrpSpPr>
      <p:grpSpPr/>
      <p:pic>
        <p:nvPicPr>
          <p:cNvPr id="3" name="Picture" title="This slide contains the following visuals: Help ,shape ,actionButton ,actionButton ,actionButton ,actionButton ,actionButton ,shape ,actionButton ,Nguoi phu trach ,Back ,pageNavigator ,actionButton ,Tháng ,actionButton ,KẾT QUẢ KINH DOANH - THEO NĂM ,☰  ,actionButton ,shape ,shape ,Doanh thu thuần - Năm ,shape ,Đơn vị tiền tệ ,actionButton ,Công ty ,Công ty ,Matrix ,Người phụ trách ,shape ,actionButton ,actionButton ,actionButton ,Doanh thu thuần - Năm ,shape ,shape ,shape ,tableEx ,Năm ,shape. Please refer to the notes on this slide for details">
            <a:hlinkClick xmlns:r="http://schemas.openxmlformats.org/officeDocument/2006/relationships" xmlns:a="http://schemas.openxmlformats.org/drawingml/2006/main" r:id="RelId3"/>
          </p:cNvPr>
          <p:cNvPicPr>
            <a:picLocks xmlns:a="http://schemas.openxmlformats.org/drawingml/2006/main" noChangeAspect="1"/>
          </p:cNvPicPr>
          <p:nvPr/>
        </p:nvPicPr>
        <p:blipFill>
          <a:blip xmlns:r="http://schemas.openxmlformats.org/officeDocument/2006/relationships" xmlns:a="http://schemas.openxmlformats.org/drawingml/2006/main" r:embed="imgId15857481"/>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Kết quả kinh doanh_Năm</a:t>
            </a:r>
          </a:p>
        </p:txBody>
      </p:sp>
    </p:spTree>
    <p:clrMapOvr>
      <a:masterClrMapping xmlns:a="http://schemas.openxmlformats.org/drawingml/2006/main"/>
    </p:clrMapOvr>
  </p:cSld>
</p:sld>
</file>

<file path=ppt/slides/slide6.xml><?xml version="1.0" encoding="utf-8"?>
<p:sld xmlns:p="http://schemas.openxmlformats.org/presentationml/2006/main">
  <p:cSld>
    <p:spTree>
      <p:nvGrpSpPr>
        <p:cNvPr id="1" name=""/>
        <p:cNvGrpSpPr/>
        <p:nvPr/>
      </p:nvGrpSpPr>
      <p:grpSpPr/>
      <p:pic>
        <p:nvPicPr>
          <p:cNvPr id="3" name="Picture" title="This slide contains the following visuals: actionButton ,actionButton ,shape ,Tháng 05/2026 ,shape ,Năm ,Tháng 05/2025 ,actionButton ,TÌNH HÌNH TÀI CHÍNH_THEO THÁNG ,Tháng ,Công ty ,actionButton ,actionButton ,pageNavigator ,Tháng 4/2026 ,☰  ,Help ,Tháng 4/2026 ,Matrix ,Nguoi phu trach ,actionButton ,shape ,Đơn vị tiền tệ ,actionButton ,Tháng 05/2026 ,Công ty ,actionButton ,Tháng 05/2025 ,shape ,actionButton ,actionButton ,actionButton ,actionButton ,shape ,Tiền ,Back ,shape ,Người phụ trách ,tableEx. Please refer to the notes on this slide for details">
            <a:hlinkClick xmlns:r="http://schemas.openxmlformats.org/officeDocument/2006/relationships" xmlns:a="http://schemas.openxmlformats.org/drawingml/2006/main" r:id="RelId4"/>
          </p:cNvPr>
          <p:cNvPicPr>
            <a:picLocks xmlns:a="http://schemas.openxmlformats.org/drawingml/2006/main" noChangeAspect="1"/>
          </p:cNvPicPr>
          <p:nvPr/>
        </p:nvPicPr>
        <p:blipFill>
          <a:blip xmlns:r="http://schemas.openxmlformats.org/officeDocument/2006/relationships" xmlns:a="http://schemas.openxmlformats.org/drawingml/2006/main" r:embed="imgId15857488"/>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Tình hình tài chính</a:t>
            </a:r>
          </a:p>
        </p:txBody>
      </p:sp>
    </p:spTree>
    <p:clrMapOvr>
      <a:masterClrMapping xmlns:a="http://schemas.openxmlformats.org/drawingml/2006/main"/>
    </p:clrMapOvr>
  </p:cSld>
</p:sld>
</file>

<file path=ppt/slides/slide7.xml><?xml version="1.0" encoding="utf-8"?>
<p:sld xmlns:p="http://schemas.openxmlformats.org/presentationml/2006/main">
  <p:cSld>
    <p:spTree>
      <p:nvGrpSpPr>
        <p:cNvPr id="1" name=""/>
        <p:cNvGrpSpPr/>
        <p:nvPr/>
      </p:nvGrpSpPr>
      <p:grpSpPr/>
      <p:pic>
        <p:nvPicPr>
          <p:cNvPr id="3" name="Picture" title="This slide contains the following visuals: actionButton ,actionButton ,actionButton ,TÌNH HÌNH TÀI CHÍNH_THEO QUÝ ,actionButton ,shape ,shape ,shape ,Người phụ trách ,Nguoi phu trach ,tableEx ,actionButton ,pageNavigator ,actionButton ,actionButton ,actionButton ,☰  ,actionButton ,Tháng ,TỔNG NGUỒN VỐN ,shape ,Công ty ,Năm ,actionButton ,actionButton ,Đơn vị tiền tệ ,actionButton ,Back ,shape ,TỔNG TÀI SẢN ,shape ,Matrix ,Help ,Tiền ,shape ,shape ,Công ty. Please refer to the notes on this slide for details">
            <a:hlinkClick xmlns:r="http://schemas.openxmlformats.org/officeDocument/2006/relationships" xmlns:a="http://schemas.openxmlformats.org/drawingml/2006/main" r:id="RelId5"/>
          </p:cNvPr>
          <p:cNvPicPr>
            <a:picLocks xmlns:a="http://schemas.openxmlformats.org/drawingml/2006/main" noChangeAspect="1"/>
          </p:cNvPicPr>
          <p:nvPr/>
        </p:nvPicPr>
        <p:blipFill>
          <a:blip xmlns:r="http://schemas.openxmlformats.org/officeDocument/2006/relationships" xmlns:a="http://schemas.openxmlformats.org/drawingml/2006/main" r:embed="imgId17177227"/>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Tình hình tài chính_Quý</a:t>
            </a:r>
          </a:p>
        </p:txBody>
      </p:sp>
    </p:spTree>
    <p:clrMapOvr>
      <a:masterClrMapping xmlns:a="http://schemas.openxmlformats.org/drawingml/2006/main"/>
    </p:clrMapOvr>
  </p:cSld>
</p:sld>
</file>

<file path=ppt/slides/slide8.xml><?xml version="1.0" encoding="utf-8"?>
<p:sld xmlns:p="http://schemas.openxmlformats.org/presentationml/2006/main">
  <p:cSld>
    <p:spTree>
      <p:nvGrpSpPr>
        <p:cNvPr id="1" name=""/>
        <p:cNvGrpSpPr/>
        <p:nvPr/>
      </p:nvGrpSpPr>
      <p:grpSpPr/>
      <p:pic>
        <p:nvPicPr>
          <p:cNvPr id="3" name="Picture" title="This slide contains the following visuals: shape ,actionButton ,Đơn vị tiền tệ ,Back ,actionButton ,Người phụ trách ,actionButton ,actionButton ,actionButton ,shape ,actionButton ,shape ,shape ,Tiền ,shape ,Công ty ,☰  ,Công ty ,actionButton ,Tháng ,TÌNH HÌNH TÀI CHÍNH_THEO NĂM ,actionButton ,shape ,Năm ,shape ,actionButton ,Nguoi phu trach ,actionButton ,actionButton ,shape ,shape ,TỔNG NGUỒN VỐN ,Help ,TỔNG TÀI SẢN ,Matrix ,actionButton ,pageNavigator ,tableEx. Please refer to the notes on this slide for details">
            <a:hlinkClick xmlns:r="http://schemas.openxmlformats.org/officeDocument/2006/relationships" xmlns:a="http://schemas.openxmlformats.org/drawingml/2006/main" r:id="RelId6"/>
          </p:cNvPr>
          <p:cNvPicPr>
            <a:picLocks xmlns:a="http://schemas.openxmlformats.org/drawingml/2006/main" noChangeAspect="1"/>
          </p:cNvPicPr>
          <p:nvPr/>
        </p:nvPicPr>
        <p:blipFill>
          <a:blip xmlns:r="http://schemas.openxmlformats.org/officeDocument/2006/relationships" xmlns:a="http://schemas.openxmlformats.org/drawingml/2006/main" r:embed="imgId15857479"/>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Tình hình tài chính_Năm</a:t>
            </a:r>
          </a:p>
        </p:txBody>
      </p:sp>
    </p:spTree>
    <p:clrMapOvr>
      <a:masterClrMapping xmlns:a="http://schemas.openxmlformats.org/drawingml/2006/main"/>
    </p:clrMapOvr>
  </p:cSld>
</p:sld>
</file>

<file path=ppt/slides/slide9.xml><?xml version="1.0" encoding="utf-8"?>
<p:sld xmlns:p="http://schemas.openxmlformats.org/presentationml/2006/main">
  <p:cSld>
    <p:spTree>
      <p:nvGrpSpPr>
        <p:cNvPr id="1" name=""/>
        <p:cNvGrpSpPr/>
        <p:nvPr/>
      </p:nvGrpSpPr>
      <p:grpSpPr/>
      <p:pic>
        <p:nvPicPr>
          <p:cNvPr id="3" name="Picture" title="This slide contains the following visuals: shape ,shape ,actionButton ,shape ,actionButton ,Người phụ trách ,shape ,Công ty ,actionButton ,shape ,Back ,shape ,shape ,actionButton ,Matrix ,shape ,Dòng tiền từ hoạt động kinh doanh ,actionButton ,actionButton ,shape ,shape ,Công ty ,shape ,tableEx ,actionButton ,Lưu chuyển tiền tệ lũy kế ,Đơn vị tiền tệ ,Help ,shape ,Nguoi phu trach ,Năm ,shape ,actionButton ,actionButton ,shape ,actionButton ,pageNavigator ,shape ,actionButton ,shape ,shape ,shape ,shape ,shape ,shape ,LƯU CHUYỂN TIỀN TỆ - LK 5 THÁNG ,shape ,☰  ,shape ,actionButton ,shape ,Tháng ,shape ,shape ,shape ,actionButton. Please refer to the notes on this slide for details">
            <a:hlinkClick xmlns:r="http://schemas.openxmlformats.org/officeDocument/2006/relationships" xmlns:a="http://schemas.openxmlformats.org/drawingml/2006/main" r:id="RelId7"/>
          </p:cNvPr>
          <p:cNvPicPr>
            <a:picLocks xmlns:a="http://schemas.openxmlformats.org/drawingml/2006/main" noChangeAspect="1"/>
          </p:cNvPicPr>
          <p:nvPr/>
        </p:nvPicPr>
        <p:blipFill>
          <a:blip xmlns:r="http://schemas.openxmlformats.org/officeDocument/2006/relationships" xmlns:a="http://schemas.openxmlformats.org/drawingml/2006/main" r:embed="imgId15857492"/>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a:t>
            </a:r>
          </a:p>
        </p:txBody>
      </p:sp>
    </p:spTree>
    <p:clrMapOvr>
      <a:masterClrMapping xmlns:a="http://schemas.openxmlformats.org/drawingml/2006/main"/>
    </p:clrMapOvr>
  </p:cSld>
</p:sld>
</file>

<file path=ppt/slides/slide10.xml><?xml version="1.0" encoding="utf-8"?>
<p:sld xmlns:p="http://schemas.openxmlformats.org/presentationml/2006/main">
  <p:cSld>
    <p:spTree>
      <p:nvGrpSpPr>
        <p:cNvPr id="1" name=""/>
        <p:cNvGrpSpPr/>
        <p:nvPr/>
      </p:nvGrpSpPr>
      <p:grpSpPr/>
      <p:pic>
        <p:nvPicPr>
          <p:cNvPr id="3" name="Picture" title="This slide contains the following visuals: Help ,☰  ,Matrix ,actionButton ,actionButton ,actionButton ,actionButton ,Năm ,slicer ,actionButton ,slicer ,actionButton ,shape ,pageNavigator ,Back ,actionButton ,Nguoi phu trach ,advancedSlicerVisual ,MA TRẬN LƯU CHUYỂN TIỀN TỆ - LŨY KẾ T05/2026 ,Người phụ trách ,actionButton ,Dòng tiền từ hoạt động kinh doanh ,tableEx ,Xem số liệu ,actionButton ,actionButton ,actionButton ,Công ty ,shape ,Tháng ,actionButton. Please refer to the notes on this slide for details">
            <a:hlinkClick xmlns:r="http://schemas.openxmlformats.org/officeDocument/2006/relationships" xmlns:a="http://schemas.openxmlformats.org/drawingml/2006/main" r:id="RelId14"/>
          </p:cNvPr>
          <p:cNvPicPr>
            <a:picLocks xmlns:a="http://schemas.openxmlformats.org/drawingml/2006/main" noChangeAspect="1"/>
          </p:cNvPicPr>
          <p:nvPr/>
        </p:nvPicPr>
        <p:blipFill>
          <a:blip xmlns:r="http://schemas.openxmlformats.org/officeDocument/2006/relationships" xmlns:a="http://schemas.openxmlformats.org/drawingml/2006/main" r:embed="imgId15857496"/>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trận_Lưu chuyển tiền tệ</a:t>
            </a:r>
          </a:p>
        </p:txBody>
      </p:sp>
    </p:spTree>
    <p:clrMapOvr>
      <a:masterClrMapping xmlns:a="http://schemas.openxmlformats.org/drawingml/2006/main"/>
    </p:clrMapOvr>
  </p:cSld>
</p:sld>
</file>

<file path=ppt/slides/slide11.xml><?xml version="1.0" encoding="utf-8"?>
<p:sld xmlns:p="http://schemas.openxmlformats.org/presentationml/2006/main">
  <p:cSld>
    <p:spTree>
      <p:nvGrpSpPr>
        <p:cNvPr id="1" name=""/>
        <p:cNvGrpSpPr/>
        <p:nvPr/>
      </p:nvGrpSpPr>
      <p:grpSpPr/>
      <p:pic>
        <p:nvPicPr>
          <p:cNvPr id="3" name="Picture" title="This slide contains the following visuals: Công ty ,shape ,☰  ,actionButton ,actionButton ,actionButton ,advancedSlicerVisual ,Tỷ suất lợi nhuận sau thuế (%) ,actionButton ,slicer ,Tháng ,Matrix ,actionButton ,actionButton ,actionButton ,Nguoi phu trach ,actionButton ,actionButton ,tableEx ,actionButton ,Help ,Back ,actionButton ,pageNavigator ,slicer ,actionButton ,Người phụ trách ,Năm ,MA TRẬN CHỈ SỐ TÀI CHÍNH - LŨY KẾ T05/2026. Please refer to the notes on this slide for details">
            <a:hlinkClick xmlns:r="http://schemas.openxmlformats.org/officeDocument/2006/relationships" xmlns:a="http://schemas.openxmlformats.org/drawingml/2006/main" r:id="RelId15"/>
          </p:cNvPr>
          <p:cNvPicPr>
            <a:picLocks xmlns:a="http://schemas.openxmlformats.org/drawingml/2006/main" noChangeAspect="1"/>
          </p:cNvPicPr>
          <p:nvPr/>
        </p:nvPicPr>
        <p:blipFill>
          <a:blip xmlns:r="http://schemas.openxmlformats.org/officeDocument/2006/relationships" xmlns:a="http://schemas.openxmlformats.org/drawingml/2006/main" r:embed="imgId15857491"/>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trận_Chỉ số tài chính</a:t>
            </a:r>
          </a:p>
        </p:txBody>
      </p:sp>
    </p:spTree>
    <p:clrMapOvr>
      <a:masterClrMapping xmlns:a="http://schemas.openxmlformats.org/drawingml/2006/main"/>
    </p:clrMapOvr>
  </p:cSld>
</p:sld>
</file>

<file path=ppt/slides/slide12.xml><?xml version="1.0" encoding="utf-8"?>
<p:sld xmlns:p="http://schemas.openxmlformats.org/presentationml/2006/main">
  <p:cSld>
    <p:spTree>
      <p:nvGrpSpPr>
        <p:cNvPr id="1" name=""/>
        <p:cNvGrpSpPr/>
        <p:nvPr/>
      </p:nvGrpSpPr>
      <p:grpSpPr/>
      <p:pic>
        <p:nvPicPr>
          <p:cNvPr id="3" name="Picture" title="This slide contains the following visuals: actionButton ,Người phụ trách ,tableEx ,Công ty ,actionButton ,pageNavigator ,pageNavigator ,actionButton ,Năm ,actionButton ,Tháng ,advancedSlicerVisual ,slicer ,Help ,Cơ cấu sở hữu ,actionButton ,THÔNG TIN CÔNG TY ,☰  ,shape ,actionButton ,actionButton ,actionButton ,actionButton ,advancedSlicerVisual ,actionButton ,actionButton ,actionButton ,actionButton ,slicer ,image ,tableEx ,Back ,Công ty ,Nguoi phu trach ,shape ,Matrix. Please refer to the notes on this slide for details">
            <a:hlinkClick xmlns:r="http://schemas.openxmlformats.org/officeDocument/2006/relationships" xmlns:a="http://schemas.openxmlformats.org/drawingml/2006/main" r:id="RelId16"/>
          </p:cNvPr>
          <p:cNvPicPr>
            <a:picLocks xmlns:a="http://schemas.openxmlformats.org/drawingml/2006/main" noChangeAspect="1"/>
          </p:cNvPicPr>
          <p:nvPr/>
        </p:nvPicPr>
        <p:blipFill>
          <a:blip xmlns:r="http://schemas.openxmlformats.org/officeDocument/2006/relationships" xmlns:a="http://schemas.openxmlformats.org/drawingml/2006/main" r:embed="imgId15857493"/>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Thông tin công ty</a:t>
            </a:r>
          </a:p>
        </p:txBody>
      </p:sp>
    </p:spTree>
    <p:clrMapOvr>
      <a:masterClrMapping xmlns:a="http://schemas.openxmlformats.org/drawingml/2006/main"/>
    </p:clrMapOvr>
  </p:cSld>
</p:sld>
</file>

<file path=ppt/slides/slidea.xml><?xml version="1.0" encoding="utf-8"?>
<p:sld xmlns:p="http://schemas.openxmlformats.org/presentationml/2006/main">
  <p:cSld>
    <p:spTree>
      <p:nvGrpSpPr>
        <p:cNvPr id="1" name=""/>
        <p:cNvGrpSpPr/>
        <p:nvPr/>
      </p:nvGrpSpPr>
      <p:grpSpPr/>
      <p:pic>
        <p:nvPicPr>
          <p:cNvPr id="3" name="Picture" title="This slide contains the following visuals: shape ,Công ty ,actionButton ,actionButton ,shape ,shape ,shape ,shape ,Help ,shape ,shape ,actionButton ,shape ,Đơn vị tiền tệ ,actionButton ,shape ,actionButton ,LƯU CHUYỂN TIỀN TỆ - T05/2026 ,actionButton ,shape ,shape ,shape ,Người phụ trách ,shape ,Dòng tiền từ hoạt động kinh doanh ,shape ,actionButton ,Công ty ,actionButton ,actionButton ,shape ,Năm ,shape ,☰  ,pageNavigator ,shape ,actionButton ,tableEx ,shape ,Matrix ,Lưu chuyển tiền tệ_Tháng ,shape ,shape ,Back ,shape ,shape ,Tháng ,shape ,Nguoi phu trach ,actionButton ,shape ,actionButton ,shape ,actionButton ,shape. Please refer to the notes on this slide for details">
            <a:hlinkClick xmlns:r="http://schemas.openxmlformats.org/officeDocument/2006/relationships" xmlns:a="http://schemas.openxmlformats.org/drawingml/2006/main" r:id="RelId8"/>
          </p:cNvPr>
          <p:cNvPicPr>
            <a:picLocks xmlns:a="http://schemas.openxmlformats.org/drawingml/2006/main" noChangeAspect="1"/>
          </p:cNvPicPr>
          <p:nvPr/>
        </p:nvPicPr>
        <p:blipFill>
          <a:blip xmlns:r="http://schemas.openxmlformats.org/officeDocument/2006/relationships" xmlns:a="http://schemas.openxmlformats.org/drawingml/2006/main" r:embed="imgId15857494"/>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tệ_Tháng</a:t>
            </a:r>
          </a:p>
        </p:txBody>
      </p:sp>
    </p:spTree>
    <p:clrMapOvr>
      <a:masterClrMapping xmlns:a="http://schemas.openxmlformats.org/drawingml/2006/main"/>
    </p:clrMapOvr>
  </p:cSld>
</p:sld>
</file>

<file path=ppt/slides/slideb.xml><?xml version="1.0" encoding="utf-8"?>
<p:sld xmlns:p="http://schemas.openxmlformats.org/presentationml/2006/main">
  <p:cSld>
    <p:spTree>
      <p:nvGrpSpPr>
        <p:cNvPr id="1" name=""/>
        <p:cNvGrpSpPr/>
        <p:nvPr/>
      </p:nvGrpSpPr>
      <p:grpSpPr/>
      <p:pic>
        <p:nvPicPr>
          <p:cNvPr id="3" name="Picture" title="This slide contains the following visuals: actionButton ,shape ,actionButton ,actionButton ,shape ,shape ,shape ,actionButton ,actionButton ,shape ,Công ty ,shape ,actionButton ,shape ,shape ,Help ,Back ,Người phụ trách ,shape ,pageNavigator ,shape ,shape ,shape ,shape ,Lưu chuyển tiền tệ lũy kế theo quý ,actionButton ,shape ,LƯU CHUYỂN TIỀN TỆ_THEO QUÝ ,shape ,Nguoi phu trach ,Tháng ,shape ,actionButton ,shape ,☰  ,Dòng tiền từ hoạt động kinh doanh ,Năm ,shape ,actionButton ,shape ,actionButton ,Matrix ,shape ,Đơn vị tiền tệ ,Công ty ,shape ,tableEx ,shape ,actionButton ,actionButton ,shape ,shape ,shape ,actionButton ,shape ,shape ,shape. Please refer to the notes on this slide for details">
            <a:hlinkClick xmlns:r="http://schemas.openxmlformats.org/officeDocument/2006/relationships" xmlns:a="http://schemas.openxmlformats.org/drawingml/2006/main" r:id="RelId9"/>
          </p:cNvPr>
          <p:cNvPicPr>
            <a:picLocks xmlns:a="http://schemas.openxmlformats.org/drawingml/2006/main" noChangeAspect="1"/>
          </p:cNvPicPr>
          <p:nvPr/>
        </p:nvPicPr>
        <p:blipFill>
          <a:blip xmlns:r="http://schemas.openxmlformats.org/officeDocument/2006/relationships" xmlns:a="http://schemas.openxmlformats.org/drawingml/2006/main" r:embed="imgId17177226"/>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tệ_Quý</a:t>
            </a:r>
          </a:p>
        </p:txBody>
      </p:sp>
    </p:spTree>
    <p:clrMapOvr>
      <a:masterClrMapping xmlns:a="http://schemas.openxmlformats.org/drawingml/2006/main"/>
    </p:clrMapOvr>
  </p:cSld>
</p:sld>
</file>

<file path=ppt/slides/slidec.xml><?xml version="1.0" encoding="utf-8"?>
<p:sld xmlns:p="http://schemas.openxmlformats.org/presentationml/2006/main">
  <p:cSld>
    <p:spTree>
      <p:nvGrpSpPr>
        <p:cNvPr id="1" name=""/>
        <p:cNvGrpSpPr/>
        <p:nvPr/>
      </p:nvGrpSpPr>
      <p:grpSpPr/>
      <p:pic>
        <p:nvPicPr>
          <p:cNvPr id="3" name="Picture" title="This slide contains the following visuals: actionButton ,tableEx ,shape ,shape ,actionButton ,shape ,Người phụ trách ,actionButton ,shape ,shape ,actionButton ,pageNavigator ,actionButton ,shape ,shape ,actionButton ,actionButton ,Công ty ,actionButton ,shape ,actionButton ,shape ,Nguoi phu trach ,shape ,actionButton ,shape ,Dòng tiền từ hoạt động kinh doanh ,shape ,Đơn vị tiền tệ ,shape ,actionButton ,Năm ,Back ,shape ,shape ,shape ,shape ,shape ,shape ,shape ,shape ,shape ,shape ,actionButton ,shape ,shape ,Lưu chuyển tiền tệ lũy kế theo năm ,shape ,shape ,shape ,Tháng ,shape ,Công ty ,actionButton ,Matrix ,☰  ,Help ,LƯU CHUYỂN TIỀN TỆ_THEO NĂM. Please refer to the notes on this slide for details">
            <a:hlinkClick xmlns:r="http://schemas.openxmlformats.org/officeDocument/2006/relationships" xmlns:a="http://schemas.openxmlformats.org/drawingml/2006/main" r:id="RelId10"/>
          </p:cNvPr>
          <p:cNvPicPr>
            <a:picLocks xmlns:a="http://schemas.openxmlformats.org/drawingml/2006/main" noChangeAspect="1"/>
          </p:cNvPicPr>
          <p:nvPr/>
        </p:nvPicPr>
        <p:blipFill>
          <a:blip xmlns:r="http://schemas.openxmlformats.org/officeDocument/2006/relationships" xmlns:a="http://schemas.openxmlformats.org/drawingml/2006/main" r:embed="imgId15857485"/>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Lưu chuyển tiền tệ_Năm</a:t>
            </a:r>
          </a:p>
        </p:txBody>
      </p:sp>
    </p:spTree>
    <p:clrMapOvr>
      <a:masterClrMapping xmlns:a="http://schemas.openxmlformats.org/drawingml/2006/main"/>
    </p:clrMapOvr>
  </p:cSld>
</p:sld>
</file>

<file path=ppt/slides/slided.xml><?xml version="1.0" encoding="utf-8"?>
<p:sld xmlns:p="http://schemas.openxmlformats.org/presentationml/2006/main">
  <p:cSld>
    <p:spTree>
      <p:nvGrpSpPr>
        <p:cNvPr id="1" name=""/>
        <p:cNvGrpSpPr/>
        <p:nvPr/>
      </p:nvGrpSpPr>
      <p:grpSpPr/>
      <p:pic>
        <p:nvPicPr>
          <p:cNvPr id="3" name="Picture" title="This slide contains the following visuals: actionButton ,pageNavigator ,Tỷ suất lợi nhuận sau thuế (%) ,shape ,shape ,shape ,shape ,actionButton ,shape ,Công ty ,shape ,shape ,actionButton ,shape ,shape ,Z - Score - Quý ,Zscore Thang ,Zscore Quy ,Nguoi phu trach ,shape ,shape ,actionButton ,tableEx ,shape ,CHỈ SỐ TÀI CHÍNH - LŨY KẾ 5 THÁNG ,shape ,tableEx ,advancedSlicerVisual ,actionButton ,Z - Score - Năm ,☰  ,actionButton ,Z - Score - Quý ,Z - Score - Quý ,shape ,shape ,shape ,actionButton ,Z - Score - Quý ,Back ,actionButton ,Help ,shape ,Tháng ,shape ,shape ,Người phụ trách ,actionButton ,shape ,actionButton ,shape ,Zscore Nam ,Matrix ,shape ,shape ,Năm ,shape ,shape ,Z - Score (Sức khỏe tài chính) ,Công ty ,shape. Please refer to the notes on this slide for details">
            <a:hlinkClick xmlns:r="http://schemas.openxmlformats.org/officeDocument/2006/relationships" xmlns:a="http://schemas.openxmlformats.org/drawingml/2006/main" r:id="RelId11"/>
          </p:cNvPr>
          <p:cNvPicPr>
            <a:picLocks xmlns:a="http://schemas.openxmlformats.org/drawingml/2006/main" noChangeAspect="1"/>
          </p:cNvPicPr>
          <p:nvPr/>
        </p:nvPicPr>
        <p:blipFill>
          <a:blip xmlns:r="http://schemas.openxmlformats.org/officeDocument/2006/relationships" xmlns:a="http://schemas.openxmlformats.org/drawingml/2006/main" r:embed="imgId15857486"/>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Chỉ số tài chính</a:t>
            </a:r>
          </a:p>
        </p:txBody>
      </p:sp>
    </p:spTree>
    <p:clrMapOvr>
      <a:masterClrMapping xmlns:a="http://schemas.openxmlformats.org/drawingml/2006/main"/>
    </p:clrMapOvr>
  </p:cSld>
</p:sld>
</file>

<file path=ppt/slides/slidee.xml><?xml version="1.0" encoding="utf-8"?>
<p:sld xmlns:p="http://schemas.openxmlformats.org/presentationml/2006/main">
  <p:cSld>
    <p:spTree>
      <p:nvGrpSpPr>
        <p:cNvPr id="1" name=""/>
        <p:cNvGrpSpPr/>
        <p:nvPr/>
      </p:nvGrpSpPr>
      <p:grpSpPr/>
      <p:pic>
        <p:nvPicPr>
          <p:cNvPr id="3" name="Picture" title="This slide contains the following visuals: actionButton ,Matrix ,MA TRẬN KẾT QUẢ KINH DOANH - LŨY KẾ T05/2026 ,actionButton ,advancedSlicerVisual ,Doanh thu thuần - Tháng ,shape ,slicer ,Năm ,actionButton ,Nguoi phu trach ,☰  ,actionButton ,actionButton ,actionButton ,tableEx ,Tháng ,Người phụ trách ,Xem số liệu ,actionButton ,actionButton ,Back ,actionButton ,Công ty ,actionButton ,slicer ,actionButton ,actionButton ,Help ,pageNavigator. Please refer to the notes on this slide for details">
            <a:hlinkClick xmlns:r="http://schemas.openxmlformats.org/officeDocument/2006/relationships" xmlns:a="http://schemas.openxmlformats.org/drawingml/2006/main" r:id="RelId12"/>
          </p:cNvPr>
          <p:cNvPicPr>
            <a:picLocks xmlns:a="http://schemas.openxmlformats.org/drawingml/2006/main" noChangeAspect="1"/>
          </p:cNvPicPr>
          <p:nvPr/>
        </p:nvPicPr>
        <p:blipFill>
          <a:blip xmlns:r="http://schemas.openxmlformats.org/officeDocument/2006/relationships" xmlns:a="http://schemas.openxmlformats.org/drawingml/2006/main" r:embed="imgId15857484"/>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trận_Kết quả kinh doanh</a:t>
            </a:r>
          </a:p>
        </p:txBody>
      </p:sp>
    </p:spTree>
    <p:clrMapOvr>
      <a:masterClrMapping xmlns:a="http://schemas.openxmlformats.org/drawingml/2006/main"/>
    </p:clrMapOvr>
  </p:cSld>
</p:sld>
</file>

<file path=ppt/slides/slidef.xml><?xml version="1.0" encoding="utf-8"?>
<p:sld xmlns:p="http://schemas.openxmlformats.org/presentationml/2006/main">
  <p:cSld>
    <p:spTree>
      <p:nvGrpSpPr>
        <p:cNvPr id="1" name=""/>
        <p:cNvGrpSpPr/>
        <p:nvPr/>
      </p:nvGrpSpPr>
      <p:grpSpPr/>
      <p:pic>
        <p:nvPicPr>
          <p:cNvPr id="3" name="Picture" title="This slide contains the following visuals: actionButton ,Tháng ,Matrix ,actionButton ,actionButton ,Nguoi phu trach ,tableEx ,pageNavigator ,Công ty ,Năm ,slicer ,Back ,Tiền ,actionButton ,Người phụ trách ,actionButton ,actionButton ,Help ,actionButton ,actionButton ,slicer ,actionButton ,actionButton ,advancedSlicerVisual ,shape ,actionButton ,MA TRẬN TÌNH HÌNH TÀI CHÍNH - T05/2026 ,☰  ,actionButton. Please refer to the notes on this slide for details">
            <a:hlinkClick xmlns:r="http://schemas.openxmlformats.org/officeDocument/2006/relationships" xmlns:a="http://schemas.openxmlformats.org/drawingml/2006/main" r:id="RelId13"/>
          </p:cNvPr>
          <p:cNvPicPr>
            <a:picLocks xmlns:a="http://schemas.openxmlformats.org/drawingml/2006/main" noChangeAspect="1"/>
          </p:cNvPicPr>
          <p:nvPr/>
        </p:nvPicPr>
        <p:blipFill>
          <a:blip xmlns:r="http://schemas.openxmlformats.org/officeDocument/2006/relationships" xmlns:a="http://schemas.openxmlformats.org/drawingml/2006/main" r:embed="imgId15857490"/>
          <a:stretch xmlns:a="http://schemas.openxmlformats.org/drawingml/2006/main">
            <a:fillRect/>
          </a:stretch>
        </p:blipFill>
        <p:spPr>
          <a:xfrm xmlns:a="http://schemas.openxmlformats.org/drawingml/2006/main">
            <a:off x="0" y="352425"/>
            <a:ext cx="12192000" cy="6143625"/>
          </a:xfrm>
          <a:prstGeom xmlns:a="http://schemas.openxmlformats.org/drawingml/2006/main" prst="rect">
            <a:avLst/>
          </a:prstGeom>
          <a:noFill xmlns:a="http://schemas.openxmlformats.org/drawingml/2006/main"/>
        </p:spPr>
      </p:pic>
      <p:sp>
        <p:nvSpPr>
          <p:cNvPr id="4" name="Title" hidden="1"/>
          <p:cNvSpPr>
            <a:spLocks xmlns:a="http://schemas.openxmlformats.org/drawingml/2006/main" noGrp="1"/>
          </p:cNvSpPr>
          <p:nvPr>
            <p:ph type="title"/>
          </p:nvPr>
        </p:nvSpPr>
        <p:spPr/>
        <p:txBody>
          <a:bodyPr xmlns:a="http://schemas.openxmlformats.org/drawingml/2006/main"/>
          <a:lstStyle xmlns:a="http://schemas.openxmlformats.org/drawingml/2006/main"/>
          <a:p xmlns:a="http://schemas.openxmlformats.org/drawingml/2006/main">
            <a:r>
              <a:t>Ma trận_Tình hình tài chính</a:t>
            </a:r>
          </a:p>
        </p:txBody>
      </p:sp>
    </p:spTree>
    <p:clrMapOvr>
      <a:masterClrMapping xmlns:a="http://schemas.openxmlformats.org/drawingml/2006/main"/>
    </p:clrMapOvr>
  </p:cSld>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5</TotalTime>
  <Words>27</Words>
  <Application>Microsoft Office PowerPoint</Application>
  <PresentationFormat>Widescreen</PresentationFormat>
  <Paragraphs>6</Paragraphs>
  <Slides>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vt:i4>
      </vt:variant>
    </vt:vector>
  </HeadingPairs>
  <TitlesOfParts>
    <vt:vector size="8" baseType="lpstr">
      <vt:lpstr>Arial</vt:lpstr>
      <vt:lpstr>Calibri</vt:lpstr>
      <vt:lpstr>Calibri Light</vt:lpstr>
      <vt:lpstr>Segoe UI</vt:lpstr>
      <vt:lpstr>Segoe UI Light</vt:lpstr>
      <vt:lpstr>Segoe UI Semibold</vt:lpstr>
      <vt:lpstr>Custom Design</vt:lpstr>
      <vt:lpstr>#Name of Power BI report#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Power BI</dc:creator>
  <cp:lastModifiedBy>Brian Butler</cp:lastModifiedBy>
  <cp:revision>4</cp:revision>
  <dcterms:created xsi:type="dcterms:W3CDTF">2016-09-04T11:54:55Z</dcterms:created>
  <dcterms:modified xsi:type="dcterms:W3CDTF">2020-11-25T15:29:01Z</dcterms:modified>
</cp:coreProperties>
</file>