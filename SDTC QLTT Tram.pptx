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147475417" r:id="rId2"/>
    <p:sldId id="2848" r:id="rId3"/>
    <p:sldId id="2147475422" r:id="rId4"/>
    <p:sldId id="2147475421" r:id="rId5"/>
    <p:sldId id="285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BDC12-3FC0-40A1-8671-849F6E16F011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15FD2-4C11-4919-AC88-C84C4EDD74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32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4726-4DA8-B074-7E91-2DB9012DB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8020E-5F47-4916-DEDB-509E56E07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1763" y="1504950"/>
            <a:ext cx="7213601" cy="4057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89939E-E487-9606-9ED4-2D10CEDCED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D0F228-0167-723B-3C35-8BA7B7828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82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3B3DB8-98EF-4643-A59E-C317AC555681}" type="slidenum">
              <a:rPr kumimoji="0" lang="vi-V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882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472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195CE-DDD4-D1E1-A08B-BD0C70913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FC1468-DAAF-237D-1208-3C3182F94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1763" y="1504950"/>
            <a:ext cx="7213601" cy="4057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77A1B-6263-54A3-2A27-5CFA2AA3B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6D55D-8C76-08C7-1A5C-5CCD5B11A8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82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3B3DB8-98EF-4643-A59E-C317AC555681}" type="slidenum">
              <a:rPr kumimoji="0" lang="vi-V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882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4413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D585-632C-2C1C-409F-35FF729B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4947E-8349-6184-5652-E167D9832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1763" y="1504950"/>
            <a:ext cx="7213601" cy="4057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B7619-7716-D277-1EA2-A50B1C2E1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2E9D0-AC09-708A-2214-42B4806B2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82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3B3DB8-98EF-4643-A59E-C317AC555681}" type="slidenum">
              <a:rPr kumimoji="0" lang="vi-V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882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500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D2CD1-F0A3-47B6-C8C0-FB5E096E7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3CEAF9-1DDE-E6A3-5063-F029576B6F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1763" y="1504950"/>
            <a:ext cx="7213601" cy="4057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058F33-B51B-A506-22C6-7E0786663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62B01-F83E-B091-DBBE-F859F59097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882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3B3DB8-98EF-4643-A59E-C317AC555681}" type="slidenum">
              <a:rPr kumimoji="0" lang="vi-V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4882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vi-V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4388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9F001-B2A9-92B7-E5E4-51BF809E0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FF9D78-C51C-D55D-D4EA-4DC0389F4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1763" y="1504950"/>
            <a:ext cx="7213601" cy="40576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551EC8-C53C-1DBC-9F04-38F22D036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5D19E-934B-BB5B-AF65-AABDB59ED0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488212">
              <a:defRPr/>
            </a:pPr>
            <a:fld id="{193B3DB8-98EF-4643-A59E-C317AC555681}" type="slidenum">
              <a:rPr lang="vi-VN">
                <a:solidFill>
                  <a:prstClr val="black"/>
                </a:solidFill>
                <a:latin typeface="Arial" panose="020B0604020202020204" pitchFamily="34" charset="0"/>
              </a:rPr>
              <a:pPr defTabSz="488212">
                <a:defRPr/>
              </a:pPr>
              <a:t>5</a:t>
            </a:fld>
            <a:endParaRPr lang="vi-VN">
              <a:solidFill>
                <a:prstClr val="black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073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C614-C2A2-88BB-9496-759317E86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61C68-76FA-14EF-C6CF-2EB211DC3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0950B-9351-F938-EF4D-EFB42D2F9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02C3B-8488-C10E-F79B-93776F7EF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EA808-8304-2D2D-32FF-7DDCB93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8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19C5-BAC9-E58C-98BE-A6DC8519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16025-61F8-7310-52B5-C50490949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1E5D8-0B48-97FE-34AC-8D52E18C7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06D88-655F-4664-E7D0-B15F89771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AD97F-757B-D0C9-EAD5-2D2E6F22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98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DD72-56DD-F55E-693A-B827ED56F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BBBC3-003D-CB6C-0F4E-C9A2C8AC4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95068-4963-6209-F584-310C66B85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47941F-7E13-2E4E-ABF5-94BD6748E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73046-2EAB-9E9E-5AFD-401949A78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7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50BF3-DEF6-56D1-6D1C-841036E8A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24D0-E09E-E5CC-6BCD-BE19B29307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19D9A-E57E-E711-AE2C-370AB61F2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C7419-973D-D22E-FD01-3356D3B39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47BC8-B87B-75C8-BA3B-5FE2F9585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D0C41-FDC7-6219-BD2A-A61E07BE3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20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1E1AD-D7AB-7B76-71CE-E075AB48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1CFA5-7B9C-5616-888D-281E1E0C25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3D5399-DA49-6ACE-8943-B0C643358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06EA-C436-7909-16EB-54FDBC28D7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786CDD-47D4-B744-F805-6A86B2A83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38D26-0089-9F76-4222-FB0250CC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18CED8-8BEF-B465-8850-FC410627D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6A6466-E50B-3B65-42A8-3F2E5208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47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520F-5D7D-389D-94B9-15C82927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56306F-1609-0FB9-BDBE-4F120469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DCF51-4436-7AFC-36B7-31E4C2C2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7854EF-1F1F-B4C8-A3E9-22F28E603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39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5622B8-E6DF-D3FC-6209-6EC7B2145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DDF8F-D91B-DFA3-E7CA-E8DC73BC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C56D7-B4FD-4CED-2175-E8F5446E2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498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B5C22-312C-1E84-C68F-D2DDDFBC6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5C0E0-9544-70B5-CF1D-F8258B456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267898-2F2C-2318-4078-D3E2B99EA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45031-9E62-4B4E-B494-AC87D35E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58DBD-CDB1-FCB5-EBA4-46EFCD768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78001-70C7-7663-C905-BCE04D79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81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9B5E-EADF-F530-117B-F45565A5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9D9E9-54E0-E213-4FF9-3A73F7CDF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C63B0E-10D7-BC90-74D4-B03B9065C7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7E817-CF21-FD85-245F-60AB59B1C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EF36D-BBD0-FE8A-4536-9DE60B38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86EDFF-D109-80CB-5C4D-EB4ACF7D6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8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F3B7D-9977-F8CE-711D-832DCA6D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CB7AC-4312-EE3D-8105-31C6F793A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2BE28-5C63-5610-A950-D1C8F826D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87D0E-7E17-3E87-38D8-C84CDC752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43B73-01BB-73F8-7E54-C2B0498E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2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80547-5CB4-BC39-5449-533839A66F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A54E61-5BD8-B805-A3E3-30FD6FD9D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FD70C-C5AB-BBF9-60AF-0D6AA5154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BF727-D18C-C5BF-40F2-4B9012403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84B0E-0E80-30D2-7A1B-BEDF564E8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02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FBB4B-C4C0-B074-8D3C-1CC0854A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7FF43-AB7B-FE93-B77F-2F00E7F87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1A007-A48A-2ECC-2CBC-D8F7A02BF4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1A9EE2-EC1E-418E-9FE7-5CD45C86AC9B}" type="datetimeFigureOut">
              <a:rPr lang="en-US" smtClean="0"/>
              <a:t>05/06/2026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71373-D315-9D3F-77AC-C6F1A25E3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3415C-2C3C-C8CD-FD6D-14F0F1623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8F706-5CD7-4889-9C30-4B22E553E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60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6566-FAE8-F248-9355-80A53A3F8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23B8856-2706-2E9C-E1ED-61B97F2045ED}"/>
              </a:ext>
            </a:extLst>
          </p:cNvPr>
          <p:cNvCxnSpPr>
            <a:cxnSpLocks/>
          </p:cNvCxnSpPr>
          <p:nvPr/>
        </p:nvCxnSpPr>
        <p:spPr>
          <a:xfrm flipV="1">
            <a:off x="3074489" y="3474406"/>
            <a:ext cx="0" cy="2465120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1" name="Table 5">
            <a:extLst>
              <a:ext uri="{FF2B5EF4-FFF2-40B4-BE49-F238E27FC236}">
                <a16:creationId xmlns:a16="http://schemas.microsoft.com/office/drawing/2014/main" id="{CC2E7F5C-49E5-172E-6AE0-48191FFBB306}"/>
              </a:ext>
            </a:extLst>
          </p:cNvPr>
          <p:cNvGraphicFramePr>
            <a:graphicFrameLocks noGrp="1"/>
          </p:cNvGraphicFramePr>
          <p:nvPr/>
        </p:nvGraphicFramePr>
        <p:xfrm>
          <a:off x="568254" y="80756"/>
          <a:ext cx="11055495" cy="1658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5081">
                  <a:extLst>
                    <a:ext uri="{9D8B030D-6E8A-4147-A177-3AD203B41FA5}">
                      <a16:colId xmlns:a16="http://schemas.microsoft.com/office/drawing/2014/main" val="1333390710"/>
                    </a:ext>
                  </a:extLst>
                </a:gridCol>
                <a:gridCol w="2183363">
                  <a:extLst>
                    <a:ext uri="{9D8B030D-6E8A-4147-A177-3AD203B41FA5}">
                      <a16:colId xmlns:a16="http://schemas.microsoft.com/office/drawing/2014/main" val="1280059786"/>
                    </a:ext>
                  </a:extLst>
                </a:gridCol>
                <a:gridCol w="2128099">
                  <a:extLst>
                    <a:ext uri="{9D8B030D-6E8A-4147-A177-3AD203B41FA5}">
                      <a16:colId xmlns:a16="http://schemas.microsoft.com/office/drawing/2014/main" val="1026788768"/>
                    </a:ext>
                  </a:extLst>
                </a:gridCol>
                <a:gridCol w="1998279">
                  <a:extLst>
                    <a:ext uri="{9D8B030D-6E8A-4147-A177-3AD203B41FA5}">
                      <a16:colId xmlns:a16="http://schemas.microsoft.com/office/drawing/2014/main" val="3278963915"/>
                    </a:ext>
                  </a:extLst>
                </a:gridCol>
                <a:gridCol w="1361032">
                  <a:extLst>
                    <a:ext uri="{9D8B030D-6E8A-4147-A177-3AD203B41FA5}">
                      <a16:colId xmlns:a16="http://schemas.microsoft.com/office/drawing/2014/main" val="2410038815"/>
                    </a:ext>
                  </a:extLst>
                </a:gridCol>
                <a:gridCol w="1309641">
                  <a:extLst>
                    <a:ext uri="{9D8B030D-6E8A-4147-A177-3AD203B41FA5}">
                      <a16:colId xmlns:a16="http://schemas.microsoft.com/office/drawing/2014/main" val="3836572135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700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SƠ ĐỒ TỔ CHỨC DUYTAN RECYLING</a:t>
                      </a:r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hiệu: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SĐTC-DTR-01               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soát xét: </a:t>
                      </a:r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00/00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Trang: 1/1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08856"/>
                  </a:ext>
                </a:extLst>
              </a:tr>
              <a:tr h="1012371"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Soạn thảo: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Giám đốc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Thị Kim Liên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PTGĐ Vận hành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Đái Trung Quân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GĐĐH Nhân sự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Quốc Sơn</a:t>
                      </a:r>
                      <a:endParaRPr lang="en-US" sz="1300"/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Tổng Giám đốc</a:t>
                      </a:r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Huỳnh Ngọc Thạch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1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i="1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Chủ tịch</a:t>
                      </a:r>
                      <a:endParaRPr lang="en-US" sz="1200" i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Trần Duy Hy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4191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923FBC78-B432-E024-8856-976621D2FEE9}"/>
              </a:ext>
            </a:extLst>
          </p:cNvPr>
          <p:cNvSpPr/>
          <p:nvPr/>
        </p:nvSpPr>
        <p:spPr>
          <a:xfrm>
            <a:off x="5523396" y="1906484"/>
            <a:ext cx="2260667" cy="738664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40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HỘI ĐỒNG QUẢN TRỊ</a:t>
            </a:r>
          </a:p>
          <a:p>
            <a:pPr defTabSz="398023"/>
            <a:r>
              <a:rPr lang="en-US" sz="840" err="1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40" err="1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tịch</a:t>
            </a:r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HĐQT </a:t>
            </a:r>
            <a:r>
              <a:rPr lang="en-US" sz="840" b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84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Duy Hy</a:t>
            </a:r>
          </a:p>
          <a:p>
            <a:pPr defTabSz="398023"/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Phó Chủ tịch HĐQT </a:t>
            </a:r>
            <a:r>
              <a:rPr lang="en-US" sz="84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Trần Duy Minh Đạt</a:t>
            </a:r>
          </a:p>
          <a:p>
            <a:pPr defTabSz="398023"/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Phó </a:t>
            </a:r>
            <a:r>
              <a:rPr lang="en-US" sz="840" err="1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40" err="1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tịch</a:t>
            </a:r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HĐQT </a:t>
            </a:r>
            <a:r>
              <a:rPr lang="en-US" sz="84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Trần Duy Minh Khoa</a:t>
            </a:r>
          </a:p>
          <a:p>
            <a:pPr defTabSz="398023"/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Thành </a:t>
            </a:r>
            <a:r>
              <a:rPr lang="en-US" sz="840" err="1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840">
                <a:solidFill>
                  <a:srgbClr val="4EA72E">
                    <a:lumMod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HĐQT </a:t>
            </a:r>
            <a:r>
              <a:rPr lang="en-US" sz="84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Nguyễn Thị Huệ Thu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930C3-8CF4-002A-6BA2-4F7377CAB45F}"/>
              </a:ext>
            </a:extLst>
          </p:cNvPr>
          <p:cNvSpPr txBox="1"/>
          <p:nvPr/>
        </p:nvSpPr>
        <p:spPr>
          <a:xfrm>
            <a:off x="5737927" y="2935093"/>
            <a:ext cx="1831607" cy="539315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GIÁM ĐỐC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Huỳnh Ngọc Thạch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94DADFD-C2CD-4FCA-104F-02ED6173C0CB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H="1" flipV="1">
            <a:off x="6653730" y="2645148"/>
            <a:ext cx="1" cy="28994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5266B827-3EC7-6993-0A4A-19C7811F6FD7}"/>
              </a:ext>
            </a:extLst>
          </p:cNvPr>
          <p:cNvSpPr/>
          <p:nvPr/>
        </p:nvSpPr>
        <p:spPr>
          <a:xfrm>
            <a:off x="1147656" y="5067489"/>
            <a:ext cx="1007403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QL CHẤT LƯỢNG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Chất lượng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Võ Thị Bích Phượng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AEF51EF-E684-4190-F40F-B08156253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625477"/>
              </p:ext>
            </p:extLst>
          </p:nvPr>
        </p:nvGraphicFramePr>
        <p:xfrm>
          <a:off x="1531305" y="4256002"/>
          <a:ext cx="1313861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861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Vận hành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PTGĐ Khối Vận hành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Đái Trung Quân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99AACAF9-D499-0912-8123-2B68DA6AC653}"/>
              </a:ext>
            </a:extLst>
          </p:cNvPr>
          <p:cNvSpPr/>
          <p:nvPr/>
        </p:nvSpPr>
        <p:spPr>
          <a:xfrm>
            <a:off x="3228222" y="5072268"/>
            <a:ext cx="1010108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HÀNH CHÁNH NHÂN SỰ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HCNS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 Thị Kim Liên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E4A526-35C8-12C0-6C5F-79850B235488}"/>
              </a:ext>
            </a:extLst>
          </p:cNvPr>
          <p:cNvSpPr/>
          <p:nvPr/>
        </p:nvSpPr>
        <p:spPr>
          <a:xfrm>
            <a:off x="108682" y="5068228"/>
            <a:ext cx="1007403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NGHIÊN CỨU &amp; PHÁT TRIỂN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Quyền PGĐ R&amp;D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Ngọc Phú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6FA076-517A-4115-6871-FEA0733A562C}"/>
              </a:ext>
            </a:extLst>
          </p:cNvPr>
          <p:cNvSpPr/>
          <p:nvPr/>
        </p:nvSpPr>
        <p:spPr>
          <a:xfrm>
            <a:off x="4453496" y="5066958"/>
            <a:ext cx="965779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KẾ TOÁN TÀI CHÍNH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KTTC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Hoành Cư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EBA36F2-3720-3C4C-A57D-D97E5E01419B}"/>
              </a:ext>
            </a:extLst>
          </p:cNvPr>
          <p:cNvGraphicFramePr>
            <a:graphicFrameLocks noGrp="1"/>
          </p:cNvGraphicFramePr>
          <p:nvPr/>
        </p:nvGraphicFramePr>
        <p:xfrm>
          <a:off x="9685912" y="4259351"/>
          <a:ext cx="1313861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861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Khối Sản xuất – CCƯ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PTGĐ SX – CCƯ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Xuân Huy Vũ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E4063097-1021-24EC-9C8C-05A83539DA69}"/>
              </a:ext>
            </a:extLst>
          </p:cNvPr>
          <p:cNvSpPr/>
          <p:nvPr/>
        </p:nvSpPr>
        <p:spPr>
          <a:xfrm>
            <a:off x="7533740" y="5066958"/>
            <a:ext cx="1043856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KINH DOANH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PT Kinh doanh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Dương Từ Uyên Thảo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2" name="Connector: Elbow 41">
            <a:extLst>
              <a:ext uri="{FF2B5EF4-FFF2-40B4-BE49-F238E27FC236}">
                <a16:creationId xmlns:a16="http://schemas.microsoft.com/office/drawing/2014/main" id="{F8F5EA85-BE78-B650-D2CF-72FF21DCFFFD}"/>
              </a:ext>
            </a:extLst>
          </p:cNvPr>
          <p:cNvCxnSpPr>
            <a:cxnSpLocks/>
            <a:stCxn id="28" idx="2"/>
            <a:endCxn id="26" idx="0"/>
          </p:cNvCxnSpPr>
          <p:nvPr/>
        </p:nvCxnSpPr>
        <p:spPr>
          <a:xfrm rot="5400000">
            <a:off x="1807966" y="4687220"/>
            <a:ext cx="223659" cy="53687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5FDD0A4-7122-514D-5ED5-B332E45A6420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rot="16200000" flipH="1">
            <a:off x="2846536" y="4185529"/>
            <a:ext cx="228437" cy="154504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016D07AA-5914-FF15-312F-95FA0E52D62B}"/>
              </a:ext>
            </a:extLst>
          </p:cNvPr>
          <p:cNvCxnSpPr>
            <a:cxnSpLocks/>
            <a:stCxn id="28" idx="2"/>
          </p:cNvCxnSpPr>
          <p:nvPr/>
        </p:nvCxnSpPr>
        <p:spPr>
          <a:xfrm rot="16200000" flipH="1">
            <a:off x="2329706" y="4702361"/>
            <a:ext cx="223127" cy="50606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406BC82D-E193-631B-08A2-1C4416774552}"/>
              </a:ext>
            </a:extLst>
          </p:cNvPr>
          <p:cNvCxnSpPr>
            <a:cxnSpLocks/>
            <a:stCxn id="28" idx="2"/>
            <a:endCxn id="31" idx="0"/>
          </p:cNvCxnSpPr>
          <p:nvPr/>
        </p:nvCxnSpPr>
        <p:spPr>
          <a:xfrm rot="5400000">
            <a:off x="1288112" y="4168103"/>
            <a:ext cx="224397" cy="157585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FD27B2B9-3A2B-B532-3305-A00ED534E7FC}"/>
              </a:ext>
            </a:extLst>
          </p:cNvPr>
          <p:cNvCxnSpPr>
            <a:cxnSpLocks/>
            <a:stCxn id="4" idx="2"/>
            <a:endCxn id="28" idx="0"/>
          </p:cNvCxnSpPr>
          <p:nvPr/>
        </p:nvCxnSpPr>
        <p:spPr>
          <a:xfrm rot="5400000">
            <a:off x="4030186" y="1632457"/>
            <a:ext cx="781594" cy="446549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3E64C680-D590-108B-2A8D-04357268A745}"/>
              </a:ext>
            </a:extLst>
          </p:cNvPr>
          <p:cNvGraphicFramePr>
            <a:graphicFrameLocks noGrp="1"/>
          </p:cNvGraphicFramePr>
          <p:nvPr/>
        </p:nvGraphicFramePr>
        <p:xfrm>
          <a:off x="8693616" y="6112596"/>
          <a:ext cx="1204411" cy="561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4411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19891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ĐẠI LỘC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trạm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 Song Hùng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70" name="Table 69">
            <a:extLst>
              <a:ext uri="{FF2B5EF4-FFF2-40B4-BE49-F238E27FC236}">
                <a16:creationId xmlns:a16="http://schemas.microsoft.com/office/drawing/2014/main" id="{10AF19E5-7EC1-F1AC-29F5-8AABF0950EA5}"/>
              </a:ext>
            </a:extLst>
          </p:cNvPr>
          <p:cNvGraphicFramePr>
            <a:graphicFrameLocks noGrp="1"/>
          </p:cNvGraphicFramePr>
          <p:nvPr/>
        </p:nvGraphicFramePr>
        <p:xfrm>
          <a:off x="7400998" y="6112596"/>
          <a:ext cx="1259548" cy="561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548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19891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ĐỒNG LÂM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Trưởng trạm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Nhật Bằng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71" name="Table 70">
            <a:extLst>
              <a:ext uri="{FF2B5EF4-FFF2-40B4-BE49-F238E27FC236}">
                <a16:creationId xmlns:a16="http://schemas.microsoft.com/office/drawing/2014/main" id="{748DAB91-06B4-083A-7FB7-DD0D3F85A4B5}"/>
              </a:ext>
            </a:extLst>
          </p:cNvPr>
          <p:cNvGraphicFramePr>
            <a:graphicFrameLocks noGrp="1"/>
          </p:cNvGraphicFramePr>
          <p:nvPr/>
        </p:nvGraphicFramePr>
        <p:xfrm>
          <a:off x="9927539" y="6112596"/>
          <a:ext cx="1116471" cy="561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471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19891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KHÁNH NGA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trạm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An Khang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7F0C91F0-2CD7-2DD2-A3EA-5505EF57A0C1}"/>
              </a:ext>
            </a:extLst>
          </p:cNvPr>
          <p:cNvSpPr/>
          <p:nvPr/>
        </p:nvSpPr>
        <p:spPr>
          <a:xfrm>
            <a:off x="8793745" y="5066958"/>
            <a:ext cx="1007403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ĐIỀU HÀNH CÁC TRẠM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GĐĐH Các trạm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Đức Thắng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903AF2D-99D7-49D9-C772-D76FCEE2A3CE}"/>
              </a:ext>
            </a:extLst>
          </p:cNvPr>
          <p:cNvCxnSpPr>
            <a:cxnSpLocks/>
            <a:stCxn id="74" idx="2"/>
            <a:endCxn id="70" idx="0"/>
          </p:cNvCxnSpPr>
          <p:nvPr/>
        </p:nvCxnSpPr>
        <p:spPr>
          <a:xfrm rot="5400000">
            <a:off x="8488008" y="5303156"/>
            <a:ext cx="352205" cy="126667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49F37278-08EF-5A6E-9C9A-20B66F8CB013}"/>
              </a:ext>
            </a:extLst>
          </p:cNvPr>
          <p:cNvCxnSpPr>
            <a:cxnSpLocks/>
            <a:stCxn id="74" idx="2"/>
            <a:endCxn id="69" idx="0"/>
          </p:cNvCxnSpPr>
          <p:nvPr/>
        </p:nvCxnSpPr>
        <p:spPr>
          <a:xfrm rot="5400000">
            <a:off x="9120532" y="5935680"/>
            <a:ext cx="352205" cy="162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77AC22D-16FC-957F-0B1D-1DD6EE7CF844}"/>
              </a:ext>
            </a:extLst>
          </p:cNvPr>
          <p:cNvCxnSpPr>
            <a:cxnSpLocks/>
            <a:stCxn id="74" idx="2"/>
            <a:endCxn id="71" idx="0"/>
          </p:cNvCxnSpPr>
          <p:nvPr/>
        </p:nvCxnSpPr>
        <p:spPr>
          <a:xfrm rot="16200000" flipH="1">
            <a:off x="9715508" y="5342329"/>
            <a:ext cx="352205" cy="118832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13CA294-91C9-9209-94C4-64E4389B0BEC}"/>
              </a:ext>
            </a:extLst>
          </p:cNvPr>
          <p:cNvSpPr/>
          <p:nvPr/>
        </p:nvSpPr>
        <p:spPr>
          <a:xfrm>
            <a:off x="6501185" y="5066958"/>
            <a:ext cx="1007404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CUNG ỨNG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Thu mua NVL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Phước An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1412B02-6870-B4EC-7CFD-AEB5AA4C0B75}"/>
              </a:ext>
            </a:extLst>
          </p:cNvPr>
          <p:cNvSpPr/>
          <p:nvPr/>
        </p:nvSpPr>
        <p:spPr>
          <a:xfrm>
            <a:off x="5463374" y="5066958"/>
            <a:ext cx="1007404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BDA CHIÊN LƯỢC CCƯ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Hệ thống TM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Nhựt Hiện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F847B81-F4EF-3272-69F5-6D7E8116193D}"/>
              </a:ext>
            </a:extLst>
          </p:cNvPr>
          <p:cNvSpPr/>
          <p:nvPr/>
        </p:nvSpPr>
        <p:spPr>
          <a:xfrm>
            <a:off x="9842627" y="5066065"/>
            <a:ext cx="1002703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XƯỞNG SẢN XUẤT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Sản xuất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Xuân Huy Vũ (KN)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2B6D22F5-07AD-26CF-A1A1-E7176471457D}"/>
              </a:ext>
            </a:extLst>
          </p:cNvPr>
          <p:cNvSpPr/>
          <p:nvPr/>
        </p:nvSpPr>
        <p:spPr>
          <a:xfrm>
            <a:off x="10873296" y="5066065"/>
            <a:ext cx="856659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MUA HÀNG - XNK</a:t>
            </a: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7EF1A184-35CF-C4A0-565A-99369FD94DE9}"/>
              </a:ext>
            </a:extLst>
          </p:cNvPr>
          <p:cNvCxnSpPr>
            <a:cxnSpLocks/>
            <a:stCxn id="33" idx="2"/>
            <a:endCxn id="74" idx="0"/>
          </p:cNvCxnSpPr>
          <p:nvPr/>
        </p:nvCxnSpPr>
        <p:spPr>
          <a:xfrm rot="5400000">
            <a:off x="9710257" y="4434371"/>
            <a:ext cx="219777" cy="104539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2799C6C1-2EB3-F259-E910-C0BE8E438BAA}"/>
              </a:ext>
            </a:extLst>
          </p:cNvPr>
          <p:cNvCxnSpPr>
            <a:cxnSpLocks/>
            <a:stCxn id="33" idx="2"/>
            <a:endCxn id="135" idx="0"/>
          </p:cNvCxnSpPr>
          <p:nvPr/>
        </p:nvCxnSpPr>
        <p:spPr>
          <a:xfrm rot="16200000" flipH="1">
            <a:off x="10233968" y="4956053"/>
            <a:ext cx="218885" cy="113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B65AACA5-A84D-6A4C-2F12-95D6AA0DEE96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 rot="16200000" flipH="1">
            <a:off x="8105815" y="2022323"/>
            <a:ext cx="784943" cy="368911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: Elbow 193">
            <a:extLst>
              <a:ext uri="{FF2B5EF4-FFF2-40B4-BE49-F238E27FC236}">
                <a16:creationId xmlns:a16="http://schemas.microsoft.com/office/drawing/2014/main" id="{41AE0087-F0B4-B99D-8B7A-FA5F6BE7009A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5400000">
            <a:off x="4998784" y="3412011"/>
            <a:ext cx="1592550" cy="171734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D902C81B-C26A-318E-3A64-3F28AAEB7E67}"/>
              </a:ext>
            </a:extLst>
          </p:cNvPr>
          <p:cNvCxnSpPr>
            <a:cxnSpLocks/>
            <a:stCxn id="4" idx="2"/>
            <a:endCxn id="129" idx="0"/>
          </p:cNvCxnSpPr>
          <p:nvPr/>
        </p:nvCxnSpPr>
        <p:spPr>
          <a:xfrm rot="5400000">
            <a:off x="5514129" y="3927356"/>
            <a:ext cx="1592550" cy="68665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: Elbow 199">
            <a:extLst>
              <a:ext uri="{FF2B5EF4-FFF2-40B4-BE49-F238E27FC236}">
                <a16:creationId xmlns:a16="http://schemas.microsoft.com/office/drawing/2014/main" id="{77DF29BB-B77B-09A3-ADFD-8EBC14251C5E}"/>
              </a:ext>
            </a:extLst>
          </p:cNvPr>
          <p:cNvCxnSpPr>
            <a:cxnSpLocks/>
            <a:stCxn id="4" idx="2"/>
            <a:endCxn id="128" idx="0"/>
          </p:cNvCxnSpPr>
          <p:nvPr/>
        </p:nvCxnSpPr>
        <p:spPr>
          <a:xfrm rot="16200000" flipH="1">
            <a:off x="6033034" y="4095105"/>
            <a:ext cx="1592550" cy="35115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: Elbow 202">
            <a:extLst>
              <a:ext uri="{FF2B5EF4-FFF2-40B4-BE49-F238E27FC236}">
                <a16:creationId xmlns:a16="http://schemas.microsoft.com/office/drawing/2014/main" id="{43828C8E-B394-2F12-D1DC-BF97CE7D0F26}"/>
              </a:ext>
            </a:extLst>
          </p:cNvPr>
          <p:cNvCxnSpPr>
            <a:cxnSpLocks/>
            <a:stCxn id="4" idx="2"/>
            <a:endCxn id="34" idx="0"/>
          </p:cNvCxnSpPr>
          <p:nvPr/>
        </p:nvCxnSpPr>
        <p:spPr>
          <a:xfrm rot="16200000" flipH="1">
            <a:off x="6558424" y="3569714"/>
            <a:ext cx="1592550" cy="140193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: Elbow 211">
            <a:extLst>
              <a:ext uri="{FF2B5EF4-FFF2-40B4-BE49-F238E27FC236}">
                <a16:creationId xmlns:a16="http://schemas.microsoft.com/office/drawing/2014/main" id="{406DCD29-1346-0A5A-5E0C-B7997C322319}"/>
              </a:ext>
            </a:extLst>
          </p:cNvPr>
          <p:cNvCxnSpPr>
            <a:cxnSpLocks/>
            <a:stCxn id="33" idx="2"/>
            <a:endCxn id="140" idx="0"/>
          </p:cNvCxnSpPr>
          <p:nvPr/>
        </p:nvCxnSpPr>
        <p:spPr>
          <a:xfrm rot="16200000" flipH="1">
            <a:off x="10712792" y="4477229"/>
            <a:ext cx="218885" cy="95878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5" name="Table 214">
            <a:extLst>
              <a:ext uri="{FF2B5EF4-FFF2-40B4-BE49-F238E27FC236}">
                <a16:creationId xmlns:a16="http://schemas.microsoft.com/office/drawing/2014/main" id="{3193B883-1113-37C0-D547-D10EA7FE4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146536"/>
              </p:ext>
            </p:extLst>
          </p:nvPr>
        </p:nvGraphicFramePr>
        <p:xfrm>
          <a:off x="4575033" y="2935093"/>
          <a:ext cx="1103817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7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DTH - Khối KTTC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GĐĐH Tài chính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Bảo Quốc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217" name="Table 216">
            <a:extLst>
              <a:ext uri="{FF2B5EF4-FFF2-40B4-BE49-F238E27FC236}">
                <a16:creationId xmlns:a16="http://schemas.microsoft.com/office/drawing/2014/main" id="{B589020E-2FFB-08DC-CE33-A8A79EBB5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0073812"/>
              </p:ext>
            </p:extLst>
          </p:nvPr>
        </p:nvGraphicFramePr>
        <p:xfrm>
          <a:off x="3417691" y="2935093"/>
          <a:ext cx="1103817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7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DTH - Khối HCNS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GĐĐH Nhân sự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Nguyễn Quốc Sơn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FE63693F-1879-4939-9C72-8E78FC07715C}"/>
              </a:ext>
            </a:extLst>
          </p:cNvPr>
          <p:cNvCxnSpPr>
            <a:cxnSpLocks/>
          </p:cNvCxnSpPr>
          <p:nvPr/>
        </p:nvCxnSpPr>
        <p:spPr>
          <a:xfrm flipV="1">
            <a:off x="3852183" y="3528023"/>
            <a:ext cx="0" cy="1543143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52410219-5F75-852E-804F-8D532B563E35}"/>
              </a:ext>
            </a:extLst>
          </p:cNvPr>
          <p:cNvCxnSpPr>
            <a:cxnSpLocks/>
          </p:cNvCxnSpPr>
          <p:nvPr/>
        </p:nvCxnSpPr>
        <p:spPr>
          <a:xfrm flipV="1">
            <a:off x="5045430" y="3518398"/>
            <a:ext cx="0" cy="1543143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3" name="Picture 302">
            <a:extLst>
              <a:ext uri="{FF2B5EF4-FFF2-40B4-BE49-F238E27FC236}">
                <a16:creationId xmlns:a16="http://schemas.microsoft.com/office/drawing/2014/main" id="{06FC03EB-770A-A3B1-BB17-8796887FF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73" y="158117"/>
            <a:ext cx="1514763" cy="5100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DC71D2-6C29-7306-834C-CF22488BBD06}"/>
              </a:ext>
            </a:extLst>
          </p:cNvPr>
          <p:cNvSpPr txBox="1"/>
          <p:nvPr/>
        </p:nvSpPr>
        <p:spPr>
          <a:xfrm>
            <a:off x="134581" y="6401334"/>
            <a:ext cx="4373077" cy="317908"/>
          </a:xfrm>
          <a:prstGeom prst="rect">
            <a:avLst/>
          </a:prstGeom>
          <a:ln w="9525">
            <a:noFill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>
            <a:spAutoFit/>
          </a:bodyPr>
          <a:lstStyle/>
          <a:p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____ : Quản 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endParaRPr lang="en-US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-------: Quản lý gián tiếp</a:t>
            </a:r>
            <a:endParaRPr lang="en-US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7A05AE2-9CBC-CD97-7BB5-6D1490A4F955}"/>
              </a:ext>
            </a:extLst>
          </p:cNvPr>
          <p:cNvSpPr/>
          <p:nvPr/>
        </p:nvSpPr>
        <p:spPr>
          <a:xfrm>
            <a:off x="2531560" y="5983518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KSNB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Thanh Giang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06862F-E2F7-8E06-AC14-4BD54917BA88}"/>
              </a:ext>
            </a:extLst>
          </p:cNvPr>
          <p:cNvSpPr/>
          <p:nvPr/>
        </p:nvSpPr>
        <p:spPr>
          <a:xfrm>
            <a:off x="3198004" y="5984322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QTHT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Diệu Hiền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939597-6BA2-3DD8-EA28-D56C21363A52}"/>
              </a:ext>
            </a:extLst>
          </p:cNvPr>
          <p:cNvSpPr/>
          <p:nvPr/>
        </p:nvSpPr>
        <p:spPr>
          <a:xfrm>
            <a:off x="3867747" y="5984322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HSE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Tấn Đạt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1F9F39D-5C01-7EBC-3AD2-6E7D472AD52B}"/>
              </a:ext>
            </a:extLst>
          </p:cNvPr>
          <p:cNvSpPr/>
          <p:nvPr/>
        </p:nvSpPr>
        <p:spPr>
          <a:xfrm>
            <a:off x="4549633" y="5984321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HCNS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Thị Tuyết Xuân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1770A411-0A06-2B78-B5DC-9D8D900AD99E}"/>
              </a:ext>
            </a:extLst>
          </p:cNvPr>
          <p:cNvCxnSpPr>
            <a:stCxn id="29" idx="2"/>
            <a:endCxn id="25" idx="0"/>
          </p:cNvCxnSpPr>
          <p:nvPr/>
        </p:nvCxnSpPr>
        <p:spPr>
          <a:xfrm rot="5400000">
            <a:off x="3180313" y="5430554"/>
            <a:ext cx="217817" cy="888110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FC2A517C-3403-AB1F-FB7C-03510BD98AE7}"/>
              </a:ext>
            </a:extLst>
          </p:cNvPr>
          <p:cNvCxnSpPr>
            <a:stCxn id="29" idx="2"/>
            <a:endCxn id="36" idx="0"/>
          </p:cNvCxnSpPr>
          <p:nvPr/>
        </p:nvCxnSpPr>
        <p:spPr>
          <a:xfrm rot="16200000" flipH="1">
            <a:off x="4188947" y="5310029"/>
            <a:ext cx="218620" cy="1129963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6881BBC-8B53-6F38-0E3E-D796C6EAD043}"/>
              </a:ext>
            </a:extLst>
          </p:cNvPr>
          <p:cNvCxnSpPr>
            <a:stCxn id="29" idx="2"/>
            <a:endCxn id="27" idx="0"/>
          </p:cNvCxnSpPr>
          <p:nvPr/>
        </p:nvCxnSpPr>
        <p:spPr>
          <a:xfrm rot="5400000">
            <a:off x="3513133" y="5764178"/>
            <a:ext cx="218621" cy="221666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261626F8-3C77-B81F-A594-F00E23B5AD15}"/>
              </a:ext>
            </a:extLst>
          </p:cNvPr>
          <p:cNvCxnSpPr>
            <a:stCxn id="29" idx="2"/>
            <a:endCxn id="35" idx="0"/>
          </p:cNvCxnSpPr>
          <p:nvPr/>
        </p:nvCxnSpPr>
        <p:spPr>
          <a:xfrm rot="16200000" flipH="1">
            <a:off x="3848004" y="5650972"/>
            <a:ext cx="218621" cy="448077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419506A-A475-B599-D995-AD8E1C428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166498"/>
              </p:ext>
            </p:extLst>
          </p:nvPr>
        </p:nvGraphicFramePr>
        <p:xfrm>
          <a:off x="2262232" y="2933287"/>
          <a:ext cx="1103817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17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DTH - KSNB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KSNB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Lâm Phước Lộc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914B1759-3177-368E-CA73-E8CA87F9AB49}"/>
              </a:ext>
            </a:extLst>
          </p:cNvPr>
          <p:cNvSpPr/>
          <p:nvPr/>
        </p:nvSpPr>
        <p:spPr>
          <a:xfrm>
            <a:off x="2188997" y="5074979"/>
            <a:ext cx="1007403" cy="69343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KỸ THUẬT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GĐ Kỹ thuật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Văn Ty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94667"/>
      </p:ext>
    </p:extLst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9D8B2-9D51-BE97-43E6-6439FD1B6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5">
            <a:extLst>
              <a:ext uri="{FF2B5EF4-FFF2-40B4-BE49-F238E27FC236}">
                <a16:creationId xmlns:a16="http://schemas.microsoft.com/office/drawing/2014/main" id="{EC9FD0B1-7A66-E624-CD0C-53713D7785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837614"/>
              </p:ext>
            </p:extLst>
          </p:nvPr>
        </p:nvGraphicFramePr>
        <p:xfrm>
          <a:off x="568253" y="23157"/>
          <a:ext cx="11213069" cy="149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72">
                  <a:extLst>
                    <a:ext uri="{9D8B030D-6E8A-4147-A177-3AD203B41FA5}">
                      <a16:colId xmlns:a16="http://schemas.microsoft.com/office/drawing/2014/main" val="1333390710"/>
                    </a:ext>
                  </a:extLst>
                </a:gridCol>
                <a:gridCol w="1502006">
                  <a:extLst>
                    <a:ext uri="{9D8B030D-6E8A-4147-A177-3AD203B41FA5}">
                      <a16:colId xmlns:a16="http://schemas.microsoft.com/office/drawing/2014/main" val="1280059786"/>
                    </a:ext>
                  </a:extLst>
                </a:gridCol>
                <a:gridCol w="1768074">
                  <a:extLst>
                    <a:ext uri="{9D8B030D-6E8A-4147-A177-3AD203B41FA5}">
                      <a16:colId xmlns:a16="http://schemas.microsoft.com/office/drawing/2014/main" val="1026788768"/>
                    </a:ext>
                  </a:extLst>
                </a:gridCol>
                <a:gridCol w="1870275">
                  <a:extLst>
                    <a:ext uri="{9D8B030D-6E8A-4147-A177-3AD203B41FA5}">
                      <a16:colId xmlns:a16="http://schemas.microsoft.com/office/drawing/2014/main" val="3278963915"/>
                    </a:ext>
                  </a:extLst>
                </a:gridCol>
                <a:gridCol w="1806146">
                  <a:extLst>
                    <a:ext uri="{9D8B030D-6E8A-4147-A177-3AD203B41FA5}">
                      <a16:colId xmlns:a16="http://schemas.microsoft.com/office/drawing/2014/main" val="4000778816"/>
                    </a:ext>
                  </a:extLst>
                </a:gridCol>
                <a:gridCol w="1411445">
                  <a:extLst>
                    <a:ext uri="{9D8B030D-6E8A-4147-A177-3AD203B41FA5}">
                      <a16:colId xmlns:a16="http://schemas.microsoft.com/office/drawing/2014/main" val="2410038815"/>
                    </a:ext>
                  </a:extLst>
                </a:gridCol>
                <a:gridCol w="1065651">
                  <a:extLst>
                    <a:ext uri="{9D8B030D-6E8A-4147-A177-3AD203B41FA5}">
                      <a16:colId xmlns:a16="http://schemas.microsoft.com/office/drawing/2014/main" val="3836572135"/>
                    </a:ext>
                  </a:extLst>
                </a:gridCol>
              </a:tblGrid>
              <a:tr h="614342">
                <a:tc>
                  <a:txBody>
                    <a:bodyPr/>
                    <a:lstStyle/>
                    <a:p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700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SƠ ĐỒ TỔ CHỨC TRẠM ĐẠI LỘC</a:t>
                      </a:r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hiệu: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SĐTC-DLO-01               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soát xét: </a:t>
                      </a:r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09/00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Trang: 1/1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0885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Soạn thảo: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TP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Thị Thảo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 Trạm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Song Hùng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Thị Kim Liên</a:t>
                      </a:r>
                      <a:endParaRPr lang="en-US" sz="1300"/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GĐĐH Trạm</a:t>
                      </a: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Đức Thắng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PTGĐ SX- CCƯ</a:t>
                      </a:r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Xuân Huy Vũ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1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i="1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 Giám đốc</a:t>
                      </a:r>
                      <a:endParaRPr lang="en-US" sz="1200" i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Huỳnh Ngọc Thạch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41918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153D769-D48F-F85D-5616-95743D06EA83}"/>
              </a:ext>
            </a:extLst>
          </p:cNvPr>
          <p:cNvSpPr/>
          <p:nvPr/>
        </p:nvSpPr>
        <p:spPr>
          <a:xfrm>
            <a:off x="5051255" y="1539661"/>
            <a:ext cx="1831607" cy="5264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GIÁM ĐỐC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Huỳnh Ngọc Thạch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331FC-D3D7-87B6-6DC0-7ECCD73FF2F2}"/>
              </a:ext>
            </a:extLst>
          </p:cNvPr>
          <p:cNvSpPr txBox="1"/>
          <p:nvPr/>
        </p:nvSpPr>
        <p:spPr>
          <a:xfrm>
            <a:off x="5051255" y="3335512"/>
            <a:ext cx="1831607" cy="539315"/>
          </a:xfrm>
          <a:prstGeom prst="rect">
            <a:avLst/>
          </a:prstGeom>
          <a:solidFill>
            <a:srgbClr val="119303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LỘC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GIÁM ĐỐC TRẠM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Lưu Song Hùng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5D12F76-2BD5-9A6F-68BB-D29BCC7A1ED6}"/>
              </a:ext>
            </a:extLst>
          </p:cNvPr>
          <p:cNvSpPr/>
          <p:nvPr/>
        </p:nvSpPr>
        <p:spPr>
          <a:xfrm>
            <a:off x="3323065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QUẢN LÝ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 LƯỢNG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250C52A-44E5-3AB7-9D97-91AF46940E76}"/>
              </a:ext>
            </a:extLst>
          </p:cNvPr>
          <p:cNvSpPr/>
          <p:nvPr/>
        </p:nvSpPr>
        <p:spPr>
          <a:xfrm>
            <a:off x="570248" y="4254953"/>
            <a:ext cx="13639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HÀNH CHÁNH NHÂN SỰ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TP HCNS</a:t>
            </a:r>
          </a:p>
          <a:p>
            <a:pPr algn="ctr" defTabSz="489862"/>
            <a:r>
              <a:rPr lang="en-US" sz="804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Thị Thảo</a:t>
            </a:r>
            <a:endParaRPr lang="vi-VN" sz="804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9E4004-3038-D30B-1FEF-2A38E4A4A069}"/>
              </a:ext>
            </a:extLst>
          </p:cNvPr>
          <p:cNvSpPr/>
          <p:nvPr/>
        </p:nvSpPr>
        <p:spPr>
          <a:xfrm>
            <a:off x="1981494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KỸ THUẬT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9F93FAB-905A-3C60-9E4D-5CD3E6FF1C48}"/>
              </a:ext>
            </a:extLst>
          </p:cNvPr>
          <p:cNvSpPr/>
          <p:nvPr/>
        </p:nvSpPr>
        <p:spPr>
          <a:xfrm>
            <a:off x="10169688" y="4254953"/>
            <a:ext cx="13639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KẾ TOÁN TÀI CHÍNH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 toán trưởng</a:t>
            </a:r>
          </a:p>
          <a:p>
            <a:pPr algn="ctr" defTabSz="489862"/>
            <a:r>
              <a:rPr lang="en-US" sz="804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Thị Hương</a:t>
            </a:r>
            <a:endParaRPr lang="vi-VN" sz="804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B32CB086-2629-5269-B25E-EB789A5E4422}"/>
              </a:ext>
            </a:extLst>
          </p:cNvPr>
          <p:cNvSpPr/>
          <p:nvPr/>
        </p:nvSpPr>
        <p:spPr>
          <a:xfrm>
            <a:off x="4666668" y="4254953"/>
            <a:ext cx="1294285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HSE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ED7892F9-8C52-7D2F-3D37-3BCFF78EBC34}"/>
              </a:ext>
            </a:extLst>
          </p:cNvPr>
          <p:cNvSpPr/>
          <p:nvPr/>
        </p:nvSpPr>
        <p:spPr>
          <a:xfrm>
            <a:off x="7358833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XƯỞNG SẢN XUẤT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QL Sản xuất</a:t>
            </a:r>
          </a:p>
          <a:p>
            <a:pPr algn="ctr" defTabSz="489862"/>
            <a:r>
              <a:rPr lang="en-US" sz="804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Thế Anh</a:t>
            </a:r>
            <a:endParaRPr lang="vi-VN" sz="804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5" name="Table 214">
            <a:extLst>
              <a:ext uri="{FF2B5EF4-FFF2-40B4-BE49-F238E27FC236}">
                <a16:creationId xmlns:a16="http://schemas.microsoft.com/office/drawing/2014/main" id="{FDE63FAD-86FD-36DA-27DA-C01A4D53E0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524429"/>
              </p:ext>
            </p:extLst>
          </p:nvPr>
        </p:nvGraphicFramePr>
        <p:xfrm>
          <a:off x="10190105" y="3277898"/>
          <a:ext cx="1363956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56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- KTTC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KTTC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Hoành Cư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217" name="Table 216">
            <a:extLst>
              <a:ext uri="{FF2B5EF4-FFF2-40B4-BE49-F238E27FC236}">
                <a16:creationId xmlns:a16="http://schemas.microsoft.com/office/drawing/2014/main" id="{AE4B1339-539D-DE17-A3CC-1BB9CEEAC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670357"/>
              </p:ext>
            </p:extLst>
          </p:nvPr>
        </p:nvGraphicFramePr>
        <p:xfrm>
          <a:off x="578035" y="3292489"/>
          <a:ext cx="1363960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60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- HCNS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HCNS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 Thị Kim Liên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27B328C6-035F-B5DF-A1D9-BE8DA64DD3C1}"/>
              </a:ext>
            </a:extLst>
          </p:cNvPr>
          <p:cNvCxnSpPr>
            <a:cxnSpLocks/>
          </p:cNvCxnSpPr>
          <p:nvPr/>
        </p:nvCxnSpPr>
        <p:spPr>
          <a:xfrm flipV="1">
            <a:off x="1352327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4F9179AD-4F45-FED6-F609-EB95A70D0494}"/>
              </a:ext>
            </a:extLst>
          </p:cNvPr>
          <p:cNvSpPr/>
          <p:nvPr/>
        </p:nvSpPr>
        <p:spPr>
          <a:xfrm>
            <a:off x="8832712" y="4254953"/>
            <a:ext cx="1294285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MUA HÀNG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980ACC-5B22-421F-269C-2EFDFF98F7BD}"/>
              </a:ext>
            </a:extLst>
          </p:cNvPr>
          <p:cNvSpPr/>
          <p:nvPr/>
        </p:nvSpPr>
        <p:spPr>
          <a:xfrm>
            <a:off x="6018807" y="4254953"/>
            <a:ext cx="1294283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KHO VẬN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BC6CE7F-BD67-422F-B90A-DCDFD4944D9F}"/>
              </a:ext>
            </a:extLst>
          </p:cNvPr>
          <p:cNvCxnSpPr>
            <a:cxnSpLocks/>
            <a:stCxn id="4" idx="2"/>
            <a:endCxn id="29" idx="0"/>
          </p:cNvCxnSpPr>
          <p:nvPr/>
        </p:nvCxnSpPr>
        <p:spPr>
          <a:xfrm rot="5400000">
            <a:off x="3419581" y="1707475"/>
            <a:ext cx="380126" cy="471483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5D2C22E-74BB-BB5F-3D22-EE66DE67F014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8219301" y="1622585"/>
            <a:ext cx="380126" cy="488461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5E36218-5306-5681-F1AB-79E527CE261C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7533394" y="2308492"/>
            <a:ext cx="380126" cy="351279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C5FC85A-75E2-15EE-C225-5B08A900227E}"/>
              </a:ext>
            </a:extLst>
          </p:cNvPr>
          <p:cNvCxnSpPr>
            <a:cxnSpLocks/>
            <a:stCxn id="4" idx="2"/>
            <a:endCxn id="129" idx="0"/>
          </p:cNvCxnSpPr>
          <p:nvPr/>
        </p:nvCxnSpPr>
        <p:spPr>
          <a:xfrm rot="5400000">
            <a:off x="5450372" y="3738266"/>
            <a:ext cx="380126" cy="65324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E6C4F7B7-4DF0-5646-E943-6809DBCE6039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rot="5400000">
            <a:off x="4778570" y="3066464"/>
            <a:ext cx="380126" cy="199685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4113CF16-AC52-0BD8-FA36-FCFDCD42DCC4}"/>
              </a:ext>
            </a:extLst>
          </p:cNvPr>
          <p:cNvCxnSpPr>
            <a:cxnSpLocks/>
            <a:stCxn id="4" idx="2"/>
            <a:endCxn id="30" idx="0"/>
          </p:cNvCxnSpPr>
          <p:nvPr/>
        </p:nvCxnSpPr>
        <p:spPr>
          <a:xfrm rot="5400000">
            <a:off x="4107785" y="2395679"/>
            <a:ext cx="380126" cy="333842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61EFA42F-C394-7EEF-800C-38D64EC10268}"/>
              </a:ext>
            </a:extLst>
          </p:cNvPr>
          <p:cNvCxnSpPr>
            <a:cxnSpLocks/>
            <a:stCxn id="4" idx="2"/>
            <a:endCxn id="135" idx="0"/>
          </p:cNvCxnSpPr>
          <p:nvPr/>
        </p:nvCxnSpPr>
        <p:spPr>
          <a:xfrm rot="16200000" flipH="1">
            <a:off x="6796454" y="3045432"/>
            <a:ext cx="380126" cy="203891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4E74D6DE-05F9-F12A-047A-FBF279EBD5B3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16200000" flipH="1">
            <a:off x="6126441" y="3715445"/>
            <a:ext cx="380126" cy="6988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F60A484B-07C2-142F-8F18-DF42DD892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692"/>
              </p:ext>
            </p:extLst>
          </p:nvPr>
        </p:nvGraphicFramePr>
        <p:xfrm>
          <a:off x="8848892" y="3277898"/>
          <a:ext cx="1282064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064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Mua hàng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Thu mua NVL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Trần Phước An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CDAC7063-6B97-7EB7-9B74-DD35C60C2C07}"/>
              </a:ext>
            </a:extLst>
          </p:cNvPr>
          <p:cNvSpPr/>
          <p:nvPr/>
        </p:nvSpPr>
        <p:spPr>
          <a:xfrm>
            <a:off x="5051255" y="2120691"/>
            <a:ext cx="1831607" cy="5264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PTGĐ SX – CCƯ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Xuân Huy Vũ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0D403678-6D38-0FD9-8234-1438CFE7F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645583"/>
              </p:ext>
            </p:extLst>
          </p:nvPr>
        </p:nvGraphicFramePr>
        <p:xfrm>
          <a:off x="1992696" y="3292489"/>
          <a:ext cx="1278619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619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Kỹ thuật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Kỹ thuật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Văn Ty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6440D2BB-9E5E-D534-6F0F-E4D8A1ECE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805738"/>
              </p:ext>
            </p:extLst>
          </p:nvPr>
        </p:nvGraphicFramePr>
        <p:xfrm>
          <a:off x="3318403" y="3292489"/>
          <a:ext cx="1294483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483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QLCL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Chất Lượng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Võ Thị Bích Phượng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97B2D2E-03C7-5605-6899-8C051B6B3231}"/>
              </a:ext>
            </a:extLst>
          </p:cNvPr>
          <p:cNvCxnSpPr>
            <a:cxnSpLocks/>
          </p:cNvCxnSpPr>
          <p:nvPr/>
        </p:nvCxnSpPr>
        <p:spPr>
          <a:xfrm flipV="1">
            <a:off x="2732091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1556309-23C3-BE9D-17C3-1F66E7973503}"/>
              </a:ext>
            </a:extLst>
          </p:cNvPr>
          <p:cNvCxnSpPr>
            <a:cxnSpLocks/>
          </p:cNvCxnSpPr>
          <p:nvPr/>
        </p:nvCxnSpPr>
        <p:spPr>
          <a:xfrm flipV="1">
            <a:off x="4054704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EEA3769-3568-7A6A-531F-297442EACC83}"/>
              </a:ext>
            </a:extLst>
          </p:cNvPr>
          <p:cNvCxnSpPr>
            <a:cxnSpLocks/>
          </p:cNvCxnSpPr>
          <p:nvPr/>
        </p:nvCxnSpPr>
        <p:spPr>
          <a:xfrm flipV="1">
            <a:off x="9571567" y="3759852"/>
            <a:ext cx="0" cy="48058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FD91CFA4-FA7F-AE91-2E08-BDF716CD0E09}"/>
              </a:ext>
            </a:extLst>
          </p:cNvPr>
          <p:cNvCxnSpPr>
            <a:cxnSpLocks/>
          </p:cNvCxnSpPr>
          <p:nvPr/>
        </p:nvCxnSpPr>
        <p:spPr>
          <a:xfrm flipV="1">
            <a:off x="10949289" y="3773861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A1BF6452-0CE4-46A7-8FBA-6871E0C311D7}"/>
              </a:ext>
            </a:extLst>
          </p:cNvPr>
          <p:cNvSpPr/>
          <p:nvPr/>
        </p:nvSpPr>
        <p:spPr>
          <a:xfrm>
            <a:off x="10220720" y="4968351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Kế toán tổng hợp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Dương Thị Thùy Linh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0053A01B-A83E-64E8-C2B7-0FC825F7C237}"/>
              </a:ext>
            </a:extLst>
          </p:cNvPr>
          <p:cNvSpPr/>
          <p:nvPr/>
        </p:nvSpPr>
        <p:spPr>
          <a:xfrm>
            <a:off x="10911175" y="4968349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Kế toán thanh toán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Thị Thúy Kiều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AE2020DC-10BE-432F-A798-47EBFAD89805}"/>
              </a:ext>
            </a:extLst>
          </p:cNvPr>
          <p:cNvSpPr/>
          <p:nvPr/>
        </p:nvSpPr>
        <p:spPr>
          <a:xfrm>
            <a:off x="9179222" y="4968348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Mua hàng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Trương Lệ Nga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1D18B8C9-CC9C-A374-428B-FA3CC55FF8F6}"/>
              </a:ext>
            </a:extLst>
          </p:cNvPr>
          <p:cNvSpPr/>
          <p:nvPr/>
        </p:nvSpPr>
        <p:spPr>
          <a:xfrm>
            <a:off x="2328504" y="4968347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Kỹ thuật Bảo trì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Văn Tiến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17DB8F5-A704-BF0C-C59F-20613F81C867}"/>
              </a:ext>
            </a:extLst>
          </p:cNvPr>
          <p:cNvSpPr/>
          <p:nvPr/>
        </p:nvSpPr>
        <p:spPr>
          <a:xfrm>
            <a:off x="6054547" y="4968347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Thủ kho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Hứa Thanh Liêm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EBC9A6-EB88-C15E-D58A-DDDFAB07A1C9}"/>
              </a:ext>
            </a:extLst>
          </p:cNvPr>
          <p:cNvSpPr/>
          <p:nvPr/>
        </p:nvSpPr>
        <p:spPr>
          <a:xfrm>
            <a:off x="7710662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Thống kê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3850F9A-9B32-6530-E4BE-E901FD855159}"/>
              </a:ext>
            </a:extLst>
          </p:cNvPr>
          <p:cNvSpPr/>
          <p:nvPr/>
        </p:nvSpPr>
        <p:spPr>
          <a:xfrm>
            <a:off x="8428624" y="4968345"/>
            <a:ext cx="702413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chuyền PET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Hồng Xuân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Tường Oanh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Rcom Lôi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28E2752-A4C9-D1BC-186B-05A099759B18}"/>
              </a:ext>
            </a:extLst>
          </p:cNvPr>
          <p:cNvSpPr/>
          <p:nvPr/>
        </p:nvSpPr>
        <p:spPr>
          <a:xfrm>
            <a:off x="7035830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chuyền HDPE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Chí Nhân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BACCDF4-F2A8-0092-0770-C7B78D368BD5}"/>
              </a:ext>
            </a:extLst>
          </p:cNvPr>
          <p:cNvSpPr/>
          <p:nvPr/>
        </p:nvSpPr>
        <p:spPr>
          <a:xfrm>
            <a:off x="5348382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HSE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Đình Chiến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212C35B1-8B6B-4EA3-B361-D83AC8E0DF56}"/>
              </a:ext>
            </a:extLst>
          </p:cNvPr>
          <p:cNvSpPr/>
          <p:nvPr/>
        </p:nvSpPr>
        <p:spPr>
          <a:xfrm>
            <a:off x="4678367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Kỹ thuật Nước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Mạnh Định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9399775-B38A-EFAC-B61C-49E16E4C72B9}"/>
              </a:ext>
            </a:extLst>
          </p:cNvPr>
          <p:cNvSpPr/>
          <p:nvPr/>
        </p:nvSpPr>
        <p:spPr>
          <a:xfrm>
            <a:off x="3668494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QLCL</a:t>
            </a:r>
            <a:endParaRPr lang="en-US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Phước Hạnh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F6354596-146F-481D-F266-0C191DF0AD92}"/>
              </a:ext>
            </a:extLst>
          </p:cNvPr>
          <p:cNvCxnSpPr>
            <a:cxnSpLocks/>
            <a:stCxn id="30" idx="2"/>
            <a:endCxn id="120" idx="0"/>
          </p:cNvCxnSpPr>
          <p:nvPr/>
        </p:nvCxnSpPr>
        <p:spPr>
          <a:xfrm rot="5400000">
            <a:off x="2575129" y="4914840"/>
            <a:ext cx="107014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794A5F01-49FD-F7B7-7512-091212362BE5}"/>
              </a:ext>
            </a:extLst>
          </p:cNvPr>
          <p:cNvCxnSpPr>
            <a:cxnSpLocks/>
            <a:stCxn id="26" idx="2"/>
            <a:endCxn id="127" idx="0"/>
          </p:cNvCxnSpPr>
          <p:nvPr/>
        </p:nvCxnSpPr>
        <p:spPr>
          <a:xfrm rot="5400000">
            <a:off x="3915910" y="4914048"/>
            <a:ext cx="107012" cy="158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57A0C54F-36E5-D0D4-C318-0813D805940C}"/>
              </a:ext>
            </a:extLst>
          </p:cNvPr>
          <p:cNvCxnSpPr>
            <a:cxnSpLocks/>
            <a:stCxn id="129" idx="2"/>
            <a:endCxn id="126" idx="0"/>
          </p:cNvCxnSpPr>
          <p:nvPr/>
        </p:nvCxnSpPr>
        <p:spPr>
          <a:xfrm rot="5400000">
            <a:off x="5092649" y="4747183"/>
            <a:ext cx="107012" cy="33531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DBB9D0B0-EA8A-1AE2-7F7D-CF84C969F7A7}"/>
              </a:ext>
            </a:extLst>
          </p:cNvPr>
          <p:cNvCxnSpPr>
            <a:cxnSpLocks/>
            <a:stCxn id="129" idx="2"/>
            <a:endCxn id="125" idx="0"/>
          </p:cNvCxnSpPr>
          <p:nvPr/>
        </p:nvCxnSpPr>
        <p:spPr>
          <a:xfrm rot="16200000" flipH="1">
            <a:off x="5427656" y="4747488"/>
            <a:ext cx="107012" cy="33470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93CB4CFC-EF28-D7CB-42DC-139CCC883432}"/>
              </a:ext>
            </a:extLst>
          </p:cNvPr>
          <p:cNvCxnSpPr>
            <a:cxnSpLocks/>
            <a:stCxn id="135" idx="2"/>
            <a:endCxn id="124" idx="0"/>
          </p:cNvCxnSpPr>
          <p:nvPr/>
        </p:nvCxnSpPr>
        <p:spPr>
          <a:xfrm rot="5400000">
            <a:off x="7617462" y="4579832"/>
            <a:ext cx="107012" cy="67001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555182A8-AD6C-6AF8-BA98-FE912881A4ED}"/>
              </a:ext>
            </a:extLst>
          </p:cNvPr>
          <p:cNvCxnSpPr>
            <a:cxnSpLocks/>
            <a:stCxn id="135" idx="2"/>
            <a:endCxn id="122" idx="0"/>
          </p:cNvCxnSpPr>
          <p:nvPr/>
        </p:nvCxnSpPr>
        <p:spPr>
          <a:xfrm rot="16200000" flipH="1">
            <a:off x="7954878" y="4912430"/>
            <a:ext cx="107012" cy="481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BC544191-6D48-9B22-1C7E-824D246A1622}"/>
              </a:ext>
            </a:extLst>
          </p:cNvPr>
          <p:cNvCxnSpPr>
            <a:cxnSpLocks/>
            <a:stCxn id="135" idx="2"/>
            <a:endCxn id="123" idx="0"/>
          </p:cNvCxnSpPr>
          <p:nvPr/>
        </p:nvCxnSpPr>
        <p:spPr>
          <a:xfrm rot="16200000" flipH="1">
            <a:off x="8339397" y="4527911"/>
            <a:ext cx="107012" cy="77385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BB92352F-7D35-8CE7-E932-6D5BBDF72732}"/>
              </a:ext>
            </a:extLst>
          </p:cNvPr>
          <p:cNvCxnSpPr>
            <a:cxnSpLocks/>
            <a:stCxn id="32" idx="2"/>
            <a:endCxn id="117" idx="0"/>
          </p:cNvCxnSpPr>
          <p:nvPr/>
        </p:nvCxnSpPr>
        <p:spPr>
          <a:xfrm rot="5400000">
            <a:off x="10632751" y="4749433"/>
            <a:ext cx="107018" cy="33081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A8D65562-7D78-37F0-06C4-454FEB0F1813}"/>
              </a:ext>
            </a:extLst>
          </p:cNvPr>
          <p:cNvCxnSpPr>
            <a:cxnSpLocks/>
            <a:stCxn id="32" idx="2"/>
            <a:endCxn id="118" idx="0"/>
          </p:cNvCxnSpPr>
          <p:nvPr/>
        </p:nvCxnSpPr>
        <p:spPr>
          <a:xfrm rot="16200000" flipH="1">
            <a:off x="10977979" y="4735022"/>
            <a:ext cx="107016" cy="35963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C956D55-5353-5809-2CFA-7B12BCC66232}"/>
              </a:ext>
            </a:extLst>
          </p:cNvPr>
          <p:cNvSpPr/>
          <p:nvPr/>
        </p:nvSpPr>
        <p:spPr>
          <a:xfrm>
            <a:off x="940507" y="6161083"/>
            <a:ext cx="627211" cy="60638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Tạp vụ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Mộng Trinh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98A3F96-6E7C-A112-0678-4E11B26938ED}"/>
              </a:ext>
            </a:extLst>
          </p:cNvPr>
          <p:cNvSpPr/>
          <p:nvPr/>
        </p:nvSpPr>
        <p:spPr>
          <a:xfrm>
            <a:off x="4636091" y="6156295"/>
            <a:ext cx="679725" cy="611169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Kỹ thuật nước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 Phát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Quốc Đại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761B37C7-310B-A835-F374-0811292C0E71}"/>
              </a:ext>
            </a:extLst>
          </p:cNvPr>
          <p:cNvSpPr/>
          <p:nvPr/>
        </p:nvSpPr>
        <p:spPr>
          <a:xfrm>
            <a:off x="1605902" y="6165821"/>
            <a:ext cx="679173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Bảo trì Cơ khí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Ngọc Trường,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Dương Phong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87E0F0B-D0B2-2735-421F-D6A15CAB277D}"/>
              </a:ext>
            </a:extLst>
          </p:cNvPr>
          <p:cNvSpPr/>
          <p:nvPr/>
        </p:nvSpPr>
        <p:spPr>
          <a:xfrm>
            <a:off x="2314408" y="6167671"/>
            <a:ext cx="627211" cy="60638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Bảo trì Điện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Phạm Hảo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603E633-3286-BBC9-2F38-8CD3FA7F41F0}"/>
              </a:ext>
            </a:extLst>
          </p:cNvPr>
          <p:cNvSpPr/>
          <p:nvPr/>
        </p:nvSpPr>
        <p:spPr>
          <a:xfrm>
            <a:off x="5697916" y="6156295"/>
            <a:ext cx="627213" cy="611169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Kho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vi-VN" sz="733" b="1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8D43050C-0CFE-6F5C-159F-E59FDC4FE764}"/>
              </a:ext>
            </a:extLst>
          </p:cNvPr>
          <p:cNvSpPr/>
          <p:nvPr/>
        </p:nvSpPr>
        <p:spPr>
          <a:xfrm>
            <a:off x="9628934" y="6167671"/>
            <a:ext cx="6002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Lái xe nâng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Nhựt Tân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Hữu Tài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7026D80-531D-BEE6-ED46-2299EC28C901}"/>
              </a:ext>
            </a:extLst>
          </p:cNvPr>
          <p:cNvSpPr/>
          <p:nvPr/>
        </p:nvSpPr>
        <p:spPr>
          <a:xfrm>
            <a:off x="7689260" y="6167672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Chuyền 1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8032033-DC0B-F241-6E8D-6DF654468A25}"/>
              </a:ext>
            </a:extLst>
          </p:cNvPr>
          <p:cNvSpPr/>
          <p:nvPr/>
        </p:nvSpPr>
        <p:spPr>
          <a:xfrm>
            <a:off x="8334895" y="6167671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Chuyền 2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(7)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C69D9189-9D90-2ECC-01EE-B9A20378E59A}"/>
              </a:ext>
            </a:extLst>
          </p:cNvPr>
          <p:cNvSpPr/>
          <p:nvPr/>
        </p:nvSpPr>
        <p:spPr>
          <a:xfrm>
            <a:off x="7035830" y="6167671"/>
            <a:ext cx="600261" cy="599794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Băm rửa HD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EBB5E24F-C618-F8BB-A904-030207B85BCD}"/>
              </a:ext>
            </a:extLst>
          </p:cNvPr>
          <p:cNvSpPr/>
          <p:nvPr/>
        </p:nvSpPr>
        <p:spPr>
          <a:xfrm>
            <a:off x="6359303" y="6167670"/>
            <a:ext cx="627213" cy="599794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Lái xe nâng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Hồng Sơn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Nhật Nam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FC635E5-A68F-C485-2489-6E17B58ACED7}"/>
              </a:ext>
            </a:extLst>
          </p:cNvPr>
          <p:cNvSpPr/>
          <p:nvPr/>
        </p:nvSpPr>
        <p:spPr>
          <a:xfrm>
            <a:off x="8986764" y="6167668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Vảy PET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8B7C736A-69B6-A65B-5A45-E1628625A7EE}"/>
              </a:ext>
            </a:extLst>
          </p:cNvPr>
          <p:cNvCxnSpPr>
            <a:cxnSpLocks/>
            <a:stCxn id="120" idx="2"/>
            <a:endCxn id="172" idx="0"/>
          </p:cNvCxnSpPr>
          <p:nvPr/>
        </p:nvCxnSpPr>
        <p:spPr>
          <a:xfrm rot="5400000">
            <a:off x="2217388" y="5754573"/>
            <a:ext cx="139349" cy="68314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85FEF7BC-374B-B9BD-B22E-C69CAB8D4E92}"/>
              </a:ext>
            </a:extLst>
          </p:cNvPr>
          <p:cNvCxnSpPr>
            <a:cxnSpLocks/>
            <a:stCxn id="123" idx="2"/>
            <a:endCxn id="175" idx="0"/>
          </p:cNvCxnSpPr>
          <p:nvPr/>
        </p:nvCxnSpPr>
        <p:spPr>
          <a:xfrm rot="16200000" flipH="1">
            <a:off x="9283848" y="5522453"/>
            <a:ext cx="141201" cy="114923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AEBFBC09-7C31-6E0F-88DF-8F53BF477F69}"/>
              </a:ext>
            </a:extLst>
          </p:cNvPr>
          <p:cNvCxnSpPr>
            <a:cxnSpLocks/>
            <a:stCxn id="123" idx="2"/>
            <a:endCxn id="180" idx="0"/>
          </p:cNvCxnSpPr>
          <p:nvPr/>
        </p:nvCxnSpPr>
        <p:spPr>
          <a:xfrm rot="16200000" flipH="1">
            <a:off x="8962764" y="5843537"/>
            <a:ext cx="141198" cy="50706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2673C1A7-F950-40C1-B8E3-1638515FEDDB}"/>
              </a:ext>
            </a:extLst>
          </p:cNvPr>
          <p:cNvCxnSpPr>
            <a:cxnSpLocks/>
            <a:stCxn id="123" idx="2"/>
            <a:endCxn id="176" idx="0"/>
          </p:cNvCxnSpPr>
          <p:nvPr/>
        </p:nvCxnSpPr>
        <p:spPr>
          <a:xfrm rot="5400000">
            <a:off x="8314010" y="5701851"/>
            <a:ext cx="141202" cy="79044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85CB9FCF-7BBB-C4A0-255A-8708917472DA}"/>
              </a:ext>
            </a:extLst>
          </p:cNvPr>
          <p:cNvCxnSpPr>
            <a:cxnSpLocks/>
            <a:stCxn id="123" idx="2"/>
            <a:endCxn id="177" idx="0"/>
          </p:cNvCxnSpPr>
          <p:nvPr/>
        </p:nvCxnSpPr>
        <p:spPr>
          <a:xfrm rot="5400000">
            <a:off x="8636829" y="6024668"/>
            <a:ext cx="141201" cy="14480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825295A7-5958-8FBD-35CE-A0C38CCE1606}"/>
              </a:ext>
            </a:extLst>
          </p:cNvPr>
          <p:cNvCxnSpPr>
            <a:cxnSpLocks/>
            <a:stCxn id="121" idx="2"/>
            <a:endCxn id="174" idx="0"/>
          </p:cNvCxnSpPr>
          <p:nvPr/>
        </p:nvCxnSpPr>
        <p:spPr>
          <a:xfrm rot="5400000">
            <a:off x="6118190" y="5919806"/>
            <a:ext cx="129823" cy="34315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102F90EC-7329-DBA4-8B7C-6A0127FB9BCA}"/>
              </a:ext>
            </a:extLst>
          </p:cNvPr>
          <p:cNvCxnSpPr>
            <a:cxnSpLocks/>
            <a:stCxn id="121" idx="2"/>
            <a:endCxn id="179" idx="0"/>
          </p:cNvCxnSpPr>
          <p:nvPr/>
        </p:nvCxnSpPr>
        <p:spPr>
          <a:xfrm rot="16200000" flipH="1">
            <a:off x="6443195" y="5937955"/>
            <a:ext cx="141198" cy="31823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5A08A8F7-5D82-4DCC-C608-3AA402D977CD}"/>
              </a:ext>
            </a:extLst>
          </p:cNvPr>
          <p:cNvCxnSpPr>
            <a:cxnSpLocks/>
          </p:cNvCxnSpPr>
          <p:nvPr/>
        </p:nvCxnSpPr>
        <p:spPr>
          <a:xfrm flipV="1">
            <a:off x="4968632" y="6019063"/>
            <a:ext cx="0" cy="149072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40CD10BE-B889-DA0A-2AFA-6F081C338682}"/>
              </a:ext>
            </a:extLst>
          </p:cNvPr>
          <p:cNvCxnSpPr>
            <a:cxnSpLocks/>
            <a:stCxn id="178" idx="0"/>
            <a:endCxn id="124" idx="2"/>
          </p:cNvCxnSpPr>
          <p:nvPr/>
        </p:nvCxnSpPr>
        <p:spPr>
          <a:xfrm flipV="1">
            <a:off x="7335961" y="6026470"/>
            <a:ext cx="0" cy="141201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2FDC3A0-8549-244A-40E9-9562128F1E66}"/>
              </a:ext>
            </a:extLst>
          </p:cNvPr>
          <p:cNvCxnSpPr>
            <a:cxnSpLocks/>
          </p:cNvCxnSpPr>
          <p:nvPr/>
        </p:nvCxnSpPr>
        <p:spPr>
          <a:xfrm flipV="1">
            <a:off x="6354677" y="4861331"/>
            <a:ext cx="0" cy="160448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0405E16F-4A35-2488-80F1-2CEB3392AED9}"/>
              </a:ext>
            </a:extLst>
          </p:cNvPr>
          <p:cNvSpPr/>
          <p:nvPr/>
        </p:nvSpPr>
        <p:spPr>
          <a:xfrm>
            <a:off x="372259" y="4956822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HCNS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Hoàng Ngọc Huyền Nhi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5282498D-A933-3644-59FB-96717C76747E}"/>
              </a:ext>
            </a:extLst>
          </p:cNvPr>
          <p:cNvCxnSpPr>
            <a:stCxn id="29" idx="2"/>
            <a:endCxn id="2" idx="0"/>
          </p:cNvCxnSpPr>
          <p:nvPr/>
        </p:nvCxnSpPr>
        <p:spPr>
          <a:xfrm rot="5400000">
            <a:off x="914566" y="4619158"/>
            <a:ext cx="95489" cy="579839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130F648E-18D7-94BA-D0AA-64E62D445519}"/>
              </a:ext>
            </a:extLst>
          </p:cNvPr>
          <p:cNvCxnSpPr>
            <a:cxnSpLocks/>
            <a:stCxn id="29" idx="2"/>
            <a:endCxn id="170" idx="0"/>
          </p:cNvCxnSpPr>
          <p:nvPr/>
        </p:nvCxnSpPr>
        <p:spPr>
          <a:xfrm rot="16200000" flipH="1">
            <a:off x="603296" y="5510266"/>
            <a:ext cx="1299750" cy="1884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7A4477C-8D68-7D5F-D37B-4A6D13D3A853}"/>
              </a:ext>
            </a:extLst>
          </p:cNvPr>
          <p:cNvSpPr/>
          <p:nvPr/>
        </p:nvSpPr>
        <p:spPr>
          <a:xfrm>
            <a:off x="2968844" y="6171111"/>
            <a:ext cx="627211" cy="60294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 Kỹ thuật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Tấn Minh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D420CBA-4A44-8F3E-F401-CFC1884CBA5B}"/>
              </a:ext>
            </a:extLst>
          </p:cNvPr>
          <p:cNvCxnSpPr>
            <a:cxnSpLocks/>
            <a:stCxn id="120" idx="2"/>
            <a:endCxn id="11" idx="0"/>
          </p:cNvCxnSpPr>
          <p:nvPr/>
        </p:nvCxnSpPr>
        <p:spPr>
          <a:xfrm rot="16200000" flipH="1">
            <a:off x="2883223" y="5771883"/>
            <a:ext cx="144639" cy="65381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0E3E57D-5CCD-919D-05D8-46BF71EEC131}"/>
              </a:ext>
            </a:extLst>
          </p:cNvPr>
          <p:cNvSpPr/>
          <p:nvPr/>
        </p:nvSpPr>
        <p:spPr>
          <a:xfrm>
            <a:off x="3655671" y="6165821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QLCL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Thị Dung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F4C141-1FA8-6CF2-733B-9BF6E598FCC5}"/>
              </a:ext>
            </a:extLst>
          </p:cNvPr>
          <p:cNvCxnSpPr>
            <a:cxnSpLocks/>
            <a:stCxn id="127" idx="2"/>
            <a:endCxn id="35" idx="0"/>
          </p:cNvCxnSpPr>
          <p:nvPr/>
        </p:nvCxnSpPr>
        <p:spPr>
          <a:xfrm>
            <a:off x="3968625" y="6026470"/>
            <a:ext cx="652" cy="139351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E0C4D21-F273-E24C-C7EA-90114DE20A71}"/>
              </a:ext>
            </a:extLst>
          </p:cNvPr>
          <p:cNvCxnSpPr>
            <a:cxnSpLocks/>
            <a:stCxn id="120" idx="2"/>
            <a:endCxn id="173" idx="0"/>
          </p:cNvCxnSpPr>
          <p:nvPr/>
        </p:nvCxnSpPr>
        <p:spPr>
          <a:xfrm flipH="1">
            <a:off x="2628014" y="6026472"/>
            <a:ext cx="621" cy="14119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DBDBDAB-7139-A96D-302A-F5A91B46F8B2}"/>
              </a:ext>
            </a:extLst>
          </p:cNvPr>
          <p:cNvCxnSpPr>
            <a:stCxn id="16" idx="2"/>
            <a:endCxn id="119" idx="0"/>
          </p:cNvCxnSpPr>
          <p:nvPr/>
        </p:nvCxnSpPr>
        <p:spPr>
          <a:xfrm flipH="1">
            <a:off x="9479353" y="4861333"/>
            <a:ext cx="502" cy="10701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4C3E1EE2-E47F-7B20-F71D-A291230B5107}"/>
              </a:ext>
            </a:extLst>
          </p:cNvPr>
          <p:cNvSpPr/>
          <p:nvPr/>
        </p:nvSpPr>
        <p:spPr>
          <a:xfrm>
            <a:off x="5050229" y="2702894"/>
            <a:ext cx="1831607" cy="500843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GIÁM ĐỐC ĐIỀU HÀNH TRẠM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Đức Thắng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2B466D-50E5-BC37-4B30-32E60B6EDBD3}"/>
              </a:ext>
            </a:extLst>
          </p:cNvPr>
          <p:cNvCxnSpPr>
            <a:stCxn id="78" idx="0"/>
            <a:endCxn id="78" idx="0"/>
          </p:cNvCxnSpPr>
          <p:nvPr/>
        </p:nvCxnSpPr>
        <p:spPr>
          <a:xfrm>
            <a:off x="5967059" y="212069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93A18F79-0568-90F7-70AE-99CEDBD2B845}"/>
              </a:ext>
            </a:extLst>
          </p:cNvPr>
          <p:cNvCxnSpPr>
            <a:stCxn id="3" idx="2"/>
            <a:endCxn id="78" idx="0"/>
          </p:cNvCxnSpPr>
          <p:nvPr/>
        </p:nvCxnSpPr>
        <p:spPr>
          <a:xfrm>
            <a:off x="5967059" y="2066152"/>
            <a:ext cx="0" cy="5453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5FB9FF2-E86D-0728-40EA-FF8BDC1FDF74}"/>
              </a:ext>
            </a:extLst>
          </p:cNvPr>
          <p:cNvCxnSpPr>
            <a:stCxn id="78" idx="2"/>
            <a:endCxn id="76" idx="0"/>
          </p:cNvCxnSpPr>
          <p:nvPr/>
        </p:nvCxnSpPr>
        <p:spPr>
          <a:xfrm flipH="1">
            <a:off x="5966033" y="2647182"/>
            <a:ext cx="1026" cy="55712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D4378C8-E0F3-D322-376B-EA5006E2549A}"/>
              </a:ext>
            </a:extLst>
          </p:cNvPr>
          <p:cNvCxnSpPr>
            <a:stCxn id="76" idx="2"/>
            <a:endCxn id="4" idx="0"/>
          </p:cNvCxnSpPr>
          <p:nvPr/>
        </p:nvCxnSpPr>
        <p:spPr>
          <a:xfrm>
            <a:off x="5966033" y="3203737"/>
            <a:ext cx="1026" cy="13177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676827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7306C-68C7-F9B7-3D0F-138730EE7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6F4FE32-5391-2D52-EE8A-9980F8B4EA7C}"/>
              </a:ext>
            </a:extLst>
          </p:cNvPr>
          <p:cNvSpPr/>
          <p:nvPr/>
        </p:nvSpPr>
        <p:spPr>
          <a:xfrm>
            <a:off x="5051255" y="1539661"/>
            <a:ext cx="1831607" cy="5264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GIÁM ĐỐC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Huỳnh Ngọc Thạch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6F2BC-D25D-1883-48D3-4DEC8A37805E}"/>
              </a:ext>
            </a:extLst>
          </p:cNvPr>
          <p:cNvSpPr txBox="1"/>
          <p:nvPr/>
        </p:nvSpPr>
        <p:spPr>
          <a:xfrm>
            <a:off x="5051255" y="3335512"/>
            <a:ext cx="1831607" cy="539315"/>
          </a:xfrm>
          <a:prstGeom prst="rect">
            <a:avLst/>
          </a:prstGeom>
          <a:solidFill>
            <a:srgbClr val="119303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KHÁNH NGA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GIÁM ĐỐC TRẠM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An Khang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10DFB00-6C97-C93C-9FDC-48F11714D6C5}"/>
              </a:ext>
            </a:extLst>
          </p:cNvPr>
          <p:cNvSpPr/>
          <p:nvPr/>
        </p:nvSpPr>
        <p:spPr>
          <a:xfrm>
            <a:off x="3323065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QUẢN LÝ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 LƯỢNG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A06033-40D5-9554-097F-2A81669051C4}"/>
              </a:ext>
            </a:extLst>
          </p:cNvPr>
          <p:cNvSpPr/>
          <p:nvPr/>
        </p:nvSpPr>
        <p:spPr>
          <a:xfrm>
            <a:off x="570248" y="4254953"/>
            <a:ext cx="13639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HÀNH CHÁNH NHÂN SỰ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FC99C9-6553-F069-C352-B86C274A1844}"/>
              </a:ext>
            </a:extLst>
          </p:cNvPr>
          <p:cNvSpPr/>
          <p:nvPr/>
        </p:nvSpPr>
        <p:spPr>
          <a:xfrm>
            <a:off x="1981494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KỸ THUẬT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0BD8EC9-0405-4377-FA79-C226BDECB73E}"/>
              </a:ext>
            </a:extLst>
          </p:cNvPr>
          <p:cNvSpPr/>
          <p:nvPr/>
        </p:nvSpPr>
        <p:spPr>
          <a:xfrm>
            <a:off x="10169688" y="4254953"/>
            <a:ext cx="13639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KẾ TOÁN TÀI CHÍNH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 toán trưởng</a:t>
            </a:r>
          </a:p>
          <a:p>
            <a:pPr algn="ctr" defTabSz="489862"/>
            <a:r>
              <a:rPr lang="en-US" sz="804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Thị Cẩm Hằng</a:t>
            </a:r>
            <a:endParaRPr lang="vi-VN" sz="804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C5070D5D-F026-1D6F-AC02-9D5D6D6B3B15}"/>
              </a:ext>
            </a:extLst>
          </p:cNvPr>
          <p:cNvSpPr/>
          <p:nvPr/>
        </p:nvSpPr>
        <p:spPr>
          <a:xfrm>
            <a:off x="4666668" y="4254953"/>
            <a:ext cx="1294285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HSE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3A820670-A95C-F373-67E1-7985F8D3ECFB}"/>
              </a:ext>
            </a:extLst>
          </p:cNvPr>
          <p:cNvSpPr/>
          <p:nvPr/>
        </p:nvSpPr>
        <p:spPr>
          <a:xfrm>
            <a:off x="7358833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XƯỞNG SẢN XUẤT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QL Sản xuất</a:t>
            </a:r>
          </a:p>
          <a:p>
            <a:pPr algn="ctr" defTabSz="489862"/>
            <a:r>
              <a:rPr lang="en-US" sz="804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Vương Hùng Duy</a:t>
            </a:r>
            <a:endParaRPr lang="vi-VN" sz="804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15" name="Table 214">
            <a:extLst>
              <a:ext uri="{FF2B5EF4-FFF2-40B4-BE49-F238E27FC236}">
                <a16:creationId xmlns:a16="http://schemas.microsoft.com/office/drawing/2014/main" id="{C5A5B583-5683-3D55-CFB4-F65B613D6F30}"/>
              </a:ext>
            </a:extLst>
          </p:cNvPr>
          <p:cNvGraphicFramePr>
            <a:graphicFrameLocks noGrp="1"/>
          </p:cNvGraphicFramePr>
          <p:nvPr/>
        </p:nvGraphicFramePr>
        <p:xfrm>
          <a:off x="10190105" y="3277898"/>
          <a:ext cx="1363956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56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- KTTC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KTTC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Hoành Cư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217" name="Table 216">
            <a:extLst>
              <a:ext uri="{FF2B5EF4-FFF2-40B4-BE49-F238E27FC236}">
                <a16:creationId xmlns:a16="http://schemas.microsoft.com/office/drawing/2014/main" id="{0F72EA51-B0BD-D7F4-140E-5BD95FCA86F4}"/>
              </a:ext>
            </a:extLst>
          </p:cNvPr>
          <p:cNvGraphicFramePr>
            <a:graphicFrameLocks noGrp="1"/>
          </p:cNvGraphicFramePr>
          <p:nvPr/>
        </p:nvGraphicFramePr>
        <p:xfrm>
          <a:off x="578035" y="3292489"/>
          <a:ext cx="1363960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60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- HCNS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HCNS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 Thị Kim Liên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D78BA6B9-4D31-062F-67A3-CFF70543093A}"/>
              </a:ext>
            </a:extLst>
          </p:cNvPr>
          <p:cNvCxnSpPr>
            <a:cxnSpLocks/>
          </p:cNvCxnSpPr>
          <p:nvPr/>
        </p:nvCxnSpPr>
        <p:spPr>
          <a:xfrm flipV="1">
            <a:off x="1352327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1C6FE3D-6AE5-3E3A-78DE-80BF6C48A9B9}"/>
              </a:ext>
            </a:extLst>
          </p:cNvPr>
          <p:cNvSpPr/>
          <p:nvPr/>
        </p:nvSpPr>
        <p:spPr>
          <a:xfrm>
            <a:off x="8832712" y="4254953"/>
            <a:ext cx="1294285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MUA HÀNG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3F012-33C2-C247-FBAA-9BE4E3830D11}"/>
              </a:ext>
            </a:extLst>
          </p:cNvPr>
          <p:cNvSpPr/>
          <p:nvPr/>
        </p:nvSpPr>
        <p:spPr>
          <a:xfrm>
            <a:off x="6018807" y="4254953"/>
            <a:ext cx="1294283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KHO VẬN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37F5A735-2D7E-F8B8-67F9-D9081C11528C}"/>
              </a:ext>
            </a:extLst>
          </p:cNvPr>
          <p:cNvCxnSpPr>
            <a:cxnSpLocks/>
            <a:stCxn id="4" idx="2"/>
            <a:endCxn id="29" idx="0"/>
          </p:cNvCxnSpPr>
          <p:nvPr/>
        </p:nvCxnSpPr>
        <p:spPr>
          <a:xfrm rot="5400000">
            <a:off x="3419581" y="1707475"/>
            <a:ext cx="380126" cy="471483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F9A8D55-ADC8-1655-0796-FE9B2F950650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8219301" y="1622585"/>
            <a:ext cx="380126" cy="488461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E7D22900-1E56-0AFA-6C16-414683911CCC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7533394" y="2308492"/>
            <a:ext cx="380126" cy="351279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3DC7615C-BAD4-035A-2E0D-2074E06A1D9F}"/>
              </a:ext>
            </a:extLst>
          </p:cNvPr>
          <p:cNvCxnSpPr>
            <a:cxnSpLocks/>
            <a:stCxn id="4" idx="2"/>
            <a:endCxn id="129" idx="0"/>
          </p:cNvCxnSpPr>
          <p:nvPr/>
        </p:nvCxnSpPr>
        <p:spPr>
          <a:xfrm rot="5400000">
            <a:off x="5450372" y="3738266"/>
            <a:ext cx="380126" cy="65324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5BF5F575-5C44-7CE4-9D57-B244D14E7FCD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rot="5400000">
            <a:off x="4778570" y="3066464"/>
            <a:ext cx="380126" cy="199685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516B3352-3D02-37BA-7507-B0C0B23233BB}"/>
              </a:ext>
            </a:extLst>
          </p:cNvPr>
          <p:cNvCxnSpPr>
            <a:cxnSpLocks/>
            <a:stCxn id="4" idx="2"/>
            <a:endCxn id="30" idx="0"/>
          </p:cNvCxnSpPr>
          <p:nvPr/>
        </p:nvCxnSpPr>
        <p:spPr>
          <a:xfrm rot="5400000">
            <a:off x="4107785" y="2395679"/>
            <a:ext cx="380126" cy="333842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B7534B6B-7E22-993C-CC37-C02436CCE8FA}"/>
              </a:ext>
            </a:extLst>
          </p:cNvPr>
          <p:cNvCxnSpPr>
            <a:cxnSpLocks/>
            <a:stCxn id="4" idx="2"/>
            <a:endCxn id="135" idx="0"/>
          </p:cNvCxnSpPr>
          <p:nvPr/>
        </p:nvCxnSpPr>
        <p:spPr>
          <a:xfrm rot="16200000" flipH="1">
            <a:off x="6796454" y="3045432"/>
            <a:ext cx="380126" cy="203891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A53B6204-B1DE-7E7E-62A7-88CDBB140918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16200000" flipH="1">
            <a:off x="6126441" y="3715445"/>
            <a:ext cx="380126" cy="6988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2A2E0126-1E01-267C-7BC1-9D1E972585E4}"/>
              </a:ext>
            </a:extLst>
          </p:cNvPr>
          <p:cNvGraphicFramePr>
            <a:graphicFrameLocks noGrp="1"/>
          </p:cNvGraphicFramePr>
          <p:nvPr/>
        </p:nvGraphicFramePr>
        <p:xfrm>
          <a:off x="8848892" y="3277898"/>
          <a:ext cx="1282064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064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Mua hàng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Thu mua NVL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Trần Phước An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D2689805-3597-9945-E5F6-A3FDE1EBB218}"/>
              </a:ext>
            </a:extLst>
          </p:cNvPr>
          <p:cNvSpPr/>
          <p:nvPr/>
        </p:nvSpPr>
        <p:spPr>
          <a:xfrm>
            <a:off x="5051255" y="2120691"/>
            <a:ext cx="1831607" cy="5264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PTGĐ SX – CCƯ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Xuân Huy Vũ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3E737650-86F2-D8B8-BA69-1BA3788D59AA}"/>
              </a:ext>
            </a:extLst>
          </p:cNvPr>
          <p:cNvGraphicFramePr>
            <a:graphicFrameLocks noGrp="1"/>
          </p:cNvGraphicFramePr>
          <p:nvPr/>
        </p:nvGraphicFramePr>
        <p:xfrm>
          <a:off x="1992696" y="3292489"/>
          <a:ext cx="1278619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619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Kỹ thuật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Kỹ thuật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Văn Ty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2D128338-5D19-8CF7-3FFC-6D42A343F63F}"/>
              </a:ext>
            </a:extLst>
          </p:cNvPr>
          <p:cNvGraphicFramePr>
            <a:graphicFrameLocks noGrp="1"/>
          </p:cNvGraphicFramePr>
          <p:nvPr/>
        </p:nvGraphicFramePr>
        <p:xfrm>
          <a:off x="3318403" y="3292489"/>
          <a:ext cx="1294483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483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QLCL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Chất Lượng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Võ Thị Bích Phượng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6281158B-14A1-B57A-BF46-651ED9B46CAC}"/>
              </a:ext>
            </a:extLst>
          </p:cNvPr>
          <p:cNvCxnSpPr>
            <a:cxnSpLocks/>
          </p:cNvCxnSpPr>
          <p:nvPr/>
        </p:nvCxnSpPr>
        <p:spPr>
          <a:xfrm flipV="1">
            <a:off x="2732091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F72E307F-4AAE-ED9F-0B41-482367520406}"/>
              </a:ext>
            </a:extLst>
          </p:cNvPr>
          <p:cNvCxnSpPr>
            <a:cxnSpLocks/>
          </p:cNvCxnSpPr>
          <p:nvPr/>
        </p:nvCxnSpPr>
        <p:spPr>
          <a:xfrm flipV="1">
            <a:off x="4054704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510AE14-B874-87B2-D7B5-5BA25803B687}"/>
              </a:ext>
            </a:extLst>
          </p:cNvPr>
          <p:cNvCxnSpPr>
            <a:cxnSpLocks/>
          </p:cNvCxnSpPr>
          <p:nvPr/>
        </p:nvCxnSpPr>
        <p:spPr>
          <a:xfrm flipV="1">
            <a:off x="9571567" y="3759852"/>
            <a:ext cx="0" cy="48058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48FAF5A3-3738-7B79-B3B7-9A99229DB516}"/>
              </a:ext>
            </a:extLst>
          </p:cNvPr>
          <p:cNvCxnSpPr>
            <a:cxnSpLocks/>
          </p:cNvCxnSpPr>
          <p:nvPr/>
        </p:nvCxnSpPr>
        <p:spPr>
          <a:xfrm flipV="1">
            <a:off x="10949289" y="3773861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6BCAF8FA-EF52-FB2E-6B29-DA9B895F8BAF}"/>
              </a:ext>
            </a:extLst>
          </p:cNvPr>
          <p:cNvSpPr/>
          <p:nvPr/>
        </p:nvSpPr>
        <p:spPr>
          <a:xfrm>
            <a:off x="10220720" y="4968351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Kế toán tổng hợp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Thị Trúc Linh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583C2B1F-55A1-C379-D2F9-E2C0937454EB}"/>
              </a:ext>
            </a:extLst>
          </p:cNvPr>
          <p:cNvSpPr/>
          <p:nvPr/>
        </p:nvSpPr>
        <p:spPr>
          <a:xfrm>
            <a:off x="10911175" y="4968349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Kế toán </a:t>
            </a:r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Dương Thị Kim Loan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54231B1-03F4-01AE-47B0-8FC84509EACE}"/>
              </a:ext>
            </a:extLst>
          </p:cNvPr>
          <p:cNvSpPr/>
          <p:nvPr/>
        </p:nvSpPr>
        <p:spPr>
          <a:xfrm>
            <a:off x="9179222" y="4968348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Mua hàng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Thị Ngọc Bích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87C6CF4-A877-F0DA-F391-1E59B5676B2C}"/>
              </a:ext>
            </a:extLst>
          </p:cNvPr>
          <p:cNvSpPr/>
          <p:nvPr/>
        </p:nvSpPr>
        <p:spPr>
          <a:xfrm>
            <a:off x="2328504" y="4968347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Kỹ thuật Bảo trì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Tấn Lộc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459CE9C-F1BB-D193-3576-FCC7313BA31A}"/>
              </a:ext>
            </a:extLst>
          </p:cNvPr>
          <p:cNvSpPr/>
          <p:nvPr/>
        </p:nvSpPr>
        <p:spPr>
          <a:xfrm>
            <a:off x="6054547" y="4968347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Thủ kho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Việt Duy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80025CD-DF3B-E579-E153-38522C26556D}"/>
              </a:ext>
            </a:extLst>
          </p:cNvPr>
          <p:cNvSpPr/>
          <p:nvPr/>
        </p:nvSpPr>
        <p:spPr>
          <a:xfrm>
            <a:off x="7704312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Thống kê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Văn Hậu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4DCA1D8-2D21-72D1-21FB-FB61FFBD5E9E}"/>
              </a:ext>
            </a:extLst>
          </p:cNvPr>
          <p:cNvSpPr/>
          <p:nvPr/>
        </p:nvSpPr>
        <p:spPr>
          <a:xfrm>
            <a:off x="8428624" y="4968345"/>
            <a:ext cx="702413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chuyền PET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Huỳnh Thị Mỹ Nhân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91F49167-9EA0-2158-646E-50B042BED75C}"/>
              </a:ext>
            </a:extLst>
          </p:cNvPr>
          <p:cNvSpPr/>
          <p:nvPr/>
        </p:nvSpPr>
        <p:spPr>
          <a:xfrm>
            <a:off x="7035830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chuyền HDPE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E4C229D-E818-C7AE-6B99-B8B9186A5866}"/>
              </a:ext>
            </a:extLst>
          </p:cNvPr>
          <p:cNvSpPr/>
          <p:nvPr/>
        </p:nvSpPr>
        <p:spPr>
          <a:xfrm>
            <a:off x="5010926" y="496199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HSE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3A069365-87AB-E2B9-F25B-D50ACD01C342}"/>
              </a:ext>
            </a:extLst>
          </p:cNvPr>
          <p:cNvSpPr/>
          <p:nvPr/>
        </p:nvSpPr>
        <p:spPr>
          <a:xfrm>
            <a:off x="3668494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 trưởng QLCL</a:t>
            </a:r>
            <a:endParaRPr lang="en-US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Thanh Minh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B99153E4-B420-DB66-0AAA-D1C965C26FD2}"/>
              </a:ext>
            </a:extLst>
          </p:cNvPr>
          <p:cNvCxnSpPr>
            <a:cxnSpLocks/>
            <a:stCxn id="30" idx="2"/>
            <a:endCxn id="120" idx="0"/>
          </p:cNvCxnSpPr>
          <p:nvPr/>
        </p:nvCxnSpPr>
        <p:spPr>
          <a:xfrm rot="5400000">
            <a:off x="2575129" y="4914840"/>
            <a:ext cx="107014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3707B056-B23C-C9F7-347B-6F848539DBEF}"/>
              </a:ext>
            </a:extLst>
          </p:cNvPr>
          <p:cNvCxnSpPr>
            <a:cxnSpLocks/>
            <a:stCxn id="26" idx="2"/>
            <a:endCxn id="127" idx="0"/>
          </p:cNvCxnSpPr>
          <p:nvPr/>
        </p:nvCxnSpPr>
        <p:spPr>
          <a:xfrm rot="5400000">
            <a:off x="3915910" y="4914048"/>
            <a:ext cx="107012" cy="158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Elbow 141">
            <a:extLst>
              <a:ext uri="{FF2B5EF4-FFF2-40B4-BE49-F238E27FC236}">
                <a16:creationId xmlns:a16="http://schemas.microsoft.com/office/drawing/2014/main" id="{61C68054-F380-3ABA-7175-2B793A7866CB}"/>
              </a:ext>
            </a:extLst>
          </p:cNvPr>
          <p:cNvCxnSpPr>
            <a:cxnSpLocks/>
            <a:stCxn id="129" idx="2"/>
            <a:endCxn id="125" idx="0"/>
          </p:cNvCxnSpPr>
          <p:nvPr/>
        </p:nvCxnSpPr>
        <p:spPr>
          <a:xfrm rot="5400000">
            <a:off x="5262103" y="4910287"/>
            <a:ext cx="100662" cy="275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: Elbow 148">
            <a:extLst>
              <a:ext uri="{FF2B5EF4-FFF2-40B4-BE49-F238E27FC236}">
                <a16:creationId xmlns:a16="http://schemas.microsoft.com/office/drawing/2014/main" id="{CAFF8658-CA9F-CEA2-BB04-9EFF34367948}"/>
              </a:ext>
            </a:extLst>
          </p:cNvPr>
          <p:cNvCxnSpPr>
            <a:cxnSpLocks/>
            <a:stCxn id="135" idx="2"/>
            <a:endCxn id="124" idx="0"/>
          </p:cNvCxnSpPr>
          <p:nvPr/>
        </p:nvCxnSpPr>
        <p:spPr>
          <a:xfrm rot="5400000">
            <a:off x="7617462" y="4579832"/>
            <a:ext cx="107012" cy="67001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87B708B6-2B77-299B-FA09-108D552340F7}"/>
              </a:ext>
            </a:extLst>
          </p:cNvPr>
          <p:cNvCxnSpPr>
            <a:cxnSpLocks/>
            <a:stCxn id="135" idx="2"/>
            <a:endCxn id="122" idx="0"/>
          </p:cNvCxnSpPr>
          <p:nvPr/>
        </p:nvCxnSpPr>
        <p:spPr>
          <a:xfrm rot="5400000">
            <a:off x="7951703" y="4914073"/>
            <a:ext cx="107012" cy="153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C9F5B9C7-9C26-5AA3-E22E-3B58B86EBCB7}"/>
              </a:ext>
            </a:extLst>
          </p:cNvPr>
          <p:cNvCxnSpPr>
            <a:cxnSpLocks/>
            <a:stCxn id="135" idx="2"/>
            <a:endCxn id="123" idx="0"/>
          </p:cNvCxnSpPr>
          <p:nvPr/>
        </p:nvCxnSpPr>
        <p:spPr>
          <a:xfrm rot="16200000" flipH="1">
            <a:off x="8339397" y="4527911"/>
            <a:ext cx="107012" cy="77385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5849D05F-B75A-4ED8-AFC6-B1AE04FF9C08}"/>
              </a:ext>
            </a:extLst>
          </p:cNvPr>
          <p:cNvCxnSpPr>
            <a:cxnSpLocks/>
            <a:stCxn id="32" idx="2"/>
            <a:endCxn id="117" idx="0"/>
          </p:cNvCxnSpPr>
          <p:nvPr/>
        </p:nvCxnSpPr>
        <p:spPr>
          <a:xfrm rot="5400000">
            <a:off x="10632751" y="4749433"/>
            <a:ext cx="107018" cy="33081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709E7927-6359-EB60-B319-06082FAC6C43}"/>
              </a:ext>
            </a:extLst>
          </p:cNvPr>
          <p:cNvCxnSpPr>
            <a:cxnSpLocks/>
            <a:stCxn id="32" idx="2"/>
            <a:endCxn id="118" idx="0"/>
          </p:cNvCxnSpPr>
          <p:nvPr/>
        </p:nvCxnSpPr>
        <p:spPr>
          <a:xfrm rot="16200000" flipH="1">
            <a:off x="10977979" y="4735022"/>
            <a:ext cx="107016" cy="35963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0A0C597-8C8A-90D7-88A7-0416D086D2E8}"/>
              </a:ext>
            </a:extLst>
          </p:cNvPr>
          <p:cNvSpPr/>
          <p:nvPr/>
        </p:nvSpPr>
        <p:spPr>
          <a:xfrm>
            <a:off x="940507" y="6161083"/>
            <a:ext cx="627211" cy="60638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Tạp vụ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Trần Thị Thanh Bình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17082160-ACAC-D2B7-06EF-E20C18DB088F}"/>
              </a:ext>
            </a:extLst>
          </p:cNvPr>
          <p:cNvSpPr/>
          <p:nvPr/>
        </p:nvSpPr>
        <p:spPr>
          <a:xfrm>
            <a:off x="1605902" y="6165821"/>
            <a:ext cx="679173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Bảo trì Cơ khí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Khánh Văn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1E847C1-E317-2E87-8FFB-E3D7F74148D8}"/>
              </a:ext>
            </a:extLst>
          </p:cNvPr>
          <p:cNvSpPr/>
          <p:nvPr/>
        </p:nvSpPr>
        <p:spPr>
          <a:xfrm>
            <a:off x="2314408" y="6167671"/>
            <a:ext cx="627211" cy="60638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Bảo trì Điện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7D50ECF4-72D3-BB2A-E9FC-73A294717A65}"/>
              </a:ext>
            </a:extLst>
          </p:cNvPr>
          <p:cNvSpPr/>
          <p:nvPr/>
        </p:nvSpPr>
        <p:spPr>
          <a:xfrm>
            <a:off x="5697916" y="6156295"/>
            <a:ext cx="627213" cy="611169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Kho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vi-VN" sz="733" b="1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947CF326-17C6-F162-AFB1-44FF14342596}"/>
              </a:ext>
            </a:extLst>
          </p:cNvPr>
          <p:cNvSpPr/>
          <p:nvPr/>
        </p:nvSpPr>
        <p:spPr>
          <a:xfrm>
            <a:off x="9628934" y="6167671"/>
            <a:ext cx="6002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Lái xe nâng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Văn Bá Quang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F8CC743F-3750-D144-8239-9D1A6C0782DF}"/>
              </a:ext>
            </a:extLst>
          </p:cNvPr>
          <p:cNvSpPr/>
          <p:nvPr/>
        </p:nvSpPr>
        <p:spPr>
          <a:xfrm>
            <a:off x="7689260" y="6167672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Chuyền 1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(12)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46D843B-17F2-9FB5-0AE5-790B580591C0}"/>
              </a:ext>
            </a:extLst>
          </p:cNvPr>
          <p:cNvSpPr/>
          <p:nvPr/>
        </p:nvSpPr>
        <p:spPr>
          <a:xfrm>
            <a:off x="8334895" y="6167671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Chuyền 2</a:t>
            </a:r>
          </a:p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(12)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022B487-38CD-1685-42A2-910ED07CB8B6}"/>
              </a:ext>
            </a:extLst>
          </p:cNvPr>
          <p:cNvSpPr/>
          <p:nvPr/>
        </p:nvSpPr>
        <p:spPr>
          <a:xfrm>
            <a:off x="7035830" y="6167671"/>
            <a:ext cx="600261" cy="599794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Băm rửa HD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cs typeface="Arial" panose="020B060402020202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D45A526-7EB1-1651-EB4E-47F4A495A4A0}"/>
              </a:ext>
            </a:extLst>
          </p:cNvPr>
          <p:cNvSpPr/>
          <p:nvPr/>
        </p:nvSpPr>
        <p:spPr>
          <a:xfrm>
            <a:off x="6359303" y="6167670"/>
            <a:ext cx="627213" cy="599794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Lái xe nâng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Hoàng Chí Linh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300A895B-38F4-7BF0-A7A0-F34C5DCB707F}"/>
              </a:ext>
            </a:extLst>
          </p:cNvPr>
          <p:cNvSpPr/>
          <p:nvPr/>
        </p:nvSpPr>
        <p:spPr>
          <a:xfrm>
            <a:off x="8986764" y="6167668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Công nhân Vảy PET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cs typeface="Arial" panose="020B0604020202020204" pitchFamily="34" charset="0"/>
            </a:endParaRPr>
          </a:p>
        </p:txBody>
      </p: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18FCDE72-7C1B-DC49-4B71-89467476010C}"/>
              </a:ext>
            </a:extLst>
          </p:cNvPr>
          <p:cNvCxnSpPr>
            <a:cxnSpLocks/>
            <a:stCxn id="120" idx="2"/>
            <a:endCxn id="172" idx="0"/>
          </p:cNvCxnSpPr>
          <p:nvPr/>
        </p:nvCxnSpPr>
        <p:spPr>
          <a:xfrm rot="5400000">
            <a:off x="2217388" y="5754573"/>
            <a:ext cx="139349" cy="68314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B8839A38-7186-3D90-424A-C28BA4B78F5F}"/>
              </a:ext>
            </a:extLst>
          </p:cNvPr>
          <p:cNvCxnSpPr>
            <a:cxnSpLocks/>
            <a:stCxn id="123" idx="2"/>
            <a:endCxn id="175" idx="0"/>
          </p:cNvCxnSpPr>
          <p:nvPr/>
        </p:nvCxnSpPr>
        <p:spPr>
          <a:xfrm rot="16200000" flipH="1">
            <a:off x="9283848" y="5522453"/>
            <a:ext cx="141201" cy="114923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1489E9A0-F21A-BA40-DB33-325FCA9B5D79}"/>
              </a:ext>
            </a:extLst>
          </p:cNvPr>
          <p:cNvCxnSpPr>
            <a:cxnSpLocks/>
            <a:stCxn id="123" idx="2"/>
            <a:endCxn id="180" idx="0"/>
          </p:cNvCxnSpPr>
          <p:nvPr/>
        </p:nvCxnSpPr>
        <p:spPr>
          <a:xfrm rot="16200000" flipH="1">
            <a:off x="8962764" y="5843537"/>
            <a:ext cx="141198" cy="50706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E95F69BD-C68A-2C07-F623-F392592C1B0D}"/>
              </a:ext>
            </a:extLst>
          </p:cNvPr>
          <p:cNvCxnSpPr>
            <a:cxnSpLocks/>
            <a:stCxn id="123" idx="2"/>
            <a:endCxn id="176" idx="0"/>
          </p:cNvCxnSpPr>
          <p:nvPr/>
        </p:nvCxnSpPr>
        <p:spPr>
          <a:xfrm rot="5400000">
            <a:off x="8314010" y="5701851"/>
            <a:ext cx="141202" cy="79044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D707C827-0BB5-A5E7-A183-01A225E417CF}"/>
              </a:ext>
            </a:extLst>
          </p:cNvPr>
          <p:cNvCxnSpPr>
            <a:cxnSpLocks/>
            <a:stCxn id="123" idx="2"/>
            <a:endCxn id="177" idx="0"/>
          </p:cNvCxnSpPr>
          <p:nvPr/>
        </p:nvCxnSpPr>
        <p:spPr>
          <a:xfrm rot="5400000">
            <a:off x="8636829" y="6024668"/>
            <a:ext cx="141201" cy="14480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2E6F726A-7E43-488F-A36E-1ECEAC71EB81}"/>
              </a:ext>
            </a:extLst>
          </p:cNvPr>
          <p:cNvCxnSpPr>
            <a:cxnSpLocks/>
            <a:stCxn id="121" idx="2"/>
            <a:endCxn id="174" idx="0"/>
          </p:cNvCxnSpPr>
          <p:nvPr/>
        </p:nvCxnSpPr>
        <p:spPr>
          <a:xfrm rot="5400000">
            <a:off x="6118190" y="5919806"/>
            <a:ext cx="129823" cy="34315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899F633D-47BE-51ED-B422-473B4E95AAE4}"/>
              </a:ext>
            </a:extLst>
          </p:cNvPr>
          <p:cNvCxnSpPr>
            <a:cxnSpLocks/>
            <a:stCxn id="121" idx="2"/>
            <a:endCxn id="179" idx="0"/>
          </p:cNvCxnSpPr>
          <p:nvPr/>
        </p:nvCxnSpPr>
        <p:spPr>
          <a:xfrm rot="16200000" flipH="1">
            <a:off x="6443195" y="5937955"/>
            <a:ext cx="141198" cy="318232"/>
          </a:xfrm>
          <a:prstGeom prst="bentConnector3">
            <a:avLst>
              <a:gd name="adj1" fmla="val 45503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E6009DFF-9B84-8864-598C-7009F7DA0D63}"/>
              </a:ext>
            </a:extLst>
          </p:cNvPr>
          <p:cNvCxnSpPr>
            <a:cxnSpLocks/>
            <a:stCxn id="178" idx="0"/>
            <a:endCxn id="124" idx="2"/>
          </p:cNvCxnSpPr>
          <p:nvPr/>
        </p:nvCxnSpPr>
        <p:spPr>
          <a:xfrm flipV="1">
            <a:off x="7335961" y="6026470"/>
            <a:ext cx="0" cy="141201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72542A5E-AA2B-05C7-16DA-D38C85DF3134}"/>
              </a:ext>
            </a:extLst>
          </p:cNvPr>
          <p:cNvCxnSpPr>
            <a:cxnSpLocks/>
            <a:stCxn id="121" idx="0"/>
          </p:cNvCxnSpPr>
          <p:nvPr/>
        </p:nvCxnSpPr>
        <p:spPr>
          <a:xfrm flipH="1" flipV="1">
            <a:off x="6354677" y="4861331"/>
            <a:ext cx="1" cy="107016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F6EC49E-3725-F661-DC65-9DDF4C0F0990}"/>
              </a:ext>
            </a:extLst>
          </p:cNvPr>
          <p:cNvSpPr/>
          <p:nvPr/>
        </p:nvSpPr>
        <p:spPr>
          <a:xfrm>
            <a:off x="372259" y="4956822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HCNS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Thị Phương Thảo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D2A20B3B-2FD6-2B15-C581-EB3FC0860A0D}"/>
              </a:ext>
            </a:extLst>
          </p:cNvPr>
          <p:cNvCxnSpPr>
            <a:stCxn id="29" idx="2"/>
            <a:endCxn id="2" idx="0"/>
          </p:cNvCxnSpPr>
          <p:nvPr/>
        </p:nvCxnSpPr>
        <p:spPr>
          <a:xfrm rot="5400000">
            <a:off x="914566" y="4619158"/>
            <a:ext cx="95489" cy="579839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6C40832-AA39-EC53-857B-99F6786F1B20}"/>
              </a:ext>
            </a:extLst>
          </p:cNvPr>
          <p:cNvCxnSpPr>
            <a:cxnSpLocks/>
            <a:stCxn id="29" idx="2"/>
            <a:endCxn id="170" idx="0"/>
          </p:cNvCxnSpPr>
          <p:nvPr/>
        </p:nvCxnSpPr>
        <p:spPr>
          <a:xfrm rot="16200000" flipH="1">
            <a:off x="603296" y="5510266"/>
            <a:ext cx="1299750" cy="1884"/>
          </a:xfrm>
          <a:prstGeom prst="bentConnector3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B904AC0-EFB5-18BE-BAF2-731FD4A95A37}"/>
              </a:ext>
            </a:extLst>
          </p:cNvPr>
          <p:cNvSpPr/>
          <p:nvPr/>
        </p:nvSpPr>
        <p:spPr>
          <a:xfrm>
            <a:off x="2968844" y="6171111"/>
            <a:ext cx="627211" cy="60294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CV Kỹ thuật</a:t>
            </a:r>
          </a:p>
          <a:p>
            <a:pPr algn="ctr" defTabSz="489862"/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(Khuyết)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19D4980-BB12-FC23-1142-601E9442BDA6}"/>
              </a:ext>
            </a:extLst>
          </p:cNvPr>
          <p:cNvCxnSpPr>
            <a:cxnSpLocks/>
            <a:stCxn id="120" idx="2"/>
            <a:endCxn id="11" idx="0"/>
          </p:cNvCxnSpPr>
          <p:nvPr/>
        </p:nvCxnSpPr>
        <p:spPr>
          <a:xfrm rot="16200000" flipH="1">
            <a:off x="2883223" y="5771883"/>
            <a:ext cx="144639" cy="65381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30D42895-1E07-FA85-3045-8FB64922E137}"/>
              </a:ext>
            </a:extLst>
          </p:cNvPr>
          <p:cNvSpPr/>
          <p:nvPr/>
        </p:nvSpPr>
        <p:spPr>
          <a:xfrm>
            <a:off x="3655671" y="6165821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viên QC </a:t>
            </a:r>
            <a:r>
              <a:rPr lang="en-US" sz="733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Đoàn Văn Tuấn</a:t>
            </a:r>
            <a:endParaRPr lang="vi-VN" sz="733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49F415-63D0-C284-F7E2-228BE3C3E3D8}"/>
              </a:ext>
            </a:extLst>
          </p:cNvPr>
          <p:cNvCxnSpPr>
            <a:cxnSpLocks/>
            <a:stCxn id="127" idx="2"/>
            <a:endCxn id="35" idx="0"/>
          </p:cNvCxnSpPr>
          <p:nvPr/>
        </p:nvCxnSpPr>
        <p:spPr>
          <a:xfrm>
            <a:off x="3968625" y="6026470"/>
            <a:ext cx="652" cy="139351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1205A5C-F717-C1BE-96BF-004998787DCA}"/>
              </a:ext>
            </a:extLst>
          </p:cNvPr>
          <p:cNvCxnSpPr>
            <a:cxnSpLocks/>
            <a:stCxn id="120" idx="2"/>
            <a:endCxn id="173" idx="0"/>
          </p:cNvCxnSpPr>
          <p:nvPr/>
        </p:nvCxnSpPr>
        <p:spPr>
          <a:xfrm flipH="1">
            <a:off x="2628014" y="6026472"/>
            <a:ext cx="621" cy="14119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5D94CAD-E09F-3939-45A4-0520A35F8A12}"/>
              </a:ext>
            </a:extLst>
          </p:cNvPr>
          <p:cNvCxnSpPr>
            <a:stCxn id="16" idx="2"/>
            <a:endCxn id="119" idx="0"/>
          </p:cNvCxnSpPr>
          <p:nvPr/>
        </p:nvCxnSpPr>
        <p:spPr>
          <a:xfrm flipH="1">
            <a:off x="9479353" y="4861333"/>
            <a:ext cx="502" cy="10701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28AB58C8-7E36-961B-0214-94980577D788}"/>
              </a:ext>
            </a:extLst>
          </p:cNvPr>
          <p:cNvSpPr/>
          <p:nvPr/>
        </p:nvSpPr>
        <p:spPr>
          <a:xfrm>
            <a:off x="5050229" y="2702894"/>
            <a:ext cx="1831607" cy="500843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GIÁM ĐỐC ĐIỀU HÀNH TRẠM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Đức Thắng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C16D64C3-C974-9E88-AF1C-44D420DC6D5A}"/>
              </a:ext>
            </a:extLst>
          </p:cNvPr>
          <p:cNvCxnSpPr>
            <a:stCxn id="78" idx="0"/>
            <a:endCxn id="78" idx="0"/>
          </p:cNvCxnSpPr>
          <p:nvPr/>
        </p:nvCxnSpPr>
        <p:spPr>
          <a:xfrm>
            <a:off x="5967059" y="212069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AABB7AE-077A-A5F2-17AB-95E29724F60A}"/>
              </a:ext>
            </a:extLst>
          </p:cNvPr>
          <p:cNvCxnSpPr>
            <a:stCxn id="3" idx="2"/>
            <a:endCxn id="78" idx="0"/>
          </p:cNvCxnSpPr>
          <p:nvPr/>
        </p:nvCxnSpPr>
        <p:spPr>
          <a:xfrm>
            <a:off x="5967059" y="2066152"/>
            <a:ext cx="0" cy="5453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F7A90EE-B5A3-D93C-5BAD-7DA1D8E1D30F}"/>
              </a:ext>
            </a:extLst>
          </p:cNvPr>
          <p:cNvCxnSpPr>
            <a:stCxn id="78" idx="2"/>
            <a:endCxn id="76" idx="0"/>
          </p:cNvCxnSpPr>
          <p:nvPr/>
        </p:nvCxnSpPr>
        <p:spPr>
          <a:xfrm flipH="1">
            <a:off x="5966033" y="2647182"/>
            <a:ext cx="1026" cy="55712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C49C9D28-108C-B772-C999-853653335565}"/>
              </a:ext>
            </a:extLst>
          </p:cNvPr>
          <p:cNvCxnSpPr>
            <a:stCxn id="76" idx="2"/>
            <a:endCxn id="4" idx="0"/>
          </p:cNvCxnSpPr>
          <p:nvPr/>
        </p:nvCxnSpPr>
        <p:spPr>
          <a:xfrm>
            <a:off x="5966033" y="3203737"/>
            <a:ext cx="1026" cy="13177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0332B96-0E82-4345-48A3-E74CA4EE4989}"/>
              </a:ext>
            </a:extLst>
          </p:cNvPr>
          <p:cNvGraphicFramePr>
            <a:graphicFrameLocks noGrp="1"/>
          </p:cNvGraphicFramePr>
          <p:nvPr/>
        </p:nvGraphicFramePr>
        <p:xfrm>
          <a:off x="489465" y="20719"/>
          <a:ext cx="11213069" cy="149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72">
                  <a:extLst>
                    <a:ext uri="{9D8B030D-6E8A-4147-A177-3AD203B41FA5}">
                      <a16:colId xmlns:a16="http://schemas.microsoft.com/office/drawing/2014/main" val="1333390710"/>
                    </a:ext>
                  </a:extLst>
                </a:gridCol>
                <a:gridCol w="1502006">
                  <a:extLst>
                    <a:ext uri="{9D8B030D-6E8A-4147-A177-3AD203B41FA5}">
                      <a16:colId xmlns:a16="http://schemas.microsoft.com/office/drawing/2014/main" val="1280059786"/>
                    </a:ext>
                  </a:extLst>
                </a:gridCol>
                <a:gridCol w="1768074">
                  <a:extLst>
                    <a:ext uri="{9D8B030D-6E8A-4147-A177-3AD203B41FA5}">
                      <a16:colId xmlns:a16="http://schemas.microsoft.com/office/drawing/2014/main" val="1026788768"/>
                    </a:ext>
                  </a:extLst>
                </a:gridCol>
                <a:gridCol w="1870275">
                  <a:extLst>
                    <a:ext uri="{9D8B030D-6E8A-4147-A177-3AD203B41FA5}">
                      <a16:colId xmlns:a16="http://schemas.microsoft.com/office/drawing/2014/main" val="3278963915"/>
                    </a:ext>
                  </a:extLst>
                </a:gridCol>
                <a:gridCol w="1806146">
                  <a:extLst>
                    <a:ext uri="{9D8B030D-6E8A-4147-A177-3AD203B41FA5}">
                      <a16:colId xmlns:a16="http://schemas.microsoft.com/office/drawing/2014/main" val="4000778816"/>
                    </a:ext>
                  </a:extLst>
                </a:gridCol>
                <a:gridCol w="1411445">
                  <a:extLst>
                    <a:ext uri="{9D8B030D-6E8A-4147-A177-3AD203B41FA5}">
                      <a16:colId xmlns:a16="http://schemas.microsoft.com/office/drawing/2014/main" val="2410038815"/>
                    </a:ext>
                  </a:extLst>
                </a:gridCol>
                <a:gridCol w="1065651">
                  <a:extLst>
                    <a:ext uri="{9D8B030D-6E8A-4147-A177-3AD203B41FA5}">
                      <a16:colId xmlns:a16="http://schemas.microsoft.com/office/drawing/2014/main" val="3836572135"/>
                    </a:ext>
                  </a:extLst>
                </a:gridCol>
              </a:tblGrid>
              <a:tr h="614342">
                <a:tc>
                  <a:txBody>
                    <a:bodyPr/>
                    <a:lstStyle/>
                    <a:p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700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SƠ ĐỒ TỔ CHỨC TRẠM KHÁNH NGA</a:t>
                      </a:r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hiệu: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SĐTC-DLO-01               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soát xét: </a:t>
                      </a:r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09/00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Trang: 1/1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0885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Soạn thảo: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NV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T. Phương Thảo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 Trạm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An Khang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Thị Kim Liên</a:t>
                      </a:r>
                      <a:endParaRPr lang="en-US" sz="1300"/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GĐĐH Trạm</a:t>
                      </a: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Đức Thắng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PTGĐ SX- CCƯ</a:t>
                      </a:r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Xuân Huy Vũ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1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i="1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 Giám đốc</a:t>
                      </a:r>
                      <a:endParaRPr lang="en-US" sz="1200" i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Huỳnh Ngọc Thạch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419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769396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94DE2-4E1E-49FB-D156-975C116C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D0C347D-7024-BFDA-C2F6-2F95C016395E}"/>
              </a:ext>
            </a:extLst>
          </p:cNvPr>
          <p:cNvSpPr/>
          <p:nvPr/>
        </p:nvSpPr>
        <p:spPr>
          <a:xfrm>
            <a:off x="5051255" y="1539661"/>
            <a:ext cx="1831607" cy="5264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GIÁM ĐỐC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Huỳnh Ngọc Thạch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CF6B4E-1DEF-FBD4-B917-ACB87C243BF2}"/>
              </a:ext>
            </a:extLst>
          </p:cNvPr>
          <p:cNvSpPr txBox="1"/>
          <p:nvPr/>
        </p:nvSpPr>
        <p:spPr>
          <a:xfrm>
            <a:off x="5051255" y="3335512"/>
            <a:ext cx="1831607" cy="539315"/>
          </a:xfrm>
          <a:prstGeom prst="rect">
            <a:avLst/>
          </a:prstGeom>
          <a:solidFill>
            <a:srgbClr val="119303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ĐỒNG LÂM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TRƯỞNG TRẠM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Nhật Bằng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3F4251-9B69-4679-75FC-4FD92FE9243F}"/>
              </a:ext>
            </a:extLst>
          </p:cNvPr>
          <p:cNvSpPr/>
          <p:nvPr/>
        </p:nvSpPr>
        <p:spPr>
          <a:xfrm>
            <a:off x="3323065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QUẢN LÝ</a:t>
            </a:r>
          </a:p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CHẤT LƯỢNG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E79690-AA21-FF76-FCF9-842133172DE0}"/>
              </a:ext>
            </a:extLst>
          </p:cNvPr>
          <p:cNvSpPr/>
          <p:nvPr/>
        </p:nvSpPr>
        <p:spPr>
          <a:xfrm>
            <a:off x="570248" y="4254953"/>
            <a:ext cx="13639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HÀNH CHÁNH NHÂN SỰ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FB41DF-53C6-B193-B7D9-9AB9241491D4}"/>
              </a:ext>
            </a:extLst>
          </p:cNvPr>
          <p:cNvSpPr/>
          <p:nvPr/>
        </p:nvSpPr>
        <p:spPr>
          <a:xfrm>
            <a:off x="1981494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KỸ THUẬT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CA9F0E-E8F5-01CA-36B7-6BD7B731E65B}"/>
              </a:ext>
            </a:extLst>
          </p:cNvPr>
          <p:cNvSpPr/>
          <p:nvPr/>
        </p:nvSpPr>
        <p:spPr>
          <a:xfrm>
            <a:off x="10169688" y="4254953"/>
            <a:ext cx="13639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KẾ TOÁN TÀI CHÍNH</a:t>
            </a:r>
          </a:p>
          <a:p>
            <a:pPr algn="ctr" defTabSz="489862"/>
            <a:r>
              <a:rPr lang="en-US" sz="804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804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4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804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4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trưởng</a:t>
            </a:r>
            <a:endParaRPr lang="en-US" sz="804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804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Thùy Ngân</a:t>
            </a:r>
            <a:endParaRPr lang="vi-VN" sz="804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F046B633-3B0B-2295-5872-67740F03217C}"/>
              </a:ext>
            </a:extLst>
          </p:cNvPr>
          <p:cNvSpPr/>
          <p:nvPr/>
        </p:nvSpPr>
        <p:spPr>
          <a:xfrm>
            <a:off x="4666668" y="4254953"/>
            <a:ext cx="1294285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HSE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4742563-265D-0C0E-0B9D-8E60A444D4AA}"/>
              </a:ext>
            </a:extLst>
          </p:cNvPr>
          <p:cNvSpPr/>
          <p:nvPr/>
        </p:nvSpPr>
        <p:spPr>
          <a:xfrm>
            <a:off x="7358833" y="4254953"/>
            <a:ext cx="1294284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XƯỞNG SẢN XUẤT</a:t>
            </a:r>
          </a:p>
        </p:txBody>
      </p:sp>
      <p:graphicFrame>
        <p:nvGraphicFramePr>
          <p:cNvPr id="215" name="Table 214">
            <a:extLst>
              <a:ext uri="{FF2B5EF4-FFF2-40B4-BE49-F238E27FC236}">
                <a16:creationId xmlns:a16="http://schemas.microsoft.com/office/drawing/2014/main" id="{8D385CC0-9A80-26F1-7525-BB8411972455}"/>
              </a:ext>
            </a:extLst>
          </p:cNvPr>
          <p:cNvGraphicFramePr>
            <a:graphicFrameLocks noGrp="1"/>
          </p:cNvGraphicFramePr>
          <p:nvPr/>
        </p:nvGraphicFramePr>
        <p:xfrm>
          <a:off x="10190105" y="3277898"/>
          <a:ext cx="1363956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56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- KTTC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KTTC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Hoành Cư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217" name="Table 216">
            <a:extLst>
              <a:ext uri="{FF2B5EF4-FFF2-40B4-BE49-F238E27FC236}">
                <a16:creationId xmlns:a16="http://schemas.microsoft.com/office/drawing/2014/main" id="{7244F895-FFD2-816B-3CD1-BBE90C4B2E10}"/>
              </a:ext>
            </a:extLst>
          </p:cNvPr>
          <p:cNvGraphicFramePr>
            <a:graphicFrameLocks noGrp="1"/>
          </p:cNvGraphicFramePr>
          <p:nvPr/>
        </p:nvGraphicFramePr>
        <p:xfrm>
          <a:off x="578035" y="3292489"/>
          <a:ext cx="1363960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960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- HCNS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HCNS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Lưu Thị Kim Liên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24832F93-FF9C-EEF3-01E5-FEC294169356}"/>
              </a:ext>
            </a:extLst>
          </p:cNvPr>
          <p:cNvCxnSpPr>
            <a:cxnSpLocks/>
          </p:cNvCxnSpPr>
          <p:nvPr/>
        </p:nvCxnSpPr>
        <p:spPr>
          <a:xfrm flipV="1">
            <a:off x="1352327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70BC0287-C762-184B-5D43-7641544B23D5}"/>
              </a:ext>
            </a:extLst>
          </p:cNvPr>
          <p:cNvSpPr/>
          <p:nvPr/>
        </p:nvSpPr>
        <p:spPr>
          <a:xfrm>
            <a:off x="8832712" y="4254953"/>
            <a:ext cx="1294285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MUA HÀNG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1117D3-6F05-3C2F-3C93-E7AAD26282A5}"/>
              </a:ext>
            </a:extLst>
          </p:cNvPr>
          <p:cNvSpPr/>
          <p:nvPr/>
        </p:nvSpPr>
        <p:spPr>
          <a:xfrm>
            <a:off x="6018807" y="4254953"/>
            <a:ext cx="1294283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804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PHÒNG KHO VẬN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CCD4599B-F547-636D-9052-C3A925FD62BE}"/>
              </a:ext>
            </a:extLst>
          </p:cNvPr>
          <p:cNvCxnSpPr>
            <a:cxnSpLocks/>
            <a:stCxn id="4" idx="2"/>
            <a:endCxn id="29" idx="0"/>
          </p:cNvCxnSpPr>
          <p:nvPr/>
        </p:nvCxnSpPr>
        <p:spPr>
          <a:xfrm rot="5400000">
            <a:off x="3419581" y="1707475"/>
            <a:ext cx="380126" cy="471483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3FA23666-237C-D4FE-18DF-5C0E7CDB86D1}"/>
              </a:ext>
            </a:extLst>
          </p:cNvPr>
          <p:cNvCxnSpPr>
            <a:cxnSpLocks/>
            <a:stCxn id="4" idx="2"/>
            <a:endCxn id="32" idx="0"/>
          </p:cNvCxnSpPr>
          <p:nvPr/>
        </p:nvCxnSpPr>
        <p:spPr>
          <a:xfrm rot="16200000" flipH="1">
            <a:off x="8219301" y="1622585"/>
            <a:ext cx="380126" cy="488461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0716274-FE76-8966-9EB1-F659891534D0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 rot="16200000" flipH="1">
            <a:off x="7533394" y="2308492"/>
            <a:ext cx="380126" cy="351279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1422240C-BB6B-57C4-2A43-AFB930F22844}"/>
              </a:ext>
            </a:extLst>
          </p:cNvPr>
          <p:cNvCxnSpPr>
            <a:cxnSpLocks/>
            <a:stCxn id="4" idx="2"/>
            <a:endCxn id="129" idx="0"/>
          </p:cNvCxnSpPr>
          <p:nvPr/>
        </p:nvCxnSpPr>
        <p:spPr>
          <a:xfrm rot="5400000">
            <a:off x="5450372" y="3738266"/>
            <a:ext cx="380126" cy="65324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AF1F2064-ABB6-6D15-590E-CA80AA1FFDB7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 rot="5400000">
            <a:off x="4778570" y="3066464"/>
            <a:ext cx="380126" cy="199685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B671CC98-B846-B513-A404-F00FA93F0B4E}"/>
              </a:ext>
            </a:extLst>
          </p:cNvPr>
          <p:cNvCxnSpPr>
            <a:cxnSpLocks/>
            <a:stCxn id="4" idx="2"/>
            <a:endCxn id="30" idx="0"/>
          </p:cNvCxnSpPr>
          <p:nvPr/>
        </p:nvCxnSpPr>
        <p:spPr>
          <a:xfrm rot="5400000">
            <a:off x="4107785" y="2395679"/>
            <a:ext cx="380126" cy="333842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AC49DD77-070A-8A45-8266-CFB33CB5343E}"/>
              </a:ext>
            </a:extLst>
          </p:cNvPr>
          <p:cNvCxnSpPr>
            <a:cxnSpLocks/>
            <a:stCxn id="4" idx="2"/>
            <a:endCxn id="135" idx="0"/>
          </p:cNvCxnSpPr>
          <p:nvPr/>
        </p:nvCxnSpPr>
        <p:spPr>
          <a:xfrm rot="16200000" flipH="1">
            <a:off x="6796454" y="3045432"/>
            <a:ext cx="380126" cy="203891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74B97B4-2B20-5406-DC5A-F40975AC5844}"/>
              </a:ext>
            </a:extLst>
          </p:cNvPr>
          <p:cNvCxnSpPr>
            <a:cxnSpLocks/>
            <a:stCxn id="4" idx="2"/>
            <a:endCxn id="17" idx="0"/>
          </p:cNvCxnSpPr>
          <p:nvPr/>
        </p:nvCxnSpPr>
        <p:spPr>
          <a:xfrm rot="16200000" flipH="1">
            <a:off x="6126441" y="3715445"/>
            <a:ext cx="380126" cy="69889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B151295E-B4B9-AB25-BB20-A090770E0E71}"/>
              </a:ext>
            </a:extLst>
          </p:cNvPr>
          <p:cNvGraphicFramePr>
            <a:graphicFrameLocks noGrp="1"/>
          </p:cNvGraphicFramePr>
          <p:nvPr/>
        </p:nvGraphicFramePr>
        <p:xfrm>
          <a:off x="8848892" y="3277898"/>
          <a:ext cx="1282064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2064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Mua hàng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Thu mua NVL</a:t>
                      </a:r>
                      <a:endParaRPr lang="en-US" sz="800" b="1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Trần Phước An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D965010F-7CAE-9296-8035-82D128594E09}"/>
              </a:ext>
            </a:extLst>
          </p:cNvPr>
          <p:cNvSpPr/>
          <p:nvPr/>
        </p:nvSpPr>
        <p:spPr>
          <a:xfrm>
            <a:off x="5051255" y="2120691"/>
            <a:ext cx="1831607" cy="5264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PTGĐ SX – CCƯ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Xuân Huy Vũ</a:t>
            </a:r>
          </a:p>
        </p:txBody>
      </p:sp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0C2135ED-D3CC-D55E-D83B-73E24DC86966}"/>
              </a:ext>
            </a:extLst>
          </p:cNvPr>
          <p:cNvGraphicFramePr>
            <a:graphicFrameLocks noGrp="1"/>
          </p:cNvGraphicFramePr>
          <p:nvPr/>
        </p:nvGraphicFramePr>
        <p:xfrm>
          <a:off x="1992696" y="3292489"/>
          <a:ext cx="1278619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8619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Kỹ thuật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Kỹ thuật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Lê Văn Ty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84101C7A-1288-E694-9C46-EF9C8D181CD7}"/>
              </a:ext>
            </a:extLst>
          </p:cNvPr>
          <p:cNvGraphicFramePr>
            <a:graphicFrameLocks noGrp="1"/>
          </p:cNvGraphicFramePr>
          <p:nvPr/>
        </p:nvGraphicFramePr>
        <p:xfrm>
          <a:off x="3318403" y="3292489"/>
          <a:ext cx="1294483" cy="587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483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DTR – QLCL</a:t>
                      </a:r>
                      <a:endParaRPr lang="en-US" sz="8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80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GĐ Chất Lượng</a:t>
                      </a:r>
                      <a:endParaRPr lang="en-US" sz="80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 defTabSz="371485">
                        <a:defRPr/>
                      </a:pPr>
                      <a:r>
                        <a:rPr lang="en-US" sz="80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Võ Thị Bích Phượng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</a:tbl>
          </a:graphicData>
        </a:graphic>
      </p:graphicFrame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EC655D0-CF48-C4AE-DB0C-6450C73A5AEC}"/>
              </a:ext>
            </a:extLst>
          </p:cNvPr>
          <p:cNvCxnSpPr>
            <a:cxnSpLocks/>
          </p:cNvCxnSpPr>
          <p:nvPr/>
        </p:nvCxnSpPr>
        <p:spPr>
          <a:xfrm flipV="1">
            <a:off x="2732091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49B83C94-C23D-1B21-412E-E4000014C82C}"/>
              </a:ext>
            </a:extLst>
          </p:cNvPr>
          <p:cNvCxnSpPr>
            <a:cxnSpLocks/>
          </p:cNvCxnSpPr>
          <p:nvPr/>
        </p:nvCxnSpPr>
        <p:spPr>
          <a:xfrm flipV="1">
            <a:off x="4054704" y="3774364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1ECB069-79C8-99AE-D6C8-C3FAD1499E61}"/>
              </a:ext>
            </a:extLst>
          </p:cNvPr>
          <p:cNvCxnSpPr>
            <a:cxnSpLocks/>
          </p:cNvCxnSpPr>
          <p:nvPr/>
        </p:nvCxnSpPr>
        <p:spPr>
          <a:xfrm flipV="1">
            <a:off x="9552667" y="3865726"/>
            <a:ext cx="0" cy="37266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A99F51D7-29D7-4CB9-8F46-C5BD9A7F05CB}"/>
              </a:ext>
            </a:extLst>
          </p:cNvPr>
          <p:cNvCxnSpPr>
            <a:cxnSpLocks/>
          </p:cNvCxnSpPr>
          <p:nvPr/>
        </p:nvCxnSpPr>
        <p:spPr>
          <a:xfrm flipV="1">
            <a:off x="10949289" y="3773861"/>
            <a:ext cx="0" cy="480589"/>
          </a:xfrm>
          <a:prstGeom prst="line">
            <a:avLst/>
          </a:prstGeom>
          <a:ln w="9525"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26B2AD2-56AA-018C-11A9-83B629BC87EB}"/>
              </a:ext>
            </a:extLst>
          </p:cNvPr>
          <p:cNvSpPr/>
          <p:nvPr/>
        </p:nvSpPr>
        <p:spPr>
          <a:xfrm>
            <a:off x="10220720" y="4968351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Phan T Ngọc Duyên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F0884E72-036C-AA29-3414-4BDD1A624600}"/>
              </a:ext>
            </a:extLst>
          </p:cNvPr>
          <p:cNvSpPr/>
          <p:nvPr/>
        </p:nvSpPr>
        <p:spPr>
          <a:xfrm>
            <a:off x="10911175" y="4968349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Khuyêt</a:t>
            </a:r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559013-E260-C06A-916B-3703C64EDA71}"/>
              </a:ext>
            </a:extLst>
          </p:cNvPr>
          <p:cNvSpPr/>
          <p:nvPr/>
        </p:nvSpPr>
        <p:spPr>
          <a:xfrm>
            <a:off x="9044550" y="4968348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Mua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khuyết</a:t>
            </a:r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52F5D5F3-CCC7-7F17-8E79-9D4A2052BDC8}"/>
              </a:ext>
            </a:extLst>
          </p:cNvPr>
          <p:cNvSpPr/>
          <p:nvPr/>
        </p:nvSpPr>
        <p:spPr>
          <a:xfrm>
            <a:off x="2328504" y="4968347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trưởng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Khuyết</a:t>
            </a:r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D6E65DF-6D13-D24D-74F3-064C26AEED19}"/>
              </a:ext>
            </a:extLst>
          </p:cNvPr>
          <p:cNvSpPr/>
          <p:nvPr/>
        </p:nvSpPr>
        <p:spPr>
          <a:xfrm>
            <a:off x="6254868" y="5025139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Thủ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Thuế Hiển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2F77A88F-6002-28FD-0C1B-CABC8D925AC2}"/>
              </a:ext>
            </a:extLst>
          </p:cNvPr>
          <p:cNvSpPr/>
          <p:nvPr/>
        </p:nvSpPr>
        <p:spPr>
          <a:xfrm>
            <a:off x="7380748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Thống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kê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(Đặng Ngọc Hằng)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643E9F8-BEC9-2937-48B6-16F2A3F26C2A}"/>
              </a:ext>
            </a:extLst>
          </p:cNvPr>
          <p:cNvSpPr/>
          <p:nvPr/>
        </p:nvSpPr>
        <p:spPr>
          <a:xfrm>
            <a:off x="8167238" y="4968345"/>
            <a:ext cx="702413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trưởng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Phan Văn Thống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FDDA4DD-26D9-CFA5-ACC2-4E6C26D29D50}"/>
              </a:ext>
            </a:extLst>
          </p:cNvPr>
          <p:cNvSpPr/>
          <p:nvPr/>
        </p:nvSpPr>
        <p:spPr>
          <a:xfrm>
            <a:off x="3668494" y="4968345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trưởng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Kho</a:t>
            </a:r>
            <a:endParaRPr lang="en-US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Anh Khoa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0" name="Connector: Elbow 129">
            <a:extLst>
              <a:ext uri="{FF2B5EF4-FFF2-40B4-BE49-F238E27FC236}">
                <a16:creationId xmlns:a16="http://schemas.microsoft.com/office/drawing/2014/main" id="{1F51270D-899D-5B4B-2618-D1E3B8CCAA51}"/>
              </a:ext>
            </a:extLst>
          </p:cNvPr>
          <p:cNvCxnSpPr>
            <a:cxnSpLocks/>
            <a:stCxn id="30" idx="2"/>
            <a:endCxn id="120" idx="0"/>
          </p:cNvCxnSpPr>
          <p:nvPr/>
        </p:nvCxnSpPr>
        <p:spPr>
          <a:xfrm rot="5400000">
            <a:off x="2575129" y="4914840"/>
            <a:ext cx="107014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99D08FBD-34CB-3D9B-19E0-F16B76F61EF0}"/>
              </a:ext>
            </a:extLst>
          </p:cNvPr>
          <p:cNvCxnSpPr>
            <a:cxnSpLocks/>
            <a:stCxn id="26" idx="2"/>
            <a:endCxn id="127" idx="0"/>
          </p:cNvCxnSpPr>
          <p:nvPr/>
        </p:nvCxnSpPr>
        <p:spPr>
          <a:xfrm rot="5400000">
            <a:off x="3915910" y="4914048"/>
            <a:ext cx="107012" cy="158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65E22E61-C220-2AA6-589A-E1470C1D031F}"/>
              </a:ext>
            </a:extLst>
          </p:cNvPr>
          <p:cNvCxnSpPr>
            <a:cxnSpLocks/>
            <a:stCxn id="135" idx="2"/>
            <a:endCxn id="122" idx="0"/>
          </p:cNvCxnSpPr>
          <p:nvPr/>
        </p:nvCxnSpPr>
        <p:spPr>
          <a:xfrm rot="5400000">
            <a:off x="7789921" y="4752291"/>
            <a:ext cx="107012" cy="325096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id="{610C634C-0116-D097-38D6-F06564BF44BC}"/>
              </a:ext>
            </a:extLst>
          </p:cNvPr>
          <p:cNvCxnSpPr>
            <a:cxnSpLocks/>
            <a:stCxn id="135" idx="2"/>
            <a:endCxn id="123" idx="0"/>
          </p:cNvCxnSpPr>
          <p:nvPr/>
        </p:nvCxnSpPr>
        <p:spPr>
          <a:xfrm rot="16200000" flipH="1">
            <a:off x="8208704" y="4658604"/>
            <a:ext cx="107012" cy="51247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B4D77C55-3745-7076-59C1-8F09E999F03F}"/>
              </a:ext>
            </a:extLst>
          </p:cNvPr>
          <p:cNvCxnSpPr>
            <a:cxnSpLocks/>
            <a:stCxn id="32" idx="2"/>
            <a:endCxn id="117" idx="0"/>
          </p:cNvCxnSpPr>
          <p:nvPr/>
        </p:nvCxnSpPr>
        <p:spPr>
          <a:xfrm rot="5400000">
            <a:off x="10632751" y="4749433"/>
            <a:ext cx="107018" cy="33081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: Elbow 163">
            <a:extLst>
              <a:ext uri="{FF2B5EF4-FFF2-40B4-BE49-F238E27FC236}">
                <a16:creationId xmlns:a16="http://schemas.microsoft.com/office/drawing/2014/main" id="{C40B896B-447C-B7E3-23BD-9CA7A9A47F96}"/>
              </a:ext>
            </a:extLst>
          </p:cNvPr>
          <p:cNvCxnSpPr>
            <a:cxnSpLocks/>
            <a:stCxn id="32" idx="2"/>
            <a:endCxn id="118" idx="0"/>
          </p:cNvCxnSpPr>
          <p:nvPr/>
        </p:nvCxnSpPr>
        <p:spPr>
          <a:xfrm rot="16200000" flipH="1">
            <a:off x="10977979" y="4735022"/>
            <a:ext cx="107016" cy="359637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680A808-E584-1D64-12DF-7327AC8AE492}"/>
              </a:ext>
            </a:extLst>
          </p:cNvPr>
          <p:cNvSpPr/>
          <p:nvPr/>
        </p:nvSpPr>
        <p:spPr>
          <a:xfrm>
            <a:off x="861066" y="6161083"/>
            <a:ext cx="682799" cy="60638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Tạp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vụ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Phan Văn 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Khế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D1FA563-72C4-04B4-A88F-5B964F09634F}"/>
              </a:ext>
            </a:extLst>
          </p:cNvPr>
          <p:cNvSpPr/>
          <p:nvPr/>
        </p:nvSpPr>
        <p:spPr>
          <a:xfrm>
            <a:off x="1613424" y="6165821"/>
            <a:ext cx="79865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Anh Khoa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9657AB6D-425A-3E9E-0C8E-6AEBFD9FA0C5}"/>
              </a:ext>
            </a:extLst>
          </p:cNvPr>
          <p:cNvSpPr/>
          <p:nvPr/>
        </p:nvSpPr>
        <p:spPr>
          <a:xfrm>
            <a:off x="5920547" y="6156295"/>
            <a:ext cx="627213" cy="611169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Hàng</a:t>
            </a:r>
          </a:p>
          <a:p>
            <a:pPr algn="ctr" defTabSz="489862"/>
            <a:r>
              <a:rPr lang="en-US" sz="733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(4)</a:t>
            </a:r>
            <a:endParaRPr lang="vi-VN" sz="733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5A028024-4DB6-260C-BBEE-B71B1E7CACBA}"/>
              </a:ext>
            </a:extLst>
          </p:cNvPr>
          <p:cNvSpPr/>
          <p:nvPr/>
        </p:nvSpPr>
        <p:spPr>
          <a:xfrm>
            <a:off x="9231995" y="6167671"/>
            <a:ext cx="600261" cy="606380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Lái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0ACEDB52-228B-23DD-031A-642FB679E31C}"/>
              </a:ext>
            </a:extLst>
          </p:cNvPr>
          <p:cNvSpPr/>
          <p:nvPr/>
        </p:nvSpPr>
        <p:spPr>
          <a:xfrm>
            <a:off x="7292321" y="6167672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Nhân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phân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(18)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E24A66C7-4C09-E200-89A6-0B2C5B5D86C1}"/>
              </a:ext>
            </a:extLst>
          </p:cNvPr>
          <p:cNvSpPr/>
          <p:nvPr/>
        </p:nvSpPr>
        <p:spPr>
          <a:xfrm>
            <a:off x="7937956" y="6167671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Ép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kiện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455EB4DE-B3DF-20B8-A809-1E18CB20EF7B}"/>
              </a:ext>
            </a:extLst>
          </p:cNvPr>
          <p:cNvSpPr/>
          <p:nvPr/>
        </p:nvSpPr>
        <p:spPr>
          <a:xfrm>
            <a:off x="6581934" y="6167670"/>
            <a:ext cx="627213" cy="599794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Lái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xe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nâng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AB252CA6-18A7-016E-D40B-AF320810B97F}"/>
              </a:ext>
            </a:extLst>
          </p:cNvPr>
          <p:cNvSpPr/>
          <p:nvPr/>
        </p:nvSpPr>
        <p:spPr>
          <a:xfrm>
            <a:off x="8589825" y="6167668"/>
            <a:ext cx="600261" cy="599792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Lao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thuê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ngoài</a:t>
            </a:r>
            <a:endParaRPr lang="en-US" sz="733" b="1" dirty="0">
              <a:solidFill>
                <a:srgbClr val="1193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(16)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1" name="Connector: Elbow 180">
            <a:extLst>
              <a:ext uri="{FF2B5EF4-FFF2-40B4-BE49-F238E27FC236}">
                <a16:creationId xmlns:a16="http://schemas.microsoft.com/office/drawing/2014/main" id="{9ECD6F19-2D37-60E3-CCBC-8325FA16D16C}"/>
              </a:ext>
            </a:extLst>
          </p:cNvPr>
          <p:cNvCxnSpPr>
            <a:cxnSpLocks/>
            <a:stCxn id="120" idx="2"/>
            <a:endCxn id="172" idx="0"/>
          </p:cNvCxnSpPr>
          <p:nvPr/>
        </p:nvCxnSpPr>
        <p:spPr>
          <a:xfrm rot="5400000">
            <a:off x="2251019" y="5788204"/>
            <a:ext cx="139349" cy="61588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B4F87EA1-3AF1-2BFB-8118-5530EA533B93}"/>
              </a:ext>
            </a:extLst>
          </p:cNvPr>
          <p:cNvCxnSpPr>
            <a:cxnSpLocks/>
            <a:stCxn id="123" idx="2"/>
            <a:endCxn id="175" idx="0"/>
          </p:cNvCxnSpPr>
          <p:nvPr/>
        </p:nvCxnSpPr>
        <p:spPr>
          <a:xfrm rot="16200000" flipH="1">
            <a:off x="8954685" y="5590229"/>
            <a:ext cx="141201" cy="101368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E31D9CA8-878E-1E61-6B83-08805BC2240D}"/>
              </a:ext>
            </a:extLst>
          </p:cNvPr>
          <p:cNvCxnSpPr>
            <a:cxnSpLocks/>
            <a:stCxn id="123" idx="2"/>
            <a:endCxn id="180" idx="0"/>
          </p:cNvCxnSpPr>
          <p:nvPr/>
        </p:nvCxnSpPr>
        <p:spPr>
          <a:xfrm rot="16200000" flipH="1">
            <a:off x="8633601" y="5911313"/>
            <a:ext cx="141198" cy="37151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: Elbow 194">
            <a:extLst>
              <a:ext uri="{FF2B5EF4-FFF2-40B4-BE49-F238E27FC236}">
                <a16:creationId xmlns:a16="http://schemas.microsoft.com/office/drawing/2014/main" id="{C81DFAC0-92AB-E394-6A74-1B6D0BF9D93F}"/>
              </a:ext>
            </a:extLst>
          </p:cNvPr>
          <p:cNvCxnSpPr>
            <a:cxnSpLocks/>
            <a:stCxn id="123" idx="2"/>
            <a:endCxn id="176" idx="0"/>
          </p:cNvCxnSpPr>
          <p:nvPr/>
        </p:nvCxnSpPr>
        <p:spPr>
          <a:xfrm rot="5400000">
            <a:off x="7984848" y="5634075"/>
            <a:ext cx="141202" cy="92599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00972F4B-217B-5F61-439F-FBB9A8EBE9D3}"/>
              </a:ext>
            </a:extLst>
          </p:cNvPr>
          <p:cNvCxnSpPr>
            <a:cxnSpLocks/>
            <a:stCxn id="123" idx="2"/>
            <a:endCxn id="177" idx="0"/>
          </p:cNvCxnSpPr>
          <p:nvPr/>
        </p:nvCxnSpPr>
        <p:spPr>
          <a:xfrm rot="5400000">
            <a:off x="8307666" y="5956891"/>
            <a:ext cx="141201" cy="28035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: Elbow 204">
            <a:extLst>
              <a:ext uri="{FF2B5EF4-FFF2-40B4-BE49-F238E27FC236}">
                <a16:creationId xmlns:a16="http://schemas.microsoft.com/office/drawing/2014/main" id="{7CC8E0B5-1FC4-DE7C-D406-BA8FB016648D}"/>
              </a:ext>
            </a:extLst>
          </p:cNvPr>
          <p:cNvCxnSpPr>
            <a:cxnSpLocks/>
            <a:stCxn id="121" idx="2"/>
            <a:endCxn id="174" idx="0"/>
          </p:cNvCxnSpPr>
          <p:nvPr/>
        </p:nvCxnSpPr>
        <p:spPr>
          <a:xfrm rot="5400000">
            <a:off x="6358062" y="5959357"/>
            <a:ext cx="73031" cy="320845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: Elbow 207">
            <a:extLst>
              <a:ext uri="{FF2B5EF4-FFF2-40B4-BE49-F238E27FC236}">
                <a16:creationId xmlns:a16="http://schemas.microsoft.com/office/drawing/2014/main" id="{0A971BBC-F1A8-A6A9-D541-6050830E6485}"/>
              </a:ext>
            </a:extLst>
          </p:cNvPr>
          <p:cNvCxnSpPr>
            <a:cxnSpLocks/>
            <a:stCxn id="121" idx="2"/>
            <a:endCxn id="179" idx="0"/>
          </p:cNvCxnSpPr>
          <p:nvPr/>
        </p:nvCxnSpPr>
        <p:spPr>
          <a:xfrm rot="16200000" flipH="1">
            <a:off x="6683067" y="5955196"/>
            <a:ext cx="84406" cy="340542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BB16B-4C34-236C-D5C0-38049FA3F9AD}"/>
              </a:ext>
            </a:extLst>
          </p:cNvPr>
          <p:cNvSpPr/>
          <p:nvPr/>
        </p:nvSpPr>
        <p:spPr>
          <a:xfrm>
            <a:off x="2633261" y="6171111"/>
            <a:ext cx="962795" cy="602941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Kỹ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733" b="1" dirty="0" err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thuật</a:t>
            </a:r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VHM</a:t>
            </a:r>
          </a:p>
          <a:p>
            <a:pPr algn="ctr" defTabSz="489862"/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Hửu</a:t>
            </a:r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Lợi</a:t>
            </a: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Gia </a:t>
            </a:r>
            <a:r>
              <a:rPr lang="en-US" sz="733" dirty="0" err="1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Băng</a:t>
            </a:r>
            <a:endParaRPr lang="en-US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Trọng Nhân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D0E3D9DC-D5FA-8BD0-FD72-2A8DCD2C5327}"/>
              </a:ext>
            </a:extLst>
          </p:cNvPr>
          <p:cNvCxnSpPr>
            <a:cxnSpLocks/>
            <a:stCxn id="120" idx="2"/>
            <a:endCxn id="11" idx="0"/>
          </p:cNvCxnSpPr>
          <p:nvPr/>
        </p:nvCxnSpPr>
        <p:spPr>
          <a:xfrm rot="16200000" flipH="1">
            <a:off x="2799328" y="5855779"/>
            <a:ext cx="144639" cy="486024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A65B71B-10B1-DF29-5389-7E70ED92C7D1}"/>
              </a:ext>
            </a:extLst>
          </p:cNvPr>
          <p:cNvSpPr/>
          <p:nvPr/>
        </p:nvSpPr>
        <p:spPr>
          <a:xfrm>
            <a:off x="3655671" y="6165821"/>
            <a:ext cx="627211" cy="601643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QC</a:t>
            </a: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111B165-7C26-C9DE-C62D-B36709F700AF}"/>
              </a:ext>
            </a:extLst>
          </p:cNvPr>
          <p:cNvCxnSpPr>
            <a:cxnSpLocks/>
            <a:stCxn id="127" idx="2"/>
            <a:endCxn id="35" idx="0"/>
          </p:cNvCxnSpPr>
          <p:nvPr/>
        </p:nvCxnSpPr>
        <p:spPr>
          <a:xfrm>
            <a:off x="3968625" y="6026470"/>
            <a:ext cx="652" cy="139351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D5E08BDF-B6BD-612C-B4DD-95627CE473AB}"/>
              </a:ext>
            </a:extLst>
          </p:cNvPr>
          <p:cNvSpPr/>
          <p:nvPr/>
        </p:nvSpPr>
        <p:spPr>
          <a:xfrm>
            <a:off x="5050229" y="2702894"/>
            <a:ext cx="1831607" cy="500843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DUYTAN RECYCLING</a:t>
            </a:r>
          </a:p>
          <a:p>
            <a:pPr algn="ctr" defTabSz="398023"/>
            <a:r>
              <a:rPr lang="en-US" sz="857" b="1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GIÁM ĐỐC ĐIỀU HÀNH TRẠM</a:t>
            </a:r>
          </a:p>
          <a:p>
            <a:pPr algn="ctr" defTabSz="398023">
              <a:spcBef>
                <a:spcPts val="53"/>
              </a:spcBef>
              <a:spcAft>
                <a:spcPts val="53"/>
              </a:spcAft>
              <a:defRPr/>
            </a:pPr>
            <a:r>
              <a:rPr lang="en-US" sz="857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Lê Đức Thắng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3324BD9C-C2CA-CD25-2530-B75BF563EC6F}"/>
              </a:ext>
            </a:extLst>
          </p:cNvPr>
          <p:cNvCxnSpPr>
            <a:stCxn id="78" idx="0"/>
            <a:endCxn id="78" idx="0"/>
          </p:cNvCxnSpPr>
          <p:nvPr/>
        </p:nvCxnSpPr>
        <p:spPr>
          <a:xfrm>
            <a:off x="5967059" y="2120691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BA58D875-E583-4574-A920-59EFE74868F7}"/>
              </a:ext>
            </a:extLst>
          </p:cNvPr>
          <p:cNvCxnSpPr>
            <a:stCxn id="3" idx="2"/>
            <a:endCxn id="78" idx="0"/>
          </p:cNvCxnSpPr>
          <p:nvPr/>
        </p:nvCxnSpPr>
        <p:spPr>
          <a:xfrm>
            <a:off x="5967059" y="2066152"/>
            <a:ext cx="0" cy="54539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E658CBB-BB1F-0FFC-03EF-0715BE9B8F57}"/>
              </a:ext>
            </a:extLst>
          </p:cNvPr>
          <p:cNvCxnSpPr>
            <a:stCxn id="78" idx="2"/>
            <a:endCxn id="76" idx="0"/>
          </p:cNvCxnSpPr>
          <p:nvPr/>
        </p:nvCxnSpPr>
        <p:spPr>
          <a:xfrm flipH="1">
            <a:off x="5966033" y="2647182"/>
            <a:ext cx="1026" cy="55712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A8DFB7B-BACD-52A7-C5C1-EA3E8B076C0E}"/>
              </a:ext>
            </a:extLst>
          </p:cNvPr>
          <p:cNvCxnSpPr>
            <a:stCxn id="76" idx="2"/>
            <a:endCxn id="4" idx="0"/>
          </p:cNvCxnSpPr>
          <p:nvPr/>
        </p:nvCxnSpPr>
        <p:spPr>
          <a:xfrm>
            <a:off x="5966033" y="3203737"/>
            <a:ext cx="1026" cy="131775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48C8F8E-DDF4-C320-BC15-B420F7F8C92A}"/>
              </a:ext>
            </a:extLst>
          </p:cNvPr>
          <p:cNvGraphicFramePr>
            <a:graphicFrameLocks noGrp="1"/>
          </p:cNvGraphicFramePr>
          <p:nvPr/>
        </p:nvGraphicFramePr>
        <p:xfrm>
          <a:off x="372259" y="22260"/>
          <a:ext cx="11213069" cy="1494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9472">
                  <a:extLst>
                    <a:ext uri="{9D8B030D-6E8A-4147-A177-3AD203B41FA5}">
                      <a16:colId xmlns:a16="http://schemas.microsoft.com/office/drawing/2014/main" val="1333390710"/>
                    </a:ext>
                  </a:extLst>
                </a:gridCol>
                <a:gridCol w="1502006">
                  <a:extLst>
                    <a:ext uri="{9D8B030D-6E8A-4147-A177-3AD203B41FA5}">
                      <a16:colId xmlns:a16="http://schemas.microsoft.com/office/drawing/2014/main" val="1280059786"/>
                    </a:ext>
                  </a:extLst>
                </a:gridCol>
                <a:gridCol w="1768074">
                  <a:extLst>
                    <a:ext uri="{9D8B030D-6E8A-4147-A177-3AD203B41FA5}">
                      <a16:colId xmlns:a16="http://schemas.microsoft.com/office/drawing/2014/main" val="1026788768"/>
                    </a:ext>
                  </a:extLst>
                </a:gridCol>
                <a:gridCol w="1870275">
                  <a:extLst>
                    <a:ext uri="{9D8B030D-6E8A-4147-A177-3AD203B41FA5}">
                      <a16:colId xmlns:a16="http://schemas.microsoft.com/office/drawing/2014/main" val="3278963915"/>
                    </a:ext>
                  </a:extLst>
                </a:gridCol>
                <a:gridCol w="1806146">
                  <a:extLst>
                    <a:ext uri="{9D8B030D-6E8A-4147-A177-3AD203B41FA5}">
                      <a16:colId xmlns:a16="http://schemas.microsoft.com/office/drawing/2014/main" val="4000778816"/>
                    </a:ext>
                  </a:extLst>
                </a:gridCol>
                <a:gridCol w="1411445">
                  <a:extLst>
                    <a:ext uri="{9D8B030D-6E8A-4147-A177-3AD203B41FA5}">
                      <a16:colId xmlns:a16="http://schemas.microsoft.com/office/drawing/2014/main" val="2410038815"/>
                    </a:ext>
                  </a:extLst>
                </a:gridCol>
                <a:gridCol w="1065651">
                  <a:extLst>
                    <a:ext uri="{9D8B030D-6E8A-4147-A177-3AD203B41FA5}">
                      <a16:colId xmlns:a16="http://schemas.microsoft.com/office/drawing/2014/main" val="3836572135"/>
                    </a:ext>
                  </a:extLst>
                </a:gridCol>
              </a:tblGrid>
              <a:tr h="614342">
                <a:tc>
                  <a:txBody>
                    <a:bodyPr/>
                    <a:lstStyle/>
                    <a:p>
                      <a:endParaRPr lang="vi-VN" sz="1100" dirty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700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SƠ ĐỒ TỔ CHỨC TRẠM ĐỒNG LÂM</a:t>
                      </a:r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hiệu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SĐTC-DLA-01               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soát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xét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200" b="0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07/00</a:t>
                      </a:r>
                    </a:p>
                    <a:p>
                      <a:pPr algn="ctr"/>
                      <a:r>
                        <a:rPr lang="en-US" sz="1200" b="0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Trang: 1/1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0885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Soạn thảo: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NV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Thái Ngọc Thảo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T.Trạm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Nguyễn Nhật Bằng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Xem xét:</a:t>
                      </a:r>
                      <a:r>
                        <a:rPr lang="en-US" sz="1200" b="1" i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 HCNS</a:t>
                      </a:r>
                      <a:endParaRPr lang="en-US" sz="1200" i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b="1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Lưu Thị Kim Liên</a:t>
                      </a:r>
                      <a:endParaRPr lang="en-US" sz="1300"/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GĐĐH Trạm</a:t>
                      </a: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Đức Thắng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i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</a:t>
                      </a:r>
                      <a:r>
                        <a:rPr lang="en-US" sz="120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PTGĐ SX- CCƯ</a:t>
                      </a:r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Lê Xuân Huy Vũ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i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Phê</a:t>
                      </a:r>
                      <a:r>
                        <a:rPr lang="en-US" sz="1200" i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i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duyệt</a:t>
                      </a:r>
                      <a:r>
                        <a:rPr lang="en-US" sz="1200" i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Giám</a:t>
                      </a:r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b="1" dirty="0" err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đốc</a:t>
                      </a:r>
                      <a:endParaRPr lang="en-US" sz="1200" i="1" dirty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dirty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1200" dirty="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200" b="1" dirty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Huỳnh Ngọc Thạch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1041918"/>
                  </a:ext>
                </a:extLst>
              </a:tr>
            </a:tbl>
          </a:graphicData>
        </a:graphic>
      </p:graphicFrame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707B1A9-2577-F4AD-DCDB-B088851FA674}"/>
              </a:ext>
            </a:extLst>
          </p:cNvPr>
          <p:cNvCxnSpPr>
            <a:cxnSpLocks/>
          </p:cNvCxnSpPr>
          <p:nvPr/>
        </p:nvCxnSpPr>
        <p:spPr>
          <a:xfrm>
            <a:off x="6588658" y="4873060"/>
            <a:ext cx="652" cy="139351"/>
          </a:xfrm>
          <a:prstGeom prst="line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8C5CE91-A3D5-988D-5A5A-24A05EB7F1C3}"/>
              </a:ext>
            </a:extLst>
          </p:cNvPr>
          <p:cNvSpPr/>
          <p:nvPr/>
        </p:nvSpPr>
        <p:spPr>
          <a:xfrm>
            <a:off x="9706796" y="4967088"/>
            <a:ext cx="573914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 DTR</a:t>
            </a: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Nguyễn Ngọc Nhã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002F78E9-455D-FA51-B50F-918736C7695C}"/>
              </a:ext>
            </a:extLst>
          </p:cNvPr>
          <p:cNvCxnSpPr>
            <a:cxnSpLocks/>
            <a:stCxn id="16" idx="2"/>
            <a:endCxn id="52" idx="0"/>
          </p:cNvCxnSpPr>
          <p:nvPr/>
        </p:nvCxnSpPr>
        <p:spPr>
          <a:xfrm rot="16200000" flipH="1">
            <a:off x="9683927" y="4657261"/>
            <a:ext cx="105755" cy="51389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44A0034-B614-8531-AC4E-3AC41912F7AA}"/>
              </a:ext>
            </a:extLst>
          </p:cNvPr>
          <p:cNvCxnSpPr>
            <a:cxnSpLocks/>
            <a:endCxn id="119" idx="0"/>
          </p:cNvCxnSpPr>
          <p:nvPr/>
        </p:nvCxnSpPr>
        <p:spPr>
          <a:xfrm rot="10800000" flipV="1">
            <a:off x="9344682" y="4914210"/>
            <a:ext cx="143085" cy="54138"/>
          </a:xfrm>
          <a:prstGeom prst="bentConnector2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3" name="Picture 62">
            <a:extLst>
              <a:ext uri="{FF2B5EF4-FFF2-40B4-BE49-F238E27FC236}">
                <a16:creationId xmlns:a16="http://schemas.microsoft.com/office/drawing/2014/main" id="{F81C1394-B48A-6D33-FBE4-3ACF2858D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70" b="22989"/>
          <a:stretch>
            <a:fillRect/>
          </a:stretch>
        </p:blipFill>
        <p:spPr>
          <a:xfrm>
            <a:off x="415384" y="90536"/>
            <a:ext cx="1673687" cy="505812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EA1C7465-81E5-81E5-19A5-FD2A50F7C7A1}"/>
              </a:ext>
            </a:extLst>
          </p:cNvPr>
          <p:cNvSpPr/>
          <p:nvPr/>
        </p:nvSpPr>
        <p:spPr>
          <a:xfrm>
            <a:off x="890618" y="5012411"/>
            <a:ext cx="600261" cy="1058125"/>
          </a:xfrm>
          <a:prstGeom prst="rect">
            <a:avLst/>
          </a:prstGeom>
          <a:noFill/>
          <a:ln w="31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89862"/>
            <a:r>
              <a:rPr lang="en-US" sz="733" b="1" dirty="0">
                <a:solidFill>
                  <a:srgbClr val="1193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NV HCNS</a:t>
            </a:r>
          </a:p>
          <a:p>
            <a:pPr algn="ctr" defTabSz="489862"/>
            <a:r>
              <a:rPr lang="en-US" sz="733" dirty="0">
                <a:solidFill>
                  <a:srgbClr val="4EA72E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Thái Ngọc Thảo</a:t>
            </a:r>
            <a:endParaRPr lang="vi-VN" sz="733" dirty="0">
              <a:solidFill>
                <a:srgbClr val="4EA72E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4BADE47-35CE-40A9-5441-9D37D40906EC}"/>
              </a:ext>
            </a:extLst>
          </p:cNvPr>
          <p:cNvCxnSpPr>
            <a:cxnSpLocks/>
          </p:cNvCxnSpPr>
          <p:nvPr/>
        </p:nvCxnSpPr>
        <p:spPr>
          <a:xfrm rot="5400000">
            <a:off x="1161120" y="4940024"/>
            <a:ext cx="107014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46A0697A-A591-2F81-7C77-F1C9DED0B743}"/>
              </a:ext>
            </a:extLst>
          </p:cNvPr>
          <p:cNvCxnSpPr>
            <a:cxnSpLocks/>
          </p:cNvCxnSpPr>
          <p:nvPr/>
        </p:nvCxnSpPr>
        <p:spPr>
          <a:xfrm rot="5400000">
            <a:off x="1146539" y="6118146"/>
            <a:ext cx="107014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781905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D6135-46B4-5829-4786-1692E9E7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1" name="Table 5">
            <a:extLst>
              <a:ext uri="{FF2B5EF4-FFF2-40B4-BE49-F238E27FC236}">
                <a16:creationId xmlns:a16="http://schemas.microsoft.com/office/drawing/2014/main" id="{F077BFF1-A51F-A19C-B426-010A340C1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447078"/>
              </p:ext>
            </p:extLst>
          </p:nvPr>
        </p:nvGraphicFramePr>
        <p:xfrm>
          <a:off x="480326" y="87854"/>
          <a:ext cx="11241388" cy="646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9973">
                  <a:extLst>
                    <a:ext uri="{9D8B030D-6E8A-4147-A177-3AD203B41FA5}">
                      <a16:colId xmlns:a16="http://schemas.microsoft.com/office/drawing/2014/main" val="1333390710"/>
                    </a:ext>
                  </a:extLst>
                </a:gridCol>
                <a:gridCol w="6415836">
                  <a:extLst>
                    <a:ext uri="{9D8B030D-6E8A-4147-A177-3AD203B41FA5}">
                      <a16:colId xmlns:a16="http://schemas.microsoft.com/office/drawing/2014/main" val="1280059786"/>
                    </a:ext>
                  </a:extLst>
                </a:gridCol>
                <a:gridCol w="1383917">
                  <a:extLst>
                    <a:ext uri="{9D8B030D-6E8A-4147-A177-3AD203B41FA5}">
                      <a16:colId xmlns:a16="http://schemas.microsoft.com/office/drawing/2014/main" val="2410038815"/>
                    </a:ext>
                  </a:extLst>
                </a:gridCol>
                <a:gridCol w="1331662">
                  <a:extLst>
                    <a:ext uri="{9D8B030D-6E8A-4147-A177-3AD203B41FA5}">
                      <a16:colId xmlns:a16="http://schemas.microsoft.com/office/drawing/2014/main" val="3836572135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 TRẬN TƯƠNG TÁC DUYTAN RECYLING – CÁC TRẠM</a:t>
                      </a:r>
                      <a:endParaRPr lang="vi-VN" sz="1100">
                        <a:solidFill>
                          <a:srgbClr val="119303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7972" marR="97972" marT="48985" marB="4898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hiệu: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SĐTC-DTR-01               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soát xét: </a:t>
                      </a:r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00/00</a:t>
                      </a:r>
                    </a:p>
                    <a:p>
                      <a:pPr algn="ctr"/>
                      <a:r>
                        <a:rPr lang="en-US" sz="1200" b="0">
                          <a:solidFill>
                            <a:srgbClr val="119303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Trang: 1/1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08856"/>
                  </a:ext>
                </a:extLst>
              </a:tr>
            </a:tbl>
          </a:graphicData>
        </a:graphic>
      </p:graphicFrame>
      <p:pic>
        <p:nvPicPr>
          <p:cNvPr id="303" name="Picture 302">
            <a:extLst>
              <a:ext uri="{FF2B5EF4-FFF2-40B4-BE49-F238E27FC236}">
                <a16:creationId xmlns:a16="http://schemas.microsoft.com/office/drawing/2014/main" id="{045E66E1-03E6-C496-9613-042EA0E32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73" y="10207"/>
            <a:ext cx="1514763" cy="51004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A52B1A-B948-9BCB-73A8-CCC2B4140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4613651"/>
              </p:ext>
            </p:extLst>
          </p:nvPr>
        </p:nvGraphicFramePr>
        <p:xfrm>
          <a:off x="582842" y="1116053"/>
          <a:ext cx="11026315" cy="4998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3586">
                  <a:extLst>
                    <a:ext uri="{9D8B030D-6E8A-4147-A177-3AD203B41FA5}">
                      <a16:colId xmlns:a16="http://schemas.microsoft.com/office/drawing/2014/main" val="546654296"/>
                    </a:ext>
                  </a:extLst>
                </a:gridCol>
                <a:gridCol w="3996187">
                  <a:extLst>
                    <a:ext uri="{9D8B030D-6E8A-4147-A177-3AD203B41FA5}">
                      <a16:colId xmlns:a16="http://schemas.microsoft.com/office/drawing/2014/main" val="1141084622"/>
                    </a:ext>
                  </a:extLst>
                </a:gridCol>
                <a:gridCol w="3546542">
                  <a:extLst>
                    <a:ext uri="{9D8B030D-6E8A-4147-A177-3AD203B41FA5}">
                      <a16:colId xmlns:a16="http://schemas.microsoft.com/office/drawing/2014/main" val="4126017187"/>
                    </a:ext>
                  </a:extLst>
                </a:gridCol>
              </a:tblGrid>
              <a:tr h="124918"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50" b="1">
                        <a:solidFill>
                          <a:srgbClr val="11930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Hạng mục tương tác</a:t>
                      </a:r>
                      <a:endParaRPr lang="en-US" sz="12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DTR</a:t>
                      </a:r>
                    </a:p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i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(GĐ, P.GĐ Phòng ban hoặc người được phân công Quản lý)</a:t>
                      </a:r>
                      <a:endParaRPr lang="en-US" sz="1250" i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QUẢN LÝ TRẠM</a:t>
                      </a:r>
                    </a:p>
                    <a:p>
                      <a:pPr marL="0" marR="0" lvl="0" indent="0" algn="ctr" defTabSz="79561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 b="1" i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(GĐ Trạm, Trưởng Trạm hoặc người được phân công quản lý)</a:t>
                      </a:r>
                      <a:endParaRPr lang="en-US" sz="1250" i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29017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 b="1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Chuyên môn</a:t>
                      </a:r>
                      <a:endParaRPr lang="en-US" sz="125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endParaRPr lang="en-US" sz="125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371485">
                        <a:defRPr/>
                      </a:pPr>
                      <a:endParaRPr lang="en-US" sz="1250">
                        <a:solidFill>
                          <a:schemeClr val="accent6">
                            <a:lumMod val="5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256043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Quy trình vận hành 3Q: Quy trình, quy định, quy chế, chính sách, sổ tay, cẩm nang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Chịu trách nhiệm biên soạn nội dung và gửi cho trạm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Điều chỉnh theo tên pháp nhân trạm, đề xuất các thay đổi phù hợp và ban hành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58693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Mô tả công việc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Chịu trách nhiệm biên soạn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 tra thực hiện theo mô tả công việc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56201"/>
                  </a:ext>
                </a:extLst>
              </a:tr>
              <a:tr h="446052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Đào tạo, hướng dẫn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Chịu trách nhiệm đào tạo, hướng dẫn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Kiểm tra việc thực hiện theo hướng dẫn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241517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marL="0" algn="l" defTabSz="371485" rtl="0" eaLnBrk="1" latinLnBrk="0" hangingPunct="1">
                        <a:defRPr/>
                      </a:pPr>
                      <a:r>
                        <a:rPr lang="en-US" sz="1250" b="1" kern="1200">
                          <a:solidFill>
                            <a:srgbClr val="11930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Hành chánh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371485" rtl="0" eaLnBrk="1" latinLnBrk="0" hangingPunct="1">
                        <a:defRPr/>
                      </a:pPr>
                      <a:endParaRPr lang="en-US" sz="1250" b="1" kern="1200">
                        <a:solidFill>
                          <a:srgbClr val="11930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371485" rtl="0" eaLnBrk="1" latinLnBrk="0" hangingPunct="1">
                        <a:defRPr/>
                      </a:pPr>
                      <a:endParaRPr lang="en-US" sz="1250" b="1" kern="1200">
                        <a:solidFill>
                          <a:srgbClr val="11930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70320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Phê duyệt các loại vắng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Nhận thông tin từ nhân viên hoặc Quản lý Trạm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hiện phê duyệt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47983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 giá thử việc, tái kí HDLĐ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hiện chính việc đánh giá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Góp ý đánh giá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816253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 giá danh hiệu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Góp ý đánh giá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hiện chính việc đánh giá theo số suất tại trạm sau khi tham khảo ý kiến của Quản lý DTR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92753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Thiết lập KPI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hiện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Góp ý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223221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Đánh giá KPI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hiện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Góp ý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856418"/>
                  </a:ext>
                </a:extLst>
              </a:tr>
              <a:tr h="341811">
                <a:tc>
                  <a:txBody>
                    <a:bodyPr/>
                    <a:lstStyle/>
                    <a:p>
                      <a:pPr algn="l" defTabSz="371485"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Kỷ luật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Thực hiện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3714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5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Góp ý</a:t>
                      </a:r>
                    </a:p>
                  </a:txBody>
                  <a:tcPr marL="97972" marR="97972" marT="48985" marB="48985">
                    <a:lnL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7067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123689"/>
      </p:ext>
    </p:extLst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4795</TotalTime>
  <Words>1644</Words>
  <Application>Microsoft Office PowerPoint</Application>
  <PresentationFormat>Widescreen</PresentationFormat>
  <Paragraphs>494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Liên, Lưu Thị Kim</dc:creator>
  <cp:lastModifiedBy>Liên, Lưu Thị Kim</cp:lastModifiedBy>
  <cp:revision>21</cp:revision>
  <dcterms:created xsi:type="dcterms:W3CDTF">2026-05-30T04:13:42Z</dcterms:created>
  <dcterms:modified xsi:type="dcterms:W3CDTF">2026-06-05T10:04:30Z</dcterms:modified>
</cp:coreProperties>
</file>