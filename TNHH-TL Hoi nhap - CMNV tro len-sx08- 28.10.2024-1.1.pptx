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415" r:id="rId5"/>
    <p:sldId id="414" r:id="rId6"/>
    <p:sldId id="428" r:id="rId7"/>
    <p:sldId id="257" r:id="rId8"/>
    <p:sldId id="422" r:id="rId9"/>
    <p:sldId id="464" r:id="rId10"/>
    <p:sldId id="416" r:id="rId11"/>
    <p:sldId id="497" r:id="rId12"/>
    <p:sldId id="299" r:id="rId13"/>
    <p:sldId id="488" r:id="rId14"/>
    <p:sldId id="429" r:id="rId15"/>
    <p:sldId id="434" r:id="rId16"/>
    <p:sldId id="432" r:id="rId17"/>
    <p:sldId id="346" r:id="rId18"/>
  </p:sldIdLst>
  <p:sldSz cx="9144000" cy="6858000" type="screen4x3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CD4190-386E-45F3-A06F-DB2530E8905B}">
          <p14:sldIdLst>
            <p14:sldId id="415"/>
            <p14:sldId id="414"/>
            <p14:sldId id="428"/>
            <p14:sldId id="257"/>
            <p14:sldId id="422"/>
          </p14:sldIdLst>
        </p14:section>
        <p14:section name="I. TỔNG QUAN CÔNG TY" id="{E96B3DFA-4925-4EBD-A32F-AE21288BF6A6}">
          <p14:sldIdLst>
            <p14:sldId id="464"/>
            <p14:sldId id="416"/>
            <p14:sldId id="497"/>
            <p14:sldId id="299"/>
            <p14:sldId id="488"/>
            <p14:sldId id="429"/>
            <p14:sldId id="434"/>
            <p14:sldId id="432"/>
          </p14:sldIdLst>
        </p14:section>
        <p14:section name="II. CÁC HỖ TRỢ CẦN THIẾT" id="{99DA3029-3475-4698-8012-4ED99C280CF8}">
          <p14:sldIdLst>
            <p14:sldId id="346"/>
          </p14:sldIdLst>
        </p14:section>
        <p14:section name="III. CHINH SÁCH/ QUY ĐỊNH NHÂN SỰ" id="{BEBD2286-36AC-4ED7-BD90-3C1187D80CD7}">
          <p14:sldIdLst/>
        </p14:section>
        <p14:section name="IV. NỘI QUY/ CHÍNH SÁCH/ QUY ĐỊNH CHUNG" id="{14390F17-443F-43F4-89D0-03782F6FA9BF}">
          <p14:sldIdLst/>
        </p14:section>
        <p14:section name="Untitled Section" id="{1DAE9E11-6FE2-4AC3-8E7E-D1A51AA5614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nh, Dang Que" initials="TDQ" lastIdx="1" clrIdx="0">
    <p:extLst>
      <p:ext uri="{19B8F6BF-5375-455C-9EA6-DF929625EA0E}">
        <p15:presenceInfo xmlns:p15="http://schemas.microsoft.com/office/powerpoint/2012/main" userId="S-1-5-21-2515561106-4265119541-1709404006-53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C51"/>
    <a:srgbClr val="0077BA"/>
    <a:srgbClr val="3E4690"/>
    <a:srgbClr val="F63CB4"/>
    <a:srgbClr val="2D5F92"/>
    <a:srgbClr val="ABDAF4"/>
    <a:srgbClr val="7030A0"/>
    <a:srgbClr val="FFDFDF"/>
    <a:srgbClr val="006CB1"/>
    <a:srgbClr val="DF5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87" autoAdjust="0"/>
    <p:restoredTop sz="96101" autoAdjust="0"/>
  </p:normalViewPr>
  <p:slideViewPr>
    <p:cSldViewPr snapToGrid="0">
      <p:cViewPr varScale="1">
        <p:scale>
          <a:sx n="77" d="100"/>
          <a:sy n="77" d="100"/>
        </p:scale>
        <p:origin x="79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6E748DCA-ED39-4BBF-93BD-0489348BBAB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52538"/>
            <a:ext cx="450691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0F00BB87-A795-4E28-9EBD-07C6A3976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D5CC00-6591-4FA1-834C-F9C893BFF732}"/>
              </a:ext>
            </a:extLst>
          </p:cNvPr>
          <p:cNvGrpSpPr/>
          <p:nvPr userDrawn="1"/>
        </p:nvGrpSpPr>
        <p:grpSpPr>
          <a:xfrm>
            <a:off x="1265795" y="122796"/>
            <a:ext cx="6612411" cy="6612411"/>
            <a:chOff x="2025751" y="882750"/>
            <a:chExt cx="5092498" cy="5092498"/>
          </a:xfrm>
        </p:grpSpPr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E458116A-36F9-46F0-9DAA-65AED22C5793}"/>
                </a:ext>
              </a:extLst>
            </p:cNvPr>
            <p:cNvSpPr/>
            <p:nvPr userDrawn="1"/>
          </p:nvSpPr>
          <p:spPr>
            <a:xfrm rot="18134033">
              <a:off x="2350685" y="1079904"/>
              <a:ext cx="4698190" cy="4698190"/>
            </a:xfrm>
            <a:prstGeom prst="blockArc">
              <a:avLst>
                <a:gd name="adj1" fmla="val 10800000"/>
                <a:gd name="adj2" fmla="val 124773"/>
                <a:gd name="adj3" fmla="val 275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CDDEC2-FAAC-469D-80F5-1523D0162FEA}"/>
                </a:ext>
              </a:extLst>
            </p:cNvPr>
            <p:cNvGrpSpPr/>
            <p:nvPr userDrawn="1"/>
          </p:nvGrpSpPr>
          <p:grpSpPr>
            <a:xfrm>
              <a:off x="2760134" y="1561472"/>
              <a:ext cx="3623732" cy="3735056"/>
              <a:chOff x="6105322" y="3773762"/>
              <a:chExt cx="2295728" cy="2366255"/>
            </a:xfrm>
          </p:grpSpPr>
          <p:sp>
            <p:nvSpPr>
              <p:cNvPr id="22" name="Block Arc 21">
                <a:extLst>
                  <a:ext uri="{FF2B5EF4-FFF2-40B4-BE49-F238E27FC236}">
                    <a16:creationId xmlns:a16="http://schemas.microsoft.com/office/drawing/2014/main" id="{6AF32FC0-AB36-4815-B272-C8575169C315}"/>
                  </a:ext>
                </a:extLst>
              </p:cNvPr>
              <p:cNvSpPr/>
              <p:nvPr userDrawn="1"/>
            </p:nvSpPr>
            <p:spPr>
              <a:xfrm>
                <a:off x="6105322" y="3815189"/>
                <a:ext cx="2295728" cy="2295728"/>
              </a:xfrm>
              <a:prstGeom prst="blockArc">
                <a:avLst>
                  <a:gd name="adj1" fmla="val 10800000"/>
                  <a:gd name="adj2" fmla="val 0"/>
                  <a:gd name="adj3" fmla="val 12288"/>
                </a:avLst>
              </a:prstGeom>
              <a:solidFill>
                <a:srgbClr val="0077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Block Arc 22">
                <a:extLst>
                  <a:ext uri="{FF2B5EF4-FFF2-40B4-BE49-F238E27FC236}">
                    <a16:creationId xmlns:a16="http://schemas.microsoft.com/office/drawing/2014/main" id="{F382899D-DBBD-445A-A9E4-F3CB7B29E2A5}"/>
                  </a:ext>
                </a:extLst>
              </p:cNvPr>
              <p:cNvSpPr/>
              <p:nvPr userDrawn="1"/>
            </p:nvSpPr>
            <p:spPr>
              <a:xfrm flipV="1">
                <a:off x="6105322" y="3773762"/>
                <a:ext cx="2295728" cy="2366255"/>
              </a:xfrm>
              <a:prstGeom prst="blockArc">
                <a:avLst>
                  <a:gd name="adj1" fmla="val 10800000"/>
                  <a:gd name="adj2" fmla="val 69081"/>
                  <a:gd name="adj3" fmla="val 12393"/>
                </a:avLst>
              </a:prstGeom>
              <a:solidFill>
                <a:srgbClr val="020D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538F9201-957E-4922-A091-B5D2C689D9B8}"/>
                </a:ext>
              </a:extLst>
            </p:cNvPr>
            <p:cNvSpPr/>
            <p:nvPr userDrawn="1"/>
          </p:nvSpPr>
          <p:spPr>
            <a:xfrm rot="5804327">
              <a:off x="2322529" y="1335172"/>
              <a:ext cx="4323843" cy="4323843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20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6CB24A7F-DF7A-4C9F-BC54-B150004D098B}"/>
                </a:ext>
              </a:extLst>
            </p:cNvPr>
            <p:cNvSpPr/>
            <p:nvPr userDrawn="1"/>
          </p:nvSpPr>
          <p:spPr>
            <a:xfrm rot="11196995">
              <a:off x="2025751" y="882750"/>
              <a:ext cx="5092498" cy="5092498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79B12D9-5B72-43E6-BEE2-16BBB87AD786}"/>
                </a:ext>
              </a:extLst>
            </p:cNvPr>
            <p:cNvSpPr/>
            <p:nvPr userDrawn="1"/>
          </p:nvSpPr>
          <p:spPr>
            <a:xfrm>
              <a:off x="3168356" y="2037885"/>
              <a:ext cx="2801683" cy="28016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/>
            </a:p>
          </p:txBody>
        </p:sp>
      </p:grpSp>
    </p:spTree>
    <p:extLst>
      <p:ext uri="{BB962C8B-B14F-4D97-AF65-F5344CB8AC3E}">
        <p14:creationId xmlns:p14="http://schemas.microsoft.com/office/powerpoint/2010/main" val="348907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083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329446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87F67C-E277-41C7-8A54-FBFD2A308B76}"/>
              </a:ext>
            </a:extLst>
          </p:cNvPr>
          <p:cNvSpPr/>
          <p:nvPr userDrawn="1"/>
        </p:nvSpPr>
        <p:spPr>
          <a:xfrm>
            <a:off x="2540000" y="637085"/>
            <a:ext cx="5181600" cy="466927"/>
          </a:xfrm>
          <a:prstGeom prst="roundRect">
            <a:avLst>
              <a:gd name="adj" fmla="val 50000"/>
            </a:avLst>
          </a:prstGeom>
          <a:solidFill>
            <a:srgbClr val="007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16921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6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5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43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2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4B6-8F31-40F5-8EF9-80D608D5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2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4B6-8F31-40F5-8EF9-80D608D5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55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432B67F-FE26-4927-8535-92D62A3129D5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55" y="240006"/>
            <a:ext cx="1440160" cy="2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8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87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86" r:id="rId13"/>
    <p:sldLayoutId id="2147483688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0A8070-5E92-B3FD-906B-0D9C21760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79" y="2238853"/>
            <a:ext cx="7433641" cy="43933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E0DCB9-6920-B83B-0317-7C995F1D8470}"/>
              </a:ext>
            </a:extLst>
          </p:cNvPr>
          <p:cNvSpPr txBox="1"/>
          <p:nvPr/>
        </p:nvSpPr>
        <p:spPr>
          <a:xfrm>
            <a:off x="2226365" y="1550605"/>
            <a:ext cx="5327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2800" b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TÀI LIỆU ĐÀO TẠO HỘI NHẬP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5DAA8-AF8F-8299-DED0-323503C1FEBC}"/>
              </a:ext>
            </a:extLst>
          </p:cNvPr>
          <p:cNvSpPr txBox="1"/>
          <p:nvPr/>
        </p:nvSpPr>
        <p:spPr>
          <a:xfrm>
            <a:off x="7765774" y="83117"/>
            <a:ext cx="1378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z="1400"/>
              <a:t>sx </a:t>
            </a:r>
            <a:r>
              <a:rPr lang="en-US" sz="1300"/>
              <a:t>08/00</a:t>
            </a:r>
            <a:endParaRPr lang="vi-VN" sz="13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B424B-5310-4C99-B56A-7E988BCA542B}"/>
              </a:ext>
            </a:extLst>
          </p:cNvPr>
          <p:cNvSpPr/>
          <p:nvPr/>
        </p:nvSpPr>
        <p:spPr>
          <a:xfrm>
            <a:off x="3072542" y="93980"/>
            <a:ext cx="29989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Welcome to</a:t>
            </a:r>
            <a:endParaRPr lang="en-US" sz="36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8D5732-6A99-B7FB-4378-3F9D10BF0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39" y="555922"/>
            <a:ext cx="7619048" cy="9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70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B3D3C56-6103-4AAF-BACC-A4C4B027B2E5}"/>
              </a:ext>
            </a:extLst>
          </p:cNvPr>
          <p:cNvGrpSpPr/>
          <p:nvPr/>
        </p:nvGrpSpPr>
        <p:grpSpPr>
          <a:xfrm>
            <a:off x="163021" y="501218"/>
            <a:ext cx="5585233" cy="6432530"/>
            <a:chOff x="777904" y="1472671"/>
            <a:chExt cx="5030882" cy="643253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73E131-3D7A-4A2E-993D-71426B7BC99A}"/>
                </a:ext>
              </a:extLst>
            </p:cNvPr>
            <p:cNvSpPr txBox="1"/>
            <p:nvPr/>
          </p:nvSpPr>
          <p:spPr>
            <a:xfrm>
              <a:off x="841831" y="2026669"/>
              <a:ext cx="4966955" cy="5878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sz="1400" i="1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hào mừng bạn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nhập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công</a:t>
              </a:r>
              <a:r>
                <a:rPr lang="en-US" sz="140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ty</a:t>
              </a:r>
              <a:r>
                <a:rPr lang="vi-VN" sz="140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Duy Tân.</a:t>
              </a:r>
            </a:p>
            <a:p>
              <a:pPr algn="just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ơ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30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năm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sự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nghiệp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xây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dựng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công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ty,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tôi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luôn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chủ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trương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ạo môi trường làm việc tốt nhất để mọi người có cơ hội phát huy tối đa khả năng của mình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mỗi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quyết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định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hành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động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tôi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đều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nhằm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hướng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đến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việc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đảm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bảo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sự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lớn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công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ty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gắn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sự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phát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triển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mỗi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nhân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tổ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chức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just">
                <a:lnSpc>
                  <a:spcPct val="150000"/>
                </a:lnSpc>
                <a:spcAft>
                  <a:spcPts val="600"/>
                </a:spcAft>
              </a:pP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Tôi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tin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tưởng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vào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sự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tài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giỏi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đợi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lòng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nhiệt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tâm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mà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bạn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dành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cho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công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ty.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Tôi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tin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chắc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rằng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bằng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sự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quyết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tâm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nỗ lực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từng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nhân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sẽ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tạo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nên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sức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cả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tập thể,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từ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đó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chúng ta sẽ đạt được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nhiều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thành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tựu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hơn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nữa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tương lai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nâng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tầm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Duy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Tân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trong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khu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vực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trên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toàn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thế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giới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just">
                <a:lnSpc>
                  <a:spcPct val="150000"/>
                </a:lnSpc>
                <a:spcAft>
                  <a:spcPts val="600"/>
                </a:spcAft>
              </a:pP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húc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bạn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sẽ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có những ngày làm việc thật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thoải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mái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và thành công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cùng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vi-VN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với Duy Tân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</a:p>
            <a:p>
              <a:pPr algn="just">
                <a:lnSpc>
                  <a:spcPct val="150000"/>
                </a:lnSpc>
              </a:pP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Trân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1400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trọng</a:t>
              </a:r>
              <a:r>
                <a:rPr lang="en-US" sz="1400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</a:t>
              </a:r>
            </a:p>
            <a:p>
              <a:pPr algn="just">
                <a:lnSpc>
                  <a:spcPct val="150000"/>
                </a:lnSpc>
              </a:pPr>
              <a:endParaRPr lang="en-US" sz="1400" b="1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1400" b="1" dirty="0" err="1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Trần</a:t>
              </a:r>
              <a:r>
                <a:rPr lang="en-US" sz="1400" b="1" dirty="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Duy Hy</a:t>
              </a:r>
            </a:p>
            <a:p>
              <a:endParaRPr lang="en-US" sz="2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234AAE-5F59-4B4A-84A4-2941E7A41973}"/>
                </a:ext>
              </a:extLst>
            </p:cNvPr>
            <p:cNvSpPr txBox="1"/>
            <p:nvPr/>
          </p:nvSpPr>
          <p:spPr>
            <a:xfrm>
              <a:off x="777904" y="1472671"/>
              <a:ext cx="57856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6600">
                  <a:solidFill>
                    <a:srgbClr val="154A9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 </a:t>
              </a:r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0DBDF05-4229-454F-AFA6-FF42636DAF12}"/>
              </a:ext>
            </a:extLst>
          </p:cNvPr>
          <p:cNvSpPr txBox="1"/>
          <p:nvPr/>
        </p:nvSpPr>
        <p:spPr>
          <a:xfrm>
            <a:off x="5993965" y="3833913"/>
            <a:ext cx="3119490" cy="96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Ông</a:t>
            </a:r>
            <a:r>
              <a:rPr lang="en-US" b="1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</a:t>
            </a:r>
            <a:r>
              <a:rPr lang="en-US" b="1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Duy Hy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Nhà</a:t>
            </a:r>
            <a:r>
              <a:rPr lang="en-US" sz="1050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sáng</a:t>
            </a:r>
            <a:r>
              <a:rPr lang="en-US" sz="1050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050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Duy </a:t>
            </a:r>
            <a:r>
              <a:rPr lang="en-US" sz="1050" dirty="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Tân</a:t>
            </a:r>
            <a:r>
              <a:rPr lang="en-US" sz="1050" dirty="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050" err="1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1050">
                <a:solidFill>
                  <a:srgbClr val="154A9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tịch Hội đồng thành viên</a:t>
            </a:r>
            <a:endParaRPr lang="en-US" sz="1050" dirty="0">
              <a:solidFill>
                <a:srgbClr val="154A9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D8225F-8793-44C5-AB5F-979FD779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person in a suit and tie&#10;&#10;Description automatically generated with medium confidence">
            <a:extLst>
              <a:ext uri="{FF2B5EF4-FFF2-40B4-BE49-F238E27FC236}">
                <a16:creationId xmlns:a16="http://schemas.microsoft.com/office/drawing/2014/main" id="{82634DFC-0831-E3B1-C3D6-08365E964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52" y="1055216"/>
            <a:ext cx="2013115" cy="266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2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D8225F-8793-44C5-AB5F-979FD779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3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B8E50D-9D52-4D2C-87A6-2459ED70FF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09" b="26087"/>
          <a:stretch/>
        </p:blipFill>
        <p:spPr>
          <a:xfrm>
            <a:off x="0" y="1550504"/>
            <a:ext cx="9144000" cy="35184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A4F468-0D52-4D6B-AB2C-7C2B4EEF8724}"/>
              </a:ext>
            </a:extLst>
          </p:cNvPr>
          <p:cNvSpPr txBox="1"/>
          <p:nvPr/>
        </p:nvSpPr>
        <p:spPr>
          <a:xfrm>
            <a:off x="566531" y="2007838"/>
            <a:ext cx="4581940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Sau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bạn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Đào</a:t>
            </a:r>
            <a:r>
              <a:rPr lang="en-US" sz="1400" b="1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400" b="1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</a:t>
            </a:r>
            <a:r>
              <a:rPr lang="en-US" sz="1400" b="1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400" b="1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Duy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Tân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Chúng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tôi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bạn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hãy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nghiên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cứu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thật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nêu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nhanh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chóng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hòa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cùng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400" dirty="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>
                <a:solidFill>
                  <a:srgbClr val="3E46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ty.</a:t>
            </a:r>
            <a:endParaRPr lang="en-US" sz="1400" dirty="0">
              <a:solidFill>
                <a:srgbClr val="3E469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507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Moz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58FAF3-FD07-217E-DF4E-4FA26BC28221}"/>
              </a:ext>
            </a:extLst>
          </p:cNvPr>
          <p:cNvSpPr/>
          <p:nvPr/>
        </p:nvSpPr>
        <p:spPr>
          <a:xfrm>
            <a:off x="818927" y="1630876"/>
            <a:ext cx="7201845" cy="152796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43EBBD-DFA6-43E3-8349-3EF73F6C0479}"/>
              </a:ext>
            </a:extLst>
          </p:cNvPr>
          <p:cNvSpPr txBox="1"/>
          <p:nvPr/>
        </p:nvSpPr>
        <p:spPr>
          <a:xfrm>
            <a:off x="1347918" y="1686970"/>
            <a:ext cx="6143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020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ĐÀO TẠO HỘI </a:t>
            </a:r>
            <a:r>
              <a:rPr lang="en-US" sz="4000" b="1" dirty="0">
                <a:solidFill>
                  <a:srgbClr val="020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endParaRPr lang="vi-VN" sz="4000" b="1" dirty="0">
              <a:solidFill>
                <a:srgbClr val="020D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225A0B-7CB5-9A2E-7A96-9727FC36CFED}"/>
              </a:ext>
            </a:extLst>
          </p:cNvPr>
          <p:cNvSpPr/>
          <p:nvPr/>
        </p:nvSpPr>
        <p:spPr>
          <a:xfrm>
            <a:off x="2932126" y="1526519"/>
            <a:ext cx="3015253" cy="208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5032E-D3B3-6A5D-66F0-5A13C41296CB}"/>
              </a:ext>
            </a:extLst>
          </p:cNvPr>
          <p:cNvSpPr txBox="1"/>
          <p:nvPr/>
        </p:nvSpPr>
        <p:spPr>
          <a:xfrm>
            <a:off x="2610694" y="1234131"/>
            <a:ext cx="3783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20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vi-VN" sz="3200" b="1" dirty="0">
                <a:solidFill>
                  <a:srgbClr val="020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3200" b="1" err="1">
                <a:solidFill>
                  <a:srgbClr val="020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</a:t>
            </a:r>
            <a:r>
              <a:rPr lang="en-US" sz="3200" b="1">
                <a:solidFill>
                  <a:srgbClr val="020D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Trình</a:t>
            </a:r>
            <a:endParaRPr lang="en-US" sz="3200" b="1" dirty="0">
              <a:solidFill>
                <a:srgbClr val="020D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3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65E487-4A1B-405F-A1B1-8E83AB07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834B7D-5674-42A9-A9CC-3ED75C0BA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006808"/>
              </p:ext>
            </p:extLst>
          </p:nvPr>
        </p:nvGraphicFramePr>
        <p:xfrm>
          <a:off x="304796" y="1012027"/>
          <a:ext cx="9143999" cy="5814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4106">
                  <a:extLst>
                    <a:ext uri="{9D8B030D-6E8A-4147-A177-3AD203B41FA5}">
                      <a16:colId xmlns:a16="http://schemas.microsoft.com/office/drawing/2014/main" val="3671267551"/>
                    </a:ext>
                  </a:extLst>
                </a:gridCol>
                <a:gridCol w="5129893">
                  <a:extLst>
                    <a:ext uri="{9D8B030D-6E8A-4147-A177-3AD203B41FA5}">
                      <a16:colId xmlns:a16="http://schemas.microsoft.com/office/drawing/2014/main" val="1754225059"/>
                    </a:ext>
                  </a:extLst>
                </a:gridCol>
              </a:tblGrid>
              <a:tr h="5508624">
                <a:tc>
                  <a:txBody>
                    <a:bodyPr/>
                    <a:lstStyle/>
                    <a:p>
                      <a:pPr lvl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I. TỔNG QUAN CÔNG TY</a:t>
                      </a:r>
                      <a:endParaRPr lang="vi-VN" sz="1600" b="1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chung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Tầm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nhìn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Sứ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mệnh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trị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cốt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lõi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Văn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hóa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Duy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Tân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tổ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chức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Lĩnh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xuất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viên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phẩm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chúng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ta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Khách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phân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phối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nổi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bật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hoạt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kiện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II. CÁC HỖ TRỢ CẦN THIẾT</a:t>
                      </a:r>
                      <a:endParaRPr lang="vi-VN" sz="1600" b="1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cụ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làm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việc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Kênh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nội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bộ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thoại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nhớ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Email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nhớ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vi-VN" sz="1600" dirty="0">
                        <a:solidFill>
                          <a:srgbClr val="020C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III. CHÍNH SÁCH/ QUY ĐỊNH NHÂN SỰ</a:t>
                      </a:r>
                      <a:endParaRPr lang="vi-VN" sz="1600" b="1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lao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Lương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phụ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cấp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nghỉ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phép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thâm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niên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Phúc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lợi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tích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Ý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tưởng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cải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tiến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IV. NỘI QUY/ CHÍNH SÁCH/ QUY ĐỊNH CHUNG</a:t>
                      </a:r>
                      <a:endParaRPr lang="vi-VN" sz="1600" b="1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đạo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đức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doanh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Bảo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mật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an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ninh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 </a:t>
                      </a: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Một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lưu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ý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vi-VN" sz="1600" b="0" dirty="0">
                        <a:solidFill>
                          <a:srgbClr val="020C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897587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090EF75F-55EC-4DAD-9CFB-CF7103AB8901}"/>
              </a:ext>
            </a:extLst>
          </p:cNvPr>
          <p:cNvSpPr txBox="1"/>
          <p:nvPr/>
        </p:nvSpPr>
        <p:spPr>
          <a:xfrm>
            <a:off x="2233060" y="146215"/>
            <a:ext cx="58125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CH</a:t>
            </a:r>
            <a:r>
              <a:rPr lang="vi-VN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 TRÌNH</a:t>
            </a:r>
            <a:endParaRPr lang="vi-VN" sz="2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70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65E487-4A1B-405F-A1B1-8E83AB07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834B7D-5674-42A9-A9CC-3ED75C0BA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34448"/>
              </p:ext>
            </p:extLst>
          </p:nvPr>
        </p:nvGraphicFramePr>
        <p:xfrm>
          <a:off x="304796" y="1012027"/>
          <a:ext cx="9143999" cy="613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4106">
                  <a:extLst>
                    <a:ext uri="{9D8B030D-6E8A-4147-A177-3AD203B41FA5}">
                      <a16:colId xmlns:a16="http://schemas.microsoft.com/office/drawing/2014/main" val="3671267551"/>
                    </a:ext>
                  </a:extLst>
                </a:gridCol>
                <a:gridCol w="5129893">
                  <a:extLst>
                    <a:ext uri="{9D8B030D-6E8A-4147-A177-3AD203B41FA5}">
                      <a16:colId xmlns:a16="http://schemas.microsoft.com/office/drawing/2014/main" val="1754225059"/>
                    </a:ext>
                  </a:extLst>
                </a:gridCol>
              </a:tblGrid>
              <a:tr h="5508624">
                <a:tc>
                  <a:txBody>
                    <a:bodyPr/>
                    <a:lstStyle/>
                    <a:p>
                      <a:pPr lvl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I. TỔNG QUAN CÔNG TY</a:t>
                      </a:r>
                      <a:endParaRPr lang="vi-VN" sz="1600" b="1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chung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Tầm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nhìn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Sứ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mệnh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trị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cốt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lõi</a:t>
                      </a:r>
                      <a:endParaRPr lang="en-US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Văn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hóa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Duy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Tân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Sơ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tổ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chức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Lĩnh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xuất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viên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phẩm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chúng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ta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Khách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phân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phối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nổi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bật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hoạt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kiện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II. CÁC HỖ TRỢ CẦN THIẾT</a:t>
                      </a:r>
                      <a:endParaRPr lang="vi-VN" sz="1600" b="1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cụ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làm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việc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Kênh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nội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bộ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thoại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nhớ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Email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nhớ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vi-VN" sz="1600" dirty="0">
                        <a:solidFill>
                          <a:srgbClr val="020C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III. CHÍNH SÁCH/ QUY ĐỊNH NHÂN SỰ</a:t>
                      </a:r>
                      <a:endParaRPr lang="vi-VN" sz="1600" b="1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lao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Lương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phụ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cấp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nghỉ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phép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thâm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niên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Phúc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lợi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tích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Ý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tưởng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cải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tiến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IV. NỘI QUY/ CHÍNH SÁCH/ QUY ĐỊNH CHUNG</a:t>
                      </a:r>
                      <a:endParaRPr lang="vi-VN" sz="1600" b="1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đạo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đức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doanh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mật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an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Một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lưu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ý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vi-VN" sz="1600" b="0" dirty="0">
                        <a:solidFill>
                          <a:srgbClr val="020C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897587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090EF75F-55EC-4DAD-9CFB-CF7103AB8901}"/>
              </a:ext>
            </a:extLst>
          </p:cNvPr>
          <p:cNvSpPr txBox="1"/>
          <p:nvPr/>
        </p:nvSpPr>
        <p:spPr>
          <a:xfrm>
            <a:off x="2233060" y="146215"/>
            <a:ext cx="58125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CH</a:t>
            </a:r>
            <a:r>
              <a:rPr lang="vi-VN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 TRÌNH</a:t>
            </a:r>
            <a:endParaRPr lang="vi-VN" sz="2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625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795D1F-7D9D-4FB0-85C2-29DABC99CF6E}"/>
              </a:ext>
            </a:extLst>
          </p:cNvPr>
          <p:cNvSpPr txBox="1"/>
          <p:nvPr/>
        </p:nvSpPr>
        <p:spPr>
          <a:xfrm>
            <a:off x="638318" y="1372678"/>
            <a:ext cx="77596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 Tân Group</a:t>
            </a:r>
            <a:endParaRPr lang="en-US" sz="21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86C35-C150-42A4-81DE-63E42E33C9E4}"/>
              </a:ext>
            </a:extLst>
          </p:cNvPr>
          <p:cNvSpPr txBox="1"/>
          <p:nvPr/>
        </p:nvSpPr>
        <p:spPr>
          <a:xfrm>
            <a:off x="638318" y="4340799"/>
            <a:ext cx="83122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1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 chỉ: 1908 Võ Văn Kiệt, Phường An Lạc, Quận Bình Tân, TP.HCM</a:t>
            </a:r>
            <a:endParaRPr lang="en-US" sz="210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29EBF-7D10-4D45-8EBD-7A8D6BEB0AD1}"/>
              </a:ext>
            </a:extLst>
          </p:cNvPr>
          <p:cNvSpPr txBox="1"/>
          <p:nvPr/>
        </p:nvSpPr>
        <p:spPr>
          <a:xfrm>
            <a:off x="658771" y="2051815"/>
            <a:ext cx="61739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hơn</a:t>
            </a:r>
            <a:r>
              <a:rPr lang="en-US" sz="21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1.800  nhân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21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E8D01-03ED-4B61-A600-4A544A7C0257}"/>
              </a:ext>
            </a:extLst>
          </p:cNvPr>
          <p:cNvSpPr txBox="1"/>
          <p:nvPr/>
        </p:nvSpPr>
        <p:spPr>
          <a:xfrm>
            <a:off x="591970" y="5791274"/>
            <a:ext cx="4100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2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 thoại: (84-</a:t>
            </a:r>
            <a:r>
              <a:rPr lang="en-US" sz="22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vi-VN" sz="22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vi-VN" sz="22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3620 3388</a:t>
            </a:r>
            <a:endParaRPr lang="vi-VN" sz="22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vi-VN" sz="22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Fax:           (84-28) 3620 3399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713B2C-C161-4A67-A6FD-C4C82504B763}"/>
              </a:ext>
            </a:extLst>
          </p:cNvPr>
          <p:cNvSpPr txBox="1"/>
          <p:nvPr/>
        </p:nvSpPr>
        <p:spPr>
          <a:xfrm>
            <a:off x="680233" y="4870184"/>
            <a:ext cx="4933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 </a:t>
            </a:r>
            <a:r>
              <a:rPr lang="vi-VN" sz="22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info@duytangroup.com</a:t>
            </a:r>
            <a:r>
              <a:rPr lang="en-US" sz="22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8A50F-4549-4F2C-A709-C5EF75B0914C}"/>
              </a:ext>
            </a:extLst>
          </p:cNvPr>
          <p:cNvSpPr txBox="1"/>
          <p:nvPr/>
        </p:nvSpPr>
        <p:spPr>
          <a:xfrm>
            <a:off x="658771" y="2798696"/>
            <a:ext cx="84047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1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1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nhựa</a:t>
            </a:r>
            <a:r>
              <a:rPr lang="en-US" sz="21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tái chế, khuôn mẫu và lĩnh vực khác</a:t>
            </a:r>
            <a:endParaRPr lang="en-US" sz="21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E1C7A5-BCFD-4583-9643-767633DF80DE}"/>
              </a:ext>
            </a:extLst>
          </p:cNvPr>
          <p:cNvSpPr txBox="1"/>
          <p:nvPr/>
        </p:nvSpPr>
        <p:spPr>
          <a:xfrm>
            <a:off x="638318" y="3567416"/>
            <a:ext cx="840472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1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Đạt nhiều danh hiệu và chứng nhận quan trọng trong và ngoài nước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C3536-6F76-44FF-AD62-7964D43E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7</a:t>
            </a:fld>
            <a:endParaRPr lang="en-US"/>
          </a:p>
        </p:txBody>
      </p:sp>
      <p:pic>
        <p:nvPicPr>
          <p:cNvPr id="13" name="Picture 12" descr="A close up of a logo&#10;&#10;Description generated with high confidence">
            <a:extLst>
              <a:ext uri="{FF2B5EF4-FFF2-40B4-BE49-F238E27FC236}">
                <a16:creationId xmlns:a16="http://schemas.microsoft.com/office/drawing/2014/main" id="{CE95C523-2701-451A-8DB3-9A902D4AB2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0" y="1261602"/>
            <a:ext cx="466140" cy="466140"/>
          </a:xfrm>
          <a:prstGeom prst="rect">
            <a:avLst/>
          </a:prstGeom>
        </p:spPr>
      </p:pic>
      <p:pic>
        <p:nvPicPr>
          <p:cNvPr id="15" name="Picture 14" descr="A picture containing balloon&#10;&#10;Description generated with high confidence">
            <a:extLst>
              <a:ext uri="{FF2B5EF4-FFF2-40B4-BE49-F238E27FC236}">
                <a16:creationId xmlns:a16="http://schemas.microsoft.com/office/drawing/2014/main" id="{5D0C5BD9-8321-45B6-9EB5-34A03FFB38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0" y="2017481"/>
            <a:ext cx="466140" cy="466140"/>
          </a:xfrm>
          <a:prstGeom prst="rect">
            <a:avLst/>
          </a:prstGeom>
        </p:spPr>
      </p:pic>
      <p:pic>
        <p:nvPicPr>
          <p:cNvPr id="17" name="Picture 16" descr="A picture containing screenshot, vector graphics&#10;&#10;Description generated with high confidence">
            <a:extLst>
              <a:ext uri="{FF2B5EF4-FFF2-40B4-BE49-F238E27FC236}">
                <a16:creationId xmlns:a16="http://schemas.microsoft.com/office/drawing/2014/main" id="{F0EDBACD-AAC9-466C-BCE0-5E70F8040C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0" y="2768569"/>
            <a:ext cx="466140" cy="4661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3C24566-16E7-4944-83EE-2B87887809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2" y="3519659"/>
            <a:ext cx="466141" cy="46614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4873261-AF93-4BAE-A9F8-61F3B59553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1" y="4270747"/>
            <a:ext cx="466141" cy="46614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2D5FECD-B376-48EE-8022-83EC0BED842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1" y="5021835"/>
            <a:ext cx="466141" cy="466141"/>
          </a:xfrm>
          <a:prstGeom prst="rect">
            <a:avLst/>
          </a:prstGeom>
        </p:spPr>
      </p:pic>
      <p:pic>
        <p:nvPicPr>
          <p:cNvPr id="27" name="Graphic 26" descr="Telephone">
            <a:extLst>
              <a:ext uri="{FF2B5EF4-FFF2-40B4-BE49-F238E27FC236}">
                <a16:creationId xmlns:a16="http://schemas.microsoft.com/office/drawing/2014/main" id="{CA689B59-B323-4663-8DA8-F7E4C5C4086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40" y="5639623"/>
            <a:ext cx="580082" cy="5800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277DD92-BE2A-4AC7-BB94-1C7817BE6571}"/>
              </a:ext>
            </a:extLst>
          </p:cNvPr>
          <p:cNvSpPr txBox="1"/>
          <p:nvPr/>
        </p:nvSpPr>
        <p:spPr>
          <a:xfrm>
            <a:off x="2235201" y="64456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342900" algn="ctr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</a:t>
            </a:r>
            <a:endParaRPr lang="vi-VN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0E7C9-2FE2-A26C-3EA6-63EC295DCB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1102" y="37365"/>
            <a:ext cx="7420060" cy="12082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5C0F2F-D915-8BC3-1FF1-80A3924F20E6}"/>
              </a:ext>
            </a:extLst>
          </p:cNvPr>
          <p:cNvSpPr txBox="1"/>
          <p:nvPr/>
        </p:nvSpPr>
        <p:spPr>
          <a:xfrm>
            <a:off x="1714503" y="17651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CDE72-8B08-C9BE-5C03-1A4B7DF4520C}"/>
              </a:ext>
            </a:extLst>
          </p:cNvPr>
          <p:cNvSpPr txBox="1"/>
          <p:nvPr/>
        </p:nvSpPr>
        <p:spPr>
          <a:xfrm>
            <a:off x="1916909" y="667620"/>
            <a:ext cx="5429930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ctr">
              <a:lnSpc>
                <a:spcPct val="130000"/>
              </a:lnSpc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  <a:endParaRPr lang="vi-V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5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7574-F369-9AD1-76B1-1C0A3A6DB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oup of colorful text boxes&#10;&#10;Description automatically generated with medium confidence">
            <a:extLst>
              <a:ext uri="{FF2B5EF4-FFF2-40B4-BE49-F238E27FC236}">
                <a16:creationId xmlns:a16="http://schemas.microsoft.com/office/drawing/2014/main" id="{32658D23-F65D-DB38-B56D-B67DD9B6DC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85016" y="76672"/>
            <a:ext cx="11914031" cy="65560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082077-9C80-047B-B095-18017D040500}"/>
              </a:ext>
            </a:extLst>
          </p:cNvPr>
          <p:cNvSpPr txBox="1"/>
          <p:nvPr/>
        </p:nvSpPr>
        <p:spPr>
          <a:xfrm>
            <a:off x="2235201" y="64456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6575" indent="-342900" algn="ctr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</a:t>
            </a:r>
            <a:endParaRPr lang="vi-VN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AAFEBC-3AFD-AFC8-06CA-B67D13CAB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102" y="37365"/>
            <a:ext cx="7420060" cy="12082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2995AD-FBFA-7B8D-C3E7-CE493526C932}"/>
              </a:ext>
            </a:extLst>
          </p:cNvPr>
          <p:cNvSpPr txBox="1"/>
          <p:nvPr/>
        </p:nvSpPr>
        <p:spPr>
          <a:xfrm>
            <a:off x="1714503" y="17651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4B6B07-546D-8CBE-639C-48F061FBB377}"/>
              </a:ext>
            </a:extLst>
          </p:cNvPr>
          <p:cNvSpPr txBox="1"/>
          <p:nvPr/>
        </p:nvSpPr>
        <p:spPr>
          <a:xfrm>
            <a:off x="1916909" y="667620"/>
            <a:ext cx="5429930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9862" algn="ctr">
              <a:lnSpc>
                <a:spcPct val="130000"/>
              </a:lnSpc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GIÁ TRỊ CỐT LÕI</a:t>
            </a:r>
            <a:endParaRPr lang="vi-VN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1ABB33-03FD-7B67-9153-57CD61282C24}"/>
              </a:ext>
            </a:extLst>
          </p:cNvPr>
          <p:cNvSpPr txBox="1"/>
          <p:nvPr/>
        </p:nvSpPr>
        <p:spPr>
          <a:xfrm>
            <a:off x="1495590" y="2587126"/>
            <a:ext cx="1870954" cy="9928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Luôn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làm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điều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đúng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với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tinh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thần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trung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thực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và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thực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hiện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trọn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vẹn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mọi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cam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kết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.</a:t>
            </a:r>
            <a:endParaRPr lang="en-US" sz="1463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348A7D-4556-C4D8-AE44-9AA69691878C}"/>
              </a:ext>
            </a:extLst>
          </p:cNvPr>
          <p:cNvSpPr txBox="1"/>
          <p:nvPr/>
        </p:nvSpPr>
        <p:spPr>
          <a:xfrm>
            <a:off x="6374215" y="5034802"/>
            <a:ext cx="2196947" cy="992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42950">
              <a:defRPr/>
            </a:pP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Thực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hiện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cam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kết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chịu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trách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nhiệm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về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kết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quả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được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tạo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ra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bởi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hành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động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của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mình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  <a:endParaRPr lang="vi-VN" sz="1300" b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4894C-5DFA-E736-5246-D47D898C0BEF}"/>
              </a:ext>
            </a:extLst>
          </p:cNvPr>
          <p:cNvSpPr txBox="1"/>
          <p:nvPr/>
        </p:nvSpPr>
        <p:spPr>
          <a:xfrm>
            <a:off x="5990040" y="2436164"/>
            <a:ext cx="1975353" cy="9928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742950">
              <a:defRPr/>
            </a:pP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Luôn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hướng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đến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cung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cấp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sản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phẩm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,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dịch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vụ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theo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tiêu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chuẩn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cao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nhất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13C099-01A8-93B5-DFF9-941576DD3613}"/>
              </a:ext>
            </a:extLst>
          </p:cNvPr>
          <p:cNvSpPr txBox="1"/>
          <p:nvPr/>
        </p:nvSpPr>
        <p:spPr>
          <a:xfrm>
            <a:off x="929232" y="4788238"/>
            <a:ext cx="1975353" cy="99283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defTabSz="742950">
              <a:defRPr/>
            </a:pP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Luôn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hướng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đến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cung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cấp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sản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phẩm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,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dịch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vụ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theo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tiêu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chuẩn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cao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nhất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+mn-cs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C54D95-FDCE-ED75-F01E-6C170DCB93E6}"/>
              </a:ext>
            </a:extLst>
          </p:cNvPr>
          <p:cNvSpPr txBox="1"/>
          <p:nvPr/>
        </p:nvSpPr>
        <p:spPr>
          <a:xfrm>
            <a:off x="3458979" y="5643782"/>
            <a:ext cx="1914765" cy="76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42950">
              <a:defRPr/>
            </a:pP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Bảo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vệ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duy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trì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tăng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cường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các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nguồn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tài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nguyên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cho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tương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463" b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lai</a:t>
            </a:r>
            <a:r>
              <a:rPr lang="en-US" sz="1463" b="1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9928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E2969F-B7FD-76EB-E80D-6274A2A7F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5" y="2355872"/>
            <a:ext cx="7416713" cy="33271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ED3A51-9994-BF02-F590-6CB3AA2531B4}"/>
              </a:ext>
            </a:extLst>
          </p:cNvPr>
          <p:cNvSpPr/>
          <p:nvPr/>
        </p:nvSpPr>
        <p:spPr>
          <a:xfrm>
            <a:off x="7412728" y="3882000"/>
            <a:ext cx="175178" cy="2748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3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F40B00E-2A75-75D4-A0B5-D899016289B6}"/>
              </a:ext>
            </a:extLst>
          </p:cNvPr>
          <p:cNvSpPr/>
          <p:nvPr/>
        </p:nvSpPr>
        <p:spPr>
          <a:xfrm>
            <a:off x="7412727" y="3911642"/>
            <a:ext cx="1383404" cy="274866"/>
          </a:xfrm>
          <a:prstGeom prst="rightArrow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 sz="1350"/>
          </a:p>
        </p:txBody>
      </p:sp>
      <p:sp>
        <p:nvSpPr>
          <p:cNvPr id="10" name="Flowchart: Extract 9">
            <a:extLst>
              <a:ext uri="{FF2B5EF4-FFF2-40B4-BE49-F238E27FC236}">
                <a16:creationId xmlns:a16="http://schemas.microsoft.com/office/drawing/2014/main" id="{527BD611-59D8-E875-549C-0A73675CFAAE}"/>
              </a:ext>
            </a:extLst>
          </p:cNvPr>
          <p:cNvSpPr/>
          <p:nvPr/>
        </p:nvSpPr>
        <p:spPr>
          <a:xfrm rot="10800000">
            <a:off x="7993800" y="4107631"/>
            <a:ext cx="221258" cy="157754"/>
          </a:xfrm>
          <a:prstGeom prst="flowChartExtra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 sz="135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16F832-CBD3-E6F7-324F-607A232CB698}"/>
              </a:ext>
            </a:extLst>
          </p:cNvPr>
          <p:cNvGrpSpPr/>
          <p:nvPr/>
        </p:nvGrpSpPr>
        <p:grpSpPr>
          <a:xfrm>
            <a:off x="7812342" y="3357474"/>
            <a:ext cx="773059" cy="524526"/>
            <a:chOff x="10268380" y="3313043"/>
            <a:chExt cx="1030745" cy="69936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888185-ADEC-27BD-E597-D5C855DC9D47}"/>
                </a:ext>
              </a:extLst>
            </p:cNvPr>
            <p:cNvSpPr/>
            <p:nvPr/>
          </p:nvSpPr>
          <p:spPr>
            <a:xfrm>
              <a:off x="10268380" y="3313043"/>
              <a:ext cx="715902" cy="688462"/>
            </a:xfrm>
            <a:prstGeom prst="ellipse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 sz="13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DC3F628-7D63-642C-85E9-550B1D3832EE}"/>
                </a:ext>
              </a:extLst>
            </p:cNvPr>
            <p:cNvSpPr/>
            <p:nvPr/>
          </p:nvSpPr>
          <p:spPr>
            <a:xfrm rot="153657">
              <a:off x="10327886" y="3327470"/>
              <a:ext cx="661027" cy="684941"/>
            </a:xfrm>
            <a:prstGeom prst="ellipse">
              <a:avLst/>
            </a:prstGeom>
            <a:solidFill>
              <a:srgbClr val="EAEAEA"/>
            </a:solidFill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vi-VN" sz="1050" b="1">
                <a:solidFill>
                  <a:srgbClr val="003399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800610-91B3-36DA-68AD-CF9299478C4B}"/>
                </a:ext>
              </a:extLst>
            </p:cNvPr>
            <p:cNvSpPr txBox="1"/>
            <p:nvPr/>
          </p:nvSpPr>
          <p:spPr>
            <a:xfrm>
              <a:off x="10323515" y="3455970"/>
              <a:ext cx="9756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200" b="1">
                  <a:solidFill>
                    <a:srgbClr val="003399"/>
                  </a:solidFill>
                </a:rPr>
                <a:t>2022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5A7F638-9FA7-4F25-5EB5-C3C7C7A84F7D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8093374" y="3881744"/>
            <a:ext cx="0" cy="95471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85D7DD-78DD-B20F-3C5B-8BA9A8D002AA}"/>
              </a:ext>
            </a:extLst>
          </p:cNvPr>
          <p:cNvCxnSpPr>
            <a:stCxn id="10" idx="0"/>
          </p:cNvCxnSpPr>
          <p:nvPr/>
        </p:nvCxnSpPr>
        <p:spPr>
          <a:xfrm>
            <a:off x="8104429" y="4265385"/>
            <a:ext cx="0" cy="29916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6A04E79-6300-795D-CE45-BA185E39287E}"/>
              </a:ext>
            </a:extLst>
          </p:cNvPr>
          <p:cNvSpPr/>
          <p:nvPr/>
        </p:nvSpPr>
        <p:spPr>
          <a:xfrm flipV="1">
            <a:off x="8071868" y="4564546"/>
            <a:ext cx="34289" cy="7651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35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A08211-4650-BEC3-D630-A24F97A242DD}"/>
              </a:ext>
            </a:extLst>
          </p:cNvPr>
          <p:cNvCxnSpPr/>
          <p:nvPr/>
        </p:nvCxnSpPr>
        <p:spPr>
          <a:xfrm>
            <a:off x="7599708" y="4641062"/>
            <a:ext cx="947945" cy="0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CC7C014-76FB-81E3-614D-45C7C8A9B43B}"/>
              </a:ext>
            </a:extLst>
          </p:cNvPr>
          <p:cNvSpPr txBox="1"/>
          <p:nvPr/>
        </p:nvSpPr>
        <p:spPr>
          <a:xfrm>
            <a:off x="7470500" y="4713530"/>
            <a:ext cx="1729408" cy="842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vi-VN" sz="975">
                <a:solidFill>
                  <a:srgbClr val="0066FF"/>
                </a:solidFill>
              </a:rPr>
              <a:t>Hợp tác chiến lược cùng </a:t>
            </a:r>
            <a:r>
              <a:rPr lang="vi-VN" sz="975" b="1">
                <a:solidFill>
                  <a:srgbClr val="0066FF"/>
                </a:solidFill>
              </a:rPr>
              <a:t>SCG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vi-VN" sz="975">
                <a:solidFill>
                  <a:srgbClr val="0066FF"/>
                </a:solidFill>
              </a:rPr>
              <a:t>Phân tách và Phát triển độc lập công ty TNHH Nhựa Duy Tân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01AF52-DF91-38ED-6582-486FF7528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848" y="93655"/>
            <a:ext cx="7420060" cy="12082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8EBE59-E319-CF4C-B986-301AC1E02974}"/>
              </a:ext>
            </a:extLst>
          </p:cNvPr>
          <p:cNvSpPr txBox="1"/>
          <p:nvPr/>
        </p:nvSpPr>
        <p:spPr>
          <a:xfrm>
            <a:off x="2243495" y="18877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B1048-4328-449D-5DEF-538F7EADC05F}"/>
              </a:ext>
            </a:extLst>
          </p:cNvPr>
          <p:cNvSpPr txBox="1"/>
          <p:nvPr/>
        </p:nvSpPr>
        <p:spPr>
          <a:xfrm>
            <a:off x="2500462" y="719944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Quá trình hình thành và phát triển</a:t>
            </a:r>
            <a:endParaRPr 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AEBB4-0670-8515-3131-CDEE6CC5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4B6-8F31-40F5-8EF9-80D608D508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21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64E82E-533F-3A33-5A29-08AA9FD53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012" y="100766"/>
            <a:ext cx="6751081" cy="10993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CBABF5-5C60-3A1F-883F-75793CC4E850}"/>
              </a:ext>
            </a:extLst>
          </p:cNvPr>
          <p:cNvSpPr txBox="1"/>
          <p:nvPr/>
        </p:nvSpPr>
        <p:spPr>
          <a:xfrm>
            <a:off x="2243495" y="188771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5C3F97-5C81-0151-16F2-77773246B46A}"/>
              </a:ext>
            </a:extLst>
          </p:cNvPr>
          <p:cNvSpPr txBox="1"/>
          <p:nvPr/>
        </p:nvSpPr>
        <p:spPr>
          <a:xfrm>
            <a:off x="1974135" y="664247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Sơ đồ tổ chức</a:t>
            </a:r>
            <a:endParaRPr lang="vi-VN" sz="2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F4DDC-0612-4FDB-EFC8-8933DA97E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02" y="1145025"/>
            <a:ext cx="7889534" cy="561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67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A50E0D-E417-DAE9-A67D-41290085A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012" y="91243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AC3536-6F76-44FF-AD62-7964D43E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01787-EF9A-4D8C-A603-4ADFDC8127F9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77DD92-BE2A-4AC7-BB94-1C7817BE6571}"/>
              </a:ext>
            </a:extLst>
          </p:cNvPr>
          <p:cNvSpPr txBox="1"/>
          <p:nvPr/>
        </p:nvSpPr>
        <p:spPr>
          <a:xfrm>
            <a:off x="2307840" y="684328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viên</a:t>
            </a:r>
          </a:p>
        </p:txBody>
      </p:sp>
      <p:sp>
        <p:nvSpPr>
          <p:cNvPr id="13" name="L-Shape 12">
            <a:extLst>
              <a:ext uri="{FF2B5EF4-FFF2-40B4-BE49-F238E27FC236}">
                <a16:creationId xmlns:a16="http://schemas.microsoft.com/office/drawing/2014/main" id="{22A9C1F1-F307-4C8A-A95A-788740D1BFFF}"/>
              </a:ext>
            </a:extLst>
          </p:cNvPr>
          <p:cNvSpPr/>
          <p:nvPr/>
        </p:nvSpPr>
        <p:spPr>
          <a:xfrm>
            <a:off x="1" y="2137968"/>
            <a:ext cx="8257286" cy="4035704"/>
          </a:xfrm>
          <a:prstGeom prst="corner">
            <a:avLst>
              <a:gd name="adj1" fmla="val 1981"/>
              <a:gd name="adj2" fmla="val 3058"/>
            </a:avLst>
          </a:prstGeom>
          <a:solidFill>
            <a:srgbClr val="007B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B9118-7A1B-413E-A595-3CB45CFC8DC9}"/>
              </a:ext>
            </a:extLst>
          </p:cNvPr>
          <p:cNvSpPr txBox="1"/>
          <p:nvPr/>
        </p:nvSpPr>
        <p:spPr>
          <a:xfrm>
            <a:off x="345240" y="1620753"/>
            <a:ext cx="2260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400" b="1" u="sng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vực Khuôn - Nhựa</a:t>
            </a:r>
            <a:endParaRPr lang="en-US" sz="1400" b="1" u="sng" dirty="0">
              <a:solidFill>
                <a:srgbClr val="007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D7FDD9-4F54-4D96-BF08-5BE105A3AED9}"/>
              </a:ext>
            </a:extLst>
          </p:cNvPr>
          <p:cNvSpPr txBox="1"/>
          <p:nvPr/>
        </p:nvSpPr>
        <p:spPr>
          <a:xfrm>
            <a:off x="6538723" y="1631077"/>
            <a:ext cx="1718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400" b="1" u="sng" dirty="0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u="sng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400" b="1" u="sng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Khác</a:t>
            </a:r>
            <a:endParaRPr lang="en-US" sz="1400" b="1" u="sng" dirty="0">
              <a:solidFill>
                <a:srgbClr val="007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43">
            <a:extLst>
              <a:ext uri="{FF2B5EF4-FFF2-40B4-BE49-F238E27FC236}">
                <a16:creationId xmlns:a16="http://schemas.microsoft.com/office/drawing/2014/main" id="{6C8E6C1E-931F-47DB-AAA1-15D4908FBDC0}"/>
              </a:ext>
            </a:extLst>
          </p:cNvPr>
          <p:cNvSpPr/>
          <p:nvPr/>
        </p:nvSpPr>
        <p:spPr>
          <a:xfrm>
            <a:off x="345240" y="2342012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Plascene, Inc (USA)</a:t>
            </a:r>
          </a:p>
        </p:txBody>
      </p:sp>
      <p:sp>
        <p:nvSpPr>
          <p:cNvPr id="24" name="Rounded Rectangle 45">
            <a:extLst>
              <a:ext uri="{FF2B5EF4-FFF2-40B4-BE49-F238E27FC236}">
                <a16:creationId xmlns:a16="http://schemas.microsoft.com/office/drawing/2014/main" id="{6F98E779-5038-427F-B7B9-82F2FAADA453}"/>
              </a:ext>
            </a:extLst>
          </p:cNvPr>
          <p:cNvSpPr/>
          <p:nvPr/>
        </p:nvSpPr>
        <p:spPr>
          <a:xfrm>
            <a:off x="297247" y="3090834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Cổ phần Khuôn Chính Xác Minh Đạt</a:t>
            </a:r>
          </a:p>
        </p:txBody>
      </p:sp>
      <p:sp>
        <p:nvSpPr>
          <p:cNvPr id="28" name="Rounded Rectangle 53">
            <a:extLst>
              <a:ext uri="{FF2B5EF4-FFF2-40B4-BE49-F238E27FC236}">
                <a16:creationId xmlns:a16="http://schemas.microsoft.com/office/drawing/2014/main" id="{E9C42498-93E4-4D57-B9E4-4E6BDD4728E4}"/>
              </a:ext>
            </a:extLst>
          </p:cNvPr>
          <p:cNvSpPr/>
          <p:nvPr/>
        </p:nvSpPr>
        <p:spPr>
          <a:xfrm>
            <a:off x="277309" y="3765180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Cổ phần Sản Xuất Cơ Khí Duy Phong</a:t>
            </a:r>
          </a:p>
        </p:txBody>
      </p:sp>
      <p:sp>
        <p:nvSpPr>
          <p:cNvPr id="41" name="Rounded Rectangle 47">
            <a:extLst>
              <a:ext uri="{FF2B5EF4-FFF2-40B4-BE49-F238E27FC236}">
                <a16:creationId xmlns:a16="http://schemas.microsoft.com/office/drawing/2014/main" id="{1083154B-1AB2-47FB-9C19-CEAD8EEC8F97}"/>
              </a:ext>
            </a:extLst>
          </p:cNvPr>
          <p:cNvSpPr/>
          <p:nvPr/>
        </p:nvSpPr>
        <p:spPr>
          <a:xfrm>
            <a:off x="6202968" y="2310961"/>
            <a:ext cx="2527873" cy="517526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Nhựa Duy Tân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7ABD7-568D-DC64-22D9-FB9635DD2A33}"/>
              </a:ext>
            </a:extLst>
          </p:cNvPr>
          <p:cNvSpPr txBox="1"/>
          <p:nvPr/>
        </p:nvSpPr>
        <p:spPr>
          <a:xfrm>
            <a:off x="3549871" y="1620752"/>
            <a:ext cx="2120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400" b="1" u="sng" dirty="0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u="sng" err="1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400" b="1" u="sng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Tái chế nhựa</a:t>
            </a:r>
            <a:endParaRPr lang="en-US" sz="1400" b="1" u="sng" dirty="0">
              <a:solidFill>
                <a:srgbClr val="007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43">
            <a:extLst>
              <a:ext uri="{FF2B5EF4-FFF2-40B4-BE49-F238E27FC236}">
                <a16:creationId xmlns:a16="http://schemas.microsoft.com/office/drawing/2014/main" id="{316EB42E-CB94-67F2-8058-B99D479A8CCA}"/>
              </a:ext>
            </a:extLst>
          </p:cNvPr>
          <p:cNvSpPr/>
          <p:nvPr/>
        </p:nvSpPr>
        <p:spPr>
          <a:xfrm>
            <a:off x="3274104" y="2342012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Nhựa Tái chế Duy Tân</a:t>
            </a:r>
          </a:p>
        </p:txBody>
      </p:sp>
      <p:sp>
        <p:nvSpPr>
          <p:cNvPr id="22" name="Rounded Rectangle 43">
            <a:extLst>
              <a:ext uri="{FF2B5EF4-FFF2-40B4-BE49-F238E27FC236}">
                <a16:creationId xmlns:a16="http://schemas.microsoft.com/office/drawing/2014/main" id="{2E1F62EE-7996-847B-8B7D-468644B5E9A3}"/>
              </a:ext>
            </a:extLst>
          </p:cNvPr>
          <p:cNvSpPr/>
          <p:nvPr/>
        </p:nvSpPr>
        <p:spPr>
          <a:xfrm>
            <a:off x="3300063" y="3127303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thu mua phế liệu nhựa Khánh Nga</a:t>
            </a:r>
          </a:p>
        </p:txBody>
      </p:sp>
      <p:sp>
        <p:nvSpPr>
          <p:cNvPr id="26" name="Rounded Rectangle 43">
            <a:extLst>
              <a:ext uri="{FF2B5EF4-FFF2-40B4-BE49-F238E27FC236}">
                <a16:creationId xmlns:a16="http://schemas.microsoft.com/office/drawing/2014/main" id="{923F1335-4B95-9209-7A65-4E7D811B4985}"/>
              </a:ext>
            </a:extLst>
          </p:cNvPr>
          <p:cNvSpPr/>
          <p:nvPr/>
        </p:nvSpPr>
        <p:spPr>
          <a:xfrm>
            <a:off x="3311817" y="3866355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MTV Đồng Lâm</a:t>
            </a:r>
          </a:p>
        </p:txBody>
      </p:sp>
      <p:sp>
        <p:nvSpPr>
          <p:cNvPr id="30" name="Rounded Rectangle 43">
            <a:extLst>
              <a:ext uri="{FF2B5EF4-FFF2-40B4-BE49-F238E27FC236}">
                <a16:creationId xmlns:a16="http://schemas.microsoft.com/office/drawing/2014/main" id="{E9C485D5-1410-DD8A-498F-CC041A1F40F5}"/>
              </a:ext>
            </a:extLst>
          </p:cNvPr>
          <p:cNvSpPr/>
          <p:nvPr/>
        </p:nvSpPr>
        <p:spPr>
          <a:xfrm>
            <a:off x="3292290" y="5378301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Nội thất Tân Lợi Phát</a:t>
            </a:r>
          </a:p>
        </p:txBody>
      </p:sp>
      <p:sp>
        <p:nvSpPr>
          <p:cNvPr id="31" name="Rounded Rectangle 43">
            <a:extLst>
              <a:ext uri="{FF2B5EF4-FFF2-40B4-BE49-F238E27FC236}">
                <a16:creationId xmlns:a16="http://schemas.microsoft.com/office/drawing/2014/main" id="{17CEB133-FAC9-9AA9-DCCF-5B64E817FF9A}"/>
              </a:ext>
            </a:extLst>
          </p:cNvPr>
          <p:cNvSpPr/>
          <p:nvPr/>
        </p:nvSpPr>
        <p:spPr>
          <a:xfrm>
            <a:off x="3353666" y="4572062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thu mua phế liệu Đại Lộc</a:t>
            </a:r>
          </a:p>
        </p:txBody>
      </p:sp>
      <p:sp>
        <p:nvSpPr>
          <p:cNvPr id="32" name="Rounded Rectangle 47">
            <a:extLst>
              <a:ext uri="{FF2B5EF4-FFF2-40B4-BE49-F238E27FC236}">
                <a16:creationId xmlns:a16="http://schemas.microsoft.com/office/drawing/2014/main" id="{33E0A2EE-3F55-AE28-52F9-419B63A78B42}"/>
              </a:ext>
            </a:extLst>
          </p:cNvPr>
          <p:cNvSpPr/>
          <p:nvPr/>
        </p:nvSpPr>
        <p:spPr>
          <a:xfrm>
            <a:off x="6202967" y="3086570"/>
            <a:ext cx="2527873" cy="517526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PLENMA</a:t>
            </a:r>
          </a:p>
        </p:txBody>
      </p:sp>
      <p:sp>
        <p:nvSpPr>
          <p:cNvPr id="33" name="Rounded Rectangle 47">
            <a:extLst>
              <a:ext uri="{FF2B5EF4-FFF2-40B4-BE49-F238E27FC236}">
                <a16:creationId xmlns:a16="http://schemas.microsoft.com/office/drawing/2014/main" id="{6DF172BB-F85C-AB67-9343-CD67FBAC3210}"/>
              </a:ext>
            </a:extLst>
          </p:cNvPr>
          <p:cNvSpPr/>
          <p:nvPr/>
        </p:nvSpPr>
        <p:spPr>
          <a:xfrm>
            <a:off x="6202967" y="3846048"/>
            <a:ext cx="2527873" cy="517526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Cổ phần Cát Vân</a:t>
            </a:r>
          </a:p>
        </p:txBody>
      </p:sp>
      <p:sp>
        <p:nvSpPr>
          <p:cNvPr id="34" name="Rounded Rectangle 47">
            <a:extLst>
              <a:ext uri="{FF2B5EF4-FFF2-40B4-BE49-F238E27FC236}">
                <a16:creationId xmlns:a16="http://schemas.microsoft.com/office/drawing/2014/main" id="{C43422A6-1BC3-E7A3-7F5C-430D71241283}"/>
              </a:ext>
            </a:extLst>
          </p:cNvPr>
          <p:cNvSpPr/>
          <p:nvPr/>
        </p:nvSpPr>
        <p:spPr>
          <a:xfrm>
            <a:off x="6202968" y="4497254"/>
            <a:ext cx="2527873" cy="517526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SXTM Thạnh Phát</a:t>
            </a:r>
          </a:p>
        </p:txBody>
      </p:sp>
      <p:sp>
        <p:nvSpPr>
          <p:cNvPr id="3" name="Rounded Rectangle 47">
            <a:extLst>
              <a:ext uri="{FF2B5EF4-FFF2-40B4-BE49-F238E27FC236}">
                <a16:creationId xmlns:a16="http://schemas.microsoft.com/office/drawing/2014/main" id="{DA962259-CB87-4E21-9C6F-297838009C7A}"/>
              </a:ext>
            </a:extLst>
          </p:cNvPr>
          <p:cNvSpPr/>
          <p:nvPr/>
        </p:nvSpPr>
        <p:spPr>
          <a:xfrm>
            <a:off x="6256903" y="5292780"/>
            <a:ext cx="2527873" cy="517526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Yến Nhất Vương</a:t>
            </a:r>
          </a:p>
        </p:txBody>
      </p:sp>
      <p:sp>
        <p:nvSpPr>
          <p:cNvPr id="8" name="Rounded Rectangle 53">
            <a:extLst>
              <a:ext uri="{FF2B5EF4-FFF2-40B4-BE49-F238E27FC236}">
                <a16:creationId xmlns:a16="http://schemas.microsoft.com/office/drawing/2014/main" id="{8ED35381-A2C7-6311-A253-A5E65B37CCF3}"/>
              </a:ext>
            </a:extLst>
          </p:cNvPr>
          <p:cNvSpPr/>
          <p:nvPr/>
        </p:nvSpPr>
        <p:spPr>
          <a:xfrm>
            <a:off x="297247" y="4514002"/>
            <a:ext cx="2395898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05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TNHH Khuôn Chính Xác Natec </a:t>
            </a:r>
          </a:p>
        </p:txBody>
      </p:sp>
    </p:spTree>
    <p:extLst>
      <p:ext uri="{BB962C8B-B14F-4D97-AF65-F5344CB8AC3E}">
        <p14:creationId xmlns:p14="http://schemas.microsoft.com/office/powerpoint/2010/main" val="4162244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310478-6469-8A73-F43A-6365C4D7E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15" y="91950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B3E55-4A60-4AD5-BF3B-8EEE5869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FB1B3-72B8-423E-8608-82899A744463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0D132-AF94-49B2-8B8B-DF7B6FFF18D4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809656-C3F1-4ED1-B9D9-F46E0C38F404}"/>
              </a:ext>
            </a:extLst>
          </p:cNvPr>
          <p:cNvSpPr txBox="1"/>
          <p:nvPr/>
        </p:nvSpPr>
        <p:spPr>
          <a:xfrm>
            <a:off x="4696552" y="2292659"/>
            <a:ext cx="4073369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07/11/1997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1908 Võ Văn Kiệt, Phường An Lạc, Quận Bình Tân, TP.HCM</a:t>
            </a:r>
            <a:endParaRPr lang="vi-VN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gần 100 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6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6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khuôn, nhựa tái chế, bất động sản và nhiều lĩnh vực khác.</a:t>
            </a:r>
            <a:endParaRPr lang="en-US" sz="16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58EC3F-A85B-450E-A50C-0EA7EECB0DAE}"/>
              </a:ext>
            </a:extLst>
          </p:cNvPr>
          <p:cNvSpPr txBox="1"/>
          <p:nvPr/>
        </p:nvSpPr>
        <p:spPr>
          <a:xfrm>
            <a:off x="1337848" y="1425726"/>
            <a:ext cx="1718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>
                <a:solidFill>
                  <a:srgbClr val="007B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ty trụ sở </a:t>
            </a:r>
            <a:endParaRPr lang="en-US" sz="1400" b="1" u="sng" dirty="0">
              <a:solidFill>
                <a:srgbClr val="007BB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43">
            <a:extLst>
              <a:ext uri="{FF2B5EF4-FFF2-40B4-BE49-F238E27FC236}">
                <a16:creationId xmlns:a16="http://schemas.microsoft.com/office/drawing/2014/main" id="{61A18A66-6C55-4752-B9DB-8F4BAC8F82E7}"/>
              </a:ext>
            </a:extLst>
          </p:cNvPr>
          <p:cNvSpPr/>
          <p:nvPr/>
        </p:nvSpPr>
        <p:spPr>
          <a:xfrm>
            <a:off x="843979" y="1837235"/>
            <a:ext cx="3268100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 TNHH Nhựa Duy Tân</a:t>
            </a:r>
            <a:endParaRPr lang="en-US" sz="1600" b="1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CD6EB-F7C5-3E0D-FF46-0139D7B05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1" y="2396391"/>
            <a:ext cx="3451860" cy="338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76CF6A-C394-1143-1214-045FECF32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314" y="8310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625079-47F0-4B5B-988A-C36E09BF9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D138B-E197-4E61-A20C-8F54A7F1CA20}"/>
              </a:ext>
            </a:extLst>
          </p:cNvPr>
          <p:cNvSpPr txBox="1"/>
          <p:nvPr/>
        </p:nvSpPr>
        <p:spPr>
          <a:xfrm>
            <a:off x="291454" y="5529012"/>
            <a:ext cx="8561092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4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22/02/2010</a:t>
            </a:r>
            <a:endParaRPr lang="en-US" sz="14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chỉ</a:t>
            </a:r>
            <a:r>
              <a:rPr lang="en-US" sz="14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14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1600 Pacific Avenue  Oxnard, CA, 93033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 </a:t>
            </a: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14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gần 45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4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14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400" b="1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4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4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kinh</a:t>
            </a:r>
            <a:r>
              <a:rPr lang="en-US" sz="14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1400" dirty="0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nhựa</a:t>
            </a:r>
            <a:endParaRPr lang="en-US" sz="1400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BFADB-A723-496D-B8D5-BEFDDD1D892E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A6325-4CCD-48D4-B1B7-869B6B0006A5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Lĩnh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vực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vi-VN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24F1C-DA31-4539-94E4-9B66B4EDC372}"/>
              </a:ext>
            </a:extLst>
          </p:cNvPr>
          <p:cNvSpPr txBox="1"/>
          <p:nvPr/>
        </p:nvSpPr>
        <p:spPr>
          <a:xfrm>
            <a:off x="1337849" y="1107651"/>
            <a:ext cx="1718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rgbClr val="007BBE"/>
                </a:solidFill>
                <a:latin typeface="San Francisco"/>
              </a:rPr>
              <a:t>Lĩnh</a:t>
            </a:r>
            <a:r>
              <a:rPr lang="en-US" sz="1400" b="1" u="sng" dirty="0">
                <a:solidFill>
                  <a:srgbClr val="007BBE"/>
                </a:solidFill>
                <a:latin typeface="San Francisco"/>
              </a:rPr>
              <a:t> </a:t>
            </a:r>
            <a:r>
              <a:rPr lang="en-US" sz="1400" b="1" u="sng" dirty="0" err="1">
                <a:solidFill>
                  <a:srgbClr val="007BBE"/>
                </a:solidFill>
                <a:latin typeface="San Francisco"/>
              </a:rPr>
              <a:t>vực</a:t>
            </a:r>
            <a:r>
              <a:rPr lang="en-US" sz="1400" b="1" u="sng" dirty="0">
                <a:solidFill>
                  <a:srgbClr val="007BBE"/>
                </a:solidFill>
                <a:latin typeface="San Francisco"/>
              </a:rPr>
              <a:t> </a:t>
            </a:r>
            <a:r>
              <a:rPr lang="en-US" sz="1400" b="1" u="sng" dirty="0" err="1">
                <a:solidFill>
                  <a:srgbClr val="007BBE"/>
                </a:solidFill>
                <a:latin typeface="San Francisco"/>
              </a:rPr>
              <a:t>Nhựa</a:t>
            </a:r>
            <a:endParaRPr lang="en-US" sz="1400" b="1" u="sng" dirty="0">
              <a:solidFill>
                <a:srgbClr val="007BBE"/>
              </a:solidFill>
              <a:latin typeface="San Francisco"/>
            </a:endParaRPr>
          </a:p>
        </p:txBody>
      </p:sp>
      <p:sp>
        <p:nvSpPr>
          <p:cNvPr id="8" name="Rounded Rectangle 45">
            <a:extLst>
              <a:ext uri="{FF2B5EF4-FFF2-40B4-BE49-F238E27FC236}">
                <a16:creationId xmlns:a16="http://schemas.microsoft.com/office/drawing/2014/main" id="{521CD39F-C337-4036-B638-08C0664C9562}"/>
              </a:ext>
            </a:extLst>
          </p:cNvPr>
          <p:cNvSpPr/>
          <p:nvPr/>
        </p:nvSpPr>
        <p:spPr>
          <a:xfrm>
            <a:off x="77070" y="1415428"/>
            <a:ext cx="4316261" cy="455424"/>
          </a:xfrm>
          <a:prstGeom prst="roundRect">
            <a:avLst>
              <a:gd name="adj" fmla="val 46632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2D5F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PLASCENE,INC</a:t>
            </a:r>
            <a:endParaRPr lang="en-US" sz="1600" b="1" dirty="0">
              <a:solidFill>
                <a:srgbClr val="2D5F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D9C32-D7E9-D4F1-29FA-C0F4E96DA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12" y="1912105"/>
            <a:ext cx="7852055" cy="353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78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62AD1-2158-99DA-4F73-789C8A5DC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90" y="65877"/>
            <a:ext cx="6751081" cy="109934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655533" y="1299288"/>
            <a:ext cx="3832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endParaRPr lang="en-US" sz="2400" b="1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08844" y="1535013"/>
            <a:ext cx="195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8844" y="1887805"/>
            <a:ext cx="8726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CBNV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laptop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kênh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6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bộ</a:t>
            </a:r>
            <a:endParaRPr lang="en-US" sz="16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08845" y="2505580"/>
            <a:ext cx="6337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 b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Cổng thông tin Duy Tân</a:t>
            </a:r>
            <a:endParaRPr lang="en-US" sz="1600" b="1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08845" y="2872610"/>
            <a:ext cx="8726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Cổng thông tin Duy Tân 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bay,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thoại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 </a:t>
            </a:r>
            <a:r>
              <a:rPr lang="en-US" sz="16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chỉ: https://dtg.sharepoint.com/sites/portal 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9BA06-A7E5-4915-88D2-E8FA1EF366F3}"/>
              </a:ext>
            </a:extLst>
          </p:cNvPr>
          <p:cNvSpPr txBox="1"/>
          <p:nvPr/>
        </p:nvSpPr>
        <p:spPr>
          <a:xfrm>
            <a:off x="2259226" y="175461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CÁC HỖ TRỢ CẦN THIẾT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56E4F-7DCB-4A74-92A8-6280AF3BADE0}"/>
              </a:ext>
            </a:extLst>
          </p:cNvPr>
          <p:cNvSpPr txBox="1"/>
          <p:nvPr/>
        </p:nvSpPr>
        <p:spPr>
          <a:xfrm>
            <a:off x="2259226" y="638759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DB674-7513-972F-7B29-C39CA808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C6CFE-D786-13A5-1202-794C99A5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2083"/>
            <a:ext cx="8133693" cy="305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6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000"/>
    </mc:Choice>
    <mc:Fallback xmlns="">
      <p:transition advTm="1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0067ac-558b-40e7-9138-0b9aee47b278" xsi:nil="true"/>
    <lcf76f155ced4ddcb4097134ff3c332f xmlns="f04b59c5-9cbf-40fa-8244-689da476070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08A5461D5136488EFED6F0716767A1" ma:contentTypeVersion="" ma:contentTypeDescription="Create a new document." ma:contentTypeScope="" ma:versionID="2dbc3778270c1ff7dfb6315f63e90fc2">
  <xsd:schema xmlns:xsd="http://www.w3.org/2001/XMLSchema" xmlns:xs="http://www.w3.org/2001/XMLSchema" xmlns:p="http://schemas.microsoft.com/office/2006/metadata/properties" xmlns:ns2="F04B59C5-9CBF-40FA-8244-689DA476070E" xmlns:ns3="be0067ac-558b-40e7-9138-0b9aee47b278" xmlns:ns4="f04b59c5-9cbf-40fa-8244-689da476070e" targetNamespace="http://schemas.microsoft.com/office/2006/metadata/properties" ma:root="true" ma:fieldsID="03519d00a16ec9200a6cf5151e6ff43f" ns2:_="" ns3:_="" ns4:_="">
    <xsd:import namespace="F04B59C5-9CBF-40FA-8244-689DA476070E"/>
    <xsd:import namespace="be0067ac-558b-40e7-9138-0b9aee47b278"/>
    <xsd:import namespace="f04b59c5-9cbf-40fa-8244-689da47607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3:TaxCatchAll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067ac-558b-40e7-9138-0b9aee47b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62C9A0A-5D06-4385-AAC4-8FBE5A21DD63}" ma:internalName="TaxCatchAll" ma:showField="CatchAllData" ma:web="{ac963a9c-3b1b-4dfd-b0d2-aeb8a08bf505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B13574-E51B-4FE1-8DD8-D38DAF979A49}">
  <ds:schemaRefs>
    <ds:schemaRef ds:uri="http://schemas.microsoft.com/office/2006/metadata/properties"/>
    <ds:schemaRef ds:uri="http://purl.org/dc/elements/1.1/"/>
    <ds:schemaRef ds:uri="F04B59C5-9CBF-40FA-8244-689DA476070E"/>
    <ds:schemaRef ds:uri="http://schemas.microsoft.com/office/2006/documentManagement/types"/>
    <ds:schemaRef ds:uri="be0067ac-558b-40e7-9138-0b9aee47b278"/>
    <ds:schemaRef ds:uri="http://www.w3.org/XML/1998/namespace"/>
    <ds:schemaRef ds:uri="f04b59c5-9cbf-40fa-8244-689da476070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937D11-0FED-4F3F-A8F9-EB484FBAC5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33AE0D6-2B8F-4D6B-8795-DEFCF66AF1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B59C5-9CBF-40FA-8244-689DA476070E"/>
    <ds:schemaRef ds:uri="be0067ac-558b-40e7-9138-0b9aee47b278"/>
    <ds:schemaRef ds:uri="f04b59c5-9cbf-40fa-8244-689da47607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5030</TotalTime>
  <Words>1268</Words>
  <Application>Microsoft Office PowerPoint</Application>
  <PresentationFormat>On-screen Show (4:3)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San Francisco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Thanh, Dang Que</dc:creator>
  <cp:lastModifiedBy>Cư, Lê Hoành</cp:lastModifiedBy>
  <cp:revision>349</cp:revision>
  <cp:lastPrinted>2023-05-09T04:38:55Z</cp:lastPrinted>
  <dcterms:created xsi:type="dcterms:W3CDTF">2018-11-09T03:05:11Z</dcterms:created>
  <dcterms:modified xsi:type="dcterms:W3CDTF">2026-05-18T14:10:13Z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0x0101008A08A5461D5136488EFED6F0716767A1</vt:lpwstr>
  </property>
  <property fmtid="{D5CDD505-2E9C-101B-9397-08002B2CF9AE}" pid="3" name="MediaServiceImageTags">
    <vt:lpwstr/>
  </property>
</Properties>
</file>