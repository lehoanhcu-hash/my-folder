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Override PartName="/ppt/slides/slidec.xml" ContentType="application/vnd.openxmlformats-officedocument.presentationml.slide+xml"/>
  <Override PartName="/ppt/notesSlides/notesSlideb.xml" ContentType="application/vnd.openxmlformats-officedocument.presentationml.notesSlide+xml"/>
  <Override PartName="/ppt/slides/slided.xml" ContentType="application/vnd.openxmlformats-officedocument.presentationml.slide+xml"/>
  <Override PartName="/ppt/notesSlides/notesSlidec.xml" ContentType="application/vnd.openxmlformats-officedocument.presentationml.notesSlide+xml"/>
  <Override PartName="/ppt/slides/slidee.xml" ContentType="application/vnd.openxmlformats-officedocument.presentationml.slide+xml"/>
  <Override PartName="/ppt/notesSlides/notesSlided.xml" ContentType="application/vnd.openxmlformats-officedocument.presentationml.notesSlide+xml"/>
  <Override PartName="/ppt/slides/slidef.xml" ContentType="application/vnd.openxmlformats-officedocument.presentationml.slide+xml"/>
  <Override PartName="/ppt/notesSlides/notesSlidee.xml" ContentType="application/vnd.openxmlformats-officedocument.presentationml.notesSlide+xml"/>
  <Override PartName="/ppt/slides/slide10.xml" ContentType="application/vnd.openxmlformats-officedocument.presentationml.slide+xml"/>
  <Override PartName="/ppt/notesSlides/notesSlidef.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 id="267" r:id="RelId10"/>
    <p:sldId id="268" r:id="RelId11"/>
    <p:sldId id="269" r:id="RelId12"/>
    <p:sldId id="270" r:id="RelId13"/>
    <p:sldId id="271" r:id="RelId14"/>
    <p:sldId id="272" r:id="RelId15"/>
    <p:sldId id="273" r:id="Rel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 Type="http://schemas.openxmlformats.org/officeDocument/2006/relationships/slide" Target="/ppt/slides/slidec.xml" Id="RelId10" /><Relationship Type="http://schemas.openxmlformats.org/officeDocument/2006/relationships/slide" Target="/ppt/slides/slided.xml" Id="RelId11" /><Relationship Type="http://schemas.openxmlformats.org/officeDocument/2006/relationships/slide" Target="/ppt/slides/slidee.xml" Id="RelId12" /><Relationship Type="http://schemas.openxmlformats.org/officeDocument/2006/relationships/slide" Target="/ppt/slides/slidef.xml" Id="RelId13" /><Relationship Type="http://schemas.openxmlformats.org/officeDocument/2006/relationships/slide" Target="/ppt/slides/slide10.xml" Id="RelId14" /><Relationship Type="http://schemas.openxmlformats.org/officeDocument/2006/relationships/slide" Target="/ppt/slides/slide11.xml" Id="RelId15" /><Relationship Type="http://schemas.openxmlformats.org/officeDocument/2006/relationships/slide" Target="/ppt/slides/slide12.xml" Id="RelId16"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- 4 Quý cùng kỳ</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0.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CHỈ SỐ TÀI CHÍNH - LŨY KẾ T05/2026</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1.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sở hữu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THÔNG TIN 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b.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NĂM</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c.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Thang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Quy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CHỈ SỐ TÀI CHÍNH - LŨY KẾ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Nam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(Sức khỏe tài chính)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d.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KẾT QUẢ KINH DOANH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TÌNH HÌNH TÀI CHÍNH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f.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LƯU CHUYỂN TIỀN TỆ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5213c890-b9f8-4e32-8ec5-e0094724480d?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d4b02cf35be14150" /><Relationship Type="http://schemas.openxmlformats.org/officeDocument/2006/relationships/slideLayout" Target="/ppt/slideLayouts/slideLayout8.xml" Id="R2e56135ece1444d2" /><Relationship Type="http://schemas.openxmlformats.org/officeDocument/2006/relationships/hyperlink" Target="https://app.powerbi.com/groups/me/reports/5213c890-b9f8-4e32-8ec5-e0094724480d/?pbi_source=PowerPoint" TargetMode="External" Id="RelId0" /><Relationship Type="http://schemas.openxmlformats.org/officeDocument/2006/relationships/image" Target="/ppt/media/image4.png" Id="imgId15857483"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19f377bb15ce40b5" /><Relationship Type="http://schemas.openxmlformats.org/officeDocument/2006/relationships/slideLayout" Target="/ppt/slideLayouts/slideLayout8.xml" Id="R0810f57e23414658" /><Relationship Type="http://schemas.openxmlformats.org/officeDocument/2006/relationships/hyperlink" Target="https://app.powerbi.com/groups/me/reports/5213c890-b9f8-4e32-8ec5-e0094724480d/?pbi_source=PowerPoint" TargetMode="External" Id="RelId1" /><Relationship Type="http://schemas.openxmlformats.org/officeDocument/2006/relationships/image" Target="/ppt/media/image5.png" Id="imgId15857487"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6828e1e882674337" /><Relationship Type="http://schemas.openxmlformats.org/officeDocument/2006/relationships/slideLayout" Target="/ppt/slideLayouts/slideLayout8.xml" Id="Rf96d439a50494cde" /><Relationship Type="http://schemas.openxmlformats.org/officeDocument/2006/relationships/hyperlink" Target="https://app.powerbi.com/groups/me/reports/5213c890-b9f8-4e32-8ec5-e0094724480d/?pbi_source=PowerPoint" TargetMode="External" Id="RelId2" /><Relationship Type="http://schemas.openxmlformats.org/officeDocument/2006/relationships/image" Target="/ppt/media/image6.png" Id="imgId15857480"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94864b5a9d554c0d" /><Relationship Type="http://schemas.openxmlformats.org/officeDocument/2006/relationships/slideLayout" Target="/ppt/slideLayouts/slideLayout8.xml" Id="Rcfe7d7a70f794945" /><Relationship Type="http://schemas.openxmlformats.org/officeDocument/2006/relationships/hyperlink" Target="https://app.powerbi.com/groups/me/reports/5213c890-b9f8-4e32-8ec5-e0094724480d/?pbi_source=PowerPoint" TargetMode="External" Id="RelId3" /><Relationship Type="http://schemas.openxmlformats.org/officeDocument/2006/relationships/image" Target="/ppt/media/image7.png" Id="imgId15857481"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b46c7d3975a44de1" /><Relationship Type="http://schemas.openxmlformats.org/officeDocument/2006/relationships/slideLayout" Target="/ppt/slideLayouts/slideLayout8.xml" Id="R46d9a6743dbf4dc3" /><Relationship Type="http://schemas.openxmlformats.org/officeDocument/2006/relationships/hyperlink" Target="https://app.powerbi.com/groups/me/reports/5213c890-b9f8-4e32-8ec5-e0094724480d/?pbi_source=PowerPoint" TargetMode="External" Id="RelId4" /><Relationship Type="http://schemas.openxmlformats.org/officeDocument/2006/relationships/image" Target="/ppt/media/image8.png" Id="imgId15857488"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afb26d3ad9364ab0" /><Relationship Type="http://schemas.openxmlformats.org/officeDocument/2006/relationships/slideLayout" Target="/ppt/slideLayouts/slideLayout8.xml" Id="Rfe1ee18c3a28463c" /><Relationship Type="http://schemas.openxmlformats.org/officeDocument/2006/relationships/hyperlink" Target="https://app.powerbi.com/groups/me/reports/5213c890-b9f8-4e32-8ec5-e0094724480d/?pbi_source=PowerPoint" TargetMode="External" Id="RelId5" /><Relationship Type="http://schemas.openxmlformats.org/officeDocument/2006/relationships/image" Target="/ppt/media/image9.png" Id="imgId17177227"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2cde20df5622467b" /><Relationship Type="http://schemas.openxmlformats.org/officeDocument/2006/relationships/slideLayout" Target="/ppt/slideLayouts/slideLayout8.xml" Id="R3c0edece0fc749c9" /><Relationship Type="http://schemas.openxmlformats.org/officeDocument/2006/relationships/hyperlink" Target="https://app.powerbi.com/groups/me/reports/5213c890-b9f8-4e32-8ec5-e0094724480d/?pbi_source=PowerPoint" TargetMode="External" Id="RelId6" /><Relationship Type="http://schemas.openxmlformats.org/officeDocument/2006/relationships/image" Target="/ppt/media/imagea.png" Id="imgId15857479"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4991ae81259d47c3" /><Relationship Type="http://schemas.openxmlformats.org/officeDocument/2006/relationships/slideLayout" Target="/ppt/slideLayouts/slideLayout8.xml" Id="R54901b3ab8d04972" /><Relationship Type="http://schemas.openxmlformats.org/officeDocument/2006/relationships/hyperlink" Target="https://app.powerbi.com/groups/me/reports/5213c890-b9f8-4e32-8ec5-e0094724480d/?pbi_source=PowerPoint" TargetMode="External" Id="RelId7" /><Relationship Type="http://schemas.openxmlformats.org/officeDocument/2006/relationships/image" Target="/ppt/media/imageb.png" Id="imgId15857492" /></Relationships>
</file>

<file path=ppt/slides/_rels/slide10.xml.rels>&#65279;<?xml version="1.0" encoding="utf-8"?><Relationships xmlns="http://schemas.openxmlformats.org/package/2006/relationships"><Relationship Type="http://schemas.openxmlformats.org/officeDocument/2006/relationships/notesSlide" Target="/ppt/notesSlides/notesSlidef.xml" Id="Rfdc0d2549eb7402a" /><Relationship Type="http://schemas.openxmlformats.org/officeDocument/2006/relationships/slideLayout" Target="/ppt/slideLayouts/slideLayout8.xml" Id="R92b6ae2ea7f34bcc" /><Relationship Type="http://schemas.openxmlformats.org/officeDocument/2006/relationships/hyperlink" Target="https://app.powerbi.com/groups/me/reports/5213c890-b9f8-4e32-8ec5-e0094724480d/?pbi_source=PowerPoint" TargetMode="External" Id="RelId14" /><Relationship Type="http://schemas.openxmlformats.org/officeDocument/2006/relationships/image" Target="/ppt/media/image12.png" Id="imgId15857496" /></Relationships>
</file>

<file path=ppt/slides/_rels/slide11.xml.rels>&#65279;<?xml version="1.0" encoding="utf-8"?><Relationships xmlns="http://schemas.openxmlformats.org/package/2006/relationships"><Relationship Type="http://schemas.openxmlformats.org/officeDocument/2006/relationships/notesSlide" Target="/ppt/notesSlides/notesSlide10.xml" Id="Ra7f074d5f40e46ff" /><Relationship Type="http://schemas.openxmlformats.org/officeDocument/2006/relationships/slideLayout" Target="/ppt/slideLayouts/slideLayout8.xml" Id="R0becd84d7ba2471c" /><Relationship Type="http://schemas.openxmlformats.org/officeDocument/2006/relationships/hyperlink" Target="https://app.powerbi.com/groups/me/reports/5213c890-b9f8-4e32-8ec5-e0094724480d/?pbi_source=PowerPoint" TargetMode="External" Id="RelId15" /><Relationship Type="http://schemas.openxmlformats.org/officeDocument/2006/relationships/image" Target="/ppt/media/image13.png" Id="imgId15857491" /></Relationships>
</file>

<file path=ppt/slides/_rels/slide12.xml.rels>&#65279;<?xml version="1.0" encoding="utf-8"?><Relationships xmlns="http://schemas.openxmlformats.org/package/2006/relationships"><Relationship Type="http://schemas.openxmlformats.org/officeDocument/2006/relationships/notesSlide" Target="/ppt/notesSlides/notesSlide11.xml" Id="R5ffd79af84b64c29" /><Relationship Type="http://schemas.openxmlformats.org/officeDocument/2006/relationships/slideLayout" Target="/ppt/slideLayouts/slideLayout8.xml" Id="R5cef9a6f801e485f" /><Relationship Type="http://schemas.openxmlformats.org/officeDocument/2006/relationships/hyperlink" Target="https://app.powerbi.com/groups/me/reports/5213c890-b9f8-4e32-8ec5-e0094724480d/?pbi_source=PowerPoint" TargetMode="External" Id="RelId16" /><Relationship Type="http://schemas.openxmlformats.org/officeDocument/2006/relationships/image" Target="/ppt/media/image14.png" Id="imgId15857493"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a187256e82944dbd" /><Relationship Type="http://schemas.openxmlformats.org/officeDocument/2006/relationships/slideLayout" Target="/ppt/slideLayouts/slideLayout8.xml" Id="Rd4d29190a1df4112" /><Relationship Type="http://schemas.openxmlformats.org/officeDocument/2006/relationships/hyperlink" Target="https://app.powerbi.com/groups/me/reports/5213c890-b9f8-4e32-8ec5-e0094724480d/?pbi_source=PowerPoint" TargetMode="External" Id="RelId8" /><Relationship Type="http://schemas.openxmlformats.org/officeDocument/2006/relationships/image" Target="/ppt/media/imagec.png" Id="imgId15857494"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c1e069a5c4e34418" /><Relationship Type="http://schemas.openxmlformats.org/officeDocument/2006/relationships/slideLayout" Target="/ppt/slideLayouts/slideLayout8.xml" Id="Ra2c29789acb745f6" /><Relationship Type="http://schemas.openxmlformats.org/officeDocument/2006/relationships/hyperlink" Target="https://app.powerbi.com/groups/me/reports/5213c890-b9f8-4e32-8ec5-e0094724480d/?pbi_source=PowerPoint" TargetMode="External" Id="RelId9" /><Relationship Type="http://schemas.openxmlformats.org/officeDocument/2006/relationships/image" Target="/ppt/media/imaged.png" Id="imgId17177226" /></Relationships>
</file>

<file path=ppt/slides/_rels/slidec.xml.rels>&#65279;<?xml version="1.0" encoding="utf-8"?><Relationships xmlns="http://schemas.openxmlformats.org/package/2006/relationships"><Relationship Type="http://schemas.openxmlformats.org/officeDocument/2006/relationships/notesSlide" Target="/ppt/notesSlides/notesSlideb.xml" Id="R30de99df39054256" /><Relationship Type="http://schemas.openxmlformats.org/officeDocument/2006/relationships/slideLayout" Target="/ppt/slideLayouts/slideLayout8.xml" Id="R2b24671ce132433e" /><Relationship Type="http://schemas.openxmlformats.org/officeDocument/2006/relationships/hyperlink" Target="https://app.powerbi.com/groups/me/reports/5213c890-b9f8-4e32-8ec5-e0094724480d/?pbi_source=PowerPoint" TargetMode="External" Id="RelId10" /><Relationship Type="http://schemas.openxmlformats.org/officeDocument/2006/relationships/image" Target="/ppt/media/imagee.png" Id="imgId15857485" /></Relationships>
</file>

<file path=ppt/slides/_rels/slided.xml.rels>&#65279;<?xml version="1.0" encoding="utf-8"?><Relationships xmlns="http://schemas.openxmlformats.org/package/2006/relationships"><Relationship Type="http://schemas.openxmlformats.org/officeDocument/2006/relationships/notesSlide" Target="/ppt/notesSlides/notesSlidec.xml" Id="R6d233a8421ec4602" /><Relationship Type="http://schemas.openxmlformats.org/officeDocument/2006/relationships/slideLayout" Target="/ppt/slideLayouts/slideLayout8.xml" Id="Rab5a1907ce9942db" /><Relationship Type="http://schemas.openxmlformats.org/officeDocument/2006/relationships/hyperlink" Target="https://app.powerbi.com/groups/me/reports/5213c890-b9f8-4e32-8ec5-e0094724480d/?pbi_source=PowerPoint" TargetMode="External" Id="RelId11" /><Relationship Type="http://schemas.openxmlformats.org/officeDocument/2006/relationships/image" Target="/ppt/media/imagef.png" Id="imgId15857486" /></Relationships>
</file>

<file path=ppt/slides/_rels/slidee.xml.rels>&#65279;<?xml version="1.0" encoding="utf-8"?><Relationships xmlns="http://schemas.openxmlformats.org/package/2006/relationships"><Relationship Type="http://schemas.openxmlformats.org/officeDocument/2006/relationships/notesSlide" Target="/ppt/notesSlides/notesSlided.xml" Id="R0c86e4cbe4c44a97" /><Relationship Type="http://schemas.openxmlformats.org/officeDocument/2006/relationships/slideLayout" Target="/ppt/slideLayouts/slideLayout8.xml" Id="Rdcc460de749f4ad1" /><Relationship Type="http://schemas.openxmlformats.org/officeDocument/2006/relationships/hyperlink" Target="https://app.powerbi.com/groups/me/reports/5213c890-b9f8-4e32-8ec5-e0094724480d/?pbi_source=PowerPoint" TargetMode="External" Id="RelId12" /><Relationship Type="http://schemas.openxmlformats.org/officeDocument/2006/relationships/image" Target="/ppt/media/image10.png" Id="imgId15857484" /></Relationships>
</file>

<file path=ppt/slides/_rels/slidef.xml.rels>&#65279;<?xml version="1.0" encoding="utf-8"?><Relationships xmlns="http://schemas.openxmlformats.org/package/2006/relationships"><Relationship Type="http://schemas.openxmlformats.org/officeDocument/2006/relationships/notesSlide" Target="/ppt/notesSlides/notesSlidee.xml" Id="R667d05d008a243a7" /><Relationship Type="http://schemas.openxmlformats.org/officeDocument/2006/relationships/slideLayout" Target="/ppt/slideLayouts/slideLayout8.xml" Id="R3a3d7533d9dc4946" /><Relationship Type="http://schemas.openxmlformats.org/officeDocument/2006/relationships/hyperlink" Target="https://app.powerbi.com/groups/me/reports/5213c890-b9f8-4e32-8ec5-e0094724480d/?pbi_source=PowerPoint" TargetMode="External" Id="RelId13" /><Relationship Type="http://schemas.openxmlformats.org/officeDocument/2006/relationships/image" Target="/ppt/media/image11.png" Id="imgId15857490"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101.Báo cáo tài chính</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6/24/2026 9:17:52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6/6/2026 7:15:54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Back ,shape ,Cơ cấu Chi phí 👇 ,shape ,pageNavigator ,shape ,shape ,☰  ,actionButton ,actionButton ,Định phí ,actionButton ,Công ty ,Doanh thu thuần (Lũy kế) ,Lợi nhuận sau thuế (Lũy kế) ,Doanh thu thuần - Tháng ,actionButton ,shape ,shape ,Đơn vị tiền tệ ,Công ty ,Người phụ trách ,advancedSlicerVisual ,actionButton ,actionButton ,Tháng ,tableEx ,Help ,shape ,KẾT QUẢ KINH DOANH - LK 5 THÁNG ,Năm ,cardVisual ,Doanh thu thuần - Tháng ,actionButton ,actionButton ,actionButton ,actionButton ,shape ,actionButton ,Matrix ,actionButton ,actionButton ,Nguoi phu trach ,Định phí.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585748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Định phí ,Matrix ,Người phụ trách ,KẾT QUẢ KINH DOANH - LK 5 THÁNG ,Back ,shape ,Doanh thu thuần - Tháng ,Công ty ,shape ,tableEx ,Doanh thu thuần (Tháng) ,shape ,actionButton ,advancedSlicerVisual ,Nguoi phu trach ,shape ,Năm ,actionButton ,pageNavigator ,Định phí ,actionButton ,Help ,shape ,shape ,actionButton ,shape ,Công ty ,shape ,Đơn vị tiền tệ ,cardVisual ,actionButton ,actionButton ,actionButton ,actionButton ,Cơ cấu Chi phí 👇 ,Tháng ,Lợi nhuận sau thuế (Tháng) ,actionButton ,Doanh thu thuần - Tháng ,actionButton ,actionButton ,☰  ,actionButton ,actionButton.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585748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doanh_Tháng</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hape ,shape ,Đơn vị tiền tệ ,actionButton ,shape ,actionButton ,Back ,shape ,actionButton ,Công ty ,shape ,☰  ,shape ,shape ,actionButton ,Help ,shape ,shape ,KẾT QUẢ KINH DOANH - THEO QUÝ ,Nguoi phu trach ,Doanh thu thuần - 8 Quý gần nhất ,actionButton ,shape ,shape ,shape ,Người phụ trách ,Doanh thu thuần - 8 Quý gần nhất ,Công ty ,Tháng ,shape ,shape ,shape ,shape ,Năm ,Doanh thu thuần - 4 Quý cùng kỳ ,actionButton ,tableEx ,shape ,shape ,actionButton ,shape ,shape ,actionButton ,actionButton ,actionButton ,shape ,actionButton ,pageNavigator ,actionButton ,shape ,shape ,actionButton ,Matri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585748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doanh_Quý</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Help ,shape ,actionButton ,actionButton ,actionButton ,actionButton ,actionButton ,shape ,actionButton ,Nguoi phu trach ,Back ,pageNavigator ,actionButton ,Tháng ,actionButton ,KẾT QUẢ KINH DOANH - THEO NĂM ,☰  ,actionButton ,shape ,shape ,Doanh thu thuần - Năm ,shape ,Đơn vị tiền tệ ,actionButton ,Công ty ,Công ty ,Matrix ,Người phụ trách ,shape ,actionButton ,actionButton ,actionButton ,Doanh thu thuần - Năm ,shape ,shape ,shape ,tableEx ,Năm ,shape.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585748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doanh_Năm</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shape ,Tháng 05/2026 ,shape ,Năm ,Tháng 05/2025 ,actionButton ,TÌNH HÌNH TÀI CHÍNH_THEO THÁNG ,Tháng ,Công ty ,actionButton ,actionButton ,pageNavigator ,Tháng 4/2026 ,☰  ,Help ,Tháng 4/2026 ,Matrix ,Nguoi phu trach ,actionButton ,shape ,Đơn vị tiền tệ ,actionButton ,Tháng 05/2026 ,Công ty ,actionButton ,Tháng 05/2025 ,shape ,actionButton ,actionButton ,actionButton ,actionButton ,shape ,Tiền ,Back ,shape ,Người phụ trách ,tableEx.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5857488"/>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TÌNH HÌNH TÀI CHÍNH_THEO QUÝ ,actionButton ,shape ,shape ,shape ,Người phụ trách ,Nguoi phu trach ,tableEx ,actionButton ,pageNavigator ,actionButton ,actionButton ,actionButton ,☰  ,actionButton ,Tháng ,TỔNG NGUỒN VỐN ,shape ,Công ty ,Năm ,actionButton ,actionButton ,Đơn vị tiền tệ ,actionButton ,Back ,shape ,TỔNG TÀI SẢN ,shape ,Matrix ,Help ,Tiền ,shape ,shape ,Công ty.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717722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chính_Quý</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shape ,actionButton ,Đơn vị tiền tệ ,Back ,actionButton ,Người phụ trách ,actionButton ,actionButton ,actionButton ,shape ,actionButton ,shape ,shape ,Tiền ,shape ,Công ty ,☰  ,Công ty ,actionButton ,Tháng ,TÌNH HÌNH TÀI CHÍNH_THEO NĂM ,actionButton ,shape ,Năm ,shape ,actionButton ,Nguoi phu trach ,actionButton ,actionButton ,shape ,shape ,TỔNG NGUỒN VỐN ,Help ,TỔNG TÀI SẢN ,Matrix ,actionButton ,pageNavigator ,tableEx.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15857479"/>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chính_Năm</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shape ,shape ,actionButton ,shape ,actionButton ,Người phụ trách ,shape ,Công ty ,actionButton ,shape ,Back ,shape ,shape ,actionButton ,Matrix ,shape ,Dòng tiền từ hoạt động kinh doanh ,actionButton ,actionButton ,shape ,shape ,Công ty ,shape ,tableEx ,actionButton ,Lưu chuyển tiền tệ lũy kế ,Đơn vị tiền tệ ,Help ,shape ,Nguoi phu trach ,Năm ,shape ,actionButton ,actionButton ,shape ,actionButton ,pageNavigator ,shape ,actionButton ,shape ,shape ,shape ,shape ,shape ,shape ,LƯU CHUYỂN TIỀN TỆ - LK 5 THÁNG ,shape ,☰  ,shape ,actionButton ,shape ,Tháng ,shape ,shape ,shape ,actionButton.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15857492"/>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a:t>
            </a:r>
          </a:p>
        </p:txBody>
      </p:sp>
    </p:spTree>
    <p:clrMapOvr>
      <a:masterClrMapping xmlns:a="http://schemas.openxmlformats.org/drawingml/2006/main"/>
    </p:clrMapOvr>
  </p:cSld>
</p:sld>
</file>

<file path=ppt/slides/slide10.xml><?xml version="1.0" encoding="utf-8"?>
<p:sld xmlns:p="http://schemas.openxmlformats.org/presentationml/2006/main">
  <p:cSld>
    <p:spTree>
      <p:nvGrpSpPr>
        <p:cNvPr id="1" name=""/>
        <p:cNvGrpSpPr/>
        <p:nvPr/>
      </p:nvGrpSpPr>
      <p:grpSpPr/>
      <p:pic>
        <p:nvPicPr>
          <p:cNvPr id="3" name="Picture" title="This slide contains the following visuals: Help ,☰  ,Matrix ,actionButton ,actionButton ,actionButton ,actionButton ,Năm ,slicer ,actionButton ,slicer ,actionButton ,shape ,pageNavigator ,Back ,actionButton ,Nguoi phu trach ,advancedSlicerVisual ,MA TRẬN LƯU CHUYỂN TIỀN TỆ - LŨY KẾ T05/2026 ,Người phụ trách ,actionButton ,Dòng tiền từ hoạt động kinh doanh ,tableEx ,Xem số liệu ,actionButton ,actionButton ,actionButton ,Công ty ,shape ,Tháng ,actionButton. Please refer to the notes on this slide for details">
            <a:hlinkClick xmlns:r="http://schemas.openxmlformats.org/officeDocument/2006/relationships" xmlns:a="http://schemas.openxmlformats.org/drawingml/2006/main" r:id="RelId14"/>
          </p:cNvPr>
          <p:cNvPicPr>
            <a:picLocks xmlns:a="http://schemas.openxmlformats.org/drawingml/2006/main" noChangeAspect="1"/>
          </p:cNvPicPr>
          <p:nvPr/>
        </p:nvPicPr>
        <p:blipFill>
          <a:blip xmlns:r="http://schemas.openxmlformats.org/officeDocument/2006/relationships" xmlns:a="http://schemas.openxmlformats.org/drawingml/2006/main" r:embed="imgId1585749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trận_Lưu chuyển tiền tệ</a:t>
            </a:r>
          </a:p>
        </p:txBody>
      </p:sp>
    </p:spTree>
    <p:clrMapOvr>
      <a:masterClrMapping xmlns:a="http://schemas.openxmlformats.org/drawingml/2006/main"/>
    </p:clrMapOvr>
  </p:cSld>
</p:sld>
</file>

<file path=ppt/slides/slide11.xml><?xml version="1.0" encoding="utf-8"?>
<p:sld xmlns:p="http://schemas.openxmlformats.org/presentationml/2006/main">
  <p:cSld>
    <p:spTree>
      <p:nvGrpSpPr>
        <p:cNvPr id="1" name=""/>
        <p:cNvGrpSpPr/>
        <p:nvPr/>
      </p:nvGrpSpPr>
      <p:grpSpPr/>
      <p:pic>
        <p:nvPicPr>
          <p:cNvPr id="3" name="Picture" title="This slide contains the following visuals: Công ty ,shape ,☰  ,actionButton ,actionButton ,actionButton ,advancedSlicerVisual ,Tỷ suất lợi nhuận sau thuế (%) ,actionButton ,slicer ,Tháng ,Matrix ,actionButton ,actionButton ,actionButton ,Nguoi phu trach ,actionButton ,actionButton ,tableEx ,actionButton ,Help ,Back ,actionButton ,pageNavigator ,slicer ,actionButton ,Người phụ trách ,Năm ,MA TRẬN CHỈ SỐ TÀI CHÍNH - LŨY KẾ T05/2026. Please refer to the notes on this slide for details">
            <a:hlinkClick xmlns:r="http://schemas.openxmlformats.org/officeDocument/2006/relationships" xmlns:a="http://schemas.openxmlformats.org/drawingml/2006/main" r:id="RelId15"/>
          </p:cNvPr>
          <p:cNvPicPr>
            <a:picLocks xmlns:a="http://schemas.openxmlformats.org/drawingml/2006/main" noChangeAspect="1"/>
          </p:cNvPicPr>
          <p:nvPr/>
        </p:nvPicPr>
        <p:blipFill>
          <a:blip xmlns:r="http://schemas.openxmlformats.org/officeDocument/2006/relationships" xmlns:a="http://schemas.openxmlformats.org/drawingml/2006/main" r:embed="imgId1585749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trận_Chỉ số tài chính</a:t>
            </a:r>
          </a:p>
        </p:txBody>
      </p:sp>
    </p:spTree>
    <p:clrMapOvr>
      <a:masterClrMapping xmlns:a="http://schemas.openxmlformats.org/drawingml/2006/main"/>
    </p:clrMapOvr>
  </p:cSld>
</p:sld>
</file>

<file path=ppt/slides/slide12.xml><?xml version="1.0" encoding="utf-8"?>
<p:sld xmlns:p="http://schemas.openxmlformats.org/presentationml/2006/main">
  <p:cSld>
    <p:spTree>
      <p:nvGrpSpPr>
        <p:cNvPr id="1" name=""/>
        <p:cNvGrpSpPr/>
        <p:nvPr/>
      </p:nvGrpSpPr>
      <p:grpSpPr/>
      <p:pic>
        <p:nvPicPr>
          <p:cNvPr id="3" name="Picture" title="This slide contains the following visuals: actionButton ,Người phụ trách ,tableEx ,Công ty ,actionButton ,pageNavigator ,pageNavigator ,actionButton ,Năm ,actionButton ,Tháng ,advancedSlicerVisual ,slicer ,Help ,Cơ cấu sở hữu ,actionButton ,THÔNG TIN CÔNG TY ,☰  ,shape ,actionButton ,actionButton ,actionButton ,actionButton ,advancedSlicerVisual ,actionButton ,actionButton ,actionButton ,actionButton ,slicer ,image ,tableEx ,Back ,Công ty ,Nguoi phu trach ,shape ,Matrix. Please refer to the notes on this slide for details">
            <a:hlinkClick xmlns:r="http://schemas.openxmlformats.org/officeDocument/2006/relationships" xmlns:a="http://schemas.openxmlformats.org/drawingml/2006/main" r:id="RelId16"/>
          </p:cNvPr>
          <p:cNvPicPr>
            <a:picLocks xmlns:a="http://schemas.openxmlformats.org/drawingml/2006/main" noChangeAspect="1"/>
          </p:cNvPicPr>
          <p:nvPr/>
        </p:nvPicPr>
        <p:blipFill>
          <a:blip xmlns:r="http://schemas.openxmlformats.org/officeDocument/2006/relationships" xmlns:a="http://schemas.openxmlformats.org/drawingml/2006/main" r:embed="imgId1585749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Thông tin công ty</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shape ,Công ty ,actionButton ,actionButton ,shape ,shape ,shape ,shape ,Help ,shape ,shape ,actionButton ,shape ,Đơn vị tiền tệ ,actionButton ,shape ,actionButton ,LƯU CHUYỂN TIỀN TỆ - T05/2026 ,actionButton ,shape ,shape ,shape ,Người phụ trách ,shape ,Dòng tiền từ hoạt động kinh doanh ,shape ,actionButton ,Công ty ,actionButton ,actionButton ,shape ,Năm ,shape ,☰  ,pageNavigator ,shape ,actionButton ,tableEx ,shape ,Matrix ,Lưu chuyển tiền tệ_Tháng ,shape ,shape ,Back ,shape ,shape ,Tháng ,shape ,Nguoi phu trach ,actionButton ,shape ,actionButton ,shape ,actionButton ,shape.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1585749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tệ_Tháng</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actionButton ,shape ,actionButton ,actionButton ,shape ,shape ,shape ,actionButton ,actionButton ,shape ,Công ty ,shape ,actionButton ,shape ,shape ,Help ,Back ,Người phụ trách ,shape ,pageNavigator ,shape ,shape ,shape ,shape ,Lưu chuyển tiền tệ lũy kế theo quý ,actionButton ,shape ,LƯU CHUYỂN TIỀN TỆ_THEO QUÝ ,shape ,Nguoi phu trach ,Tháng ,shape ,actionButton ,shape ,☰  ,Dòng tiền từ hoạt động kinh doanh ,Năm ,shape ,actionButton ,shape ,actionButton ,Matrix ,shape ,Đơn vị tiền tệ ,Công ty ,shape ,tableEx ,shape ,actionButton ,actionButton ,shape ,shape ,shape ,actionButton ,shape ,shape ,shape.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1717722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tệ_Quý</a:t>
            </a:r>
          </a:p>
        </p:txBody>
      </p:sp>
    </p:spTree>
    <p:clrMapOvr>
      <a:masterClrMapping xmlns:a="http://schemas.openxmlformats.org/drawingml/2006/main"/>
    </p:clrMapOvr>
  </p:cSld>
</p:sld>
</file>

<file path=ppt/slides/slidec.xml><?xml version="1.0" encoding="utf-8"?>
<p:sld xmlns:p="http://schemas.openxmlformats.org/presentationml/2006/main">
  <p:cSld>
    <p:spTree>
      <p:nvGrpSpPr>
        <p:cNvPr id="1" name=""/>
        <p:cNvGrpSpPr/>
        <p:nvPr/>
      </p:nvGrpSpPr>
      <p:grpSpPr/>
      <p:pic>
        <p:nvPicPr>
          <p:cNvPr id="3" name="Picture" title="This slide contains the following visuals: actionButton ,tableEx ,shape ,shape ,actionButton ,shape ,Người phụ trách ,actionButton ,shape ,shape ,actionButton ,pageNavigator ,actionButton ,shape ,shape ,actionButton ,actionButton ,Công ty ,actionButton ,shape ,actionButton ,shape ,Nguoi phu trach ,shape ,actionButton ,shape ,Dòng tiền từ hoạt động kinh doanh ,shape ,Đơn vị tiền tệ ,shape ,actionButton ,Năm ,Back ,shape ,shape ,shape ,shape ,shape ,shape ,shape ,shape ,shape ,shape ,actionButton ,shape ,shape ,Lưu chuyển tiền tệ lũy kế theo năm ,shape ,shape ,shape ,Tháng ,shape ,Công ty ,actionButton ,Matrix ,☰  ,Help ,LƯU CHUYỂN TIỀN TỆ_THEO NĂM. Please refer to the notes on this slide for details">
            <a:hlinkClick xmlns:r="http://schemas.openxmlformats.org/officeDocument/2006/relationships" xmlns:a="http://schemas.openxmlformats.org/drawingml/2006/main" r:id="RelId10"/>
          </p:cNvPr>
          <p:cNvPicPr>
            <a:picLocks xmlns:a="http://schemas.openxmlformats.org/drawingml/2006/main" noChangeAspect="1"/>
          </p:cNvPicPr>
          <p:nvPr/>
        </p:nvPicPr>
        <p:blipFill>
          <a:blip xmlns:r="http://schemas.openxmlformats.org/officeDocument/2006/relationships" xmlns:a="http://schemas.openxmlformats.org/drawingml/2006/main" r:embed="imgId15857485"/>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tệ_Năm</a:t>
            </a:r>
          </a:p>
        </p:txBody>
      </p:sp>
    </p:spTree>
    <p:clrMapOvr>
      <a:masterClrMapping xmlns:a="http://schemas.openxmlformats.org/drawingml/2006/main"/>
    </p:clrMapOvr>
  </p:cSld>
</p:sld>
</file>

<file path=ppt/slides/slided.xml><?xml version="1.0" encoding="utf-8"?>
<p:sld xmlns:p="http://schemas.openxmlformats.org/presentationml/2006/main">
  <p:cSld>
    <p:spTree>
      <p:nvGrpSpPr>
        <p:cNvPr id="1" name=""/>
        <p:cNvGrpSpPr/>
        <p:nvPr/>
      </p:nvGrpSpPr>
      <p:grpSpPr/>
      <p:pic>
        <p:nvPicPr>
          <p:cNvPr id="3" name="Picture" title="This slide contains the following visuals: actionButton ,pageNavigator ,Tỷ suất lợi nhuận sau thuế (%) ,shape ,shape ,shape ,shape ,actionButton ,shape ,Công ty ,shape ,shape ,actionButton ,shape ,shape ,Z - Score - Quý ,Zscore Thang ,Zscore Quy ,Nguoi phu trach ,shape ,shape ,actionButton ,tableEx ,shape ,CHỈ SỐ TÀI CHÍNH - LŨY KẾ 5 THÁNG ,shape ,tableEx ,advancedSlicerVisual ,actionButton ,Z - Score - Năm ,☰  ,actionButton ,Z - Score - Quý ,Z - Score - Quý ,shape ,shape ,shape ,actionButton ,Z - Score - Quý ,Back ,actionButton ,Help ,shape ,Tháng ,shape ,shape ,Người phụ trách ,actionButton ,shape ,actionButton ,shape ,Zscore Nam ,Matrix ,shape ,shape ,Năm ,shape ,shape ,Z - Score (Sức khỏe tài chính) ,Công ty ,shape. Please refer to the notes on this slide for details">
            <a:hlinkClick xmlns:r="http://schemas.openxmlformats.org/officeDocument/2006/relationships" xmlns:a="http://schemas.openxmlformats.org/drawingml/2006/main" r:id="RelId11"/>
          </p:cNvPr>
          <p:cNvPicPr>
            <a:picLocks xmlns:a="http://schemas.openxmlformats.org/drawingml/2006/main" noChangeAspect="1"/>
          </p:cNvPicPr>
          <p:nvPr/>
        </p:nvPicPr>
        <p:blipFill>
          <a:blip xmlns:r="http://schemas.openxmlformats.org/officeDocument/2006/relationships" xmlns:a="http://schemas.openxmlformats.org/drawingml/2006/main" r:embed="imgId1585748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Chỉ số tài chính</a:t>
            </a:r>
          </a:p>
        </p:txBody>
      </p:sp>
    </p:spTree>
    <p:clrMapOvr>
      <a:masterClrMapping xmlns:a="http://schemas.openxmlformats.org/drawingml/2006/main"/>
    </p:clrMapOvr>
  </p:cSld>
</p:sld>
</file>

<file path=ppt/slides/slidee.xml><?xml version="1.0" encoding="utf-8"?>
<p:sld xmlns:p="http://schemas.openxmlformats.org/presentationml/2006/main">
  <p:cSld>
    <p:spTree>
      <p:nvGrpSpPr>
        <p:cNvPr id="1" name=""/>
        <p:cNvGrpSpPr/>
        <p:nvPr/>
      </p:nvGrpSpPr>
      <p:grpSpPr/>
      <p:pic>
        <p:nvPicPr>
          <p:cNvPr id="3" name="Picture" title="This slide contains the following visuals: actionButton ,Matrix ,MA TRẬN KẾT QUẢ KINH DOANH - LŨY KẾ T05/2026 ,actionButton ,advancedSlicerVisual ,Doanh thu thuần - Tháng ,shape ,slicer ,Năm ,actionButton ,Nguoi phu trach ,☰  ,actionButton ,actionButton ,actionButton ,tableEx ,Tháng ,Người phụ trách ,Xem số liệu ,actionButton ,actionButton ,Back ,actionButton ,Công ty ,actionButton ,slicer ,actionButton ,actionButton ,Help ,pageNavigator. Please refer to the notes on this slide for details">
            <a:hlinkClick xmlns:r="http://schemas.openxmlformats.org/officeDocument/2006/relationships" xmlns:a="http://schemas.openxmlformats.org/drawingml/2006/main" r:id="RelId12"/>
          </p:cNvPr>
          <p:cNvPicPr>
            <a:picLocks xmlns:a="http://schemas.openxmlformats.org/drawingml/2006/main" noChangeAspect="1"/>
          </p:cNvPicPr>
          <p:nvPr/>
        </p:nvPicPr>
        <p:blipFill>
          <a:blip xmlns:r="http://schemas.openxmlformats.org/officeDocument/2006/relationships" xmlns:a="http://schemas.openxmlformats.org/drawingml/2006/main" r:embed="imgId1585748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trận_Kết quả kinh doanh</a:t>
            </a:r>
          </a:p>
        </p:txBody>
      </p:sp>
    </p:spTree>
    <p:clrMapOvr>
      <a:masterClrMapping xmlns:a="http://schemas.openxmlformats.org/drawingml/2006/main"/>
    </p:clrMapOvr>
  </p:cSld>
</p:sld>
</file>

<file path=ppt/slides/slidef.xml><?xml version="1.0" encoding="utf-8"?>
<p:sld xmlns:p="http://schemas.openxmlformats.org/presentationml/2006/main">
  <p:cSld>
    <p:spTree>
      <p:nvGrpSpPr>
        <p:cNvPr id="1" name=""/>
        <p:cNvGrpSpPr/>
        <p:nvPr/>
      </p:nvGrpSpPr>
      <p:grpSpPr/>
      <p:pic>
        <p:nvPicPr>
          <p:cNvPr id="3" name="Picture" title="This slide contains the following visuals: actionButton ,Tháng ,Matrix ,actionButton ,actionButton ,Nguoi phu trach ,tableEx ,pageNavigator ,Công ty ,Năm ,slicer ,Back ,Tiền ,actionButton ,Người phụ trách ,actionButton ,actionButton ,Help ,actionButton ,actionButton ,slicer ,actionButton ,actionButton ,advancedSlicerVisual ,shape ,actionButton ,MA TRẬN TÌNH HÌNH TÀI CHÍNH - T05/2026 ,☰  ,actionButton. Please refer to the notes on this slide for details">
            <a:hlinkClick xmlns:r="http://schemas.openxmlformats.org/officeDocument/2006/relationships" xmlns:a="http://schemas.openxmlformats.org/drawingml/2006/main" r:id="RelId13"/>
          </p:cNvPr>
          <p:cNvPicPr>
            <a:picLocks xmlns:a="http://schemas.openxmlformats.org/drawingml/2006/main" noChangeAspect="1"/>
          </p:cNvPicPr>
          <p:nvPr/>
        </p:nvPicPr>
        <p:blipFill>
          <a:blip xmlns:r="http://schemas.openxmlformats.org/officeDocument/2006/relationships" xmlns:a="http://schemas.openxmlformats.org/drawingml/2006/main" r:embed="imgId1585749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trận_Tình hình tài chính</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