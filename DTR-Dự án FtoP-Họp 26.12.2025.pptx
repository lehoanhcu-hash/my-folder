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339" r:id="rId3"/>
    <p:sldId id="334" r:id="rId4"/>
    <p:sldId id="341" r:id="rId5"/>
    <p:sldId id="349" r:id="rId6"/>
    <p:sldId id="348" r:id="rId7"/>
    <p:sldId id="343" r:id="rId8"/>
    <p:sldId id="354" r:id="rId9"/>
    <p:sldId id="350" r:id="rId10"/>
    <p:sldId id="351" r:id="rId11"/>
    <p:sldId id="35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19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55541-B40E-4C73-9F77-9CED1702D86B}" v="217" dt="2025-12-25T09:33:35.4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061BA-5E24-40F2-9116-15FE5EBB1A3C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5D0C3-FD46-4AED-A99A-6A7BFD151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8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7862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</p:spPr>
        <p:txBody>
          <a:bodyPr spcFirstLastPara="1" wrap="square" lIns="138728" tIns="138728" rIns="138728" bIns="13872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910F-55E0-8B96-A16D-18A9CF01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AFD80-BAAF-AB0B-3124-15E673532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2F8F2-39DB-8D34-2CA3-E8E708C3A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04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33BA-0313-9AD9-6272-4F0F660F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42BF9-5D89-DFCE-7F6C-3CDC53887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D2713-0310-949F-8867-979EDF03A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2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C57B-AC42-EB03-8A3C-CE75B0BA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E7A37-EA5F-2B4B-6A49-9D9F63A44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EFC6A-DC0D-2515-BD54-7C5BA833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73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720C-8874-F6A1-DEF7-A2E62BD7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30E0A-3D70-C32B-10C5-930A36E6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3D0D3-4A0D-5CC1-7FBB-3504C12BB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35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4289-A967-D45C-CB3A-979738FA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3C9B8-A511-ACE0-073A-13825A271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111CB-B66A-9B94-64DA-BF06339CB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84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0BBE-D383-6C65-3BD1-9A39E7AED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6C2D1-BA57-1796-367F-E959B39AA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85920-E793-3414-3E83-369E07DE4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73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9DDF-4FD3-16C5-934D-7744F3FA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1932F-AD2E-4E8E-486A-9F05E4B48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411E1-0DB7-5A24-3F97-1DF0F7123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32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8D1FB-5ECA-D986-2E0C-85827AAA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58E02-117C-0B09-4AC6-0A9BD95AE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F887B-DBE5-ED67-ABE9-ECDF5628B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5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183C-D7AC-D6C0-44B7-3D210D7E9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1508F-4207-C362-DFF9-B56164B2C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1526A-6772-0AF7-7E56-128DBCB0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C5D4-DF27-E348-82E7-A72D077D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7B82C-7B4A-5AFA-F3B6-FBDB8A24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8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68E4-B261-90B6-8044-65C9C6A1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E050F-FCDF-668C-DE4B-0A0F75527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D99BA-CD97-7E4A-C6FE-2AA445B67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3B318-F37F-1122-CF13-1F1F81CC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06F7-2E75-1804-18F8-03B0EAC6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4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465F-5A4F-0D6E-DC2B-039DB104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7DB33-9399-99F9-31D5-F1369FA37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0604-7EB9-1931-CAFA-43E27A28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9DD43-464E-4DA3-A579-E53C1523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E6A9-47FA-E3B8-D98C-DB44386B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1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C634-CDC2-3DFD-026B-38EDCE47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6EE5-980D-1820-1D75-69AC952B8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C9CD5-6B9F-DE30-23C1-2DFC27EBE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E0756-5F76-A70E-D7DF-2CC64AD34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79B57-B57C-AB58-BC37-63A5C27C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7088-40A8-E09C-77E5-10E6B474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3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8AEF-9414-721A-08CE-C02616F4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B7157-3902-3D14-70D9-AB35023AE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21389-76E1-A550-3CE8-004BFFA3D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D3FE9-CB58-77FF-021E-B14FDE3BF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3711E-5CE3-E9FB-E729-0A5F7F7FD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24A4A-AAEF-A3CE-CD54-1F3EA17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2F3A21-BDE4-DF68-EB5F-C27BE4DE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C2689-5DDF-9DC7-9C0D-048026BF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3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1580-C5BE-E9F8-8037-AE658D4D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681B5-136A-0472-BA3E-058F5651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4B11E-62C1-80EC-D7EC-46F9E963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C5C4-B4BD-D0BC-FFE4-6A449291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8EB2E-CB86-AB3C-4626-80C3F5F7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8FC65-4946-0FA3-2E4B-73745138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1F587-D62A-DF35-1DC5-DE06E11F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2C2A-48B4-F3BD-BB39-7C78DFDB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BEA3-0283-A229-BA30-75AED5F2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0EC7F-A397-1FF0-DC5E-EDE536814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FE91B-888C-7A50-1A9F-5A9FF236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6433A-2189-AC0C-8648-0DB036D6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F80D0-3975-33A9-D628-5AD796B2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4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2D6B-D517-9B4F-0701-6A73D65D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1D118-E295-7268-3223-7481E19CF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86465-D490-40F7-6F53-1AB1CFCF8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8BAC2-212E-DA93-2072-169590DA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6A3E-113C-5C77-1689-B3D140C7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CC92C-4D70-2DB4-FCBB-5C7576C8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4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DC3A-9CE2-E846-5B7C-305F4329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7560E-F3AF-CD68-6982-BC1FF72DA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E894-464F-E0BF-037B-90846E6E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060B4-0006-0483-A864-E19B9B89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6F9CA-73EF-1DC3-BC4A-69D3DFAF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5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F3DA9-4F51-DC89-ED73-565014F73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4CBCF-B682-6252-9CCC-BD814EE28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1B238-C10A-0218-9E09-2249BAD9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5783F-D765-DDAA-EBB0-8307474C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E56F0-B9D9-F0C6-710C-E6183770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7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3400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0" y="6515081"/>
            <a:ext cx="12192000" cy="3429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0574" y="6556733"/>
            <a:ext cx="553937" cy="283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876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1D805-FE2F-83D6-6349-820B3D7E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CEEDC-F871-60AE-3CA7-C16DC0E0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3E94-D34F-8785-8A93-496F8363F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1DE6C-4250-45DF-8841-FCDF6F2766B9}" type="datetimeFigureOut">
              <a:rPr lang="en-US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8365C-E5DF-E7DC-5F23-7026FF84F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2631-79DB-89D0-1033-1A220556F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5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4821" y="281585"/>
            <a:ext cx="1593440" cy="24433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1BA8B28-E692-BEAF-1BD6-70F88AC0E91D}"/>
              </a:ext>
            </a:extLst>
          </p:cNvPr>
          <p:cNvGrpSpPr/>
          <p:nvPr/>
        </p:nvGrpSpPr>
        <p:grpSpPr>
          <a:xfrm>
            <a:off x="-9143" y="1102019"/>
            <a:ext cx="12201143" cy="2044186"/>
            <a:chOff x="0" y="2024568"/>
            <a:chExt cx="12201143" cy="20441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E32C53-F9F6-E860-9F82-A8EA53A25691}"/>
                </a:ext>
              </a:extLst>
            </p:cNvPr>
            <p:cNvSpPr/>
            <p:nvPr/>
          </p:nvSpPr>
          <p:spPr>
            <a:xfrm>
              <a:off x="0" y="2170547"/>
              <a:ext cx="12192000" cy="1752229"/>
            </a:xfrm>
            <a:prstGeom prst="rect">
              <a:avLst/>
            </a:prstGeom>
            <a:solidFill>
              <a:srgbClr val="11930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Google Shape;170;p19">
              <a:extLst>
                <a:ext uri="{FF2B5EF4-FFF2-40B4-BE49-F238E27FC236}">
                  <a16:creationId xmlns:a16="http://schemas.microsoft.com/office/drawing/2014/main" id="{6D0DFC0C-E3A7-AC85-8C7C-C6BD6BEC71AB}"/>
                </a:ext>
              </a:extLst>
            </p:cNvPr>
            <p:cNvSpPr txBox="1">
              <a:spLocks/>
            </p:cNvSpPr>
            <p:nvPr/>
          </p:nvSpPr>
          <p:spPr>
            <a:xfrm>
              <a:off x="9144" y="2024568"/>
              <a:ext cx="12191999" cy="2044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9pPr>
            </a:lstStyle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CÔNG TY CỔ PHẦN NHỰA TÁI CHẾ DUY TÂN</a:t>
              </a:r>
            </a:p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BÁO CÁO DỰ ÁN TIỀN KHẢ THI VẢY RA PHÔI (FtoP) </a:t>
              </a:r>
            </a:p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– SUNTORY PEPSI</a:t>
              </a:r>
              <a:endParaRPr lang="en-US" sz="320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0" y="6946069"/>
            <a:ext cx="12209605" cy="107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800"/>
              </a:spcBef>
              <a:buNone/>
            </a:pPr>
            <a:r>
              <a:rPr lang="vi-VN" sz="1400" i="1">
                <a:latin typeface="Open Sans" panose="020B0606030504020204" pitchFamily="34" charset="0"/>
              </a:rPr>
              <a:t>Ngườ</a:t>
            </a:r>
            <a:r>
              <a:rPr lang="en-US" sz="1400" i="1" err="1">
                <a:latin typeface="Open Sans" panose="020B0606030504020204" pitchFamily="34" charset="0"/>
              </a:rPr>
              <a:t>i</a:t>
            </a:r>
            <a:r>
              <a:rPr lang="en-US" sz="1400" i="1">
                <a:latin typeface="Open Sans" panose="020B0606030504020204" pitchFamily="34" charset="0"/>
              </a:rPr>
              <a:t> </a:t>
            </a:r>
            <a:r>
              <a:rPr lang="en-US" sz="1400" i="1" err="1">
                <a:latin typeface="Open Sans" panose="020B0606030504020204" pitchFamily="34" charset="0"/>
              </a:rPr>
              <a:t>báo</a:t>
            </a:r>
            <a:r>
              <a:rPr lang="en-US" sz="1400" i="1">
                <a:latin typeface="Open Sans" panose="020B0606030504020204" pitchFamily="34" charset="0"/>
              </a:rPr>
              <a:t> </a:t>
            </a:r>
            <a:r>
              <a:rPr lang="en-US" sz="1400" i="1" err="1">
                <a:latin typeface="Open Sans" panose="020B0606030504020204" pitchFamily="34" charset="0"/>
              </a:rPr>
              <a:t>cáo</a:t>
            </a:r>
            <a:r>
              <a:rPr lang="en-US" sz="1400" i="1">
                <a:latin typeface="Open Sans" panose="020B0606030504020204" pitchFamily="34" charset="0"/>
              </a:rPr>
              <a:t>: …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vi-VN" sz="1400" i="1">
                <a:latin typeface="Open Sans" panose="020B0606030504020204" pitchFamily="34" charset="0"/>
              </a:rPr>
              <a:t>Ng</a:t>
            </a:r>
            <a:r>
              <a:rPr lang="en-US" sz="1400" i="1" err="1">
                <a:latin typeface="Open Sans" panose="020B0606030504020204" pitchFamily="34" charset="0"/>
              </a:rPr>
              <a:t>ày</a:t>
            </a:r>
            <a:r>
              <a:rPr lang="en-US" sz="1400" i="1">
                <a:latin typeface="Open Sans" panose="020B0606030504020204" pitchFamily="34" charset="0"/>
              </a:rPr>
              <a:t> báo cáo: </a:t>
            </a:r>
            <a:r>
              <a:rPr lang="en-US" sz="1400" b="1" i="1">
                <a:latin typeface="Open Sans" panose="020B0606030504020204" pitchFamily="34" charset="0"/>
              </a:rPr>
              <a:t>…/…/2025</a:t>
            </a:r>
            <a:endParaRPr lang="vi-VN" sz="1400" b="1" i="1"/>
          </a:p>
          <a:p>
            <a:pPr marL="0" indent="0" algn="ctr">
              <a:spcBef>
                <a:spcPts val="800"/>
              </a:spcBef>
              <a:buNone/>
            </a:pPr>
            <a:endParaRPr lang="vi-VN" sz="1400" b="1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02CAF-88A6-3CC4-73F9-7DD1124558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9" r="2009"/>
          <a:stretch/>
        </p:blipFill>
        <p:spPr>
          <a:xfrm>
            <a:off x="7515095" y="3292184"/>
            <a:ext cx="4242172" cy="2931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Suntory PepsiCo Việt Nam">
            <a:extLst>
              <a:ext uri="{FF2B5EF4-FFF2-40B4-BE49-F238E27FC236}">
                <a16:creationId xmlns:a16="http://schemas.microsoft.com/office/drawing/2014/main" id="{1A954735-5E8A-B518-8BFE-5CC8CC28E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31" y="6005481"/>
            <a:ext cx="1758806" cy="75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B142A12-2AF3-7A1E-20CE-D6F60B8C3957}"/>
              </a:ext>
            </a:extLst>
          </p:cNvPr>
          <p:cNvGrpSpPr/>
          <p:nvPr/>
        </p:nvGrpSpPr>
        <p:grpSpPr>
          <a:xfrm>
            <a:off x="1941323" y="557492"/>
            <a:ext cx="9376116" cy="478836"/>
            <a:chOff x="4435722" y="1677828"/>
            <a:chExt cx="9378558" cy="4789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A9DECC-782D-A458-374C-DB9615778680}"/>
                </a:ext>
              </a:extLst>
            </p:cNvPr>
            <p:cNvSpPr/>
            <p:nvPr/>
          </p:nvSpPr>
          <p:spPr>
            <a:xfrm>
              <a:off x="4690885" y="1677828"/>
              <a:ext cx="6465957" cy="44784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B5E61E-5449-618F-DC0C-C2CAE44337F7}"/>
                </a:ext>
              </a:extLst>
            </p:cNvPr>
            <p:cNvSpPr txBox="1"/>
            <p:nvPr/>
          </p:nvSpPr>
          <p:spPr>
            <a:xfrm>
              <a:off x="4961820" y="1695003"/>
              <a:ext cx="8852460" cy="4617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yếu tố giả định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7F21249-D725-DA24-DF7C-8A769543FB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35722" y="1677828"/>
              <a:ext cx="469258" cy="46925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0" y="6773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cs typeface="Times New Roman" panose="02020603050405020304" pitchFamily="18" charset="0"/>
              </a:rPr>
              <a:t>NỘI DUNG</a:t>
            </a:r>
            <a:endParaRPr lang="en-US" sz="240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1941323" y="1396347"/>
            <a:ext cx="7789488" cy="461823"/>
            <a:chOff x="5199122" y="3485630"/>
            <a:chExt cx="7789486" cy="46182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660091" y="3485630"/>
              <a:ext cx="7328517" cy="461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Đầu tư CAPEX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9122" y="3495907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1941323" y="2218189"/>
            <a:ext cx="7589909" cy="474623"/>
            <a:chOff x="4467398" y="5216733"/>
            <a:chExt cx="7589909" cy="4746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16733"/>
              <a:ext cx="7124242" cy="461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Cơ cấu chi phí – VND/Phôi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1941323" y="3052831"/>
            <a:ext cx="7819089" cy="496135"/>
            <a:chOff x="5162127" y="3458524"/>
            <a:chExt cx="7819089" cy="49613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458524"/>
              <a:ext cx="732851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Cơ cấu chi phí – USD/tấn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426B1D-6F82-18FA-D478-0AC477A44A3D}"/>
              </a:ext>
            </a:extLst>
          </p:cNvPr>
          <p:cNvGrpSpPr/>
          <p:nvPr/>
        </p:nvGrpSpPr>
        <p:grpSpPr>
          <a:xfrm>
            <a:off x="1941323" y="3908985"/>
            <a:ext cx="7797599" cy="489171"/>
            <a:chOff x="5183618" y="3471882"/>
            <a:chExt cx="7797598" cy="46086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53583F-4DBA-D134-AB9F-26A7FE41DD5F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85E834-E39C-0888-6CCF-82156C5E2F75}"/>
                </a:ext>
              </a:extLst>
            </p:cNvPr>
            <p:cNvSpPr txBox="1"/>
            <p:nvPr/>
          </p:nvSpPr>
          <p:spPr>
            <a:xfrm>
              <a:off x="5652699" y="3471882"/>
              <a:ext cx="7328517" cy="43494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Kết luận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2BAF273-06DB-E6A9-0E5F-5E8EBEAA6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9AE599E-2727-E326-0803-81C6B5BACC0E}"/>
              </a:ext>
            </a:extLst>
          </p:cNvPr>
          <p:cNvGrpSpPr/>
          <p:nvPr/>
        </p:nvGrpSpPr>
        <p:grpSpPr>
          <a:xfrm>
            <a:off x="1941323" y="4758175"/>
            <a:ext cx="7797599" cy="489171"/>
            <a:chOff x="5183618" y="3471882"/>
            <a:chExt cx="7797598" cy="46086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2CE948-BFF6-C243-ACEB-AF0E9C995084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1F635F-8F0A-9C1D-4FC4-E79F3D6C2D1C}"/>
                </a:ext>
              </a:extLst>
            </p:cNvPr>
            <p:cNvSpPr txBox="1"/>
            <p:nvPr/>
          </p:nvSpPr>
          <p:spPr>
            <a:xfrm>
              <a:off x="5652699" y="3471882"/>
              <a:ext cx="7328517" cy="43494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So sánh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C7E7C4-55FC-A311-2971-801DB9D69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088C131-CF6F-5779-2CEC-7BCE3112F8B5}"/>
              </a:ext>
            </a:extLst>
          </p:cNvPr>
          <p:cNvSpPr txBox="1"/>
          <p:nvPr/>
        </p:nvSpPr>
        <p:spPr>
          <a:xfrm>
            <a:off x="2196420" y="5272848"/>
            <a:ext cx="88501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/>
              <a:t>So sánh kết quả 3 giá bán</a:t>
            </a:r>
            <a:r>
              <a:rPr lang="en-US" sz="1500" i="1"/>
              <a:t>:</a:t>
            </a:r>
          </a:p>
          <a:p>
            <a:r>
              <a:rPr lang="en-US" sz="1500" i="1"/>
              <a:t>- Giá kế toán đề xuất (1,744 USD/Tấn ~ 680 VND/phôi);</a:t>
            </a:r>
          </a:p>
          <a:p>
            <a:r>
              <a:rPr lang="en-US" sz="1500" i="1"/>
              <a:t>- Giá trung bình giữa giá kế toán đề xuất và Suntory (1,667 USD/tấn ~ 650 VND/phôi);</a:t>
            </a:r>
          </a:p>
          <a:p>
            <a:r>
              <a:rPr lang="en-US" sz="1500" i="1"/>
              <a:t>- Giá Suntory đề xuất (1,564 USD/tấn ~ 610 VND/phôi).</a:t>
            </a:r>
          </a:p>
        </p:txBody>
      </p:sp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896-8772-3934-C602-9E907191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61ECA3-5A89-C0C3-51C9-9D603C6DD9F5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1 - GIẢ ĐỊNH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CA41-F81B-0759-5734-BC3409F0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F9381F-903D-9D37-4A06-1DB47F93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052044"/>
              </p:ext>
            </p:extLst>
          </p:nvPr>
        </p:nvGraphicFramePr>
        <p:xfrm>
          <a:off x="45268" y="437764"/>
          <a:ext cx="12095431" cy="605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65">
                  <a:extLst>
                    <a:ext uri="{9D8B030D-6E8A-4147-A177-3AD203B41FA5}">
                      <a16:colId xmlns:a16="http://schemas.microsoft.com/office/drawing/2014/main" val="2824016576"/>
                    </a:ext>
                  </a:extLst>
                </a:gridCol>
                <a:gridCol w="3287707">
                  <a:extLst>
                    <a:ext uri="{9D8B030D-6E8A-4147-A177-3AD203B41FA5}">
                      <a16:colId xmlns:a16="http://schemas.microsoft.com/office/drawing/2014/main" val="266889753"/>
                    </a:ext>
                  </a:extLst>
                </a:gridCol>
                <a:gridCol w="1215299">
                  <a:extLst>
                    <a:ext uri="{9D8B030D-6E8A-4147-A177-3AD203B41FA5}">
                      <a16:colId xmlns:a16="http://schemas.microsoft.com/office/drawing/2014/main" val="3036402878"/>
                    </a:ext>
                  </a:extLst>
                </a:gridCol>
                <a:gridCol w="1138543">
                  <a:extLst>
                    <a:ext uri="{9D8B030D-6E8A-4147-A177-3AD203B41FA5}">
                      <a16:colId xmlns:a16="http://schemas.microsoft.com/office/drawing/2014/main" val="407865332"/>
                    </a:ext>
                  </a:extLst>
                </a:gridCol>
                <a:gridCol w="220672">
                  <a:extLst>
                    <a:ext uri="{9D8B030D-6E8A-4147-A177-3AD203B41FA5}">
                      <a16:colId xmlns:a16="http://schemas.microsoft.com/office/drawing/2014/main" val="2323827819"/>
                    </a:ext>
                  </a:extLst>
                </a:gridCol>
                <a:gridCol w="409365">
                  <a:extLst>
                    <a:ext uri="{9D8B030D-6E8A-4147-A177-3AD203B41FA5}">
                      <a16:colId xmlns:a16="http://schemas.microsoft.com/office/drawing/2014/main" val="1856214054"/>
                    </a:ext>
                  </a:extLst>
                </a:gridCol>
                <a:gridCol w="2200332">
                  <a:extLst>
                    <a:ext uri="{9D8B030D-6E8A-4147-A177-3AD203B41FA5}">
                      <a16:colId xmlns:a16="http://schemas.microsoft.com/office/drawing/2014/main" val="1170826702"/>
                    </a:ext>
                  </a:extLst>
                </a:gridCol>
                <a:gridCol w="1074580">
                  <a:extLst>
                    <a:ext uri="{9D8B030D-6E8A-4147-A177-3AD203B41FA5}">
                      <a16:colId xmlns:a16="http://schemas.microsoft.com/office/drawing/2014/main" val="3722444251"/>
                    </a:ext>
                  </a:extLst>
                </a:gridCol>
                <a:gridCol w="2139568">
                  <a:extLst>
                    <a:ext uri="{9D8B030D-6E8A-4147-A177-3AD203B41FA5}">
                      <a16:colId xmlns:a16="http://schemas.microsoft.com/office/drawing/2014/main" val="4248289800"/>
                    </a:ext>
                  </a:extLst>
                </a:gridCol>
              </a:tblGrid>
              <a:tr h="2300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STT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GIẢ ĐỊNH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GIÁ TRỊ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ĐVT/Ghi chú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STT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GIẢ ĐỊNH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GIÁ TRỊ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ĐVT/Ghi chú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65614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Thông tin chung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Hiệu suất sử dụng máy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88.0%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7338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Chủ đầu tư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DTR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707670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Thời gian khai thác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5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sản xuất tối đa</a:t>
                      </a:r>
                      <a:endParaRPr lang="vi-VN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6,194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tấn/năm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653047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Tổng dự toán đầu tư máy móc thiết bị (VND)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300,749,800,000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~    412,944,998 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phôi/năm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1007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Tổng dự toán đầu tư máy móc thiết bị (USD)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11,567,300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USD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72352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Thời gian khấu hao (PP đường thẳng)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       12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</a:t>
                      </a:r>
                      <a:endParaRPr lang="vi-VN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(tấn)</a:t>
                      </a:r>
                      <a:endParaRPr lang="en-US" sz="1000" b="1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587301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1.6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giá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26,000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 năm 1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3,097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50.0% Sản lượng sản xuất tối đa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0451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1.7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Lạm phát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5.0%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 năm 2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4,336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70.0% Sản lượng sản xuất tối đa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030538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 năm 3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6,194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100.0% Sản lượng sản xuất tối đa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916057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Nguồn nguyên vật liệu: Vảy sạch từ chai B1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Từ năm thứ 4 trở đi bằng với năm 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911173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chai B1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16,600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đ/kg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24177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vảy sạch cho dự án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24,960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đ/kg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Giá bán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680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VND/phôi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32465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~    960 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USD/tấn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~  1,744 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USD/tấn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70314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vảy tăng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+2%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/năm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465923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lệ hao hụt FtoP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bán tăng</a:t>
                      </a:r>
                      <a:endParaRPr lang="vi-VN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/năm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07412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Liều lượng phụ gia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0.02%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lệ chiết khấu/cơ cấu vay</a:t>
                      </a:r>
                      <a:endParaRPr lang="vi-VN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2203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phụ gia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949,542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VND/kg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Vốn vay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19990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Vốn tự có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60232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sản xuất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Lãi vay trung dài hạn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03686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Nhân công trực tiếp (2 người x 3 ca)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982,800,000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Thuế suất thuế TNDN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20.0%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484798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Nhân viên kỹ thuật, QC, kho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5,028,660,000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lệ chiết khấu = WACC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7.3%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963775"/>
                  </a:ext>
                </a:extLst>
              </a:tr>
              <a:tr h="2008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điện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    765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kwh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5774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điện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1,950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đ/kwh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3519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sửa chữa bảo trì (3%*giá trị đầu tư)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9,022,494,000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Dự án chưa tính giá trị đầu tư xưởng (khoảng 150 tỷ đồng ~ 6 triệu USD)</a:t>
                      </a:r>
                      <a:endParaRPr lang="vi-VN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732819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3.6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vận hành xe điện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552,000,000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660168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(Số xe thuê: 2 với đơn giá thuê 20 triệu/tháng, chi phí điện 3 triệu/xe/tháng)</a:t>
                      </a:r>
                      <a:endParaRPr lang="vi-VN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477320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3.7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bao bì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    315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đ/kg thành phẩm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348799"/>
                  </a:ext>
                </a:extLst>
              </a:tr>
              <a:tr h="202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3.8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thuê xưởng (2.000 m2 * 100.000đ/m2/tháng)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2,400,000,000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72152"/>
                  </a:ext>
                </a:extLst>
              </a:tr>
              <a:tr h="202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3.9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bảo hiểm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0.2%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/tổng tài sản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80613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3.10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vận chuyển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4,000,000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VND/chuyến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63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83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3519-31B1-36D1-088A-5730D72A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047958-07A6-6FBD-D998-EFB1B2103196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2 – ĐẦU TƯ CAPEX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8F18C-0B0A-3CFF-BB08-235E076B9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B9377-532C-069A-375B-E9A8CE353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58405"/>
              </p:ext>
            </p:extLst>
          </p:nvPr>
        </p:nvGraphicFramePr>
        <p:xfrm>
          <a:off x="28279" y="479001"/>
          <a:ext cx="5905796" cy="6038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573">
                  <a:extLst>
                    <a:ext uri="{9D8B030D-6E8A-4147-A177-3AD203B41FA5}">
                      <a16:colId xmlns:a16="http://schemas.microsoft.com/office/drawing/2014/main" val="2779974605"/>
                    </a:ext>
                  </a:extLst>
                </a:gridCol>
                <a:gridCol w="2324366">
                  <a:extLst>
                    <a:ext uri="{9D8B030D-6E8A-4147-A177-3AD203B41FA5}">
                      <a16:colId xmlns:a16="http://schemas.microsoft.com/office/drawing/2014/main" val="3058617682"/>
                    </a:ext>
                  </a:extLst>
                </a:gridCol>
                <a:gridCol w="569860">
                  <a:extLst>
                    <a:ext uri="{9D8B030D-6E8A-4147-A177-3AD203B41FA5}">
                      <a16:colId xmlns:a16="http://schemas.microsoft.com/office/drawing/2014/main" val="2006131230"/>
                    </a:ext>
                  </a:extLst>
                </a:gridCol>
                <a:gridCol w="1341606">
                  <a:extLst>
                    <a:ext uri="{9D8B030D-6E8A-4147-A177-3AD203B41FA5}">
                      <a16:colId xmlns:a16="http://schemas.microsoft.com/office/drawing/2014/main" val="3438268152"/>
                    </a:ext>
                  </a:extLst>
                </a:gridCol>
                <a:gridCol w="1227391">
                  <a:extLst>
                    <a:ext uri="{9D8B030D-6E8A-4147-A177-3AD203B41FA5}">
                      <a16:colId xmlns:a16="http://schemas.microsoft.com/office/drawing/2014/main" val="164665041"/>
                    </a:ext>
                  </a:extLst>
                </a:gridCol>
              </a:tblGrid>
              <a:tr h="35471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STT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HẠNG MỤC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Số lượng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07025"/>
                  </a:ext>
                </a:extLst>
              </a:tr>
              <a:tr h="21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(cái)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(VND)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(USD)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94133"/>
                  </a:ext>
                </a:extLst>
              </a:tr>
              <a:tr h="3060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TỔNG ĐẦU TƯ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300,749,800,000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11,567,300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84996"/>
                  </a:ext>
                </a:extLst>
              </a:tr>
              <a:tr h="244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      284,499,800,000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10,942,300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11619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114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chính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766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246,389,000,000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9,476,500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91698"/>
                  </a:ext>
                </a:extLst>
              </a:tr>
              <a:tr h="2807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NGR : LSP 1200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128,180,000,000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4,930,000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6961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HyPET400 HPP5e rMtP P120/120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67,277,930,223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2,587,613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535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Khuôn 15g PCO 1881 128 cavtiy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39,322,069,777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1,512,387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382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 phí vận chuyển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545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 phí lắp đặt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8,580,000,000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1658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Thuế nhà thầu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429,000,000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16,500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7522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26525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phụ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766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38,110,800,000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1,465,800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909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u="none" strike="noStrike">
                          <a:effectLst/>
                        </a:rPr>
                        <a:t>Hệ thống nước, khí nén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7,800,000,000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3740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điện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7,800,000,000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3195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Pump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3,900,000,000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63750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Camera online check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3,250,000,000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3126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4131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Trạm điện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1566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Overhead crane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99237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1.2.13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điện dự phòng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2,080,000,000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97669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1.2.14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IT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2,080,000,000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8354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Lock unloading preform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1,352,000,000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6478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Máy nén khí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1,248,000,000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48,000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93694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Cooling tower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85667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Máy scan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20,800,000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1911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819D7D6-A3AE-9546-C333-9FE108D54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771673"/>
              </p:ext>
            </p:extLst>
          </p:nvPr>
        </p:nvGraphicFramePr>
        <p:xfrm>
          <a:off x="6096000" y="473243"/>
          <a:ext cx="5991225" cy="5401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573">
                  <a:extLst>
                    <a:ext uri="{9D8B030D-6E8A-4147-A177-3AD203B41FA5}">
                      <a16:colId xmlns:a16="http://schemas.microsoft.com/office/drawing/2014/main" val="2779974605"/>
                    </a:ext>
                  </a:extLst>
                </a:gridCol>
                <a:gridCol w="2617788">
                  <a:extLst>
                    <a:ext uri="{9D8B030D-6E8A-4147-A177-3AD203B41FA5}">
                      <a16:colId xmlns:a16="http://schemas.microsoft.com/office/drawing/2014/main" val="3058617682"/>
                    </a:ext>
                  </a:extLst>
                </a:gridCol>
                <a:gridCol w="569860">
                  <a:extLst>
                    <a:ext uri="{9D8B030D-6E8A-4147-A177-3AD203B41FA5}">
                      <a16:colId xmlns:a16="http://schemas.microsoft.com/office/drawing/2014/main" val="2006131230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3438268152"/>
                    </a:ext>
                  </a:extLst>
                </a:gridCol>
                <a:gridCol w="1114816">
                  <a:extLst>
                    <a:ext uri="{9D8B030D-6E8A-4147-A177-3AD203B41FA5}">
                      <a16:colId xmlns:a16="http://schemas.microsoft.com/office/drawing/2014/main" val="164665041"/>
                    </a:ext>
                  </a:extLst>
                </a:gridCol>
              </a:tblGrid>
              <a:tr h="35471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STT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HẠNG MỤC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Số lượng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07025"/>
                  </a:ext>
                </a:extLst>
              </a:tr>
              <a:tr h="21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(cái)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(VND)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(USD)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94133"/>
                  </a:ext>
                </a:extLst>
              </a:tr>
              <a:tr h="3060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84996"/>
                  </a:ext>
                </a:extLst>
              </a:tr>
              <a:tr h="244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PHÒNG LAB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16,250,000,000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11619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114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IV PSL IV 4603 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5,200,000,000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491698"/>
                  </a:ext>
                </a:extLst>
              </a:tr>
              <a:tr h="2807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kích thước tự động Gawis 4D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5,200,000,000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6961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AA Piovan Inspecta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3,042,000,000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117,000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535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Colorimeter/Spectrophotometer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650,000,000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382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Melt Flow Index Tester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442,000,000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545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 Polarizer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260,000,000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1658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Moisture analyzer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143,000,000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5,500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7522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Perpendicular Prefrom Thickness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26525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Calipers with data output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1909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Radius gauges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3740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Torque tester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3195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Pitch gauges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63750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Thickness, thread, body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3126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Inspection bench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4131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Inspection block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1566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Height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99237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Digital Scale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65,000,000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2,500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97669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Thickness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52,000,000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8354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Ligth/UV light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26,000,000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647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DDBB5EC-2A55-00D9-0315-1B946BF9B8DB}"/>
              </a:ext>
            </a:extLst>
          </p:cNvPr>
          <p:cNvSpPr txBox="1"/>
          <p:nvPr/>
        </p:nvSpPr>
        <p:spPr>
          <a:xfrm>
            <a:off x="6096000" y="5919428"/>
            <a:ext cx="37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u="sng"/>
              <a:t>Ghi chú</a:t>
            </a:r>
            <a:r>
              <a:rPr lang="en-US" sz="1000" i="1"/>
              <a:t>: thời gian khấu hao 12 năm</a:t>
            </a:r>
          </a:p>
          <a:p>
            <a:r>
              <a:rPr lang="en-US" sz="1000" i="1">
                <a:solidFill>
                  <a:srgbClr val="FF0000"/>
                </a:solidFill>
              </a:rPr>
              <a:t>Dự án chưa tính với giá trị đầu tư xưởng: 150 tỷ VND ~ 6 triệu USD</a:t>
            </a:r>
          </a:p>
        </p:txBody>
      </p:sp>
    </p:spTree>
    <p:extLst>
      <p:ext uri="{BB962C8B-B14F-4D97-AF65-F5344CB8AC3E}">
        <p14:creationId xmlns:p14="http://schemas.microsoft.com/office/powerpoint/2010/main" val="333419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34E4-4E20-C330-86FB-8A170517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72874-DFE7-451C-67FD-CC1A20FBE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632CCB-120C-AB16-4FDF-725038BF335E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4 – CƠ CẤU CHI PHÍ – VND/PHÔI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63E257-C140-3748-3656-07722C762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97" y="775372"/>
            <a:ext cx="7327391" cy="5353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88CFD-2620-02B4-2872-7E4A01CD7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186" y="775372"/>
            <a:ext cx="3477844" cy="535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6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23AA-5EB9-5561-1398-3418481B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4DFE3-26E8-9B76-A911-5D0452579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CE4A6-C01E-47F2-6723-16F7DAD063FA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3 – CƠ CẤU CHI PHÍ – USD/TẤN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4BDFE-0F0F-E4E3-5140-924E24C96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24" y="768917"/>
            <a:ext cx="7281547" cy="5320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B89B5D-D915-F6D4-6F8E-04819B862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625" y="768836"/>
            <a:ext cx="3546886" cy="532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58A3-71E0-D35D-2057-2B61E6CE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F21FFF-A06C-9727-39DC-A3FD3CFEEC77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5 – KẾT LUẬN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9A5C9-17A1-4612-1F62-B53DAB153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DE64B4-1FC6-1108-FC5E-70ADCD362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192946"/>
              </p:ext>
            </p:extLst>
          </p:nvPr>
        </p:nvGraphicFramePr>
        <p:xfrm>
          <a:off x="133350" y="529166"/>
          <a:ext cx="525200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930">
                  <a:extLst>
                    <a:ext uri="{9D8B030D-6E8A-4147-A177-3AD203B41FA5}">
                      <a16:colId xmlns:a16="http://schemas.microsoft.com/office/drawing/2014/main" val="3030802966"/>
                    </a:ext>
                  </a:extLst>
                </a:gridCol>
                <a:gridCol w="2637079">
                  <a:extLst>
                    <a:ext uri="{9D8B030D-6E8A-4147-A177-3AD203B41FA5}">
                      <a16:colId xmlns:a16="http://schemas.microsoft.com/office/drawing/2014/main" val="2849572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CHỈ TIÊU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KẾT QUẢ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55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253 tỷ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724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IRR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18%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84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DPP (thời gian hoàn vốn)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 năm 11 tháng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025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C103CE3-F8F1-0F09-4365-F491DB25BC3B}"/>
              </a:ext>
            </a:extLst>
          </p:cNvPr>
          <p:cNvSpPr txBox="1"/>
          <p:nvPr/>
        </p:nvSpPr>
        <p:spPr>
          <a:xfrm>
            <a:off x="133349" y="2398697"/>
            <a:ext cx="1198245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NHẬN XÉT DỰ ÁN:</a:t>
            </a:r>
            <a:endParaRPr lang="en-US" sz="2000" b="1" i="0" u="sng" strike="noStrike" dirty="0">
              <a:solidFill>
                <a:srgbClr val="0000FF"/>
              </a:solidFill>
              <a:effectLst/>
              <a:latin typeface="Aptos Display" panose="020B0004020202020204" pitchFamily="34" charset="0"/>
            </a:endParaRPr>
          </a:p>
          <a:p>
            <a:br>
              <a:rPr lang="vi-VN" sz="14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Dự án mang lại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dòng tiền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(đã chiết khấu)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NPV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cho công ty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là </a:t>
            </a:r>
            <a:r>
              <a:rPr lang="en-US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253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tỷ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(&gt;0): dự án hiệu quả</a:t>
            </a:r>
            <a:br>
              <a:rPr lang="vi-VN" sz="16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Tỷ suất hoàn vốn nội bộ (IRR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)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đạt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18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%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&gt;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WACC (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7.3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%):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dự án có tỷ suất tốt</a:t>
            </a: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Thời gian hoàn vốn có chiết khấu (DPP)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đạt </a:t>
            </a:r>
            <a:r>
              <a:rPr lang="en-US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7 năm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: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dự án thu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hồi 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trung bình (phần tính toán chưa bao gồm chi phí xây dựng xưởng)</a:t>
            </a: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Tuy nhiên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kh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ách hàng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Suntory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mong muốn ký hợp đồng độc quyền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công nghệ hotfill (DTR không được bán phôi cho khách hàng khác). Cần ký kết hợp đồng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ràng buộc sản lượng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và thời gian 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hợp tác.	Bên cạnh đó cũng cần có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kế hoạch thêm 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cho các máy tạo hạt/nâng IV do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mất lượng hạt </a:t>
            </a:r>
            <a:r>
              <a:rPr lang="en-US" sz="1600" i="1" u="sng">
                <a:solidFill>
                  <a:srgbClr val="0000FF"/>
                </a:solidFill>
                <a:latin typeface="Aptos Display" panose="020B0004020202020204" pitchFamily="34" charset="0"/>
              </a:rPr>
              <a:t>đang bán cho Suntory.</a:t>
            </a:r>
            <a:endParaRPr lang="en-US" sz="1600" i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09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2BD74-4B62-EDFF-A4BD-66E9373F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F2A8CC-1E93-D9A9-0546-B8ABC844B359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6 – SO SÁNH CÁC PHIÊN BẢN GIÁ BÁN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B019-2327-9646-8934-FA3151D37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415DEA-FC4B-330B-5C63-BDFC4B43CBDE}"/>
              </a:ext>
            </a:extLst>
          </p:cNvPr>
          <p:cNvSpPr/>
          <p:nvPr/>
        </p:nvSpPr>
        <p:spPr>
          <a:xfrm>
            <a:off x="72428" y="5450186"/>
            <a:ext cx="11939154" cy="9777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00" b="1" u="sng">
                <a:solidFill>
                  <a:schemeClr val="tx1"/>
                </a:solidFill>
              </a:rPr>
              <a:t>Nhận xét:</a:t>
            </a:r>
          </a:p>
          <a:p>
            <a:r>
              <a:rPr lang="en-US" sz="1300">
                <a:solidFill>
                  <a:schemeClr val="tx1"/>
                </a:solidFill>
              </a:rPr>
              <a:t>Với giá Suntoty đề xuất là 610 VND/phôi (+ không tính đầu tư xưởng), thời gian hoàn vốn là hơn 12 năm =&gt; </a:t>
            </a:r>
            <a:r>
              <a:rPr lang="en-US" sz="1300" b="1" u="sng">
                <a:solidFill>
                  <a:schemeClr val="tx1"/>
                </a:solidFill>
              </a:rPr>
              <a:t>rủi ro cao. </a:t>
            </a:r>
            <a:r>
              <a:rPr lang="en-US" sz="1300">
                <a:solidFill>
                  <a:schemeClr val="tx1"/>
                </a:solidFill>
              </a:rPr>
              <a:t>Nếu </a:t>
            </a:r>
            <a:r>
              <a:rPr lang="en-US" sz="1300" i="1">
                <a:solidFill>
                  <a:schemeClr val="tx1"/>
                </a:solidFill>
              </a:rPr>
              <a:t>tính xưởng</a:t>
            </a:r>
            <a:r>
              <a:rPr lang="en-US" sz="1300">
                <a:solidFill>
                  <a:schemeClr val="tx1"/>
                </a:solidFill>
              </a:rPr>
              <a:t>, </a:t>
            </a:r>
            <a:r>
              <a:rPr lang="en-US" sz="1300" b="1">
                <a:solidFill>
                  <a:schemeClr val="tx1"/>
                </a:solidFill>
              </a:rPr>
              <a:t>DTR không hoàn vốn.</a:t>
            </a:r>
            <a:endParaRPr lang="en-US" sz="1300" b="1" u="sng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7B990A-EFEB-0DC3-B698-EF74B5C5A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0" y="498967"/>
            <a:ext cx="11961074" cy="482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21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9424-8EDB-2A9B-56EA-5DD969C8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3FB932-1E03-ABF7-04F4-D5C96C7C5DD2}"/>
              </a:ext>
            </a:extLst>
          </p:cNvPr>
          <p:cNvSpPr/>
          <p:nvPr/>
        </p:nvSpPr>
        <p:spPr>
          <a:xfrm>
            <a:off x="0" y="2516865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+mj-lt"/>
                <a:cs typeface="Times New Roman" panose="02020603050405020304" pitchFamily="18" charset="0"/>
              </a:rPr>
              <a:t>PHỤ LỤC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0657D-0C18-909D-9752-9DC982085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3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DFF5-40C2-A02F-4F24-B126E388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C2FEB-A9EA-E758-3151-3FBE1C897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789C6-5304-F033-E43A-05D59A907688}"/>
              </a:ext>
            </a:extLst>
          </p:cNvPr>
          <p:cNvSpPr txBox="1"/>
          <p:nvPr/>
        </p:nvSpPr>
        <p:spPr>
          <a:xfrm>
            <a:off x="0" y="-16907"/>
            <a:ext cx="3889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KẾT QUẢ HOẠT ĐỘNG KINH DOANH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88298E-3716-7E1F-53F1-58296DA97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425"/>
            <a:ext cx="12192000" cy="602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4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73AA-C64B-C4C9-B369-A8BDD63B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7C1B8-8BC7-BB41-1969-9C8886427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4AB28-08F4-8B9C-46B2-2A59806386BD}"/>
              </a:ext>
            </a:extLst>
          </p:cNvPr>
          <p:cNvSpPr txBox="1"/>
          <p:nvPr/>
        </p:nvSpPr>
        <p:spPr>
          <a:xfrm>
            <a:off x="0" y="-16907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DÒNG TIỀN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3A9F55-CF66-0488-C9B9-C81EC2729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494119"/>
              </p:ext>
            </p:extLst>
          </p:nvPr>
        </p:nvGraphicFramePr>
        <p:xfrm>
          <a:off x="385118" y="503958"/>
          <a:ext cx="4358897" cy="5803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1473">
                  <a:extLst>
                    <a:ext uri="{9D8B030D-6E8A-4147-A177-3AD203B41FA5}">
                      <a16:colId xmlns:a16="http://schemas.microsoft.com/office/drawing/2014/main" val="2094889294"/>
                    </a:ext>
                  </a:extLst>
                </a:gridCol>
                <a:gridCol w="831698">
                  <a:extLst>
                    <a:ext uri="{9D8B030D-6E8A-4147-A177-3AD203B41FA5}">
                      <a16:colId xmlns:a16="http://schemas.microsoft.com/office/drawing/2014/main" val="2718330159"/>
                    </a:ext>
                  </a:extLst>
                </a:gridCol>
                <a:gridCol w="1402863">
                  <a:extLst>
                    <a:ext uri="{9D8B030D-6E8A-4147-A177-3AD203B41FA5}">
                      <a16:colId xmlns:a16="http://schemas.microsoft.com/office/drawing/2014/main" val="1165314695"/>
                    </a:ext>
                  </a:extLst>
                </a:gridCol>
                <a:gridCol w="1402863">
                  <a:extLst>
                    <a:ext uri="{9D8B030D-6E8A-4147-A177-3AD203B41FA5}">
                      <a16:colId xmlns:a16="http://schemas.microsoft.com/office/drawing/2014/main" val="1653104335"/>
                    </a:ext>
                  </a:extLst>
                </a:gridCol>
              </a:tblGrid>
              <a:tr h="8022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Năm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Dòng tiền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Dòng tiền chiết khấu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Dòng tiền chiết khấu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Lũy Kế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638939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2026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(300,750)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(300,750)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(300,750)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966931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2027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26,266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24,487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(276,263)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349213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2028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44,419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38,605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(237,658)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878713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2029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68,623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55,601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(182,057)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248976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68,927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52,064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(129,992)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17266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69,187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48,721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(81,271)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501936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69,400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45,561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(35,711)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623486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69,563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42,574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6,863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2155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69,671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39,752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46,615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826221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69,721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37,086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83,700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244920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69,709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34,567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118,268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252675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69,629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32,189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150,457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173349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69,478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29,944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180,400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66056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2039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65,040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26,132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206,532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991612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2040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64,731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24,246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230,779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430363"/>
                  </a:ext>
                </a:extLst>
              </a:tr>
              <a:tr h="3126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2041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64,335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22,465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253,244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6293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15A6824-752A-AB45-0CD9-1D31F15265AC}"/>
              </a:ext>
            </a:extLst>
          </p:cNvPr>
          <p:cNvSpPr txBox="1"/>
          <p:nvPr/>
        </p:nvSpPr>
        <p:spPr>
          <a:xfrm>
            <a:off x="357470" y="288501"/>
            <a:ext cx="1069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Đvt: triệu đồng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575D4-05B3-04E9-BB7E-1223995B1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40" y="2528688"/>
            <a:ext cx="6860971" cy="12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7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1518</Words>
  <Application>Microsoft Office PowerPoint</Application>
  <PresentationFormat>Widescreen</PresentationFormat>
  <Paragraphs>586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(Body)</vt:lpstr>
      <vt:lpstr>Aptos Display</vt:lpstr>
      <vt:lpstr>Arial</vt:lpstr>
      <vt:lpstr>Muli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Danh, Hoàng Duy</dc:creator>
  <cp:lastModifiedBy>Danh, Hoàng Duy</cp:lastModifiedBy>
  <cp:revision>2</cp:revision>
  <dcterms:created xsi:type="dcterms:W3CDTF">2025-12-23T06:45:06Z</dcterms:created>
  <dcterms:modified xsi:type="dcterms:W3CDTF">2025-12-25T09:35:06Z</dcterms:modified>
</cp:coreProperties>
</file>